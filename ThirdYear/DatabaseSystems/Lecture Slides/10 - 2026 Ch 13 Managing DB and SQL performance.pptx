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97" r:id="rId3"/>
    <p:sldId id="399" r:id="rId4"/>
    <p:sldId id="324" r:id="rId5"/>
    <p:sldId id="325" r:id="rId6"/>
    <p:sldId id="326" r:id="rId7"/>
    <p:sldId id="401" r:id="rId8"/>
    <p:sldId id="327" r:id="rId9"/>
    <p:sldId id="400" r:id="rId10"/>
    <p:sldId id="330" r:id="rId11"/>
    <p:sldId id="331" r:id="rId12"/>
    <p:sldId id="332" r:id="rId13"/>
    <p:sldId id="333" r:id="rId14"/>
    <p:sldId id="334" r:id="rId15"/>
    <p:sldId id="335" r:id="rId16"/>
    <p:sldId id="402" r:id="rId17"/>
    <p:sldId id="403" r:id="rId18"/>
    <p:sldId id="416" r:id="rId19"/>
    <p:sldId id="417" r:id="rId20"/>
    <p:sldId id="405" r:id="rId21"/>
    <p:sldId id="418" r:id="rId22"/>
    <p:sldId id="396" r:id="rId23"/>
  </p:sldIdLst>
  <p:sldSz cx="12192000" cy="6858000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57" autoAdjust="0"/>
  </p:normalViewPr>
  <p:slideViewPr>
    <p:cSldViewPr snapToGrid="0">
      <p:cViewPr varScale="1">
        <p:scale>
          <a:sx n="107" d="100"/>
          <a:sy n="107" d="100"/>
        </p:scale>
        <p:origin x="672" y="78"/>
      </p:cViewPr>
      <p:guideLst/>
    </p:cSldViewPr>
  </p:slideViewPr>
  <p:outlineViewPr>
    <p:cViewPr>
      <p:scale>
        <a:sx n="33" d="100"/>
        <a:sy n="33" d="100"/>
      </p:scale>
      <p:origin x="0" y="-64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873B9F-50A0-4622-8B27-9EA7B86E7C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17B71-78E5-4F1B-8D85-573B8AAD3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A5925-1F73-40BA-85C9-D3AC61ACF64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5D993-102A-4921-A12E-E8E8D0285A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94975-3B91-4B9C-9498-7DA766AE14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0B77D-D561-4A25-8C29-51CAB365A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2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8DB0-09F6-4366-A211-0FA9A757C8BD}" type="datetimeFigureOut">
              <a:rPr lang="en-US" noProof="0" smtClean="0"/>
              <a:t>4/30/2026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CE8F5-1341-475C-BF40-2E24D91E8058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30496" y="6700324"/>
            <a:ext cx="3785205" cy="93684"/>
          </a:xfrm>
          <a:prstGeom prst="rect">
            <a:avLst/>
          </a:prstGeom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Chapter 13 - Managing DB and SQL Performance</a:t>
            </a:r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04150" y="1"/>
            <a:ext cx="4387850" cy="6679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953439" y="6660000"/>
            <a:ext cx="3790250" cy="18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13 - Managing DB and SQL Performance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A87C21-15CD-48D8-B583-89B110156879}"/>
              </a:ext>
            </a:extLst>
          </p:cNvPr>
          <p:cNvSpPr/>
          <p:nvPr userDrawn="1"/>
        </p:nvSpPr>
        <p:spPr>
          <a:xfrm>
            <a:off x="7804351" y="0"/>
            <a:ext cx="4386221" cy="66770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7752" y="4320000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922511" y="6676120"/>
            <a:ext cx="3755867" cy="14399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13 - Managing DB and SQL Performance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092E684-C621-4F92-A05A-A167EEF462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57037" y="4320000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958D132-F2A9-41E1-BDD8-067D52CE5F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7752" y="2395565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88FD4DB-5089-4686-B4F7-A26163146C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57037" y="2395565"/>
            <a:ext cx="1800000" cy="1800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24023AF-AB97-4B60-86FA-5DC8DA1B5C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27752" y="471129"/>
            <a:ext cx="1800000" cy="1800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8210F231-568A-4348-B33F-9EBB4A5CF9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57037" y="471129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</p:spTree>
    <p:extLst>
      <p:ext uri="{BB962C8B-B14F-4D97-AF65-F5344CB8AC3E}">
        <p14:creationId xmlns:p14="http://schemas.microsoft.com/office/powerpoint/2010/main" val="244511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Left Header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A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Right Header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C535-CCE6-472A-BA3D-DDE92DFF0E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853980" y="6650007"/>
            <a:ext cx="3740419" cy="19431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13 - Managing DB and SQL Performance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890-EB29-4A5B-A499-BB0FC0444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67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A41AC-399F-4B25-A28A-F7679843C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E1C65CF6-B529-468F-B46C-1D1C2E71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45FB-DCB7-4844-B346-98986AD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6780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Your Video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EBDA-221D-4CBD-8DBF-E03A370015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508FC-366E-44DA-80A8-28048E1E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  <a:endParaRPr lang="en-US" dirty="0"/>
          </a:p>
        </p:txBody>
      </p:sp>
      <p:sp>
        <p:nvSpPr>
          <p:cNvPr id="16" name="Email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7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CC9B96F-1A0A-4B16-BDF7-48B289CD5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FCAA-94B1-47BD-AD46-123D3404BB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Chapter 13 - Managing DB and SQL Performance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1CEA-C130-40E5-A858-8D4FE6E586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123-1F0C-4BD2-8233-FEE5B2A466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08467" y="6622014"/>
            <a:ext cx="3807232" cy="25568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13 - Managing DB and SQL Performance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8981-59A6-4480-80A6-5619C22017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08467" y="6678000"/>
            <a:ext cx="3633501" cy="14400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13 - Managing DB and SQL Performance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D074E-AB07-44D1-8B4E-189EAEF79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08466" y="6678000"/>
            <a:ext cx="3685934" cy="14400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13 - Managing DB and SQL Performance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1D44B-9877-40D1-B788-EE3BFD57C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B5D6-0FB6-494F-A52C-A12EA63DC75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35754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06992" y="6677338"/>
            <a:ext cx="3789833" cy="144000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Chapter 13 - Managing DB and SQL Performance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63" r:id="rId4"/>
    <p:sldLayoutId id="2147483656" r:id="rId5"/>
    <p:sldLayoutId id="2147483660" r:id="rId6"/>
    <p:sldLayoutId id="2147483661" r:id="rId7"/>
    <p:sldLayoutId id="2147483664" r:id="rId8"/>
    <p:sldLayoutId id="2147483650" r:id="rId9"/>
    <p:sldLayoutId id="2147483652" r:id="rId10"/>
    <p:sldLayoutId id="2147483654" r:id="rId11"/>
    <p:sldLayoutId id="2147483655" r:id="rId12"/>
    <p:sldLayoutId id="214748366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10%20-%202026%20Access%20Plan%20example.pdf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ash_function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sa/3.0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shack.com/query-optimization-techniques-in-sql-server-the-basics/" TargetMode="External"/><Relationship Id="rId2" Type="http://schemas.openxmlformats.org/officeDocument/2006/relationships/hyperlink" Target="https://blog.devart.com/how-to-optimize-sql-query.html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log.quest.com/sql-query-optimization-how-to-determine-when-and-if-its-needed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701965"/>
            <a:ext cx="4007769" cy="2807998"/>
          </a:xfrm>
        </p:spPr>
        <p:txBody>
          <a:bodyPr/>
          <a:lstStyle/>
          <a:p>
            <a:r>
              <a:rPr lang="en-US" sz="4800" dirty="0"/>
              <a:t>Managing </a:t>
            </a:r>
            <a:r>
              <a:rPr lang="en-ZA" sz="4800" dirty="0"/>
              <a:t>Database and SQL performance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30 April 2026</a:t>
            </a:r>
          </a:p>
          <a:p>
            <a:r>
              <a:rPr lang="en-US" noProof="1"/>
              <a:t>Lynette Barnard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17638D-56AE-48AD-96C8-EE46229C7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D243359-CBEA-4C3C-8024-4EDF4953F8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1A65B-DE85-8DF3-EE38-F6313A4D0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431464"/>
            <a:ext cx="6992936" cy="4500000"/>
          </a:xfrm>
        </p:spPr>
        <p:txBody>
          <a:bodyPr/>
          <a:lstStyle/>
          <a:p>
            <a:pPr marL="0" indent="0" algn="ctr">
              <a:buNone/>
            </a:pPr>
            <a:r>
              <a:rPr lang="en-ZA" sz="3200" cap="none" dirty="0">
                <a:solidFill>
                  <a:schemeClr val="accent6">
                    <a:lumMod val="75000"/>
                  </a:schemeClr>
                </a:solidFill>
              </a:rPr>
              <a:t>Good database performance starts with good database design</a:t>
            </a:r>
          </a:p>
          <a:p>
            <a:pPr marL="0" indent="0">
              <a:buNone/>
            </a:pPr>
            <a:endParaRPr lang="en-ZA" sz="32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ZA" sz="3200" cap="none" dirty="0">
                <a:solidFill>
                  <a:schemeClr val="accent4">
                    <a:lumMod val="75000"/>
                  </a:schemeClr>
                </a:solidFill>
              </a:rPr>
              <a:t>No amount of fine-tuning will make a poorly designed database perform as well as a well-designed database.</a:t>
            </a:r>
            <a:endParaRPr lang="en-ZA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EFE096C-CD0A-79E0-4D9B-39DAF77620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BA7F9-AC4E-25CD-916E-981178A3A9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9C7AD-C7C3-9073-E3A1-63E0F814BD7C}"/>
              </a:ext>
            </a:extLst>
          </p:cNvPr>
          <p:cNvSpPr txBox="1"/>
          <p:nvPr/>
        </p:nvSpPr>
        <p:spPr>
          <a:xfrm>
            <a:off x="10622922" y="6447168"/>
            <a:ext cx="16193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0" i="0" u="sng" dirty="0">
                <a:solidFill>
                  <a:srgbClr val="FFFFFF"/>
                </a:solidFill>
                <a:effectLst/>
                <a:latin typeface="__Inter_8effd3"/>
              </a:rPr>
              <a:t>Image by DC Studio on </a:t>
            </a:r>
            <a:r>
              <a:rPr lang="en-US" sz="900" b="0" i="0" u="sng" dirty="0" err="1">
                <a:solidFill>
                  <a:srgbClr val="FFFFFF"/>
                </a:solidFill>
                <a:effectLst/>
                <a:latin typeface="__Inter_8effd3"/>
              </a:rPr>
              <a:t>Freepik</a:t>
            </a:r>
            <a:endParaRPr lang="en-ZA" sz="90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0FCD17-E809-DD26-3695-E27240FEDF6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Chapter 13 - Managing DB and SQL Performance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3266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3200" y="360000"/>
            <a:ext cx="5580000" cy="540000"/>
          </a:xfrm>
        </p:spPr>
        <p:txBody>
          <a:bodyPr/>
          <a:lstStyle/>
          <a:p>
            <a:r>
              <a:rPr lang="en-ZA" sz="3200" dirty="0"/>
              <a:t>Database performance tuning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3EF184-355B-9769-E726-48F8A8C741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51638" y="1080000"/>
            <a:ext cx="5580000" cy="360362"/>
          </a:xfrm>
        </p:spPr>
        <p:txBody>
          <a:bodyPr/>
          <a:lstStyle/>
          <a:p>
            <a:r>
              <a:rPr lang="en-ZA" sz="2400" dirty="0"/>
              <a:t>Aim: reduce database system response time</a:t>
            </a:r>
          </a:p>
          <a:p>
            <a:endParaRPr lang="en-ZA" sz="24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8823520-F7D7-3295-5C0D-1F07AC929E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3" y="1655462"/>
            <a:ext cx="5580062" cy="3353402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AE2E4-1199-C5D8-0AFA-934632931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362"/>
            <a:ext cx="5580000" cy="4499638"/>
          </a:xfrm>
        </p:spPr>
        <p:txBody>
          <a:bodyPr/>
          <a:lstStyle/>
          <a:p>
            <a:pPr marL="0" indent="0">
              <a:buNone/>
            </a:pPr>
            <a:r>
              <a:rPr lang="en-ZA" sz="2600" dirty="0"/>
              <a:t>Server side: DBMS performance tuning</a:t>
            </a:r>
          </a:p>
          <a:p>
            <a:pPr marL="350837" lvl="1"/>
            <a:r>
              <a:rPr lang="en-US" sz="2600" dirty="0"/>
              <a:t>DBMS environment configured to respond to client requests in fastest way possible</a:t>
            </a:r>
          </a:p>
          <a:p>
            <a:pPr marL="350837" lvl="1"/>
            <a:r>
              <a:rPr lang="en-ZA" sz="2600" dirty="0"/>
              <a:t>Optimally using existing resources</a:t>
            </a:r>
          </a:p>
          <a:p>
            <a:pPr marL="0" indent="0">
              <a:buNone/>
            </a:pPr>
            <a:r>
              <a:rPr lang="en-ZA" sz="2600" b="1" dirty="0">
                <a:solidFill>
                  <a:schemeClr val="accent1"/>
                </a:solidFill>
              </a:rPr>
              <a:t>Client side: SQL performance tuning</a:t>
            </a:r>
          </a:p>
          <a:p>
            <a:pPr marL="350837" lvl="1"/>
            <a:r>
              <a:rPr lang="en-US" sz="2600" dirty="0"/>
              <a:t>Generate SQL query to return </a:t>
            </a:r>
            <a:r>
              <a:rPr lang="en-US" sz="2600" i="1" dirty="0"/>
              <a:t>correct answer</a:t>
            </a:r>
            <a:r>
              <a:rPr lang="en-US" sz="2600" dirty="0"/>
              <a:t> in </a:t>
            </a:r>
            <a:r>
              <a:rPr lang="en-US" sz="2600" i="1" dirty="0"/>
              <a:t>least amount of time</a:t>
            </a:r>
            <a:r>
              <a:rPr lang="en-US" sz="2600" dirty="0"/>
              <a:t>, using </a:t>
            </a:r>
            <a:r>
              <a:rPr lang="en-US" sz="2600" i="1" dirty="0"/>
              <a:t>minimum resources at server end</a:t>
            </a:r>
            <a:endParaRPr lang="en-ZA" sz="2600" i="1" dirty="0"/>
          </a:p>
          <a:p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Chapter 13 - Managing DB and SQL Performance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1A1C9-E935-3CE9-7A5B-0A1CC31A64CC}"/>
              </a:ext>
            </a:extLst>
          </p:cNvPr>
          <p:cNvSpPr txBox="1"/>
          <p:nvPr/>
        </p:nvSpPr>
        <p:spPr>
          <a:xfrm>
            <a:off x="4503793" y="4778032"/>
            <a:ext cx="14350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0" i="0" u="sng" dirty="0">
                <a:solidFill>
                  <a:schemeClr val="bg1">
                    <a:lumMod val="75000"/>
                  </a:schemeClr>
                </a:solidFill>
                <a:effectLst/>
                <a:latin typeface="__Inter_8effd3"/>
              </a:rPr>
              <a:t>Image by kues1 on </a:t>
            </a:r>
            <a:r>
              <a:rPr lang="en-US" sz="900" b="0" i="0" u="sng" dirty="0" err="1">
                <a:solidFill>
                  <a:schemeClr val="bg1">
                    <a:lumMod val="75000"/>
                  </a:schemeClr>
                </a:solidFill>
                <a:effectLst/>
                <a:latin typeface="__Inter_8effd3"/>
              </a:rPr>
              <a:t>Freepik</a:t>
            </a:r>
            <a:endParaRPr lang="en-ZA" sz="9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82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9" y="103486"/>
            <a:ext cx="7035534" cy="61566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3011" y="-28398"/>
            <a:ext cx="5163801" cy="1325563"/>
          </a:xfrm>
        </p:spPr>
        <p:txBody>
          <a:bodyPr>
            <a:normAutofit/>
          </a:bodyPr>
          <a:lstStyle/>
          <a:p>
            <a:pPr algn="r"/>
            <a:r>
              <a:rPr lang="en-ZA" dirty="0">
                <a:solidFill>
                  <a:schemeClr val="accent1"/>
                </a:solidFill>
              </a:rPr>
              <a:t>DBMS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5911" y="1110039"/>
            <a:ext cx="4227286" cy="923821"/>
          </a:xfrm>
        </p:spPr>
        <p:txBody>
          <a:bodyPr/>
          <a:lstStyle/>
          <a:p>
            <a:pPr marL="0" indent="0">
              <a:buNone/>
            </a:pPr>
            <a:r>
              <a:rPr lang="en-ZA" dirty="0">
                <a:solidFill>
                  <a:schemeClr val="accent1"/>
                </a:solidFill>
              </a:rPr>
              <a:t>Represented by processes and </a:t>
            </a:r>
            <a:r>
              <a:rPr lang="en-ZA" i="1" dirty="0">
                <a:solidFill>
                  <a:schemeClr val="accent1"/>
                </a:solidFill>
              </a:rPr>
              <a:t>structures</a:t>
            </a:r>
            <a:r>
              <a:rPr lang="en-ZA" dirty="0">
                <a:solidFill>
                  <a:schemeClr val="accent1"/>
                </a:solidFill>
              </a:rPr>
              <a:t> in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5B5D6-0FB6-494F-A52C-A12EA63DC75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7876550" y="3470975"/>
            <a:ext cx="3643478" cy="1278042"/>
          </a:xfrm>
          <a:prstGeom prst="borderCallout1">
            <a:avLst>
              <a:gd name="adj1" fmla="val 242"/>
              <a:gd name="adj2" fmla="val -368"/>
              <a:gd name="adj3" fmla="val 35982"/>
              <a:gd name="adj4" fmla="val -24916"/>
            </a:avLst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in database stored in data files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file groups create table spaces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7884493" y="4855513"/>
            <a:ext cx="3627591" cy="1384558"/>
          </a:xfrm>
          <a:prstGeom prst="borderCallout1">
            <a:avLst>
              <a:gd name="adj1" fmla="val 242"/>
              <a:gd name="adj2" fmla="val -368"/>
              <a:gd name="adj3" fmla="val -53011"/>
              <a:gd name="adj4" fmla="val -83527"/>
            </a:avLst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(buffer) cache is reserved memory area for recently accessed data blocks (data read and before data written); also caches indexes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2849704" y="465904"/>
            <a:ext cx="3191573" cy="1278042"/>
          </a:xfrm>
          <a:prstGeom prst="borderCallout1">
            <a:avLst>
              <a:gd name="adj1" fmla="val 242"/>
              <a:gd name="adj2" fmla="val -368"/>
              <a:gd name="adj3" fmla="val 269792"/>
              <a:gd name="adj4" fmla="val -15939"/>
            </a:avLst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Shared, reserved memory area storing most recently executed SQL statements, procedures, triggers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7848306" y="2033860"/>
            <a:ext cx="3671722" cy="1278042"/>
          </a:xfrm>
          <a:prstGeom prst="borderCallout1">
            <a:avLst>
              <a:gd name="adj1" fmla="val 242"/>
              <a:gd name="adj2" fmla="val -368"/>
              <a:gd name="adj3" fmla="val 127029"/>
              <a:gd name="adj4" fmla="val -65612"/>
            </a:avLst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I/O requests used to move data from permanent storage to RAM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D4D94D-FA66-1E01-AAF3-87C86C76C32A}"/>
              </a:ext>
            </a:extLst>
          </p:cNvPr>
          <p:cNvSpPr txBox="1">
            <a:spLocks/>
          </p:cNvSpPr>
          <p:nvPr/>
        </p:nvSpPr>
        <p:spPr>
          <a:xfrm>
            <a:off x="7889613" y="6622014"/>
            <a:ext cx="3807232" cy="25568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noProof="0" dirty="0">
                <a:solidFill>
                  <a:schemeClr val="bg1"/>
                </a:solidFill>
                <a:latin typeface="+mj-lt"/>
              </a:rPr>
              <a:t>Chapter 13 - Managing DB and SQL Performance</a:t>
            </a:r>
          </a:p>
        </p:txBody>
      </p:sp>
    </p:spTree>
    <p:extLst>
      <p:ext uri="{BB962C8B-B14F-4D97-AF65-F5344CB8AC3E}">
        <p14:creationId xmlns:p14="http://schemas.microsoft.com/office/powerpoint/2010/main" val="110533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1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9" y="103486"/>
            <a:ext cx="7035534" cy="614553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7860700" y="6565675"/>
            <a:ext cx="4114800" cy="365125"/>
          </a:xfrm>
        </p:spPr>
        <p:txBody>
          <a:bodyPr/>
          <a:lstStyle/>
          <a:p>
            <a:r>
              <a:rPr lang="en-US" sz="1200" noProof="0" dirty="0">
                <a:solidFill>
                  <a:schemeClr val="bg1"/>
                </a:solidFill>
                <a:latin typeface="+mj-lt"/>
              </a:rPr>
              <a:t>Chapter 13 - Managing DB and SQL Performance</a:t>
            </a:r>
          </a:p>
        </p:txBody>
      </p:sp>
      <p:sp>
        <p:nvSpPr>
          <p:cNvPr id="8" name="Line Callout 1 7"/>
          <p:cNvSpPr/>
          <p:nvPr/>
        </p:nvSpPr>
        <p:spPr>
          <a:xfrm>
            <a:off x="7832419" y="3372820"/>
            <a:ext cx="3643478" cy="1278042"/>
          </a:xfrm>
          <a:prstGeom prst="borderCallout1">
            <a:avLst>
              <a:gd name="adj1" fmla="val 242"/>
              <a:gd name="adj2" fmla="val -368"/>
              <a:gd name="adj3" fmla="val -2611"/>
              <a:gd name="adj4" fmla="val -136843"/>
            </a:avLst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Scheduler responsible for scheduling concurrent execution of SQL requests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7870371" y="5323741"/>
            <a:ext cx="3627591" cy="552605"/>
          </a:xfrm>
          <a:prstGeom prst="borderCallout1">
            <a:avLst>
              <a:gd name="adj1" fmla="val 242"/>
              <a:gd name="adj2" fmla="val -368"/>
              <a:gd name="adj3" fmla="val -299830"/>
              <a:gd name="adj4" fmla="val -111216"/>
            </a:avLst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Manages all locks placed on data objects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2849704" y="465904"/>
            <a:ext cx="3191573" cy="1278042"/>
          </a:xfrm>
          <a:prstGeom prst="borderCallout1">
            <a:avLst>
              <a:gd name="adj1" fmla="val 242"/>
              <a:gd name="adj2" fmla="val -368"/>
              <a:gd name="adj3" fmla="val 163849"/>
              <a:gd name="adj4" fmla="val -18550"/>
            </a:avLst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Listens for client requests; hands SQL processing requests to relevant user process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7848306" y="2033860"/>
            <a:ext cx="3671722" cy="1278042"/>
          </a:xfrm>
          <a:prstGeom prst="borderCallout1">
            <a:avLst>
              <a:gd name="adj1" fmla="val 242"/>
              <a:gd name="adj2" fmla="val -368"/>
              <a:gd name="adj3" fmla="val 42888"/>
              <a:gd name="adj4" fmla="val -85923"/>
            </a:avLst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process manages each client session; at least one user process per logged-in user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7848306" y="4710999"/>
            <a:ext cx="3627591" cy="552605"/>
          </a:xfrm>
          <a:prstGeom prst="borderCallout1">
            <a:avLst>
              <a:gd name="adj1" fmla="val 242"/>
              <a:gd name="adj2" fmla="val -368"/>
              <a:gd name="adj3" fmla="val -188473"/>
              <a:gd name="adj4" fmla="val -83246"/>
            </a:avLst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Analyses SQL queries; finds most efficient way to access data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423011" y="-28398"/>
            <a:ext cx="5163801" cy="1325563"/>
          </a:xfrm>
        </p:spPr>
        <p:txBody>
          <a:bodyPr>
            <a:normAutofit/>
          </a:bodyPr>
          <a:lstStyle/>
          <a:p>
            <a:pPr algn="r"/>
            <a:r>
              <a:rPr lang="en-ZA" dirty="0">
                <a:solidFill>
                  <a:schemeClr val="accent1"/>
                </a:solidFill>
              </a:rPr>
              <a:t>DBMS Architecture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7675911" y="1110039"/>
            <a:ext cx="4227286" cy="923821"/>
          </a:xfrm>
        </p:spPr>
        <p:txBody>
          <a:bodyPr/>
          <a:lstStyle/>
          <a:p>
            <a:pPr marL="0" indent="0">
              <a:buNone/>
            </a:pPr>
            <a:r>
              <a:rPr lang="en-ZA" dirty="0">
                <a:solidFill>
                  <a:schemeClr val="accent1"/>
                </a:solidFill>
              </a:rPr>
              <a:t>Represented by processes and </a:t>
            </a:r>
            <a:r>
              <a:rPr lang="en-ZA" i="1" dirty="0">
                <a:solidFill>
                  <a:schemeClr val="accent1"/>
                </a:solidFill>
              </a:rPr>
              <a:t>structures</a:t>
            </a:r>
            <a:r>
              <a:rPr lang="en-ZA" dirty="0">
                <a:solidFill>
                  <a:schemeClr val="accent1"/>
                </a:solidFill>
              </a:rPr>
              <a:t> in memory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27687C4-A872-D5FC-CE18-8EF89C35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5B5D6-0FB6-494F-A52C-A12EA63DC75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28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1" grpId="1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1413"/>
            <a:ext cx="10515600" cy="1087447"/>
          </a:xfrm>
        </p:spPr>
        <p:txBody>
          <a:bodyPr/>
          <a:lstStyle/>
          <a:p>
            <a:r>
              <a:rPr lang="en-ZA" dirty="0"/>
              <a:t>How is a query processed?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8012641" y="6553267"/>
            <a:ext cx="4114800" cy="365125"/>
          </a:xfrm>
        </p:spPr>
        <p:txBody>
          <a:bodyPr/>
          <a:lstStyle/>
          <a:p>
            <a:r>
              <a:rPr lang="en-US" dirty="0"/>
              <a:t>Chapter 13 - Managing DB and SQL Performance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B5D6-0FB6-494F-A52C-A12EA63DC752}" type="slidenum">
              <a:rPr lang="en-ZA" smtClean="0"/>
              <a:t>6</a:t>
            </a:fld>
            <a:endParaRPr lang="en-ZA"/>
          </a:p>
        </p:txBody>
      </p:sp>
      <p:pic>
        <p:nvPicPr>
          <p:cNvPr id="7" name="Graphic 8" descr="Programmer male outline">
            <a:extLst>
              <a:ext uri="{FF2B5EF4-FFF2-40B4-BE49-F238E27FC236}">
                <a16:creationId xmlns:a16="http://schemas.microsoft.com/office/drawing/2014/main" id="{0C60D7F8-2537-4490-8521-5967FFAF1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8828" y="1087576"/>
            <a:ext cx="914311" cy="914400"/>
          </a:xfrm>
          <a:prstGeom prst="rect">
            <a:avLst/>
          </a:prstGeom>
        </p:spPr>
      </p:pic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9C0AF32A-FD38-415C-BFE4-EF228A180A2A}"/>
              </a:ext>
            </a:extLst>
          </p:cNvPr>
          <p:cNvSpPr/>
          <p:nvPr/>
        </p:nvSpPr>
        <p:spPr>
          <a:xfrm>
            <a:off x="2957922" y="2544352"/>
            <a:ext cx="915596" cy="91559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ptos" panose="020B0004020202020204" pitchFamily="34" charset="0"/>
              </a:rPr>
              <a:t>Select...</a:t>
            </a:r>
          </a:p>
          <a:p>
            <a:pPr algn="ctr"/>
            <a:r>
              <a:rPr lang="en-US" sz="1200" dirty="0">
                <a:latin typeface="Aptos" panose="020B0004020202020204" pitchFamily="34" charset="0"/>
              </a:rPr>
              <a:t>From...</a:t>
            </a:r>
            <a:endParaRPr lang="en-US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latin typeface="Aptos" panose="020B0004020202020204" pitchFamily="34" charset="0"/>
              </a:rPr>
              <a:t>Where...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39D4FD-0FB8-4D62-BB58-4AC57C84A5B0}"/>
              </a:ext>
            </a:extLst>
          </p:cNvPr>
          <p:cNvSpPr/>
          <p:nvPr/>
        </p:nvSpPr>
        <p:spPr>
          <a:xfrm>
            <a:off x="2956455" y="4014992"/>
            <a:ext cx="915596" cy="9155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ptos" panose="020B0004020202020204" pitchFamily="34" charset="0"/>
              </a:rPr>
              <a:t>Parsing phase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953AF-4084-4F3A-A300-CE699301D6B3}"/>
              </a:ext>
            </a:extLst>
          </p:cNvPr>
          <p:cNvSpPr/>
          <p:nvPr/>
        </p:nvSpPr>
        <p:spPr>
          <a:xfrm>
            <a:off x="5945835" y="4014992"/>
            <a:ext cx="1032278" cy="9155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latin typeface="Aptos" panose="020B0004020202020204" pitchFamily="34" charset="0"/>
              </a:rPr>
              <a:t>Execution phase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9E8F97-11D6-4507-AD9E-C52C55626B38}"/>
              </a:ext>
            </a:extLst>
          </p:cNvPr>
          <p:cNvSpPr/>
          <p:nvPr/>
        </p:nvSpPr>
        <p:spPr>
          <a:xfrm>
            <a:off x="9043141" y="3988062"/>
            <a:ext cx="922921" cy="9155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latin typeface="Aptos" panose="020B0004020202020204" pitchFamily="34" charset="0"/>
              </a:rPr>
              <a:t>Fetching phase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4112101" y="3671643"/>
            <a:ext cx="1606714" cy="1472135"/>
            <a:chOff x="4066553" y="4028780"/>
            <a:chExt cx="1606714" cy="147213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39156C-7EA4-4B11-837B-501B0B96ECD5}"/>
                </a:ext>
              </a:extLst>
            </p:cNvPr>
            <p:cNvSpPr/>
            <p:nvPr/>
          </p:nvSpPr>
          <p:spPr>
            <a:xfrm>
              <a:off x="4066553" y="4028780"/>
              <a:ext cx="1606714" cy="14721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ptos" panose="020B0004020202020204" pitchFamily="34" charset="0"/>
                </a:rPr>
                <a:t>SQL cache</a:t>
              </a:r>
            </a:p>
            <a:p>
              <a:pPr algn="ctr"/>
              <a:endParaRPr lang="en-US" sz="1400" dirty="0">
                <a:latin typeface="Aptos" panose="020B0004020202020204" pitchFamily="34" charset="0"/>
              </a:endParaRPr>
            </a:p>
            <a:p>
              <a:pPr algn="ctr"/>
              <a:endParaRPr lang="en-US" sz="1400" dirty="0">
                <a:latin typeface="Aptos" panose="020B0004020202020204" pitchFamily="34" charset="0"/>
              </a:endParaRPr>
            </a:p>
            <a:p>
              <a:pPr algn="ctr"/>
              <a:endParaRPr lang="en-US" sz="1400" dirty="0">
                <a:latin typeface="Aptos" panose="020B0004020202020204" pitchFamily="34" charset="0"/>
              </a:endParaRPr>
            </a:p>
            <a:p>
              <a:pPr algn="ctr"/>
              <a:r>
                <a:rPr lang="en-US" sz="1400" dirty="0">
                  <a:latin typeface="Aptos" panose="020B0004020202020204" pitchFamily="34" charset="0"/>
                </a:rPr>
                <a:t>Access Plan</a:t>
              </a:r>
            </a:p>
          </p:txBody>
        </p:sp>
        <p:pic>
          <p:nvPicPr>
            <p:cNvPr id="14" name="Graphic 17" descr="Playbook outline">
              <a:extLst>
                <a:ext uri="{FF2B5EF4-FFF2-40B4-BE49-F238E27FC236}">
                  <a16:creationId xmlns:a16="http://schemas.microsoft.com/office/drawing/2014/main" id="{E97DEB90-3606-4218-84FE-057BB32C0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16550" y="4328743"/>
              <a:ext cx="824556" cy="806683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9D48E84-2E65-4872-A2F7-DFAA51ABFDA3}"/>
              </a:ext>
            </a:extLst>
          </p:cNvPr>
          <p:cNvSpPr/>
          <p:nvPr/>
        </p:nvSpPr>
        <p:spPr>
          <a:xfrm>
            <a:off x="7209284" y="3617784"/>
            <a:ext cx="1606714" cy="1472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400" dirty="0">
              <a:latin typeface="Aptos" panose="020B0004020202020204" pitchFamily="34" charset="0"/>
            </a:endParaRPr>
          </a:p>
          <a:p>
            <a:pPr algn="ctr"/>
            <a:endParaRPr lang="en-US" sz="1400" dirty="0">
              <a:latin typeface="Aptos" panose="020B0004020202020204" pitchFamily="34" charset="0"/>
            </a:endParaRPr>
          </a:p>
          <a:p>
            <a:pPr algn="ctr"/>
            <a:endParaRPr lang="en-US" sz="1400" dirty="0">
              <a:latin typeface="Aptos" panose="020B0004020202020204" pitchFamily="34" charset="0"/>
            </a:endParaRPr>
          </a:p>
          <a:p>
            <a:pPr algn="ctr"/>
            <a:endParaRPr lang="en-US" sz="1400" dirty="0">
              <a:latin typeface="Aptos" panose="020B0004020202020204" pitchFamily="34" charset="0"/>
            </a:endParaRPr>
          </a:p>
          <a:p>
            <a:pPr algn="ctr"/>
            <a:endParaRPr lang="en-US" sz="1400" dirty="0">
              <a:latin typeface="Aptos" panose="020B0004020202020204" pitchFamily="34" charset="0"/>
            </a:endParaRPr>
          </a:p>
          <a:p>
            <a:pPr algn="ctr"/>
            <a:r>
              <a:rPr lang="en-US" sz="1400" dirty="0">
                <a:latin typeface="Aptos" panose="020B0004020202020204" pitchFamily="34" charset="0"/>
              </a:rPr>
              <a:t>Data cache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7280429" y="1781054"/>
            <a:ext cx="1381040" cy="1534075"/>
            <a:chOff x="7234881" y="2138191"/>
            <a:chExt cx="1381040" cy="1534075"/>
          </a:xfrm>
        </p:grpSpPr>
        <p:pic>
          <p:nvPicPr>
            <p:cNvPr id="17" name="Graphic 19" descr="Database outline">
              <a:extLst>
                <a:ext uri="{FF2B5EF4-FFF2-40B4-BE49-F238E27FC236}">
                  <a16:creationId xmlns:a16="http://schemas.microsoft.com/office/drawing/2014/main" id="{5E02B083-6CFE-4875-A721-EE13222D0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34881" y="2282115"/>
              <a:ext cx="1381040" cy="139015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1E3F5AD-3C6D-45A9-86DF-651DBFDEDF8C}"/>
                </a:ext>
              </a:extLst>
            </p:cNvPr>
            <p:cNvSpPr txBox="1"/>
            <p:nvPr/>
          </p:nvSpPr>
          <p:spPr>
            <a:xfrm>
              <a:off x="7369937" y="2138191"/>
              <a:ext cx="122632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latin typeface="Aptos" panose="020B0004020202020204" pitchFamily="34" charset="0"/>
                </a:rPr>
                <a:t>Data files</a:t>
              </a:r>
            </a:p>
          </p:txBody>
        </p:sp>
      </p:grpSp>
      <p:sp>
        <p:nvSpPr>
          <p:cNvPr id="19" name="Down Arrow 18"/>
          <p:cNvSpPr/>
          <p:nvPr/>
        </p:nvSpPr>
        <p:spPr>
          <a:xfrm>
            <a:off x="3365333" y="1988312"/>
            <a:ext cx="72008" cy="556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Down Arrow 19"/>
          <p:cNvSpPr/>
          <p:nvPr/>
        </p:nvSpPr>
        <p:spPr>
          <a:xfrm>
            <a:off x="3369980" y="3461415"/>
            <a:ext cx="72008" cy="556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21" name="Straight Arrow Connector 20"/>
          <p:cNvCxnSpPr>
            <a:stCxn id="9" idx="3"/>
          </p:cNvCxnSpPr>
          <p:nvPr/>
        </p:nvCxnSpPr>
        <p:spPr>
          <a:xfrm>
            <a:off x="3872051" y="4472790"/>
            <a:ext cx="590047" cy="0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363864" y="4472790"/>
            <a:ext cx="590047" cy="0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978113" y="4458181"/>
            <a:ext cx="590047" cy="0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8453095" y="4445860"/>
            <a:ext cx="590047" cy="0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8001798" y="3243365"/>
            <a:ext cx="3165" cy="641479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9474061" y="1531112"/>
            <a:ext cx="21914" cy="2456950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670420" y="3877782"/>
          <a:ext cx="66908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029">
                  <a:extLst>
                    <a:ext uri="{9D8B030D-6E8A-4147-A177-3AD203B41FA5}">
                      <a16:colId xmlns:a16="http://schemas.microsoft.com/office/drawing/2014/main" val="3385041843"/>
                    </a:ext>
                  </a:extLst>
                </a:gridCol>
                <a:gridCol w="223029">
                  <a:extLst>
                    <a:ext uri="{9D8B030D-6E8A-4147-A177-3AD203B41FA5}">
                      <a16:colId xmlns:a16="http://schemas.microsoft.com/office/drawing/2014/main" val="3588492411"/>
                    </a:ext>
                  </a:extLst>
                </a:gridCol>
                <a:gridCol w="223029">
                  <a:extLst>
                    <a:ext uri="{9D8B030D-6E8A-4147-A177-3AD203B41FA5}">
                      <a16:colId xmlns:a16="http://schemas.microsoft.com/office/drawing/2014/main" val="1495690719"/>
                    </a:ext>
                  </a:extLst>
                </a:gridCol>
              </a:tblGrid>
              <a:tr h="192915">
                <a:tc>
                  <a:txBody>
                    <a:bodyPr/>
                    <a:lstStyle/>
                    <a:p>
                      <a:endParaRPr lang="en-ZA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179226"/>
                  </a:ext>
                </a:extLst>
              </a:tr>
              <a:tr h="192915">
                <a:tc>
                  <a:txBody>
                    <a:bodyPr/>
                    <a:lstStyle/>
                    <a:p>
                      <a:endParaRPr lang="en-ZA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16798"/>
                  </a:ext>
                </a:extLst>
              </a:tr>
              <a:tr h="192915">
                <a:tc>
                  <a:txBody>
                    <a:bodyPr/>
                    <a:lstStyle/>
                    <a:p>
                      <a:endParaRPr lang="en-ZA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356809"/>
                  </a:ext>
                </a:extLst>
              </a:tr>
              <a:tr h="192915">
                <a:tc>
                  <a:txBody>
                    <a:bodyPr/>
                    <a:lstStyle/>
                    <a:p>
                      <a:endParaRPr lang="en-ZA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60277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-167078" y="3739099"/>
            <a:ext cx="3669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latin typeface="Aptos" panose="020B0004020202020204" pitchFamily="34" charset="0"/>
              </a:rPr>
              <a:t>Parsing performed by optimiser</a:t>
            </a:r>
          </a:p>
          <a:p>
            <a:pPr algn="ctr"/>
            <a:r>
              <a:rPr lang="en-ZA" dirty="0">
                <a:latin typeface="Aptos" panose="020B0004020202020204" pitchFamily="34" charset="0"/>
              </a:rPr>
              <a:t>Syntax &amp; name check</a:t>
            </a:r>
          </a:p>
          <a:p>
            <a:pPr algn="ctr"/>
            <a:r>
              <a:rPr lang="en-ZA" dirty="0">
                <a:latin typeface="Aptos" panose="020B0004020202020204" pitchFamily="34" charset="0"/>
              </a:rPr>
              <a:t>Check access rights</a:t>
            </a:r>
          </a:p>
          <a:p>
            <a:pPr algn="ctr"/>
            <a:r>
              <a:rPr lang="en-ZA" dirty="0">
                <a:latin typeface="Aptos" panose="020B0004020202020204" pitchFamily="34" charset="0"/>
              </a:rPr>
              <a:t>Decompose / analyse</a:t>
            </a:r>
          </a:p>
          <a:p>
            <a:pPr algn="ctr"/>
            <a:r>
              <a:rPr lang="en-ZA" dirty="0">
                <a:latin typeface="Aptos" panose="020B0004020202020204" pitchFamily="34" charset="0"/>
              </a:rPr>
              <a:t>(fully equivalent, more efficient)</a:t>
            </a:r>
          </a:p>
          <a:p>
            <a:pPr algn="ctr"/>
            <a:r>
              <a:rPr lang="en-ZA" dirty="0">
                <a:latin typeface="Aptos" panose="020B0004020202020204" pitchFamily="34" charset="0"/>
              </a:rPr>
              <a:t>Generate access plan</a:t>
            </a:r>
          </a:p>
          <a:p>
            <a:pPr algn="ctr"/>
            <a:r>
              <a:rPr lang="en-ZA" dirty="0">
                <a:latin typeface="Aptos" panose="020B0004020202020204" pitchFamily="34" charset="0"/>
              </a:rPr>
              <a:t>Store access plan in SQL cache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4664" y="5076001"/>
            <a:ext cx="36395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dirty="0">
                <a:latin typeface="Aptos" panose="020B0004020202020204" pitchFamily="34" charset="0"/>
              </a:rPr>
              <a:t>Execute I/O operations</a:t>
            </a:r>
          </a:p>
          <a:p>
            <a:pPr algn="ctr"/>
            <a:r>
              <a:rPr lang="en-ZA" dirty="0">
                <a:latin typeface="Aptos" panose="020B0004020202020204" pitchFamily="34" charset="0"/>
              </a:rPr>
              <a:t>Locks for transaction management</a:t>
            </a:r>
          </a:p>
          <a:p>
            <a:pPr algn="ctr"/>
            <a:r>
              <a:rPr lang="en-ZA" dirty="0">
                <a:latin typeface="Aptos" panose="020B0004020202020204" pitchFamily="34" charset="0"/>
              </a:rPr>
              <a:t>Retrieve data blocks</a:t>
            </a:r>
          </a:p>
          <a:p>
            <a:pPr algn="ctr"/>
            <a:r>
              <a:rPr lang="en-ZA" dirty="0">
                <a:latin typeface="Aptos" panose="020B0004020202020204" pitchFamily="34" charset="0"/>
              </a:rPr>
              <a:t>Place data blocks in data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3790" y="4959112"/>
            <a:ext cx="2079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dirty="0">
                <a:latin typeface="Aptos" panose="020B0004020202020204" pitchFamily="34" charset="0"/>
              </a:rPr>
              <a:t>Generate result set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 flipV="1">
            <a:off x="3922494" y="1516404"/>
            <a:ext cx="5500437" cy="16002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87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dirty="0"/>
              <a:t>Access plans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9E8EA-1C6A-B42D-B3FF-239BAAA0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3" y="1018095"/>
            <a:ext cx="11401979" cy="5479905"/>
          </a:xfrm>
        </p:spPr>
        <p:txBody>
          <a:bodyPr/>
          <a:lstStyle/>
          <a:p>
            <a:pPr marL="0" indent="0">
              <a:buNone/>
            </a:pPr>
            <a:r>
              <a:rPr lang="en-ZA" sz="2800" dirty="0"/>
              <a:t>Used in parsing phase</a:t>
            </a:r>
          </a:p>
          <a:p>
            <a:pPr marL="0" indent="0">
              <a:buNone/>
            </a:pPr>
            <a:r>
              <a:rPr lang="en-ZA" sz="2800" dirty="0"/>
              <a:t>Examples of access plan I/O operations</a:t>
            </a:r>
            <a:endParaRPr lang="en-ZA" sz="3200" dirty="0"/>
          </a:p>
          <a:p>
            <a:endParaRPr lang="en-ZA" sz="1400" dirty="0">
              <a:latin typeface="Tw Cen MT" panose="020B06020201040206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 dirty="0"/>
              <a:t>Chapter 13 - Managing DB and SQL Performance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7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9BB9A2-C728-FD2B-7E68-23BDE07EDA6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97625" y="0"/>
            <a:ext cx="4094375" cy="233721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72F6A2-BCD6-93FC-FA62-9EB364223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09023"/>
              </p:ext>
            </p:extLst>
          </p:nvPr>
        </p:nvGraphicFramePr>
        <p:xfrm>
          <a:off x="109827" y="2697217"/>
          <a:ext cx="11972346" cy="343717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12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493"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881"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Table scan (full)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Sequentially</a:t>
                      </a:r>
                      <a:r>
                        <a:rPr lang="en-ZA" sz="2000" baseline="0" dirty="0">
                          <a:latin typeface="+mj-lt"/>
                        </a:rPr>
                        <a:t> reads entire table, from 1</a:t>
                      </a:r>
                      <a:r>
                        <a:rPr lang="en-ZA" sz="2000" baseline="30000" dirty="0">
                          <a:latin typeface="+mj-lt"/>
                        </a:rPr>
                        <a:t>st</a:t>
                      </a:r>
                      <a:r>
                        <a:rPr lang="en-ZA" sz="2000" baseline="0" dirty="0">
                          <a:latin typeface="+mj-lt"/>
                        </a:rPr>
                        <a:t> to last row (slowest)</a:t>
                      </a:r>
                      <a:endParaRPr lang="en-ZA" sz="20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527"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Table access (row 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Reads table row directly, using row ID (fastest)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224"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Index scan (range)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Reads index to</a:t>
                      </a:r>
                      <a:r>
                        <a:rPr lang="en-ZA" sz="2000" baseline="0" dirty="0">
                          <a:latin typeface="+mj-lt"/>
                        </a:rPr>
                        <a:t> get row IDs, then accesses table rows directly (faster than full table scan)</a:t>
                      </a:r>
                      <a:endParaRPr lang="en-ZA" sz="20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527"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Index access (unique)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Used when table has unique index in 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719"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Nested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Reads</a:t>
                      </a:r>
                      <a:r>
                        <a:rPr lang="en-ZA" sz="2000" baseline="0" dirty="0">
                          <a:latin typeface="+mj-lt"/>
                        </a:rPr>
                        <a:t> &amp; compares set of values to another set, using nested loop (slow)</a:t>
                      </a:r>
                      <a:endParaRPr lang="en-ZA" sz="20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527"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Merges two data sets (slow)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527"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Sorts data set (slow)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696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08232" cy="1325563"/>
          </a:xfrm>
        </p:spPr>
        <p:txBody>
          <a:bodyPr>
            <a:normAutofit/>
          </a:bodyPr>
          <a:lstStyle/>
          <a:p>
            <a:r>
              <a:rPr lang="en-ZA" dirty="0"/>
              <a:t>Access plans – </a:t>
            </a:r>
            <a:br>
              <a:rPr lang="en-ZA" dirty="0"/>
            </a:br>
            <a:r>
              <a:rPr lang="en-ZA" b="1" dirty="0">
                <a:solidFill>
                  <a:srgbClr val="C00000"/>
                </a:solidFill>
              </a:rPr>
              <a:t>See video for example (</a:t>
            </a:r>
            <a:r>
              <a:rPr lang="en-ZA" b="1" cap="none" dirty="0">
                <a:solidFill>
                  <a:srgbClr val="C00000"/>
                </a:solidFill>
              </a:rPr>
              <a:t>error – see below)</a:t>
            </a:r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Chapter 13 - Managing DB and SQL Performance</a:t>
            </a:r>
            <a:endParaRPr kumimoji="0" lang="en-ZA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5B5D6-0FB6-494F-A52C-A12EA63DC75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25" y="1854672"/>
            <a:ext cx="8660402" cy="3405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66329" y="4522573"/>
            <a:ext cx="2206749" cy="569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ZA" sz="1600" dirty="0"/>
              <a:t>(should be 1110)</a:t>
            </a:r>
          </a:p>
          <a:p>
            <a:pPr>
              <a:lnSpc>
                <a:spcPts val="1200"/>
              </a:lnSpc>
            </a:pPr>
            <a:endParaRPr lang="en-ZA" sz="1600" dirty="0"/>
          </a:p>
          <a:p>
            <a:pPr>
              <a:lnSpc>
                <a:spcPts val="1200"/>
              </a:lnSpc>
            </a:pPr>
            <a:r>
              <a:rPr lang="en-ZA" sz="1600" dirty="0"/>
              <a:t>(should be 1300)</a:t>
            </a:r>
          </a:p>
        </p:txBody>
      </p:sp>
      <p:sp>
        <p:nvSpPr>
          <p:cNvPr id="13" name="Oval 12"/>
          <p:cNvSpPr/>
          <p:nvPr/>
        </p:nvSpPr>
        <p:spPr>
          <a:xfrm>
            <a:off x="9087510" y="4095382"/>
            <a:ext cx="377764" cy="342459"/>
          </a:xfrm>
          <a:prstGeom prst="ellipse">
            <a:avLst/>
          </a:prstGeom>
          <a:noFill/>
          <a:ln w="38100"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Oval 13"/>
          <p:cNvSpPr/>
          <p:nvPr/>
        </p:nvSpPr>
        <p:spPr>
          <a:xfrm>
            <a:off x="6990980" y="4461569"/>
            <a:ext cx="377764" cy="34245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9422910" y="4632019"/>
            <a:ext cx="314214" cy="7061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13" idx="2"/>
          </p:cNvCxnSpPr>
          <p:nvPr/>
        </p:nvCxnSpPr>
        <p:spPr>
          <a:xfrm flipV="1">
            <a:off x="7372275" y="4266612"/>
            <a:ext cx="1715235" cy="323042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9440160" y="4946233"/>
            <a:ext cx="314214" cy="7061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9025535" y="4461569"/>
            <a:ext cx="2847543" cy="63064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/>
        </p:nvSpPr>
        <p:spPr>
          <a:xfrm>
            <a:off x="8009380" y="6670606"/>
            <a:ext cx="3816563" cy="139445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Chapter 13 - Managing DB and SQL Performance</a:t>
            </a:r>
          </a:p>
        </p:txBody>
      </p:sp>
    </p:spTree>
    <p:extLst>
      <p:ext uri="{BB962C8B-B14F-4D97-AF65-F5344CB8AC3E}">
        <p14:creationId xmlns:p14="http://schemas.microsoft.com/office/powerpoint/2010/main" val="3557755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sz="3600" dirty="0"/>
              <a:t>Access plan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9E8EA-1C6A-B42D-B3FF-239BAAA0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3" y="1619250"/>
            <a:ext cx="6644738" cy="4500563"/>
          </a:xfrm>
        </p:spPr>
        <p:txBody>
          <a:bodyPr/>
          <a:lstStyle/>
          <a:p>
            <a:pPr marL="0" indent="0">
              <a:buNone/>
            </a:pPr>
            <a:r>
              <a:rPr lang="en-ZA" sz="3200" dirty="0"/>
              <a:t>Open </a:t>
            </a:r>
            <a:r>
              <a:rPr lang="en-ZA" sz="3200" dirty="0">
                <a:hlinkClick r:id="rId2" action="ppaction://hlinkfile"/>
              </a:rPr>
              <a:t>Access Plan Example</a:t>
            </a:r>
            <a:r>
              <a:rPr lang="en-ZA" sz="3200" dirty="0"/>
              <a:t> from Funda</a:t>
            </a:r>
          </a:p>
          <a:p>
            <a:pPr marL="0" indent="0">
              <a:buNone/>
            </a:pPr>
            <a:r>
              <a:rPr lang="en-ZA" sz="3200" dirty="0"/>
              <a:t>Work through example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 dirty="0"/>
              <a:t>Chapter 13 - Managing DB and SQL Performance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903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Chapter 13 - Managing DB and SQL Performance</a:t>
            </a:r>
            <a:endParaRPr kumimoji="0" lang="en-ZA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5B5D6-0FB6-494F-A52C-A12EA63DC75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423274"/>
              </p:ext>
            </p:extLst>
          </p:nvPr>
        </p:nvGraphicFramePr>
        <p:xfrm>
          <a:off x="356580" y="1870075"/>
          <a:ext cx="11509355" cy="1730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25">
                  <a:extLst>
                    <a:ext uri="{9D8B030D-6E8A-4147-A177-3AD203B41FA5}">
                      <a16:colId xmlns:a16="http://schemas.microsoft.com/office/drawing/2014/main" val="1840336572"/>
                    </a:ext>
                  </a:extLst>
                </a:gridCol>
                <a:gridCol w="798213">
                  <a:extLst>
                    <a:ext uri="{9D8B030D-6E8A-4147-A177-3AD203B41FA5}">
                      <a16:colId xmlns:a16="http://schemas.microsoft.com/office/drawing/2014/main" val="3817069259"/>
                    </a:ext>
                  </a:extLst>
                </a:gridCol>
                <a:gridCol w="4163646">
                  <a:extLst>
                    <a:ext uri="{9D8B030D-6E8A-4147-A177-3AD203B41FA5}">
                      <a16:colId xmlns:a16="http://schemas.microsoft.com/office/drawing/2014/main" val="4067522907"/>
                    </a:ext>
                  </a:extLst>
                </a:gridCol>
                <a:gridCol w="1736651">
                  <a:extLst>
                    <a:ext uri="{9D8B030D-6E8A-4147-A177-3AD203B41FA5}">
                      <a16:colId xmlns:a16="http://schemas.microsoft.com/office/drawing/2014/main" val="297781009"/>
                    </a:ext>
                  </a:extLst>
                </a:gridCol>
                <a:gridCol w="1319285">
                  <a:extLst>
                    <a:ext uri="{9D8B030D-6E8A-4147-A177-3AD203B41FA5}">
                      <a16:colId xmlns:a16="http://schemas.microsoft.com/office/drawing/2014/main" val="2495363013"/>
                    </a:ext>
                  </a:extLst>
                </a:gridCol>
                <a:gridCol w="1412150">
                  <a:extLst>
                    <a:ext uri="{9D8B030D-6E8A-4147-A177-3AD203B41FA5}">
                      <a16:colId xmlns:a16="http://schemas.microsoft.com/office/drawing/2014/main" val="144857894"/>
                    </a:ext>
                  </a:extLst>
                </a:gridCol>
                <a:gridCol w="1291985">
                  <a:extLst>
                    <a:ext uri="{9D8B030D-6E8A-4147-A177-3AD203B41FA5}">
                      <a16:colId xmlns:a16="http://schemas.microsoft.com/office/drawing/2014/main" val="3451601801"/>
                    </a:ext>
                  </a:extLst>
                </a:gridCol>
              </a:tblGrid>
              <a:tr h="7973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Plan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Step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Operation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Operations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Resulting Rows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Total 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581184"/>
                  </a:ext>
                </a:extLst>
              </a:tr>
              <a:tr h="9331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A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A1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69274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6236" y="96807"/>
            <a:ext cx="516512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vCode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vPhone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 	Vendor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WHERE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vProv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“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Gau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ORDER BY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580" y="28244"/>
            <a:ext cx="6337252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have access to the following database stats: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products: 375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provinces: 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vendors: 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 in GAU province: 65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DEA782-4815-CF2B-A636-72CC7B4CA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252" y="6608780"/>
            <a:ext cx="387129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7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Chapter 13 - Managing DB and SQL Performance</a:t>
            </a:r>
            <a:endParaRPr kumimoji="0" lang="en-ZA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5B5D6-0FB6-494F-A52C-A12EA63DC75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359405"/>
              </p:ext>
            </p:extLst>
          </p:nvPr>
        </p:nvGraphicFramePr>
        <p:xfrm>
          <a:off x="356580" y="1870075"/>
          <a:ext cx="11509355" cy="1730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25">
                  <a:extLst>
                    <a:ext uri="{9D8B030D-6E8A-4147-A177-3AD203B41FA5}">
                      <a16:colId xmlns:a16="http://schemas.microsoft.com/office/drawing/2014/main" val="1840336572"/>
                    </a:ext>
                  </a:extLst>
                </a:gridCol>
                <a:gridCol w="798213">
                  <a:extLst>
                    <a:ext uri="{9D8B030D-6E8A-4147-A177-3AD203B41FA5}">
                      <a16:colId xmlns:a16="http://schemas.microsoft.com/office/drawing/2014/main" val="3817069259"/>
                    </a:ext>
                  </a:extLst>
                </a:gridCol>
                <a:gridCol w="4163646">
                  <a:extLst>
                    <a:ext uri="{9D8B030D-6E8A-4147-A177-3AD203B41FA5}">
                      <a16:colId xmlns:a16="http://schemas.microsoft.com/office/drawing/2014/main" val="4067522907"/>
                    </a:ext>
                  </a:extLst>
                </a:gridCol>
                <a:gridCol w="1736651">
                  <a:extLst>
                    <a:ext uri="{9D8B030D-6E8A-4147-A177-3AD203B41FA5}">
                      <a16:colId xmlns:a16="http://schemas.microsoft.com/office/drawing/2014/main" val="297781009"/>
                    </a:ext>
                  </a:extLst>
                </a:gridCol>
                <a:gridCol w="1319285">
                  <a:extLst>
                    <a:ext uri="{9D8B030D-6E8A-4147-A177-3AD203B41FA5}">
                      <a16:colId xmlns:a16="http://schemas.microsoft.com/office/drawing/2014/main" val="2495363013"/>
                    </a:ext>
                  </a:extLst>
                </a:gridCol>
                <a:gridCol w="1412150">
                  <a:extLst>
                    <a:ext uri="{9D8B030D-6E8A-4147-A177-3AD203B41FA5}">
                      <a16:colId xmlns:a16="http://schemas.microsoft.com/office/drawing/2014/main" val="144857894"/>
                    </a:ext>
                  </a:extLst>
                </a:gridCol>
                <a:gridCol w="1291985">
                  <a:extLst>
                    <a:ext uri="{9D8B030D-6E8A-4147-A177-3AD203B41FA5}">
                      <a16:colId xmlns:a16="http://schemas.microsoft.com/office/drawing/2014/main" val="3451601801"/>
                    </a:ext>
                  </a:extLst>
                </a:gridCol>
              </a:tblGrid>
              <a:tr h="7973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Plan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Step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Operation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Operations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Resulting Rows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Total 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581184"/>
                  </a:ext>
                </a:extLst>
              </a:tr>
              <a:tr h="9331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A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A1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Full table scan of VENDOR to select rows with 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vProv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 = “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Gau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”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69274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6236" y="96807"/>
            <a:ext cx="516512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vCode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vPhone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 	Vendor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WHERE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vProv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“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Gau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ORDER BY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580" y="28244"/>
            <a:ext cx="6337252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have access to the following database stats: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products: 375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provinces: 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vendors: 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 in GAU province: 65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20B933-ED42-4151-5442-CC264A318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252" y="6608780"/>
            <a:ext cx="387129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59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Chapter 13 - Managing DB and SQL Performance</a:t>
            </a:r>
            <a:endParaRPr kumimoji="0" lang="en-ZA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5B5D6-0FB6-494F-A52C-A12EA63DC75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004296"/>
              </p:ext>
            </p:extLst>
          </p:nvPr>
        </p:nvGraphicFramePr>
        <p:xfrm>
          <a:off x="356580" y="1870075"/>
          <a:ext cx="11509355" cy="21970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25">
                  <a:extLst>
                    <a:ext uri="{9D8B030D-6E8A-4147-A177-3AD203B41FA5}">
                      <a16:colId xmlns:a16="http://schemas.microsoft.com/office/drawing/2014/main" val="1840336572"/>
                    </a:ext>
                  </a:extLst>
                </a:gridCol>
                <a:gridCol w="798213">
                  <a:extLst>
                    <a:ext uri="{9D8B030D-6E8A-4147-A177-3AD203B41FA5}">
                      <a16:colId xmlns:a16="http://schemas.microsoft.com/office/drawing/2014/main" val="3817069259"/>
                    </a:ext>
                  </a:extLst>
                </a:gridCol>
                <a:gridCol w="4163646">
                  <a:extLst>
                    <a:ext uri="{9D8B030D-6E8A-4147-A177-3AD203B41FA5}">
                      <a16:colId xmlns:a16="http://schemas.microsoft.com/office/drawing/2014/main" val="4067522907"/>
                    </a:ext>
                  </a:extLst>
                </a:gridCol>
                <a:gridCol w="1736651">
                  <a:extLst>
                    <a:ext uri="{9D8B030D-6E8A-4147-A177-3AD203B41FA5}">
                      <a16:colId xmlns:a16="http://schemas.microsoft.com/office/drawing/2014/main" val="297781009"/>
                    </a:ext>
                  </a:extLst>
                </a:gridCol>
                <a:gridCol w="1319285">
                  <a:extLst>
                    <a:ext uri="{9D8B030D-6E8A-4147-A177-3AD203B41FA5}">
                      <a16:colId xmlns:a16="http://schemas.microsoft.com/office/drawing/2014/main" val="2495363013"/>
                    </a:ext>
                  </a:extLst>
                </a:gridCol>
                <a:gridCol w="1412150">
                  <a:extLst>
                    <a:ext uri="{9D8B030D-6E8A-4147-A177-3AD203B41FA5}">
                      <a16:colId xmlns:a16="http://schemas.microsoft.com/office/drawing/2014/main" val="144857894"/>
                    </a:ext>
                  </a:extLst>
                </a:gridCol>
                <a:gridCol w="1291985">
                  <a:extLst>
                    <a:ext uri="{9D8B030D-6E8A-4147-A177-3AD203B41FA5}">
                      <a16:colId xmlns:a16="http://schemas.microsoft.com/office/drawing/2014/main" val="3451601801"/>
                    </a:ext>
                  </a:extLst>
                </a:gridCol>
              </a:tblGrid>
              <a:tr h="7973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Plan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Step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Operation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Operations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Resulting Rows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Total 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581184"/>
                  </a:ext>
                </a:extLst>
              </a:tr>
              <a:tr h="9331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A1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Full table scan of VENDOR to select rows with 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vProv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 = “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Gau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”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6927401"/>
                  </a:ext>
                </a:extLst>
              </a:tr>
              <a:tr h="466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A2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ORDER BY (sort operation)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308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985841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6236" y="96807"/>
            <a:ext cx="516512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vCode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vPhone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 	Vendor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WHERE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vProv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“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Gau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ORDER BY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580" y="28244"/>
            <a:ext cx="6337252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have access to the following database stats: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products: 375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provinces: 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vendors: 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 in GAU province: 65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5ED32B-AB77-D775-CEBB-EDD110A7F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252" y="6608780"/>
            <a:ext cx="387129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06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Chapter 13 - Managing DB and SQL Performance</a:t>
            </a:r>
            <a:endParaRPr kumimoji="0" lang="en-ZA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5B5D6-0FB6-494F-A52C-A12EA63DC75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654847"/>
              </p:ext>
            </p:extLst>
          </p:nvPr>
        </p:nvGraphicFramePr>
        <p:xfrm>
          <a:off x="356580" y="1870075"/>
          <a:ext cx="11509355" cy="29285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25">
                  <a:extLst>
                    <a:ext uri="{9D8B030D-6E8A-4147-A177-3AD203B41FA5}">
                      <a16:colId xmlns:a16="http://schemas.microsoft.com/office/drawing/2014/main" val="1840336572"/>
                    </a:ext>
                  </a:extLst>
                </a:gridCol>
                <a:gridCol w="798213">
                  <a:extLst>
                    <a:ext uri="{9D8B030D-6E8A-4147-A177-3AD203B41FA5}">
                      <a16:colId xmlns:a16="http://schemas.microsoft.com/office/drawing/2014/main" val="3817069259"/>
                    </a:ext>
                  </a:extLst>
                </a:gridCol>
                <a:gridCol w="4163646">
                  <a:extLst>
                    <a:ext uri="{9D8B030D-6E8A-4147-A177-3AD203B41FA5}">
                      <a16:colId xmlns:a16="http://schemas.microsoft.com/office/drawing/2014/main" val="4067522907"/>
                    </a:ext>
                  </a:extLst>
                </a:gridCol>
                <a:gridCol w="1736651">
                  <a:extLst>
                    <a:ext uri="{9D8B030D-6E8A-4147-A177-3AD203B41FA5}">
                      <a16:colId xmlns:a16="http://schemas.microsoft.com/office/drawing/2014/main" val="297781009"/>
                    </a:ext>
                  </a:extLst>
                </a:gridCol>
                <a:gridCol w="1319285">
                  <a:extLst>
                    <a:ext uri="{9D8B030D-6E8A-4147-A177-3AD203B41FA5}">
                      <a16:colId xmlns:a16="http://schemas.microsoft.com/office/drawing/2014/main" val="2495363013"/>
                    </a:ext>
                  </a:extLst>
                </a:gridCol>
                <a:gridCol w="1412150">
                  <a:extLst>
                    <a:ext uri="{9D8B030D-6E8A-4147-A177-3AD203B41FA5}">
                      <a16:colId xmlns:a16="http://schemas.microsoft.com/office/drawing/2014/main" val="144857894"/>
                    </a:ext>
                  </a:extLst>
                </a:gridCol>
                <a:gridCol w="1291985">
                  <a:extLst>
                    <a:ext uri="{9D8B030D-6E8A-4147-A177-3AD203B41FA5}">
                      <a16:colId xmlns:a16="http://schemas.microsoft.com/office/drawing/2014/main" val="3451601801"/>
                    </a:ext>
                  </a:extLst>
                </a:gridCol>
              </a:tblGrid>
              <a:tr h="7973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Plan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Step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Operation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Operations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Resulting Rows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Total 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581184"/>
                  </a:ext>
                </a:extLst>
              </a:tr>
              <a:tr h="9331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A1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Full table scan of VENDOR to select rows with 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vProv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 = “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Gau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”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6927401"/>
                  </a:ext>
                </a:extLst>
              </a:tr>
              <a:tr h="466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A2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ORDER BY (sort operation)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308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9858416"/>
                  </a:ext>
                </a:extLst>
              </a:tr>
              <a:tr h="466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B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B1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Index scan range of index created on 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vProv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197589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6236" y="96807"/>
            <a:ext cx="516512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vCode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vPhone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 	Vendor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WHERE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vProv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“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Gau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ORDER BY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580" y="28244"/>
            <a:ext cx="6337252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have access to the following database stats: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products: 375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provinces: 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vendors: 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 in GAU province: 65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06D075-5A4C-CFE8-EF96-F7C4BEB7D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252" y="6608780"/>
            <a:ext cx="387129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408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Chapter 13 - Managing DB and SQL Performance</a:t>
            </a:r>
            <a:endParaRPr kumimoji="0" lang="en-ZA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5B5D6-0FB6-494F-A52C-A12EA63DC75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826996"/>
              </p:ext>
            </p:extLst>
          </p:nvPr>
        </p:nvGraphicFramePr>
        <p:xfrm>
          <a:off x="356580" y="1870075"/>
          <a:ext cx="11509355" cy="33951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25">
                  <a:extLst>
                    <a:ext uri="{9D8B030D-6E8A-4147-A177-3AD203B41FA5}">
                      <a16:colId xmlns:a16="http://schemas.microsoft.com/office/drawing/2014/main" val="1840336572"/>
                    </a:ext>
                  </a:extLst>
                </a:gridCol>
                <a:gridCol w="798213">
                  <a:extLst>
                    <a:ext uri="{9D8B030D-6E8A-4147-A177-3AD203B41FA5}">
                      <a16:colId xmlns:a16="http://schemas.microsoft.com/office/drawing/2014/main" val="3817069259"/>
                    </a:ext>
                  </a:extLst>
                </a:gridCol>
                <a:gridCol w="4163646">
                  <a:extLst>
                    <a:ext uri="{9D8B030D-6E8A-4147-A177-3AD203B41FA5}">
                      <a16:colId xmlns:a16="http://schemas.microsoft.com/office/drawing/2014/main" val="4067522907"/>
                    </a:ext>
                  </a:extLst>
                </a:gridCol>
                <a:gridCol w="1736651">
                  <a:extLst>
                    <a:ext uri="{9D8B030D-6E8A-4147-A177-3AD203B41FA5}">
                      <a16:colId xmlns:a16="http://schemas.microsoft.com/office/drawing/2014/main" val="297781009"/>
                    </a:ext>
                  </a:extLst>
                </a:gridCol>
                <a:gridCol w="1319285">
                  <a:extLst>
                    <a:ext uri="{9D8B030D-6E8A-4147-A177-3AD203B41FA5}">
                      <a16:colId xmlns:a16="http://schemas.microsoft.com/office/drawing/2014/main" val="2495363013"/>
                    </a:ext>
                  </a:extLst>
                </a:gridCol>
                <a:gridCol w="1412150">
                  <a:extLst>
                    <a:ext uri="{9D8B030D-6E8A-4147-A177-3AD203B41FA5}">
                      <a16:colId xmlns:a16="http://schemas.microsoft.com/office/drawing/2014/main" val="144857894"/>
                    </a:ext>
                  </a:extLst>
                </a:gridCol>
                <a:gridCol w="1291985">
                  <a:extLst>
                    <a:ext uri="{9D8B030D-6E8A-4147-A177-3AD203B41FA5}">
                      <a16:colId xmlns:a16="http://schemas.microsoft.com/office/drawing/2014/main" val="3451601801"/>
                    </a:ext>
                  </a:extLst>
                </a:gridCol>
              </a:tblGrid>
              <a:tr h="7973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Plan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Step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Operation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Operations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Resulting Rows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Total 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581184"/>
                  </a:ext>
                </a:extLst>
              </a:tr>
              <a:tr h="9331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A1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Full table scan of VENDOR to select rows with 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vProv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 = “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Gau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”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6927401"/>
                  </a:ext>
                </a:extLst>
              </a:tr>
              <a:tr h="466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A2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ORDER BY (sort operation)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308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9858416"/>
                  </a:ext>
                </a:extLst>
              </a:tr>
              <a:tr h="466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B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B1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Index scan range of index created on 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vProv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1975897"/>
                  </a:ext>
                </a:extLst>
              </a:tr>
              <a:tr h="466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B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B2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Table access by 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rowID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 of B1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130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320821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6236" y="96807"/>
            <a:ext cx="516512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vCode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vPhone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 	Vendor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WHERE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vProv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“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Gau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ORDER BY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580" y="28244"/>
            <a:ext cx="6337252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have access to the following database stats: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products: 375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provinces: 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vendors: 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 in GAU province: 65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E30BE3-BE75-A0F2-693C-C1C351A63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252" y="6608780"/>
            <a:ext cx="387129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89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Chapter 13 - Managing DB and SQL Performance</a:t>
            </a:r>
            <a:endParaRPr kumimoji="0" lang="en-ZA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5B5D6-0FB6-494F-A52C-A12EA63DC75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803191"/>
              </p:ext>
            </p:extLst>
          </p:nvPr>
        </p:nvGraphicFramePr>
        <p:xfrm>
          <a:off x="356580" y="1870075"/>
          <a:ext cx="11509355" cy="38616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25">
                  <a:extLst>
                    <a:ext uri="{9D8B030D-6E8A-4147-A177-3AD203B41FA5}">
                      <a16:colId xmlns:a16="http://schemas.microsoft.com/office/drawing/2014/main" val="1840336572"/>
                    </a:ext>
                  </a:extLst>
                </a:gridCol>
                <a:gridCol w="798213">
                  <a:extLst>
                    <a:ext uri="{9D8B030D-6E8A-4147-A177-3AD203B41FA5}">
                      <a16:colId xmlns:a16="http://schemas.microsoft.com/office/drawing/2014/main" val="3817069259"/>
                    </a:ext>
                  </a:extLst>
                </a:gridCol>
                <a:gridCol w="4163646">
                  <a:extLst>
                    <a:ext uri="{9D8B030D-6E8A-4147-A177-3AD203B41FA5}">
                      <a16:colId xmlns:a16="http://schemas.microsoft.com/office/drawing/2014/main" val="4067522907"/>
                    </a:ext>
                  </a:extLst>
                </a:gridCol>
                <a:gridCol w="1736651">
                  <a:extLst>
                    <a:ext uri="{9D8B030D-6E8A-4147-A177-3AD203B41FA5}">
                      <a16:colId xmlns:a16="http://schemas.microsoft.com/office/drawing/2014/main" val="297781009"/>
                    </a:ext>
                  </a:extLst>
                </a:gridCol>
                <a:gridCol w="1319285">
                  <a:extLst>
                    <a:ext uri="{9D8B030D-6E8A-4147-A177-3AD203B41FA5}">
                      <a16:colId xmlns:a16="http://schemas.microsoft.com/office/drawing/2014/main" val="2495363013"/>
                    </a:ext>
                  </a:extLst>
                </a:gridCol>
                <a:gridCol w="1412150">
                  <a:extLst>
                    <a:ext uri="{9D8B030D-6E8A-4147-A177-3AD203B41FA5}">
                      <a16:colId xmlns:a16="http://schemas.microsoft.com/office/drawing/2014/main" val="144857894"/>
                    </a:ext>
                  </a:extLst>
                </a:gridCol>
                <a:gridCol w="1291985">
                  <a:extLst>
                    <a:ext uri="{9D8B030D-6E8A-4147-A177-3AD203B41FA5}">
                      <a16:colId xmlns:a16="http://schemas.microsoft.com/office/drawing/2014/main" val="3451601801"/>
                    </a:ext>
                  </a:extLst>
                </a:gridCol>
              </a:tblGrid>
              <a:tr h="7973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Plan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Step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Operation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Operations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Resulting Rows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Total I/O Cost 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581184"/>
                  </a:ext>
                </a:extLst>
              </a:tr>
              <a:tr h="9331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A1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Full table scan of VENDOR to select rows with 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vProv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 = “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Gau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”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243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6927401"/>
                  </a:ext>
                </a:extLst>
              </a:tr>
              <a:tr h="466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A2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ORDER BY (sort operation)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308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9858416"/>
                  </a:ext>
                </a:extLst>
              </a:tr>
              <a:tr h="466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B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B1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Index scan range of index created on 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vProv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1975897"/>
                  </a:ext>
                </a:extLst>
              </a:tr>
              <a:tr h="466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B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B2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Table access by </a:t>
                      </a:r>
                      <a:r>
                        <a:rPr lang="en-ZA" sz="2400" dirty="0" err="1">
                          <a:effectLst/>
                          <a:latin typeface="Aptos" panose="020B0004020202020204" pitchFamily="34" charset="0"/>
                        </a:rPr>
                        <a:t>rowID</a:t>
                      </a: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 of B1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130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3208217"/>
                  </a:ext>
                </a:extLst>
              </a:tr>
              <a:tr h="466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B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>
                          <a:effectLst/>
                          <a:latin typeface="Aptos" panose="020B0004020202020204" pitchFamily="34" charset="0"/>
                        </a:rPr>
                        <a:t>B3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ORDER BY (sort operation)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65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Aptos" panose="020B0004020202020204" pitchFamily="34" charset="0"/>
                        </a:rPr>
                        <a:t>195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457605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6236" y="96807"/>
            <a:ext cx="516512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vCode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vPhone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 	Vendor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WHERE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vProv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“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Gau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2900" algn="l"/>
              </a:tabLst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ORDER BY	</a:t>
            </a: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vName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580" y="28244"/>
            <a:ext cx="6337252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have access to the following database stats: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products: 375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provinces: 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vendors: 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vendors in GAU province: 65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0559731" y="3572868"/>
            <a:ext cx="794069" cy="50133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559731" y="5242706"/>
            <a:ext cx="794069" cy="50133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CDEED-D657-27E7-9271-9C525F054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252" y="6608780"/>
            <a:ext cx="387129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46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dirty="0"/>
              <a:t>INDEX – What? Why? (re-cap)</a:t>
            </a:r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/>
              <a:t>Chapter 13 - Managing DB and SQL Performance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16</a:t>
            </a:fld>
            <a:endParaRPr lang="en-US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FD29A9-3184-EE32-4378-F650F3B264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111" y="2474276"/>
            <a:ext cx="5836889" cy="33434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A39215-518F-7DF4-0287-156BF6FB86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4519" y="360000"/>
            <a:ext cx="6659198" cy="33434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B7A2FA-8344-DF9E-0A18-251EEC353867}"/>
              </a:ext>
            </a:extLst>
          </p:cNvPr>
          <p:cNvSpPr txBox="1"/>
          <p:nvPr/>
        </p:nvSpPr>
        <p:spPr>
          <a:xfrm flipH="1">
            <a:off x="108283" y="2117064"/>
            <a:ext cx="506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j-lt"/>
              </a:rPr>
              <a:t> Ch 2-4 Models and Relational alg</a:t>
            </a:r>
            <a:endParaRPr lang="en-ZA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F9BB85-1380-C3CE-F4B4-A703762BE381}"/>
              </a:ext>
            </a:extLst>
          </p:cNvPr>
          <p:cNvSpPr txBox="1"/>
          <p:nvPr/>
        </p:nvSpPr>
        <p:spPr>
          <a:xfrm flipH="1">
            <a:off x="8537417" y="3703461"/>
            <a:ext cx="35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 Ch 10 and 11 Database Design</a:t>
            </a:r>
            <a:endParaRPr lang="en-ZA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37018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AEDE8-A2DA-D666-6579-47FC2CFF9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dirty="0"/>
              <a:t>WHEN to use an index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74CC0-C48B-79EE-AAF6-7582091F2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3" y="3004141"/>
            <a:ext cx="11234037" cy="3115672"/>
          </a:xfrm>
        </p:spPr>
        <p:txBody>
          <a:bodyPr/>
          <a:lstStyle/>
          <a:p>
            <a:r>
              <a:rPr lang="en-ZA" sz="2800" dirty="0"/>
              <a:t>For single attribute in WHERE, GROUP BY, HAVING, ORDER BY clause</a:t>
            </a:r>
          </a:p>
          <a:p>
            <a:r>
              <a:rPr lang="en-ZA" sz="2800" dirty="0"/>
              <a:t>Columns with high data sparsity (many different values)</a:t>
            </a:r>
          </a:p>
          <a:p>
            <a:r>
              <a:rPr lang="en-ZA" sz="2800" dirty="0"/>
              <a:t>When MIN or MAX function is applied to indexed column</a:t>
            </a:r>
          </a:p>
          <a:p>
            <a:r>
              <a:rPr lang="en-ZA" sz="2800" dirty="0"/>
              <a:t>PK, FK, join columns other than PK/FK</a:t>
            </a:r>
          </a:p>
          <a:p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DAACC-1A5A-9C7C-6401-173EFBFE063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/>
              <a:t>Chapter 13 - Managing DB and SQL Performance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C9AA5-A2CB-C394-01E7-A7E2ACE4A2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17</a:t>
            </a:fld>
            <a:endParaRPr lang="en-US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FC334F-883B-7E85-796E-34EDD5A0F6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2329" y="160203"/>
            <a:ext cx="7763321" cy="26441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0097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6DF659-D258-5C75-3552-F1585D433E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6656" y="0"/>
            <a:ext cx="6615682" cy="63787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FAEDE8-A2DA-D666-6579-47FC2CFF9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5811274" cy="540000"/>
          </a:xfrm>
        </p:spPr>
        <p:txBody>
          <a:bodyPr/>
          <a:lstStyle/>
          <a:p>
            <a:r>
              <a:rPr lang="en-ZA" dirty="0"/>
              <a:t>Are there any existing index(es)?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74CC0-C48B-79EE-AAF6-7582091F2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4" y="2375554"/>
            <a:ext cx="7585415" cy="4122445"/>
          </a:xfrm>
        </p:spPr>
        <p:txBody>
          <a:bodyPr/>
          <a:lstStyle/>
          <a:p>
            <a:endParaRPr lang="en-ZA" sz="2800" dirty="0"/>
          </a:p>
          <a:p>
            <a:pPr marL="1616075" indent="-1616075">
              <a:buNone/>
            </a:pPr>
            <a:r>
              <a:rPr lang="en-ZA" sz="2400" dirty="0"/>
              <a:t>SELECT 	</a:t>
            </a:r>
            <a:r>
              <a:rPr lang="en-ZA" sz="2400" dirty="0" err="1"/>
              <a:t>cusNo</a:t>
            </a:r>
            <a:r>
              <a:rPr lang="en-ZA" sz="2400" dirty="0"/>
              <a:t>, MAX(</a:t>
            </a:r>
            <a:r>
              <a:rPr lang="en-ZA" sz="2400" dirty="0" err="1"/>
              <a:t>lineQty</a:t>
            </a:r>
            <a:r>
              <a:rPr lang="en-ZA" sz="2400" dirty="0"/>
              <a:t>*</a:t>
            </a:r>
            <a:r>
              <a:rPr lang="en-ZA" sz="2400" dirty="0" err="1"/>
              <a:t>linePrice</a:t>
            </a:r>
            <a:r>
              <a:rPr lang="en-ZA" sz="2400" dirty="0"/>
              <a:t>) as </a:t>
            </a:r>
            <a:r>
              <a:rPr lang="en-ZA" sz="2400" dirty="0" err="1"/>
              <a:t>lineTotal</a:t>
            </a:r>
            <a:endParaRPr lang="en-ZA" sz="2400" dirty="0"/>
          </a:p>
          <a:p>
            <a:pPr marL="1616075" indent="-1616075">
              <a:buNone/>
            </a:pPr>
            <a:r>
              <a:rPr lang="en-ZA" sz="2400" dirty="0"/>
              <a:t>FROM	CUSTOMER inner join INVOICE  on </a:t>
            </a:r>
            <a:r>
              <a:rPr lang="en-ZA" sz="2400" dirty="0" err="1"/>
              <a:t>customer.cusNo</a:t>
            </a:r>
            <a:r>
              <a:rPr lang="en-ZA" sz="2400" dirty="0"/>
              <a:t> = </a:t>
            </a:r>
            <a:r>
              <a:rPr lang="en-ZA" sz="2400" dirty="0" err="1"/>
              <a:t>invoice.cusNo</a:t>
            </a:r>
            <a:r>
              <a:rPr lang="en-ZA" sz="2400" dirty="0"/>
              <a:t> inner join INV_LINE on </a:t>
            </a:r>
            <a:r>
              <a:rPr lang="en-ZA" sz="2400" dirty="0" err="1"/>
              <a:t>invoice.invNo</a:t>
            </a:r>
            <a:r>
              <a:rPr lang="en-ZA" sz="2400" dirty="0"/>
              <a:t> = </a:t>
            </a:r>
            <a:r>
              <a:rPr lang="en-ZA" sz="2400" dirty="0" err="1"/>
              <a:t>inv_line.invNo</a:t>
            </a:r>
            <a:endParaRPr lang="en-ZA" sz="2400" dirty="0"/>
          </a:p>
          <a:p>
            <a:pPr marL="1616075" indent="-1616075">
              <a:buNone/>
            </a:pPr>
            <a:r>
              <a:rPr lang="en-ZA" sz="2400" dirty="0"/>
              <a:t>WHERE	</a:t>
            </a:r>
            <a:r>
              <a:rPr lang="en-ZA" sz="2400" dirty="0" err="1"/>
              <a:t>cusPostCode</a:t>
            </a:r>
            <a:r>
              <a:rPr lang="en-ZA" sz="2400" dirty="0"/>
              <a:t> = ‘6025’</a:t>
            </a:r>
          </a:p>
          <a:p>
            <a:pPr marL="1616075" indent="-1616075">
              <a:buNone/>
            </a:pPr>
            <a:r>
              <a:rPr lang="en-US" sz="2400" dirty="0"/>
              <a:t>GROUP BY	</a:t>
            </a:r>
            <a:r>
              <a:rPr lang="en-US" sz="2400" dirty="0" err="1"/>
              <a:t>cusNo</a:t>
            </a:r>
            <a:r>
              <a:rPr lang="en-US" sz="2400" dirty="0"/>
              <a:t>;</a:t>
            </a:r>
            <a:endParaRPr lang="en-ZA" sz="2400" dirty="0"/>
          </a:p>
          <a:p>
            <a:pPr marL="0" indent="0">
              <a:buNone/>
            </a:pPr>
            <a:endParaRPr lang="en-ZA" sz="2800" dirty="0"/>
          </a:p>
          <a:p>
            <a:pPr marL="0" indent="0">
              <a:buNone/>
            </a:pPr>
            <a:r>
              <a:rPr lang="en-ZA" sz="2800" dirty="0"/>
              <a:t>Should you create another index?</a:t>
            </a:r>
          </a:p>
          <a:p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DAACC-1A5A-9C7C-6401-173EFBFE063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/>
              <a:t>Chapter 13 - Managing DB and SQL Performance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C9AA5-A2CB-C394-01E7-A7E2ACE4A2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18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2450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AEDE8-A2DA-D666-6579-47FC2CFF9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5811274" cy="540000"/>
          </a:xfrm>
        </p:spPr>
        <p:txBody>
          <a:bodyPr/>
          <a:lstStyle/>
          <a:p>
            <a:r>
              <a:rPr lang="en-ZA" dirty="0"/>
              <a:t>Indexes and query optimisation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74CC0-C48B-79EE-AAF6-7582091F2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734" y="1346805"/>
            <a:ext cx="11611466" cy="4422988"/>
          </a:xfrm>
        </p:spPr>
        <p:txBody>
          <a:bodyPr/>
          <a:lstStyle/>
          <a:p>
            <a:pPr marL="0" indent="0">
              <a:buNone/>
            </a:pPr>
            <a:r>
              <a:rPr lang="en-ZA" sz="2800" dirty="0"/>
              <a:t>Most DBMSs implement indexes using data structures</a:t>
            </a:r>
          </a:p>
          <a:p>
            <a:r>
              <a:rPr lang="en-ZA" sz="2400" dirty="0"/>
              <a:t>Hash index</a:t>
            </a:r>
          </a:p>
          <a:p>
            <a:pPr lvl="1"/>
            <a:r>
              <a:rPr lang="en-ZA" sz="2400" dirty="0"/>
              <a:t>Use hash algorithm to create hash value from key column</a:t>
            </a:r>
          </a:p>
          <a:p>
            <a:pPr lvl="1"/>
            <a:r>
              <a:rPr lang="en-ZA" sz="2400" dirty="0"/>
              <a:t>Value points to hash table entry; which points to actual data row location</a:t>
            </a:r>
          </a:p>
          <a:p>
            <a:pPr lvl="1"/>
            <a:r>
              <a:rPr lang="en-ZA" sz="2400" dirty="0"/>
              <a:t>Mostly used in equality conditions (e.g. checking for first name, surname)</a:t>
            </a:r>
          </a:p>
          <a:p>
            <a:r>
              <a:rPr lang="en-ZA" sz="2400" dirty="0"/>
              <a:t>B-tree index</a:t>
            </a:r>
          </a:p>
          <a:p>
            <a:pPr lvl="1"/>
            <a:r>
              <a:rPr lang="en-ZA" sz="2400" dirty="0"/>
              <a:t>Self-balanced tree; default (most commonly used) in databases</a:t>
            </a:r>
          </a:p>
          <a:p>
            <a:pPr lvl="1"/>
            <a:r>
              <a:rPr lang="en-ZA" sz="2400" dirty="0"/>
              <a:t>Popular when column values repeat small number of times (lots of unique values)</a:t>
            </a:r>
          </a:p>
          <a:p>
            <a:r>
              <a:rPr lang="en-ZA" sz="2400" dirty="0"/>
              <a:t>Bitmap index</a:t>
            </a:r>
          </a:p>
          <a:p>
            <a:pPr lvl="1"/>
            <a:r>
              <a:rPr lang="en-ZA" sz="2400" dirty="0"/>
              <a:t>Uses a bit array (0s and 1s), representing existence of a value or condition</a:t>
            </a:r>
          </a:p>
          <a:p>
            <a:pPr lvl="1"/>
            <a:r>
              <a:rPr lang="en-ZA" sz="2400" dirty="0"/>
              <a:t>Mostly used in data warehouses where small number of values repeated often</a:t>
            </a:r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DAACC-1A5A-9C7C-6401-173EFBFE063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/>
              <a:t>Chapter 13 - Managing DB and SQL Performance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C9AA5-A2CB-C394-01E7-A7E2ACE4A2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19</a:t>
            </a:fld>
            <a:endParaRPr lang="en-US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B30F74-1687-385E-6BAE-A410A99F4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04361" y="159945"/>
            <a:ext cx="3186166" cy="24535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873E9A-961B-D4AF-B488-5DAD7FDA8146}"/>
              </a:ext>
            </a:extLst>
          </p:cNvPr>
          <p:cNvSpPr txBox="1"/>
          <p:nvPr/>
        </p:nvSpPr>
        <p:spPr>
          <a:xfrm>
            <a:off x="8880050" y="159945"/>
            <a:ext cx="321553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 dirty="0">
                <a:solidFill>
                  <a:sysClr val="windowText" lastClr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 dirty="0">
                <a:solidFill>
                  <a:sysClr val="windowText" lastClr="000000"/>
                </a:solidFill>
              </a:rPr>
              <a:t> by Unknown author is licensed under </a:t>
            </a:r>
            <a:r>
              <a:rPr lang="en-US" sz="700" dirty="0">
                <a:solidFill>
                  <a:sysClr val="windowText" lastClr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r>
              <a:rPr lang="en-US" sz="700" dirty="0">
                <a:solidFill>
                  <a:sysClr val="windowText" lastClr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8400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2F46-72B9-1475-1A6A-EA5E2AAF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SQL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48DB3-A496-37DF-7F40-53643098CC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800" dirty="0"/>
              <a:t>Conditional expressions</a:t>
            </a:r>
            <a:endParaRPr lang="en-ZA" sz="11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24B54-7A84-EE70-51EA-677F1E840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999" y="1620000"/>
            <a:ext cx="11536628" cy="4500000"/>
          </a:xfrm>
        </p:spPr>
        <p:txBody>
          <a:bodyPr/>
          <a:lstStyle/>
          <a:p>
            <a:r>
              <a:rPr lang="en-ZA" sz="2800" dirty="0"/>
              <a:t>Conditional expressions normally within WHERE or HAVING clauses</a:t>
            </a:r>
          </a:p>
          <a:p>
            <a:pPr lvl="1"/>
            <a:r>
              <a:rPr lang="en-ZA" sz="2400" dirty="0"/>
              <a:t>Restricts output to rows (or groups of rows) matching conditional criteria</a:t>
            </a:r>
          </a:p>
          <a:p>
            <a:r>
              <a:rPr lang="en-ZA" sz="2800" dirty="0"/>
              <a:t>Common practice for efficient SQL</a:t>
            </a:r>
          </a:p>
          <a:p>
            <a:pPr lvl="1"/>
            <a:r>
              <a:rPr lang="en-ZA" sz="2400" dirty="0"/>
              <a:t>Use simple columns or literals in conditions</a:t>
            </a:r>
          </a:p>
          <a:p>
            <a:pPr lvl="1"/>
            <a:r>
              <a:rPr lang="en-ZA" sz="2400" dirty="0"/>
              <a:t>Numeric comparison faster than character, date, NULL</a:t>
            </a:r>
          </a:p>
          <a:p>
            <a:pPr lvl="1"/>
            <a:r>
              <a:rPr lang="en-ZA" sz="2400" dirty="0"/>
              <a:t>Equality faster than inequality</a:t>
            </a:r>
          </a:p>
          <a:p>
            <a:pPr lvl="1"/>
            <a:r>
              <a:rPr lang="en-ZA" sz="2400" dirty="0"/>
              <a:t>Transform conditional expressions to use literals</a:t>
            </a:r>
          </a:p>
          <a:p>
            <a:pPr lvl="1"/>
            <a:r>
              <a:rPr lang="en-ZA" sz="2400" dirty="0"/>
              <a:t>Write equality condition first</a:t>
            </a:r>
          </a:p>
          <a:p>
            <a:pPr lvl="1"/>
            <a:r>
              <a:rPr lang="en-ZA" sz="2400" dirty="0"/>
              <a:t>AND: use most likely false conditions first</a:t>
            </a:r>
          </a:p>
          <a:p>
            <a:pPr lvl="1"/>
            <a:r>
              <a:rPr lang="en-ZA" sz="2400" dirty="0"/>
              <a:t>OR: use most likely true condition first</a:t>
            </a:r>
          </a:p>
          <a:p>
            <a:pPr lvl="1"/>
            <a:r>
              <a:rPr lang="en-ZA" sz="2400" dirty="0"/>
              <a:t>Avoid NOT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1FAD0-3B98-E0C4-8566-B8ECB063E33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Chapter 13 - Managing DB and SQL Performance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60B14-1777-6CF7-5383-7F69E436E18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20</a:t>
            </a:fld>
            <a:endParaRPr lang="en-US" noProof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00AB84-EE7A-C620-A1F5-3E4602FB6F80}"/>
              </a:ext>
            </a:extLst>
          </p:cNvPr>
          <p:cNvSpPr/>
          <p:nvPr/>
        </p:nvSpPr>
        <p:spPr>
          <a:xfrm>
            <a:off x="8645380" y="2865183"/>
            <a:ext cx="2753219" cy="2382015"/>
          </a:xfrm>
          <a:prstGeom prst="roundRect">
            <a:avLst/>
          </a:prstGeom>
          <a:solidFill>
            <a:srgbClr val="C00000"/>
          </a:solidFill>
          <a:ln w="5715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600">
                <a:solidFill>
                  <a:schemeClr val="bg1"/>
                </a:solidFill>
                <a:latin typeface="Calibri" panose="020F0502020204030204"/>
              </a:rPr>
              <a:t>Also get rid of all old-style joins</a:t>
            </a:r>
            <a:endParaRPr lang="en-US" sz="3600" dirty="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3679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2F46-72B9-1475-1A6A-EA5E2AAF0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037006" cy="540000"/>
          </a:xfrm>
        </p:spPr>
        <p:txBody>
          <a:bodyPr/>
          <a:lstStyle/>
          <a:p>
            <a:r>
              <a:rPr lang="en-ZA" dirty="0"/>
              <a:t>SQL performance / optimisation resources &amp; Activity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24B54-7A84-EE70-51EA-677F1E840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999" y="1620000"/>
            <a:ext cx="11536628" cy="4500000"/>
          </a:xfrm>
        </p:spPr>
        <p:txBody>
          <a:bodyPr/>
          <a:lstStyle/>
          <a:p>
            <a:r>
              <a:rPr lang="en-ZA" sz="2800" dirty="0">
                <a:hlinkClick r:id="rId2"/>
              </a:rPr>
              <a:t>https://www.datacamp.com/blog/sql-query-optimization</a:t>
            </a:r>
          </a:p>
          <a:p>
            <a:r>
              <a:rPr lang="en-ZA" sz="2800" dirty="0">
                <a:hlinkClick r:id="rId2"/>
              </a:rPr>
              <a:t>https://blog.devart.com/how-to-optimize-sql-query.html</a:t>
            </a:r>
            <a:r>
              <a:rPr lang="en-ZA" sz="2800" dirty="0">
                <a:hlinkClick r:id="" action="ppaction://noaction"/>
              </a:rPr>
              <a:t> </a:t>
            </a:r>
          </a:p>
          <a:p>
            <a:r>
              <a:rPr lang="en-ZA" sz="2800" dirty="0">
                <a:hlinkClick r:id="rId3"/>
              </a:rPr>
              <a:t>https://www.sqlshack.com/query-optimization-techniques-in-sql-server-the-basics/</a:t>
            </a:r>
            <a:endParaRPr lang="en-ZA" sz="2800" dirty="0"/>
          </a:p>
          <a:p>
            <a:r>
              <a:rPr lang="en-ZA" sz="2800" dirty="0">
                <a:hlinkClick r:id="rId4"/>
              </a:rPr>
              <a:t>https://blog.quest.com/sql-query-optimization-how-to-determine-when-and-if-its-needed/</a:t>
            </a:r>
            <a:endParaRPr lang="en-ZA" sz="2800" dirty="0"/>
          </a:p>
          <a:p>
            <a:r>
              <a:rPr lang="en-ZA" sz="2800" dirty="0"/>
              <a:t>Complete Optimising Query Activity</a:t>
            </a:r>
          </a:p>
          <a:p>
            <a:pPr lvl="1"/>
            <a:r>
              <a:rPr lang="en-ZA" sz="2600" dirty="0"/>
              <a:t>Use assignment format, in groups of max 3 (no individual submissions)</a:t>
            </a:r>
          </a:p>
          <a:p>
            <a:pPr lvl="1"/>
            <a:r>
              <a:rPr lang="en-ZA" sz="2600" dirty="0"/>
              <a:t>Due: Friday, 1 May @ 09:00 (I know it’s a public holiday…)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1FAD0-3B98-E0C4-8566-B8ECB063E33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Chapter 13 - Managing DB and SQL Performance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60B14-1777-6CF7-5383-7F69E436E18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06641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3BB2-5C08-0252-DDF4-014310E3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/>
              <a:t>Semester test 2 </a:t>
            </a:r>
            <a:r>
              <a:rPr lang="en-ZA" sz="4000"/>
              <a:t>– third </a:t>
            </a:r>
            <a:r>
              <a:rPr lang="en-ZA" sz="4000" dirty="0"/>
              <a:t>notice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BE155-4076-9DB5-3EFF-685F54976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Schedule:</a:t>
            </a:r>
          </a:p>
          <a:p>
            <a:pPr marL="0" indent="0">
              <a:buNone/>
            </a:pPr>
            <a:endParaRPr lang="en-ZA" sz="2800" dirty="0"/>
          </a:p>
          <a:p>
            <a:pPr marL="0" indent="0">
              <a:buNone/>
            </a:pPr>
            <a:endParaRPr lang="en-ZA" sz="2800" dirty="0"/>
          </a:p>
          <a:p>
            <a:r>
              <a:rPr lang="en-US" sz="2400" dirty="0"/>
              <a:t>Tuesday, 12 May</a:t>
            </a:r>
          </a:p>
          <a:p>
            <a:pPr lvl="1"/>
            <a:r>
              <a:rPr lang="en-US" sz="2000" dirty="0"/>
              <a:t>May bring in ONE page (double sided) hand written (no photocopies) notes</a:t>
            </a:r>
          </a:p>
          <a:p>
            <a:r>
              <a:rPr lang="en-ZA" sz="2400" dirty="0"/>
              <a:t>2-hour test, 60 marks</a:t>
            </a:r>
          </a:p>
          <a:p>
            <a:r>
              <a:rPr lang="en-ZA" sz="2400" dirty="0"/>
              <a:t>Book a timeslot on </a:t>
            </a:r>
            <a:r>
              <a:rPr lang="en-ZA" sz="2400" dirty="0" err="1"/>
              <a:t>Funda</a:t>
            </a:r>
            <a:r>
              <a:rPr lang="en-ZA" sz="2400" dirty="0"/>
              <a:t> by </a:t>
            </a:r>
            <a:r>
              <a:rPr lang="en-ZA" sz="2400" b="1" dirty="0">
                <a:solidFill>
                  <a:srgbClr val="C00000"/>
                </a:solidFill>
              </a:rPr>
              <a:t>no later than Monday, 4 May</a:t>
            </a:r>
          </a:p>
          <a:p>
            <a:pPr lvl="1"/>
            <a:r>
              <a:rPr lang="en-ZA" sz="2200" dirty="0"/>
              <a:t>15:45 – 17:45 </a:t>
            </a:r>
          </a:p>
          <a:p>
            <a:pPr marL="263525" lvl="1" indent="0">
              <a:buNone/>
            </a:pPr>
            <a:r>
              <a:rPr lang="en-ZA" sz="2200" dirty="0"/>
              <a:t>OR </a:t>
            </a:r>
          </a:p>
          <a:p>
            <a:pPr lvl="1"/>
            <a:r>
              <a:rPr lang="en-ZA" sz="2200" dirty="0"/>
              <a:t>17:30 – 19:30 (</a:t>
            </a:r>
            <a:r>
              <a:rPr lang="en-ZA" sz="2200" b="1" i="1" dirty="0"/>
              <a:t>very limited </a:t>
            </a:r>
            <a:r>
              <a:rPr lang="en-ZA" sz="2200" dirty="0"/>
              <a:t>seating)</a:t>
            </a:r>
          </a:p>
          <a:p>
            <a:endParaRPr lang="en-ZA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114D5-FB0F-4DB3-7A20-8CD35542F0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22</a:t>
            </a:fld>
            <a:endParaRPr lang="en-US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4ECE32-B211-45E4-A0E8-9E2D3A3875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31040" y="1620000"/>
            <a:ext cx="9663360" cy="1120073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C3C8EC4-D339-4E77-B14D-26282BF38C0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805395" y="6641402"/>
            <a:ext cx="3789006" cy="198598"/>
          </a:xfrm>
        </p:spPr>
        <p:txBody>
          <a:bodyPr/>
          <a:lstStyle/>
          <a:p>
            <a:r>
              <a:rPr lang="en-US" sz="1100">
                <a:solidFill>
                  <a:schemeClr val="bg1">
                    <a:lumMod val="75000"/>
                  </a:schemeClr>
                </a:solidFill>
              </a:rPr>
              <a:t>Chapter 13 - Managing DB and SQL Performance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55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78043420_Science fair presentation_RVA_v3.potx" id="{29D4BD8F-7488-49D9-BFBB-7DF8C2B0292D}" vid="{799E8309-D02B-4451-A1B1-915D5FF07E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Science fair presentation</Template>
  <TotalTime>2519</TotalTime>
  <Words>1823</Words>
  <Application>Microsoft Office PowerPoint</Application>
  <PresentationFormat>Widescreen</PresentationFormat>
  <Paragraphs>394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__Inter_8effd3</vt:lpstr>
      <vt:lpstr>Aptos</vt:lpstr>
      <vt:lpstr>Arial</vt:lpstr>
      <vt:lpstr>Calibri</vt:lpstr>
      <vt:lpstr>Consolas</vt:lpstr>
      <vt:lpstr>Lucida Sans Typewriter</vt:lpstr>
      <vt:lpstr>Times New Roman</vt:lpstr>
      <vt:lpstr>Tw Cen MT</vt:lpstr>
      <vt:lpstr>Office Theme</vt:lpstr>
      <vt:lpstr>Managing Database and SQL performance</vt:lpstr>
      <vt:lpstr>PowerPoint Presentation</vt:lpstr>
      <vt:lpstr>Database performance tuning</vt:lpstr>
      <vt:lpstr>DBMS Architecture</vt:lpstr>
      <vt:lpstr>DBMS Architecture</vt:lpstr>
      <vt:lpstr>How is a query processed?</vt:lpstr>
      <vt:lpstr>Access plans</vt:lpstr>
      <vt:lpstr>Access plans –  See video for example (error – see below)</vt:lpstr>
      <vt:lpstr>Access plan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INDEX – What? Why? (re-cap)</vt:lpstr>
      <vt:lpstr>WHEN to use an index</vt:lpstr>
      <vt:lpstr>Are there any existing index(es)?</vt:lpstr>
      <vt:lpstr>Indexes and query optimisation</vt:lpstr>
      <vt:lpstr>SQL performance</vt:lpstr>
      <vt:lpstr>SQL performance / optimisation resources &amp; Activity</vt:lpstr>
      <vt:lpstr>Semester test 2 – third notice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Cover Title</dc:title>
  <dc:creator>Barnard, Lynette (Dr) (Summerstrand Campus South)</dc:creator>
  <cp:lastModifiedBy>Barnard, Lynette (Dr) (Summerstrand Campus South)</cp:lastModifiedBy>
  <cp:revision>394</cp:revision>
  <dcterms:created xsi:type="dcterms:W3CDTF">2026-01-27T08:37:41Z</dcterms:created>
  <dcterms:modified xsi:type="dcterms:W3CDTF">2026-04-30T11:55:55Z</dcterms:modified>
</cp:coreProperties>
</file>