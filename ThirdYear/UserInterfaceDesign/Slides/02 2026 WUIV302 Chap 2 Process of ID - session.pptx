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6" r:id="rId4"/>
  </p:sldMasterIdLst>
  <p:notesMasterIdLst>
    <p:notesMasterId r:id="rId23"/>
  </p:notesMasterIdLst>
  <p:handoutMasterIdLst>
    <p:handoutMasterId r:id="rId24"/>
  </p:handoutMasterIdLst>
  <p:sldIdLst>
    <p:sldId id="1519" r:id="rId5"/>
    <p:sldId id="1540" r:id="rId6"/>
    <p:sldId id="1537" r:id="rId7"/>
    <p:sldId id="1542" r:id="rId8"/>
    <p:sldId id="1530" r:id="rId9"/>
    <p:sldId id="1541" r:id="rId10"/>
    <p:sldId id="1543" r:id="rId11"/>
    <p:sldId id="1544" r:id="rId12"/>
    <p:sldId id="1545" r:id="rId13"/>
    <p:sldId id="1546" r:id="rId14"/>
    <p:sldId id="1547" r:id="rId15"/>
    <p:sldId id="1548" r:id="rId16"/>
    <p:sldId id="1551" r:id="rId17"/>
    <p:sldId id="1549" r:id="rId18"/>
    <p:sldId id="1552" r:id="rId19"/>
    <p:sldId id="1553" r:id="rId20"/>
    <p:sldId id="1554" r:id="rId21"/>
    <p:sldId id="155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0"/>
  </p:normalViewPr>
  <p:slideViewPr>
    <p:cSldViewPr snapToGrid="0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5967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608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r>
              <a:rPr lang="en-US"/>
              <a:t>23 July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779721"/>
            <a:ext cx="11314187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7910" y="2449473"/>
            <a:ext cx="11314187" cy="3689909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228600" indent="0" algn="l">
              <a:buFont typeface="Arial" panose="020B0604020202020204" pitchFamily="34" charset="0"/>
              <a:buNone/>
              <a:defRPr sz="2000"/>
            </a:lvl2pPr>
            <a:lvl3pPr marL="457200" indent="0" algn="l">
              <a:buFont typeface="Arial" panose="020B0604020202020204" pitchFamily="34" charset="0"/>
              <a:buNone/>
              <a:defRPr sz="1800"/>
            </a:lvl3pPr>
            <a:lvl4pPr marL="685800" indent="0" algn="l">
              <a:buFont typeface="Arial" panose="020B0604020202020204" pitchFamily="34" charset="0"/>
              <a:buNone/>
              <a:defRPr sz="1800"/>
            </a:lvl4pPr>
            <a:lvl5pPr marL="914400" indent="0" algn="l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4" y="525786"/>
            <a:ext cx="247375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7437" y="1698171"/>
            <a:ext cx="7837714" cy="3442995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2400" i="1"/>
            </a:lvl1pPr>
            <a:lvl2pPr marL="228600" indent="0">
              <a:buFont typeface="+mj-lt"/>
              <a:buNone/>
              <a:defRPr sz="20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9" y="844047"/>
            <a:ext cx="4764095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9" y="2593910"/>
            <a:ext cx="4764093" cy="407701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/>
            </a:lvl1pPr>
            <a:lvl2pPr marL="228600" indent="0">
              <a:buFont typeface="+mj-lt"/>
              <a:buNone/>
              <a:defRPr sz="20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1524" y="-95213"/>
            <a:ext cx="12190476" cy="6858001"/>
            <a:chOff x="1524" y="-95213"/>
            <a:chExt cx="12190476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174572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19761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641045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664090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2492580" y="-95213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555" y="552205"/>
            <a:ext cx="9265293" cy="1025576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899162" y="6336465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54803" y="63364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8555" y="2206642"/>
            <a:ext cx="8766687" cy="408193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/>
            </a:lvl1pPr>
            <a:lvl2pPr marL="228600" indent="0">
              <a:spcBef>
                <a:spcPts val="600"/>
              </a:spcBef>
              <a:buNone/>
              <a:defRPr/>
            </a:lvl2pPr>
            <a:lvl3pPr marL="457200" indent="0">
              <a:spcBef>
                <a:spcPts val="600"/>
              </a:spcBef>
              <a:buNone/>
              <a:defRPr/>
            </a:lvl3pPr>
            <a:lvl4pPr marL="685800" indent="0">
              <a:spcBef>
                <a:spcPts val="600"/>
              </a:spcBef>
              <a:buNone/>
              <a:defRPr/>
            </a:lvl4pPr>
            <a:lvl5pPr marL="914400" indent="0">
              <a:spcBef>
                <a:spcPts val="60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51713" y="1091681"/>
            <a:ext cx="6070384" cy="5579239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783771"/>
            <a:ext cx="6102359" cy="588714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19BA5A-145D-ADF7-F0CD-A36CBD8A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3048" y="0"/>
            <a:ext cx="12188952" cy="6393521"/>
            <a:chOff x="3048" y="2130458"/>
            <a:chExt cx="12188952" cy="426306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39352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2301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2130458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7913BC78-ABD6-4ED9-8098-B1A0FDEE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8208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4DD383E-99EB-41EB-8DDC-370DF6D2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8208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08A35DA-6FD6-4BD6-BD47-F619FFE1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650" y="605821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44241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073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347472"/>
            <a:ext cx="11009322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1707502"/>
            <a:ext cx="11009322" cy="4236098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87054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2784670"/>
            <a:ext cx="8430639" cy="2281852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hdr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02%202026%20WUIV302%20What%20Is%20the%20DD%20Design%20Process.mp4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action-design.org/literature/topics/contexts-of-use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pact.ideo.org/process/" TargetMode="Externa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onos.com/digitalguide/websites/web-development/human-centered-design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sprintkit.withgoogle.com/methodology/overview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pact.ideo.org/proces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/>
          <a:lstStyle/>
          <a:p>
            <a:r>
              <a:rPr lang="en-US" sz="6000" dirty="0"/>
              <a:t>User-Interface Design</a:t>
            </a:r>
            <a:br>
              <a:rPr lang="en-US" sz="6000" dirty="0"/>
            </a:br>
            <a:r>
              <a:rPr lang="en-US" sz="6000" dirty="0"/>
              <a:t>WUIV302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3" y="3685880"/>
            <a:ext cx="2569286" cy="539880"/>
          </a:xfrm>
        </p:spPr>
        <p:txBody>
          <a:bodyPr/>
          <a:lstStyle/>
          <a:p>
            <a:r>
              <a:rPr lang="en-US" dirty="0"/>
              <a:t>Lynette Barnard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3531-49C6-C8D3-3030-A7A1324B55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82583" y="5432520"/>
            <a:ext cx="1645920" cy="576072"/>
          </a:xfrm>
        </p:spPr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2B99809D-15B7-4076-2D5F-D4BF68A2D1E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screen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3" y="4583112"/>
            <a:ext cx="3049587" cy="2274888"/>
          </a:xfrm>
        </p:spPr>
      </p:pic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564-F972-E203-EE35-C950B9CF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0FEB2CF-438C-9F4C-380C-DC90E74CD1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4097" y="-1"/>
            <a:ext cx="8127902" cy="685799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3658-2FC7-ACE2-A789-1E19C74F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>
            <a:normAutofit/>
          </a:bodyPr>
          <a:lstStyle/>
          <a:p>
            <a:r>
              <a:rPr lang="en-US" sz="2800" dirty="0"/>
              <a:t>The process of interaction design (ID)</a:t>
            </a:r>
          </a:p>
          <a:p>
            <a:r>
              <a:rPr lang="en-US" sz="2800" dirty="0"/>
              <a:t>Check class list details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1C8A-6F93-18A9-5211-0C7E81FE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3BF5E-9D2F-6F81-533E-A357B38D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6E94F-E7F9-7D5F-823C-C2549AB4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7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981A-627A-C165-8169-A3439C30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452516" cy="1132258"/>
          </a:xfrm>
        </p:spPr>
        <p:txBody>
          <a:bodyPr>
            <a:normAutofit/>
          </a:bodyPr>
          <a:lstStyle/>
          <a:p>
            <a:r>
              <a:rPr lang="en-US" dirty="0"/>
              <a:t>How do we design interactive products?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2963-B557-E349-9E7D-14C35A0F0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517715"/>
            <a:ext cx="7239881" cy="5156770"/>
          </a:xfrm>
        </p:spPr>
        <p:txBody>
          <a:bodyPr>
            <a:normAutofit fontScale="92500"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sz="2400" dirty="0"/>
              <a:t>Different design fields / approaches; some commonalities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sz="2400" dirty="0"/>
              <a:t>Focus on </a:t>
            </a:r>
            <a:r>
              <a:rPr lang="en-US" sz="2400" i="1" dirty="0"/>
              <a:t>process</a:t>
            </a:r>
            <a:r>
              <a:rPr lang="en-US" sz="2400" dirty="0"/>
              <a:t> of ID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sz="2400" dirty="0"/>
              <a:t>ID focuses on activities to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en-US" sz="2000" dirty="0"/>
              <a:t>discover requirements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en-US" sz="2000" dirty="0"/>
              <a:t>design some artefact to meet requirements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en-US" sz="2000" dirty="0"/>
              <a:t>produce prototypes (and evaluate)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sz="2400" dirty="0"/>
              <a:t>Specifically consider users and goals (</a:t>
            </a:r>
            <a:r>
              <a:rPr lang="en-ZA" sz="2400" dirty="0"/>
              <a:t>user-centred</a:t>
            </a:r>
            <a:r>
              <a:rPr lang="en-US" sz="2400" dirty="0"/>
              <a:t>)</a:t>
            </a:r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en-US" sz="2000" i="1" dirty="0"/>
              <a:t>Who</a:t>
            </a:r>
            <a:r>
              <a:rPr lang="en-US" sz="2000" dirty="0"/>
              <a:t> designing for (stakeholders; they’re not necessarily users)</a:t>
            </a:r>
            <a:endParaRPr lang="en-US" sz="2000" i="1" dirty="0"/>
          </a:p>
          <a:p>
            <a:pPr lvl="1">
              <a:lnSpc>
                <a:spcPct val="125000"/>
              </a:lnSpc>
              <a:spcBef>
                <a:spcPts val="600"/>
              </a:spcBef>
            </a:pPr>
            <a:r>
              <a:rPr lang="en-US" sz="2000" dirty="0"/>
              <a:t>User (not only technical) concerns direct development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sz="2400" dirty="0"/>
              <a:t>Trade-offs – balance conflicting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E8378-3110-4561-4B5F-C10B63AD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825DA0-044A-4559-81BA-3C169B974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431" y="2094473"/>
            <a:ext cx="4317540" cy="3484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71885-E17C-67D6-7A78-55ADC884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B3801-B39B-ED48-D7A7-E7A01F23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7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DAD2-0FB7-4AC0-A5A8-C92AE72A75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400" dirty="0"/>
              <a:t>What is involved in ID?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E375C20-9735-4A62-9C6C-6B9977D18F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25" r="29025"/>
          <a:stretch/>
        </p:blipFill>
        <p:spPr>
          <a:xfrm>
            <a:off x="7797013" y="633794"/>
            <a:ext cx="4394987" cy="5590412"/>
          </a:xfrm>
        </p:spPr>
      </p:pic>
    </p:spTree>
    <p:extLst>
      <p:ext uri="{BB962C8B-B14F-4D97-AF65-F5344CB8AC3E}">
        <p14:creationId xmlns:p14="http://schemas.microsoft.com/office/powerpoint/2010/main" val="403790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C94B48-8D53-4A4F-B41D-5B4C6EBBB2B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3E3E3"/>
              </a:clrFrom>
              <a:clrTo>
                <a:srgbClr val="E3E3E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1812" y="0"/>
            <a:ext cx="7847013" cy="675688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912F0F-D220-4B89-B7D1-B6439F972085}"/>
              </a:ext>
            </a:extLst>
          </p:cNvPr>
          <p:cNvSpPr/>
          <p:nvPr/>
        </p:nvSpPr>
        <p:spPr>
          <a:xfrm>
            <a:off x="5637212" y="1998922"/>
            <a:ext cx="1317089" cy="2801678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DE83ADFF-D48E-4887-B5FF-1C2596FD76F2}"/>
              </a:ext>
            </a:extLst>
          </p:cNvPr>
          <p:cNvSpPr/>
          <p:nvPr/>
        </p:nvSpPr>
        <p:spPr>
          <a:xfrm>
            <a:off x="8249700" y="1993352"/>
            <a:ext cx="1349912" cy="2807247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11F72144-5A27-4283-9F9A-7C968F0A439F}"/>
              </a:ext>
            </a:extLst>
          </p:cNvPr>
          <p:cNvSpPr/>
          <p:nvPr/>
        </p:nvSpPr>
        <p:spPr>
          <a:xfrm>
            <a:off x="6954301" y="1998922"/>
            <a:ext cx="1295399" cy="2801678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FF508021-9BEA-4C22-A038-1A8DABC96E69}"/>
              </a:ext>
            </a:extLst>
          </p:cNvPr>
          <p:cNvSpPr/>
          <p:nvPr/>
        </p:nvSpPr>
        <p:spPr>
          <a:xfrm>
            <a:off x="9599612" y="1987583"/>
            <a:ext cx="1295399" cy="2813016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DC151F-61DA-4A94-836A-73C8D3F38616}"/>
              </a:ext>
            </a:extLst>
          </p:cNvPr>
          <p:cNvSpPr/>
          <p:nvPr/>
        </p:nvSpPr>
        <p:spPr>
          <a:xfrm>
            <a:off x="6118312" y="6613960"/>
            <a:ext cx="442087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>
                <a:effectLst/>
              </a:rPr>
              <a:t>Adapted from </a:t>
            </a:r>
            <a:r>
              <a:rPr lang="en-GB" sz="700" dirty="0"/>
              <a:t>https://www.designcouncil.org.uk/our-resources/framework-for-innovation/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AF4B7-234A-439B-BE62-8F613F9E0256}"/>
              </a:ext>
            </a:extLst>
          </p:cNvPr>
          <p:cNvSpPr txBox="1"/>
          <p:nvPr/>
        </p:nvSpPr>
        <p:spPr>
          <a:xfrm>
            <a:off x="159425" y="554182"/>
            <a:ext cx="562109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3" action="ppaction://hlinkfile"/>
              </a:rPr>
              <a:t>Double diamond of design</a:t>
            </a:r>
            <a:endParaRPr lang="en-US" sz="3200" dirty="0"/>
          </a:p>
          <a:p>
            <a:pPr marL="0" lvl="1"/>
            <a:r>
              <a:rPr lang="en-US" sz="2800" b="1" dirty="0">
                <a:solidFill>
                  <a:srgbClr val="7030A0"/>
                </a:solidFill>
              </a:rPr>
              <a:t>Divergent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B050"/>
                </a:solidFill>
              </a:rPr>
              <a:t>convergent</a:t>
            </a:r>
            <a:r>
              <a:rPr lang="en-US" sz="2800" dirty="0"/>
              <a:t> thinking</a:t>
            </a:r>
          </a:p>
          <a:p>
            <a:pPr marL="0" lvl="1"/>
            <a:r>
              <a:rPr lang="en-US" sz="2800" dirty="0"/>
              <a:t>Non-linear, iterative process</a:t>
            </a:r>
          </a:p>
          <a:p>
            <a:endParaRPr lang="en-ZA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7F4AE-7C0F-461F-97A6-741EA8186E03}"/>
              </a:ext>
            </a:extLst>
          </p:cNvPr>
          <p:cNvSpPr txBox="1"/>
          <p:nvPr/>
        </p:nvSpPr>
        <p:spPr>
          <a:xfrm>
            <a:off x="147348" y="1950240"/>
            <a:ext cx="4194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Discover</a:t>
            </a:r>
          </a:p>
          <a:p>
            <a:r>
              <a:rPr lang="en-ZA" sz="2000" dirty="0"/>
              <a:t>Understand the problem (no assumptions); talk to people impacted by the problem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6F9B6-8DA9-4079-AB5C-78A6FA866CF4}"/>
              </a:ext>
            </a:extLst>
          </p:cNvPr>
          <p:cNvSpPr txBox="1"/>
          <p:nvPr/>
        </p:nvSpPr>
        <p:spPr>
          <a:xfrm>
            <a:off x="213958" y="3273679"/>
            <a:ext cx="4127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Define</a:t>
            </a:r>
          </a:p>
          <a:p>
            <a:r>
              <a:rPr lang="en-ZA" sz="2000" dirty="0"/>
              <a:t>Use </a:t>
            </a:r>
            <a:r>
              <a:rPr lang="en-ZA" sz="2000" i="1" dirty="0"/>
              <a:t>discovered</a:t>
            </a:r>
            <a:r>
              <a:rPr lang="en-ZA" sz="2000" dirty="0"/>
              <a:t> insights to define design challenge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F356E-610A-482B-878F-A42CE029811A}"/>
              </a:ext>
            </a:extLst>
          </p:cNvPr>
          <p:cNvSpPr txBox="1"/>
          <p:nvPr/>
        </p:nvSpPr>
        <p:spPr>
          <a:xfrm>
            <a:off x="213957" y="4289342"/>
            <a:ext cx="4795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Develop</a:t>
            </a:r>
          </a:p>
          <a:p>
            <a:r>
              <a:rPr lang="en-ZA" sz="2000" dirty="0"/>
              <a:t>Create different responses to design challenge (considering range of sources, insights from </a:t>
            </a:r>
            <a:r>
              <a:rPr lang="en-ZA" sz="2000" i="1" dirty="0"/>
              <a:t>discover</a:t>
            </a:r>
            <a:r>
              <a:rPr lang="en-ZA" sz="2000" dirty="0"/>
              <a:t> and</a:t>
            </a:r>
            <a:r>
              <a:rPr lang="en-ZA" sz="2000" i="1" dirty="0"/>
              <a:t> define</a:t>
            </a:r>
            <a:r>
              <a:rPr lang="en-ZA" sz="2000" dirty="0"/>
              <a:t> phases</a:t>
            </a:r>
            <a:r>
              <a:rPr lang="en-ZA" sz="2000" i="1" dirty="0"/>
              <a:t>)</a:t>
            </a:r>
            <a:endParaRPr lang="en-ZA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F330DB-BB32-4EE8-B23E-15055FF48570}"/>
              </a:ext>
            </a:extLst>
          </p:cNvPr>
          <p:cNvSpPr txBox="1"/>
          <p:nvPr/>
        </p:nvSpPr>
        <p:spPr>
          <a:xfrm>
            <a:off x="213955" y="5568825"/>
            <a:ext cx="44208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/>
              <a:t>Deliver</a:t>
            </a:r>
          </a:p>
          <a:p>
            <a:r>
              <a:rPr lang="en-ZA" sz="2000" dirty="0"/>
              <a:t>Test different solutions at small scale; reject or evolve into better solutions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D4392D-C355-354D-DA1E-11790FE5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6B6F2-F37B-A6C4-0707-839BC6EDF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B5A5A-65B0-D26B-FF28-CC2BC024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4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2" grpId="0"/>
      <p:bldP spid="2" grpId="1"/>
      <p:bldP spid="13" grpId="0"/>
      <p:bldP spid="13" grpId="1"/>
      <p:bldP spid="14" grpId="0"/>
      <p:bldP spid="14" grpId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BBAF3-EC85-4785-8C9C-0F9D4207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768A6-1F76-449F-B449-D781E439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812" y="0"/>
            <a:ext cx="7847013" cy="6756889"/>
          </a:xfrm>
          <a:prstGeom prst="rect">
            <a:avLst/>
          </a:prstGeom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4E65183-D188-401F-9EAA-860B45472845}"/>
              </a:ext>
            </a:extLst>
          </p:cNvPr>
          <p:cNvSpPr txBox="1">
            <a:spLocks/>
          </p:cNvSpPr>
          <p:nvPr/>
        </p:nvSpPr>
        <p:spPr>
          <a:xfrm>
            <a:off x="427913" y="831273"/>
            <a:ext cx="4218699" cy="3613946"/>
          </a:xfrm>
          <a:prstGeom prst="rect">
            <a:avLst/>
          </a:prstGeom>
        </p:spPr>
        <p:txBody>
          <a:bodyPr vert="horz" lIns="91416" tIns="45708" rIns="91416" bIns="45708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DD of design supported by</a:t>
            </a:r>
          </a:p>
          <a:p>
            <a:pPr lvl="1"/>
            <a:r>
              <a:rPr lang="en-US" sz="2200" b="1" dirty="0">
                <a:solidFill>
                  <a:srgbClr val="7030A0"/>
                </a:solidFill>
              </a:rPr>
              <a:t>Design principles</a:t>
            </a:r>
            <a:r>
              <a:rPr lang="en-US" sz="2200" dirty="0"/>
              <a:t> </a:t>
            </a:r>
          </a:p>
          <a:p>
            <a:pPr lvl="1"/>
            <a:r>
              <a:rPr lang="en-US" sz="2200" b="1" dirty="0">
                <a:solidFill>
                  <a:srgbClr val="00B050"/>
                </a:solidFill>
              </a:rPr>
              <a:t>Methods bank</a:t>
            </a:r>
            <a:r>
              <a:rPr lang="en-US" sz="2200" dirty="0"/>
              <a:t> </a:t>
            </a:r>
          </a:p>
          <a:p>
            <a:pPr lvl="1"/>
            <a:r>
              <a:rPr lang="en-US" sz="2200" b="1" dirty="0">
                <a:solidFill>
                  <a:srgbClr val="C00000"/>
                </a:solidFill>
              </a:rPr>
              <a:t>Characteristics of </a:t>
            </a:r>
            <a:r>
              <a:rPr lang="en-ZA" sz="2200" b="1" dirty="0">
                <a:solidFill>
                  <a:srgbClr val="C00000"/>
                </a:solidFill>
              </a:rPr>
              <a:t>organisational</a:t>
            </a:r>
            <a:r>
              <a:rPr lang="en-US" sz="2200" b="1" dirty="0">
                <a:solidFill>
                  <a:srgbClr val="C00000"/>
                </a:solidFill>
              </a:rPr>
              <a:t> culture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FA1F8C-4570-4B9E-A2BA-1DE116469541}"/>
              </a:ext>
            </a:extLst>
          </p:cNvPr>
          <p:cNvSpPr/>
          <p:nvPr/>
        </p:nvSpPr>
        <p:spPr>
          <a:xfrm>
            <a:off x="7269768" y="1141752"/>
            <a:ext cx="2025043" cy="1296648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F04884C3-82E5-46C4-BA95-C040EFD926C2}"/>
              </a:ext>
            </a:extLst>
          </p:cNvPr>
          <p:cNvSpPr/>
          <p:nvPr/>
        </p:nvSpPr>
        <p:spPr>
          <a:xfrm>
            <a:off x="6704012" y="44820"/>
            <a:ext cx="3048000" cy="102198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E652F48-ED55-48E8-8FEE-A5EDBE7F4BD8}"/>
              </a:ext>
            </a:extLst>
          </p:cNvPr>
          <p:cNvSpPr/>
          <p:nvPr/>
        </p:nvSpPr>
        <p:spPr>
          <a:xfrm>
            <a:off x="7547844" y="4263452"/>
            <a:ext cx="1365967" cy="1146748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437B2FC0-396D-4CFA-9ECC-F7018F9D1FF3}"/>
              </a:ext>
            </a:extLst>
          </p:cNvPr>
          <p:cNvSpPr/>
          <p:nvPr/>
        </p:nvSpPr>
        <p:spPr>
          <a:xfrm>
            <a:off x="7008812" y="5757473"/>
            <a:ext cx="2668276" cy="948127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0AE10547-7437-4294-B2E3-1A71D0677FBA}"/>
              </a:ext>
            </a:extLst>
          </p:cNvPr>
          <p:cNvSpPr/>
          <p:nvPr/>
        </p:nvSpPr>
        <p:spPr>
          <a:xfrm>
            <a:off x="557569" y="4108953"/>
            <a:ext cx="4948505" cy="2222674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chemeClr val="bg2">
                    <a:lumMod val="10000"/>
                  </a:schemeClr>
                </a:solidFill>
              </a:rPr>
              <a:t>Explore: challenges, needs, opportunities</a:t>
            </a:r>
          </a:p>
          <a:p>
            <a:pPr algn="ctr"/>
            <a:r>
              <a:rPr lang="en-ZA" sz="2400" dirty="0">
                <a:solidFill>
                  <a:schemeClr val="bg2">
                    <a:lumMod val="10000"/>
                  </a:schemeClr>
                </a:solidFill>
              </a:rPr>
              <a:t>Shape: Prototypes, insights, visions</a:t>
            </a:r>
          </a:p>
          <a:p>
            <a:pPr algn="ctr"/>
            <a:r>
              <a:rPr lang="en-ZA" sz="2400" dirty="0">
                <a:solidFill>
                  <a:schemeClr val="bg2">
                    <a:lumMod val="10000"/>
                  </a:schemeClr>
                </a:solidFill>
              </a:rPr>
              <a:t>Build: ideas, plans, expertise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E68E396-DE72-B5B4-CA46-CDEB7ECE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ED693D-011F-8334-195A-3825F58B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7" grpId="1" animBg="1"/>
      <p:bldP spid="8" grpId="0" animBg="1"/>
      <p:bldP spid="9" grpId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DF47-D8E7-8539-C897-8133AF7F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is the problem space?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EA3078-2B8A-7B89-98BF-D0CB00ADE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715532"/>
            <a:ext cx="10931605" cy="4593828"/>
          </a:xfrm>
        </p:spPr>
        <p:txBody>
          <a:bodyPr>
            <a:normAutofit/>
          </a:bodyPr>
          <a:lstStyle/>
          <a:p>
            <a:r>
              <a:rPr lang="en-ZA" dirty="0"/>
              <a:t>First phase in Double Diamond - define the problem (as in Assignment 1)</a:t>
            </a:r>
          </a:p>
          <a:p>
            <a:r>
              <a:rPr lang="en-ZA" dirty="0"/>
              <a:t>First step in ID - explore (understand) problem space to determine </a:t>
            </a:r>
            <a:r>
              <a:rPr lang="en-ZA" i="1" dirty="0"/>
              <a:t>what</a:t>
            </a:r>
            <a:r>
              <a:rPr lang="en-ZA" dirty="0"/>
              <a:t> to design</a:t>
            </a:r>
          </a:p>
          <a:p>
            <a:r>
              <a:rPr lang="en-ZA" dirty="0"/>
              <a:t>Why?</a:t>
            </a:r>
          </a:p>
          <a:p>
            <a:pPr marL="715963"/>
            <a:r>
              <a:rPr lang="en-US" sz="2400" dirty="0"/>
              <a:t>We know </a:t>
            </a:r>
            <a:r>
              <a:rPr lang="en-US" sz="2400" dirty="0">
                <a:solidFill>
                  <a:srgbClr val="C00000"/>
                </a:solidFill>
              </a:rPr>
              <a:t>what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we are aiming for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US" sz="2400" dirty="0"/>
              <a:t>usability and good UX)</a:t>
            </a:r>
          </a:p>
          <a:p>
            <a:pPr marL="2865438"/>
            <a:r>
              <a:rPr lang="en-US" sz="2400" dirty="0"/>
              <a:t> BUT</a:t>
            </a:r>
          </a:p>
          <a:p>
            <a:pPr marL="715963"/>
            <a:r>
              <a:rPr lang="en-US" sz="2400" dirty="0"/>
              <a:t>to get what we are aiming for, we need to have a clear understanding of </a:t>
            </a:r>
            <a:r>
              <a:rPr lang="en-US" sz="2400" dirty="0">
                <a:solidFill>
                  <a:srgbClr val="C00000"/>
                </a:solidFill>
              </a:rPr>
              <a:t>why</a:t>
            </a:r>
            <a:r>
              <a:rPr lang="en-US" sz="2400" dirty="0"/>
              <a:t> we are designing something</a:t>
            </a:r>
          </a:p>
          <a:p>
            <a:pPr marL="715963"/>
            <a:r>
              <a:rPr lang="en-US" dirty="0"/>
              <a:t>(Q2 in assignment re: Lessons)</a:t>
            </a:r>
            <a:endParaRPr lang="en-US" sz="2400" dirty="0"/>
          </a:p>
          <a:p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AF055-DEA5-8F43-7D6A-1BA43688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01637-A078-57F4-22F6-DF381773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3FE36-6AD9-D04E-F58C-DC0A0621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85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2FCD-35AB-CE44-7BA2-9581D445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Understanding the problem space</a:t>
            </a:r>
            <a:endParaRPr lang="en-ZA" sz="3600" dirty="0"/>
          </a:p>
        </p:txBody>
      </p:sp>
      <p:pic>
        <p:nvPicPr>
          <p:cNvPr id="9" name="Picture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D591D85A-850B-1F9D-B44E-91FDDA3610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5" r="6035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62B27-E428-BBF3-AA26-58F58F1FE33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359923"/>
            <a:ext cx="7040382" cy="5948802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What is wrong? Why?</a:t>
            </a:r>
          </a:p>
          <a:p>
            <a:pPr algn="l"/>
            <a:r>
              <a:rPr lang="en-US" sz="2400" dirty="0"/>
              <a:t>Current UX and Usability (met / not met)</a:t>
            </a:r>
          </a:p>
          <a:p>
            <a:pPr algn="l"/>
            <a:r>
              <a:rPr lang="en-US" sz="2400" dirty="0"/>
              <a:t>Context of use (ensure you read article)</a:t>
            </a:r>
          </a:p>
          <a:p>
            <a:pPr lvl="1" algn="l"/>
            <a:r>
              <a:rPr lang="en-US" sz="2200" dirty="0">
                <a:hlinkClick r:id="rId3"/>
              </a:rPr>
              <a:t>What are Contexts of Use? | </a:t>
            </a:r>
            <a:r>
              <a:rPr lang="en-US" sz="2200" dirty="0" err="1">
                <a:hlinkClick r:id="rId3"/>
              </a:rPr>
              <a:t>IxDF</a:t>
            </a:r>
            <a:endParaRPr lang="en-US" sz="2200" dirty="0"/>
          </a:p>
          <a:p>
            <a:pPr algn="l"/>
            <a:r>
              <a:rPr lang="en-US" sz="2400" dirty="0"/>
              <a:t>How will proposed changes improve UX / meet usability goals?</a:t>
            </a:r>
          </a:p>
          <a:p>
            <a:pPr algn="l"/>
            <a:r>
              <a:rPr lang="en-US" sz="2400" dirty="0"/>
              <a:t>In practice:</a:t>
            </a:r>
          </a:p>
          <a:p>
            <a:pPr algn="l"/>
            <a:r>
              <a:rPr lang="en-US" sz="2400" dirty="0"/>
              <a:t>Different perspectives needed</a:t>
            </a:r>
          </a:p>
          <a:p>
            <a:pPr lvl="1" algn="l"/>
            <a:r>
              <a:rPr lang="en-US" sz="2000" dirty="0"/>
              <a:t>Typically team effort (project manager; software engineer; …)</a:t>
            </a:r>
          </a:p>
          <a:p>
            <a:pPr lvl="1" algn="l"/>
            <a:r>
              <a:rPr lang="en-US" sz="2000" dirty="0"/>
              <a:t>Avoid incorrect assumptions / unsupported claims</a:t>
            </a:r>
          </a:p>
          <a:p>
            <a:pPr algn="l"/>
            <a:r>
              <a:rPr lang="en-US" sz="2400" dirty="0"/>
              <a:t>Multiple potential possibilities</a:t>
            </a:r>
          </a:p>
          <a:p>
            <a:endParaRPr lang="en-Z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BAB82-A1B9-8962-2D0D-5418A18B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C6538-D249-60A0-ED9C-11346759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B5B8B-E6D9-E659-EBD1-013A1C2D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DF6FCE-2E6C-F50F-8488-4E852E11AF02}"/>
              </a:ext>
            </a:extLst>
          </p:cNvPr>
          <p:cNvCxnSpPr>
            <a:cxnSpLocks/>
          </p:cNvCxnSpPr>
          <p:nvPr/>
        </p:nvCxnSpPr>
        <p:spPr>
          <a:xfrm>
            <a:off x="5029200" y="3574914"/>
            <a:ext cx="68707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6485-1682-87CC-8C16-D9179890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Importance of involving users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FA69B-8A0F-FDDB-F22A-F330898C2A3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7EE0A-3BD7-1725-C995-D5B1339F04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E80C-8830-39D6-B14A-705815B1F8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97B74-C418-3E8F-CEC9-714F3A4EC1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ZA" sz="2400" dirty="0"/>
              <a:t>Ensure usable product (i.e., </a:t>
            </a:r>
            <a:r>
              <a:rPr lang="en-ZA" sz="2400" b="1" i="1" dirty="0"/>
              <a:t>used</a:t>
            </a:r>
            <a:r>
              <a:rPr lang="en-ZA" sz="2400" dirty="0"/>
              <a:t> by users)</a:t>
            </a:r>
          </a:p>
          <a:p>
            <a:pPr lvl="1"/>
            <a:r>
              <a:rPr lang="en-ZA" sz="2000" dirty="0"/>
              <a:t>Actual users and stakeholders</a:t>
            </a:r>
          </a:p>
          <a:p>
            <a:r>
              <a:rPr lang="en-ZA" sz="2400" dirty="0"/>
              <a:t>What happens if you involve users?</a:t>
            </a:r>
          </a:p>
          <a:p>
            <a:pPr lvl="1"/>
            <a:r>
              <a:rPr lang="en-ZA" sz="2000" dirty="0"/>
              <a:t>Expectation management</a:t>
            </a:r>
          </a:p>
          <a:p>
            <a:pPr lvl="2"/>
            <a:r>
              <a:rPr lang="en-ZA" sz="2000" dirty="0"/>
              <a:t>Realistic, avoid hype</a:t>
            </a:r>
          </a:p>
          <a:p>
            <a:pPr lvl="1"/>
            <a:r>
              <a:rPr lang="en-ZA" sz="2000" dirty="0"/>
              <a:t>Ownership </a:t>
            </a:r>
          </a:p>
          <a:p>
            <a:pPr lvl="2"/>
            <a:r>
              <a:rPr lang="en-ZA" sz="2000" dirty="0"/>
              <a:t>Buy-in, contributed to design</a:t>
            </a:r>
          </a:p>
          <a:p>
            <a:r>
              <a:rPr lang="en-ZA" dirty="0"/>
              <a:t>Refer to </a:t>
            </a:r>
            <a:r>
              <a:rPr lang="en-US" sz="2000" dirty="0">
                <a:hlinkClick r:id="rId2"/>
              </a:rPr>
              <a:t>IDEO.org Ten Year Impact Report — Process</a:t>
            </a:r>
            <a:r>
              <a:rPr lang="en-US" sz="2000" dirty="0"/>
              <a:t>  from Assignment 1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95415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A511-3A63-2269-0315-CD73FF02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How much do we involve users?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96120-89DB-80AA-263E-57CA982E70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6FD89-E4AC-2C0E-E240-89F0F3738C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FC1F-63EC-DFBC-C461-FA20196BA4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4C8D-93A5-AEBD-E382-DCC349B32E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8555" y="1989056"/>
            <a:ext cx="8766687" cy="429951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ZA" sz="2400" dirty="0"/>
              <a:t>How </a:t>
            </a:r>
            <a:r>
              <a:rPr lang="en-ZA" sz="2400" i="1" dirty="0"/>
              <a:t>much</a:t>
            </a:r>
            <a:r>
              <a:rPr lang="en-ZA" sz="2400" dirty="0"/>
              <a:t> do we need to involve users?</a:t>
            </a:r>
          </a:p>
          <a:p>
            <a:pPr lvl="1" algn="l">
              <a:tabLst>
                <a:tab pos="4308475" algn="l"/>
              </a:tabLst>
            </a:pPr>
            <a:r>
              <a:rPr lang="en-ZA" sz="2000" dirty="0"/>
              <a:t>Fully involved 	</a:t>
            </a:r>
            <a:r>
              <a:rPr lang="en-ZA" sz="2000" i="1" dirty="0">
                <a:sym typeface="Wingdings" panose="05000000000000000000" pitchFamily="2" charset="2"/>
              </a:rPr>
              <a:t>targeted</a:t>
            </a:r>
            <a:r>
              <a:rPr lang="en-ZA" sz="2000" dirty="0">
                <a:sym typeface="Wingdings" panose="05000000000000000000" pitchFamily="2" charset="2"/>
              </a:rPr>
              <a:t> participants in </a:t>
            </a:r>
            <a:r>
              <a:rPr lang="en-ZA" sz="2000" i="1" dirty="0">
                <a:sym typeface="Wingdings" panose="05000000000000000000" pitchFamily="2" charset="2"/>
              </a:rPr>
              <a:t>specific</a:t>
            </a:r>
            <a:r>
              <a:rPr lang="en-ZA" sz="2000" dirty="0">
                <a:sym typeface="Wingdings" panose="05000000000000000000" pitchFamily="2" charset="2"/>
              </a:rPr>
              <a:t> tasks</a:t>
            </a:r>
          </a:p>
          <a:p>
            <a:pPr lvl="1" algn="l">
              <a:tabLst>
                <a:tab pos="6362700" algn="l"/>
              </a:tabLst>
            </a:pPr>
            <a:r>
              <a:rPr lang="en-ZA" sz="2000" dirty="0">
                <a:sym typeface="Wingdings" panose="05000000000000000000" pitchFamily="2" charset="2"/>
              </a:rPr>
              <a:t>Small groups (f2f) individuals	thousands online</a:t>
            </a:r>
            <a:endParaRPr lang="en-US" sz="2400" dirty="0"/>
          </a:p>
          <a:p>
            <a:r>
              <a:rPr lang="en-ZA" dirty="0"/>
              <a:t>Participatory (cooperative) design</a:t>
            </a:r>
          </a:p>
          <a:p>
            <a:pPr lvl="1"/>
            <a:r>
              <a:rPr lang="en-ZA" dirty="0"/>
              <a:t>Users actively part of design</a:t>
            </a:r>
          </a:p>
          <a:p>
            <a:r>
              <a:rPr lang="en-ZA" dirty="0"/>
              <a:t>Citizen engagement</a:t>
            </a:r>
          </a:p>
          <a:p>
            <a:pPr lvl="1"/>
            <a:r>
              <a:rPr lang="en-ZA" dirty="0"/>
              <a:t>Engage population with aim to promote empowerment through technology</a:t>
            </a:r>
          </a:p>
          <a:p>
            <a:r>
              <a:rPr lang="en-ZA" dirty="0"/>
              <a:t>User involvement after product release</a:t>
            </a:r>
          </a:p>
          <a:p>
            <a:pPr lvl="1"/>
            <a:r>
              <a:rPr lang="en-ZA" dirty="0"/>
              <a:t>User reviews</a:t>
            </a:r>
          </a:p>
          <a:p>
            <a:pPr lvl="1"/>
            <a:r>
              <a:rPr lang="en-ZA" dirty="0"/>
              <a:t>A/B testing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09C8F3-4273-2506-2359-410E3633D52A}"/>
              </a:ext>
            </a:extLst>
          </p:cNvPr>
          <p:cNvCxnSpPr/>
          <p:nvPr/>
        </p:nvCxnSpPr>
        <p:spPr>
          <a:xfrm>
            <a:off x="2875176" y="2818613"/>
            <a:ext cx="8210746" cy="0"/>
          </a:xfrm>
          <a:prstGeom prst="straightConnector1">
            <a:avLst/>
          </a:prstGeom>
          <a:ln w="76200">
            <a:solidFill>
              <a:schemeClr val="accent5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7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1988-D37D-EB09-831F-141AAC29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People-centred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566A-AB77-39CB-847E-431463DB79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50112"/>
            <a:ext cx="6858000" cy="4514112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/>
              <a:t>Gould &amp; Lewis three principles (1985)</a:t>
            </a:r>
          </a:p>
          <a:p>
            <a:pPr lvl="1"/>
            <a:r>
              <a:rPr lang="en-US" sz="2000" dirty="0"/>
              <a:t>Early focus on users &amp; tasks</a:t>
            </a:r>
          </a:p>
          <a:p>
            <a:pPr lvl="2"/>
            <a:r>
              <a:rPr lang="en-US" sz="1800" dirty="0"/>
              <a:t>Who are users; what are their characteristics; context of use</a:t>
            </a:r>
          </a:p>
          <a:p>
            <a:pPr lvl="1"/>
            <a:r>
              <a:rPr lang="en-US" sz="2000" dirty="0"/>
              <a:t>Empirical measurement</a:t>
            </a:r>
          </a:p>
          <a:p>
            <a:pPr lvl="2"/>
            <a:r>
              <a:rPr lang="en-US" sz="1800" dirty="0"/>
              <a:t>Usability and UX (document, agree on, evaluate)</a:t>
            </a:r>
          </a:p>
          <a:p>
            <a:pPr lvl="1"/>
            <a:r>
              <a:rPr lang="en-US" sz="2000" dirty="0"/>
              <a:t>Iterative design</a:t>
            </a:r>
          </a:p>
          <a:p>
            <a:pPr lvl="2"/>
            <a:r>
              <a:rPr lang="en-US" sz="1800" dirty="0"/>
              <a:t>Trial and error (patience) leads to improvements</a:t>
            </a:r>
          </a:p>
          <a:p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7514D-AF82-5952-5F5E-4F524FACE2F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EA9C-F0F5-8CDC-B7E1-1435FAC0946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5E5E1-A8B6-4931-5379-BC686861A5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Placeholder 8" descr="A diagram of a person with arrows&#10;&#10;Description automatically generated">
            <a:extLst>
              <a:ext uri="{FF2B5EF4-FFF2-40B4-BE49-F238E27FC236}">
                <a16:creationId xmlns:a16="http://schemas.microsoft.com/office/drawing/2014/main" id="{8FB20D96-2387-D5A4-3564-9D1599CC88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160" y="1604395"/>
            <a:ext cx="3840359" cy="36492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8DCBDE-F184-C475-582C-E10E485D5E69}"/>
              </a:ext>
            </a:extLst>
          </p:cNvPr>
          <p:cNvSpPr txBox="1"/>
          <p:nvPr/>
        </p:nvSpPr>
        <p:spPr>
          <a:xfrm>
            <a:off x="8647816" y="5253605"/>
            <a:ext cx="30861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hlinkClick r:id="rId3"/>
              </a:rPr>
              <a:t>Human-centered design: Definition, use, and advantages - IONOS</a:t>
            </a:r>
            <a:endParaRPr lang="en-ZA" sz="800" dirty="0"/>
          </a:p>
        </p:txBody>
      </p:sp>
    </p:spTree>
    <p:extLst>
      <p:ext uri="{BB962C8B-B14F-4D97-AF65-F5344CB8AC3E}">
        <p14:creationId xmlns:p14="http://schemas.microsoft.com/office/powerpoint/2010/main" val="3534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F3B4-8902-EFC8-A0CD-60E754A2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Activities in design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751B-B025-EC51-9A0C-EEDBBD407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pPr marL="0" indent="0">
              <a:buNone/>
            </a:pPr>
            <a:r>
              <a:rPr lang="en-ZA" sz="2400" b="1" dirty="0"/>
              <a:t>(Any) Design process</a:t>
            </a:r>
          </a:p>
          <a:p>
            <a:pPr marL="174625" lvl="1" indent="-174625"/>
            <a:r>
              <a:rPr lang="en-ZA" dirty="0"/>
              <a:t>Understand requirements</a:t>
            </a:r>
          </a:p>
          <a:p>
            <a:pPr marL="174625" lvl="1" indent="-174625"/>
            <a:r>
              <a:rPr lang="en-ZA" dirty="0"/>
              <a:t>Produce multiple designs</a:t>
            </a:r>
          </a:p>
          <a:p>
            <a:pPr marL="174625" lvl="1" indent="-174625"/>
            <a:r>
              <a:rPr lang="en-ZA" dirty="0"/>
              <a:t>Evaluate</a:t>
            </a:r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360363" indent="0">
              <a:buNone/>
            </a:pPr>
            <a:r>
              <a:rPr lang="en-ZA" sz="2400" b="1" dirty="0"/>
              <a:t>Basic ID activities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Establish requirements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Design alternatives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Prototype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Evaluate</a:t>
            </a:r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360363" indent="0">
              <a:buNone/>
            </a:pPr>
            <a:r>
              <a:rPr lang="en-ZA" sz="2400" b="1" dirty="0"/>
              <a:t>Trade-offs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Balance conflicting requirements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Requires experience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Requires development and evaluation of multiple alternatives</a:t>
            </a:r>
          </a:p>
          <a:p>
            <a:pPr marL="174625" lvl="1" indent="-174625"/>
            <a:endParaRPr lang="en-ZA" dirty="0"/>
          </a:p>
          <a:p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7AEC1-2609-9AE6-5BD4-9D7FEF40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340B-D7E0-6FEE-425B-1AB7D2C8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3079-0989-1A05-9063-58C2B2E5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83D9FB2-82C9-991C-20C6-72F838B8B313}"/>
              </a:ext>
            </a:extLst>
          </p:cNvPr>
          <p:cNvSpPr/>
          <p:nvPr/>
        </p:nvSpPr>
        <p:spPr>
          <a:xfrm>
            <a:off x="4046540" y="4415954"/>
            <a:ext cx="3505200" cy="1337146"/>
          </a:xfrm>
          <a:prstGeom prst="roundRect">
            <a:avLst/>
          </a:prstGeom>
          <a:solidFill>
            <a:schemeClr val="accent6">
              <a:lumMod val="90000"/>
              <a:lumOff val="10000"/>
            </a:schemeClr>
          </a:solidFill>
          <a:ln>
            <a:solidFill>
              <a:schemeClr val="accent6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2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Activities intertwined and iteratively executed</a:t>
            </a:r>
            <a:endParaRPr lang="en-ZA" sz="10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16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F3B4-8902-EFC8-A0CD-60E754A2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Activities in design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751B-B025-EC51-9A0C-EEDBBD407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pPr marL="0" indent="0">
              <a:buNone/>
            </a:pPr>
            <a:r>
              <a:rPr lang="en-ZA" sz="2400" b="1" dirty="0"/>
              <a:t>(Any) Design process</a:t>
            </a:r>
          </a:p>
          <a:p>
            <a:pPr marL="174625" lvl="1" indent="-174625"/>
            <a:r>
              <a:rPr lang="en-ZA" dirty="0"/>
              <a:t>Understand requirements</a:t>
            </a:r>
          </a:p>
          <a:p>
            <a:pPr marL="174625" lvl="1" indent="-174625"/>
            <a:r>
              <a:rPr lang="en-ZA" dirty="0"/>
              <a:t>Produce multiple designs</a:t>
            </a:r>
          </a:p>
          <a:p>
            <a:pPr marL="174625" lvl="1" indent="-174625"/>
            <a:r>
              <a:rPr lang="en-ZA" dirty="0"/>
              <a:t>Evaluate</a:t>
            </a:r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360363" indent="0">
              <a:buNone/>
            </a:pPr>
            <a:r>
              <a:rPr lang="en-ZA" sz="2400" b="1" dirty="0"/>
              <a:t>Basic ID activities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Establish requirements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Design alternatives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Prototype</a:t>
            </a:r>
          </a:p>
          <a:p>
            <a:pPr marL="534988" lvl="1" indent="-261938">
              <a:buFont typeface="+mj-lt"/>
              <a:buAutoNum type="arabicPeriod"/>
            </a:pPr>
            <a:r>
              <a:rPr lang="en-ZA" dirty="0"/>
              <a:t>Evaluate</a:t>
            </a:r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174625" lvl="1" indent="-174625"/>
            <a:endParaRPr lang="en-ZA" dirty="0"/>
          </a:p>
          <a:p>
            <a:pPr marL="360363" indent="0">
              <a:buNone/>
            </a:pPr>
            <a:r>
              <a:rPr lang="en-ZA" sz="2400" b="1" dirty="0"/>
              <a:t>Trade-offs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Balance conflicting requirements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Requires experience</a:t>
            </a:r>
          </a:p>
          <a:p>
            <a:pPr marL="703263" lvl="1" indent="-342900">
              <a:buFont typeface="Arial" panose="020B0604020202020204" pitchFamily="34" charset="0"/>
              <a:buChar char="•"/>
            </a:pPr>
            <a:r>
              <a:rPr lang="en-ZA" dirty="0"/>
              <a:t>Requires development and evaluation of multiple alternatives</a:t>
            </a:r>
          </a:p>
          <a:p>
            <a:pPr marL="174625" lvl="1" indent="-174625"/>
            <a:endParaRPr lang="en-ZA" dirty="0"/>
          </a:p>
          <a:p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7AEC1-2609-9AE6-5BD4-9D7FEF40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340B-D7E0-6FEE-425B-1AB7D2C8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3079-0989-1A05-9063-58C2B2E5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83D9FB2-82C9-991C-20C6-72F838B8B313}"/>
              </a:ext>
            </a:extLst>
          </p:cNvPr>
          <p:cNvSpPr/>
          <p:nvPr/>
        </p:nvSpPr>
        <p:spPr>
          <a:xfrm>
            <a:off x="4046540" y="4415954"/>
            <a:ext cx="3505200" cy="1337146"/>
          </a:xfrm>
          <a:prstGeom prst="roundRect">
            <a:avLst/>
          </a:prstGeom>
          <a:solidFill>
            <a:schemeClr val="accent6">
              <a:lumMod val="90000"/>
              <a:lumOff val="10000"/>
            </a:schemeClr>
          </a:solidFill>
          <a:ln>
            <a:solidFill>
              <a:schemeClr val="accent6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ZA" sz="2400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Activities intertwined and iteratively executed</a:t>
            </a:r>
            <a:endParaRPr lang="en-ZA" sz="1000" b="1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8EF1EB-94DC-7B57-A806-4014939EFF40}"/>
              </a:ext>
            </a:extLst>
          </p:cNvPr>
          <p:cNvSpPr/>
          <p:nvPr/>
        </p:nvSpPr>
        <p:spPr>
          <a:xfrm>
            <a:off x="1338475" y="548640"/>
            <a:ext cx="9031009" cy="592757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4625" lvl="1" indent="-174625" algn="ctr"/>
            <a:r>
              <a:rPr lang="en-ZA" sz="8000" dirty="0">
                <a:latin typeface="Freestyle Script" panose="030804020302050B0404" pitchFamily="66" charset="0"/>
                <a:ea typeface="Calibri Light" panose="020F0302020204030204" pitchFamily="34" charset="0"/>
                <a:cs typeface="Calibri Light" panose="020F0302020204030204" pitchFamily="34" charset="0"/>
              </a:rPr>
              <a:t>The best way to have a good idea is to have lots of ideas</a:t>
            </a:r>
          </a:p>
          <a:p>
            <a:pPr algn="r" defTabSz="786384">
              <a:spcBef>
                <a:spcPts val="0"/>
              </a:spcBef>
            </a:pPr>
            <a:r>
              <a:rPr lang="en-ZA" sz="2000" dirty="0"/>
              <a:t>Linus Pauling</a:t>
            </a:r>
          </a:p>
          <a:p>
            <a:pPr algn="r" defTabSz="786384">
              <a:spcBef>
                <a:spcPts val="0"/>
              </a:spcBef>
            </a:pPr>
            <a:r>
              <a:rPr lang="en-ZA" sz="2000" dirty="0"/>
              <a:t>Nobel Prizes: Chemistry (1954)</a:t>
            </a:r>
          </a:p>
          <a:p>
            <a:pPr algn="r" defTabSz="786384">
              <a:spcBef>
                <a:spcPts val="0"/>
              </a:spcBef>
            </a:pPr>
            <a:r>
              <a:rPr lang="en-ZA" sz="2000" dirty="0"/>
              <a:t>Peace (1962)</a:t>
            </a:r>
            <a:endParaRPr lang="en-ZA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56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426F-0F64-C641-8E1A-8D7AB5CE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Simple lifecycle model for ID</a:t>
            </a:r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3622F-B40D-8FD6-F572-6B51E416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8C77B-7DE6-88C4-A716-91BABBBD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8ADDB-6835-223E-3CB0-31DCFCCF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84DF67-775A-1AE0-50D3-A0BDE72E0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82215"/>
            <a:ext cx="7464618" cy="3732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3CB6F1-7387-EF44-8D7B-902E979A3B48}"/>
              </a:ext>
            </a:extLst>
          </p:cNvPr>
          <p:cNvSpPr txBox="1"/>
          <p:nvPr/>
        </p:nvSpPr>
        <p:spPr>
          <a:xfrm>
            <a:off x="1480700" y="5562600"/>
            <a:ext cx="8271312" cy="10183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Lifecycle &amp; Double Diamond complementary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See </a:t>
            </a:r>
            <a:r>
              <a:rPr lang="en-US" sz="1800" dirty="0">
                <a:hlinkClick r:id="rId3"/>
              </a:rPr>
              <a:t>https://designsprintkit.withgoogle.com/methodology/overview</a:t>
            </a:r>
            <a:r>
              <a:rPr lang="en-US" sz="18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E8A123-10CC-97BB-8FFF-BF779D699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392" y="958818"/>
            <a:ext cx="3379328" cy="2340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861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9D22-018B-29C7-4DCA-217BBD25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How to find out what people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6A99E-A6E9-6214-D372-DCA54EA0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Designers need to</a:t>
            </a:r>
          </a:p>
          <a:p>
            <a:pPr lvl="1"/>
            <a:r>
              <a:rPr lang="en-US" dirty="0"/>
              <a:t>Explore the problem space</a:t>
            </a:r>
          </a:p>
          <a:p>
            <a:pPr lvl="1"/>
            <a:r>
              <a:rPr lang="en-US" dirty="0"/>
              <a:t>Investigate potential users and their activities</a:t>
            </a:r>
          </a:p>
          <a:p>
            <a:pPr lvl="1"/>
            <a:r>
              <a:rPr lang="en-US" dirty="0"/>
              <a:t>Try out ideas with potential users</a:t>
            </a:r>
          </a:p>
          <a:p>
            <a:r>
              <a:rPr lang="en-US" dirty="0"/>
              <a:t>Focus on peoples’ goals, usability, and UX goals</a:t>
            </a:r>
          </a:p>
          <a:p>
            <a:pPr lvl="1"/>
            <a:r>
              <a:rPr lang="en-US" dirty="0"/>
              <a:t>Don’t expect stakeholders to articulate requirements (again, refer to </a:t>
            </a:r>
            <a:r>
              <a:rPr lang="en-US" sz="2000" dirty="0">
                <a:hlinkClick r:id="rId2"/>
              </a:rPr>
              <a:t>IDEO.org Ten Year Impact Report — Process</a:t>
            </a:r>
            <a:r>
              <a:rPr lang="en-US" sz="2000" dirty="0"/>
              <a:t>  from Assignment 1)</a:t>
            </a:r>
            <a:endParaRPr lang="en-US" dirty="0"/>
          </a:p>
          <a:p>
            <a:endParaRPr lang="en-Z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03FA-DC67-310A-7DCB-3999DFDC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77EF4-9B01-7E83-B188-7B0C1762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84FB9-C5C8-6198-A62B-B8830C7D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5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94FC-124E-D2DA-832A-63F5952A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How do you generate alternatives?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B45DB-A6FF-709C-6CA2-5C7AF5FC8E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D3872-FBCC-8C46-5FD8-72DBD29CC2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72FF4-4760-4235-5C31-0A30689282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CEA68-5792-4AD0-3D5F-8D725707A4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ZA" dirty="0"/>
              <a:t>Designer “flair and creativity”</a:t>
            </a:r>
          </a:p>
          <a:p>
            <a:r>
              <a:rPr lang="en-ZA" dirty="0"/>
              <a:t>Get ideas from people with different perspectives</a:t>
            </a:r>
          </a:p>
          <a:p>
            <a:r>
              <a:rPr lang="en-ZA" dirty="0"/>
              <a:t>Apply specific methods, e.g. SCAMPER</a:t>
            </a:r>
          </a:p>
          <a:p>
            <a:pPr lvl="1"/>
            <a:r>
              <a:rPr lang="en-US" b="0" i="0" dirty="0">
                <a:solidFill>
                  <a:srgbClr val="334445"/>
                </a:solidFill>
                <a:effectLst/>
                <a:latin typeface="Sailec"/>
              </a:rPr>
              <a:t>Structured tool to initiate creative process</a:t>
            </a:r>
          </a:p>
          <a:p>
            <a:pPr lvl="1"/>
            <a:r>
              <a:rPr lang="en-US" b="0" i="0" dirty="0">
                <a:solidFill>
                  <a:srgbClr val="334445"/>
                </a:solidFill>
                <a:effectLst/>
                <a:latin typeface="Sailec"/>
              </a:rPr>
              <a:t>Encourages people to take old idea and substitute (S), combine (C ), adapt (A), modify (M), put to another use (P), eliminate (E), and reverse (R)</a:t>
            </a:r>
          </a:p>
          <a:p>
            <a:r>
              <a:rPr lang="en-US" dirty="0">
                <a:solidFill>
                  <a:srgbClr val="334445"/>
                </a:solidFill>
                <a:latin typeface="Sailec"/>
              </a:rPr>
              <a:t>Other products, other domains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3645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0106-C393-1CB5-8F53-ED4AA025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46" y="550217"/>
            <a:ext cx="11273708" cy="646284"/>
          </a:xfrm>
        </p:spPr>
        <p:txBody>
          <a:bodyPr/>
          <a:lstStyle/>
          <a:p>
            <a:pPr algn="ctr"/>
            <a:r>
              <a:rPr lang="en-ZA" dirty="0"/>
              <a:t>Upcoming assignments: Assignments 2 and 3</a:t>
            </a:r>
          </a:p>
        </p:txBody>
      </p:sp>
      <p:pic>
        <p:nvPicPr>
          <p:cNvPr id="22" name="Picture Placeholder 21" descr="A screenshot of a computer&#10;&#10;Description automatically generated">
            <a:extLst>
              <a:ext uri="{FF2B5EF4-FFF2-40B4-BE49-F238E27FC236}">
                <a16:creationId xmlns:a16="http://schemas.microsoft.com/office/drawing/2014/main" id="{59217056-7C3B-4807-B7D2-2700D77EAB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3484" r="7186" b="7618"/>
          <a:stretch/>
        </p:blipFill>
        <p:spPr>
          <a:xfrm>
            <a:off x="459146" y="1376465"/>
            <a:ext cx="4345365" cy="461577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E6EA3-868E-12B5-CA0A-6E052647F1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1376465"/>
            <a:ext cx="6561138" cy="4932260"/>
          </a:xfrm>
        </p:spPr>
        <p:txBody>
          <a:bodyPr/>
          <a:lstStyle/>
          <a:p>
            <a:r>
              <a:rPr lang="en-ZA" dirty="0"/>
              <a:t>Some amendments re: Assignments 2 and 3</a:t>
            </a:r>
          </a:p>
          <a:p>
            <a:r>
              <a:rPr lang="en-ZA" dirty="0"/>
              <a:t>Questions with a specific AI-related question</a:t>
            </a:r>
          </a:p>
          <a:p>
            <a:pPr lvl="1"/>
            <a:r>
              <a:rPr lang="en-ZA" dirty="0"/>
              <a:t>Student-generated content no more than 5 pages</a:t>
            </a:r>
          </a:p>
          <a:p>
            <a:pPr lvl="1"/>
            <a:r>
              <a:rPr lang="en-ZA" dirty="0"/>
              <a:t>May apply formatting to AI-generated content to reduce volume (total will go over 5-page limit)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386E9-AF29-E89E-69AB-322CF491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52791-D9F5-298C-F91C-A6E5907A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B2D7B-D08E-3B7B-9922-E3B2974D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444080E-B26B-75C0-761E-0D9329594766}"/>
              </a:ext>
            </a:extLst>
          </p:cNvPr>
          <p:cNvSpPr txBox="1">
            <a:spLocks/>
          </p:cNvSpPr>
          <p:nvPr/>
        </p:nvSpPr>
        <p:spPr>
          <a:xfrm>
            <a:off x="926903" y="1643974"/>
            <a:ext cx="3382451" cy="3900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4842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D963-9F2A-35D3-1644-A1053C28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Class activity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CF8F8-4384-3D9E-B35B-48762AE2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FE128-6C4C-9A96-42EF-A991E1BB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 2: Process of ID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B790C-D615-E14A-3ED3-614E18C5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734F4-3903-35D8-3472-C06074B1C0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ZA" sz="2800" dirty="0">
                <a:solidFill>
                  <a:schemeClr val="tx1">
                    <a:alpha val="80000"/>
                  </a:schemeClr>
                </a:solidFill>
              </a:rPr>
              <a:t>Based on scenario, answer some questions in groups of 2 - 3</a:t>
            </a:r>
          </a:p>
          <a:p>
            <a:pPr marL="174625" lvl="1"/>
            <a:r>
              <a:rPr lang="en-ZA" sz="2400" dirty="0">
                <a:solidFill>
                  <a:schemeClr val="tx1">
                    <a:alpha val="80000"/>
                  </a:schemeClr>
                </a:solidFill>
              </a:rPr>
              <a:t>Purpose of solution</a:t>
            </a:r>
          </a:p>
          <a:p>
            <a:pPr marL="174625" lvl="1"/>
            <a:r>
              <a:rPr lang="en-ZA" sz="2400" dirty="0">
                <a:solidFill>
                  <a:schemeClr val="tx1">
                    <a:alpha val="80000"/>
                  </a:schemeClr>
                </a:solidFill>
              </a:rPr>
              <a:t>Design principle</a:t>
            </a:r>
          </a:p>
          <a:p>
            <a:pPr marL="174625" lvl="1"/>
            <a:r>
              <a:rPr lang="en-ZA" sz="2400" dirty="0">
                <a:solidFill>
                  <a:schemeClr val="tx1">
                    <a:alpha val="80000"/>
                  </a:schemeClr>
                </a:solidFill>
              </a:rPr>
              <a:t>What is wrong and why</a:t>
            </a:r>
          </a:p>
          <a:p>
            <a:pPr marL="174625" lvl="1"/>
            <a:r>
              <a:rPr lang="en-ZA" sz="2400" dirty="0">
                <a:solidFill>
                  <a:schemeClr val="tx1">
                    <a:alpha val="80000"/>
                  </a:schemeClr>
                </a:solidFill>
              </a:rPr>
              <a:t>Current usability goals (met or not) and current UX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7364382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Classical neutrals marketing presentation</Template>
  <TotalTime>776</TotalTime>
  <Words>1070</Words>
  <Application>Microsoft Office PowerPoint</Application>
  <PresentationFormat>Widescreen</PresentationFormat>
  <Paragraphs>217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 Light</vt:lpstr>
      <vt:lpstr>Freestyle Script</vt:lpstr>
      <vt:lpstr>Sailec</vt:lpstr>
      <vt:lpstr>Wingdings</vt:lpstr>
      <vt:lpstr>Neutrals</vt:lpstr>
      <vt:lpstr>User-Interface Design WUIV302</vt:lpstr>
      <vt:lpstr>Agenda</vt:lpstr>
      <vt:lpstr>How do we design interactive products?</vt:lpstr>
      <vt:lpstr>What is involved in ID?</vt:lpstr>
      <vt:lpstr>PowerPoint Presentation</vt:lpstr>
      <vt:lpstr>PowerPoint Presentation</vt:lpstr>
      <vt:lpstr>What is the problem space?</vt:lpstr>
      <vt:lpstr>Understanding the problem space</vt:lpstr>
      <vt:lpstr>Importance of involving users</vt:lpstr>
      <vt:lpstr>How much do we involve users?</vt:lpstr>
      <vt:lpstr>People-centred approach</vt:lpstr>
      <vt:lpstr>Activities in design process</vt:lpstr>
      <vt:lpstr>Activities in design process</vt:lpstr>
      <vt:lpstr>Simple lifecycle model for ID</vt:lpstr>
      <vt:lpstr>How to find out what people need</vt:lpstr>
      <vt:lpstr>How do you generate alternatives?</vt:lpstr>
      <vt:lpstr>Upcoming assignments: Assignments 2 and 3</vt:lpstr>
      <vt:lpstr>Class activity</vt:lpstr>
    </vt:vector>
  </TitlesOfParts>
  <Company>Nelson Mandela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User-Interface Design WUIV302</dc:title>
  <dc:creator>Barnard, Lynette (Dr) (Summerstrand Campus South)</dc:creator>
  <cp:lastModifiedBy>Barnard, Lynette (Dr) (Summerstrand Campus South)</cp:lastModifiedBy>
  <cp:revision>67</cp:revision>
  <dcterms:created xsi:type="dcterms:W3CDTF">2026-07-09T11:06:27Z</dcterms:created>
  <dcterms:modified xsi:type="dcterms:W3CDTF">2026-07-22T21:12:15Z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