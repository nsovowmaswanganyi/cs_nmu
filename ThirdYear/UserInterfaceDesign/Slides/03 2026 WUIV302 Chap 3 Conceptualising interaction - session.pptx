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76" r:id="rId4"/>
  </p:sldMasterIdLst>
  <p:notesMasterIdLst>
    <p:notesMasterId r:id="rId23"/>
  </p:notesMasterIdLst>
  <p:handoutMasterIdLst>
    <p:handoutMasterId r:id="rId24"/>
  </p:handoutMasterIdLst>
  <p:sldIdLst>
    <p:sldId id="1519" r:id="rId5"/>
    <p:sldId id="1540" r:id="rId6"/>
    <p:sldId id="1556" r:id="rId7"/>
    <p:sldId id="1557" r:id="rId8"/>
    <p:sldId id="1558" r:id="rId9"/>
    <p:sldId id="1559" r:id="rId10"/>
    <p:sldId id="1560" r:id="rId11"/>
    <p:sldId id="1561" r:id="rId12"/>
    <p:sldId id="1562" r:id="rId13"/>
    <p:sldId id="1566" r:id="rId14"/>
    <p:sldId id="1567" r:id="rId15"/>
    <p:sldId id="1568" r:id="rId16"/>
    <p:sldId id="1569" r:id="rId17"/>
    <p:sldId id="305" r:id="rId18"/>
    <p:sldId id="1563" r:id="rId19"/>
    <p:sldId id="1564" r:id="rId20"/>
    <p:sldId id="1565" r:id="rId21"/>
    <p:sldId id="1570" r:id="rId22"/>
  </p:sldIdLst>
  <p:sldSz cx="12192000" cy="6858000"/>
  <p:notesSz cx="6797675" cy="987425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10E4221-6F06-64E5-5214-772388C857B5}" name="Elizabeth Feldbruegge (ALLEGIS GROUP HOLDINGS INC)" initials="" userId="S::v-felizabeth@microsoft.com::ba5aea11-28e4-484d-8e49-c15efb1bd2e9" providerId="AD"/>
  <p188:author id="{9941987A-41B7-49AC-EE6E-03F2D0BD95BA}" name="Daria Naidenov" initials="DN" userId="S::danaidenov@microsoft.com::ab38ab5f-bdf0-4774-ae5a-d2782abb202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940675A-B579-460E-94D1-54222C63F5D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30"/>
  </p:normalViewPr>
  <p:slideViewPr>
    <p:cSldViewPr snapToGrid="0">
      <p:cViewPr varScale="1">
        <p:scale>
          <a:sx n="102" d="100"/>
          <a:sy n="102" d="100"/>
        </p:scale>
        <p:origin x="870" y="10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1972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6_3">
  <dgm:title val=""/>
  <dgm:desc val=""/>
  <dgm:catLst>
    <dgm:cat type="accent6" pri="11300"/>
  </dgm:catLst>
  <dgm:styleLbl name="node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6">
        <a:shade val="80000"/>
      </a:schemeClr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6">
        <a:shade val="80000"/>
      </a:schemeClr>
      <a:schemeClr val="accent6">
        <a:tint val="7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/>
    <dgm:txEffectClrLst/>
  </dgm:styleLbl>
  <dgm:styleLbl name="lnNode1">
    <dgm:fillClrLst>
      <a:schemeClr val="accent6">
        <a:shade val="80000"/>
      </a:schemeClr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6">
        <a:shade val="80000"/>
        <a:alpha val="50000"/>
      </a:schemeClr>
      <a:schemeClr val="accent6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/>
    <dgm:txEffectClrLst/>
  </dgm:styleLbl>
  <dgm:styleLbl name="fg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9000"/>
      </a:schemeClr>
    </dgm:fillClrLst>
    <dgm:linClrLst meth="repeat">
      <a:schemeClr val="accent6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80000"/>
      </a:schemeClr>
    </dgm:fillClrLst>
    <dgm:linClrLst meth="repeat">
      <a:schemeClr val="accent6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6_3">
  <dgm:title val=""/>
  <dgm:desc val=""/>
  <dgm:catLst>
    <dgm:cat type="accent6" pri="11300"/>
  </dgm:catLst>
  <dgm:styleLbl name="node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6">
        <a:shade val="80000"/>
      </a:schemeClr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6">
        <a:shade val="80000"/>
      </a:schemeClr>
      <a:schemeClr val="accent6">
        <a:tint val="7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/>
    <dgm:txEffectClrLst/>
  </dgm:styleLbl>
  <dgm:styleLbl name="lnNode1">
    <dgm:fillClrLst>
      <a:schemeClr val="accent6">
        <a:shade val="80000"/>
      </a:schemeClr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6">
        <a:shade val="80000"/>
        <a:alpha val="50000"/>
      </a:schemeClr>
      <a:schemeClr val="accent6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/>
    <dgm:txEffectClrLst/>
  </dgm:styleLbl>
  <dgm:styleLbl name="fg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9000"/>
      </a:schemeClr>
    </dgm:fillClrLst>
    <dgm:linClrLst meth="repeat">
      <a:schemeClr val="accent6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80000"/>
      </a:schemeClr>
    </dgm:fillClrLst>
    <dgm:linClrLst meth="repeat">
      <a:schemeClr val="accent6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050E4F5-FE2D-4112-8E0D-AED916E42849}" type="doc">
      <dgm:prSet loTypeId="urn:microsoft.com/office/officeart/2005/8/layout/venn1" loCatId="relationship" qsTypeId="urn:microsoft.com/office/officeart/2005/8/quickstyle/3d1" qsCatId="3D" csTypeId="urn:microsoft.com/office/officeart/2005/8/colors/accent6_3" csCatId="accent6" phldr="1"/>
      <dgm:spPr/>
      <dgm:t>
        <a:bodyPr/>
        <a:lstStyle/>
        <a:p>
          <a:endParaRPr lang="en-US"/>
        </a:p>
      </dgm:t>
    </dgm:pt>
    <dgm:pt modelId="{CD80F7BB-7D71-4FFC-AFF8-A3245D51D87D}">
      <dgm:prSet phldrT="[Text]"/>
      <dgm:spPr/>
      <dgm:t>
        <a:bodyPr/>
        <a:lstStyle/>
        <a:p>
          <a:r>
            <a:rPr lang="en-US" dirty="0"/>
            <a:t>Designer’s model</a:t>
          </a:r>
        </a:p>
      </dgm:t>
    </dgm:pt>
    <dgm:pt modelId="{6013A1AB-FFE8-4BC5-AE5B-A2C3B1E8F08E}" type="parTrans" cxnId="{B9EAF738-6059-4260-8006-8F05DB9EFBB7}">
      <dgm:prSet/>
      <dgm:spPr/>
      <dgm:t>
        <a:bodyPr/>
        <a:lstStyle/>
        <a:p>
          <a:endParaRPr lang="en-US"/>
        </a:p>
      </dgm:t>
    </dgm:pt>
    <dgm:pt modelId="{BD6CDE6F-FA9D-47FD-A7BC-5DEEC5D46DDC}" type="sibTrans" cxnId="{B9EAF738-6059-4260-8006-8F05DB9EFBB7}">
      <dgm:prSet/>
      <dgm:spPr/>
      <dgm:t>
        <a:bodyPr/>
        <a:lstStyle/>
        <a:p>
          <a:endParaRPr lang="en-US"/>
        </a:p>
      </dgm:t>
    </dgm:pt>
    <dgm:pt modelId="{0E9906D1-1E39-4464-B969-E97BEADD0C1C}">
      <dgm:prSet phldrT="[Text]"/>
      <dgm:spPr/>
      <dgm:t>
        <a:bodyPr/>
        <a:lstStyle/>
        <a:p>
          <a:r>
            <a:rPr lang="en-US" dirty="0"/>
            <a:t>User’s model</a:t>
          </a:r>
        </a:p>
      </dgm:t>
    </dgm:pt>
    <dgm:pt modelId="{067DA325-4CAE-4655-8655-5FA1ADF1C9A7}" type="parTrans" cxnId="{600A2808-77B6-4704-8740-AA5F57D1EFBD}">
      <dgm:prSet/>
      <dgm:spPr/>
      <dgm:t>
        <a:bodyPr/>
        <a:lstStyle/>
        <a:p>
          <a:endParaRPr lang="en-US"/>
        </a:p>
      </dgm:t>
    </dgm:pt>
    <dgm:pt modelId="{C5C5DFA7-0C58-413E-B7A2-65F83377FBAB}" type="sibTrans" cxnId="{600A2808-77B6-4704-8740-AA5F57D1EFBD}">
      <dgm:prSet/>
      <dgm:spPr/>
      <dgm:t>
        <a:bodyPr/>
        <a:lstStyle/>
        <a:p>
          <a:endParaRPr lang="en-US"/>
        </a:p>
      </dgm:t>
    </dgm:pt>
    <dgm:pt modelId="{E34B6B39-8337-4D0B-BCF8-22754B12F6A8}">
      <dgm:prSet phldrT="[Text]"/>
      <dgm:spPr/>
      <dgm:t>
        <a:bodyPr/>
        <a:lstStyle/>
        <a:p>
          <a:r>
            <a:rPr lang="en-US" dirty="0"/>
            <a:t>System image</a:t>
          </a:r>
        </a:p>
      </dgm:t>
    </dgm:pt>
    <dgm:pt modelId="{D3E55AC7-28BD-4990-848D-40DB61C49F3D}" type="parTrans" cxnId="{C9A7C35D-1E26-45F0-BDFF-0891BF92359F}">
      <dgm:prSet/>
      <dgm:spPr/>
      <dgm:t>
        <a:bodyPr/>
        <a:lstStyle/>
        <a:p>
          <a:endParaRPr lang="en-US"/>
        </a:p>
      </dgm:t>
    </dgm:pt>
    <dgm:pt modelId="{64F2CDBD-5283-468C-AA28-FE2666BDC337}" type="sibTrans" cxnId="{C9A7C35D-1E26-45F0-BDFF-0891BF92359F}">
      <dgm:prSet/>
      <dgm:spPr/>
      <dgm:t>
        <a:bodyPr/>
        <a:lstStyle/>
        <a:p>
          <a:endParaRPr lang="en-US"/>
        </a:p>
      </dgm:t>
    </dgm:pt>
    <dgm:pt modelId="{61A99FBD-3DC2-43E2-B405-6E3A8418995E}" type="pres">
      <dgm:prSet presAssocID="{B050E4F5-FE2D-4112-8E0D-AED916E42849}" presName="compositeShape" presStyleCnt="0">
        <dgm:presLayoutVars>
          <dgm:chMax val="7"/>
          <dgm:dir/>
          <dgm:resizeHandles val="exact"/>
        </dgm:presLayoutVars>
      </dgm:prSet>
      <dgm:spPr/>
    </dgm:pt>
    <dgm:pt modelId="{BD022EEC-0BBE-454A-B570-785BA7D1ABD3}" type="pres">
      <dgm:prSet presAssocID="{CD80F7BB-7D71-4FFC-AFF8-A3245D51D87D}" presName="circ1" presStyleLbl="vennNode1" presStyleIdx="0" presStyleCnt="3"/>
      <dgm:spPr/>
    </dgm:pt>
    <dgm:pt modelId="{B88C7B9F-C85E-4299-A470-C45981E1451B}" type="pres">
      <dgm:prSet presAssocID="{CD80F7BB-7D71-4FFC-AFF8-A3245D51D87D}" presName="circ1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A48869CF-87B0-4AA6-9BD6-1A25D0A5D33D}" type="pres">
      <dgm:prSet presAssocID="{0E9906D1-1E39-4464-B969-E97BEADD0C1C}" presName="circ2" presStyleLbl="vennNode1" presStyleIdx="1" presStyleCnt="3"/>
      <dgm:spPr/>
    </dgm:pt>
    <dgm:pt modelId="{19123016-5575-4EB1-AFE3-C65B31D10377}" type="pres">
      <dgm:prSet presAssocID="{0E9906D1-1E39-4464-B969-E97BEADD0C1C}" presName="circ2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DA76E513-C3E2-4A89-A68A-AA44B3ADA761}" type="pres">
      <dgm:prSet presAssocID="{E34B6B39-8337-4D0B-BCF8-22754B12F6A8}" presName="circ3" presStyleLbl="vennNode1" presStyleIdx="2" presStyleCnt="3"/>
      <dgm:spPr/>
    </dgm:pt>
    <dgm:pt modelId="{19EBDAB4-C59B-4A37-8868-0DABD2A77CC5}" type="pres">
      <dgm:prSet presAssocID="{E34B6B39-8337-4D0B-BCF8-22754B12F6A8}" presName="circ3Tx" presStyleLbl="revTx" presStyleIdx="0" presStyleCnt="0">
        <dgm:presLayoutVars>
          <dgm:chMax val="0"/>
          <dgm:chPref val="0"/>
          <dgm:bulletEnabled val="1"/>
        </dgm:presLayoutVars>
      </dgm:prSet>
      <dgm:spPr/>
    </dgm:pt>
  </dgm:ptLst>
  <dgm:cxnLst>
    <dgm:cxn modelId="{600A2808-77B6-4704-8740-AA5F57D1EFBD}" srcId="{B050E4F5-FE2D-4112-8E0D-AED916E42849}" destId="{0E9906D1-1E39-4464-B969-E97BEADD0C1C}" srcOrd="1" destOrd="0" parTransId="{067DA325-4CAE-4655-8655-5FA1ADF1C9A7}" sibTransId="{C5C5DFA7-0C58-413E-B7A2-65F83377FBAB}"/>
    <dgm:cxn modelId="{B9EAF738-6059-4260-8006-8F05DB9EFBB7}" srcId="{B050E4F5-FE2D-4112-8E0D-AED916E42849}" destId="{CD80F7BB-7D71-4FFC-AFF8-A3245D51D87D}" srcOrd="0" destOrd="0" parTransId="{6013A1AB-FFE8-4BC5-AE5B-A2C3B1E8F08E}" sibTransId="{BD6CDE6F-FA9D-47FD-A7BC-5DEEC5D46DDC}"/>
    <dgm:cxn modelId="{C9A7C35D-1E26-45F0-BDFF-0891BF92359F}" srcId="{B050E4F5-FE2D-4112-8E0D-AED916E42849}" destId="{E34B6B39-8337-4D0B-BCF8-22754B12F6A8}" srcOrd="2" destOrd="0" parTransId="{D3E55AC7-28BD-4990-848D-40DB61C49F3D}" sibTransId="{64F2CDBD-5283-468C-AA28-FE2666BDC337}"/>
    <dgm:cxn modelId="{A67D479E-1507-4F46-B58B-B6724EC8B316}" type="presOf" srcId="{0E9906D1-1E39-4464-B969-E97BEADD0C1C}" destId="{19123016-5575-4EB1-AFE3-C65B31D10377}" srcOrd="1" destOrd="0" presId="urn:microsoft.com/office/officeart/2005/8/layout/venn1"/>
    <dgm:cxn modelId="{84F7ADAF-1A37-44DC-B11E-39690A3F5C85}" type="presOf" srcId="{B050E4F5-FE2D-4112-8E0D-AED916E42849}" destId="{61A99FBD-3DC2-43E2-B405-6E3A8418995E}" srcOrd="0" destOrd="0" presId="urn:microsoft.com/office/officeart/2005/8/layout/venn1"/>
    <dgm:cxn modelId="{CCA4F8BA-A905-400E-A576-40C0703684F8}" type="presOf" srcId="{CD80F7BB-7D71-4FFC-AFF8-A3245D51D87D}" destId="{BD022EEC-0BBE-454A-B570-785BA7D1ABD3}" srcOrd="0" destOrd="0" presId="urn:microsoft.com/office/officeart/2005/8/layout/venn1"/>
    <dgm:cxn modelId="{754CB7DC-6C0D-4EEC-8EA8-7A4519167C84}" type="presOf" srcId="{E34B6B39-8337-4D0B-BCF8-22754B12F6A8}" destId="{DA76E513-C3E2-4A89-A68A-AA44B3ADA761}" srcOrd="0" destOrd="0" presId="urn:microsoft.com/office/officeart/2005/8/layout/venn1"/>
    <dgm:cxn modelId="{458BDCDC-9919-4154-88CC-FD89F9D3A1B9}" type="presOf" srcId="{E34B6B39-8337-4D0B-BCF8-22754B12F6A8}" destId="{19EBDAB4-C59B-4A37-8868-0DABD2A77CC5}" srcOrd="1" destOrd="0" presId="urn:microsoft.com/office/officeart/2005/8/layout/venn1"/>
    <dgm:cxn modelId="{912480DE-0444-4F65-AA07-219D7D976596}" type="presOf" srcId="{CD80F7BB-7D71-4FFC-AFF8-A3245D51D87D}" destId="{B88C7B9F-C85E-4299-A470-C45981E1451B}" srcOrd="1" destOrd="0" presId="urn:microsoft.com/office/officeart/2005/8/layout/venn1"/>
    <dgm:cxn modelId="{BBE85AF5-28E8-4346-A76B-9D40CB413FD2}" type="presOf" srcId="{0E9906D1-1E39-4464-B969-E97BEADD0C1C}" destId="{A48869CF-87B0-4AA6-9BD6-1A25D0A5D33D}" srcOrd="0" destOrd="0" presId="urn:microsoft.com/office/officeart/2005/8/layout/venn1"/>
    <dgm:cxn modelId="{235DBF99-C40C-4486-9996-7FDCBB1A525E}" type="presParOf" srcId="{61A99FBD-3DC2-43E2-B405-6E3A8418995E}" destId="{BD022EEC-0BBE-454A-B570-785BA7D1ABD3}" srcOrd="0" destOrd="0" presId="urn:microsoft.com/office/officeart/2005/8/layout/venn1"/>
    <dgm:cxn modelId="{3A75E7AE-B50B-4A9A-8DEA-FEF77613CECD}" type="presParOf" srcId="{61A99FBD-3DC2-43E2-B405-6E3A8418995E}" destId="{B88C7B9F-C85E-4299-A470-C45981E1451B}" srcOrd="1" destOrd="0" presId="urn:microsoft.com/office/officeart/2005/8/layout/venn1"/>
    <dgm:cxn modelId="{28F9AFC6-D0C0-42E1-9458-7DADF4F89E6E}" type="presParOf" srcId="{61A99FBD-3DC2-43E2-B405-6E3A8418995E}" destId="{A48869CF-87B0-4AA6-9BD6-1A25D0A5D33D}" srcOrd="2" destOrd="0" presId="urn:microsoft.com/office/officeart/2005/8/layout/venn1"/>
    <dgm:cxn modelId="{55BA0E98-C4F7-41B8-9E45-76FC1F5DCEAB}" type="presParOf" srcId="{61A99FBD-3DC2-43E2-B405-6E3A8418995E}" destId="{19123016-5575-4EB1-AFE3-C65B31D10377}" srcOrd="3" destOrd="0" presId="urn:microsoft.com/office/officeart/2005/8/layout/venn1"/>
    <dgm:cxn modelId="{5BAB0B27-03AA-43C3-86DC-99ED14BFAC05}" type="presParOf" srcId="{61A99FBD-3DC2-43E2-B405-6E3A8418995E}" destId="{DA76E513-C3E2-4A89-A68A-AA44B3ADA761}" srcOrd="4" destOrd="0" presId="urn:microsoft.com/office/officeart/2005/8/layout/venn1"/>
    <dgm:cxn modelId="{0B2C15C3-5632-44DD-9B5F-968A55980D5B}" type="presParOf" srcId="{61A99FBD-3DC2-43E2-B405-6E3A8418995E}" destId="{19EBDAB4-C59B-4A37-8868-0DABD2A77CC5}" srcOrd="5" destOrd="0" presId="urn:microsoft.com/office/officeart/2005/8/layout/ven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050E4F5-FE2D-4112-8E0D-AED916E42849}" type="doc">
      <dgm:prSet loTypeId="urn:microsoft.com/office/officeart/2005/8/layout/venn1" loCatId="relationship" qsTypeId="urn:microsoft.com/office/officeart/2005/8/quickstyle/3d1" qsCatId="3D" csTypeId="urn:microsoft.com/office/officeart/2005/8/colors/accent6_3" csCatId="accent6" phldr="1"/>
      <dgm:spPr/>
    </dgm:pt>
    <dgm:pt modelId="{CD80F7BB-7D71-4FFC-AFF8-A3245D51D87D}">
      <dgm:prSet phldrT="[Text]" custT="1"/>
      <dgm:spPr/>
      <dgm:t>
        <a:bodyPr/>
        <a:lstStyle/>
        <a:p>
          <a:r>
            <a:rPr lang="en-US" sz="6600" dirty="0"/>
            <a:t>   </a:t>
          </a:r>
        </a:p>
      </dgm:t>
    </dgm:pt>
    <dgm:pt modelId="{6013A1AB-FFE8-4BC5-AE5B-A2C3B1E8F08E}" type="parTrans" cxnId="{B9EAF738-6059-4260-8006-8F05DB9EFBB7}">
      <dgm:prSet/>
      <dgm:spPr/>
      <dgm:t>
        <a:bodyPr/>
        <a:lstStyle/>
        <a:p>
          <a:endParaRPr lang="en-US" sz="2000"/>
        </a:p>
      </dgm:t>
    </dgm:pt>
    <dgm:pt modelId="{BD6CDE6F-FA9D-47FD-A7BC-5DEEC5D46DDC}" type="sibTrans" cxnId="{B9EAF738-6059-4260-8006-8F05DB9EFBB7}">
      <dgm:prSet/>
      <dgm:spPr/>
      <dgm:t>
        <a:bodyPr/>
        <a:lstStyle/>
        <a:p>
          <a:endParaRPr lang="en-US" sz="2000"/>
        </a:p>
      </dgm:t>
    </dgm:pt>
    <dgm:pt modelId="{0E9906D1-1E39-4464-B969-E97BEADD0C1C}">
      <dgm:prSet phldrT="[Text]" custT="1"/>
      <dgm:spPr/>
      <dgm:t>
        <a:bodyPr/>
        <a:lstStyle/>
        <a:p>
          <a:r>
            <a:rPr lang="en-US" sz="6600" dirty="0"/>
            <a:t>   </a:t>
          </a:r>
        </a:p>
      </dgm:t>
    </dgm:pt>
    <dgm:pt modelId="{C5C5DFA7-0C58-413E-B7A2-65F83377FBAB}" type="sibTrans" cxnId="{600A2808-77B6-4704-8740-AA5F57D1EFBD}">
      <dgm:prSet/>
      <dgm:spPr/>
      <dgm:t>
        <a:bodyPr/>
        <a:lstStyle/>
        <a:p>
          <a:endParaRPr lang="en-US" sz="2000"/>
        </a:p>
      </dgm:t>
    </dgm:pt>
    <dgm:pt modelId="{067DA325-4CAE-4655-8655-5FA1ADF1C9A7}" type="parTrans" cxnId="{600A2808-77B6-4704-8740-AA5F57D1EFBD}">
      <dgm:prSet/>
      <dgm:spPr/>
      <dgm:t>
        <a:bodyPr/>
        <a:lstStyle/>
        <a:p>
          <a:endParaRPr lang="en-US" sz="2000"/>
        </a:p>
      </dgm:t>
    </dgm:pt>
    <dgm:pt modelId="{E34B6B39-8337-4D0B-BCF8-22754B12F6A8}">
      <dgm:prSet phldrT="[Text]" custT="1"/>
      <dgm:spPr/>
      <dgm:t>
        <a:bodyPr/>
        <a:lstStyle/>
        <a:p>
          <a:pPr marL="447675" indent="0" algn="ctr"/>
          <a:r>
            <a:rPr lang="en-US" sz="1800" dirty="0"/>
            <a:t> </a:t>
          </a:r>
          <a:r>
            <a:rPr lang="en-US" sz="2400" dirty="0"/>
            <a:t>Designer’s model; System image; User’s model</a:t>
          </a:r>
          <a:endParaRPr lang="en-US" sz="2000" dirty="0"/>
        </a:p>
      </dgm:t>
    </dgm:pt>
    <dgm:pt modelId="{64F2CDBD-5283-468C-AA28-FE2666BDC337}" type="sibTrans" cxnId="{C9A7C35D-1E26-45F0-BDFF-0891BF92359F}">
      <dgm:prSet/>
      <dgm:spPr/>
      <dgm:t>
        <a:bodyPr/>
        <a:lstStyle/>
        <a:p>
          <a:endParaRPr lang="en-US" sz="2000"/>
        </a:p>
      </dgm:t>
    </dgm:pt>
    <dgm:pt modelId="{D3E55AC7-28BD-4990-848D-40DB61C49F3D}" type="parTrans" cxnId="{C9A7C35D-1E26-45F0-BDFF-0891BF92359F}">
      <dgm:prSet/>
      <dgm:spPr/>
      <dgm:t>
        <a:bodyPr/>
        <a:lstStyle/>
        <a:p>
          <a:endParaRPr lang="en-US" sz="2000"/>
        </a:p>
      </dgm:t>
    </dgm:pt>
    <dgm:pt modelId="{61A99FBD-3DC2-43E2-B405-6E3A8418995E}" type="pres">
      <dgm:prSet presAssocID="{B050E4F5-FE2D-4112-8E0D-AED916E42849}" presName="compositeShape" presStyleCnt="0">
        <dgm:presLayoutVars>
          <dgm:chMax val="7"/>
          <dgm:dir/>
          <dgm:resizeHandles val="exact"/>
        </dgm:presLayoutVars>
      </dgm:prSet>
      <dgm:spPr/>
    </dgm:pt>
    <dgm:pt modelId="{BD022EEC-0BBE-454A-B570-785BA7D1ABD3}" type="pres">
      <dgm:prSet presAssocID="{CD80F7BB-7D71-4FFC-AFF8-A3245D51D87D}" presName="circ1" presStyleLbl="vennNode1" presStyleIdx="0" presStyleCnt="3"/>
      <dgm:spPr/>
    </dgm:pt>
    <dgm:pt modelId="{B88C7B9F-C85E-4299-A470-C45981E1451B}" type="pres">
      <dgm:prSet presAssocID="{CD80F7BB-7D71-4FFC-AFF8-A3245D51D87D}" presName="circ1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A48869CF-87B0-4AA6-9BD6-1A25D0A5D33D}" type="pres">
      <dgm:prSet presAssocID="{0E9906D1-1E39-4464-B969-E97BEADD0C1C}" presName="circ2" presStyleLbl="vennNode1" presStyleIdx="1" presStyleCnt="3" custLinFactNeighborX="-37296" custLinFactNeighborY="-57103"/>
      <dgm:spPr/>
    </dgm:pt>
    <dgm:pt modelId="{19123016-5575-4EB1-AFE3-C65B31D10377}" type="pres">
      <dgm:prSet presAssocID="{0E9906D1-1E39-4464-B969-E97BEADD0C1C}" presName="circ2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DA76E513-C3E2-4A89-A68A-AA44B3ADA761}" type="pres">
      <dgm:prSet presAssocID="{E34B6B39-8337-4D0B-BCF8-22754B12F6A8}" presName="circ3" presStyleLbl="vennNode1" presStyleIdx="2" presStyleCnt="3" custScaleX="123003" custScaleY="101864" custLinFactNeighborX="34871" custLinFactNeighborY="-59976"/>
      <dgm:spPr/>
    </dgm:pt>
    <dgm:pt modelId="{19EBDAB4-C59B-4A37-8868-0DABD2A77CC5}" type="pres">
      <dgm:prSet presAssocID="{E34B6B39-8337-4D0B-BCF8-22754B12F6A8}" presName="circ3Tx" presStyleLbl="revTx" presStyleIdx="0" presStyleCnt="0">
        <dgm:presLayoutVars>
          <dgm:chMax val="0"/>
          <dgm:chPref val="0"/>
          <dgm:bulletEnabled val="1"/>
        </dgm:presLayoutVars>
      </dgm:prSet>
      <dgm:spPr/>
    </dgm:pt>
  </dgm:ptLst>
  <dgm:cxnLst>
    <dgm:cxn modelId="{600A2808-77B6-4704-8740-AA5F57D1EFBD}" srcId="{B050E4F5-FE2D-4112-8E0D-AED916E42849}" destId="{0E9906D1-1E39-4464-B969-E97BEADD0C1C}" srcOrd="1" destOrd="0" parTransId="{067DA325-4CAE-4655-8655-5FA1ADF1C9A7}" sibTransId="{C5C5DFA7-0C58-413E-B7A2-65F83377FBAB}"/>
    <dgm:cxn modelId="{B9EAF738-6059-4260-8006-8F05DB9EFBB7}" srcId="{B050E4F5-FE2D-4112-8E0D-AED916E42849}" destId="{CD80F7BB-7D71-4FFC-AFF8-A3245D51D87D}" srcOrd="0" destOrd="0" parTransId="{6013A1AB-FFE8-4BC5-AE5B-A2C3B1E8F08E}" sibTransId="{BD6CDE6F-FA9D-47FD-A7BC-5DEEC5D46DDC}"/>
    <dgm:cxn modelId="{C9A7C35D-1E26-45F0-BDFF-0891BF92359F}" srcId="{B050E4F5-FE2D-4112-8E0D-AED916E42849}" destId="{E34B6B39-8337-4D0B-BCF8-22754B12F6A8}" srcOrd="2" destOrd="0" parTransId="{D3E55AC7-28BD-4990-848D-40DB61C49F3D}" sibTransId="{64F2CDBD-5283-468C-AA28-FE2666BDC337}"/>
    <dgm:cxn modelId="{A67D479E-1507-4F46-B58B-B6724EC8B316}" type="presOf" srcId="{0E9906D1-1E39-4464-B969-E97BEADD0C1C}" destId="{19123016-5575-4EB1-AFE3-C65B31D10377}" srcOrd="1" destOrd="0" presId="urn:microsoft.com/office/officeart/2005/8/layout/venn1"/>
    <dgm:cxn modelId="{84F7ADAF-1A37-44DC-B11E-39690A3F5C85}" type="presOf" srcId="{B050E4F5-FE2D-4112-8E0D-AED916E42849}" destId="{61A99FBD-3DC2-43E2-B405-6E3A8418995E}" srcOrd="0" destOrd="0" presId="urn:microsoft.com/office/officeart/2005/8/layout/venn1"/>
    <dgm:cxn modelId="{CCA4F8BA-A905-400E-A576-40C0703684F8}" type="presOf" srcId="{CD80F7BB-7D71-4FFC-AFF8-A3245D51D87D}" destId="{BD022EEC-0BBE-454A-B570-785BA7D1ABD3}" srcOrd="0" destOrd="0" presId="urn:microsoft.com/office/officeart/2005/8/layout/venn1"/>
    <dgm:cxn modelId="{754CB7DC-6C0D-4EEC-8EA8-7A4519167C84}" type="presOf" srcId="{E34B6B39-8337-4D0B-BCF8-22754B12F6A8}" destId="{DA76E513-C3E2-4A89-A68A-AA44B3ADA761}" srcOrd="0" destOrd="0" presId="urn:microsoft.com/office/officeart/2005/8/layout/venn1"/>
    <dgm:cxn modelId="{458BDCDC-9919-4154-88CC-FD89F9D3A1B9}" type="presOf" srcId="{E34B6B39-8337-4D0B-BCF8-22754B12F6A8}" destId="{19EBDAB4-C59B-4A37-8868-0DABD2A77CC5}" srcOrd="1" destOrd="0" presId="urn:microsoft.com/office/officeart/2005/8/layout/venn1"/>
    <dgm:cxn modelId="{912480DE-0444-4F65-AA07-219D7D976596}" type="presOf" srcId="{CD80F7BB-7D71-4FFC-AFF8-A3245D51D87D}" destId="{B88C7B9F-C85E-4299-A470-C45981E1451B}" srcOrd="1" destOrd="0" presId="urn:microsoft.com/office/officeart/2005/8/layout/venn1"/>
    <dgm:cxn modelId="{BBE85AF5-28E8-4346-A76B-9D40CB413FD2}" type="presOf" srcId="{0E9906D1-1E39-4464-B969-E97BEADD0C1C}" destId="{A48869CF-87B0-4AA6-9BD6-1A25D0A5D33D}" srcOrd="0" destOrd="0" presId="urn:microsoft.com/office/officeart/2005/8/layout/venn1"/>
    <dgm:cxn modelId="{235DBF99-C40C-4486-9996-7FDCBB1A525E}" type="presParOf" srcId="{61A99FBD-3DC2-43E2-B405-6E3A8418995E}" destId="{BD022EEC-0BBE-454A-B570-785BA7D1ABD3}" srcOrd="0" destOrd="0" presId="urn:microsoft.com/office/officeart/2005/8/layout/venn1"/>
    <dgm:cxn modelId="{3A75E7AE-B50B-4A9A-8DEA-FEF77613CECD}" type="presParOf" srcId="{61A99FBD-3DC2-43E2-B405-6E3A8418995E}" destId="{B88C7B9F-C85E-4299-A470-C45981E1451B}" srcOrd="1" destOrd="0" presId="urn:microsoft.com/office/officeart/2005/8/layout/venn1"/>
    <dgm:cxn modelId="{28F9AFC6-D0C0-42E1-9458-7DADF4F89E6E}" type="presParOf" srcId="{61A99FBD-3DC2-43E2-B405-6E3A8418995E}" destId="{A48869CF-87B0-4AA6-9BD6-1A25D0A5D33D}" srcOrd="2" destOrd="0" presId="urn:microsoft.com/office/officeart/2005/8/layout/venn1"/>
    <dgm:cxn modelId="{55BA0E98-C4F7-41B8-9E45-76FC1F5DCEAB}" type="presParOf" srcId="{61A99FBD-3DC2-43E2-B405-6E3A8418995E}" destId="{19123016-5575-4EB1-AFE3-C65B31D10377}" srcOrd="3" destOrd="0" presId="urn:microsoft.com/office/officeart/2005/8/layout/venn1"/>
    <dgm:cxn modelId="{5BAB0B27-03AA-43C3-86DC-99ED14BFAC05}" type="presParOf" srcId="{61A99FBD-3DC2-43E2-B405-6E3A8418995E}" destId="{DA76E513-C3E2-4A89-A68A-AA44B3ADA761}" srcOrd="4" destOrd="0" presId="urn:microsoft.com/office/officeart/2005/8/layout/venn1"/>
    <dgm:cxn modelId="{0B2C15C3-5632-44DD-9B5F-968A55980D5B}" type="presParOf" srcId="{61A99FBD-3DC2-43E2-B405-6E3A8418995E}" destId="{19EBDAB4-C59B-4A37-8868-0DABD2A77CC5}" srcOrd="5" destOrd="0" presId="urn:microsoft.com/office/officeart/2005/8/layout/venn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D022EEC-0BBE-454A-B570-785BA7D1ABD3}">
      <dsp:nvSpPr>
        <dsp:cNvPr id="0" name=""/>
        <dsp:cNvSpPr/>
      </dsp:nvSpPr>
      <dsp:spPr>
        <a:xfrm>
          <a:off x="1900337" y="48778"/>
          <a:ext cx="2341386" cy="2341386"/>
        </a:xfrm>
        <a:prstGeom prst="ellipse">
          <a:avLst/>
        </a:prstGeom>
        <a:solidFill>
          <a:schemeClr val="accent6">
            <a:shade val="80000"/>
            <a:alpha val="5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Designer’s model</a:t>
          </a:r>
        </a:p>
      </dsp:txBody>
      <dsp:txXfrm>
        <a:off x="2212521" y="458521"/>
        <a:ext cx="1717016" cy="1053623"/>
      </dsp:txXfrm>
    </dsp:sp>
    <dsp:sp modelId="{A48869CF-87B0-4AA6-9BD6-1A25D0A5D33D}">
      <dsp:nvSpPr>
        <dsp:cNvPr id="0" name=""/>
        <dsp:cNvSpPr/>
      </dsp:nvSpPr>
      <dsp:spPr>
        <a:xfrm>
          <a:off x="2745187" y="1512145"/>
          <a:ext cx="2341386" cy="2341386"/>
        </a:xfrm>
        <a:prstGeom prst="ellipse">
          <a:avLst/>
        </a:prstGeom>
        <a:solidFill>
          <a:schemeClr val="accent6">
            <a:shade val="80000"/>
            <a:alpha val="50000"/>
            <a:hueOff val="65812"/>
            <a:satOff val="-18977"/>
            <a:lumOff val="21824"/>
            <a:alphaOff val="0"/>
          </a:schemeClr>
        </a:soli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User’s model</a:t>
          </a:r>
        </a:p>
      </dsp:txBody>
      <dsp:txXfrm>
        <a:off x="3461261" y="2117003"/>
        <a:ext cx="1404831" cy="1287762"/>
      </dsp:txXfrm>
    </dsp:sp>
    <dsp:sp modelId="{DA76E513-C3E2-4A89-A68A-AA44B3ADA761}">
      <dsp:nvSpPr>
        <dsp:cNvPr id="0" name=""/>
        <dsp:cNvSpPr/>
      </dsp:nvSpPr>
      <dsp:spPr>
        <a:xfrm>
          <a:off x="1055486" y="1512145"/>
          <a:ext cx="2341386" cy="2341386"/>
        </a:xfrm>
        <a:prstGeom prst="ellipse">
          <a:avLst/>
        </a:prstGeom>
        <a:solidFill>
          <a:schemeClr val="accent6">
            <a:shade val="80000"/>
            <a:alpha val="50000"/>
            <a:hueOff val="131624"/>
            <a:satOff val="-37953"/>
            <a:lumOff val="43647"/>
            <a:alphaOff val="0"/>
          </a:schemeClr>
        </a:soli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System image</a:t>
          </a:r>
        </a:p>
      </dsp:txBody>
      <dsp:txXfrm>
        <a:off x="1275967" y="2117003"/>
        <a:ext cx="1404831" cy="128776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D022EEC-0BBE-454A-B570-785BA7D1ABD3}">
      <dsp:nvSpPr>
        <dsp:cNvPr id="0" name=""/>
        <dsp:cNvSpPr/>
      </dsp:nvSpPr>
      <dsp:spPr>
        <a:xfrm>
          <a:off x="2458671" y="112129"/>
          <a:ext cx="2567456" cy="2567456"/>
        </a:xfrm>
        <a:prstGeom prst="ellipse">
          <a:avLst/>
        </a:prstGeom>
        <a:solidFill>
          <a:schemeClr val="accent6">
            <a:shade val="80000"/>
            <a:alpha val="5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 dirty="0"/>
            <a:t>   </a:t>
          </a:r>
        </a:p>
      </dsp:txBody>
      <dsp:txXfrm>
        <a:off x="2800998" y="561434"/>
        <a:ext cx="1882801" cy="1155355"/>
      </dsp:txXfrm>
    </dsp:sp>
    <dsp:sp modelId="{A48869CF-87B0-4AA6-9BD6-1A25D0A5D33D}">
      <dsp:nvSpPr>
        <dsp:cNvPr id="0" name=""/>
        <dsp:cNvSpPr/>
      </dsp:nvSpPr>
      <dsp:spPr>
        <a:xfrm>
          <a:off x="2427536" y="250694"/>
          <a:ext cx="2567456" cy="2567456"/>
        </a:xfrm>
        <a:prstGeom prst="ellipse">
          <a:avLst/>
        </a:prstGeom>
        <a:solidFill>
          <a:schemeClr val="accent6">
            <a:shade val="80000"/>
            <a:alpha val="50000"/>
            <a:hueOff val="65812"/>
            <a:satOff val="-18977"/>
            <a:lumOff val="21824"/>
            <a:alphaOff val="0"/>
          </a:schemeClr>
        </a:soli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 dirty="0"/>
            <a:t>   </a:t>
          </a:r>
        </a:p>
      </dsp:txBody>
      <dsp:txXfrm>
        <a:off x="3212750" y="913954"/>
        <a:ext cx="1540473" cy="1412100"/>
      </dsp:txXfrm>
    </dsp:sp>
    <dsp:sp modelId="{DA76E513-C3E2-4A89-A68A-AA44B3ADA761}">
      <dsp:nvSpPr>
        <dsp:cNvPr id="0" name=""/>
        <dsp:cNvSpPr/>
      </dsp:nvSpPr>
      <dsp:spPr>
        <a:xfrm>
          <a:off x="2132249" y="153003"/>
          <a:ext cx="3158048" cy="2615313"/>
        </a:xfrm>
        <a:prstGeom prst="ellipse">
          <a:avLst/>
        </a:prstGeom>
        <a:solidFill>
          <a:schemeClr val="accent6">
            <a:shade val="80000"/>
            <a:alpha val="50000"/>
            <a:hueOff val="131624"/>
            <a:satOff val="-37953"/>
            <a:lumOff val="43647"/>
            <a:alphaOff val="0"/>
          </a:schemeClr>
        </a:soli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447675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 </a:t>
          </a:r>
          <a:r>
            <a:rPr lang="en-US" sz="2400" kern="1200" dirty="0"/>
            <a:t>Designer’s model; System image; User’s model</a:t>
          </a:r>
          <a:endParaRPr lang="en-US" sz="2000" kern="1200" dirty="0"/>
        </a:p>
      </dsp:txBody>
      <dsp:txXfrm>
        <a:off x="2429632" y="828625"/>
        <a:ext cx="1894828" cy="143842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4198972-73C8-9327-0850-18A6425134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542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55A2EB-01C3-20E0-FF45-07CCC86724F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542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D1EC30-5B0B-48D0-A1A8-66A96720DF24}" type="datetimeFigureOut">
              <a:rPr lang="en-US" smtClean="0"/>
              <a:t>7/29/2026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C50A84-CDF8-9D1C-7599-D1B543581C0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378824"/>
            <a:ext cx="2945659" cy="49542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AAFBD2-1F7B-DB18-5994-6D22C6743F9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50443" y="9378824"/>
            <a:ext cx="2945659" cy="49542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8FBFCE-2205-4B9C-81E5-532E0690D8C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87311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542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542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F68A4D-42A7-45F7-9930-00E8DCB48D7E}" type="datetimeFigureOut">
              <a:rPr lang="en-US" smtClean="0"/>
              <a:t>7/29/2026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36563" y="1233488"/>
            <a:ext cx="5924550" cy="3333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51983"/>
            <a:ext cx="5438140" cy="3887986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378824"/>
            <a:ext cx="2945659" cy="49542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378824"/>
            <a:ext cx="2945659" cy="49542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DD6F49-EBB7-4CCF-97A8-E526BB28BB6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71936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00AA04CA-6D91-004C-FA88-4221A31A77F6}"/>
              </a:ext>
            </a:extLst>
          </p:cNvPr>
          <p:cNvGrpSpPr/>
          <p:nvPr/>
        </p:nvGrpSpPr>
        <p:grpSpPr>
          <a:xfrm>
            <a:off x="1524" y="4777054"/>
            <a:ext cx="12190476" cy="230457"/>
            <a:chOff x="1524" y="486404"/>
            <a:chExt cx="12190476" cy="230457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6C317687-1EB3-6E94-A975-D3BE67105093}"/>
                </a:ext>
              </a:extLst>
            </p:cNvPr>
            <p:cNvCxnSpPr>
              <a:cxnSpLocks/>
            </p:cNvCxnSpPr>
            <p:nvPr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6FA8497D-927F-1F00-CAA6-850ED9ACF360}"/>
                </a:ext>
              </a:extLst>
            </p:cNvPr>
            <p:cNvCxnSpPr>
              <a:cxnSpLocks/>
            </p:cNvCxnSpPr>
            <p:nvPr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" y="5218032"/>
            <a:ext cx="11460480" cy="786384"/>
          </a:xfrm>
        </p:spPr>
        <p:txBody>
          <a:bodyPr anchor="b">
            <a:normAutofit/>
          </a:bodyPr>
          <a:lstStyle>
            <a:lvl1pPr algn="l"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760" y="5972629"/>
            <a:ext cx="11460480" cy="480373"/>
          </a:xfrm>
        </p:spPr>
        <p:txBody>
          <a:bodyPr anchor="t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12191999" cy="4777054"/>
          </a:xfr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14979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11320"/>
            <a:ext cx="10653578" cy="1132258"/>
          </a:xfrm>
        </p:spPr>
        <p:txBody>
          <a:bodyPr anchor="b" anchorCtr="0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5EE7F1B-976D-3ABC-105B-153A80975A9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66928" y="6309360"/>
            <a:ext cx="1371600" cy="365760"/>
          </a:xfrm>
        </p:spPr>
        <p:txBody>
          <a:bodyPr/>
          <a:lstStyle/>
          <a:p>
            <a:r>
              <a:rPr lang="en-US"/>
              <a:t>30 July 2026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2BAF71-3D3C-DFB3-0251-27F1B866D7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515967" y="6309360"/>
            <a:ext cx="2805405" cy="365125"/>
          </a:xfrm>
        </p:spPr>
        <p:txBody>
          <a:bodyPr/>
          <a:lstStyle/>
          <a:p>
            <a:r>
              <a:rPr lang="en-US"/>
              <a:t>Chap 3: Conceptualising interaction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D728C4D-5809-FB9D-495E-3C24CD20F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1608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0080842-8B21-79F6-5E17-600AD47CB464}"/>
              </a:ext>
            </a:extLst>
          </p:cNvPr>
          <p:cNvCxnSpPr>
            <a:cxnSpLocks/>
          </p:cNvCxnSpPr>
          <p:nvPr userDrawn="1"/>
        </p:nvCxnSpPr>
        <p:spPr>
          <a:xfrm>
            <a:off x="1524" y="1521917"/>
            <a:ext cx="12188952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69584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14F8D86E-5D70-7185-C411-C71D956B9C53}"/>
              </a:ext>
            </a:extLst>
          </p:cNvPr>
          <p:cNvGrpSpPr/>
          <p:nvPr userDrawn="1"/>
        </p:nvGrpSpPr>
        <p:grpSpPr>
          <a:xfrm>
            <a:off x="762" y="4323710"/>
            <a:ext cx="12190476" cy="230457"/>
            <a:chOff x="1524" y="486404"/>
            <a:chExt cx="12190476" cy="230457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92226F6-839F-E0FD-4A1B-F028A504415C}"/>
                </a:ext>
              </a:extLst>
            </p:cNvPr>
            <p:cNvCxnSpPr>
              <a:cxnSpLocks/>
            </p:cNvCxnSpPr>
            <p:nvPr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D3AA5B1-AF38-6DBD-00FF-264F5F3B6804}"/>
                </a:ext>
              </a:extLst>
            </p:cNvPr>
            <p:cNvCxnSpPr>
              <a:cxnSpLocks/>
            </p:cNvCxnSpPr>
            <p:nvPr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F8883CA6-E205-E263-764B-64C61C1320D0}"/>
              </a:ext>
            </a:extLst>
          </p:cNvPr>
          <p:cNvGrpSpPr/>
          <p:nvPr userDrawn="1"/>
        </p:nvGrpSpPr>
        <p:grpSpPr>
          <a:xfrm>
            <a:off x="1524" y="486404"/>
            <a:ext cx="12190476" cy="230457"/>
            <a:chOff x="1524" y="486404"/>
            <a:chExt cx="12190476" cy="230457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30BE2DC9-8E74-FFAE-BD8E-F04D7AF773E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90740C90-E1CD-A152-9536-FF1D3721A0D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82583" y="984562"/>
            <a:ext cx="7551109" cy="3071446"/>
          </a:xfrm>
        </p:spPr>
        <p:txBody>
          <a:bodyPr anchor="ctr" anchorCtr="0">
            <a:noAutofit/>
          </a:bodyPr>
          <a:lstStyle>
            <a:lvl1pPr algn="l">
              <a:lnSpc>
                <a:spcPct val="75000"/>
              </a:lnSpc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82582" y="4771572"/>
            <a:ext cx="5943600" cy="1188720"/>
          </a:xfrm>
        </p:spPr>
        <p:txBody>
          <a:bodyPr anchor="b" anchorCtr="0">
            <a:normAutofit/>
          </a:bodyPr>
          <a:lstStyle>
            <a:lvl1pPr marL="0" indent="0" algn="l">
              <a:buNone/>
              <a:defRPr sz="2400" b="0" i="1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A6C9C7-A264-237A-7F3C-46E6A7A9646D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9171930" y="5417288"/>
            <a:ext cx="1645920" cy="576072"/>
          </a:xfrm>
          <a:prstGeom prst="roundRect">
            <a:avLst>
              <a:gd name="adj" fmla="val 50000"/>
            </a:avLst>
          </a:prstGeom>
          <a:ln>
            <a:solidFill>
              <a:schemeClr val="tx1"/>
            </a:solidFill>
          </a:ln>
        </p:spPr>
        <p:txBody>
          <a:bodyPr/>
          <a:lstStyle>
            <a:lvl1pPr algn="ctr">
              <a:defRPr sz="1800">
                <a:latin typeface="+mn-lt"/>
              </a:defRPr>
            </a:lvl1pPr>
          </a:lstStyle>
          <a:p>
            <a:r>
              <a:rPr lang="en-US"/>
              <a:t>30 July 2026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87419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E38B1156-C178-1504-109B-CF8ADAE9B475}"/>
              </a:ext>
            </a:extLst>
          </p:cNvPr>
          <p:cNvGrpSpPr/>
          <p:nvPr/>
        </p:nvGrpSpPr>
        <p:grpSpPr>
          <a:xfrm rot="5400000">
            <a:off x="3278777" y="3310128"/>
            <a:ext cx="6858000" cy="228600"/>
            <a:chOff x="1524" y="486404"/>
            <a:chExt cx="12190476" cy="230457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E1463BD2-DAB2-AF5C-4D67-BA2B1F64FEC1}"/>
                </a:ext>
              </a:extLst>
            </p:cNvPr>
            <p:cNvCxnSpPr>
              <a:cxnSpLocks/>
            </p:cNvCxnSpPr>
            <p:nvPr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43B5A769-74D3-8C05-3657-37504461DBD7}"/>
                </a:ext>
              </a:extLst>
            </p:cNvPr>
            <p:cNvCxnSpPr>
              <a:cxnSpLocks/>
            </p:cNvCxnSpPr>
            <p:nvPr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68896" y="1129554"/>
            <a:ext cx="4361688" cy="3475236"/>
          </a:xfrm>
        </p:spPr>
        <p:txBody>
          <a:bodyPr anchor="b">
            <a:noAutofit/>
          </a:bodyPr>
          <a:lstStyle>
            <a:lvl1pPr algn="l"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68897" y="4731335"/>
            <a:ext cx="4206240" cy="1184585"/>
          </a:xfrm>
        </p:spPr>
        <p:txBody>
          <a:bodyPr anchor="t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584950" cy="6858000"/>
          </a:xfr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6F58139-7A1B-13F8-B5B6-155C0375F829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7168896" y="557784"/>
            <a:ext cx="1371600" cy="365760"/>
          </a:xfrm>
        </p:spPr>
        <p:txBody>
          <a:bodyPr/>
          <a:lstStyle/>
          <a:p>
            <a:r>
              <a:rPr lang="en-US"/>
              <a:t>30 July 2026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D89D19-6D0E-1D65-68E9-F2021472CEC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7631336" y="6117336"/>
            <a:ext cx="2805405" cy="365125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Chap 3: Conceptualising interaction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A150C9A-6B16-7549-61C9-F153E20572A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7168896" y="6117336"/>
            <a:ext cx="429207" cy="365125"/>
          </a:xfrm>
        </p:spPr>
        <p:txBody>
          <a:bodyPr/>
          <a:lstStyle>
            <a:lvl1pPr algn="l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46599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" y="411480"/>
            <a:ext cx="4654296" cy="373989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760" y="4206240"/>
            <a:ext cx="4206240" cy="138074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596128" y="0"/>
            <a:ext cx="6595872" cy="6858000"/>
          </a:xfr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25CD18-F1A3-CBD0-2E24-E3B85CEA969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365760" y="6309360"/>
            <a:ext cx="1371600" cy="365760"/>
          </a:xfrm>
        </p:spPr>
        <p:txBody>
          <a:bodyPr/>
          <a:lstStyle/>
          <a:p>
            <a:r>
              <a:rPr lang="en-US"/>
              <a:t>30 July 2026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1AFE02-1698-14D9-6D95-D7B05BD0216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1835208" y="6309360"/>
            <a:ext cx="2805405" cy="365125"/>
          </a:xfrm>
        </p:spPr>
        <p:txBody>
          <a:bodyPr/>
          <a:lstStyle/>
          <a:p>
            <a:r>
              <a:rPr lang="en-US"/>
              <a:t>Chap 3: Conceptualising interaction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A23E1E-7DF2-A895-FD0A-B6B12868AF2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4590849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7F3FC25D-52EB-4469-84DC-4AC70D4D7DD2}"/>
              </a:ext>
            </a:extLst>
          </p:cNvPr>
          <p:cNvGrpSpPr/>
          <p:nvPr/>
        </p:nvGrpSpPr>
        <p:grpSpPr>
          <a:xfrm rot="5400000">
            <a:off x="2038314" y="3314697"/>
            <a:ext cx="6858000" cy="228600"/>
            <a:chOff x="1524" y="486404"/>
            <a:chExt cx="12190476" cy="230457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0E0701D7-BBAE-AF7D-1911-C1EF77C20BBC}"/>
                </a:ext>
              </a:extLst>
            </p:cNvPr>
            <p:cNvCxnSpPr>
              <a:cxnSpLocks/>
            </p:cNvCxnSpPr>
            <p:nvPr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445DCD47-D7D6-468D-61EF-A698DA3D829C}"/>
                </a:ext>
              </a:extLst>
            </p:cNvPr>
            <p:cNvCxnSpPr>
              <a:cxnSpLocks/>
            </p:cNvCxnSpPr>
            <p:nvPr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7805868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56B9B18D-498E-8BF2-85F9-CECC6B1E2F84}"/>
              </a:ext>
            </a:extLst>
          </p:cNvPr>
          <p:cNvGrpSpPr/>
          <p:nvPr userDrawn="1"/>
        </p:nvGrpSpPr>
        <p:grpSpPr>
          <a:xfrm>
            <a:off x="1524" y="621942"/>
            <a:ext cx="12189714" cy="5624442"/>
            <a:chOff x="1524" y="679790"/>
            <a:chExt cx="12189714" cy="5624442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D296FE84-0A13-A29F-A4E8-292742379ADB}"/>
                </a:ext>
              </a:extLst>
            </p:cNvPr>
            <p:cNvCxnSpPr>
              <a:cxnSpLocks/>
            </p:cNvCxnSpPr>
            <p:nvPr/>
          </p:nvCxnSpPr>
          <p:spPr>
            <a:xfrm>
              <a:off x="1524" y="679790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609D638E-5BD7-A449-2EFE-F99BFA446FBE}"/>
                </a:ext>
              </a:extLst>
            </p:cNvPr>
            <p:cNvCxnSpPr>
              <a:cxnSpLocks/>
            </p:cNvCxnSpPr>
            <p:nvPr/>
          </p:nvCxnSpPr>
          <p:spPr>
            <a:xfrm>
              <a:off x="2286" y="6293907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BFBA7D1E-DA33-A2FA-A81A-D6EB828F4482}"/>
                </a:ext>
              </a:extLst>
            </p:cNvPr>
            <p:cNvGrpSpPr/>
            <p:nvPr/>
          </p:nvGrpSpPr>
          <p:grpSpPr>
            <a:xfrm rot="16200000">
              <a:off x="3281050" y="3377216"/>
              <a:ext cx="5623560" cy="230471"/>
              <a:chOff x="1517" y="-1102564"/>
              <a:chExt cx="12190483" cy="230471"/>
            </a:xfrm>
          </p:grpSpPr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69023D91-CD23-FCDB-CD80-1285134E95E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41" y="-1102564"/>
                <a:ext cx="12188959" cy="0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F101D74D-C07B-E264-91B1-BFC25D1CC62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17" y="-872093"/>
                <a:ext cx="12188959" cy="0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8517" y="1559052"/>
            <a:ext cx="4480560" cy="3739896"/>
          </a:xfrm>
        </p:spPr>
        <p:txBody>
          <a:bodyPr anchor="ctr" anchorCtr="0">
            <a:normAutofit/>
          </a:bodyPr>
          <a:lstStyle>
            <a:lvl1pPr algn="ctr">
              <a:lnSpc>
                <a:spcPct val="75000"/>
              </a:lnSpc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6208065" y="627418"/>
            <a:ext cx="5983935" cy="5596128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l="1" r="1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83152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and D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14F8D86E-5D70-7185-C411-C71D956B9C53}"/>
              </a:ext>
            </a:extLst>
          </p:cNvPr>
          <p:cNvGrpSpPr/>
          <p:nvPr userDrawn="1"/>
        </p:nvGrpSpPr>
        <p:grpSpPr>
          <a:xfrm>
            <a:off x="762" y="4323710"/>
            <a:ext cx="12190476" cy="230457"/>
            <a:chOff x="1524" y="486404"/>
            <a:chExt cx="12190476" cy="230457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92226F6-839F-E0FD-4A1B-F028A504415C}"/>
                </a:ext>
              </a:extLst>
            </p:cNvPr>
            <p:cNvCxnSpPr>
              <a:cxnSpLocks/>
            </p:cNvCxnSpPr>
            <p:nvPr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D3AA5B1-AF38-6DBD-00FF-264F5F3B6804}"/>
                </a:ext>
              </a:extLst>
            </p:cNvPr>
            <p:cNvCxnSpPr>
              <a:cxnSpLocks/>
            </p:cNvCxnSpPr>
            <p:nvPr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38C3CA0-C363-69D3-827F-AF038DF1A90C}"/>
              </a:ext>
            </a:extLst>
          </p:cNvPr>
          <p:cNvCxnSpPr>
            <a:cxnSpLocks/>
          </p:cNvCxnSpPr>
          <p:nvPr/>
        </p:nvCxnSpPr>
        <p:spPr>
          <a:xfrm>
            <a:off x="7823179" y="4554167"/>
            <a:ext cx="0" cy="2303833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F8883CA6-E205-E263-764B-64C61C1320D0}"/>
              </a:ext>
            </a:extLst>
          </p:cNvPr>
          <p:cNvGrpSpPr/>
          <p:nvPr userDrawn="1"/>
        </p:nvGrpSpPr>
        <p:grpSpPr>
          <a:xfrm>
            <a:off x="1524" y="486404"/>
            <a:ext cx="12190476" cy="230457"/>
            <a:chOff x="1524" y="486404"/>
            <a:chExt cx="12190476" cy="230457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30BE2DC9-8E74-FFAE-BD8E-F04D7AF773E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90740C90-E1CD-A152-9536-FF1D3721A0D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82583" y="984562"/>
            <a:ext cx="7551109" cy="3071446"/>
          </a:xfrm>
        </p:spPr>
        <p:txBody>
          <a:bodyPr anchor="ctr" anchorCtr="0">
            <a:noAutofit/>
          </a:bodyPr>
          <a:lstStyle>
            <a:lvl1pPr algn="l">
              <a:lnSpc>
                <a:spcPct val="75000"/>
              </a:lnSpc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EFCA6BCB-48B7-F81F-5A99-F96883C67B4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4572000"/>
            <a:ext cx="12191999" cy="2286000"/>
          </a:xfrm>
          <a:custGeom>
            <a:avLst/>
            <a:gdLst>
              <a:gd name="connsiteX0" fmla="*/ 7837048 w 12191999"/>
              <a:gd name="connsiteY0" fmla="*/ 0 h 2286000"/>
              <a:gd name="connsiteX1" fmla="*/ 12191999 w 12191999"/>
              <a:gd name="connsiteY1" fmla="*/ 0 h 2286000"/>
              <a:gd name="connsiteX2" fmla="*/ 12191999 w 12191999"/>
              <a:gd name="connsiteY2" fmla="*/ 2286000 h 2286000"/>
              <a:gd name="connsiteX3" fmla="*/ 7837048 w 12191999"/>
              <a:gd name="connsiteY3" fmla="*/ 2286000 h 2286000"/>
              <a:gd name="connsiteX4" fmla="*/ 0 w 12191999"/>
              <a:gd name="connsiteY4" fmla="*/ 0 h 2286000"/>
              <a:gd name="connsiteX5" fmla="*/ 7809616 w 12191999"/>
              <a:gd name="connsiteY5" fmla="*/ 0 h 2286000"/>
              <a:gd name="connsiteX6" fmla="*/ 7809616 w 12191999"/>
              <a:gd name="connsiteY6" fmla="*/ 2286000 h 2286000"/>
              <a:gd name="connsiteX7" fmla="*/ 0 w 12191999"/>
              <a:gd name="connsiteY7" fmla="*/ 2286000 h 228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1999" h="2286000">
                <a:moveTo>
                  <a:pt x="7837048" y="0"/>
                </a:moveTo>
                <a:lnTo>
                  <a:pt x="12191999" y="0"/>
                </a:lnTo>
                <a:lnTo>
                  <a:pt x="12191999" y="2286000"/>
                </a:lnTo>
                <a:lnTo>
                  <a:pt x="7837048" y="2286000"/>
                </a:lnTo>
                <a:close/>
                <a:moveTo>
                  <a:pt x="0" y="0"/>
                </a:moveTo>
                <a:lnTo>
                  <a:pt x="7809616" y="0"/>
                </a:lnTo>
                <a:lnTo>
                  <a:pt x="7809616" y="2286000"/>
                </a:lnTo>
                <a:lnTo>
                  <a:pt x="0" y="2286000"/>
                </a:lnTo>
                <a:close/>
              </a:path>
            </a:pathLst>
          </a:custGeo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82582" y="4771572"/>
            <a:ext cx="5943600" cy="1188720"/>
          </a:xfrm>
        </p:spPr>
        <p:txBody>
          <a:bodyPr anchor="b" anchorCtr="0">
            <a:normAutofit/>
          </a:bodyPr>
          <a:lstStyle>
            <a:lvl1pPr marL="0" indent="0" algn="l">
              <a:buNone/>
              <a:defRPr sz="2400" b="0" i="1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6AB4C54-8CF8-4055-8919-69F08126C23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71930" y="5417288"/>
            <a:ext cx="1645920" cy="576072"/>
          </a:xfrm>
          <a:custGeom>
            <a:avLst/>
            <a:gdLst>
              <a:gd name="connsiteX0" fmla="*/ 288036 w 1645920"/>
              <a:gd name="connsiteY0" fmla="*/ 0 h 576072"/>
              <a:gd name="connsiteX1" fmla="*/ 1357884 w 1645920"/>
              <a:gd name="connsiteY1" fmla="*/ 0 h 576072"/>
              <a:gd name="connsiteX2" fmla="*/ 1645920 w 1645920"/>
              <a:gd name="connsiteY2" fmla="*/ 288036 h 576072"/>
              <a:gd name="connsiteX3" fmla="*/ 1357884 w 1645920"/>
              <a:gd name="connsiteY3" fmla="*/ 576072 h 576072"/>
              <a:gd name="connsiteX4" fmla="*/ 288036 w 1645920"/>
              <a:gd name="connsiteY4" fmla="*/ 576072 h 576072"/>
              <a:gd name="connsiteX5" fmla="*/ 0 w 1645920"/>
              <a:gd name="connsiteY5" fmla="*/ 288036 h 576072"/>
              <a:gd name="connsiteX6" fmla="*/ 288036 w 1645920"/>
              <a:gd name="connsiteY6" fmla="*/ 0 h 576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45920" h="576072">
                <a:moveTo>
                  <a:pt x="288036" y="0"/>
                </a:moveTo>
                <a:lnTo>
                  <a:pt x="1357884" y="0"/>
                </a:lnTo>
                <a:cubicBezTo>
                  <a:pt x="1516962" y="0"/>
                  <a:pt x="1645920" y="128958"/>
                  <a:pt x="1645920" y="288036"/>
                </a:cubicBezTo>
                <a:cubicBezTo>
                  <a:pt x="1645920" y="447114"/>
                  <a:pt x="1516962" y="576072"/>
                  <a:pt x="1357884" y="576072"/>
                </a:cubicBezTo>
                <a:lnTo>
                  <a:pt x="288036" y="576072"/>
                </a:lnTo>
                <a:cubicBezTo>
                  <a:pt x="128958" y="576072"/>
                  <a:pt x="0" y="447114"/>
                  <a:pt x="0" y="288036"/>
                </a:cubicBezTo>
                <a:cubicBezTo>
                  <a:pt x="0" y="128958"/>
                  <a:pt x="128958" y="0"/>
                  <a:pt x="288036" y="0"/>
                </a:cubicBezTo>
                <a:close/>
              </a:path>
            </a:pathLst>
          </a:custGeom>
          <a:ln w="15875">
            <a:solidFill>
              <a:schemeClr val="tx1"/>
            </a:solidFill>
          </a:ln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pPr lvl="0"/>
            <a:r>
              <a:rPr lang="en-US" dirty="0"/>
              <a:t>M/D/</a:t>
            </a:r>
            <a:r>
              <a:rPr lang="en-US" dirty="0" err="1"/>
              <a:t>YYYY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66973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548642"/>
            <a:ext cx="7478991" cy="3635797"/>
          </a:xfrm>
        </p:spPr>
        <p:txBody>
          <a:bodyPr anchor="t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73553"/>
            <a:ext cx="6655522" cy="1545336"/>
          </a:xfrm>
        </p:spPr>
        <p:txBody>
          <a:bodyPr anchor="b">
            <a:normAutofit/>
          </a:bodyPr>
          <a:lstStyle>
            <a:lvl1pPr marL="0" indent="0" algn="l">
              <a:buNone/>
              <a:defRPr sz="2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10A6910-53B1-887E-1BB5-00A1F4FB4BA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66928" y="6309360"/>
            <a:ext cx="1371600" cy="365760"/>
          </a:xfrm>
        </p:spPr>
        <p:txBody>
          <a:bodyPr/>
          <a:lstStyle/>
          <a:p>
            <a:r>
              <a:rPr lang="en-US"/>
              <a:t>30 July 2026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41F0465-4D18-9B18-DD2D-EDB2FA859B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7249" y="6309360"/>
            <a:ext cx="2805405" cy="365125"/>
          </a:xfrm>
        </p:spPr>
        <p:txBody>
          <a:bodyPr/>
          <a:lstStyle/>
          <a:p>
            <a:r>
              <a:rPr lang="en-US"/>
              <a:t>Chap 3: Conceptualising interaction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FBFAC0C-3553-79B8-C54F-1755C5A97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2890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4210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8008" y="1610379"/>
            <a:ext cx="7876287" cy="3592629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8368" y="5373278"/>
            <a:ext cx="7375466" cy="1014984"/>
          </a:xfrm>
        </p:spPr>
        <p:txBody>
          <a:bodyPr anchor="t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30 July 2026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Chap 3: Conceptualising interaction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80041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1200" y="1318302"/>
            <a:ext cx="8229600" cy="2621154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4039647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2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30 July 2026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Chap 3: Conceptualising interaction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58931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7382" y="2006614"/>
            <a:ext cx="6039983" cy="2844773"/>
          </a:xfrm>
        </p:spPr>
        <p:txBody>
          <a:bodyPr anchor="ctr" anchorCtr="0">
            <a:normAutofit/>
          </a:bodyPr>
          <a:lstStyle>
            <a:lvl1pPr algn="l">
              <a:lnSpc>
                <a:spcPct val="75000"/>
              </a:lnSpc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Picture Placeholder 10">
            <a:extLst>
              <a:ext uri="{FF2B5EF4-FFF2-40B4-BE49-F238E27FC236}">
                <a16:creationId xmlns:a16="http://schemas.microsoft.com/office/drawing/2014/main" id="{DE41C122-229A-A3B7-CB92-9CC9FEEDE69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797013" y="633794"/>
            <a:ext cx="4394987" cy="5590412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r="35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4D7E0C5C-1BE1-9C59-13F8-71572AFB5DAC}"/>
              </a:ext>
            </a:extLst>
          </p:cNvPr>
          <p:cNvGrpSpPr/>
          <p:nvPr userDrawn="1"/>
        </p:nvGrpSpPr>
        <p:grpSpPr>
          <a:xfrm>
            <a:off x="1524" y="621942"/>
            <a:ext cx="12189714" cy="5624439"/>
            <a:chOff x="1524" y="679790"/>
            <a:chExt cx="12189714" cy="5624439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50D678C-01CA-A64D-5585-F7E3AA7C4A38}"/>
                </a:ext>
              </a:extLst>
            </p:cNvPr>
            <p:cNvCxnSpPr>
              <a:cxnSpLocks/>
            </p:cNvCxnSpPr>
            <p:nvPr/>
          </p:nvCxnSpPr>
          <p:spPr>
            <a:xfrm>
              <a:off x="1524" y="679790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00D1019-0BE7-9D29-EEC9-3237A64DE3A1}"/>
                </a:ext>
              </a:extLst>
            </p:cNvPr>
            <p:cNvCxnSpPr>
              <a:cxnSpLocks/>
            </p:cNvCxnSpPr>
            <p:nvPr/>
          </p:nvCxnSpPr>
          <p:spPr>
            <a:xfrm>
              <a:off x="2286" y="6293907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5190C5E0-F7D4-5497-E9DB-1F45EC3EA3B2}"/>
                </a:ext>
              </a:extLst>
            </p:cNvPr>
            <p:cNvGrpSpPr/>
            <p:nvPr/>
          </p:nvGrpSpPr>
          <p:grpSpPr>
            <a:xfrm rot="16200000">
              <a:off x="4852208" y="3375142"/>
              <a:ext cx="5623560" cy="234613"/>
              <a:chOff x="1524" y="466526"/>
              <a:chExt cx="12190480" cy="234613"/>
            </a:xfrm>
          </p:grpSpPr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4A206331-1C98-0F93-3908-A2F1D1F6EBE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49" y="466526"/>
                <a:ext cx="12188955" cy="0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3588DFBA-D7D1-2F7C-CC70-E8CD8B55C94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24" y="701139"/>
                <a:ext cx="12188956" cy="0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38622997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7382" y="4081369"/>
            <a:ext cx="10733872" cy="2059770"/>
          </a:xfrm>
        </p:spPr>
        <p:txBody>
          <a:bodyPr anchor="b" anchorCtr="0">
            <a:normAutofit/>
          </a:bodyPr>
          <a:lstStyle>
            <a:lvl1pPr algn="l">
              <a:lnSpc>
                <a:spcPct val="75000"/>
              </a:lnSpc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10">
            <a:extLst>
              <a:ext uri="{FF2B5EF4-FFF2-40B4-BE49-F238E27FC236}">
                <a16:creationId xmlns:a16="http://schemas.microsoft.com/office/drawing/2014/main" id="{68840BA8-F5D8-0705-FEEC-A013F601E9E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631686"/>
            <a:ext cx="12192000" cy="2883583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29675293-EE24-9B9A-05FE-F518D184151B}"/>
              </a:ext>
            </a:extLst>
          </p:cNvPr>
          <p:cNvGrpSpPr/>
          <p:nvPr/>
        </p:nvGrpSpPr>
        <p:grpSpPr>
          <a:xfrm>
            <a:off x="1524" y="393192"/>
            <a:ext cx="12190476" cy="230457"/>
            <a:chOff x="1524" y="486404"/>
            <a:chExt cx="12190476" cy="230457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42AC33AC-4C52-DCDB-1568-A656B92B6DB3}"/>
                </a:ext>
              </a:extLst>
            </p:cNvPr>
            <p:cNvCxnSpPr>
              <a:cxnSpLocks/>
            </p:cNvCxnSpPr>
            <p:nvPr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45E6E8AA-9E5D-2CD0-1E00-7946B275A6E3}"/>
                </a:ext>
              </a:extLst>
            </p:cNvPr>
            <p:cNvCxnSpPr>
              <a:cxnSpLocks/>
            </p:cNvCxnSpPr>
            <p:nvPr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EB054126-09BE-4243-7F4C-B417B064C9C9}"/>
              </a:ext>
            </a:extLst>
          </p:cNvPr>
          <p:cNvGrpSpPr/>
          <p:nvPr/>
        </p:nvGrpSpPr>
        <p:grpSpPr>
          <a:xfrm>
            <a:off x="762" y="3526715"/>
            <a:ext cx="12190476" cy="230457"/>
            <a:chOff x="1524" y="486404"/>
            <a:chExt cx="12190476" cy="230457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F504626D-F989-3307-F577-891C0FB3E42B}"/>
                </a:ext>
              </a:extLst>
            </p:cNvPr>
            <p:cNvCxnSpPr>
              <a:cxnSpLocks/>
            </p:cNvCxnSpPr>
            <p:nvPr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F95BBC0-5863-88F8-8F0F-3F00C5E7F814}"/>
                </a:ext>
              </a:extLst>
            </p:cNvPr>
            <p:cNvCxnSpPr>
              <a:cxnSpLocks/>
            </p:cNvCxnSpPr>
            <p:nvPr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7373962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03520" y="2006614"/>
            <a:ext cx="6039983" cy="2844773"/>
          </a:xfrm>
        </p:spPr>
        <p:txBody>
          <a:bodyPr anchor="ctr" anchorCtr="0">
            <a:normAutofit/>
          </a:bodyPr>
          <a:lstStyle>
            <a:lvl1pPr algn="l">
              <a:lnSpc>
                <a:spcPct val="75000"/>
              </a:lnSpc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Picture Placeholder 10">
            <a:extLst>
              <a:ext uri="{FF2B5EF4-FFF2-40B4-BE49-F238E27FC236}">
                <a16:creationId xmlns:a16="http://schemas.microsoft.com/office/drawing/2014/main" id="{DE41C122-229A-A3B7-CB92-9CC9FEEDE69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633794"/>
            <a:ext cx="4394987" cy="5590412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A92B1D98-8540-A2E0-960F-3096393D712E}"/>
              </a:ext>
            </a:extLst>
          </p:cNvPr>
          <p:cNvGrpSpPr/>
          <p:nvPr/>
        </p:nvGrpSpPr>
        <p:grpSpPr>
          <a:xfrm>
            <a:off x="1524" y="621942"/>
            <a:ext cx="12189714" cy="5624435"/>
            <a:chOff x="1524" y="621942"/>
            <a:chExt cx="12189714" cy="5624435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50D678C-01CA-A64D-5585-F7E3AA7C4A38}"/>
                </a:ext>
              </a:extLst>
            </p:cNvPr>
            <p:cNvCxnSpPr>
              <a:cxnSpLocks/>
            </p:cNvCxnSpPr>
            <p:nvPr/>
          </p:nvCxnSpPr>
          <p:spPr>
            <a:xfrm>
              <a:off x="1524" y="621942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00D1019-0BE7-9D29-EEC9-3237A64DE3A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286" y="6236059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5190C5E0-F7D4-5497-E9DB-1F45EC3EA3B2}"/>
                </a:ext>
              </a:extLst>
            </p:cNvPr>
            <p:cNvGrpSpPr/>
            <p:nvPr/>
          </p:nvGrpSpPr>
          <p:grpSpPr>
            <a:xfrm rot="16200000">
              <a:off x="1706663" y="3319368"/>
              <a:ext cx="5623560" cy="230457"/>
              <a:chOff x="1524" y="486404"/>
              <a:chExt cx="12190476" cy="230457"/>
            </a:xfrm>
          </p:grpSpPr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4A206331-1C98-0F93-3908-A2F1D1F6EBE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48" y="486404"/>
                <a:ext cx="12188952" cy="0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3588DFBA-D7D1-2F7C-CC70-E8CD8B55C94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24" y="716861"/>
                <a:ext cx="12188952" cy="0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32869586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910" y="779721"/>
            <a:ext cx="11314187" cy="1554480"/>
          </a:xfrm>
        </p:spPr>
        <p:txBody>
          <a:bodyPr anchor="b">
            <a:normAutofit/>
          </a:bodyPr>
          <a:lstStyle>
            <a:lvl1pPr algn="ctr"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EE3334D-C461-2466-9E8A-5CBF2D354A94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/>
              <a:t>30 July 2026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6C20070-9FE3-480D-6EDC-BEAFD99B5BD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Chap 3: Conceptualising interaction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CD7422-CEB6-84CA-0EAE-743F83C71B3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7910" y="2449473"/>
            <a:ext cx="11314187" cy="3689909"/>
          </a:xfrm>
        </p:spPr>
        <p:txBody>
          <a:bodyPr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2400"/>
            </a:lvl1pPr>
            <a:lvl2pPr marL="228600" indent="0" algn="l">
              <a:buFont typeface="Arial" panose="020B0604020202020204" pitchFamily="34" charset="0"/>
              <a:buNone/>
              <a:defRPr sz="2000"/>
            </a:lvl2pPr>
            <a:lvl3pPr marL="457200" indent="0" algn="l">
              <a:buFont typeface="Arial" panose="020B0604020202020204" pitchFamily="34" charset="0"/>
              <a:buNone/>
              <a:defRPr sz="1800"/>
            </a:lvl3pPr>
            <a:lvl4pPr marL="685800" indent="0" algn="l">
              <a:buFont typeface="Arial" panose="020B0604020202020204" pitchFamily="34" charset="0"/>
              <a:buNone/>
              <a:defRPr sz="1800"/>
            </a:lvl4pPr>
            <a:lvl5pPr marL="914400" indent="0" algn="l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589265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4270" y="2160947"/>
            <a:ext cx="2926080" cy="2509763"/>
          </a:xfrm>
        </p:spPr>
        <p:txBody>
          <a:bodyPr anchor="ctr" anchorCtr="0">
            <a:normAutofit/>
          </a:bodyPr>
          <a:lstStyle>
            <a:lvl1pPr algn="ctr"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66928" y="529008"/>
            <a:ext cx="429207" cy="365125"/>
          </a:xfrm>
        </p:spPr>
        <p:txBody>
          <a:bodyPr/>
          <a:lstStyle>
            <a:lvl1pPr algn="l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16594" y="525786"/>
            <a:ext cx="2473755" cy="365125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Chap 3: Conceptualising interaction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41510" y="5976691"/>
            <a:ext cx="1371600" cy="365760"/>
          </a:xfrm>
        </p:spPr>
        <p:txBody>
          <a:bodyPr/>
          <a:lstStyle/>
          <a:p>
            <a:r>
              <a:rPr lang="en-US"/>
              <a:t>30 July 2026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90F6233-054F-BC0F-2687-4169A06F767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064097" y="-1"/>
            <a:ext cx="8127902" cy="6857991"/>
          </a:xfrm>
          <a:custGeom>
            <a:avLst/>
            <a:gdLst>
              <a:gd name="connsiteX0" fmla="*/ 0 w 8127902"/>
              <a:gd name="connsiteY0" fmla="*/ 5461143 h 6857991"/>
              <a:gd name="connsiteX1" fmla="*/ 8127902 w 8127902"/>
              <a:gd name="connsiteY1" fmla="*/ 5461143 h 6857991"/>
              <a:gd name="connsiteX2" fmla="*/ 8127902 w 8127902"/>
              <a:gd name="connsiteY2" fmla="*/ 6857991 h 6857991"/>
              <a:gd name="connsiteX3" fmla="*/ 0 w 8127902"/>
              <a:gd name="connsiteY3" fmla="*/ 6857991 h 6857991"/>
              <a:gd name="connsiteX4" fmla="*/ 0 w 8127902"/>
              <a:gd name="connsiteY4" fmla="*/ 0 h 6857991"/>
              <a:gd name="connsiteX5" fmla="*/ 8127902 w 8127902"/>
              <a:gd name="connsiteY5" fmla="*/ 0 h 6857991"/>
              <a:gd name="connsiteX6" fmla="*/ 8127902 w 8127902"/>
              <a:gd name="connsiteY6" fmla="*/ 1379293 h 6857991"/>
              <a:gd name="connsiteX7" fmla="*/ 0 w 8127902"/>
              <a:gd name="connsiteY7" fmla="*/ 1379293 h 6857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127902" h="6857991">
                <a:moveTo>
                  <a:pt x="0" y="5461143"/>
                </a:moveTo>
                <a:lnTo>
                  <a:pt x="8127902" y="5461143"/>
                </a:lnTo>
                <a:lnTo>
                  <a:pt x="8127902" y="6857991"/>
                </a:lnTo>
                <a:lnTo>
                  <a:pt x="0" y="6857991"/>
                </a:lnTo>
                <a:close/>
                <a:moveTo>
                  <a:pt x="0" y="0"/>
                </a:moveTo>
                <a:lnTo>
                  <a:pt x="8127902" y="0"/>
                </a:lnTo>
                <a:lnTo>
                  <a:pt x="8127902" y="1379293"/>
                </a:lnTo>
                <a:lnTo>
                  <a:pt x="0" y="1379293"/>
                </a:lnTo>
                <a:close/>
              </a:path>
            </a:pathLst>
          </a:custGeo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t="3" r="37"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217437" y="1698171"/>
            <a:ext cx="7837714" cy="3442995"/>
          </a:xfrm>
        </p:spPr>
        <p:txBody>
          <a:bodyPr anchor="ctr" anchorCtr="0">
            <a:normAutofit/>
          </a:bodyPr>
          <a:lstStyle>
            <a:lvl1pPr marL="0" indent="0">
              <a:buFont typeface="+mj-lt"/>
              <a:buNone/>
              <a:defRPr sz="2400" i="1"/>
            </a:lvl1pPr>
            <a:lvl2pPr marL="228600" indent="0">
              <a:buFont typeface="+mj-lt"/>
              <a:buNone/>
              <a:defRPr sz="2000" i="1"/>
            </a:lvl2pPr>
            <a:lvl3pPr marL="457200" indent="0">
              <a:buFont typeface="+mj-lt"/>
              <a:buNone/>
              <a:defRPr sz="1800" i="1"/>
            </a:lvl3pPr>
            <a:lvl4pPr marL="685800" indent="0">
              <a:buFont typeface="+mj-lt"/>
              <a:buNone/>
              <a:defRPr sz="1800" i="1"/>
            </a:lvl4pPr>
            <a:lvl5pPr marL="914400" indent="0">
              <a:buFont typeface="+mj-lt"/>
              <a:buNone/>
              <a:defRPr sz="1800" i="1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9AB01DA6-EC20-B4FD-9896-88A903B2EF0E}"/>
              </a:ext>
            </a:extLst>
          </p:cNvPr>
          <p:cNvGrpSpPr/>
          <p:nvPr/>
        </p:nvGrpSpPr>
        <p:grpSpPr>
          <a:xfrm>
            <a:off x="1524" y="5230685"/>
            <a:ext cx="12190476" cy="230457"/>
            <a:chOff x="1524" y="486404"/>
            <a:chExt cx="12190476" cy="230457"/>
          </a:xfrm>
        </p:grpSpPr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F52BF8E0-963D-EE28-8E0F-64F235D1FE6C}"/>
                </a:ext>
              </a:extLst>
            </p:cNvPr>
            <p:cNvCxnSpPr>
              <a:cxnSpLocks/>
            </p:cNvCxnSpPr>
            <p:nvPr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0CA08CA2-17E1-CFE8-9645-762AB31D7222}"/>
                </a:ext>
              </a:extLst>
            </p:cNvPr>
            <p:cNvCxnSpPr>
              <a:cxnSpLocks/>
            </p:cNvCxnSpPr>
            <p:nvPr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8F51B7BD-9CD6-5727-EAB2-3C568C99E7B1}"/>
              </a:ext>
            </a:extLst>
          </p:cNvPr>
          <p:cNvGrpSpPr/>
          <p:nvPr userDrawn="1"/>
        </p:nvGrpSpPr>
        <p:grpSpPr>
          <a:xfrm>
            <a:off x="1524" y="1379292"/>
            <a:ext cx="12190476" cy="230457"/>
            <a:chOff x="1524" y="486404"/>
            <a:chExt cx="12190476" cy="230457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D6BAA12E-4487-D093-61E6-6A6F9527EBF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35D70512-C761-310A-0904-A3EDB21E533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9CF23D4-7D4B-4FD2-FD38-61B2A04E2F20}"/>
              </a:ext>
            </a:extLst>
          </p:cNvPr>
          <p:cNvCxnSpPr/>
          <p:nvPr userDrawn="1"/>
        </p:nvCxnSpPr>
        <p:spPr>
          <a:xfrm>
            <a:off x="4054620" y="-1"/>
            <a:ext cx="0" cy="6858001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024946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7999" y="844047"/>
            <a:ext cx="4764095" cy="1554480"/>
          </a:xfrm>
        </p:spPr>
        <p:txBody>
          <a:bodyPr anchor="b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9AC20259-235D-F9C3-3788-C1457976F5A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6099048" cy="6858000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03B212-19A7-1389-5D84-1493713BA481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6858000" y="187080"/>
            <a:ext cx="1371600" cy="365760"/>
          </a:xfrm>
        </p:spPr>
        <p:txBody>
          <a:bodyPr/>
          <a:lstStyle/>
          <a:p>
            <a:r>
              <a:rPr lang="en-US"/>
              <a:t>30 July 2026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2F619C-303A-EC07-5744-BCF0A158F37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Chap 3: Conceptualising interaction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C6015C-1958-8819-6CFA-C8CA9EF5FFA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57999" y="2593910"/>
            <a:ext cx="4764093" cy="4077010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2400"/>
            </a:lvl1pPr>
            <a:lvl2pPr marL="228600" indent="0">
              <a:buFont typeface="+mj-lt"/>
              <a:buNone/>
              <a:defRPr sz="2000"/>
            </a:lvl2pPr>
            <a:lvl3pPr marL="457200" indent="0">
              <a:buFont typeface="+mj-lt"/>
              <a:buNone/>
              <a:defRPr sz="1800"/>
            </a:lvl3pPr>
            <a:lvl4pPr marL="685800" indent="0">
              <a:buFont typeface="+mj-lt"/>
              <a:buNone/>
              <a:defRPr sz="1800"/>
            </a:lvl4pPr>
            <a:lvl5pPr>
              <a:buFont typeface="+mj-lt"/>
              <a:buNone/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E4FA13F-5EC9-D941-0DA6-5E8CB0B77475}"/>
              </a:ext>
            </a:extLst>
          </p:cNvPr>
          <p:cNvGrpSpPr/>
          <p:nvPr userDrawn="1"/>
        </p:nvGrpSpPr>
        <p:grpSpPr>
          <a:xfrm rot="5400000">
            <a:off x="2803644" y="3314697"/>
            <a:ext cx="6858000" cy="228600"/>
            <a:chOff x="1524" y="486404"/>
            <a:chExt cx="12190476" cy="230457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0A3204B7-F0CC-C537-75EC-860CCB08063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52ECDF8D-5807-D383-DD66-792A704EA22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910562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11320"/>
            <a:ext cx="10653578" cy="1132258"/>
          </a:xfrm>
        </p:spPr>
        <p:txBody>
          <a:bodyPr anchor="b" anchorCtr="0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5EE7F1B-976D-3ABC-105B-153A80975A9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66928" y="6309360"/>
            <a:ext cx="1371600" cy="365760"/>
          </a:xfrm>
        </p:spPr>
        <p:txBody>
          <a:bodyPr/>
          <a:lstStyle/>
          <a:p>
            <a:r>
              <a:rPr lang="en-US"/>
              <a:t>30 July 2026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2BAF71-3D3C-DFB3-0251-27F1B866D7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7249" y="6309360"/>
            <a:ext cx="2805405" cy="365125"/>
          </a:xfrm>
        </p:spPr>
        <p:txBody>
          <a:bodyPr/>
          <a:lstStyle/>
          <a:p>
            <a:r>
              <a:rPr lang="en-US"/>
              <a:t>Chap 3: Conceptualising interaction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D728C4D-5809-FB9D-495E-3C24CD20F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2890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47318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A9AFCA72-41CF-D05C-F8FB-8CAA627330D0}"/>
              </a:ext>
            </a:extLst>
          </p:cNvPr>
          <p:cNvGrpSpPr/>
          <p:nvPr userDrawn="1"/>
        </p:nvGrpSpPr>
        <p:grpSpPr>
          <a:xfrm>
            <a:off x="1524" y="-95213"/>
            <a:ext cx="12190476" cy="6858001"/>
            <a:chOff x="1524" y="-95213"/>
            <a:chExt cx="12190476" cy="6858001"/>
          </a:xfrm>
        </p:grpSpPr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7B29C259-F97A-8F67-400F-BC54EB15603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48" y="1745728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B2E4DE8A-5131-66D0-8011-8BFA0C904B9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4" y="1976185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E9C2E701-AF8D-7A3D-CC09-891E0AFB726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48" y="641045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F674796-E246-B6E4-B793-0B35356F892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4" y="6640908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4E8D2328-4643-C915-66E4-67530C6C8BA2}"/>
                </a:ext>
              </a:extLst>
            </p:cNvPr>
            <p:cNvCxnSpPr/>
            <p:nvPr userDrawn="1"/>
          </p:nvCxnSpPr>
          <p:spPr>
            <a:xfrm>
              <a:off x="2492580" y="-95213"/>
              <a:ext cx="0" cy="6858001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8555" y="552205"/>
            <a:ext cx="9265293" cy="1025576"/>
          </a:xfrm>
        </p:spPr>
        <p:txBody>
          <a:bodyPr anchor="b" anchorCtr="0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8" name="Date Placeholder 17">
            <a:extLst>
              <a:ext uri="{FF2B5EF4-FFF2-40B4-BE49-F238E27FC236}">
                <a16:creationId xmlns:a16="http://schemas.microsoft.com/office/drawing/2014/main" id="{41D407DA-00BD-2265-F634-419E75DA4E6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/>
              <a:t>30 July 2026</a:t>
            </a:r>
            <a:endParaRPr lang="en-US" dirty="0"/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CF15EF94-8F8C-0EF5-8EF2-5C4EA19564E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8899162" y="6336465"/>
            <a:ext cx="2805405" cy="365125"/>
          </a:xfrm>
        </p:spPr>
        <p:txBody>
          <a:bodyPr/>
          <a:lstStyle/>
          <a:p>
            <a:r>
              <a:rPr lang="en-US"/>
              <a:t>Chap 3: Conceptualising interaction</a:t>
            </a:r>
            <a:endParaRPr lang="en-US" dirty="0"/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8FA39EB6-444E-CBC6-AC9C-78183ED45C9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654803" y="6336465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668555" y="2206642"/>
            <a:ext cx="8766687" cy="4081930"/>
          </a:xfrm>
        </p:spPr>
        <p:txBody>
          <a:bodyPr/>
          <a:lstStyle>
            <a:lvl1pPr marL="0" indent="0">
              <a:spcBef>
                <a:spcPts val="600"/>
              </a:spcBef>
              <a:buNone/>
              <a:defRPr/>
            </a:lvl1pPr>
            <a:lvl2pPr marL="228600" indent="0">
              <a:spcBef>
                <a:spcPts val="600"/>
              </a:spcBef>
              <a:buNone/>
              <a:defRPr/>
            </a:lvl2pPr>
            <a:lvl3pPr marL="457200" indent="0">
              <a:spcBef>
                <a:spcPts val="600"/>
              </a:spcBef>
              <a:buNone/>
              <a:defRPr/>
            </a:lvl3pPr>
            <a:lvl4pPr marL="685800" indent="0">
              <a:spcBef>
                <a:spcPts val="600"/>
              </a:spcBef>
              <a:buNone/>
              <a:defRPr/>
            </a:lvl4pPr>
            <a:lvl5pPr marL="914400" indent="0">
              <a:spcBef>
                <a:spcPts val="600"/>
              </a:spcBef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050792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2413967"/>
            <a:ext cx="4325112" cy="2454796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30 July 2026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Chap 3: Conceptualising interaction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51713" y="1091681"/>
            <a:ext cx="6070384" cy="5579239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8321729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30 July 2026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Chap 3: Conceptualising interaction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783771"/>
            <a:ext cx="6102359" cy="5887149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E319BA5A-145D-ADF7-F0CD-A36CBD8A61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2413967"/>
            <a:ext cx="4325112" cy="2454796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3450558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1537853"/>
            <a:ext cx="4145582" cy="4638825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30 July 2026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Chap 3: Conceptualising interaction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1538288"/>
            <a:ext cx="5681662" cy="4818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9657203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1280160"/>
            <a:ext cx="4142232" cy="4940661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30 July 2026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Chap 3: Conceptualising interaction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22913" y="1280160"/>
            <a:ext cx="6159500" cy="53908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1500586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39"/>
            <a:ext cx="3494314" cy="5719639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8640" y="6309360"/>
            <a:ext cx="1371600" cy="365760"/>
          </a:xfrm>
        </p:spPr>
        <p:txBody>
          <a:bodyPr/>
          <a:lstStyle/>
          <a:p>
            <a:r>
              <a:rPr lang="en-US"/>
              <a:t>30 July 2026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7249" y="6309360"/>
            <a:ext cx="2805405" cy="365125"/>
          </a:xfrm>
        </p:spPr>
        <p:txBody>
          <a:bodyPr/>
          <a:lstStyle/>
          <a:p>
            <a:r>
              <a:rPr lang="en-US"/>
              <a:t>Chap 3: Conceptualising interaction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2890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04268" y="549274"/>
            <a:ext cx="7315200" cy="5806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2039619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0" y="548640"/>
            <a:ext cx="6093225" cy="1143000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1240" y="0"/>
            <a:ext cx="4793885" cy="6858000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86400" y="1828800"/>
            <a:ext cx="6071616" cy="44897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0712BE5-0AFE-AA4B-DE38-618FA150F3A2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486400" y="6309360"/>
            <a:ext cx="1371600" cy="365760"/>
          </a:xfrm>
        </p:spPr>
        <p:txBody>
          <a:bodyPr/>
          <a:lstStyle/>
          <a:p>
            <a:r>
              <a:rPr lang="en-US"/>
              <a:t>30 July 2026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58B002-680C-F23C-355A-AA9E00F69C4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437249" y="6309360"/>
            <a:ext cx="2805405" cy="365125"/>
          </a:xfrm>
        </p:spPr>
        <p:txBody>
          <a:bodyPr/>
          <a:lstStyle/>
          <a:p>
            <a:r>
              <a:rPr lang="en-US"/>
              <a:t>Chap 3: Conceptualising interaction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3BC7F1-E4AA-ACB1-F898-0F4CE95C345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92890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2F8443E-8FB4-6D1A-1287-E54F5204B44D}"/>
              </a:ext>
            </a:extLst>
          </p:cNvPr>
          <p:cNvGrpSpPr/>
          <p:nvPr userDrawn="1"/>
        </p:nvGrpSpPr>
        <p:grpSpPr>
          <a:xfrm rot="5400000">
            <a:off x="1490425" y="3314697"/>
            <a:ext cx="6858000" cy="228600"/>
            <a:chOff x="1524" y="486404"/>
            <a:chExt cx="12190476" cy="230457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46E5F11D-F220-9C5E-929C-BCA879502FB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A76AC546-8709-3993-FCDB-1B156D2088A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8272949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6135624" cy="1143000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4" y="1828800"/>
            <a:ext cx="6135624" cy="44897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0F7A554-0191-84FD-FF13-1D08A9040FE3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79005" y="6309360"/>
            <a:ext cx="1371600" cy="365760"/>
          </a:xfrm>
        </p:spPr>
        <p:txBody>
          <a:bodyPr/>
          <a:lstStyle/>
          <a:p>
            <a:r>
              <a:rPr lang="en-US"/>
              <a:t>30 July 2026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A51982-58B0-FDD3-D68E-F1F52109DFB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563424" y="6309360"/>
            <a:ext cx="2805405" cy="365125"/>
          </a:xfrm>
        </p:spPr>
        <p:txBody>
          <a:bodyPr/>
          <a:lstStyle/>
          <a:p>
            <a:r>
              <a:rPr lang="en-US"/>
              <a:t>Chap 3: Conceptualising interaction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A87B63-4ABF-71A4-052E-E4A6E0B0D81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6319065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400544" y="0"/>
            <a:ext cx="4791456" cy="6858000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B8B5488C-5471-388E-2299-E36A52160AF1}"/>
              </a:ext>
            </a:extLst>
          </p:cNvPr>
          <p:cNvGrpSpPr/>
          <p:nvPr/>
        </p:nvGrpSpPr>
        <p:grpSpPr>
          <a:xfrm rot="5400000">
            <a:off x="3842029" y="3314697"/>
            <a:ext cx="6858000" cy="228600"/>
            <a:chOff x="1524" y="486404"/>
            <a:chExt cx="12190476" cy="230457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46BE69B9-7459-DD8B-2663-BDBBDF27D6E7}"/>
                </a:ext>
              </a:extLst>
            </p:cNvPr>
            <p:cNvCxnSpPr>
              <a:cxnSpLocks/>
            </p:cNvCxnSpPr>
            <p:nvPr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892791D3-546A-F264-3A28-FA4F47254C78}"/>
                </a:ext>
              </a:extLst>
            </p:cNvPr>
            <p:cNvCxnSpPr>
              <a:cxnSpLocks/>
            </p:cNvCxnSpPr>
            <p:nvPr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11286463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5736" y="320040"/>
            <a:ext cx="685800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4023360" cy="6858000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45736" y="1380744"/>
            <a:ext cx="685800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8C6A67-6118-FB57-C805-42FCFB3E2ECD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663440" y="6309360"/>
            <a:ext cx="1371600" cy="365760"/>
          </a:xfrm>
        </p:spPr>
        <p:txBody>
          <a:bodyPr/>
          <a:lstStyle/>
          <a:p>
            <a:r>
              <a:rPr lang="en-US"/>
              <a:t>30 July 2026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78562C-62EF-4582-865E-F683CC0BA53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437249" y="6309360"/>
            <a:ext cx="2805405" cy="365125"/>
          </a:xfrm>
        </p:spPr>
        <p:txBody>
          <a:bodyPr/>
          <a:lstStyle/>
          <a:p>
            <a:r>
              <a:rPr lang="en-US"/>
              <a:t>Chap 3: Conceptualising interaction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C60CD9-C1EA-17F0-7578-5F8A1A5909C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92890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8AD7A6E-1B9B-D9DE-BD67-39C783071F20}"/>
              </a:ext>
            </a:extLst>
          </p:cNvPr>
          <p:cNvGrpSpPr/>
          <p:nvPr userDrawn="1"/>
        </p:nvGrpSpPr>
        <p:grpSpPr>
          <a:xfrm rot="5400000">
            <a:off x="726870" y="3314697"/>
            <a:ext cx="6858000" cy="228600"/>
            <a:chOff x="1524" y="486404"/>
            <a:chExt cx="12190476" cy="230457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3EDD3F17-F32A-F401-6587-63C903B9266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442FA86B-2AC9-7E00-D084-24EC59AAAE0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87906500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320040"/>
            <a:ext cx="685800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7" y="1380744"/>
            <a:ext cx="685800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66928" y="6309360"/>
            <a:ext cx="1371600" cy="365760"/>
          </a:xfrm>
        </p:spPr>
        <p:txBody>
          <a:bodyPr/>
          <a:lstStyle/>
          <a:p>
            <a:r>
              <a:rPr lang="en-US"/>
              <a:t>30 July 2026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285799" y="6309360"/>
            <a:ext cx="2805405" cy="365125"/>
          </a:xfrm>
        </p:spPr>
        <p:txBody>
          <a:bodyPr/>
          <a:lstStyle/>
          <a:p>
            <a:r>
              <a:rPr lang="en-US"/>
              <a:t>Chap 3: Conceptualising interaction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041440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091732" y="0"/>
            <a:ext cx="4100267" cy="6858000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3294EF9-68D3-BBE1-CF71-EB49B1946043}"/>
              </a:ext>
            </a:extLst>
          </p:cNvPr>
          <p:cNvGrpSpPr/>
          <p:nvPr/>
        </p:nvGrpSpPr>
        <p:grpSpPr>
          <a:xfrm rot="5400000">
            <a:off x="4523955" y="3330195"/>
            <a:ext cx="6858000" cy="228600"/>
            <a:chOff x="1524" y="486404"/>
            <a:chExt cx="12190476" cy="230457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B35BB65A-DA11-C51A-8125-2AB82548925E}"/>
                </a:ext>
              </a:extLst>
            </p:cNvPr>
            <p:cNvCxnSpPr>
              <a:cxnSpLocks/>
            </p:cNvCxnSpPr>
            <p:nvPr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FC64F4CB-517C-D2E2-C7FE-130E00DFA93E}"/>
                </a:ext>
              </a:extLst>
            </p:cNvPr>
            <p:cNvCxnSpPr>
              <a:cxnSpLocks/>
            </p:cNvCxnSpPr>
            <p:nvPr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41205792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3808" y="584339"/>
            <a:ext cx="4361688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611509" cy="6858000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253745" y="2212975"/>
            <a:ext cx="4362450" cy="4095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0D9A4B-419F-EFB0-1176-951278E45B7B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223760" y="6309360"/>
            <a:ext cx="1371600" cy="365760"/>
          </a:xfrm>
        </p:spPr>
        <p:txBody>
          <a:bodyPr/>
          <a:lstStyle/>
          <a:p>
            <a:r>
              <a:rPr lang="en-US"/>
              <a:t>30 July 2026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48372A1-F80C-EE8E-3ED3-DEA07464D94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437249" y="6309360"/>
            <a:ext cx="2805405" cy="365125"/>
          </a:xfrm>
        </p:spPr>
        <p:txBody>
          <a:bodyPr/>
          <a:lstStyle/>
          <a:p>
            <a:r>
              <a:rPr lang="en-US"/>
              <a:t>Chap 3: Conceptualising interaction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3A0B9D2-7EB0-49D5-FB69-802CC1E602B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92890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B6EDA9F-9F0C-F2B8-2DA9-6B5E53DF71A1}"/>
              </a:ext>
            </a:extLst>
          </p:cNvPr>
          <p:cNvGrpSpPr/>
          <p:nvPr userDrawn="1"/>
        </p:nvGrpSpPr>
        <p:grpSpPr>
          <a:xfrm rot="5400000">
            <a:off x="3315089" y="3314697"/>
            <a:ext cx="6858000" cy="228600"/>
            <a:chOff x="1524" y="486404"/>
            <a:chExt cx="12190476" cy="230457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E54DF475-F587-D0F5-2E5F-1F7374565F2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7672F99E-296C-67C4-EA39-A3890FF7296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12502496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83413"/>
            <a:ext cx="4361688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2212975"/>
            <a:ext cx="4360863" cy="4095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8D23E0-4409-7037-FE86-2F4FED37F548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66928" y="6309360"/>
            <a:ext cx="1371600" cy="365760"/>
          </a:xfrm>
        </p:spPr>
        <p:txBody>
          <a:bodyPr/>
          <a:lstStyle/>
          <a:p>
            <a:r>
              <a:rPr lang="en-US"/>
              <a:t>30 July 2026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2FB02F-C7E2-E0E7-60F6-676CD156D12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1788790" y="6309360"/>
            <a:ext cx="2805405" cy="365125"/>
          </a:xfrm>
        </p:spPr>
        <p:txBody>
          <a:bodyPr/>
          <a:lstStyle/>
          <a:p>
            <a:r>
              <a:rPr lang="en-US"/>
              <a:t>Chap 3: Conceptualising interaction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2800A2-76CC-F9B8-3D85-3BEF8792A58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4544431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45480" y="0"/>
            <a:ext cx="6446520" cy="6858000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181D9632-278F-11B0-688D-20E8D15BB079}"/>
              </a:ext>
            </a:extLst>
          </p:cNvPr>
          <p:cNvGrpSpPr/>
          <p:nvPr userDrawn="1"/>
        </p:nvGrpSpPr>
        <p:grpSpPr>
          <a:xfrm rot="5400000">
            <a:off x="2183715" y="3314697"/>
            <a:ext cx="6858000" cy="228600"/>
            <a:chOff x="1524" y="486404"/>
            <a:chExt cx="12190476" cy="230457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9BE1D6A8-C24F-52BA-1401-BD84AE6A3B4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85546028-8E84-0B13-7CEA-433419C2160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70745243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4553" y="320040"/>
            <a:ext cx="4522936" cy="9326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0"/>
            <a:ext cx="6492240" cy="6858000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04888" y="1380744"/>
            <a:ext cx="4512601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D11A105-C44D-52EF-FE59-79B2559A5102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104888" y="6309360"/>
            <a:ext cx="1371600" cy="365760"/>
          </a:xfrm>
        </p:spPr>
        <p:txBody>
          <a:bodyPr/>
          <a:lstStyle/>
          <a:p>
            <a:r>
              <a:rPr lang="en-US"/>
              <a:t>30 July 2026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D65DDCD-2302-7DB0-065A-B9C0D606163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437249" y="6309360"/>
            <a:ext cx="2805405" cy="365125"/>
          </a:xfrm>
        </p:spPr>
        <p:txBody>
          <a:bodyPr/>
          <a:lstStyle/>
          <a:p>
            <a:r>
              <a:rPr lang="en-US"/>
              <a:t>Chap 3: Conceptualising interaction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14486D-3CD5-EFE8-605A-E494F417F5D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92890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160FD1D-1C9C-1D7D-034D-752DEA37DE2F}"/>
              </a:ext>
            </a:extLst>
          </p:cNvPr>
          <p:cNvGrpSpPr/>
          <p:nvPr userDrawn="1"/>
        </p:nvGrpSpPr>
        <p:grpSpPr>
          <a:xfrm rot="5400000">
            <a:off x="3191101" y="3314697"/>
            <a:ext cx="6858000" cy="228600"/>
            <a:chOff x="1524" y="486404"/>
            <a:chExt cx="12190476" cy="230457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41255FD7-7B06-617C-F2B1-84296408F9C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374B771-A659-B0FC-BE3E-CCA7C7DAA8C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8430574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320040"/>
            <a:ext cx="4572000" cy="9326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4" y="1380744"/>
            <a:ext cx="457200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444B0A-5375-2C8E-1855-C39FDCFE2AF2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66928" y="6309360"/>
            <a:ext cx="1371600" cy="365760"/>
          </a:xfrm>
        </p:spPr>
        <p:txBody>
          <a:bodyPr/>
          <a:lstStyle/>
          <a:p>
            <a:r>
              <a:rPr lang="en-US"/>
              <a:t>30 July 2026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9E8B0B-9B3C-2EBF-8B1F-0383E15F451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1999800" y="6309360"/>
            <a:ext cx="2805405" cy="365125"/>
          </a:xfrm>
        </p:spPr>
        <p:txBody>
          <a:bodyPr/>
          <a:lstStyle/>
          <a:p>
            <a:r>
              <a:rPr lang="en-US"/>
              <a:t>Chap 3: Conceptualising interaction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B474BF6-552A-A16E-D27D-6F4180803ECA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4755441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17720" y="0"/>
            <a:ext cx="6274279" cy="6858000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34931DFC-97BE-BA1D-DF4B-117BE21CCE3A}"/>
              </a:ext>
            </a:extLst>
          </p:cNvPr>
          <p:cNvGrpSpPr/>
          <p:nvPr userDrawn="1"/>
        </p:nvGrpSpPr>
        <p:grpSpPr>
          <a:xfrm rot="5400000">
            <a:off x="2354194" y="3314697"/>
            <a:ext cx="6858000" cy="228600"/>
            <a:chOff x="1524" y="486404"/>
            <a:chExt cx="12190476" cy="230457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032D29D2-0F65-815E-B69D-9AE195C8A6E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A8EB07D8-B6B0-63D6-1B82-5440BC5E86F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1084309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12663" y="583413"/>
            <a:ext cx="3401568" cy="152704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7584144" cy="6858000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212790" y="2212975"/>
            <a:ext cx="3401568" cy="4095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6414E36-7594-545C-C743-651A7E90674A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211312" y="6309360"/>
            <a:ext cx="1371600" cy="365760"/>
          </a:xfrm>
        </p:spPr>
        <p:txBody>
          <a:bodyPr/>
          <a:lstStyle/>
          <a:p>
            <a:r>
              <a:rPr lang="en-US"/>
              <a:t>30 July 2026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CC485E-E2B8-D77F-2FAD-EA82B01F131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9825487" y="6309360"/>
            <a:ext cx="1417167" cy="365125"/>
          </a:xfrm>
        </p:spPr>
        <p:txBody>
          <a:bodyPr/>
          <a:lstStyle/>
          <a:p>
            <a:r>
              <a:rPr lang="en-US"/>
              <a:t>Chap 3: Conceptualising interaction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FB1F47-9876-D98C-50D8-3FBF1638996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92890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038395A-A6A8-BCB1-3525-B2DB5574DB25}"/>
              </a:ext>
            </a:extLst>
          </p:cNvPr>
          <p:cNvGrpSpPr/>
          <p:nvPr userDrawn="1"/>
        </p:nvGrpSpPr>
        <p:grpSpPr>
          <a:xfrm rot="5400000">
            <a:off x="4282691" y="3314697"/>
            <a:ext cx="6858000" cy="228600"/>
            <a:chOff x="1524" y="486404"/>
            <a:chExt cx="12190476" cy="230457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91CBCFB5-79E3-D32D-7553-DF61FB31DF9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71CC810B-FEDA-EE81-FE8A-157790BB195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80874393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83413"/>
            <a:ext cx="3401568" cy="152704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2212975"/>
            <a:ext cx="3401568" cy="4095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BD2EFA-F338-854A-39A5-0DE75A240C7B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66928" y="6309360"/>
            <a:ext cx="1371600" cy="365760"/>
          </a:xfrm>
        </p:spPr>
        <p:txBody>
          <a:bodyPr/>
          <a:lstStyle/>
          <a:p>
            <a:r>
              <a:rPr lang="en-US"/>
              <a:t>30 July 2026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26A974-1D24-E76E-BB89-FCF2BB9C4CF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2263173" y="6309360"/>
            <a:ext cx="1371600" cy="365125"/>
          </a:xfrm>
        </p:spPr>
        <p:txBody>
          <a:bodyPr/>
          <a:lstStyle/>
          <a:p>
            <a:r>
              <a:rPr lang="en-US"/>
              <a:t>Chap 3: Conceptualising interaction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C8416FE-7E34-58E4-9D56-114F98FB0BB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3585009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761780" y="0"/>
            <a:ext cx="7430219" cy="6858000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1A6C6367-A7F3-E06C-7C1A-0BC0654C5286}"/>
              </a:ext>
            </a:extLst>
          </p:cNvPr>
          <p:cNvGrpSpPr/>
          <p:nvPr userDrawn="1"/>
        </p:nvGrpSpPr>
        <p:grpSpPr>
          <a:xfrm rot="5400000">
            <a:off x="1191819" y="3314697"/>
            <a:ext cx="6858000" cy="228600"/>
            <a:chOff x="1524" y="486404"/>
            <a:chExt cx="12190476" cy="230457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DF36C848-6667-C955-7DE1-69ED168EEEB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2A346036-FCB7-EFB8-C4D8-2B8EC443A76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8551980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3102" y="1078992"/>
            <a:ext cx="3273552" cy="1942773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7781365" cy="6858000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41DDC5-8FD0-5B7D-E616-216E1AB06B2C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Chap 3: Conceptualising interaction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C5F966B-C615-BAC6-2082-446BFF922C8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44096" y="3099816"/>
            <a:ext cx="3273552" cy="295351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 sz="1600"/>
            </a:lvl2pPr>
            <a:lvl3pPr marL="457200" indent="0">
              <a:buNone/>
              <a:defRPr sz="1600"/>
            </a:lvl3pPr>
            <a:lvl4pPr marL="685800" indent="0">
              <a:buNone/>
              <a:defRPr sz="1600"/>
            </a:lvl4pPr>
            <a:lvl5pPr marL="914400" indent="0"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2EDBEEF-1C91-68D1-CE48-418ABCEDC948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0245054" y="6309360"/>
            <a:ext cx="1371600" cy="365760"/>
          </a:xfrm>
        </p:spPr>
        <p:txBody>
          <a:bodyPr/>
          <a:lstStyle/>
          <a:p>
            <a:r>
              <a:rPr lang="en-US"/>
              <a:t>30 July 2026</a:t>
            </a:r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4E11C5D-D71A-18E5-3526-29DDA766D6F8}"/>
              </a:ext>
            </a:extLst>
          </p:cNvPr>
          <p:cNvGrpSpPr/>
          <p:nvPr userDrawn="1"/>
        </p:nvGrpSpPr>
        <p:grpSpPr>
          <a:xfrm rot="5400000">
            <a:off x="4477460" y="3314697"/>
            <a:ext cx="6858000" cy="228600"/>
            <a:chOff x="1524" y="486404"/>
            <a:chExt cx="12190476" cy="230457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6FF40670-01CC-8D65-0326-EC21C4B773F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22C0E780-14F3-5C5E-5448-CFFC9EBBE16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7433194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012268"/>
            <a:ext cx="3739896" cy="1390330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4425353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49240" y="5012267"/>
            <a:ext cx="6400800" cy="139033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600"/>
            </a:lvl2pPr>
            <a:lvl3pPr marL="457200" indent="0">
              <a:buFont typeface="Arial" panose="020B0604020202020204" pitchFamily="34" charset="0"/>
              <a:buNone/>
              <a:defRPr sz="1600"/>
            </a:lvl3pPr>
            <a:lvl4pPr marL="685800" indent="0">
              <a:buFont typeface="Arial" panose="020B0604020202020204" pitchFamily="34" charset="0"/>
              <a:buNone/>
              <a:defRPr sz="1600"/>
            </a:lvl4pPr>
            <a:lvl5pPr marL="914400" indent="0">
              <a:buFont typeface="Arial" panose="020B0604020202020204" pitchFamily="34" charset="0"/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66928" y="6309360"/>
            <a:ext cx="1371600" cy="365760"/>
          </a:xfrm>
        </p:spPr>
        <p:txBody>
          <a:bodyPr/>
          <a:lstStyle/>
          <a:p>
            <a:r>
              <a:rPr lang="en-US"/>
              <a:t>30 July 2026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7249" y="6309360"/>
            <a:ext cx="2805405" cy="365125"/>
          </a:xfrm>
        </p:spPr>
        <p:txBody>
          <a:bodyPr/>
          <a:lstStyle/>
          <a:p>
            <a:r>
              <a:rPr lang="en-US"/>
              <a:t>Chap 3: Conceptualising interaction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2890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06FB652-32F7-CC0E-68CE-5F38D866A595}"/>
              </a:ext>
            </a:extLst>
          </p:cNvPr>
          <p:cNvGrpSpPr/>
          <p:nvPr/>
        </p:nvGrpSpPr>
        <p:grpSpPr>
          <a:xfrm>
            <a:off x="1524" y="4425359"/>
            <a:ext cx="12190476" cy="230457"/>
            <a:chOff x="1524" y="486404"/>
            <a:chExt cx="12190476" cy="230457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1053F082-AD98-C5E7-4EC8-638F1C20A182}"/>
                </a:ext>
              </a:extLst>
            </p:cNvPr>
            <p:cNvCxnSpPr>
              <a:cxnSpLocks/>
            </p:cNvCxnSpPr>
            <p:nvPr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E5365CD2-3B68-0FCB-4E75-1DA83FCCC0E7}"/>
                </a:ext>
              </a:extLst>
            </p:cNvPr>
            <p:cNvCxnSpPr>
              <a:cxnSpLocks/>
            </p:cNvCxnSpPr>
            <p:nvPr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2422872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4162318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3568731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4162318"/>
            <a:ext cx="7772400" cy="224028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800"/>
            </a:lvl1pPr>
            <a:lvl2pPr marL="228600" indent="0">
              <a:buFont typeface="Arial" panose="020B0604020202020204" pitchFamily="34" charset="0"/>
              <a:buNone/>
              <a:defRPr sz="1800"/>
            </a:lvl2pPr>
            <a:lvl3pPr marL="457200" indent="0">
              <a:buFont typeface="Arial" panose="020B0604020202020204" pitchFamily="34" charset="0"/>
              <a:buNone/>
              <a:defRPr sz="1800"/>
            </a:lvl3pPr>
            <a:lvl4pPr marL="685800" indent="0">
              <a:buFont typeface="Arial" panose="020B0604020202020204" pitchFamily="34" charset="0"/>
              <a:buNone/>
              <a:defRPr sz="1800"/>
            </a:lvl4pPr>
            <a:lvl5pPr marL="91440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74320" y="6309360"/>
            <a:ext cx="1371600" cy="365760"/>
          </a:xfrm>
        </p:spPr>
        <p:txBody>
          <a:bodyPr/>
          <a:lstStyle/>
          <a:p>
            <a:r>
              <a:rPr lang="en-US"/>
              <a:t>30 July 2026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7249" y="6309360"/>
            <a:ext cx="2805405" cy="365125"/>
          </a:xfrm>
        </p:spPr>
        <p:txBody>
          <a:bodyPr/>
          <a:lstStyle/>
          <a:p>
            <a:r>
              <a:rPr lang="en-US"/>
              <a:t>Chap 3: Conceptualising interaction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2890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94904FC-9ED3-CB9C-8E66-CCD770A7CB70}"/>
              </a:ext>
            </a:extLst>
          </p:cNvPr>
          <p:cNvGrpSpPr/>
          <p:nvPr/>
        </p:nvGrpSpPr>
        <p:grpSpPr>
          <a:xfrm>
            <a:off x="1524" y="3568737"/>
            <a:ext cx="12190476" cy="230457"/>
            <a:chOff x="1524" y="486404"/>
            <a:chExt cx="12190476" cy="230457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8EDF3AD1-1E09-BFF1-7171-710B6980D7C5}"/>
                </a:ext>
              </a:extLst>
            </p:cNvPr>
            <p:cNvCxnSpPr>
              <a:cxnSpLocks/>
            </p:cNvCxnSpPr>
            <p:nvPr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B189BF8-6380-EFD8-0428-D30EF04BF109}"/>
                </a:ext>
              </a:extLst>
            </p:cNvPr>
            <p:cNvCxnSpPr>
              <a:cxnSpLocks/>
            </p:cNvCxnSpPr>
            <p:nvPr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15116546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731520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61AA82-C169-BE38-29A6-B58CE0828F14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/>
              <a:t>30 July 2026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D8DE68-B20B-7DB9-181E-61F633A433F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Chap 3: Conceptualising interaction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47759C8-BEA2-2884-535E-DB5EFDF600C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731520"/>
            <a:ext cx="7772400" cy="224028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800"/>
            </a:lvl1pPr>
            <a:lvl2pPr marL="228600" indent="0">
              <a:buFont typeface="Arial" panose="020B0604020202020204" pitchFamily="34" charset="0"/>
              <a:buNone/>
              <a:defRPr sz="1800"/>
            </a:lvl2pPr>
            <a:lvl3pPr marL="457200" indent="0">
              <a:buFont typeface="Arial" panose="020B0604020202020204" pitchFamily="34" charset="0"/>
              <a:buNone/>
              <a:defRPr sz="1800"/>
            </a:lvl3pPr>
            <a:lvl4pPr marL="685800" indent="0">
              <a:buFont typeface="Arial" panose="020B0604020202020204" pitchFamily="34" charset="0"/>
              <a:buNone/>
              <a:defRPr sz="1800"/>
            </a:lvl4pPr>
            <a:lvl5pPr marL="91440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3293002"/>
            <a:ext cx="12192000" cy="3564997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D97EF48-BD94-5DFA-36B7-B8F67892EA8E}"/>
              </a:ext>
            </a:extLst>
          </p:cNvPr>
          <p:cNvGrpSpPr/>
          <p:nvPr userDrawn="1"/>
        </p:nvGrpSpPr>
        <p:grpSpPr>
          <a:xfrm>
            <a:off x="1524" y="3062546"/>
            <a:ext cx="12190476" cy="230457"/>
            <a:chOff x="1524" y="486404"/>
            <a:chExt cx="12190476" cy="230457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441B9D92-A574-8565-DDB3-8F0EB9A1E69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15F9A2F5-E50A-C6D3-77FB-2D71755BFED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726018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1111500"/>
            <a:ext cx="10972802" cy="970463"/>
          </a:xfrm>
        </p:spPr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30 July 2026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Chap 3: Conceptualising interaction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2645" y="2419862"/>
            <a:ext cx="6262288" cy="3834634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27395" y="2116665"/>
            <a:ext cx="4251960" cy="44288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562347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39"/>
            <a:ext cx="4672584" cy="145389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2648" y="2290890"/>
            <a:ext cx="4672584" cy="4041648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549275"/>
            <a:ext cx="5585925" cy="57832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0" y="6309360"/>
            <a:ext cx="1371600" cy="365760"/>
          </a:xfrm>
        </p:spPr>
        <p:txBody>
          <a:bodyPr/>
          <a:lstStyle/>
          <a:p>
            <a:r>
              <a:rPr lang="en-US"/>
              <a:t>30 July 2026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7249" y="6309360"/>
            <a:ext cx="2805405" cy="365125"/>
          </a:xfrm>
        </p:spPr>
        <p:txBody>
          <a:bodyPr/>
          <a:lstStyle/>
          <a:p>
            <a:r>
              <a:rPr lang="en-US"/>
              <a:t>Chap 3: Conceptualising interaction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2890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601346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8" y="550217"/>
            <a:ext cx="3657603" cy="1453896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1521" y="2295144"/>
            <a:ext cx="3490176" cy="4041648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016500" y="549275"/>
            <a:ext cx="6561138" cy="5759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29200" y="6309360"/>
            <a:ext cx="1371600" cy="365760"/>
          </a:xfrm>
        </p:spPr>
        <p:txBody>
          <a:bodyPr/>
          <a:lstStyle/>
          <a:p>
            <a:r>
              <a:rPr lang="en-US"/>
              <a:t>30 July 2026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7249" y="6309360"/>
            <a:ext cx="2805405" cy="365125"/>
          </a:xfrm>
        </p:spPr>
        <p:txBody>
          <a:bodyPr/>
          <a:lstStyle/>
          <a:p>
            <a:r>
              <a:rPr lang="en-US"/>
              <a:t>Chap 3: Conceptualising interaction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2890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429954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34377969-578A-3044-99E3-8EA6F116B67F}"/>
              </a:ext>
            </a:extLst>
          </p:cNvPr>
          <p:cNvGrpSpPr/>
          <p:nvPr userDrawn="1"/>
        </p:nvGrpSpPr>
        <p:grpSpPr>
          <a:xfrm>
            <a:off x="1524" y="0"/>
            <a:ext cx="12190476" cy="6858000"/>
            <a:chOff x="1524" y="0"/>
            <a:chExt cx="12190476" cy="6858000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F7AD1842-8379-12E0-533A-0EA98BFD181E}"/>
                </a:ext>
              </a:extLst>
            </p:cNvPr>
            <p:cNvCxnSpPr>
              <a:cxnSpLocks/>
            </p:cNvCxnSpPr>
            <p:nvPr/>
          </p:nvCxnSpPr>
          <p:spPr>
            <a:xfrm>
              <a:off x="3048" y="1386052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12876C6E-D8A0-48C5-6CEA-CCB62001195B}"/>
                </a:ext>
              </a:extLst>
            </p:cNvPr>
            <p:cNvCxnSpPr>
              <a:cxnSpLocks/>
            </p:cNvCxnSpPr>
            <p:nvPr/>
          </p:nvCxnSpPr>
          <p:spPr>
            <a:xfrm>
              <a:off x="1524" y="1616509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6D3B94D4-25D3-9D42-853F-7BA1819A9995}"/>
                </a:ext>
              </a:extLst>
            </p:cNvPr>
            <p:cNvCxnSpPr>
              <a:cxnSpLocks/>
            </p:cNvCxnSpPr>
            <p:nvPr/>
          </p:nvCxnSpPr>
          <p:spPr>
            <a:xfrm>
              <a:off x="8121159" y="5225545"/>
              <a:ext cx="4070840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679F06DC-4DAD-401F-D80C-28C8AF513C85}"/>
                </a:ext>
              </a:extLst>
            </p:cNvPr>
            <p:cNvCxnSpPr>
              <a:cxnSpLocks/>
            </p:cNvCxnSpPr>
            <p:nvPr/>
          </p:nvCxnSpPr>
          <p:spPr>
            <a:xfrm>
              <a:off x="8120650" y="5456002"/>
              <a:ext cx="4070840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FCBF433-8664-25AC-9007-E9988DE6BC38}"/>
                </a:ext>
              </a:extLst>
            </p:cNvPr>
            <p:cNvCxnSpPr/>
            <p:nvPr/>
          </p:nvCxnSpPr>
          <p:spPr>
            <a:xfrm>
              <a:off x="8126357" y="0"/>
              <a:ext cx="0" cy="685800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6344" y="1828800"/>
            <a:ext cx="6292533" cy="1527048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1E9478-EC4E-22FA-F9CC-D733F0B9370D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/>
              <a:t>30 July 2026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510537-2782-FB58-9F28-3FD8CF8E9F6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Chap 3: Conceptualising interaction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AE5085-F9C6-78E4-7772-43209526D60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74781" y="3474719"/>
            <a:ext cx="6383974" cy="2743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8132064" y="1615439"/>
            <a:ext cx="4059936" cy="3606985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t="30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984358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C8A65721-D9B5-3BE2-6460-9C2878922040}"/>
              </a:ext>
            </a:extLst>
          </p:cNvPr>
          <p:cNvGrpSpPr/>
          <p:nvPr userDrawn="1"/>
        </p:nvGrpSpPr>
        <p:grpSpPr>
          <a:xfrm>
            <a:off x="3048" y="0"/>
            <a:ext cx="12188952" cy="6393521"/>
            <a:chOff x="3048" y="2130458"/>
            <a:chExt cx="12188952" cy="4263063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4E0B240-979E-FA1C-833D-9030AD31D1E9}"/>
                </a:ext>
              </a:extLst>
            </p:cNvPr>
            <p:cNvCxnSpPr>
              <a:cxnSpLocks/>
            </p:cNvCxnSpPr>
            <p:nvPr/>
          </p:nvCxnSpPr>
          <p:spPr>
            <a:xfrm>
              <a:off x="3048" y="639352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F21FA7B-6DD0-5D50-12F1-C349D0BBCF88}"/>
                </a:ext>
              </a:extLst>
            </p:cNvPr>
            <p:cNvCxnSpPr>
              <a:cxnSpLocks/>
            </p:cNvCxnSpPr>
            <p:nvPr/>
          </p:nvCxnSpPr>
          <p:spPr>
            <a:xfrm>
              <a:off x="3048" y="62301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99F28047-4BC7-8178-E223-C9CBB4659519}"/>
                </a:ext>
              </a:extLst>
            </p:cNvPr>
            <p:cNvCxnSpPr>
              <a:cxnSpLocks/>
            </p:cNvCxnSpPr>
            <p:nvPr/>
          </p:nvCxnSpPr>
          <p:spPr>
            <a:xfrm>
              <a:off x="4050792" y="2130458"/>
              <a:ext cx="0" cy="425688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218" y="591564"/>
            <a:ext cx="3158356" cy="3068913"/>
          </a:xfrm>
        </p:spPr>
        <p:txBody>
          <a:bodyPr anchor="ctr" anchorCtr="0">
            <a:noAutofit/>
          </a:bodyPr>
          <a:lstStyle>
            <a:lvl1pPr algn="ctr"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96CDC3-30E5-67DB-5587-FFD6AF5A9583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/>
              <a:t>30 July 2026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701A79-864C-0860-E407-A07E073A2F2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Chap 3: Conceptualising interaction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EF9F37-1A63-6296-7E1D-5BDA41CB10B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50391" y="591563"/>
            <a:ext cx="6742010" cy="3068905"/>
          </a:xfrm>
        </p:spPr>
        <p:txBody>
          <a:bodyPr anchor="ctr" anchorCtr="0">
            <a:normAutofit/>
          </a:bodyPr>
          <a:lstStyle>
            <a:lvl1pPr marL="0" indent="0">
              <a:buFont typeface="Arial" panose="020B0604020202020204" pitchFamily="34" charset="0"/>
              <a:buNone/>
              <a:defRPr sz="1800"/>
            </a:lvl1pPr>
            <a:lvl2pPr marL="228600" indent="0">
              <a:buFont typeface="Arial" panose="020B0604020202020204" pitchFamily="34" charset="0"/>
              <a:buNone/>
              <a:defRPr sz="1800"/>
            </a:lvl2pPr>
            <a:lvl3pPr marL="457200" indent="0">
              <a:buFont typeface="Arial" panose="020B0604020202020204" pitchFamily="34" charset="0"/>
              <a:buNone/>
              <a:defRPr sz="1800"/>
            </a:lvl3pPr>
            <a:lvl4pPr marL="685800" indent="0">
              <a:buFont typeface="Arial" panose="020B0604020202020204" pitchFamily="34" charset="0"/>
              <a:buNone/>
              <a:defRPr sz="1800"/>
            </a:lvl4pPr>
            <a:lvl5pPr marL="91440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4504544"/>
            <a:ext cx="12192000" cy="2353456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649084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049" y="5628925"/>
            <a:ext cx="10826495" cy="910416"/>
          </a:xfrm>
        </p:spPr>
        <p:txBody>
          <a:bodyPr>
            <a:normAutofit/>
          </a:bodyPr>
          <a:lstStyle>
            <a:lvl1pPr>
              <a:lnSpc>
                <a:spcPct val="120000"/>
              </a:lnSpc>
              <a:defRPr sz="28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21208" y="182880"/>
            <a:ext cx="429207" cy="365125"/>
          </a:xfrm>
        </p:spPr>
        <p:txBody>
          <a:bodyPr/>
          <a:lstStyle>
            <a:lvl1pPr algn="l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78408" y="182880"/>
            <a:ext cx="2805405" cy="365125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Chap 3: Conceptualising interaction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41280" y="182880"/>
            <a:ext cx="1371600" cy="365760"/>
          </a:xfrm>
        </p:spPr>
        <p:txBody>
          <a:bodyPr/>
          <a:lstStyle/>
          <a:p>
            <a:r>
              <a:rPr lang="en-US"/>
              <a:t>30 July 2026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3917" y="1280791"/>
            <a:ext cx="10826496" cy="4334256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15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15C73EA-68F7-286D-7C59-C6A4A90C3636}"/>
              </a:ext>
            </a:extLst>
          </p:cNvPr>
          <p:cNvGrpSpPr/>
          <p:nvPr userDrawn="1"/>
        </p:nvGrpSpPr>
        <p:grpSpPr>
          <a:xfrm>
            <a:off x="1524" y="1362456"/>
            <a:ext cx="12190476" cy="230457"/>
            <a:chOff x="1524" y="486404"/>
            <a:chExt cx="12190476" cy="230457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942D11FF-C277-62FB-F980-145F901A2E4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0BA5D67-2BA6-BB7C-9CF6-04747139635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63134818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0" y="5230368"/>
            <a:ext cx="7525512" cy="1545336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28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17BBDC7-963A-E3DB-D9D5-DD9AAD4FEE7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/>
              <a:t>30 July 2026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11C7C81-7664-8BC0-13CA-172BEB1B3BC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Chap 3: Conceptualising interaction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1E20763-4AEF-109E-06F3-5B039E246CE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1170431"/>
            <a:ext cx="10543032" cy="4206240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32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0EDBF81-A305-1402-C591-AC058BD1AE14}"/>
              </a:ext>
            </a:extLst>
          </p:cNvPr>
          <p:cNvGrpSpPr/>
          <p:nvPr userDrawn="1"/>
        </p:nvGrpSpPr>
        <p:grpSpPr>
          <a:xfrm>
            <a:off x="1524" y="1366605"/>
            <a:ext cx="12190476" cy="230457"/>
            <a:chOff x="1524" y="486404"/>
            <a:chExt cx="12190476" cy="230457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7FE7AA46-A342-1022-0FD8-CCBDA033E14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9FD7B6E8-8257-7D9D-2D13-878FFFB520C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7077341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FD55EE59-B66F-A6D5-8C8B-14BA21E0965C}"/>
              </a:ext>
            </a:extLst>
          </p:cNvPr>
          <p:cNvGrpSpPr/>
          <p:nvPr userDrawn="1"/>
        </p:nvGrpSpPr>
        <p:grpSpPr>
          <a:xfrm>
            <a:off x="1524" y="0"/>
            <a:ext cx="12190476" cy="6858000"/>
            <a:chOff x="1524" y="0"/>
            <a:chExt cx="12190476" cy="685800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162E504F-D4B4-B0EC-FDA1-3A423D47B247}"/>
                </a:ext>
              </a:extLst>
            </p:cNvPr>
            <p:cNvCxnSpPr>
              <a:cxnSpLocks/>
            </p:cNvCxnSpPr>
            <p:nvPr/>
          </p:nvCxnSpPr>
          <p:spPr>
            <a:xfrm>
              <a:off x="3048" y="393192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E659CB4-7093-3A08-C99D-6C99354EF45D}"/>
                </a:ext>
              </a:extLst>
            </p:cNvPr>
            <p:cNvCxnSpPr>
              <a:cxnSpLocks/>
            </p:cNvCxnSpPr>
            <p:nvPr/>
          </p:nvCxnSpPr>
          <p:spPr>
            <a:xfrm>
              <a:off x="1524" y="623649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5CBC16B7-26F5-AE8A-69C4-B52E9D1E16D0}"/>
                </a:ext>
              </a:extLst>
            </p:cNvPr>
            <p:cNvCxnSpPr/>
            <p:nvPr/>
          </p:nvCxnSpPr>
          <p:spPr>
            <a:xfrm>
              <a:off x="4058138" y="0"/>
              <a:ext cx="0" cy="685800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5716" y="3697602"/>
            <a:ext cx="7525512" cy="1545336"/>
          </a:xfrm>
        </p:spPr>
        <p:txBody>
          <a:bodyPr>
            <a:normAutofit/>
          </a:bodyPr>
          <a:lstStyle>
            <a:lvl1pPr algn="l">
              <a:lnSpc>
                <a:spcPct val="110000"/>
              </a:lnSpc>
              <a:defRPr sz="28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66928" y="1313925"/>
            <a:ext cx="1371600" cy="365760"/>
          </a:xfrm>
        </p:spPr>
        <p:txBody>
          <a:bodyPr/>
          <a:lstStyle/>
          <a:p>
            <a:r>
              <a:rPr lang="en-US"/>
              <a:t>30 July 2026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66928" y="6309360"/>
            <a:ext cx="429207" cy="365125"/>
          </a:xfrm>
        </p:spPr>
        <p:txBody>
          <a:bodyPr/>
          <a:lstStyle/>
          <a:p>
            <a:pPr algn="l"/>
            <a:fld id="{CC057153-B650-4DEB-B370-79DDCFDCE934}" type="slidenum">
              <a:rPr lang="en-US" smtClean="0"/>
              <a:pPr algn="l"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24130" y="6309360"/>
            <a:ext cx="2805405" cy="365125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Chap 3: Conceptualising interaction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85716" y="735414"/>
            <a:ext cx="7603234" cy="3074657"/>
          </a:xfrm>
        </p:spPr>
        <p:txBody>
          <a:bodyPr anchor="b">
            <a:normAutofit/>
          </a:bodyPr>
          <a:lstStyle>
            <a:lvl1pPr marL="0" indent="0" algn="l">
              <a:lnSpc>
                <a:spcPct val="90000"/>
              </a:lnSpc>
              <a:buNone/>
              <a:defRPr sz="188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6513714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362A7CE-13AD-5FEE-FA58-0D3441B3B327}"/>
              </a:ext>
            </a:extLst>
          </p:cNvPr>
          <p:cNvGrpSpPr/>
          <p:nvPr userDrawn="1"/>
        </p:nvGrpSpPr>
        <p:grpSpPr>
          <a:xfrm>
            <a:off x="1524" y="0"/>
            <a:ext cx="12190476" cy="6858000"/>
            <a:chOff x="1524" y="0"/>
            <a:chExt cx="12190476" cy="685800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162E504F-D4B4-B0EC-FDA1-3A423D47B247}"/>
                </a:ext>
              </a:extLst>
            </p:cNvPr>
            <p:cNvCxnSpPr>
              <a:cxnSpLocks/>
            </p:cNvCxnSpPr>
            <p:nvPr/>
          </p:nvCxnSpPr>
          <p:spPr>
            <a:xfrm>
              <a:off x="3048" y="504958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E659CB4-7093-3A08-C99D-6C99354EF45D}"/>
                </a:ext>
              </a:extLst>
            </p:cNvPr>
            <p:cNvCxnSpPr>
              <a:cxnSpLocks/>
            </p:cNvCxnSpPr>
            <p:nvPr/>
          </p:nvCxnSpPr>
          <p:spPr>
            <a:xfrm>
              <a:off x="1524" y="735415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031EB0A0-A7CC-8504-4177-65CD804A8448}"/>
                </a:ext>
              </a:extLst>
            </p:cNvPr>
            <p:cNvCxnSpPr/>
            <p:nvPr/>
          </p:nvCxnSpPr>
          <p:spPr>
            <a:xfrm>
              <a:off x="8107629" y="0"/>
              <a:ext cx="0" cy="685800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8883" y="4122144"/>
            <a:ext cx="7525512" cy="1545336"/>
          </a:xfrm>
        </p:spPr>
        <p:txBody>
          <a:bodyPr>
            <a:normAutofit/>
          </a:bodyPr>
          <a:lstStyle>
            <a:lvl1pPr algn="l">
              <a:lnSpc>
                <a:spcPct val="110000"/>
              </a:lnSpc>
              <a:defRPr sz="28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68883" y="28374"/>
            <a:ext cx="10543032" cy="4206240"/>
          </a:xfrm>
        </p:spPr>
        <p:txBody>
          <a:bodyPr anchor="b">
            <a:normAutofit/>
          </a:bodyPr>
          <a:lstStyle>
            <a:lvl1pPr marL="0" indent="0" algn="l">
              <a:lnSpc>
                <a:spcPct val="90000"/>
              </a:lnSpc>
              <a:buNone/>
              <a:defRPr sz="188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584271" y="1313925"/>
            <a:ext cx="1371600" cy="365760"/>
          </a:xfrm>
        </p:spPr>
        <p:txBody>
          <a:bodyPr/>
          <a:lstStyle/>
          <a:p>
            <a:r>
              <a:rPr lang="en-US"/>
              <a:t>30 July 2026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84271" y="6309360"/>
            <a:ext cx="429207" cy="365125"/>
          </a:xfrm>
        </p:spPr>
        <p:txBody>
          <a:bodyPr/>
          <a:lstStyle/>
          <a:p>
            <a:pPr algn="l"/>
            <a:fld id="{CC057153-B650-4DEB-B370-79DDCFDCE934}" type="slidenum">
              <a:rPr lang="en-US" smtClean="0"/>
              <a:pPr algn="l"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041473" y="6309360"/>
            <a:ext cx="2805405" cy="365125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Chap 3: Conceptualising interaction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19086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6BE823EC-8489-32EA-5F8D-8414E009B5BD}"/>
              </a:ext>
            </a:extLst>
          </p:cNvPr>
          <p:cNvGrpSpPr/>
          <p:nvPr userDrawn="1"/>
        </p:nvGrpSpPr>
        <p:grpSpPr>
          <a:xfrm>
            <a:off x="762" y="-1"/>
            <a:ext cx="12191238" cy="6858001"/>
            <a:chOff x="762" y="-1"/>
            <a:chExt cx="12191238" cy="6858001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E24CBB51-9ABE-113B-6E8C-AD0CDD7F31AE}"/>
                </a:ext>
              </a:extLst>
            </p:cNvPr>
            <p:cNvCxnSpPr>
              <a:cxnSpLocks/>
            </p:cNvCxnSpPr>
            <p:nvPr/>
          </p:nvCxnSpPr>
          <p:spPr>
            <a:xfrm>
              <a:off x="2286" y="5789709"/>
              <a:ext cx="12188952" cy="0"/>
            </a:xfrm>
            <a:prstGeom prst="line">
              <a:avLst/>
            </a:prstGeom>
            <a:ln w="158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24689A19-D78D-952D-102D-0F52A3D8B5E4}"/>
                </a:ext>
              </a:extLst>
            </p:cNvPr>
            <p:cNvCxnSpPr>
              <a:cxnSpLocks/>
            </p:cNvCxnSpPr>
            <p:nvPr/>
          </p:nvCxnSpPr>
          <p:spPr>
            <a:xfrm>
              <a:off x="762" y="6020166"/>
              <a:ext cx="12188952" cy="0"/>
            </a:xfrm>
            <a:prstGeom prst="line">
              <a:avLst/>
            </a:prstGeom>
            <a:ln w="158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71C9DBFA-8B2B-A34F-4E08-4CF748F83A8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48" y="204975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731A5455-1C4E-10D5-1402-FDCB1F1FB78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4" y="228021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F047B84F-8610-F6F6-F74D-B1627389377D}"/>
                </a:ext>
              </a:extLst>
            </p:cNvPr>
            <p:cNvCxnSpPr/>
            <p:nvPr/>
          </p:nvCxnSpPr>
          <p:spPr>
            <a:xfrm>
              <a:off x="4062550" y="-1"/>
              <a:ext cx="0" cy="6858001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1364" y="2910341"/>
            <a:ext cx="6890703" cy="2271985"/>
          </a:xfrm>
        </p:spPr>
        <p:txBody>
          <a:bodyPr anchor="ctr" anchorCtr="0">
            <a:normAutofit/>
          </a:bodyPr>
          <a:lstStyle>
            <a:lvl1pPr>
              <a:lnSpc>
                <a:spcPct val="120000"/>
              </a:lnSpc>
              <a:defRPr sz="28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21742" y="182880"/>
            <a:ext cx="429207" cy="365125"/>
          </a:xfrm>
        </p:spPr>
        <p:txBody>
          <a:bodyPr/>
          <a:lstStyle>
            <a:lvl1pPr algn="l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78942" y="182880"/>
            <a:ext cx="2805405" cy="365125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Chap 3: Conceptualising interaction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41280" y="182880"/>
            <a:ext cx="1371600" cy="365760"/>
          </a:xfrm>
        </p:spPr>
        <p:txBody>
          <a:bodyPr/>
          <a:lstStyle/>
          <a:p>
            <a:r>
              <a:rPr lang="en-US"/>
              <a:t>30 July 2026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14902" y="2910341"/>
            <a:ext cx="2878830" cy="2271992"/>
          </a:xfrm>
        </p:spPr>
        <p:txBody>
          <a:bodyPr anchor="ctr" anchorCtr="0">
            <a:norm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05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2454912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F984AE9A-E1FE-B260-0209-F7A4BCE2ECD5}"/>
              </a:ext>
            </a:extLst>
          </p:cNvPr>
          <p:cNvGrpSpPr/>
          <p:nvPr userDrawn="1"/>
        </p:nvGrpSpPr>
        <p:grpSpPr>
          <a:xfrm>
            <a:off x="-20977" y="486404"/>
            <a:ext cx="12212977" cy="5885192"/>
            <a:chOff x="-20977" y="486404"/>
            <a:chExt cx="12212977" cy="5885192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D4EC8CD4-F749-4794-DD29-B3F57822DEB6}"/>
                </a:ext>
              </a:extLst>
            </p:cNvPr>
            <p:cNvCxnSpPr>
              <a:cxnSpLocks/>
            </p:cNvCxnSpPr>
            <p:nvPr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1D257A55-A75B-A688-F95E-03F34F9772AD}"/>
                </a:ext>
              </a:extLst>
            </p:cNvPr>
            <p:cNvCxnSpPr>
              <a:cxnSpLocks/>
            </p:cNvCxnSpPr>
            <p:nvPr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E8D13EC-2BC3-5093-97AC-927791EEA31B}"/>
                </a:ext>
              </a:extLst>
            </p:cNvPr>
            <p:cNvCxnSpPr>
              <a:cxnSpLocks/>
            </p:cNvCxnSpPr>
            <p:nvPr/>
          </p:nvCxnSpPr>
          <p:spPr>
            <a:xfrm>
              <a:off x="-19453" y="6141139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4B89169A-38DE-8903-97EB-3CA6FE5BC931}"/>
                </a:ext>
              </a:extLst>
            </p:cNvPr>
            <p:cNvCxnSpPr>
              <a:cxnSpLocks/>
            </p:cNvCxnSpPr>
            <p:nvPr/>
          </p:nvCxnSpPr>
          <p:spPr>
            <a:xfrm>
              <a:off x="-20977" y="6371596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962912" y="626364"/>
            <a:ext cx="8266176" cy="5605272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4400" b="0">
                <a:latin typeface="+mj-lt"/>
              </a:defRPr>
            </a:lvl1pPr>
            <a:lvl2pPr marL="228600" indent="0" algn="ctr">
              <a:lnSpc>
                <a:spcPct val="100000"/>
              </a:lnSpc>
              <a:buNone/>
              <a:defRPr sz="4000" b="0">
                <a:latin typeface="+mj-lt"/>
              </a:defRPr>
            </a:lvl2pPr>
            <a:lvl3pPr marL="457200" indent="0" algn="ctr">
              <a:lnSpc>
                <a:spcPct val="100000"/>
              </a:lnSpc>
              <a:buNone/>
              <a:defRPr sz="3600" b="0">
                <a:latin typeface="+mj-lt"/>
              </a:defRPr>
            </a:lvl3pPr>
            <a:lvl4pPr marL="685800" indent="0" algn="ctr">
              <a:lnSpc>
                <a:spcPct val="100000"/>
              </a:lnSpc>
              <a:buNone/>
              <a:defRPr sz="3200" b="0">
                <a:latin typeface="+mj-lt"/>
              </a:defRPr>
            </a:lvl4pPr>
            <a:lvl5pPr marL="914400" indent="0" algn="ctr">
              <a:lnSpc>
                <a:spcPct val="100000"/>
              </a:lnSpc>
              <a:buNone/>
              <a:defRPr sz="2800" b="0">
                <a:latin typeface="+mj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2">
            <a:extLst>
              <a:ext uri="{FF2B5EF4-FFF2-40B4-BE49-F238E27FC236}">
                <a16:creationId xmlns:a16="http://schemas.microsoft.com/office/drawing/2014/main" id="{7913BC78-ABD6-4ED9-8098-B1A0FDEE17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66928" y="68208"/>
            <a:ext cx="1371600" cy="365760"/>
          </a:xfrm>
        </p:spPr>
        <p:txBody>
          <a:bodyPr/>
          <a:lstStyle/>
          <a:p>
            <a:r>
              <a:rPr lang="en-US"/>
              <a:t>30 July 2026</a:t>
            </a:r>
            <a:endParaRPr lang="en-US" dirty="0"/>
          </a:p>
        </p:txBody>
      </p:sp>
      <p:sp>
        <p:nvSpPr>
          <p:cNvPr id="13" name="Footer Placeholder 3">
            <a:extLst>
              <a:ext uri="{FF2B5EF4-FFF2-40B4-BE49-F238E27FC236}">
                <a16:creationId xmlns:a16="http://schemas.microsoft.com/office/drawing/2014/main" id="{84DD383E-99EB-41EB-8DDC-370DF6D27B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7249" y="68208"/>
            <a:ext cx="2805405" cy="365125"/>
          </a:xfrm>
        </p:spPr>
        <p:txBody>
          <a:bodyPr/>
          <a:lstStyle/>
          <a:p>
            <a:r>
              <a:rPr lang="en-US"/>
              <a:t>Chap 3: Conceptualising interaction</a:t>
            </a:r>
            <a:endParaRPr lang="en-US" dirty="0"/>
          </a:p>
        </p:txBody>
      </p:sp>
      <p:sp>
        <p:nvSpPr>
          <p:cNvPr id="14" name="Slide Number Placeholder 4">
            <a:extLst>
              <a:ext uri="{FF2B5EF4-FFF2-40B4-BE49-F238E27FC236}">
                <a16:creationId xmlns:a16="http://schemas.microsoft.com/office/drawing/2014/main" id="{708A35DA-6FD6-4BD6-BD47-F619FFE11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58650" y="6058217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375796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30 July 2026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Chap 3: Conceptualising interaction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184067"/>
            <a:ext cx="8266176" cy="5605272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None/>
              <a:defRPr sz="4400" b="0">
                <a:latin typeface="+mj-lt"/>
              </a:defRPr>
            </a:lvl1pPr>
            <a:lvl2pPr marL="228600" indent="0">
              <a:lnSpc>
                <a:spcPct val="100000"/>
              </a:lnSpc>
              <a:buNone/>
              <a:defRPr sz="3600" b="0">
                <a:latin typeface="+mj-lt"/>
              </a:defRPr>
            </a:lvl2pPr>
            <a:lvl3pPr marL="457200" indent="0">
              <a:lnSpc>
                <a:spcPct val="100000"/>
              </a:lnSpc>
              <a:buNone/>
              <a:defRPr sz="3200" b="0">
                <a:latin typeface="+mj-lt"/>
              </a:defRPr>
            </a:lvl3pPr>
            <a:lvl4pPr marL="685800" indent="0">
              <a:lnSpc>
                <a:spcPct val="100000"/>
              </a:lnSpc>
              <a:buNone/>
              <a:defRPr sz="2800" b="0">
                <a:latin typeface="+mj-lt"/>
              </a:defRPr>
            </a:lvl4pPr>
            <a:lvl5pPr marL="914400" indent="0">
              <a:lnSpc>
                <a:spcPct val="100000"/>
              </a:lnSpc>
              <a:buNone/>
              <a:defRPr sz="2400" b="0">
                <a:latin typeface="+mj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4295388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81400" y="5110256"/>
            <a:ext cx="5029200" cy="548640"/>
          </a:xfrm>
          <a:prstGeom prst="roundRect">
            <a:avLst>
              <a:gd name="adj" fmla="val 50000"/>
            </a:avLst>
          </a:prstGeom>
          <a:ln w="15875">
            <a:solidFill>
              <a:schemeClr val="tx1"/>
            </a:solidFill>
          </a:ln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defRPr sz="1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30 July 2026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Chap 3: Conceptualising interaction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6568" y="1278920"/>
            <a:ext cx="9198864" cy="3657600"/>
          </a:xfrm>
        </p:spPr>
        <p:txBody>
          <a:bodyPr anchor="ctr">
            <a:normAutofit/>
          </a:bodyPr>
          <a:lstStyle>
            <a:lvl1pPr marL="164592" indent="-164592" algn="ctr">
              <a:lnSpc>
                <a:spcPct val="100000"/>
              </a:lnSpc>
              <a:spcBef>
                <a:spcPts val="0"/>
              </a:spcBef>
              <a:buNone/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4022500261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74292" y="5267563"/>
            <a:ext cx="9043416" cy="548640"/>
          </a:xfrm>
          <a:prstGeom prst="roundRect">
            <a:avLst>
              <a:gd name="adj" fmla="val 50000"/>
            </a:avLst>
          </a:prstGeom>
          <a:ln w="15875">
            <a:solidFill>
              <a:schemeClr val="tx1"/>
            </a:solidFill>
          </a:ln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defRPr sz="1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190774"/>
            <a:ext cx="9198864" cy="3601387"/>
          </a:xfrm>
        </p:spPr>
        <p:txBody>
          <a:bodyPr anchor="ctr">
            <a:normAutofit/>
          </a:bodyPr>
          <a:lstStyle>
            <a:lvl1pPr marL="164592" indent="-164592" algn="ctr">
              <a:lnSpc>
                <a:spcPct val="100000"/>
              </a:lnSpc>
              <a:spcBef>
                <a:spcPts val="0"/>
              </a:spcBef>
              <a:buNone/>
              <a:defRPr sz="440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66928" y="6309360"/>
            <a:ext cx="1371600" cy="365760"/>
          </a:xfrm>
        </p:spPr>
        <p:txBody>
          <a:bodyPr/>
          <a:lstStyle/>
          <a:p>
            <a:r>
              <a:rPr lang="en-US"/>
              <a:t>30 July 2026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7249" y="6309360"/>
            <a:ext cx="2805405" cy="365125"/>
          </a:xfrm>
        </p:spPr>
        <p:txBody>
          <a:bodyPr/>
          <a:lstStyle/>
          <a:p>
            <a:r>
              <a:rPr lang="en-US"/>
              <a:t>Chap 3: Conceptualising interaction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2890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7F136C3-7EC3-9A8C-7905-FCAC979CA36A}"/>
              </a:ext>
            </a:extLst>
          </p:cNvPr>
          <p:cNvGrpSpPr/>
          <p:nvPr userDrawn="1"/>
        </p:nvGrpSpPr>
        <p:grpSpPr>
          <a:xfrm>
            <a:off x="1524" y="393192"/>
            <a:ext cx="12190476" cy="230457"/>
            <a:chOff x="1524" y="486404"/>
            <a:chExt cx="12190476" cy="230457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1C98BDF-7F97-BA6B-9AA3-79C4C4E3B57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0F752DBB-0B82-C2E5-E6EE-2B7D84F0068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84805339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3D0251DA-0EA1-225F-8D19-688C1000DBAD}"/>
              </a:ext>
            </a:extLst>
          </p:cNvPr>
          <p:cNvGrpSpPr/>
          <p:nvPr userDrawn="1"/>
        </p:nvGrpSpPr>
        <p:grpSpPr>
          <a:xfrm>
            <a:off x="762" y="1395119"/>
            <a:ext cx="12191238" cy="4067763"/>
            <a:chOff x="762" y="1395119"/>
            <a:chExt cx="12191238" cy="4067763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EC8F0F89-259A-7D5F-9E52-07123735018F}"/>
                </a:ext>
              </a:extLst>
            </p:cNvPr>
            <p:cNvCxnSpPr>
              <a:cxnSpLocks/>
            </p:cNvCxnSpPr>
            <p:nvPr/>
          </p:nvCxnSpPr>
          <p:spPr>
            <a:xfrm>
              <a:off x="3048" y="1395119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D2CD90A0-6C73-AB65-B20A-BAD32644A5F2}"/>
                </a:ext>
              </a:extLst>
            </p:cNvPr>
            <p:cNvCxnSpPr>
              <a:cxnSpLocks/>
            </p:cNvCxnSpPr>
            <p:nvPr/>
          </p:nvCxnSpPr>
          <p:spPr>
            <a:xfrm>
              <a:off x="1524" y="1625576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89A98EFE-3BD7-D800-983B-42CE5A97B9B3}"/>
                </a:ext>
              </a:extLst>
            </p:cNvPr>
            <p:cNvCxnSpPr>
              <a:cxnSpLocks/>
            </p:cNvCxnSpPr>
            <p:nvPr/>
          </p:nvCxnSpPr>
          <p:spPr>
            <a:xfrm>
              <a:off x="2286" y="5232425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C2DF87C7-EF0B-43B1-37A6-37216B523D36}"/>
                </a:ext>
              </a:extLst>
            </p:cNvPr>
            <p:cNvCxnSpPr>
              <a:cxnSpLocks/>
            </p:cNvCxnSpPr>
            <p:nvPr/>
          </p:nvCxnSpPr>
          <p:spPr>
            <a:xfrm>
              <a:off x="762" y="5462882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47D9BD67-1776-B01D-02EA-3A9670F45750}"/>
                </a:ext>
              </a:extLst>
            </p:cNvPr>
            <p:cNvCxnSpPr>
              <a:cxnSpLocks/>
            </p:cNvCxnSpPr>
            <p:nvPr/>
          </p:nvCxnSpPr>
          <p:spPr>
            <a:xfrm>
              <a:off x="1168419" y="1625574"/>
              <a:ext cx="0" cy="360685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4F7775A8-BD4B-8A75-4C08-7CBFEE76BA8E}"/>
                </a:ext>
              </a:extLst>
            </p:cNvPr>
            <p:cNvCxnSpPr>
              <a:cxnSpLocks/>
            </p:cNvCxnSpPr>
            <p:nvPr/>
          </p:nvCxnSpPr>
          <p:spPr>
            <a:xfrm>
              <a:off x="11023581" y="1627632"/>
              <a:ext cx="0" cy="360685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Title 1">
            <a:extLst>
              <a:ext uri="{FF2B5EF4-FFF2-40B4-BE49-F238E27FC236}">
                <a16:creationId xmlns:a16="http://schemas.microsoft.com/office/drawing/2014/main" id="{FE1105A7-4AFC-EF6E-13F2-250ACBC19A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74292" y="5707825"/>
            <a:ext cx="9043416" cy="466344"/>
          </a:xfrm>
          <a:prstGeom prst="rect">
            <a:avLst/>
          </a:prstGeom>
          <a:ln w="15875">
            <a:noFill/>
          </a:ln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defRPr sz="1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30 July 2026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Chap 3: Conceptualising interaction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615440" y="1635368"/>
            <a:ext cx="8961120" cy="3606845"/>
          </a:xfrm>
        </p:spPr>
        <p:txBody>
          <a:bodyPr anchor="ctr">
            <a:normAutofit/>
          </a:bodyPr>
          <a:lstStyle>
            <a:lvl1pPr marL="164592" indent="-164592" algn="ctr">
              <a:lnSpc>
                <a:spcPct val="100000"/>
              </a:lnSpc>
              <a:spcBef>
                <a:spcPts val="0"/>
              </a:spcBef>
              <a:buNone/>
              <a:defRPr sz="360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360592653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0851C64-A7BE-1C72-3E57-4775B409DC8A}"/>
              </a:ext>
            </a:extLst>
          </p:cNvPr>
          <p:cNvGrpSpPr/>
          <p:nvPr userDrawn="1"/>
        </p:nvGrpSpPr>
        <p:grpSpPr>
          <a:xfrm>
            <a:off x="1524" y="2369525"/>
            <a:ext cx="12190476" cy="4488475"/>
            <a:chOff x="1524" y="2369525"/>
            <a:chExt cx="12190476" cy="4488475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F3584888-406D-19CF-E760-2B48E0ABB0C8}"/>
                </a:ext>
              </a:extLst>
            </p:cNvPr>
            <p:cNvCxnSpPr>
              <a:cxnSpLocks/>
            </p:cNvCxnSpPr>
            <p:nvPr/>
          </p:nvCxnSpPr>
          <p:spPr>
            <a:xfrm>
              <a:off x="4075888" y="2606040"/>
              <a:ext cx="0" cy="425196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9A749300-540B-EA3D-22F0-87D400B0C33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4" y="2599982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3B4F06D6-F8BF-9F65-C268-860831C1842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48" y="2369525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803" y="3275676"/>
            <a:ext cx="3595138" cy="2889149"/>
          </a:xfrm>
        </p:spPr>
        <p:txBody>
          <a:bodyPr anchor="ctr" anchorCtr="0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Picture Placeholder 10">
            <a:extLst>
              <a:ext uri="{FF2B5EF4-FFF2-40B4-BE49-F238E27FC236}">
                <a16:creationId xmlns:a16="http://schemas.microsoft.com/office/drawing/2014/main" id="{4480451A-EDD2-119A-DA35-2DFD2B24576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2353456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4DC103C-4E45-07FA-2734-5BAE2624DC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58859" y="3153127"/>
            <a:ext cx="3200400" cy="3011697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88F1ED9-CE64-0191-F909-FDC002A7456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315058" y="3153127"/>
            <a:ext cx="3200400" cy="3011697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66928" y="6309360"/>
            <a:ext cx="1371600" cy="365760"/>
          </a:xfrm>
        </p:spPr>
        <p:txBody>
          <a:bodyPr/>
          <a:lstStyle/>
          <a:p>
            <a:r>
              <a:rPr lang="en-US"/>
              <a:t>30 July 2026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7249" y="6309360"/>
            <a:ext cx="2805405" cy="365125"/>
          </a:xfrm>
        </p:spPr>
        <p:txBody>
          <a:bodyPr/>
          <a:lstStyle/>
          <a:p>
            <a:r>
              <a:rPr lang="en-US"/>
              <a:t>Chap 3: Conceptualising interaction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2890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6651479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DDF6C894-D1B4-57D3-91A7-279AB6F954CE}"/>
              </a:ext>
            </a:extLst>
          </p:cNvPr>
          <p:cNvGrpSpPr/>
          <p:nvPr userDrawn="1"/>
        </p:nvGrpSpPr>
        <p:grpSpPr>
          <a:xfrm>
            <a:off x="2319507" y="-3644"/>
            <a:ext cx="9882118" cy="6858000"/>
            <a:chOff x="2319507" y="-3644"/>
            <a:chExt cx="9882118" cy="6858000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EECF737A-CD16-4F1D-E4F3-176098CA5800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-878608" y="3425785"/>
              <a:ext cx="6857143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9A749300-540B-EA3D-22F0-87D400B0C336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-1109065" y="3424928"/>
              <a:ext cx="6857143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42997F95-5433-14AD-3BB0-7E0594932620}"/>
                </a:ext>
              </a:extLst>
            </p:cNvPr>
            <p:cNvCxnSpPr>
              <a:cxnSpLocks/>
            </p:cNvCxnSpPr>
            <p:nvPr/>
          </p:nvCxnSpPr>
          <p:spPr>
            <a:xfrm>
              <a:off x="2549963" y="2239968"/>
              <a:ext cx="965166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0450" y="548640"/>
            <a:ext cx="8396412" cy="1371600"/>
          </a:xfrm>
        </p:spPr>
        <p:txBody>
          <a:bodyPr anchor="b" anchorCtr="0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10">
            <a:extLst>
              <a:ext uri="{FF2B5EF4-FFF2-40B4-BE49-F238E27FC236}">
                <a16:creationId xmlns:a16="http://schemas.microsoft.com/office/drawing/2014/main" id="{4D6822CD-39C0-0CC2-075F-B33EE114F01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1"/>
            <a:ext cx="2312894" cy="6858000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4DC103C-4E45-07FA-2734-5BAE2624DC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987199" y="2560320"/>
            <a:ext cx="4023360" cy="365760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88F1ED9-CE64-0191-F909-FDC002A7456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443506" y="2560320"/>
            <a:ext cx="4023360" cy="365760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E5D4F6C2-06EF-3BFE-5938-6C304B0949F5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10268712" y="6309360"/>
            <a:ext cx="1371600" cy="365760"/>
          </a:xfrm>
        </p:spPr>
        <p:txBody>
          <a:bodyPr/>
          <a:lstStyle/>
          <a:p>
            <a:r>
              <a:rPr lang="en-US"/>
              <a:t>30 July 2026</a:t>
            </a:r>
            <a:endParaRPr lang="en-US" dirty="0"/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3970E9DE-1854-5825-875F-2FA7606667A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3335830" y="6309360"/>
            <a:ext cx="2805405" cy="365125"/>
          </a:xfrm>
        </p:spPr>
        <p:txBody>
          <a:bodyPr/>
          <a:lstStyle/>
          <a:p>
            <a:pPr algn="l"/>
            <a:r>
              <a:rPr lang="en-US"/>
              <a:t>Chap 3: Conceptualising interaction</a:t>
            </a:r>
            <a:endParaRPr lang="en-US" dirty="0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E8D4AEC5-2901-2491-7236-E3C375B5750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2888927" y="6309360"/>
            <a:ext cx="429207" cy="365125"/>
          </a:xfrm>
        </p:spPr>
        <p:txBody>
          <a:bodyPr/>
          <a:lstStyle>
            <a:lvl1pPr algn="l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9241254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744241"/>
            <a:ext cx="10741152" cy="113225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30 July 2026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Chap 3: Conceptualising interaction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4DC103C-4E45-07FA-2734-5BAE2624DC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2648" y="2067900"/>
            <a:ext cx="5181600" cy="4351338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88F1ED9-CE64-0191-F909-FDC002A7456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72073" y="2067900"/>
            <a:ext cx="5181600" cy="4351338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6836451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86E5640-DE07-46FE-2EFB-FCD8C5238D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600" y="2387600"/>
            <a:ext cx="5157788" cy="3763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0D5795C-6228-AA6F-1CF7-AD7010686B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72200" y="2387600"/>
            <a:ext cx="5183188" cy="3763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66928" y="6309360"/>
            <a:ext cx="1371600" cy="365760"/>
          </a:xfrm>
        </p:spPr>
        <p:txBody>
          <a:bodyPr/>
          <a:lstStyle/>
          <a:p>
            <a:r>
              <a:rPr lang="en-US"/>
              <a:t>30 July 2026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7249" y="6309360"/>
            <a:ext cx="2805405" cy="365125"/>
          </a:xfrm>
        </p:spPr>
        <p:txBody>
          <a:bodyPr/>
          <a:lstStyle/>
          <a:p>
            <a:r>
              <a:rPr lang="en-US"/>
              <a:t>Chap 3: Conceptualising interaction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2890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3271226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66928" y="6309360"/>
            <a:ext cx="1371600" cy="365760"/>
          </a:xfrm>
        </p:spPr>
        <p:txBody>
          <a:bodyPr/>
          <a:lstStyle/>
          <a:p>
            <a:r>
              <a:rPr lang="en-US"/>
              <a:t>30 July 2026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7249" y="6309360"/>
            <a:ext cx="2805405" cy="365125"/>
          </a:xfrm>
        </p:spPr>
        <p:txBody>
          <a:bodyPr/>
          <a:lstStyle/>
          <a:p>
            <a:r>
              <a:rPr lang="en-US"/>
              <a:t>Chap 3: Conceptualising interaction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2890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4519328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30 July 2026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Chap 3: Conceptualising interaction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901475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2311121"/>
            <a:ext cx="3595634" cy="3993263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66928" y="6309360"/>
            <a:ext cx="1371600" cy="365760"/>
          </a:xfrm>
        </p:spPr>
        <p:txBody>
          <a:bodyPr/>
          <a:lstStyle/>
          <a:p>
            <a:r>
              <a:rPr lang="en-US"/>
              <a:t>30 July 2026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5"/>
            <a:ext cx="6440258" cy="5755109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7249" y="6309360"/>
            <a:ext cx="2805405" cy="365125"/>
          </a:xfrm>
        </p:spPr>
        <p:txBody>
          <a:bodyPr/>
          <a:lstStyle/>
          <a:p>
            <a:r>
              <a:rPr lang="en-US"/>
              <a:t>Chap 3: Conceptualising interaction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2890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1260740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66928" y="6309360"/>
            <a:ext cx="1371600" cy="365760"/>
          </a:xfrm>
        </p:spPr>
        <p:txBody>
          <a:bodyPr/>
          <a:lstStyle/>
          <a:p>
            <a:r>
              <a:rPr lang="en-US"/>
              <a:t>30 July 2026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84248" y="6309360"/>
            <a:ext cx="1834543" cy="365125"/>
          </a:xfrm>
        </p:spPr>
        <p:txBody>
          <a:bodyPr/>
          <a:lstStyle/>
          <a:p>
            <a:r>
              <a:rPr lang="en-US"/>
              <a:t>Chap 3: Conceptualising interaction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769027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557784"/>
            <a:ext cx="6519080" cy="5779007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5758553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776" y="347472"/>
            <a:ext cx="11009322" cy="1133856"/>
          </a:xfrm>
        </p:spPr>
        <p:txBody>
          <a:bodyPr anchor="b">
            <a:noAutofit/>
          </a:bodyPr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775" y="1707502"/>
            <a:ext cx="11009322" cy="4236098"/>
          </a:xfrm>
          <a:noFill/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66928" y="6309360"/>
            <a:ext cx="1371600" cy="365760"/>
          </a:xfrm>
        </p:spPr>
        <p:txBody>
          <a:bodyPr/>
          <a:lstStyle/>
          <a:p>
            <a:r>
              <a:rPr lang="en-US"/>
              <a:t>30 July 2026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7249" y="6309360"/>
            <a:ext cx="2805405" cy="365125"/>
          </a:xfrm>
        </p:spPr>
        <p:txBody>
          <a:bodyPr/>
          <a:lstStyle/>
          <a:p>
            <a:r>
              <a:rPr lang="en-US"/>
              <a:t>Chap 3: Conceptualising interaction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2890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36585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4">
            <a:extLst>
              <a:ext uri="{FF2B5EF4-FFF2-40B4-BE49-F238E27FC236}">
                <a16:creationId xmlns:a16="http://schemas.microsoft.com/office/drawing/2014/main" id="{C4B93E9A-7B3C-D739-A537-E0C99704C1D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308481" y="0"/>
            <a:ext cx="9883518" cy="6857999"/>
          </a:xfrm>
          <a:custGeom>
            <a:avLst/>
            <a:gdLst>
              <a:gd name="connsiteX0" fmla="*/ 0 w 8127902"/>
              <a:gd name="connsiteY0" fmla="*/ 5452946 h 6857999"/>
              <a:gd name="connsiteX1" fmla="*/ 8127902 w 8127902"/>
              <a:gd name="connsiteY1" fmla="*/ 5452946 h 6857999"/>
              <a:gd name="connsiteX2" fmla="*/ 8127902 w 8127902"/>
              <a:gd name="connsiteY2" fmla="*/ 6857999 h 6857999"/>
              <a:gd name="connsiteX3" fmla="*/ 0 w 8127902"/>
              <a:gd name="connsiteY3" fmla="*/ 6857999 h 6857999"/>
              <a:gd name="connsiteX4" fmla="*/ 0 w 8127902"/>
              <a:gd name="connsiteY4" fmla="*/ 0 h 6857999"/>
              <a:gd name="connsiteX5" fmla="*/ 8127902 w 8127902"/>
              <a:gd name="connsiteY5" fmla="*/ 0 h 6857999"/>
              <a:gd name="connsiteX6" fmla="*/ 8127902 w 8127902"/>
              <a:gd name="connsiteY6" fmla="*/ 1382751 h 6857999"/>
              <a:gd name="connsiteX7" fmla="*/ 0 w 8127902"/>
              <a:gd name="connsiteY7" fmla="*/ 1382751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127902" h="6857999">
                <a:moveTo>
                  <a:pt x="0" y="5452946"/>
                </a:moveTo>
                <a:lnTo>
                  <a:pt x="8127902" y="5452946"/>
                </a:lnTo>
                <a:lnTo>
                  <a:pt x="8127902" y="6857999"/>
                </a:lnTo>
                <a:lnTo>
                  <a:pt x="0" y="6857999"/>
                </a:lnTo>
                <a:close/>
                <a:moveTo>
                  <a:pt x="0" y="0"/>
                </a:moveTo>
                <a:lnTo>
                  <a:pt x="8127902" y="0"/>
                </a:lnTo>
                <a:lnTo>
                  <a:pt x="8127902" y="1382751"/>
                </a:lnTo>
                <a:lnTo>
                  <a:pt x="0" y="1382751"/>
                </a:lnTo>
                <a:close/>
              </a:path>
            </a:pathLst>
          </a:custGeo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40C21F1-162E-8951-B67D-4497E13354A2}"/>
              </a:ext>
            </a:extLst>
          </p:cNvPr>
          <p:cNvGrpSpPr/>
          <p:nvPr userDrawn="1"/>
        </p:nvGrpSpPr>
        <p:grpSpPr>
          <a:xfrm>
            <a:off x="1524" y="-1"/>
            <a:ext cx="12190476" cy="6858001"/>
            <a:chOff x="1524" y="-1"/>
            <a:chExt cx="12190476" cy="6858001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A791CF62-4928-7BDE-C6EE-02CDA853F4E5}"/>
                </a:ext>
              </a:extLst>
            </p:cNvPr>
            <p:cNvCxnSpPr>
              <a:cxnSpLocks/>
            </p:cNvCxnSpPr>
            <p:nvPr/>
          </p:nvCxnSpPr>
          <p:spPr>
            <a:xfrm>
              <a:off x="3048" y="1379292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35FD0D36-770E-938A-A59C-85DB2434CFE3}"/>
                </a:ext>
              </a:extLst>
            </p:cNvPr>
            <p:cNvCxnSpPr>
              <a:cxnSpLocks/>
            </p:cNvCxnSpPr>
            <p:nvPr/>
          </p:nvCxnSpPr>
          <p:spPr>
            <a:xfrm>
              <a:off x="1524" y="1609749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F902DDA-71C4-D5B9-74D7-EB5DF9A7DE5D}"/>
                </a:ext>
              </a:extLst>
            </p:cNvPr>
            <p:cNvCxnSpPr>
              <a:cxnSpLocks/>
            </p:cNvCxnSpPr>
            <p:nvPr/>
          </p:nvCxnSpPr>
          <p:spPr>
            <a:xfrm>
              <a:off x="3048" y="5230685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661918F-9F99-CD5F-BFE6-E39CA1548658}"/>
                </a:ext>
              </a:extLst>
            </p:cNvPr>
            <p:cNvCxnSpPr>
              <a:cxnSpLocks/>
            </p:cNvCxnSpPr>
            <p:nvPr/>
          </p:nvCxnSpPr>
          <p:spPr>
            <a:xfrm>
              <a:off x="1524" y="5461142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4FD8B191-4931-900A-AB3A-6097D34C028C}"/>
                </a:ext>
              </a:extLst>
            </p:cNvPr>
            <p:cNvCxnSpPr/>
            <p:nvPr/>
          </p:nvCxnSpPr>
          <p:spPr>
            <a:xfrm>
              <a:off x="2297240" y="-1"/>
              <a:ext cx="0" cy="6858001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6413" y="1788680"/>
            <a:ext cx="8430767" cy="870542"/>
          </a:xfrm>
        </p:spPr>
        <p:txBody>
          <a:bodyPr anchor="b">
            <a:no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5329" y="557784"/>
            <a:ext cx="1371600" cy="365760"/>
          </a:xfrm>
        </p:spPr>
        <p:txBody>
          <a:bodyPr/>
          <a:lstStyle/>
          <a:p>
            <a:r>
              <a:rPr lang="en-US"/>
              <a:t>30 July 2026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01379" y="5748055"/>
            <a:ext cx="429207" cy="365125"/>
          </a:xfrm>
        </p:spPr>
        <p:txBody>
          <a:bodyPr/>
          <a:lstStyle>
            <a:lvl1pPr algn="l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1379" y="6143001"/>
            <a:ext cx="1463040" cy="365125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Chap 3: Conceptualising interaction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2866541" y="2784670"/>
            <a:ext cx="8430639" cy="2281852"/>
          </a:xfrm>
        </p:spPr>
        <p:txBody>
          <a:bodyPr>
            <a:noAutofit/>
          </a:bodyPr>
          <a:lstStyle>
            <a:lvl1pPr marL="0" indent="0">
              <a:buNone/>
              <a:defRPr sz="2000" i="1"/>
            </a:lvl1pPr>
            <a:lvl2pPr marL="228600" indent="0">
              <a:buNone/>
              <a:defRPr sz="2000" i="1"/>
            </a:lvl2pPr>
            <a:lvl3pPr marL="457200" indent="0">
              <a:buNone/>
              <a:defRPr sz="2000" i="1"/>
            </a:lvl3pPr>
            <a:lvl4pPr marL="685800" indent="0">
              <a:buNone/>
              <a:defRPr sz="2000" i="1"/>
            </a:lvl4pPr>
            <a:lvl5pPr marL="914400" indent="0">
              <a:buNone/>
              <a:defRPr sz="2000" i="1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1173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+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C4800BB6-9A67-E776-4697-AD16A57E27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390" y="304800"/>
            <a:ext cx="10819361" cy="1409696"/>
          </a:xfr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90996" y="1981199"/>
            <a:ext cx="4762393" cy="4343403"/>
          </a:xfrm>
        </p:spPr>
        <p:txBody>
          <a:bodyPr>
            <a:normAutofit/>
          </a:bodyPr>
          <a:lstStyle>
            <a:lvl1pPr marL="0" indent="0" algn="l" defTabSz="1218987" rtl="0" eaLnBrk="1" latinLnBrk="0" hangingPunct="1">
              <a:lnSpc>
                <a:spcPct val="125000"/>
              </a:lnSpc>
              <a:buSzPct val="100000"/>
              <a:buFont typeface="Arial" panose="020B0604020202020204" pitchFamily="34" charset="0"/>
              <a:buNone/>
              <a:defRPr lang="en-US" sz="1800" b="1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26645" indent="0" algn="l" defTabSz="1218987" rtl="0" eaLnBrk="1" latinLnBrk="0" hangingPunct="1">
              <a:lnSpc>
                <a:spcPct val="125000"/>
              </a:lnSpc>
              <a:buSzPct val="100000"/>
              <a:buFont typeface="Arial" panose="020B0604020202020204" pitchFamily="34" charset="0"/>
              <a:buNone/>
              <a:defRPr lang="en-US" sz="18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53290" indent="0" algn="l" defTabSz="1218987" rtl="0" eaLnBrk="1" latinLnBrk="0" hangingPunct="1">
              <a:lnSpc>
                <a:spcPct val="125000"/>
              </a:lnSpc>
              <a:buSzPct val="100000"/>
              <a:buFont typeface="Arial" panose="020B0604020202020204" pitchFamily="34" charset="0"/>
              <a:buNone/>
              <a:defRPr lang="en-US" sz="18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79936" indent="0" algn="l" defTabSz="1218987" rtl="0" eaLnBrk="1" latinLnBrk="0" hangingPunct="1">
              <a:lnSpc>
                <a:spcPct val="125000"/>
              </a:lnSpc>
              <a:buSzPct val="100000"/>
              <a:buFont typeface="Arial" panose="020B0604020202020204" pitchFamily="34" charset="0"/>
              <a:buNone/>
              <a:defRPr lang="en-US" sz="18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706581" indent="0" algn="l" defTabSz="1218987" rtl="0" eaLnBrk="1" latinLnBrk="0" hangingPunct="1">
              <a:lnSpc>
                <a:spcPct val="125000"/>
              </a:lnSpc>
              <a:buSzPct val="100000"/>
              <a:buFont typeface="Arial" panose="020B0604020202020204" pitchFamily="34" charset="0"/>
              <a:buNone/>
              <a:defRPr lang="en-US" sz="18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011328">
              <a:defRPr sz="1800"/>
            </a:lvl6pPr>
            <a:lvl7pPr marL="2011328">
              <a:defRPr sz="1800"/>
            </a:lvl7pPr>
            <a:lvl8pPr marL="2011328">
              <a:defRPr sz="1800"/>
            </a:lvl8pPr>
            <a:lvl9pPr marL="2011328"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11" name="Table Placeholder 10">
            <a:extLst>
              <a:ext uri="{FF2B5EF4-FFF2-40B4-BE49-F238E27FC236}">
                <a16:creationId xmlns:a16="http://schemas.microsoft.com/office/drawing/2014/main" id="{99AF5368-6359-DE88-48EA-377AD855CA68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6238612" y="1981200"/>
            <a:ext cx="4887597" cy="4343404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523934" y="6477000"/>
            <a:ext cx="2743200" cy="274320"/>
          </a:xfrm>
        </p:spPr>
        <p:txBody>
          <a:bodyPr/>
          <a:lstStyle/>
          <a:p>
            <a:r>
              <a:rPr lang="en-US"/>
              <a:t>2025</a:t>
            </a:r>
            <a:endParaRPr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476671" y="6477000"/>
            <a:ext cx="5212080" cy="274320"/>
          </a:xfrm>
        </p:spPr>
        <p:txBody>
          <a:bodyPr/>
          <a:lstStyle/>
          <a:p>
            <a:r>
              <a:rPr lang="en-US"/>
              <a:t>Chapter 3 - Conceptualising interaction</a:t>
            </a:r>
            <a:endParaRPr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283763" y="6476800"/>
            <a:ext cx="1463040" cy="274320"/>
          </a:xfrm>
        </p:spPr>
        <p:txBody>
          <a:bodyPr/>
          <a:lstStyle/>
          <a:p>
            <a:fld id="{EB37DED6-D4C7-42EE-AB49-D2E39E64FDE4}" type="slidenum">
              <a:rPr/>
              <a:t>‹#›</a:t>
            </a:fld>
            <a:endParaRPr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D7651CB-E3BE-44F2-AB93-2F2B890E8D48}"/>
              </a:ext>
            </a:extLst>
          </p:cNvPr>
          <p:cNvCxnSpPr/>
          <p:nvPr userDrawn="1"/>
        </p:nvCxnSpPr>
        <p:spPr>
          <a:xfrm>
            <a:off x="417621" y="0"/>
            <a:ext cx="0" cy="685800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7451533-C933-7554-F5A4-FA304649F8F6}"/>
              </a:ext>
            </a:extLst>
          </p:cNvPr>
          <p:cNvCxnSpPr/>
          <p:nvPr userDrawn="1"/>
        </p:nvCxnSpPr>
        <p:spPr>
          <a:xfrm>
            <a:off x="11774378" y="0"/>
            <a:ext cx="0" cy="685800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D64DB75A-EB01-D40E-71D2-F4E204038454}"/>
              </a:ext>
            </a:extLst>
          </p:cNvPr>
          <p:cNvSpPr/>
          <p:nvPr userDrawn="1"/>
        </p:nvSpPr>
        <p:spPr>
          <a:xfrm rot="5400000">
            <a:off x="94509" y="3220191"/>
            <a:ext cx="228600" cy="417623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003206E-AF91-F0B8-AA30-56D09F017F8F}"/>
              </a:ext>
            </a:extLst>
          </p:cNvPr>
          <p:cNvSpPr/>
          <p:nvPr userDrawn="1"/>
        </p:nvSpPr>
        <p:spPr>
          <a:xfrm rot="16200000" flipH="1">
            <a:off x="11868890" y="3220191"/>
            <a:ext cx="228600" cy="417623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1575E8EA-8F83-0788-D36C-1073DCABAF14}"/>
              </a:ext>
            </a:extLst>
          </p:cNvPr>
          <p:cNvCxnSpPr/>
          <p:nvPr userDrawn="1"/>
        </p:nvCxnSpPr>
        <p:spPr>
          <a:xfrm>
            <a:off x="303291" y="0"/>
            <a:ext cx="0" cy="685800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A55FD68-717E-A334-18EE-66D76FF8157C}"/>
              </a:ext>
            </a:extLst>
          </p:cNvPr>
          <p:cNvCxnSpPr/>
          <p:nvPr userDrawn="1"/>
        </p:nvCxnSpPr>
        <p:spPr>
          <a:xfrm>
            <a:off x="11888709" y="0"/>
            <a:ext cx="0" cy="685800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97117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63" Type="http://schemas.openxmlformats.org/officeDocument/2006/relationships/slideLayout" Target="../slideLayouts/slideLayout6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10000"/>
            <a:lumOff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66928" y="187080"/>
            <a:ext cx="1371600" cy="365760"/>
          </a:xfrm>
          <a:prstGeom prst="roundRect">
            <a:avLst>
              <a:gd name="adj" fmla="val 50000"/>
            </a:avLst>
          </a:prstGeom>
          <a:ln w="15875"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30 July 2026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437249" y="187080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Chap 3: Conceptualising interaction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92890" y="187080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177088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7" r:id="rId1"/>
    <p:sldLayoutId id="2147483778" r:id="rId2"/>
    <p:sldLayoutId id="2147483780" r:id="rId3"/>
    <p:sldLayoutId id="2147483781" r:id="rId4"/>
    <p:sldLayoutId id="2147483782" r:id="rId5"/>
    <p:sldLayoutId id="2147483783" r:id="rId6"/>
    <p:sldLayoutId id="2147483839" r:id="rId7"/>
    <p:sldLayoutId id="2147483784" r:id="rId8"/>
    <p:sldLayoutId id="2147483785" r:id="rId9"/>
    <p:sldLayoutId id="2147483786" r:id="rId10"/>
    <p:sldLayoutId id="2147483787" r:id="rId11"/>
    <p:sldLayoutId id="2147483788" r:id="rId12"/>
    <p:sldLayoutId id="2147483789" r:id="rId13"/>
    <p:sldLayoutId id="2147483790" r:id="rId14"/>
    <p:sldLayoutId id="2147483791" r:id="rId15"/>
    <p:sldLayoutId id="2147483792" r:id="rId16"/>
    <p:sldLayoutId id="2147483779" r:id="rId17"/>
    <p:sldLayoutId id="2147483793" r:id="rId18"/>
    <p:sldLayoutId id="2147483794" r:id="rId19"/>
    <p:sldLayoutId id="2147483795" r:id="rId20"/>
    <p:sldLayoutId id="2147483796" r:id="rId21"/>
    <p:sldLayoutId id="2147483797" r:id="rId22"/>
    <p:sldLayoutId id="2147483798" r:id="rId23"/>
    <p:sldLayoutId id="2147483799" r:id="rId24"/>
    <p:sldLayoutId id="2147483800" r:id="rId25"/>
    <p:sldLayoutId id="2147483801" r:id="rId26"/>
    <p:sldLayoutId id="2147483802" r:id="rId27"/>
    <p:sldLayoutId id="2147483803" r:id="rId28"/>
    <p:sldLayoutId id="2147483804" r:id="rId29"/>
    <p:sldLayoutId id="2147483805" r:id="rId30"/>
    <p:sldLayoutId id="2147483806" r:id="rId31"/>
    <p:sldLayoutId id="2147483807" r:id="rId32"/>
    <p:sldLayoutId id="2147483808" r:id="rId33"/>
    <p:sldLayoutId id="2147483810" r:id="rId34"/>
    <p:sldLayoutId id="2147483811" r:id="rId35"/>
    <p:sldLayoutId id="2147483812" r:id="rId36"/>
    <p:sldLayoutId id="2147483813" r:id="rId37"/>
    <p:sldLayoutId id="2147483815" r:id="rId38"/>
    <p:sldLayoutId id="2147483816" r:id="rId39"/>
    <p:sldLayoutId id="2147483817" r:id="rId40"/>
    <p:sldLayoutId id="2147483809" r:id="rId41"/>
    <p:sldLayoutId id="2147483814" r:id="rId42"/>
    <p:sldLayoutId id="2147483819" r:id="rId43"/>
    <p:sldLayoutId id="2147483820" r:id="rId44"/>
    <p:sldLayoutId id="2147483821" r:id="rId45"/>
    <p:sldLayoutId id="2147483822" r:id="rId46"/>
    <p:sldLayoutId id="2147483818" r:id="rId47"/>
    <p:sldLayoutId id="2147483823" r:id="rId48"/>
    <p:sldLayoutId id="2147483825" r:id="rId49"/>
    <p:sldLayoutId id="2147483826" r:id="rId50"/>
    <p:sldLayoutId id="2147483827" r:id="rId51"/>
    <p:sldLayoutId id="2147483828" r:id="rId52"/>
    <p:sldLayoutId id="2147483829" r:id="rId53"/>
    <p:sldLayoutId id="2147483830" r:id="rId54"/>
    <p:sldLayoutId id="2147483831" r:id="rId55"/>
    <p:sldLayoutId id="2147483832" r:id="rId56"/>
    <p:sldLayoutId id="2147483833" r:id="rId57"/>
    <p:sldLayoutId id="2147483834" r:id="rId58"/>
    <p:sldLayoutId id="2147483835" r:id="rId59"/>
    <p:sldLayoutId id="2147483836" r:id="rId60"/>
    <p:sldLayoutId id="2147483837" r:id="rId61"/>
    <p:sldLayoutId id="2147483838" r:id="rId62"/>
    <p:sldLayoutId id="2147483840" r:id="rId63"/>
  </p:sldLayoutIdLst>
  <p:hf hdr="0"/>
  <p:txStyles>
    <p:titleStyle>
      <a:lvl1pPr algn="l" defTabSz="914400" rtl="0" eaLnBrk="1" latinLnBrk="0" hangingPunct="1">
        <a:lnSpc>
          <a:spcPct val="75000"/>
        </a:lnSpc>
        <a:spcBef>
          <a:spcPct val="0"/>
        </a:spcBef>
        <a:buNone/>
        <a:defRPr sz="36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>
          <p15:clr>
            <a:srgbClr val="F26B43"/>
          </p15:clr>
        </p15:guide>
        <p15:guide id="6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unsplash.com/@halacious?utm_source=unsplash&amp;utm_medium=referral&amp;utm_content=creditCopyText" TargetMode="External"/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18.xml"/><Relationship Id="rId4" Type="http://schemas.openxmlformats.org/officeDocument/2006/relationships/hyperlink" Target="https://unsplash.com/photos/illustration-of-smartphone-application-screenshots-WigzKVxu2k8?utm_source=unsplash&amp;utm_medium=referral&amp;utm_content=creditCopyText" TargetMode="Externa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4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63.xml"/><Relationship Id="rId5" Type="http://schemas.openxmlformats.org/officeDocument/2006/relationships/hyperlink" Target="03%20SMART%20HOUSE%20&#8211;%20ENGLISH%20VERSION.mp4" TargetMode="External"/><Relationship Id="rId4" Type="http://schemas.openxmlformats.org/officeDocument/2006/relationships/image" Target="../media/image4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6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63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63.xml"/><Relationship Id="rId4" Type="http://schemas.openxmlformats.org/officeDocument/2006/relationships/image" Target="../media/image5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hyperlink" Target="https://doi.org/10.1002/asi.24136" TargetMode="External"/><Relationship Id="rId1" Type="http://schemas.openxmlformats.org/officeDocument/2006/relationships/slideLayout" Target="../slideLayouts/slideLayout63.xml"/><Relationship Id="rId4" Type="http://schemas.openxmlformats.org/officeDocument/2006/relationships/image" Target="../media/image53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56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vimeo.com/128873380" TargetMode="External"/><Relationship Id="rId2" Type="http://schemas.openxmlformats.org/officeDocument/2006/relationships/image" Target="../media/image54.jpg"/><Relationship Id="rId1" Type="http://schemas.openxmlformats.org/officeDocument/2006/relationships/slideLayout" Target="../slideLayouts/slideLayout2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3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unsplash.com/@juniorferreir_?utm_source=unsplash&amp;utm_medium=referral&amp;utm_content=creditCopyText" TargetMode="External"/><Relationship Id="rId2" Type="http://schemas.openxmlformats.org/officeDocument/2006/relationships/image" Target="../media/image56.jpeg"/><Relationship Id="rId1" Type="http://schemas.openxmlformats.org/officeDocument/2006/relationships/slideLayout" Target="../slideLayouts/slideLayout47.xml"/><Relationship Id="rId4" Type="http://schemas.openxmlformats.org/officeDocument/2006/relationships/hyperlink" Target="https://unsplash.com/photos/person-catching-light-bulb-7esRPTt38nI?utm_source=unsplash&amp;utm_medium=referral&amp;utm_content=creditCopyText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7EB7006-F452-AE5A-DF0E-684DACC6A1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82583" y="984562"/>
            <a:ext cx="7551109" cy="3071446"/>
          </a:xfrm>
        </p:spPr>
        <p:txBody>
          <a:bodyPr/>
          <a:lstStyle/>
          <a:p>
            <a:r>
              <a:rPr lang="en-US" sz="6000" dirty="0"/>
              <a:t>User-Interface Design</a:t>
            </a:r>
            <a:br>
              <a:rPr lang="en-US" sz="6000" dirty="0"/>
            </a:br>
            <a:r>
              <a:rPr lang="en-US" sz="6000" dirty="0"/>
              <a:t>WUIV302</a:t>
            </a:r>
            <a:endParaRPr lang="en-US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778AC6CA-478E-C9E1-D6DD-17E204C122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82583" y="3685880"/>
            <a:ext cx="2569286" cy="539880"/>
          </a:xfrm>
        </p:spPr>
        <p:txBody>
          <a:bodyPr/>
          <a:lstStyle/>
          <a:p>
            <a:r>
              <a:rPr lang="en-US" dirty="0"/>
              <a:t>Lynette Barnard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CD3531-49C6-C8D3-3030-A7A1324B55C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182583" y="5432520"/>
            <a:ext cx="1645920" cy="576072"/>
          </a:xfrm>
        </p:spPr>
        <p:txBody>
          <a:bodyPr/>
          <a:lstStyle/>
          <a:p>
            <a:r>
              <a:rPr lang="en-US"/>
              <a:t>30 July 2026</a:t>
            </a:r>
            <a:endParaRPr lang="en-US" dirty="0"/>
          </a:p>
        </p:txBody>
      </p:sp>
      <p:pic>
        <p:nvPicPr>
          <p:cNvPr id="37" name="Picture Placeholder 36">
            <a:extLst>
              <a:ext uri="{FF2B5EF4-FFF2-40B4-BE49-F238E27FC236}">
                <a16:creationId xmlns:a16="http://schemas.microsoft.com/office/drawing/2014/main" id="{2B99809D-15B7-4076-2D5F-D4BF68A2D1E9}"/>
              </a:ext>
            </a:extLst>
          </p:cNvPr>
          <p:cNvPicPr>
            <a:picLocks noGrp="1" noChangeAspect="1"/>
          </p:cNvPicPr>
          <p:nvPr>
            <p:ph type="pic" sz="quarter" idx="4294967295"/>
          </p:nvPr>
        </p:nvPicPr>
        <p:blipFill>
          <a:blip r:embed="rId2" cstate="screen">
            <a:alphaModFix amt="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lasticWrap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142413" y="4583112"/>
            <a:ext cx="3049587" cy="2274888"/>
          </a:xfrm>
        </p:spPr>
      </p:pic>
    </p:spTree>
    <p:extLst>
      <p:ext uri="{BB962C8B-B14F-4D97-AF65-F5344CB8AC3E}">
        <p14:creationId xmlns:p14="http://schemas.microsoft.com/office/powerpoint/2010/main" val="20397447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20564-F972-E203-EE35-C950B9CF33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4270" y="2160947"/>
            <a:ext cx="2926080" cy="2509763"/>
          </a:xfrm>
        </p:spPr>
        <p:txBody>
          <a:bodyPr/>
          <a:lstStyle/>
          <a:p>
            <a:r>
              <a:rPr lang="en-US" dirty="0"/>
              <a:t>Agenda</a:t>
            </a:r>
          </a:p>
        </p:txBody>
      </p:sp>
      <p:pic>
        <p:nvPicPr>
          <p:cNvPr id="12" name="Picture Placeholder 11">
            <a:extLst>
              <a:ext uri="{FF2B5EF4-FFF2-40B4-BE49-F238E27FC236}">
                <a16:creationId xmlns:a16="http://schemas.microsoft.com/office/drawing/2014/main" id="{70FEB2CF-438C-9F4C-380C-DC90E74CD15A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 cstate="screen">
            <a:alphaModFix amt="3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064097" y="-1"/>
            <a:ext cx="8127902" cy="6857991"/>
          </a:xfrm>
          <a:noFill/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373658-2FC7-ACE2-A789-1E19C74F85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730442" y="2158528"/>
            <a:ext cx="6785736" cy="2514600"/>
          </a:xfrm>
        </p:spPr>
        <p:txBody>
          <a:bodyPr>
            <a:normAutofit/>
          </a:bodyPr>
          <a:lstStyle/>
          <a:p>
            <a:r>
              <a:rPr lang="en-US" sz="2800" dirty="0" err="1"/>
              <a:t>Conceptualising</a:t>
            </a:r>
            <a:r>
              <a:rPr lang="en-US" sz="2800" dirty="0"/>
              <a:t> interaction</a:t>
            </a:r>
          </a:p>
          <a:p>
            <a:r>
              <a:rPr lang="en-US" sz="2800" dirty="0"/>
              <a:t>Check class list details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9B1C8A-6F93-18A9-5211-0C7E81FE4A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30 July 2026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B3BF5E-9D2F-6F81-533E-A357B38D6E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16594" y="525786"/>
            <a:ext cx="2650433" cy="365125"/>
          </a:xfrm>
        </p:spPr>
        <p:txBody>
          <a:bodyPr/>
          <a:lstStyle/>
          <a:p>
            <a:r>
              <a:rPr lang="en-US"/>
              <a:t>Chap 3: Conceptualising interaction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86E94F-E7F9-7D5F-823C-C2549AB45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89752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A2F0D-EEF2-AFE9-63E6-A2BC1179D4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14000"/>
              </a:lnSpc>
            </a:pPr>
            <a:r>
              <a:rPr lang="en-ZA" dirty="0"/>
              <a:t>From Problem Space to Design Space</a:t>
            </a:r>
          </a:p>
        </p:txBody>
      </p:sp>
      <p:pic>
        <p:nvPicPr>
          <p:cNvPr id="15" name="Picture Placeholder 14" descr="A screenshot of a computer&#10;&#10;Description automatically generated">
            <a:extLst>
              <a:ext uri="{FF2B5EF4-FFF2-40B4-BE49-F238E27FC236}">
                <a16:creationId xmlns:a16="http://schemas.microsoft.com/office/drawing/2014/main" id="{AC31A2C3-B711-59BB-37C2-AF1286ECA6D2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602" r="18602"/>
          <a:stretch>
            <a:fillRect/>
          </a:stretch>
        </p:blipFill>
        <p:spPr/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EAC8B6-A88A-31B7-98E2-D95164C56F7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253745" y="2212975"/>
            <a:ext cx="4765430" cy="4095750"/>
          </a:xfrm>
        </p:spPr>
        <p:txBody>
          <a:bodyPr>
            <a:normAutofit lnSpcReduction="10000"/>
          </a:bodyPr>
          <a:lstStyle/>
          <a:p>
            <a:r>
              <a:rPr lang="en-ZA" dirty="0"/>
              <a:t>Last week </a:t>
            </a:r>
            <a:r>
              <a:rPr lang="en-ZA" dirty="0">
                <a:sym typeface="Wingdings" panose="05000000000000000000" pitchFamily="2" charset="2"/>
              </a:rPr>
              <a:t> Problem Space investigated</a:t>
            </a:r>
          </a:p>
          <a:p>
            <a:r>
              <a:rPr lang="en-ZA" dirty="0">
                <a:sym typeface="Wingdings" panose="05000000000000000000" pitchFamily="2" charset="2"/>
              </a:rPr>
              <a:t>This week  Design Space</a:t>
            </a:r>
          </a:p>
          <a:p>
            <a:pPr lvl="1"/>
            <a:r>
              <a:rPr lang="en-ZA" dirty="0">
                <a:sym typeface="Wingdings" panose="05000000000000000000" pitchFamily="2" charset="2"/>
              </a:rPr>
              <a:t>Goes from </a:t>
            </a:r>
            <a:r>
              <a:rPr lang="en-ZA" i="1" dirty="0">
                <a:sym typeface="Wingdings" panose="05000000000000000000" pitchFamily="2" charset="2"/>
              </a:rPr>
              <a:t>discover</a:t>
            </a:r>
            <a:r>
              <a:rPr lang="en-ZA" dirty="0">
                <a:sym typeface="Wingdings" panose="05000000000000000000" pitchFamily="2" charset="2"/>
              </a:rPr>
              <a:t> phase, into </a:t>
            </a:r>
            <a:r>
              <a:rPr lang="en-ZA" i="1" dirty="0">
                <a:sym typeface="Wingdings" panose="05000000000000000000" pitchFamily="2" charset="2"/>
              </a:rPr>
              <a:t>define</a:t>
            </a:r>
            <a:r>
              <a:rPr lang="en-ZA" dirty="0">
                <a:sym typeface="Wingdings" panose="05000000000000000000" pitchFamily="2" charset="2"/>
              </a:rPr>
              <a:t> phase (answer </a:t>
            </a:r>
            <a:r>
              <a:rPr lang="en-ZA" i="1" dirty="0">
                <a:sym typeface="Wingdings" panose="05000000000000000000" pitchFamily="2" charset="2"/>
              </a:rPr>
              <a:t>discover</a:t>
            </a:r>
            <a:r>
              <a:rPr lang="en-ZA" dirty="0">
                <a:sym typeface="Wingdings" panose="05000000000000000000" pitchFamily="2" charset="2"/>
              </a:rPr>
              <a:t> questions +…)</a:t>
            </a:r>
          </a:p>
          <a:p>
            <a:pPr lvl="1"/>
            <a:r>
              <a:rPr lang="en-ZA" dirty="0">
                <a:sym typeface="Wingdings" panose="05000000000000000000" pitchFamily="2" charset="2"/>
              </a:rPr>
              <a:t>Reality check; scrutinise for feasibility</a:t>
            </a:r>
          </a:p>
          <a:p>
            <a:pPr lvl="2"/>
            <a:r>
              <a:rPr lang="en-ZA" dirty="0">
                <a:sym typeface="Wingdings" panose="05000000000000000000" pitchFamily="2" charset="2"/>
              </a:rPr>
              <a:t>Ideas / assumptions about benefits &amp; UX</a:t>
            </a:r>
          </a:p>
          <a:p>
            <a:pPr lvl="2"/>
            <a:r>
              <a:rPr lang="en-ZA" dirty="0">
                <a:sym typeface="Wingdings" panose="05000000000000000000" pitchFamily="2" charset="2"/>
              </a:rPr>
              <a:t>Assumptions and claims made</a:t>
            </a:r>
          </a:p>
          <a:p>
            <a:pPr lvl="3"/>
            <a:r>
              <a:rPr lang="en-ZA" dirty="0">
                <a:sym typeface="Wingdings" panose="05000000000000000000" pitchFamily="2" charset="2"/>
              </a:rPr>
              <a:t>Assumption – current state</a:t>
            </a:r>
          </a:p>
          <a:p>
            <a:pPr lvl="3"/>
            <a:r>
              <a:rPr lang="en-ZA" dirty="0">
                <a:sym typeface="Wingdings" panose="05000000000000000000" pitchFamily="2" charset="2"/>
              </a:rPr>
              <a:t>Claims – future state </a:t>
            </a:r>
          </a:p>
          <a:p>
            <a:pPr lvl="2"/>
            <a:endParaRPr lang="en-ZA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029580-627E-A824-383B-E5255987256B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/>
              <a:t>30 July 2026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5CED18-3195-B4FC-A58C-E56532425F4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Chap 3: Conceptualising interaction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6B7D14-109B-D91F-4B67-34F5ED64698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16" name="Arrow: Left 15">
            <a:extLst>
              <a:ext uri="{FF2B5EF4-FFF2-40B4-BE49-F238E27FC236}">
                <a16:creationId xmlns:a16="http://schemas.microsoft.com/office/drawing/2014/main" id="{ECC35FF2-8221-58B1-C082-0010C06F42F3}"/>
              </a:ext>
            </a:extLst>
          </p:cNvPr>
          <p:cNvSpPr/>
          <p:nvPr/>
        </p:nvSpPr>
        <p:spPr>
          <a:xfrm>
            <a:off x="6641494" y="2328421"/>
            <a:ext cx="612251" cy="263950"/>
          </a:xfrm>
          <a:prstGeom prst="left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2404056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CC78A-9139-ED34-B5BB-C2922F4764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Conceptual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060C5B-6F4B-2606-3D90-A655A4475C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366887"/>
            <a:ext cx="10653579" cy="4942473"/>
          </a:xfrm>
        </p:spPr>
        <p:txBody>
          <a:bodyPr>
            <a:normAutofit lnSpcReduction="10000"/>
          </a:bodyPr>
          <a:lstStyle/>
          <a:p>
            <a:r>
              <a:rPr lang="en-ZA" dirty="0"/>
              <a:t>Model used in ID to articulate / describe problem and design space</a:t>
            </a:r>
          </a:p>
          <a:p>
            <a:pPr lvl="1"/>
            <a:r>
              <a:rPr lang="en-ZA" dirty="0"/>
              <a:t>Provides strategy and framework of general concepts; how these interrelate</a:t>
            </a:r>
          </a:p>
          <a:p>
            <a:pPr lvl="2"/>
            <a:r>
              <a:rPr lang="en-ZA" dirty="0"/>
              <a:t>Outlines what people can do with a product</a:t>
            </a:r>
          </a:p>
          <a:p>
            <a:pPr lvl="2"/>
            <a:r>
              <a:rPr lang="en-ZA" dirty="0"/>
              <a:t>What people need to know </a:t>
            </a:r>
            <a:r>
              <a:rPr lang="en-ZA" i="1" dirty="0"/>
              <a:t>before</a:t>
            </a:r>
            <a:r>
              <a:rPr lang="en-ZA" dirty="0"/>
              <a:t> using a product (what technical know-how / tech-savvy is required)</a:t>
            </a:r>
          </a:p>
          <a:p>
            <a:r>
              <a:rPr lang="en-ZA" dirty="0"/>
              <a:t>Why a conceptual model?</a:t>
            </a:r>
          </a:p>
          <a:p>
            <a:pPr lvl="1"/>
            <a:r>
              <a:rPr lang="en-ZA" dirty="0"/>
              <a:t>For designers to figure out ideas </a:t>
            </a:r>
            <a:r>
              <a:rPr lang="en-ZA" i="1" dirty="0"/>
              <a:t>before</a:t>
            </a:r>
            <a:r>
              <a:rPr lang="en-ZA" dirty="0"/>
              <a:t> starting designs; communicate ideas to stakeholders</a:t>
            </a:r>
          </a:p>
          <a:p>
            <a:r>
              <a:rPr lang="en-ZA" dirty="0"/>
              <a:t>Conceptual model components</a:t>
            </a:r>
          </a:p>
          <a:p>
            <a:pPr lvl="1"/>
            <a:r>
              <a:rPr lang="en-ZA" dirty="0"/>
              <a:t>Metaphors and analogies</a:t>
            </a:r>
          </a:p>
          <a:p>
            <a:pPr lvl="1"/>
            <a:r>
              <a:rPr lang="en-ZA" dirty="0"/>
              <a:t>Concepts people are exposed to when using product (e.g. organising files)</a:t>
            </a:r>
          </a:p>
          <a:p>
            <a:pPr lvl="1"/>
            <a:r>
              <a:rPr lang="en-ZA" dirty="0"/>
              <a:t>Relationship between concepts (e.g. a folder can contain many saved files)</a:t>
            </a:r>
          </a:p>
          <a:p>
            <a:pPr lvl="1"/>
            <a:r>
              <a:rPr lang="en-ZA" dirty="0"/>
              <a:t>Mapping between concepts and UX (e.g. accessible history of visited websites)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31057F-EA31-0F95-EBF4-54EDE83D19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30 July 2026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75E638-D5B5-DF1C-D8C0-83DC1B999E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Chap 3: Conceptualising interaction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66A335-BED5-7055-DF68-06B0EA455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85803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271175-92AA-D24D-D74E-04ACF9FBA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Conceptual models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245542-8D1B-CD47-2981-0DD706ED159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/>
              <a:t>30 July 2026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C24D33-5F42-4C4B-4BB9-DA06CE76E5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Chap 3: Conceptualising interaction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3E016D-D110-254A-A68B-06D32A6D6D8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B45D90E-385A-687C-8219-1A4EDE0AF4FD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ZA" dirty="0"/>
              <a:t>Many encapsulated in design patterns</a:t>
            </a:r>
          </a:p>
          <a:p>
            <a:pPr lvl="1"/>
            <a:r>
              <a:rPr lang="en-ZA" dirty="0"/>
              <a:t>Tried and tested</a:t>
            </a:r>
          </a:p>
          <a:p>
            <a:pPr lvl="1"/>
            <a:r>
              <a:rPr lang="en-ZA" dirty="0"/>
              <a:t>No need to start from scratch</a:t>
            </a:r>
          </a:p>
          <a:p>
            <a:r>
              <a:rPr lang="en-ZA" dirty="0"/>
              <a:t>Conceptual model examples</a:t>
            </a:r>
          </a:p>
          <a:p>
            <a:pPr lvl="1"/>
            <a:r>
              <a:rPr lang="en-ZA" dirty="0"/>
              <a:t>Shopping online (place items in cart; checkout)</a:t>
            </a:r>
          </a:p>
          <a:p>
            <a:pPr lvl="1"/>
            <a:r>
              <a:rPr lang="en-ZA" dirty="0"/>
              <a:t>Online library (browse books; take out items; renew loaned items)</a:t>
            </a:r>
          </a:p>
          <a:p>
            <a:pPr lvl="1"/>
            <a:r>
              <a:rPr lang="en-ZA" dirty="0"/>
              <a:t>Digital banking (view account; check balance; pay recipient; transfer funds)</a:t>
            </a:r>
          </a:p>
        </p:txBody>
      </p:sp>
      <p:pic>
        <p:nvPicPr>
          <p:cNvPr id="8" name="Picture 7" descr="Photo by Hal Gatewood on Unsplash&#10;      ">
            <a:extLst>
              <a:ext uri="{FF2B5EF4-FFF2-40B4-BE49-F238E27FC236}">
                <a16:creationId xmlns:a16="http://schemas.microsoft.com/office/drawing/2014/main" id="{671AB207-C815-18DD-BEA4-2065FAF509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95" y="2771479"/>
            <a:ext cx="2467466" cy="1644977"/>
          </a:xfrm>
          <a:prstGeom prst="rect">
            <a:avLst/>
          </a:prstGeom>
        </p:spPr>
      </p:pic>
      <p:sp>
        <p:nvSpPr>
          <p:cNvPr id="10" name="Rectangle 1">
            <a:extLst>
              <a:ext uri="{FF2B5EF4-FFF2-40B4-BE49-F238E27FC236}">
                <a16:creationId xmlns:a16="http://schemas.microsoft.com/office/drawing/2014/main" id="{70388BA4-6839-8EA9-F89D-CA7C6991EF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7240" y="4400225"/>
            <a:ext cx="1680268" cy="2000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Photo by </a:t>
            </a:r>
            <a:r>
              <a:rPr kumimoji="0" lang="en-US" altLang="en-US" sz="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3"/>
              </a:rPr>
              <a:t>Hal Gatewood</a:t>
            </a:r>
            <a:r>
              <a:rPr kumimoji="0" lang="en-US" altLang="en-US" sz="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on </a:t>
            </a:r>
            <a:r>
              <a:rPr kumimoji="0" lang="en-US" altLang="en-US" sz="7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4"/>
              </a:rPr>
              <a:t>Unsplash</a:t>
            </a:r>
            <a:r>
              <a:rPr kumimoji="0" lang="en-US" altLang="en-US" sz="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699492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D91184-05CA-6900-9A42-233CD379EC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8555" y="552205"/>
            <a:ext cx="9265293" cy="1025576"/>
          </a:xfrm>
        </p:spPr>
        <p:txBody>
          <a:bodyPr>
            <a:normAutofit fontScale="90000"/>
          </a:bodyPr>
          <a:lstStyle/>
          <a:p>
            <a:r>
              <a:rPr lang="en-US" dirty="0"/>
              <a:t>Where do I start with a conceptual model?</a:t>
            </a:r>
            <a:endParaRPr lang="en-ZA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588380-75DC-968E-8852-3D28E0497A6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566928" y="187080"/>
            <a:ext cx="1371600" cy="365760"/>
          </a:xfrm>
        </p:spPr>
        <p:txBody>
          <a:bodyPr/>
          <a:lstStyle/>
          <a:p>
            <a:r>
              <a:rPr lang="en-US"/>
              <a:t>30 July 2026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EB6581-C485-94AF-FE74-6CF5B76DD74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8899162" y="6336465"/>
            <a:ext cx="2805405" cy="365125"/>
          </a:xfrm>
        </p:spPr>
        <p:txBody>
          <a:bodyPr/>
          <a:lstStyle/>
          <a:p>
            <a:r>
              <a:rPr lang="en-US"/>
              <a:t>Chap 3: Conceptualising interaction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79EAB8-3D3A-6A30-B072-FAB6FEB6844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654803" y="6336465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4D1B5DC-2A5C-EAC2-BB05-B39509F16BF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668588" y="1930253"/>
            <a:ext cx="8766175" cy="4081463"/>
          </a:xfrm>
        </p:spPr>
        <p:txBody>
          <a:bodyPr/>
          <a:lstStyle/>
          <a:p>
            <a:r>
              <a:rPr lang="en-ZA" dirty="0"/>
              <a:t>Ask some questions</a:t>
            </a:r>
          </a:p>
          <a:p>
            <a:pPr lvl="1"/>
            <a:r>
              <a:rPr lang="en-ZA" dirty="0"/>
              <a:t>What will users be doing when performing tasks?</a:t>
            </a:r>
          </a:p>
          <a:p>
            <a:pPr lvl="1"/>
            <a:r>
              <a:rPr lang="en-ZA" dirty="0"/>
              <a:t>How will the system support these tasks?</a:t>
            </a:r>
          </a:p>
          <a:p>
            <a:pPr lvl="1"/>
            <a:r>
              <a:rPr lang="en-ZA" dirty="0"/>
              <a:t>What kind of interface metaphor will be most appropriate?</a:t>
            </a:r>
          </a:p>
          <a:p>
            <a:pPr lvl="1"/>
            <a:r>
              <a:rPr lang="en-ZA" dirty="0"/>
              <a:t>What interaction type(s) and interface type(s) should be used?</a:t>
            </a:r>
          </a:p>
          <a:p>
            <a:pPr lvl="1"/>
            <a:endParaRPr lang="en-ZA" dirty="0"/>
          </a:p>
        </p:txBody>
      </p:sp>
      <p:sp>
        <p:nvSpPr>
          <p:cNvPr id="12" name="Rounded Rectangle 6">
            <a:extLst>
              <a:ext uri="{FF2B5EF4-FFF2-40B4-BE49-F238E27FC236}">
                <a16:creationId xmlns:a16="http://schemas.microsoft.com/office/drawing/2014/main" id="{A7FCE239-D26B-555B-3BEA-6E030EBEBD29}"/>
              </a:ext>
            </a:extLst>
          </p:cNvPr>
          <p:cNvSpPr/>
          <p:nvPr/>
        </p:nvSpPr>
        <p:spPr>
          <a:xfrm>
            <a:off x="2668588" y="4230221"/>
            <a:ext cx="9115703" cy="1943493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6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Century Gothic" panose="020B0502020202020204" pitchFamily="34" charset="0"/>
              </a:rPr>
              <a:t>When making design decisions, always consider how </a:t>
            </a:r>
            <a:r>
              <a:rPr kumimoji="0" lang="en-GB" sz="3600" b="1" i="1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Century Gothic" panose="020B0502020202020204" pitchFamily="34" charset="0"/>
              </a:rPr>
              <a:t>the user </a:t>
            </a:r>
            <a:r>
              <a:rPr kumimoji="0" lang="en-GB" sz="36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Century Gothic" panose="020B0502020202020204" pitchFamily="34" charset="0"/>
              </a:rPr>
              <a:t>will understand the underlying conceptual model</a:t>
            </a:r>
            <a:endParaRPr kumimoji="0" lang="en-ZA" sz="36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uLnTx/>
              <a:uFillTx/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61825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6A245B-03BE-B1A8-7DA5-085F560D69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92750" y="65988"/>
            <a:ext cx="5965056" cy="1164947"/>
          </a:xfrm>
        </p:spPr>
        <p:txBody>
          <a:bodyPr>
            <a:noAutofit/>
          </a:bodyPr>
          <a:lstStyle/>
          <a:p>
            <a:r>
              <a:rPr lang="en-ZA" sz="3200" dirty="0"/>
              <a:t>Link between Problem Space, Design Space &amp; Conceptual Model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D21D8A-8A62-4280-4F9C-325A8DDF186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/>
              <a:t>30 July 2026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D03A52-22A4-C947-07DB-D77C6779DE1C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Chap 3: Conceptualising interaction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437078-092F-A255-5417-A311D000D23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3E5C901-530D-6E09-B820-E3606533F9B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74781" y="1838227"/>
            <a:ext cx="6383974" cy="4379692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n-ZA" sz="2400" dirty="0"/>
              <a:t>Problem space</a:t>
            </a:r>
          </a:p>
          <a:p>
            <a:pPr lvl="1">
              <a:lnSpc>
                <a:spcPct val="100000"/>
              </a:lnSpc>
              <a:spcBef>
                <a:spcPts val="300"/>
              </a:spcBef>
            </a:pPr>
            <a:r>
              <a:rPr lang="en-ZA" sz="2000" dirty="0"/>
              <a:t>Understand what is wrong &amp; why</a:t>
            </a:r>
          </a:p>
          <a:p>
            <a:pPr lvl="1">
              <a:lnSpc>
                <a:spcPct val="100000"/>
              </a:lnSpc>
              <a:spcBef>
                <a:spcPts val="300"/>
              </a:spcBef>
            </a:pPr>
            <a:r>
              <a:rPr lang="en-ZA" sz="2000" dirty="0"/>
              <a:t>Current usability &amp; UX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n-ZA" sz="2400" dirty="0"/>
              <a:t>Design space</a:t>
            </a:r>
          </a:p>
          <a:p>
            <a:pPr lvl="1">
              <a:lnSpc>
                <a:spcPct val="100000"/>
              </a:lnSpc>
              <a:spcBef>
                <a:spcPts val="300"/>
              </a:spcBef>
            </a:pPr>
            <a:r>
              <a:rPr lang="en-ZA" sz="2000" dirty="0"/>
              <a:t>Proposed solution; expected usability &amp; UX</a:t>
            </a:r>
          </a:p>
          <a:p>
            <a:pPr lvl="1">
              <a:lnSpc>
                <a:spcPct val="100000"/>
              </a:lnSpc>
              <a:spcBef>
                <a:spcPts val="300"/>
              </a:spcBef>
            </a:pPr>
            <a:r>
              <a:rPr lang="en-ZA" sz="2000" dirty="0"/>
              <a:t>Address any claims / assumptions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n-ZA" sz="2400" dirty="0"/>
              <a:t>Conceptual model</a:t>
            </a:r>
          </a:p>
          <a:p>
            <a:pPr lvl="1">
              <a:lnSpc>
                <a:spcPct val="100000"/>
              </a:lnSpc>
              <a:spcBef>
                <a:spcPts val="300"/>
              </a:spcBef>
            </a:pPr>
            <a:r>
              <a:rPr lang="en-ZA" sz="2000" dirty="0"/>
              <a:t>What can users do with product</a:t>
            </a:r>
          </a:p>
          <a:p>
            <a:pPr lvl="1">
              <a:lnSpc>
                <a:spcPct val="100000"/>
              </a:lnSpc>
              <a:spcBef>
                <a:spcPts val="300"/>
              </a:spcBef>
            </a:pPr>
            <a:r>
              <a:rPr lang="en-ZA" sz="2000" dirty="0"/>
              <a:t>Concepts user needs to understand </a:t>
            </a:r>
          </a:p>
          <a:p>
            <a:pPr lvl="1">
              <a:lnSpc>
                <a:spcPct val="100000"/>
              </a:lnSpc>
              <a:spcBef>
                <a:spcPts val="300"/>
              </a:spcBef>
            </a:pPr>
            <a:r>
              <a:rPr lang="en-ZA" sz="2000" dirty="0"/>
              <a:t>Interaction and interface type</a:t>
            </a:r>
          </a:p>
          <a:p>
            <a:pPr lvl="1">
              <a:lnSpc>
                <a:spcPct val="100000"/>
              </a:lnSpc>
              <a:spcBef>
                <a:spcPts val="300"/>
              </a:spcBef>
            </a:pPr>
            <a:r>
              <a:rPr lang="en-ZA" sz="2000" dirty="0"/>
              <a:t>Interface metaphor (similar / familiar)</a:t>
            </a:r>
            <a:endParaRPr lang="en-ZA" dirty="0"/>
          </a:p>
        </p:txBody>
      </p:sp>
      <p:pic>
        <p:nvPicPr>
          <p:cNvPr id="10" name="Picture Placeholder 9" descr="A close-up of a puzzle&#10;&#10;Description automatically generated">
            <a:extLst>
              <a:ext uri="{FF2B5EF4-FFF2-40B4-BE49-F238E27FC236}">
                <a16:creationId xmlns:a16="http://schemas.microsoft.com/office/drawing/2014/main" id="{61ED92F4-92FC-9D61-697F-6BDA5F5767E2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85" r="12485"/>
          <a:stretch>
            <a:fillRect/>
          </a:stretch>
        </p:blipFill>
        <p:spPr/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086514A-D3F7-DEC1-6104-D5FFB7233EF2}"/>
              </a:ext>
            </a:extLst>
          </p:cNvPr>
          <p:cNvSpPr txBox="1"/>
          <p:nvPr/>
        </p:nvSpPr>
        <p:spPr>
          <a:xfrm>
            <a:off x="10777830" y="5222424"/>
            <a:ext cx="141417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Image by </a:t>
            </a:r>
            <a:r>
              <a:rPr lang="en-US" sz="800" dirty="0" err="1"/>
              <a:t>jcomp</a:t>
            </a:r>
            <a:r>
              <a:rPr lang="en-US" sz="800" dirty="0"/>
              <a:t> on Magnific</a:t>
            </a:r>
            <a:endParaRPr lang="en-ZA" sz="800" dirty="0"/>
          </a:p>
        </p:txBody>
      </p:sp>
    </p:spTree>
    <p:extLst>
      <p:ext uri="{BB962C8B-B14F-4D97-AF65-F5344CB8AC3E}">
        <p14:creationId xmlns:p14="http://schemas.microsoft.com/office/powerpoint/2010/main" val="10999305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7C9591BE-1C1D-BB92-7854-F30E08F7FE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Metaphors &amp; analogies</a:t>
            </a:r>
            <a:endParaRPr lang="en-ZA" dirty="0"/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A85583D5-B511-3A95-16F3-EA862ED52F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r>
              <a:rPr lang="en-US" sz="2400" dirty="0"/>
              <a:t>Some metaphors part of everyday use</a:t>
            </a:r>
          </a:p>
          <a:p>
            <a:pPr algn="ctr"/>
            <a:r>
              <a:rPr lang="en-US" sz="2400" dirty="0"/>
              <a:t>Imagine you are in the 1970s</a:t>
            </a:r>
          </a:p>
          <a:p>
            <a:pPr algn="ctr"/>
            <a:r>
              <a:rPr lang="en-US" sz="2400" dirty="0"/>
              <a:t>Explain </a:t>
            </a:r>
            <a:r>
              <a:rPr lang="en-US" sz="2400" i="1" dirty="0"/>
              <a:t>one</a:t>
            </a:r>
            <a:r>
              <a:rPr lang="en-US" sz="2400" dirty="0"/>
              <a:t> of the icons to someone</a:t>
            </a:r>
          </a:p>
          <a:p>
            <a:pPr algn="ctr"/>
            <a:r>
              <a:rPr lang="en-ZA" sz="2400" b="1" dirty="0">
                <a:solidFill>
                  <a:srgbClr val="C00000"/>
                </a:solidFill>
              </a:rPr>
              <a:t>You MAY NOT use the following (or similar) words: like; such as; similar to;…</a:t>
            </a:r>
          </a:p>
          <a:p>
            <a:endParaRPr lang="en-ZA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155475-F670-6ECA-12A1-9941DF2560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30 July 2026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03A600-8185-4DB7-9240-2CCF523A0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Chap 3: Conceptualising interaction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6BA771-130D-1E8E-B14B-33F975632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8</a:t>
            </a:fld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61D19890-E3C7-C94F-63A3-E3E2564AB3B6}"/>
              </a:ext>
            </a:extLst>
          </p:cNvPr>
          <p:cNvGrpSpPr/>
          <p:nvPr/>
        </p:nvGrpSpPr>
        <p:grpSpPr>
          <a:xfrm>
            <a:off x="2441548" y="4110799"/>
            <a:ext cx="6848916" cy="2198561"/>
            <a:chOff x="2441548" y="4110799"/>
            <a:chExt cx="6848916" cy="2198561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A0BC5A9B-F9D7-D8FE-C0D0-B2303B5A797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r="32372"/>
            <a:stretch/>
          </p:blipFill>
          <p:spPr>
            <a:xfrm>
              <a:off x="2441548" y="4110799"/>
              <a:ext cx="4496580" cy="2198561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37C3C702-D4A8-0DA4-BA63-CFE8B7430F4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983847" y="4555950"/>
              <a:ext cx="2306617" cy="128145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399504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26057C5-17AF-AE24-582B-1630146C55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Interaction types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50294B-3335-DBCA-0A88-A37AF578EF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30 July 2026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FE7961-1A73-AC10-D14B-94A4BB4222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Chap 3: </a:t>
            </a:r>
            <a:r>
              <a:rPr lang="en-US" dirty="0" err="1"/>
              <a:t>Conceptualising</a:t>
            </a:r>
            <a:r>
              <a:rPr lang="en-US" dirty="0"/>
              <a:t> interaction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73C3B4-2879-DFE3-515A-FF97FE3C18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598DBDE-9403-0D3B-2CE5-0AAF34B91A3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ZA" sz="2800" dirty="0"/>
              <a:t>Five main interaction types</a:t>
            </a:r>
          </a:p>
          <a:p>
            <a:pPr lvl="1"/>
            <a:r>
              <a:rPr lang="en-ZA" sz="2400" dirty="0"/>
              <a:t>Instructing</a:t>
            </a:r>
          </a:p>
          <a:p>
            <a:pPr lvl="1"/>
            <a:r>
              <a:rPr lang="en-ZA" sz="2400" dirty="0"/>
              <a:t>Conversing</a:t>
            </a:r>
          </a:p>
          <a:p>
            <a:pPr lvl="1"/>
            <a:r>
              <a:rPr lang="en-ZA" sz="2400" dirty="0"/>
              <a:t>Manipulating</a:t>
            </a:r>
          </a:p>
          <a:p>
            <a:pPr lvl="1"/>
            <a:r>
              <a:rPr lang="en-ZA" sz="2400" dirty="0"/>
              <a:t>Exploring</a:t>
            </a:r>
          </a:p>
          <a:p>
            <a:pPr lvl="1"/>
            <a:r>
              <a:rPr lang="en-ZA" sz="2400" dirty="0"/>
              <a:t>Responding</a:t>
            </a:r>
          </a:p>
          <a:p>
            <a:r>
              <a:rPr lang="en-ZA" sz="2800" dirty="0"/>
              <a:t>Interaction ≠ Interface</a:t>
            </a:r>
          </a:p>
          <a:p>
            <a:pPr lvl="1"/>
            <a:r>
              <a:rPr lang="en-ZA" sz="2400" b="1" dirty="0">
                <a:solidFill>
                  <a:srgbClr val="C00000"/>
                </a:solidFill>
              </a:rPr>
              <a:t>Interaction</a:t>
            </a:r>
            <a:r>
              <a:rPr lang="en-ZA" sz="2400" dirty="0"/>
              <a:t>: what </a:t>
            </a:r>
            <a:r>
              <a:rPr lang="en-ZA" sz="2400" b="1" dirty="0">
                <a:solidFill>
                  <a:srgbClr val="C00000"/>
                </a:solidFill>
              </a:rPr>
              <a:t>user</a:t>
            </a:r>
            <a:r>
              <a:rPr lang="en-ZA" sz="2400" dirty="0"/>
              <a:t> does</a:t>
            </a:r>
          </a:p>
          <a:p>
            <a:pPr lvl="1"/>
            <a:r>
              <a:rPr lang="en-ZA" sz="2400" dirty="0"/>
              <a:t>Interface: type of interface to </a:t>
            </a:r>
            <a:r>
              <a:rPr lang="en-ZA" sz="2400" b="1" dirty="0">
                <a:solidFill>
                  <a:srgbClr val="C00000"/>
                </a:solidFill>
              </a:rPr>
              <a:t>support interaction</a:t>
            </a:r>
          </a:p>
          <a:p>
            <a:endParaRPr lang="en-ZA" sz="2800" dirty="0"/>
          </a:p>
        </p:txBody>
      </p:sp>
    </p:spTree>
    <p:extLst>
      <p:ext uri="{BB962C8B-B14F-4D97-AF65-F5344CB8AC3E}">
        <p14:creationId xmlns:p14="http://schemas.microsoft.com/office/powerpoint/2010/main" val="39429503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C6D299C-3F75-9E6E-051A-8176E999E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 lang="en-US" smtClean="0"/>
              <a:t>10</a:t>
            </a:fld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Chap 3: </a:t>
            </a:r>
            <a:r>
              <a:rPr lang="en-US" dirty="0" err="1"/>
              <a:t>Conceptualising</a:t>
            </a:r>
            <a:r>
              <a:rPr lang="en-US" dirty="0"/>
              <a:t> interaction</a:t>
            </a:r>
          </a:p>
        </p:txBody>
      </p:sp>
      <p:sp>
        <p:nvSpPr>
          <p:cNvPr id="19" name="Title 1"/>
          <p:cNvSpPr>
            <a:spLocks noGrp="1"/>
          </p:cNvSpPr>
          <p:nvPr>
            <p:ph type="title"/>
          </p:nvPr>
        </p:nvSpPr>
        <p:spPr>
          <a:xfrm>
            <a:off x="852943" y="1905001"/>
            <a:ext cx="2750439" cy="2750439"/>
          </a:xfrm>
          <a:prstGeom prst="ellipse">
            <a:avLst/>
          </a:prstGeom>
          <a:solidFill>
            <a:schemeClr val="tx2"/>
          </a:solidFill>
          <a:ln w="174625" cmpd="thinThick">
            <a:solidFill>
              <a:srgbClr val="262626"/>
            </a:solidFill>
          </a:ln>
        </p:spPr>
        <p:txBody>
          <a:bodyPr anchor="ctr">
            <a:normAutofit/>
          </a:bodyPr>
          <a:lstStyle/>
          <a:p>
            <a:pPr algn="ctr"/>
            <a:r>
              <a:rPr lang="en-ZA" sz="2600" dirty="0">
                <a:solidFill>
                  <a:srgbClr val="FFFFFF"/>
                </a:solidFill>
              </a:rPr>
              <a:t>Instructing examples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208F916-8E57-19F3-FADD-ACB4AB017C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7654" y="3619563"/>
            <a:ext cx="2972545" cy="1209362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183745BF-5C60-E7FD-BF4B-6AC1F7C630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7654" y="629150"/>
            <a:ext cx="3137338" cy="2551701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1EDE301-082B-6EFE-32AD-E694CA0E60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3937" y="1563380"/>
            <a:ext cx="3165120" cy="373123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4F55DF18-F8C7-AF65-8516-E667D9158A60}"/>
              </a:ext>
            </a:extLst>
          </p:cNvPr>
          <p:cNvSpPr txBox="1"/>
          <p:nvPr/>
        </p:nvSpPr>
        <p:spPr>
          <a:xfrm>
            <a:off x="4336330" y="5580668"/>
            <a:ext cx="31608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dirty="0">
                <a:hlinkClick r:id="rId5" action="ppaction://hlinkfile"/>
              </a:rPr>
              <a:t>Smart home voice commands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8239234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C6D299C-3F75-9E6E-051A-8176E999E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 lang="en-US" smtClean="0"/>
              <a:t>11</a:t>
            </a:fld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Chap 3: </a:t>
            </a:r>
            <a:r>
              <a:rPr lang="en-US" dirty="0" err="1"/>
              <a:t>Conceptualising</a:t>
            </a:r>
            <a:r>
              <a:rPr lang="en-US" dirty="0"/>
              <a:t> interaction</a:t>
            </a:r>
          </a:p>
        </p:txBody>
      </p:sp>
      <p:sp>
        <p:nvSpPr>
          <p:cNvPr id="19" name="Title 1"/>
          <p:cNvSpPr>
            <a:spLocks noGrp="1"/>
          </p:cNvSpPr>
          <p:nvPr>
            <p:ph type="title"/>
          </p:nvPr>
        </p:nvSpPr>
        <p:spPr>
          <a:xfrm>
            <a:off x="852943" y="1905001"/>
            <a:ext cx="2750439" cy="2750439"/>
          </a:xfrm>
          <a:prstGeom prst="ellipse">
            <a:avLst/>
          </a:prstGeom>
          <a:solidFill>
            <a:schemeClr val="tx2"/>
          </a:solidFill>
          <a:ln w="174625" cmpd="thinThick">
            <a:solidFill>
              <a:srgbClr val="262626"/>
            </a:solidFill>
          </a:ln>
        </p:spPr>
        <p:txBody>
          <a:bodyPr anchor="ctr">
            <a:normAutofit/>
          </a:bodyPr>
          <a:lstStyle/>
          <a:p>
            <a:pPr algn="ctr"/>
            <a:r>
              <a:rPr lang="en-ZA" sz="2600" dirty="0">
                <a:solidFill>
                  <a:srgbClr val="FFFFFF"/>
                </a:solidFill>
              </a:rPr>
              <a:t>Conversing examples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78AAC8F-49CC-23B1-5727-534875EEC5F2}"/>
              </a:ext>
            </a:extLst>
          </p:cNvPr>
          <p:cNvSpPr txBox="1"/>
          <p:nvPr/>
        </p:nvSpPr>
        <p:spPr>
          <a:xfrm>
            <a:off x="342863" y="106680"/>
            <a:ext cx="914885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2400" dirty="0"/>
              <a:t>Differs from instructing in that there is a 2-way communication</a:t>
            </a:r>
          </a:p>
          <a:p>
            <a:r>
              <a:rPr lang="en-ZA" sz="2400" dirty="0"/>
              <a:t>System acts as dialogue partner; not machine following instructions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E2FBCFA-1AAB-9453-17A5-F49779C175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9633" y="1219146"/>
            <a:ext cx="3501208" cy="4695134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57984EB-F442-091D-549C-9852894414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7092" y="1696825"/>
            <a:ext cx="4645096" cy="3739776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3426867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C6D299C-3F75-9E6E-051A-8176E999E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 lang="en-US" smtClean="0"/>
              <a:t>12</a:t>
            </a:fld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Chap 3: </a:t>
            </a:r>
            <a:r>
              <a:rPr lang="en-US" dirty="0" err="1"/>
              <a:t>Conceptualising</a:t>
            </a:r>
            <a:r>
              <a:rPr lang="en-US" dirty="0"/>
              <a:t> interaction</a:t>
            </a:r>
          </a:p>
        </p:txBody>
      </p:sp>
      <p:sp>
        <p:nvSpPr>
          <p:cNvPr id="19" name="Title 1"/>
          <p:cNvSpPr>
            <a:spLocks noGrp="1"/>
          </p:cNvSpPr>
          <p:nvPr>
            <p:ph type="title"/>
          </p:nvPr>
        </p:nvSpPr>
        <p:spPr>
          <a:xfrm>
            <a:off x="852943" y="1905001"/>
            <a:ext cx="2750439" cy="2750439"/>
          </a:xfrm>
          <a:prstGeom prst="ellipse">
            <a:avLst/>
          </a:prstGeom>
          <a:solidFill>
            <a:schemeClr val="tx2"/>
          </a:solidFill>
          <a:ln w="174625" cmpd="thinThick">
            <a:solidFill>
              <a:srgbClr val="262626"/>
            </a:solidFill>
          </a:ln>
        </p:spPr>
        <p:txBody>
          <a:bodyPr anchor="ctr">
            <a:normAutofit/>
          </a:bodyPr>
          <a:lstStyle/>
          <a:p>
            <a:pPr algn="ctr"/>
            <a:r>
              <a:rPr lang="en-ZA" sz="2600" dirty="0">
                <a:solidFill>
                  <a:srgbClr val="FFFFFF"/>
                </a:solidFill>
              </a:rPr>
              <a:t>Manipulating examples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AFB2391-471E-1661-7A6D-EBB80FF22F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8027" y="200247"/>
            <a:ext cx="3757352" cy="1930211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3B71F01-4B82-F320-3971-DD013DB34F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4584" y="4267319"/>
            <a:ext cx="6481590" cy="2248715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F8EBE5C-BE4D-7406-AB6F-CFA1257E8C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30024" y="755238"/>
            <a:ext cx="4038540" cy="275043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5416B00-08E0-9F62-4326-F1728B2E9A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38027" y="2304684"/>
            <a:ext cx="3757352" cy="17884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41862066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C6D299C-3F75-9E6E-051A-8176E999E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 lang="en-US" smtClean="0"/>
              <a:t>13</a:t>
            </a:fld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Chap 3: </a:t>
            </a:r>
            <a:r>
              <a:rPr lang="en-US" dirty="0" err="1"/>
              <a:t>Conceptualising</a:t>
            </a:r>
            <a:r>
              <a:rPr lang="en-US" dirty="0"/>
              <a:t> interaction</a:t>
            </a:r>
          </a:p>
        </p:txBody>
      </p:sp>
      <p:sp>
        <p:nvSpPr>
          <p:cNvPr id="19" name="Title 1"/>
          <p:cNvSpPr>
            <a:spLocks noGrp="1"/>
          </p:cNvSpPr>
          <p:nvPr>
            <p:ph type="title"/>
          </p:nvPr>
        </p:nvSpPr>
        <p:spPr>
          <a:xfrm>
            <a:off x="852943" y="1905001"/>
            <a:ext cx="2750439" cy="2750439"/>
          </a:xfrm>
          <a:prstGeom prst="ellipse">
            <a:avLst/>
          </a:prstGeom>
          <a:solidFill>
            <a:schemeClr val="tx2"/>
          </a:solidFill>
          <a:ln w="174625" cmpd="thinThick">
            <a:solidFill>
              <a:srgbClr val="262626"/>
            </a:solidFill>
          </a:ln>
        </p:spPr>
        <p:txBody>
          <a:bodyPr anchor="ctr">
            <a:normAutofit/>
          </a:bodyPr>
          <a:lstStyle/>
          <a:p>
            <a:pPr algn="ctr"/>
            <a:r>
              <a:rPr lang="en-ZA" sz="2600" dirty="0">
                <a:solidFill>
                  <a:srgbClr val="FFFFFF"/>
                </a:solidFill>
              </a:rPr>
              <a:t>Exploring examples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4B08990-BADA-E457-11EB-69B82A3247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0617" y="1746372"/>
            <a:ext cx="1996551" cy="3690594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81018FD-5780-214C-A631-DC80CFEBE5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0758" y="212525"/>
            <a:ext cx="5619382" cy="3067695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7D7439D-1D4A-A9E1-CC3D-6E3F5997FD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7113" y="3611823"/>
            <a:ext cx="5593027" cy="2856492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2088187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C6D299C-3F75-9E6E-051A-8176E999E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 lang="en-US" smtClean="0"/>
              <a:t>14</a:t>
            </a:fld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Chap 3: </a:t>
            </a:r>
            <a:r>
              <a:rPr lang="en-US" dirty="0" err="1"/>
              <a:t>Conceptualising</a:t>
            </a:r>
            <a:r>
              <a:rPr lang="en-US" dirty="0"/>
              <a:t> interaction</a:t>
            </a:r>
          </a:p>
        </p:txBody>
      </p:sp>
      <p:sp>
        <p:nvSpPr>
          <p:cNvPr id="19" name="Title 1"/>
          <p:cNvSpPr>
            <a:spLocks noGrp="1"/>
          </p:cNvSpPr>
          <p:nvPr>
            <p:ph type="title"/>
          </p:nvPr>
        </p:nvSpPr>
        <p:spPr>
          <a:xfrm>
            <a:off x="852943" y="1905001"/>
            <a:ext cx="2750439" cy="2750439"/>
          </a:xfrm>
          <a:prstGeom prst="ellipse">
            <a:avLst/>
          </a:prstGeom>
          <a:solidFill>
            <a:schemeClr val="tx2"/>
          </a:solidFill>
          <a:ln w="174625" cmpd="thinThick">
            <a:solidFill>
              <a:srgbClr val="262626"/>
            </a:solidFill>
          </a:ln>
        </p:spPr>
        <p:txBody>
          <a:bodyPr anchor="ctr">
            <a:normAutofit/>
          </a:bodyPr>
          <a:lstStyle/>
          <a:p>
            <a:pPr algn="ctr"/>
            <a:r>
              <a:rPr lang="en-ZA" sz="2600" dirty="0">
                <a:solidFill>
                  <a:srgbClr val="FFFFFF"/>
                </a:solidFill>
              </a:rPr>
              <a:t>Responding examples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50E0E3A-368D-1E3C-2E9B-15DFA148A9B7}"/>
              </a:ext>
            </a:extLst>
          </p:cNvPr>
          <p:cNvSpPr txBox="1"/>
          <p:nvPr/>
        </p:nvSpPr>
        <p:spPr>
          <a:xfrm>
            <a:off x="342863" y="106680"/>
            <a:ext cx="1104903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2400" dirty="0"/>
              <a:t>Engaging with an interface in response to a system-initiated engagement request</a:t>
            </a:r>
          </a:p>
          <a:p>
            <a:pPr algn="r"/>
            <a:r>
              <a:rPr lang="en-US" sz="1000" b="0" i="0" dirty="0" err="1">
                <a:solidFill>
                  <a:srgbClr val="1C1D1E"/>
                </a:solidFill>
                <a:effectLst/>
              </a:rPr>
              <a:t>Lueg</a:t>
            </a:r>
            <a:r>
              <a:rPr lang="en-US" sz="1000" b="0" i="0" dirty="0">
                <a:solidFill>
                  <a:srgbClr val="1C1D1E"/>
                </a:solidFill>
                <a:effectLst/>
              </a:rPr>
              <a:t>, C., Banks, B., </a:t>
            </a:r>
            <a:r>
              <a:rPr lang="en-US" sz="1000" b="0" i="0" dirty="0" err="1">
                <a:solidFill>
                  <a:srgbClr val="1C1D1E"/>
                </a:solidFill>
                <a:effectLst/>
              </a:rPr>
              <a:t>Michalek</a:t>
            </a:r>
            <a:r>
              <a:rPr lang="en-US" sz="1000" b="0" i="0" dirty="0">
                <a:solidFill>
                  <a:srgbClr val="1C1D1E"/>
                </a:solidFill>
                <a:effectLst/>
              </a:rPr>
              <a:t>, J., </a:t>
            </a:r>
            <a:r>
              <a:rPr lang="en-US" sz="1000" b="0" i="0" dirty="0" err="1">
                <a:solidFill>
                  <a:srgbClr val="1C1D1E"/>
                </a:solidFill>
                <a:effectLst/>
              </a:rPr>
              <a:t>Dimsey</a:t>
            </a:r>
            <a:r>
              <a:rPr lang="en-US" sz="1000" b="0" i="0" dirty="0">
                <a:solidFill>
                  <a:srgbClr val="1C1D1E"/>
                </a:solidFill>
                <a:effectLst/>
              </a:rPr>
              <a:t>, J. and Oswin, D. (2019), Close Encounters of the Fifth Kind: Recognizing System-Initiated Engagement as Interaction Type. Journal of the Association for Information Science and Technology, 70: 634-637. </a:t>
            </a:r>
            <a:r>
              <a:rPr lang="en-US" sz="1000" b="0" i="0" u="none" strike="noStrike" dirty="0">
                <a:solidFill>
                  <a:srgbClr val="123D80"/>
                </a:solidFill>
                <a:effectLst/>
                <a:hlinkClick r:id="rId2"/>
              </a:rPr>
              <a:t>https://doi.org/10.1002/asi.24136</a:t>
            </a:r>
            <a:endParaRPr lang="en-ZA" sz="100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06D95F2C-4249-FBA0-5F09-9B8A4909D4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9179" y="1700382"/>
            <a:ext cx="3993641" cy="2888258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6714D5DF-1071-49F9-5403-D66B92C82F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8751" y="958349"/>
            <a:ext cx="2803398" cy="5792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14495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48C8019B-6D82-2F69-53AE-671DB08A03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Classic HCI Framework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E5FC5DD-D2D2-9717-8385-B7F2823B88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ZA" dirty="0"/>
              <a:t>What typically happens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1AABF4F5-8F77-3DE9-F489-0893D1676E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What ideally should happen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0E4E2A-193A-42C4-3991-9411980829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30 July 2026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3CEBC9-EADC-5608-9687-534D0A54D6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Chap 3: Conceptualising interaction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1F01C9-9F17-1275-AFCD-1F00B3E7B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15</a:t>
            </a:fld>
            <a:endParaRPr lang="en-US" dirty="0"/>
          </a:p>
        </p:txBody>
      </p:sp>
      <p:graphicFrame>
        <p:nvGraphicFramePr>
          <p:cNvPr id="15" name="Diagram 14">
            <a:extLst>
              <a:ext uri="{FF2B5EF4-FFF2-40B4-BE49-F238E27FC236}">
                <a16:creationId xmlns:a16="http://schemas.microsoft.com/office/drawing/2014/main" id="{A4375B4A-6045-A4DC-E9CE-90D1F893FEF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86705721"/>
              </p:ext>
            </p:extLst>
          </p:nvPr>
        </p:nvGraphicFramePr>
        <p:xfrm>
          <a:off x="-374673" y="2240716"/>
          <a:ext cx="6142060" cy="39023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16" name="Diagram 15">
            <a:extLst>
              <a:ext uri="{FF2B5EF4-FFF2-40B4-BE49-F238E27FC236}">
                <a16:creationId xmlns:a16="http://schemas.microsoft.com/office/drawing/2014/main" id="{B951DF44-8106-4F17-66DF-697AD4BD5E3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1218129"/>
              </p:ext>
            </p:extLst>
          </p:nvPr>
        </p:nvGraphicFramePr>
        <p:xfrm>
          <a:off x="4539794" y="2578238"/>
          <a:ext cx="7189503" cy="44203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10592879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/>
      <p:bldGraphic spid="16" grpId="0">
        <p:bldAsOne/>
      </p:bldGraphic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284CF-9284-04D2-7A9B-9096E1D77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Dilemma: </a:t>
            </a:r>
            <a:br>
              <a:rPr lang="en-ZA" dirty="0"/>
            </a:br>
            <a:r>
              <a:rPr lang="en-ZA" dirty="0"/>
              <a:t>Who is in control?</a:t>
            </a:r>
          </a:p>
        </p:txBody>
      </p:sp>
      <p:pic>
        <p:nvPicPr>
          <p:cNvPr id="9" name="Picture Placeholder 8" descr="A person using a gps navigation system&#10;&#10;Description automatically generated">
            <a:extLst>
              <a:ext uri="{FF2B5EF4-FFF2-40B4-BE49-F238E27FC236}">
                <a16:creationId xmlns:a16="http://schemas.microsoft.com/office/drawing/2014/main" id="{5D70E6B9-0C55-2F17-B16F-DEAC671044D5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610" r="24610"/>
          <a:stretch>
            <a:fillRect/>
          </a:stretch>
        </p:blipFill>
        <p:spPr/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42D6FD-4C9F-C3F0-8FA0-EEFFEF586185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>
            <a:normAutofit lnSpcReduction="10000"/>
          </a:bodyPr>
          <a:lstStyle/>
          <a:p>
            <a:r>
              <a:rPr lang="en-ZA" sz="2400" dirty="0"/>
              <a:t>Different interaction types vary</a:t>
            </a:r>
          </a:p>
          <a:p>
            <a:pPr lvl="1"/>
            <a:r>
              <a:rPr lang="en-ZA" sz="2200" dirty="0"/>
              <a:t>User control vs system control</a:t>
            </a:r>
          </a:p>
          <a:p>
            <a:r>
              <a:rPr lang="en-ZA" sz="2400" dirty="0"/>
              <a:t>Autonomous, context-aware systems</a:t>
            </a:r>
          </a:p>
          <a:p>
            <a:pPr lvl="1"/>
            <a:r>
              <a:rPr lang="en-ZA" sz="2200" dirty="0"/>
              <a:t>Environment monitors, recognises, detects deviations in behaviour</a:t>
            </a:r>
          </a:p>
          <a:p>
            <a:pPr lvl="1"/>
            <a:r>
              <a:rPr lang="en-ZA" sz="2200" dirty="0"/>
              <a:t>E.g. frail care environments - when behaviour is “out of the ordinary”</a:t>
            </a:r>
          </a:p>
          <a:p>
            <a:r>
              <a:rPr lang="en-ZA" dirty="0"/>
              <a:t>See Uninvited Guests by Superflux (responding interaction type)</a:t>
            </a:r>
          </a:p>
          <a:p>
            <a:pPr lvl="1"/>
            <a:r>
              <a:rPr lang="en-US" dirty="0">
                <a:hlinkClick r:id="rId3"/>
              </a:rPr>
              <a:t>Uninvited Guests | Videos &amp; Movies on Vimeo</a:t>
            </a:r>
            <a:r>
              <a:rPr lang="en-US" dirty="0"/>
              <a:t> </a:t>
            </a:r>
            <a:endParaRPr lang="en-ZA" dirty="0"/>
          </a:p>
          <a:p>
            <a:pPr lvl="1"/>
            <a:endParaRPr lang="en-ZA" sz="2200" dirty="0"/>
          </a:p>
          <a:p>
            <a:endParaRPr lang="en-ZA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FC7E81-1E0A-2763-26F9-67FA1AFADDB4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/>
              <a:t>30 July 2026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C90C0A-A50C-42F2-4AC5-7C6FEC4CF4D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Chap 3: Conceptualising interaction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266DA4-9DD3-2607-A657-2A007782C95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48464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E24E2D-4664-AA56-745A-1FFC5206BA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952107"/>
            <a:ext cx="4672584" cy="1050428"/>
          </a:xfrm>
        </p:spPr>
        <p:txBody>
          <a:bodyPr/>
          <a:lstStyle/>
          <a:p>
            <a:r>
              <a:rPr lang="en-ZA" dirty="0"/>
              <a:t>Discuss</a:t>
            </a:r>
          </a:p>
        </p:txBody>
      </p:sp>
      <p:pic>
        <p:nvPicPr>
          <p:cNvPr id="9" name="Picture Placeholder 8" descr="A robot with a hand on his chin&#10;&#10;Description automatically generated">
            <a:extLst>
              <a:ext uri="{FF2B5EF4-FFF2-40B4-BE49-F238E27FC236}">
                <a16:creationId xmlns:a16="http://schemas.microsoft.com/office/drawing/2014/main" id="{DAD9ECE6-86D9-2929-13C7-0075ED1B0810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367" b="8367"/>
          <a:stretch>
            <a:fillRect/>
          </a:stretch>
        </p:blipFill>
        <p:spPr/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18E411-6204-C494-4D21-3EC85A6EB97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2290890"/>
            <a:ext cx="5585925" cy="4041648"/>
          </a:xfrm>
        </p:spPr>
        <p:txBody>
          <a:bodyPr/>
          <a:lstStyle/>
          <a:p>
            <a:r>
              <a:rPr lang="en-ZA" dirty="0"/>
              <a:t>How much </a:t>
            </a:r>
            <a:r>
              <a:rPr lang="en-ZA" i="1" dirty="0"/>
              <a:t>actual control</a:t>
            </a:r>
            <a:r>
              <a:rPr lang="en-ZA" dirty="0"/>
              <a:t> does a user have over posts appearing in their social media feeds?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7FEBF0-5A48-AFE4-A10C-4EE5AF2257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30 July 2026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D14AAF-5D5B-72DC-63BB-43128EC481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Chap 3: Conceptualising interaction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9E026C-D249-99A0-0DFA-FA26025E9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71892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D1D279-DE60-D430-09C1-388401F2CF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1364" y="2290713"/>
            <a:ext cx="6890703" cy="3440784"/>
          </a:xfrm>
        </p:spPr>
        <p:txBody>
          <a:bodyPr>
            <a:normAutofit/>
          </a:bodyPr>
          <a:lstStyle/>
          <a:p>
            <a:r>
              <a:rPr lang="en-ZA" dirty="0"/>
              <a:t>Complete Quiz</a:t>
            </a:r>
            <a:br>
              <a:rPr lang="en-ZA" dirty="0"/>
            </a:br>
            <a:r>
              <a:rPr lang="en-ZA" dirty="0"/>
              <a:t>03 2026-07-30 </a:t>
            </a:r>
            <a:r>
              <a:rPr lang="en-ZA" i="1" dirty="0"/>
              <a:t>Conceptualising interaction</a:t>
            </a:r>
            <a:br>
              <a:rPr lang="en-ZA" i="1" dirty="0"/>
            </a:br>
            <a:br>
              <a:rPr lang="en-ZA" i="1" dirty="0"/>
            </a:br>
            <a:r>
              <a:rPr lang="en-ZA" dirty="0"/>
              <a:t>4 questions for 10 marks</a:t>
            </a:r>
            <a:br>
              <a:rPr lang="en-ZA" dirty="0"/>
            </a:br>
            <a:r>
              <a:rPr lang="en-ZA" dirty="0"/>
              <a:t>8 minutes per attempt; max 2 attempts</a:t>
            </a:r>
            <a:br>
              <a:rPr lang="en-ZA" dirty="0"/>
            </a:br>
            <a:r>
              <a:rPr lang="en-ZA" dirty="0"/>
              <a:t>Max mark recorded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FA5B2FF-35DB-DD0D-4B5A-6B0252CA8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331F5E-3999-E95C-1D69-E20452BA86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Chap 3: Conceptualising interaction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71547D-B7D3-5F89-6C30-AC3AE88675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30 July 2026</a:t>
            </a:r>
            <a:endParaRPr lang="en-US" dirty="0"/>
          </a:p>
        </p:txBody>
      </p:sp>
      <p:pic>
        <p:nvPicPr>
          <p:cNvPr id="8" name="Content Placeholder 7" descr="A hand reaching for a light bulb&#10;&#10;Description automatically generated">
            <a:extLst>
              <a:ext uri="{FF2B5EF4-FFF2-40B4-BE49-F238E27FC236}">
                <a16:creationId xmlns:a16="http://schemas.microsoft.com/office/drawing/2014/main" id="{B39AB179-C255-B6F8-F90B-CF0E177C6AAD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564" y="2433343"/>
            <a:ext cx="2008138" cy="3012208"/>
          </a:xfr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04EB583-4B6F-2F03-8C87-AE30C186EA9B}"/>
              </a:ext>
            </a:extLst>
          </p:cNvPr>
          <p:cNvSpPr txBox="1"/>
          <p:nvPr/>
        </p:nvSpPr>
        <p:spPr>
          <a:xfrm>
            <a:off x="1196974" y="5445551"/>
            <a:ext cx="181331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Photo by 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linkClick r:id="rId3"/>
              </a:rPr>
              <a:t>Júnior Ferreira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on </a:t>
            </a:r>
            <a:r>
              <a:rPr kumimoji="0" lang="en-US" altLang="en-US" sz="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hlinkClick r:id="rId4"/>
              </a:rPr>
              <a:t>Unsplash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99530424"/>
      </p:ext>
    </p:extLst>
  </p:cSld>
  <p:clrMapOvr>
    <a:masterClrMapping/>
  </p:clrMapOvr>
</p:sld>
</file>

<file path=ppt/theme/theme1.xml><?xml version="1.0" encoding="utf-8"?>
<a:theme xmlns:a="http://schemas.openxmlformats.org/drawingml/2006/main" name="Neutrals">
  <a:themeElements>
    <a:clrScheme name="Neutral Blue &amp; Green">
      <a:dk1>
        <a:srgbClr val="000000"/>
      </a:dk1>
      <a:lt1>
        <a:srgbClr val="FFFFFF"/>
      </a:lt1>
      <a:dk2>
        <a:srgbClr val="2C3932"/>
      </a:dk2>
      <a:lt2>
        <a:srgbClr val="FDF6EA"/>
      </a:lt2>
      <a:accent1>
        <a:srgbClr val="E6E3DD"/>
      </a:accent1>
      <a:accent2>
        <a:srgbClr val="DCE4E7"/>
      </a:accent2>
      <a:accent3>
        <a:srgbClr val="F2F0ED"/>
      </a:accent3>
      <a:accent4>
        <a:srgbClr val="8C9178"/>
      </a:accent4>
      <a:accent5>
        <a:srgbClr val="919EAC"/>
      </a:accent5>
      <a:accent6>
        <a:srgbClr val="1D2144"/>
      </a:accent6>
      <a:hlink>
        <a:srgbClr val="2A4211"/>
      </a:hlink>
      <a:folHlink>
        <a:srgbClr val="663E17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utrals_Marketing Presentation_win32_EF_v6" id="{67DB2C2D-FCF8-40FC-96D1-B8ECBEC2131C}" vid="{B44846DD-0C03-4691-B9FA-7B87E0EBB99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EEC3793-C1BC-496C-A03C-202DFFC513D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1CEDABF-7176-4A42-8EF9-E5D4DD31FF6C}">
  <ds:schemaRefs>
    <ds:schemaRef ds:uri="http://www.w3.org/XML/1998/namespace"/>
    <ds:schemaRef ds:uri="http://schemas.microsoft.com/office/2006/documentManagement/types"/>
    <ds:schemaRef ds:uri="230e9df3-be65-4c73-a93b-d1236ebd677e"/>
    <ds:schemaRef ds:uri="http://purl.org/dc/terms/"/>
    <ds:schemaRef ds:uri="http://purl.org/dc/dcmitype/"/>
    <ds:schemaRef ds:uri="16c05727-aa75-4e4a-9b5f-8a80a1165891"/>
    <ds:schemaRef ds:uri="http://schemas.microsoft.com/office/2006/metadata/properties"/>
    <ds:schemaRef ds:uri="http://schemas.microsoft.com/sharepoint/v3"/>
    <ds:schemaRef ds:uri="http://schemas.openxmlformats.org/package/2006/metadata/core-properties"/>
    <ds:schemaRef ds:uri="http://schemas.microsoft.com/office/infopath/2007/PartnerControls"/>
    <ds:schemaRef ds:uri="71af3243-3dd4-4a8d-8c0d-dd76da1f02a5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D3301439-688F-4D19-B908-B48B62C56078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Classical neutrals marketing presentation</Template>
  <TotalTime>1214</TotalTime>
  <Words>858</Words>
  <Application>Microsoft Office PowerPoint</Application>
  <PresentationFormat>Widescreen</PresentationFormat>
  <Paragraphs>153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Aptos</vt:lpstr>
      <vt:lpstr>Aptos Display</vt:lpstr>
      <vt:lpstr>Arial</vt:lpstr>
      <vt:lpstr>Century Gothic</vt:lpstr>
      <vt:lpstr>Wingdings</vt:lpstr>
      <vt:lpstr>Neutrals</vt:lpstr>
      <vt:lpstr>User-Interface Design WUIV302</vt:lpstr>
      <vt:lpstr>Agenda</vt:lpstr>
      <vt:lpstr>From Problem Space to Design Space</vt:lpstr>
      <vt:lpstr>Conceptual models</vt:lpstr>
      <vt:lpstr>Conceptual models</vt:lpstr>
      <vt:lpstr>Where do I start with a conceptual model?</vt:lpstr>
      <vt:lpstr>Link between Problem Space, Design Space &amp; Conceptual Model</vt:lpstr>
      <vt:lpstr>Metaphors &amp; analogies</vt:lpstr>
      <vt:lpstr>Interaction types</vt:lpstr>
      <vt:lpstr>Instructing examples</vt:lpstr>
      <vt:lpstr>Conversing examples</vt:lpstr>
      <vt:lpstr>Manipulating examples</vt:lpstr>
      <vt:lpstr>Exploring examples</vt:lpstr>
      <vt:lpstr>Responding examples</vt:lpstr>
      <vt:lpstr>Classic HCI Framework</vt:lpstr>
      <vt:lpstr>Dilemma:  Who is in control?</vt:lpstr>
      <vt:lpstr>Discuss</vt:lpstr>
      <vt:lpstr>Complete Quiz 03 2026-07-30 Conceptualising interaction  4 questions for 10 marks 8 minutes per attempt; max 2 attempts Max mark recorded</vt:lpstr>
    </vt:vector>
  </TitlesOfParts>
  <Company>Nelson Mandela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User-Interface Design WUIV302</dc:title>
  <dc:creator>Barnard, Lynette (Dr) (Summerstrand Campus South)</dc:creator>
  <cp:lastModifiedBy>Barnard, Lynette (Dr) (Summerstrand Campus South)</cp:lastModifiedBy>
  <cp:revision>108</cp:revision>
  <dcterms:created xsi:type="dcterms:W3CDTF">2026-07-09T11:06:27Z</dcterms:created>
  <dcterms:modified xsi:type="dcterms:W3CDTF">2026-07-29T16:18:38Z</dcterms:modified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