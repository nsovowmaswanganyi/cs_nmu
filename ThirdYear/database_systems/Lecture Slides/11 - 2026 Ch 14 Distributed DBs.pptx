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397" r:id="rId3"/>
    <p:sldId id="326" r:id="rId4"/>
    <p:sldId id="327" r:id="rId5"/>
    <p:sldId id="400" r:id="rId6"/>
    <p:sldId id="419" r:id="rId7"/>
    <p:sldId id="420" r:id="rId8"/>
    <p:sldId id="421" r:id="rId9"/>
    <p:sldId id="440" r:id="rId10"/>
    <p:sldId id="422" r:id="rId11"/>
    <p:sldId id="423" r:id="rId12"/>
    <p:sldId id="424" r:id="rId13"/>
    <p:sldId id="425" r:id="rId14"/>
    <p:sldId id="426" r:id="rId15"/>
    <p:sldId id="427" r:id="rId16"/>
    <p:sldId id="428" r:id="rId17"/>
    <p:sldId id="429" r:id="rId18"/>
    <p:sldId id="430" r:id="rId19"/>
    <p:sldId id="431" r:id="rId20"/>
    <p:sldId id="432" r:id="rId21"/>
    <p:sldId id="433" r:id="rId22"/>
    <p:sldId id="434" r:id="rId23"/>
    <p:sldId id="435" r:id="rId24"/>
    <p:sldId id="436" r:id="rId25"/>
    <p:sldId id="437" r:id="rId26"/>
    <p:sldId id="438" r:id="rId27"/>
    <p:sldId id="439" r:id="rId28"/>
    <p:sldId id="396" r:id="rId29"/>
  </p:sldIdLst>
  <p:sldSz cx="12192000" cy="6858000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57" autoAdjust="0"/>
  </p:normalViewPr>
  <p:slideViewPr>
    <p:cSldViewPr snapToGrid="0">
      <p:cViewPr varScale="1">
        <p:scale>
          <a:sx n="98" d="100"/>
          <a:sy n="98" d="100"/>
        </p:scale>
        <p:origin x="96" y="180"/>
      </p:cViewPr>
      <p:guideLst/>
    </p:cSldViewPr>
  </p:slideViewPr>
  <p:outlineViewPr>
    <p:cViewPr>
      <p:scale>
        <a:sx n="33" d="100"/>
        <a:sy n="33" d="100"/>
      </p:scale>
      <p:origin x="0" y="-64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DA2491-950F-42E2-B968-D44C30AD3D57}" type="doc">
      <dgm:prSet loTypeId="urn:microsoft.com/office/officeart/2005/8/layout/hierarchy3" loCatId="hierarchy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A2EA71F-B194-449E-B443-99E217083AFE}">
      <dgm:prSet phldrT="[Text]"/>
      <dgm:spPr/>
      <dgm:t>
        <a:bodyPr/>
        <a:lstStyle/>
        <a:p>
          <a:r>
            <a:rPr lang="en-ZA">
              <a:latin typeface="+mj-lt"/>
            </a:rPr>
            <a:t>Data fragmentation</a:t>
          </a:r>
          <a:endParaRPr lang="en-US">
            <a:latin typeface="+mj-lt"/>
          </a:endParaRPr>
        </a:p>
      </dgm:t>
    </dgm:pt>
    <dgm:pt modelId="{4C3C6EDA-B228-4527-949D-5280B0BD4C0E}" type="parTrans" cxnId="{D4C0066F-39E8-466E-9CCE-9F3C495962B9}">
      <dgm:prSet/>
      <dgm:spPr/>
      <dgm:t>
        <a:bodyPr/>
        <a:lstStyle/>
        <a:p>
          <a:endParaRPr lang="en-US" sz="1600">
            <a:latin typeface="+mj-lt"/>
          </a:endParaRPr>
        </a:p>
      </dgm:t>
    </dgm:pt>
    <dgm:pt modelId="{89777AAF-3B15-45B1-8C2E-A4DF1F455573}" type="sibTrans" cxnId="{D4C0066F-39E8-466E-9CCE-9F3C495962B9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E301D0E0-B47A-456C-BC05-BF08FEC68BE0}">
      <dgm:prSet phldrT="[Text]"/>
      <dgm:spPr/>
      <dgm:t>
        <a:bodyPr/>
        <a:lstStyle/>
        <a:p>
          <a:r>
            <a:rPr lang="en-ZA">
              <a:latin typeface="+mj-lt"/>
            </a:rPr>
            <a:t>Break single object into multiple segments / fragments</a:t>
          </a:r>
          <a:endParaRPr lang="en-US" dirty="0">
            <a:latin typeface="+mj-lt"/>
          </a:endParaRPr>
        </a:p>
      </dgm:t>
    </dgm:pt>
    <dgm:pt modelId="{7F54D2A9-6C13-47D8-BC12-431BB76A4337}" type="parTrans" cxnId="{9591688D-2E99-4C64-B932-FA2A91C9E698}">
      <dgm:prSet/>
      <dgm:spPr/>
      <dgm:t>
        <a:bodyPr/>
        <a:lstStyle/>
        <a:p>
          <a:endParaRPr lang="en-US" sz="1600">
            <a:latin typeface="+mj-lt"/>
          </a:endParaRPr>
        </a:p>
      </dgm:t>
    </dgm:pt>
    <dgm:pt modelId="{56A73CD4-4080-4596-89A1-10A802A5B90B}" type="sibTrans" cxnId="{9591688D-2E99-4C64-B932-FA2A91C9E698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F4065400-865F-43AF-B08A-947C5FF1157B}">
      <dgm:prSet phldrT="[Text]"/>
      <dgm:spPr/>
      <dgm:t>
        <a:bodyPr/>
        <a:lstStyle/>
        <a:p>
          <a:r>
            <a:rPr lang="en-ZA">
              <a:latin typeface="+mj-lt"/>
            </a:rPr>
            <a:t>Data replication</a:t>
          </a:r>
          <a:endParaRPr lang="en-US">
            <a:latin typeface="+mj-lt"/>
          </a:endParaRPr>
        </a:p>
      </dgm:t>
    </dgm:pt>
    <dgm:pt modelId="{E6521894-EFCE-42F1-A2EE-BA19A69820FF}" type="parTrans" cxnId="{A96FDDDC-D0BD-44E5-BFC2-3620976360B9}">
      <dgm:prSet/>
      <dgm:spPr/>
      <dgm:t>
        <a:bodyPr/>
        <a:lstStyle/>
        <a:p>
          <a:endParaRPr lang="en-US" sz="1600">
            <a:latin typeface="+mj-lt"/>
          </a:endParaRPr>
        </a:p>
      </dgm:t>
    </dgm:pt>
    <dgm:pt modelId="{1E431870-D802-4C08-9444-A0584A9CF8B5}" type="sibTrans" cxnId="{A96FDDDC-D0BD-44E5-BFC2-3620976360B9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2262A592-64A6-45A3-AC32-02D7B9992C91}">
      <dgm:prSet phldrT="[Text]"/>
      <dgm:spPr/>
      <dgm:t>
        <a:bodyPr/>
        <a:lstStyle/>
        <a:p>
          <a:r>
            <a:rPr lang="en-ZA">
              <a:latin typeface="+mj-lt"/>
            </a:rPr>
            <a:t>Which fragments to replicate</a:t>
          </a:r>
          <a:endParaRPr lang="en-US" dirty="0">
            <a:latin typeface="+mj-lt"/>
          </a:endParaRPr>
        </a:p>
      </dgm:t>
    </dgm:pt>
    <dgm:pt modelId="{1392338A-28DB-45E7-81DC-5B1D4948F0C3}" type="parTrans" cxnId="{7B8DA5C0-6FA2-4556-B735-2FE1CDE17D8F}">
      <dgm:prSet/>
      <dgm:spPr/>
      <dgm:t>
        <a:bodyPr/>
        <a:lstStyle/>
        <a:p>
          <a:endParaRPr lang="en-US" sz="1600">
            <a:latin typeface="+mj-lt"/>
          </a:endParaRPr>
        </a:p>
      </dgm:t>
    </dgm:pt>
    <dgm:pt modelId="{C178E060-2CAF-44CC-8CB8-CCED704EF41A}" type="sibTrans" cxnId="{7B8DA5C0-6FA2-4556-B735-2FE1CDE17D8F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C6C89608-10AC-4A01-A171-3A092C34923A}">
      <dgm:prSet/>
      <dgm:spPr/>
      <dgm:t>
        <a:bodyPr/>
        <a:lstStyle/>
        <a:p>
          <a:r>
            <a:rPr lang="en-ZA" dirty="0">
              <a:solidFill>
                <a:schemeClr val="bg1">
                  <a:lumMod val="50000"/>
                </a:schemeClr>
              </a:solidFill>
              <a:latin typeface="+mj-lt"/>
            </a:rPr>
            <a:t>Data allocation</a:t>
          </a:r>
          <a:endParaRPr lang="en-US" dirty="0">
            <a:solidFill>
              <a:schemeClr val="bg1">
                <a:lumMod val="50000"/>
              </a:schemeClr>
            </a:solidFill>
            <a:latin typeface="+mj-lt"/>
          </a:endParaRPr>
        </a:p>
      </dgm:t>
    </dgm:pt>
    <dgm:pt modelId="{96338B0D-890D-41D2-8127-9A2901C70C01}" type="parTrans" cxnId="{D4F2FBAA-DB5E-4022-B19E-3F37EFB3E4AB}">
      <dgm:prSet/>
      <dgm:spPr/>
      <dgm:t>
        <a:bodyPr/>
        <a:lstStyle/>
        <a:p>
          <a:endParaRPr lang="en-US" sz="1600">
            <a:latin typeface="+mj-lt"/>
          </a:endParaRPr>
        </a:p>
      </dgm:t>
    </dgm:pt>
    <dgm:pt modelId="{675D9283-59C2-4AA1-98C4-00F0F8B748D8}" type="sibTrans" cxnId="{D4F2FBAA-DB5E-4022-B19E-3F37EFB3E4AB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DD8C17BE-132E-4B08-A3E7-C15B1A21A90E}">
      <dgm:prSet/>
      <dgm:spPr/>
      <dgm:t>
        <a:bodyPr/>
        <a:lstStyle/>
        <a:p>
          <a:r>
            <a:rPr lang="en-ZA">
              <a:latin typeface="+mj-lt"/>
            </a:rPr>
            <a:t>Where to locate fragments and replicas</a:t>
          </a:r>
          <a:endParaRPr lang="en-US" dirty="0">
            <a:latin typeface="+mj-lt"/>
          </a:endParaRPr>
        </a:p>
      </dgm:t>
    </dgm:pt>
    <dgm:pt modelId="{88C98E26-784B-4B53-8DD6-1D530DC45CCA}" type="parTrans" cxnId="{4DF85938-9EC5-44E7-82DB-B75F971A7681}">
      <dgm:prSet/>
      <dgm:spPr/>
      <dgm:t>
        <a:bodyPr/>
        <a:lstStyle/>
        <a:p>
          <a:endParaRPr lang="en-US" sz="1600">
            <a:latin typeface="+mj-lt"/>
          </a:endParaRPr>
        </a:p>
      </dgm:t>
    </dgm:pt>
    <dgm:pt modelId="{7C6E2DEE-098B-4B13-A456-0186B5A872B1}" type="sibTrans" cxnId="{4DF85938-9EC5-44E7-82DB-B75F971A7681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0B178693-862E-414A-A180-7DF593AF5B52}" type="pres">
      <dgm:prSet presAssocID="{C7DA2491-950F-42E2-B968-D44C30AD3D5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F9BCDED-CB11-4C1E-A607-A302DB3271C5}" type="pres">
      <dgm:prSet presAssocID="{5A2EA71F-B194-449E-B443-99E217083AFE}" presName="root" presStyleCnt="0"/>
      <dgm:spPr/>
    </dgm:pt>
    <dgm:pt modelId="{3AA12A3F-1308-4B44-878A-FCB0C8623418}" type="pres">
      <dgm:prSet presAssocID="{5A2EA71F-B194-449E-B443-99E217083AFE}" presName="rootComposite" presStyleCnt="0"/>
      <dgm:spPr/>
    </dgm:pt>
    <dgm:pt modelId="{72B54F91-B1BA-401F-8E9C-1E6318298EF3}" type="pres">
      <dgm:prSet presAssocID="{5A2EA71F-B194-449E-B443-99E217083AFE}" presName="rootText" presStyleLbl="node1" presStyleIdx="0" presStyleCnt="3"/>
      <dgm:spPr/>
    </dgm:pt>
    <dgm:pt modelId="{50A5F593-D258-4658-9409-D41903665DE0}" type="pres">
      <dgm:prSet presAssocID="{5A2EA71F-B194-449E-B443-99E217083AFE}" presName="rootConnector" presStyleLbl="node1" presStyleIdx="0" presStyleCnt="3"/>
      <dgm:spPr/>
    </dgm:pt>
    <dgm:pt modelId="{4B0168BB-AA70-4C9D-A95B-F1A42E925923}" type="pres">
      <dgm:prSet presAssocID="{5A2EA71F-B194-449E-B443-99E217083AFE}" presName="childShape" presStyleCnt="0"/>
      <dgm:spPr/>
    </dgm:pt>
    <dgm:pt modelId="{7FC8C3C0-7AE1-446B-9844-CA34630B7C4F}" type="pres">
      <dgm:prSet presAssocID="{7F54D2A9-6C13-47D8-BC12-431BB76A4337}" presName="Name13" presStyleLbl="parChTrans1D2" presStyleIdx="0" presStyleCnt="3"/>
      <dgm:spPr/>
    </dgm:pt>
    <dgm:pt modelId="{C79A7E67-9056-482F-9359-7C649B45FB04}" type="pres">
      <dgm:prSet presAssocID="{E301D0E0-B47A-456C-BC05-BF08FEC68BE0}" presName="childText" presStyleLbl="bgAcc1" presStyleIdx="0" presStyleCnt="3">
        <dgm:presLayoutVars>
          <dgm:bulletEnabled val="1"/>
        </dgm:presLayoutVars>
      </dgm:prSet>
      <dgm:spPr/>
    </dgm:pt>
    <dgm:pt modelId="{854464EA-7777-44F3-8661-8F0536C0062C}" type="pres">
      <dgm:prSet presAssocID="{F4065400-865F-43AF-B08A-947C5FF1157B}" presName="root" presStyleCnt="0"/>
      <dgm:spPr/>
    </dgm:pt>
    <dgm:pt modelId="{CAE14BF0-3C78-4C41-A954-F50B25E8D85F}" type="pres">
      <dgm:prSet presAssocID="{F4065400-865F-43AF-B08A-947C5FF1157B}" presName="rootComposite" presStyleCnt="0"/>
      <dgm:spPr/>
    </dgm:pt>
    <dgm:pt modelId="{539FFE74-B1E6-455B-BCD1-1542AE352F2E}" type="pres">
      <dgm:prSet presAssocID="{F4065400-865F-43AF-B08A-947C5FF1157B}" presName="rootText" presStyleLbl="node1" presStyleIdx="1" presStyleCnt="3"/>
      <dgm:spPr/>
    </dgm:pt>
    <dgm:pt modelId="{75AB3606-0A73-49C7-A35F-D4B2C10015F9}" type="pres">
      <dgm:prSet presAssocID="{F4065400-865F-43AF-B08A-947C5FF1157B}" presName="rootConnector" presStyleLbl="node1" presStyleIdx="1" presStyleCnt="3"/>
      <dgm:spPr/>
    </dgm:pt>
    <dgm:pt modelId="{D7CD2950-1A9A-476B-9D6E-D11E93B27FF2}" type="pres">
      <dgm:prSet presAssocID="{F4065400-865F-43AF-B08A-947C5FF1157B}" presName="childShape" presStyleCnt="0"/>
      <dgm:spPr/>
    </dgm:pt>
    <dgm:pt modelId="{E1A8B6A9-DA9B-4E14-A5A1-9A0F2EFF14DD}" type="pres">
      <dgm:prSet presAssocID="{1392338A-28DB-45E7-81DC-5B1D4948F0C3}" presName="Name13" presStyleLbl="parChTrans1D2" presStyleIdx="1" presStyleCnt="3"/>
      <dgm:spPr/>
    </dgm:pt>
    <dgm:pt modelId="{9E5CEC13-5729-477F-8F54-B1E6C7227052}" type="pres">
      <dgm:prSet presAssocID="{2262A592-64A6-45A3-AC32-02D7B9992C91}" presName="childText" presStyleLbl="bgAcc1" presStyleIdx="1" presStyleCnt="3">
        <dgm:presLayoutVars>
          <dgm:bulletEnabled val="1"/>
        </dgm:presLayoutVars>
      </dgm:prSet>
      <dgm:spPr/>
    </dgm:pt>
    <dgm:pt modelId="{E49FD508-03FB-4407-A4CF-08FD5702DCF0}" type="pres">
      <dgm:prSet presAssocID="{C6C89608-10AC-4A01-A171-3A092C34923A}" presName="root" presStyleCnt="0"/>
      <dgm:spPr/>
    </dgm:pt>
    <dgm:pt modelId="{0E3B1BDD-C7BB-486F-A43E-122A2FBA26A7}" type="pres">
      <dgm:prSet presAssocID="{C6C89608-10AC-4A01-A171-3A092C34923A}" presName="rootComposite" presStyleCnt="0"/>
      <dgm:spPr/>
    </dgm:pt>
    <dgm:pt modelId="{85887156-FFD3-4A3D-AEA8-4EEFE66E64D4}" type="pres">
      <dgm:prSet presAssocID="{C6C89608-10AC-4A01-A171-3A092C34923A}" presName="rootText" presStyleLbl="node1" presStyleIdx="2" presStyleCnt="3"/>
      <dgm:spPr/>
    </dgm:pt>
    <dgm:pt modelId="{3A664461-3766-45EE-9A3C-CD9054ABEF69}" type="pres">
      <dgm:prSet presAssocID="{C6C89608-10AC-4A01-A171-3A092C34923A}" presName="rootConnector" presStyleLbl="node1" presStyleIdx="2" presStyleCnt="3"/>
      <dgm:spPr/>
    </dgm:pt>
    <dgm:pt modelId="{3563E4B7-EF28-442D-AE97-6385DE8270CB}" type="pres">
      <dgm:prSet presAssocID="{C6C89608-10AC-4A01-A171-3A092C34923A}" presName="childShape" presStyleCnt="0"/>
      <dgm:spPr/>
    </dgm:pt>
    <dgm:pt modelId="{37643CC2-C409-469E-A5FB-6AD29D401B43}" type="pres">
      <dgm:prSet presAssocID="{88C98E26-784B-4B53-8DD6-1D530DC45CCA}" presName="Name13" presStyleLbl="parChTrans1D2" presStyleIdx="2" presStyleCnt="3"/>
      <dgm:spPr/>
    </dgm:pt>
    <dgm:pt modelId="{6B8F0E40-6100-4517-8CA1-1B08C724EF81}" type="pres">
      <dgm:prSet presAssocID="{DD8C17BE-132E-4B08-A3E7-C15B1A21A90E}" presName="childText" presStyleLbl="bgAcc1" presStyleIdx="2" presStyleCnt="3">
        <dgm:presLayoutVars>
          <dgm:bulletEnabled val="1"/>
        </dgm:presLayoutVars>
      </dgm:prSet>
      <dgm:spPr/>
    </dgm:pt>
  </dgm:ptLst>
  <dgm:cxnLst>
    <dgm:cxn modelId="{C9C14104-0727-4FF7-A800-8D58EA741354}" type="presOf" srcId="{DD8C17BE-132E-4B08-A3E7-C15B1A21A90E}" destId="{6B8F0E40-6100-4517-8CA1-1B08C724EF81}" srcOrd="0" destOrd="0" presId="urn:microsoft.com/office/officeart/2005/8/layout/hierarchy3"/>
    <dgm:cxn modelId="{6715BA19-615C-4EE2-9DBF-855B38B5036A}" type="presOf" srcId="{88C98E26-784B-4B53-8DD6-1D530DC45CCA}" destId="{37643CC2-C409-469E-A5FB-6AD29D401B43}" srcOrd="0" destOrd="0" presId="urn:microsoft.com/office/officeart/2005/8/layout/hierarchy3"/>
    <dgm:cxn modelId="{1ADAAD23-BCBC-4EC9-96B4-E3F475491CA9}" type="presOf" srcId="{F4065400-865F-43AF-B08A-947C5FF1157B}" destId="{75AB3606-0A73-49C7-A35F-D4B2C10015F9}" srcOrd="1" destOrd="0" presId="urn:microsoft.com/office/officeart/2005/8/layout/hierarchy3"/>
    <dgm:cxn modelId="{386F9228-250F-4A71-8ECC-172626EDAEDD}" type="presOf" srcId="{F4065400-865F-43AF-B08A-947C5FF1157B}" destId="{539FFE74-B1E6-455B-BCD1-1542AE352F2E}" srcOrd="0" destOrd="0" presId="urn:microsoft.com/office/officeart/2005/8/layout/hierarchy3"/>
    <dgm:cxn modelId="{F074B12A-A902-42BE-96E7-E3BADDF068FD}" type="presOf" srcId="{C6C89608-10AC-4A01-A171-3A092C34923A}" destId="{85887156-FFD3-4A3D-AEA8-4EEFE66E64D4}" srcOrd="0" destOrd="0" presId="urn:microsoft.com/office/officeart/2005/8/layout/hierarchy3"/>
    <dgm:cxn modelId="{BD335D33-A72E-4586-99F7-845C7F1765DC}" type="presOf" srcId="{E301D0E0-B47A-456C-BC05-BF08FEC68BE0}" destId="{C79A7E67-9056-482F-9359-7C649B45FB04}" srcOrd="0" destOrd="0" presId="urn:microsoft.com/office/officeart/2005/8/layout/hierarchy3"/>
    <dgm:cxn modelId="{4DF85938-9EC5-44E7-82DB-B75F971A7681}" srcId="{C6C89608-10AC-4A01-A171-3A092C34923A}" destId="{DD8C17BE-132E-4B08-A3E7-C15B1A21A90E}" srcOrd="0" destOrd="0" parTransId="{88C98E26-784B-4B53-8DD6-1D530DC45CCA}" sibTransId="{7C6E2DEE-098B-4B13-A456-0186B5A872B1}"/>
    <dgm:cxn modelId="{7AEAD23E-64E5-4A81-91FC-7B3A105D72A4}" type="presOf" srcId="{C7DA2491-950F-42E2-B968-D44C30AD3D57}" destId="{0B178693-862E-414A-A180-7DF593AF5B52}" srcOrd="0" destOrd="0" presId="urn:microsoft.com/office/officeart/2005/8/layout/hierarchy3"/>
    <dgm:cxn modelId="{C5008360-BA02-4AD4-A48D-2FE4977506D9}" type="presOf" srcId="{7F54D2A9-6C13-47D8-BC12-431BB76A4337}" destId="{7FC8C3C0-7AE1-446B-9844-CA34630B7C4F}" srcOrd="0" destOrd="0" presId="urn:microsoft.com/office/officeart/2005/8/layout/hierarchy3"/>
    <dgm:cxn modelId="{69401C68-A7C0-4B83-B904-BD33F6854CFD}" type="presOf" srcId="{C6C89608-10AC-4A01-A171-3A092C34923A}" destId="{3A664461-3766-45EE-9A3C-CD9054ABEF69}" srcOrd="1" destOrd="0" presId="urn:microsoft.com/office/officeart/2005/8/layout/hierarchy3"/>
    <dgm:cxn modelId="{D4C0066F-39E8-466E-9CCE-9F3C495962B9}" srcId="{C7DA2491-950F-42E2-B968-D44C30AD3D57}" destId="{5A2EA71F-B194-449E-B443-99E217083AFE}" srcOrd="0" destOrd="0" parTransId="{4C3C6EDA-B228-4527-949D-5280B0BD4C0E}" sibTransId="{89777AAF-3B15-45B1-8C2E-A4DF1F455573}"/>
    <dgm:cxn modelId="{A92FE85A-136B-45A7-8696-AB7C54F79854}" type="presOf" srcId="{5A2EA71F-B194-449E-B443-99E217083AFE}" destId="{50A5F593-D258-4658-9409-D41903665DE0}" srcOrd="1" destOrd="0" presId="urn:microsoft.com/office/officeart/2005/8/layout/hierarchy3"/>
    <dgm:cxn modelId="{9591688D-2E99-4C64-B932-FA2A91C9E698}" srcId="{5A2EA71F-B194-449E-B443-99E217083AFE}" destId="{E301D0E0-B47A-456C-BC05-BF08FEC68BE0}" srcOrd="0" destOrd="0" parTransId="{7F54D2A9-6C13-47D8-BC12-431BB76A4337}" sibTransId="{56A73CD4-4080-4596-89A1-10A802A5B90B}"/>
    <dgm:cxn modelId="{9D347F9B-37D2-41D8-8983-23DA450E98B1}" type="presOf" srcId="{5A2EA71F-B194-449E-B443-99E217083AFE}" destId="{72B54F91-B1BA-401F-8E9C-1E6318298EF3}" srcOrd="0" destOrd="0" presId="urn:microsoft.com/office/officeart/2005/8/layout/hierarchy3"/>
    <dgm:cxn modelId="{D4F2FBAA-DB5E-4022-B19E-3F37EFB3E4AB}" srcId="{C7DA2491-950F-42E2-B968-D44C30AD3D57}" destId="{C6C89608-10AC-4A01-A171-3A092C34923A}" srcOrd="2" destOrd="0" parTransId="{96338B0D-890D-41D2-8127-9A2901C70C01}" sibTransId="{675D9283-59C2-4AA1-98C4-00F0F8B748D8}"/>
    <dgm:cxn modelId="{7B8DA5C0-6FA2-4556-B735-2FE1CDE17D8F}" srcId="{F4065400-865F-43AF-B08A-947C5FF1157B}" destId="{2262A592-64A6-45A3-AC32-02D7B9992C91}" srcOrd="0" destOrd="0" parTransId="{1392338A-28DB-45E7-81DC-5B1D4948F0C3}" sibTransId="{C178E060-2CAF-44CC-8CB8-CCED704EF41A}"/>
    <dgm:cxn modelId="{25F6D8C6-43BB-4EAF-BB5C-8AEF41E6D3F3}" type="presOf" srcId="{2262A592-64A6-45A3-AC32-02D7B9992C91}" destId="{9E5CEC13-5729-477F-8F54-B1E6C7227052}" srcOrd="0" destOrd="0" presId="urn:microsoft.com/office/officeart/2005/8/layout/hierarchy3"/>
    <dgm:cxn modelId="{E27A56CC-007D-4FDF-9E92-B8720827FF89}" type="presOf" srcId="{1392338A-28DB-45E7-81DC-5B1D4948F0C3}" destId="{E1A8B6A9-DA9B-4E14-A5A1-9A0F2EFF14DD}" srcOrd="0" destOrd="0" presId="urn:microsoft.com/office/officeart/2005/8/layout/hierarchy3"/>
    <dgm:cxn modelId="{A96FDDDC-D0BD-44E5-BFC2-3620976360B9}" srcId="{C7DA2491-950F-42E2-B968-D44C30AD3D57}" destId="{F4065400-865F-43AF-B08A-947C5FF1157B}" srcOrd="1" destOrd="0" parTransId="{E6521894-EFCE-42F1-A2EE-BA19A69820FF}" sibTransId="{1E431870-D802-4C08-9444-A0584A9CF8B5}"/>
    <dgm:cxn modelId="{8B8122C5-63C0-4EA8-998F-6F2DC91294F6}" type="presParOf" srcId="{0B178693-862E-414A-A180-7DF593AF5B52}" destId="{2F9BCDED-CB11-4C1E-A607-A302DB3271C5}" srcOrd="0" destOrd="0" presId="urn:microsoft.com/office/officeart/2005/8/layout/hierarchy3"/>
    <dgm:cxn modelId="{91C4F1B6-527B-4322-A434-A9F1B9E88F4B}" type="presParOf" srcId="{2F9BCDED-CB11-4C1E-A607-A302DB3271C5}" destId="{3AA12A3F-1308-4B44-878A-FCB0C8623418}" srcOrd="0" destOrd="0" presId="urn:microsoft.com/office/officeart/2005/8/layout/hierarchy3"/>
    <dgm:cxn modelId="{E8ADEB87-303C-4A64-AD5E-2D2F26CC9775}" type="presParOf" srcId="{3AA12A3F-1308-4B44-878A-FCB0C8623418}" destId="{72B54F91-B1BA-401F-8E9C-1E6318298EF3}" srcOrd="0" destOrd="0" presId="urn:microsoft.com/office/officeart/2005/8/layout/hierarchy3"/>
    <dgm:cxn modelId="{99839DD6-204A-4823-A45A-07167ECE210B}" type="presParOf" srcId="{3AA12A3F-1308-4B44-878A-FCB0C8623418}" destId="{50A5F593-D258-4658-9409-D41903665DE0}" srcOrd="1" destOrd="0" presId="urn:microsoft.com/office/officeart/2005/8/layout/hierarchy3"/>
    <dgm:cxn modelId="{FB28FD84-E200-4DEC-89CB-0C2C6AF095E5}" type="presParOf" srcId="{2F9BCDED-CB11-4C1E-A607-A302DB3271C5}" destId="{4B0168BB-AA70-4C9D-A95B-F1A42E925923}" srcOrd="1" destOrd="0" presId="urn:microsoft.com/office/officeart/2005/8/layout/hierarchy3"/>
    <dgm:cxn modelId="{85B005CB-65FE-4CF7-B33D-FB11F2CDA87D}" type="presParOf" srcId="{4B0168BB-AA70-4C9D-A95B-F1A42E925923}" destId="{7FC8C3C0-7AE1-446B-9844-CA34630B7C4F}" srcOrd="0" destOrd="0" presId="urn:microsoft.com/office/officeart/2005/8/layout/hierarchy3"/>
    <dgm:cxn modelId="{8B0B122F-B92F-4497-B2D7-33DE0BE0619A}" type="presParOf" srcId="{4B0168BB-AA70-4C9D-A95B-F1A42E925923}" destId="{C79A7E67-9056-482F-9359-7C649B45FB04}" srcOrd="1" destOrd="0" presId="urn:microsoft.com/office/officeart/2005/8/layout/hierarchy3"/>
    <dgm:cxn modelId="{DBBF218F-DB50-4BFE-AE9C-6C3C26131986}" type="presParOf" srcId="{0B178693-862E-414A-A180-7DF593AF5B52}" destId="{854464EA-7777-44F3-8661-8F0536C0062C}" srcOrd="1" destOrd="0" presId="urn:microsoft.com/office/officeart/2005/8/layout/hierarchy3"/>
    <dgm:cxn modelId="{3B300AAA-7217-4004-9EB1-9B6BB53CAD54}" type="presParOf" srcId="{854464EA-7777-44F3-8661-8F0536C0062C}" destId="{CAE14BF0-3C78-4C41-A954-F50B25E8D85F}" srcOrd="0" destOrd="0" presId="urn:microsoft.com/office/officeart/2005/8/layout/hierarchy3"/>
    <dgm:cxn modelId="{B3A5EAED-61D3-4F94-8AA3-A5D3A916940D}" type="presParOf" srcId="{CAE14BF0-3C78-4C41-A954-F50B25E8D85F}" destId="{539FFE74-B1E6-455B-BCD1-1542AE352F2E}" srcOrd="0" destOrd="0" presId="urn:microsoft.com/office/officeart/2005/8/layout/hierarchy3"/>
    <dgm:cxn modelId="{68112EDD-916E-45AE-8ABF-E2647D3731A0}" type="presParOf" srcId="{CAE14BF0-3C78-4C41-A954-F50B25E8D85F}" destId="{75AB3606-0A73-49C7-A35F-D4B2C10015F9}" srcOrd="1" destOrd="0" presId="urn:microsoft.com/office/officeart/2005/8/layout/hierarchy3"/>
    <dgm:cxn modelId="{EF93E740-E123-4A90-B047-6033D3D28E6A}" type="presParOf" srcId="{854464EA-7777-44F3-8661-8F0536C0062C}" destId="{D7CD2950-1A9A-476B-9D6E-D11E93B27FF2}" srcOrd="1" destOrd="0" presId="urn:microsoft.com/office/officeart/2005/8/layout/hierarchy3"/>
    <dgm:cxn modelId="{7EB9CC31-4647-4713-B90A-647FA3DF5CA2}" type="presParOf" srcId="{D7CD2950-1A9A-476B-9D6E-D11E93B27FF2}" destId="{E1A8B6A9-DA9B-4E14-A5A1-9A0F2EFF14DD}" srcOrd="0" destOrd="0" presId="urn:microsoft.com/office/officeart/2005/8/layout/hierarchy3"/>
    <dgm:cxn modelId="{F2F2D231-ACF3-4755-A0A0-9A4B74D41820}" type="presParOf" srcId="{D7CD2950-1A9A-476B-9D6E-D11E93B27FF2}" destId="{9E5CEC13-5729-477F-8F54-B1E6C7227052}" srcOrd="1" destOrd="0" presId="urn:microsoft.com/office/officeart/2005/8/layout/hierarchy3"/>
    <dgm:cxn modelId="{87FF290C-BE74-4FE1-A5CF-5BC3C85DBB03}" type="presParOf" srcId="{0B178693-862E-414A-A180-7DF593AF5B52}" destId="{E49FD508-03FB-4407-A4CF-08FD5702DCF0}" srcOrd="2" destOrd="0" presId="urn:microsoft.com/office/officeart/2005/8/layout/hierarchy3"/>
    <dgm:cxn modelId="{25F42618-F016-40A1-9DC0-4F5EB559EF3B}" type="presParOf" srcId="{E49FD508-03FB-4407-A4CF-08FD5702DCF0}" destId="{0E3B1BDD-C7BB-486F-A43E-122A2FBA26A7}" srcOrd="0" destOrd="0" presId="urn:microsoft.com/office/officeart/2005/8/layout/hierarchy3"/>
    <dgm:cxn modelId="{6C7A50C4-5C23-4327-B060-15745EBE4D2D}" type="presParOf" srcId="{0E3B1BDD-C7BB-486F-A43E-122A2FBA26A7}" destId="{85887156-FFD3-4A3D-AEA8-4EEFE66E64D4}" srcOrd="0" destOrd="0" presId="urn:microsoft.com/office/officeart/2005/8/layout/hierarchy3"/>
    <dgm:cxn modelId="{42A57FC8-1251-4612-BD67-5F4ED7A3DC1A}" type="presParOf" srcId="{0E3B1BDD-C7BB-486F-A43E-122A2FBA26A7}" destId="{3A664461-3766-45EE-9A3C-CD9054ABEF69}" srcOrd="1" destOrd="0" presId="urn:microsoft.com/office/officeart/2005/8/layout/hierarchy3"/>
    <dgm:cxn modelId="{53B97781-2B8A-46FF-B3A4-81CE40CBC905}" type="presParOf" srcId="{E49FD508-03FB-4407-A4CF-08FD5702DCF0}" destId="{3563E4B7-EF28-442D-AE97-6385DE8270CB}" srcOrd="1" destOrd="0" presId="urn:microsoft.com/office/officeart/2005/8/layout/hierarchy3"/>
    <dgm:cxn modelId="{E8A16FF0-38D4-48AF-8B7A-8445A4BA3FAC}" type="presParOf" srcId="{3563E4B7-EF28-442D-AE97-6385DE8270CB}" destId="{37643CC2-C409-469E-A5FB-6AD29D401B43}" srcOrd="0" destOrd="0" presId="urn:microsoft.com/office/officeart/2005/8/layout/hierarchy3"/>
    <dgm:cxn modelId="{EB8912D8-EA31-4F1A-BA96-F6FC96261C6C}" type="presParOf" srcId="{3563E4B7-EF28-442D-AE97-6385DE8270CB}" destId="{6B8F0E40-6100-4517-8CA1-1B08C724EF8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251AD7-8215-43C2-BB3B-012AC099C162}" type="doc">
      <dgm:prSet loTypeId="urn:microsoft.com/office/officeart/2005/8/layout/hList1" loCatId="list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049182F-2A76-49E4-8D1F-C14E567962D0}">
      <dgm:prSet phldrT="[Text]" custT="1"/>
      <dgm:spPr/>
      <dgm:t>
        <a:bodyPr/>
        <a:lstStyle/>
        <a:p>
          <a:r>
            <a:rPr lang="en-ZA" sz="3200" dirty="0">
              <a:latin typeface="+mj-lt"/>
            </a:rPr>
            <a:t>Fully</a:t>
          </a:r>
          <a:endParaRPr lang="en-US" sz="3200" dirty="0">
            <a:latin typeface="+mj-lt"/>
          </a:endParaRPr>
        </a:p>
      </dgm:t>
    </dgm:pt>
    <dgm:pt modelId="{3466A774-C2BA-446E-A90C-B035663663D5}" type="parTrans" cxnId="{445BBDEA-A160-4B3D-B3F5-A41DFDAB2355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58F16C79-AE2A-49E0-B79C-E29AC79C05FC}" type="sibTrans" cxnId="{445BBDEA-A160-4B3D-B3F5-A41DFDAB2355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C2ACCB6E-1892-4820-BFDC-A8340B955641}">
      <dgm:prSet phldrT="[Text]" custT="1"/>
      <dgm:spPr/>
      <dgm:t>
        <a:bodyPr/>
        <a:lstStyle/>
        <a:p>
          <a:pPr>
            <a:buClr>
              <a:schemeClr val="accent6">
                <a:lumMod val="75000"/>
              </a:schemeClr>
            </a:buClr>
            <a:buFont typeface="Wingdings" panose="05000000000000000000" pitchFamily="2" charset="2"/>
            <a:buChar char="§"/>
          </a:pPr>
          <a:r>
            <a:rPr lang="en-ZA" sz="2400" dirty="0">
              <a:latin typeface="+mj-lt"/>
            </a:rPr>
            <a:t>Stores multiple copies of each database fragment at multiple sites</a:t>
          </a:r>
          <a:endParaRPr lang="en-US" sz="2400" dirty="0">
            <a:latin typeface="+mj-lt"/>
          </a:endParaRPr>
        </a:p>
      </dgm:t>
    </dgm:pt>
    <dgm:pt modelId="{DCAA7D54-8E6B-4A50-A0A5-BF26A69ED9DE}" type="parTrans" cxnId="{DFCAE159-DEFA-4EC7-9FB5-DA1BE730DA70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F59B0E18-6BC4-4A50-8412-628F8CF58207}" type="sibTrans" cxnId="{DFCAE159-DEFA-4EC7-9FB5-DA1BE730DA70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2A57497D-B19D-4FD4-909B-F56CADCC9CF5}">
      <dgm:prSet phldrT="[Text]" custT="1"/>
      <dgm:spPr/>
      <dgm:t>
        <a:bodyPr/>
        <a:lstStyle/>
        <a:p>
          <a:r>
            <a:rPr lang="en-ZA" sz="3200" dirty="0">
              <a:latin typeface="+mj-lt"/>
            </a:rPr>
            <a:t>Partially</a:t>
          </a:r>
          <a:endParaRPr lang="en-US" sz="3200" dirty="0">
            <a:latin typeface="+mj-lt"/>
          </a:endParaRPr>
        </a:p>
      </dgm:t>
    </dgm:pt>
    <dgm:pt modelId="{F0BA0D7B-7658-4906-9974-AE1422419E61}" type="parTrans" cxnId="{84DB4C19-E619-42C3-9B7B-D6920A01271D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1FA6362F-F80B-4123-90AF-27FD80C5D970}" type="sibTrans" cxnId="{84DB4C19-E619-42C3-9B7B-D6920A01271D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5B53A191-9A5A-4C26-8D34-EFDD006698D8}">
      <dgm:prSet phldrT="[Text]" custT="1"/>
      <dgm:spPr/>
      <dgm:t>
        <a:bodyPr/>
        <a:lstStyle/>
        <a:p>
          <a:pPr rtl="0">
            <a:buClr>
              <a:schemeClr val="accent6">
                <a:lumMod val="75000"/>
              </a:schemeClr>
            </a:buClr>
            <a:buFont typeface="Wingdings" panose="05000000000000000000" pitchFamily="2" charset="2"/>
            <a:buChar char="§"/>
          </a:pPr>
          <a:r>
            <a:rPr lang="en-ZA" sz="2400" b="0" i="0" u="none" dirty="0">
              <a:latin typeface="+mj-lt"/>
            </a:rPr>
            <a:t>Stores multiple</a:t>
          </a:r>
          <a:r>
            <a:rPr lang="en-ZA" sz="2400" b="0" i="0" u="none" baseline="0" dirty="0">
              <a:latin typeface="+mj-lt"/>
            </a:rPr>
            <a:t> copies of some fragments at multiple sites</a:t>
          </a:r>
          <a:endParaRPr lang="en-US" sz="2400" b="0" dirty="0">
            <a:latin typeface="+mj-lt"/>
          </a:endParaRPr>
        </a:p>
      </dgm:t>
    </dgm:pt>
    <dgm:pt modelId="{FBA8E739-EE07-4482-B463-86EDB00EE6BE}" type="parTrans" cxnId="{7C98F000-AE67-43F6-8D16-3C55C2989A59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28FD7837-7610-460D-98FF-D2F52CD9A498}" type="sibTrans" cxnId="{7C98F000-AE67-43F6-8D16-3C55C2989A59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F28BEE9E-9812-4439-B4C0-D44283488A6F}">
      <dgm:prSet phldrT="[Text]" custT="1"/>
      <dgm:spPr/>
      <dgm:t>
        <a:bodyPr/>
        <a:lstStyle/>
        <a:p>
          <a:r>
            <a:rPr lang="en-ZA" sz="3200" dirty="0">
              <a:solidFill>
                <a:schemeClr val="bg1">
                  <a:lumMod val="50000"/>
                </a:schemeClr>
              </a:solidFill>
              <a:latin typeface="+mj-lt"/>
            </a:rPr>
            <a:t>Un-replicated</a:t>
          </a:r>
          <a:endParaRPr lang="en-US" sz="3200" dirty="0">
            <a:solidFill>
              <a:schemeClr val="bg1">
                <a:lumMod val="50000"/>
              </a:schemeClr>
            </a:solidFill>
            <a:latin typeface="+mj-lt"/>
          </a:endParaRPr>
        </a:p>
      </dgm:t>
    </dgm:pt>
    <dgm:pt modelId="{5323EC9A-DF7C-4BCB-8F29-FF596BCF18BE}" type="parTrans" cxnId="{D540901E-8C96-4107-A4FB-2EEB01F2B3BF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1D22DF27-AFB8-461A-BD1C-A5C6EB905DC0}" type="sibTrans" cxnId="{D540901E-8C96-4107-A4FB-2EEB01F2B3BF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BE5DA0C0-4C23-479B-A447-14E9E838ABFF}">
      <dgm:prSet phldrT="[Text]" custT="1"/>
      <dgm:spPr/>
      <dgm:t>
        <a:bodyPr/>
        <a:lstStyle/>
        <a:p>
          <a:pPr rtl="0">
            <a:buClr>
              <a:schemeClr val="accent6">
                <a:lumMod val="75000"/>
              </a:schemeClr>
            </a:buClr>
            <a:buFont typeface="Wingdings" panose="05000000000000000000" pitchFamily="2" charset="2"/>
            <a:buChar char="§"/>
          </a:pPr>
          <a:r>
            <a:rPr lang="en-ZA" sz="2400" b="0" i="0" u="none" dirty="0">
              <a:latin typeface="+mj-lt"/>
            </a:rPr>
            <a:t>Stores each database fragment at single site</a:t>
          </a:r>
        </a:p>
      </dgm:t>
    </dgm:pt>
    <dgm:pt modelId="{063E36C1-EA04-4E57-8F20-EAA6A275DB9D}" type="parTrans" cxnId="{3501F4CB-E285-4690-959E-5938ABC58E3C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799FBE68-DB86-4369-A988-3D99525FA613}" type="sibTrans" cxnId="{3501F4CB-E285-4690-959E-5938ABC58E3C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4FEA89F2-8BA7-4CE0-9BCD-BE861B71990E}">
      <dgm:prSet custT="1"/>
      <dgm:spPr/>
      <dgm:t>
        <a:bodyPr/>
        <a:lstStyle/>
        <a:p>
          <a:pPr>
            <a:buClr>
              <a:schemeClr val="accent6">
                <a:lumMod val="75000"/>
              </a:schemeClr>
            </a:buClr>
            <a:buFont typeface="Wingdings" panose="05000000000000000000" pitchFamily="2" charset="2"/>
            <a:buChar char="§"/>
          </a:pPr>
          <a:r>
            <a:rPr lang="en-ZA" sz="2400" dirty="0">
              <a:latin typeface="+mj-lt"/>
            </a:rPr>
            <a:t>Potentially impractical due to overhead</a:t>
          </a:r>
        </a:p>
      </dgm:t>
    </dgm:pt>
    <dgm:pt modelId="{9CAE777E-FE02-497D-BA55-4A45B74A6B3D}" type="parTrans" cxnId="{80046564-796A-4A60-8750-3200E79C813D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EA2A3D10-0399-4BEE-B158-A22E0444E762}" type="sibTrans" cxnId="{80046564-796A-4A60-8750-3200E79C813D}">
      <dgm:prSet/>
      <dgm:spPr/>
      <dgm:t>
        <a:bodyPr/>
        <a:lstStyle/>
        <a:p>
          <a:endParaRPr lang="en-US" sz="2000">
            <a:latin typeface="+mj-lt"/>
          </a:endParaRPr>
        </a:p>
      </dgm:t>
    </dgm:pt>
    <dgm:pt modelId="{1A7E9EBF-C540-4151-9DAB-E3FCB582DD42}">
      <dgm:prSet phldrT="[Text]" custT="1"/>
      <dgm:spPr/>
      <dgm:t>
        <a:bodyPr/>
        <a:lstStyle/>
        <a:p>
          <a:pPr rtl="0">
            <a:buClr>
              <a:schemeClr val="accent6">
                <a:lumMod val="75000"/>
              </a:schemeClr>
            </a:buClr>
            <a:buFont typeface="Wingdings" panose="05000000000000000000" pitchFamily="2" charset="2"/>
            <a:buChar char="§"/>
          </a:pPr>
          <a:r>
            <a:rPr lang="en-ZA" sz="2400" b="0" i="0" u="none" dirty="0">
              <a:latin typeface="+mj-lt"/>
            </a:rPr>
            <a:t>No duplicate database fragments</a:t>
          </a:r>
        </a:p>
      </dgm:t>
    </dgm:pt>
    <dgm:pt modelId="{B752B551-DE30-472D-A10A-6E7E4776CBFC}" type="parTrans" cxnId="{7EE2D99D-4868-4B63-957E-AC795CA7599F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B377C198-466B-4565-BE8A-C259979FF7A9}" type="sibTrans" cxnId="{7EE2D99D-4868-4B63-957E-AC795CA7599F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61F995D6-579C-4E9A-83CD-2C955E81F0AD}" type="pres">
      <dgm:prSet presAssocID="{56251AD7-8215-43C2-BB3B-012AC099C162}" presName="Name0" presStyleCnt="0">
        <dgm:presLayoutVars>
          <dgm:dir/>
          <dgm:animLvl val="lvl"/>
          <dgm:resizeHandles val="exact"/>
        </dgm:presLayoutVars>
      </dgm:prSet>
      <dgm:spPr/>
    </dgm:pt>
    <dgm:pt modelId="{DF0F9D97-EBE9-40C0-8876-6503ADCB4045}" type="pres">
      <dgm:prSet presAssocID="{4049182F-2A76-49E4-8D1F-C14E567962D0}" presName="composite" presStyleCnt="0"/>
      <dgm:spPr/>
    </dgm:pt>
    <dgm:pt modelId="{660F8986-66F9-4055-8A8C-98EA97E2F647}" type="pres">
      <dgm:prSet presAssocID="{4049182F-2A76-49E4-8D1F-C14E567962D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F4B913F-2BFC-4627-B12F-526572A8FC00}" type="pres">
      <dgm:prSet presAssocID="{4049182F-2A76-49E4-8D1F-C14E567962D0}" presName="desTx" presStyleLbl="alignAccFollowNode1" presStyleIdx="0" presStyleCnt="3">
        <dgm:presLayoutVars>
          <dgm:bulletEnabled val="1"/>
        </dgm:presLayoutVars>
      </dgm:prSet>
      <dgm:spPr/>
    </dgm:pt>
    <dgm:pt modelId="{8DAD164D-B191-4B4C-8A5F-FB8A5C6B8B04}" type="pres">
      <dgm:prSet presAssocID="{58F16C79-AE2A-49E0-B79C-E29AC79C05FC}" presName="space" presStyleCnt="0"/>
      <dgm:spPr/>
    </dgm:pt>
    <dgm:pt modelId="{3E991048-0C41-44E2-91F8-475338B936AC}" type="pres">
      <dgm:prSet presAssocID="{2A57497D-B19D-4FD4-909B-F56CADCC9CF5}" presName="composite" presStyleCnt="0"/>
      <dgm:spPr/>
    </dgm:pt>
    <dgm:pt modelId="{DC65C76A-FCEF-4275-A6E4-E2CA6CC5F762}" type="pres">
      <dgm:prSet presAssocID="{2A57497D-B19D-4FD4-909B-F56CADCC9CF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5A991F9-FB7F-4611-9157-5521D4B84C4D}" type="pres">
      <dgm:prSet presAssocID="{2A57497D-B19D-4FD4-909B-F56CADCC9CF5}" presName="desTx" presStyleLbl="alignAccFollowNode1" presStyleIdx="1" presStyleCnt="3">
        <dgm:presLayoutVars>
          <dgm:bulletEnabled val="1"/>
        </dgm:presLayoutVars>
      </dgm:prSet>
      <dgm:spPr/>
    </dgm:pt>
    <dgm:pt modelId="{A46A331B-74DE-4647-8C96-5704B54D1F84}" type="pres">
      <dgm:prSet presAssocID="{1FA6362F-F80B-4123-90AF-27FD80C5D970}" presName="space" presStyleCnt="0"/>
      <dgm:spPr/>
    </dgm:pt>
    <dgm:pt modelId="{62CE5AB5-1A45-41E0-88AD-3ABCEFF4736C}" type="pres">
      <dgm:prSet presAssocID="{F28BEE9E-9812-4439-B4C0-D44283488A6F}" presName="composite" presStyleCnt="0"/>
      <dgm:spPr/>
    </dgm:pt>
    <dgm:pt modelId="{3E56F831-DBDC-4B50-A819-BE0758F5E992}" type="pres">
      <dgm:prSet presAssocID="{F28BEE9E-9812-4439-B4C0-D44283488A6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B5D0587-6531-4B74-B9E0-C064E134D64B}" type="pres">
      <dgm:prSet presAssocID="{F28BEE9E-9812-4439-B4C0-D44283488A6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C98F000-AE67-43F6-8D16-3C55C2989A59}" srcId="{2A57497D-B19D-4FD4-909B-F56CADCC9CF5}" destId="{5B53A191-9A5A-4C26-8D34-EFDD006698D8}" srcOrd="0" destOrd="0" parTransId="{FBA8E739-EE07-4482-B463-86EDB00EE6BE}" sibTransId="{28FD7837-7610-460D-98FF-D2F52CD9A498}"/>
    <dgm:cxn modelId="{84DB4C19-E619-42C3-9B7B-D6920A01271D}" srcId="{56251AD7-8215-43C2-BB3B-012AC099C162}" destId="{2A57497D-B19D-4FD4-909B-F56CADCC9CF5}" srcOrd="1" destOrd="0" parTransId="{F0BA0D7B-7658-4906-9974-AE1422419E61}" sibTransId="{1FA6362F-F80B-4123-90AF-27FD80C5D970}"/>
    <dgm:cxn modelId="{D540901E-8C96-4107-A4FB-2EEB01F2B3BF}" srcId="{56251AD7-8215-43C2-BB3B-012AC099C162}" destId="{F28BEE9E-9812-4439-B4C0-D44283488A6F}" srcOrd="2" destOrd="0" parTransId="{5323EC9A-DF7C-4BCB-8F29-FF596BCF18BE}" sibTransId="{1D22DF27-AFB8-461A-BD1C-A5C6EB905DC0}"/>
    <dgm:cxn modelId="{FB72A62A-41BC-4976-B5C0-C234E747F2D8}" type="presOf" srcId="{5B53A191-9A5A-4C26-8D34-EFDD006698D8}" destId="{45A991F9-FB7F-4611-9157-5521D4B84C4D}" srcOrd="0" destOrd="0" presId="urn:microsoft.com/office/officeart/2005/8/layout/hList1"/>
    <dgm:cxn modelId="{80046564-796A-4A60-8750-3200E79C813D}" srcId="{4049182F-2A76-49E4-8D1F-C14E567962D0}" destId="{4FEA89F2-8BA7-4CE0-9BCD-BE861B71990E}" srcOrd="1" destOrd="0" parTransId="{9CAE777E-FE02-497D-BA55-4A45B74A6B3D}" sibTransId="{EA2A3D10-0399-4BEE-B158-A22E0444E762}"/>
    <dgm:cxn modelId="{D7B6AC51-E100-4328-B57A-63EE3124517A}" type="presOf" srcId="{4049182F-2A76-49E4-8D1F-C14E567962D0}" destId="{660F8986-66F9-4055-8A8C-98EA97E2F647}" srcOrd="0" destOrd="0" presId="urn:microsoft.com/office/officeart/2005/8/layout/hList1"/>
    <dgm:cxn modelId="{B9B20C78-FE50-4188-8FD7-5376A6F51EA2}" type="presOf" srcId="{C2ACCB6E-1892-4820-BFDC-A8340B955641}" destId="{DF4B913F-2BFC-4627-B12F-526572A8FC00}" srcOrd="0" destOrd="0" presId="urn:microsoft.com/office/officeart/2005/8/layout/hList1"/>
    <dgm:cxn modelId="{DFCAE159-DEFA-4EC7-9FB5-DA1BE730DA70}" srcId="{4049182F-2A76-49E4-8D1F-C14E567962D0}" destId="{C2ACCB6E-1892-4820-BFDC-A8340B955641}" srcOrd="0" destOrd="0" parTransId="{DCAA7D54-8E6B-4A50-A0A5-BF26A69ED9DE}" sibTransId="{F59B0E18-6BC4-4A50-8412-628F8CF58207}"/>
    <dgm:cxn modelId="{9631077D-AC59-48BA-809C-A3D85C444578}" type="presOf" srcId="{BE5DA0C0-4C23-479B-A447-14E9E838ABFF}" destId="{1B5D0587-6531-4B74-B9E0-C064E134D64B}" srcOrd="0" destOrd="0" presId="urn:microsoft.com/office/officeart/2005/8/layout/hList1"/>
    <dgm:cxn modelId="{7EE2D99D-4868-4B63-957E-AC795CA7599F}" srcId="{F28BEE9E-9812-4439-B4C0-D44283488A6F}" destId="{1A7E9EBF-C540-4151-9DAB-E3FCB582DD42}" srcOrd="1" destOrd="0" parTransId="{B752B551-DE30-472D-A10A-6E7E4776CBFC}" sibTransId="{B377C198-466B-4565-BE8A-C259979FF7A9}"/>
    <dgm:cxn modelId="{696891A7-5B85-457E-BEFE-0F29D1128B32}" type="presOf" srcId="{F28BEE9E-9812-4439-B4C0-D44283488A6F}" destId="{3E56F831-DBDC-4B50-A819-BE0758F5E992}" srcOrd="0" destOrd="0" presId="urn:microsoft.com/office/officeart/2005/8/layout/hList1"/>
    <dgm:cxn modelId="{4B9B44B5-D8FA-4267-A6B5-1513A878A7B0}" type="presOf" srcId="{2A57497D-B19D-4FD4-909B-F56CADCC9CF5}" destId="{DC65C76A-FCEF-4275-A6E4-E2CA6CC5F762}" srcOrd="0" destOrd="0" presId="urn:microsoft.com/office/officeart/2005/8/layout/hList1"/>
    <dgm:cxn modelId="{3501F4CB-E285-4690-959E-5938ABC58E3C}" srcId="{F28BEE9E-9812-4439-B4C0-D44283488A6F}" destId="{BE5DA0C0-4C23-479B-A447-14E9E838ABFF}" srcOrd="0" destOrd="0" parTransId="{063E36C1-EA04-4E57-8F20-EAA6A275DB9D}" sibTransId="{799FBE68-DB86-4369-A988-3D99525FA613}"/>
    <dgm:cxn modelId="{2166BFE7-BCF8-4798-B358-349FEEB2165E}" type="presOf" srcId="{4FEA89F2-8BA7-4CE0-9BCD-BE861B71990E}" destId="{DF4B913F-2BFC-4627-B12F-526572A8FC00}" srcOrd="0" destOrd="1" presId="urn:microsoft.com/office/officeart/2005/8/layout/hList1"/>
    <dgm:cxn modelId="{445BBDEA-A160-4B3D-B3F5-A41DFDAB2355}" srcId="{56251AD7-8215-43C2-BB3B-012AC099C162}" destId="{4049182F-2A76-49E4-8D1F-C14E567962D0}" srcOrd="0" destOrd="0" parTransId="{3466A774-C2BA-446E-A90C-B035663663D5}" sibTransId="{58F16C79-AE2A-49E0-B79C-E29AC79C05FC}"/>
    <dgm:cxn modelId="{892620ED-463B-4C21-8424-06297EC139C1}" type="presOf" srcId="{1A7E9EBF-C540-4151-9DAB-E3FCB582DD42}" destId="{1B5D0587-6531-4B74-B9E0-C064E134D64B}" srcOrd="0" destOrd="1" presId="urn:microsoft.com/office/officeart/2005/8/layout/hList1"/>
    <dgm:cxn modelId="{BA8523FA-A00D-4318-84E1-9CA6A473D8CB}" type="presOf" srcId="{56251AD7-8215-43C2-BB3B-012AC099C162}" destId="{61F995D6-579C-4E9A-83CD-2C955E81F0AD}" srcOrd="0" destOrd="0" presId="urn:microsoft.com/office/officeart/2005/8/layout/hList1"/>
    <dgm:cxn modelId="{324BF042-C2EA-4E68-82D0-CE9E27C9B9F3}" type="presParOf" srcId="{61F995D6-579C-4E9A-83CD-2C955E81F0AD}" destId="{DF0F9D97-EBE9-40C0-8876-6503ADCB4045}" srcOrd="0" destOrd="0" presId="urn:microsoft.com/office/officeart/2005/8/layout/hList1"/>
    <dgm:cxn modelId="{A31089E8-E885-4085-8D08-FAA78D2178A4}" type="presParOf" srcId="{DF0F9D97-EBE9-40C0-8876-6503ADCB4045}" destId="{660F8986-66F9-4055-8A8C-98EA97E2F647}" srcOrd="0" destOrd="0" presId="urn:microsoft.com/office/officeart/2005/8/layout/hList1"/>
    <dgm:cxn modelId="{F6ACC400-5ABF-49FB-8E99-A4F6F84105F4}" type="presParOf" srcId="{DF0F9D97-EBE9-40C0-8876-6503ADCB4045}" destId="{DF4B913F-2BFC-4627-B12F-526572A8FC00}" srcOrd="1" destOrd="0" presId="urn:microsoft.com/office/officeart/2005/8/layout/hList1"/>
    <dgm:cxn modelId="{1925D94F-4C00-4A3B-890C-D1259F1D4E89}" type="presParOf" srcId="{61F995D6-579C-4E9A-83CD-2C955E81F0AD}" destId="{8DAD164D-B191-4B4C-8A5F-FB8A5C6B8B04}" srcOrd="1" destOrd="0" presId="urn:microsoft.com/office/officeart/2005/8/layout/hList1"/>
    <dgm:cxn modelId="{3FE5558B-0F8D-44E8-BF40-FCA056FCD423}" type="presParOf" srcId="{61F995D6-579C-4E9A-83CD-2C955E81F0AD}" destId="{3E991048-0C41-44E2-91F8-475338B936AC}" srcOrd="2" destOrd="0" presId="urn:microsoft.com/office/officeart/2005/8/layout/hList1"/>
    <dgm:cxn modelId="{18D85D95-F57A-435F-B17F-EF2C8943657B}" type="presParOf" srcId="{3E991048-0C41-44E2-91F8-475338B936AC}" destId="{DC65C76A-FCEF-4275-A6E4-E2CA6CC5F762}" srcOrd="0" destOrd="0" presId="urn:microsoft.com/office/officeart/2005/8/layout/hList1"/>
    <dgm:cxn modelId="{4C7F4D8F-BE6F-4248-830A-F865E65E8D61}" type="presParOf" srcId="{3E991048-0C41-44E2-91F8-475338B936AC}" destId="{45A991F9-FB7F-4611-9157-5521D4B84C4D}" srcOrd="1" destOrd="0" presId="urn:microsoft.com/office/officeart/2005/8/layout/hList1"/>
    <dgm:cxn modelId="{CE9E1E31-CC98-45E3-ABA1-7C37D37389EC}" type="presParOf" srcId="{61F995D6-579C-4E9A-83CD-2C955E81F0AD}" destId="{A46A331B-74DE-4647-8C96-5704B54D1F84}" srcOrd="3" destOrd="0" presId="urn:microsoft.com/office/officeart/2005/8/layout/hList1"/>
    <dgm:cxn modelId="{E2E85F22-50A8-4830-A80F-B88734717935}" type="presParOf" srcId="{61F995D6-579C-4E9A-83CD-2C955E81F0AD}" destId="{62CE5AB5-1A45-41E0-88AD-3ABCEFF4736C}" srcOrd="4" destOrd="0" presId="urn:microsoft.com/office/officeart/2005/8/layout/hList1"/>
    <dgm:cxn modelId="{6E3405F7-5EFD-4259-B605-36FE6BDA3BCB}" type="presParOf" srcId="{62CE5AB5-1A45-41E0-88AD-3ABCEFF4736C}" destId="{3E56F831-DBDC-4B50-A819-BE0758F5E992}" srcOrd="0" destOrd="0" presId="urn:microsoft.com/office/officeart/2005/8/layout/hList1"/>
    <dgm:cxn modelId="{5A1C7775-335F-44E1-83DC-9E9E183CB9E3}" type="presParOf" srcId="{62CE5AB5-1A45-41E0-88AD-3ABCEFF4736C}" destId="{1B5D0587-6531-4B74-B9E0-C064E134D64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54F91-B1BA-401F-8E9C-1E6318298EF3}">
      <dsp:nvSpPr>
        <dsp:cNvPr id="0" name=""/>
        <dsp:cNvSpPr/>
      </dsp:nvSpPr>
      <dsp:spPr>
        <a:xfrm>
          <a:off x="1283" y="486074"/>
          <a:ext cx="3003723" cy="15018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800" kern="1200">
              <a:latin typeface="+mj-lt"/>
            </a:rPr>
            <a:t>Data fragmentation</a:t>
          </a:r>
          <a:endParaRPr lang="en-US" sz="3800" kern="1200">
            <a:latin typeface="+mj-lt"/>
          </a:endParaRPr>
        </a:p>
      </dsp:txBody>
      <dsp:txXfrm>
        <a:off x="45271" y="530062"/>
        <a:ext cx="2915747" cy="1413885"/>
      </dsp:txXfrm>
    </dsp:sp>
    <dsp:sp modelId="{7FC8C3C0-7AE1-446B-9844-CA34630B7C4F}">
      <dsp:nvSpPr>
        <dsp:cNvPr id="0" name=""/>
        <dsp:cNvSpPr/>
      </dsp:nvSpPr>
      <dsp:spPr>
        <a:xfrm>
          <a:off x="301656" y="1987936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9A7E67-9056-482F-9359-7C649B45FB04}">
      <dsp:nvSpPr>
        <dsp:cNvPr id="0" name=""/>
        <dsp:cNvSpPr/>
      </dsp:nvSpPr>
      <dsp:spPr>
        <a:xfrm>
          <a:off x="602028" y="2363401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kern="1200">
              <a:latin typeface="+mj-lt"/>
            </a:rPr>
            <a:t>Break single object into multiple segments / fragments</a:t>
          </a:r>
          <a:endParaRPr lang="en-US" sz="2500" kern="1200" dirty="0">
            <a:latin typeface="+mj-lt"/>
          </a:endParaRPr>
        </a:p>
      </dsp:txBody>
      <dsp:txXfrm>
        <a:off x="646016" y="2407389"/>
        <a:ext cx="2315002" cy="1413885"/>
      </dsp:txXfrm>
    </dsp:sp>
    <dsp:sp modelId="{539FFE74-B1E6-455B-BCD1-1542AE352F2E}">
      <dsp:nvSpPr>
        <dsp:cNvPr id="0" name=""/>
        <dsp:cNvSpPr/>
      </dsp:nvSpPr>
      <dsp:spPr>
        <a:xfrm>
          <a:off x="3755938" y="486074"/>
          <a:ext cx="3003723" cy="15018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5496946"/>
                <a:satOff val="2550"/>
                <a:lumOff val="-6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5496946"/>
                <a:satOff val="2550"/>
                <a:lumOff val="-6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5496946"/>
                <a:satOff val="2550"/>
                <a:lumOff val="-6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800" kern="1200">
              <a:latin typeface="+mj-lt"/>
            </a:rPr>
            <a:t>Data replication</a:t>
          </a:r>
          <a:endParaRPr lang="en-US" sz="3800" kern="1200">
            <a:latin typeface="+mj-lt"/>
          </a:endParaRPr>
        </a:p>
      </dsp:txBody>
      <dsp:txXfrm>
        <a:off x="3799926" y="530062"/>
        <a:ext cx="2915747" cy="1413885"/>
      </dsp:txXfrm>
    </dsp:sp>
    <dsp:sp modelId="{E1A8B6A9-DA9B-4E14-A5A1-9A0F2EFF14DD}">
      <dsp:nvSpPr>
        <dsp:cNvPr id="0" name=""/>
        <dsp:cNvSpPr/>
      </dsp:nvSpPr>
      <dsp:spPr>
        <a:xfrm>
          <a:off x="4056310" y="1987936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5CEC13-5729-477F-8F54-B1E6C7227052}">
      <dsp:nvSpPr>
        <dsp:cNvPr id="0" name=""/>
        <dsp:cNvSpPr/>
      </dsp:nvSpPr>
      <dsp:spPr>
        <a:xfrm>
          <a:off x="4356682" y="2363401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-5496946"/>
              <a:satOff val="2550"/>
              <a:lumOff val="-68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kern="1200">
              <a:latin typeface="+mj-lt"/>
            </a:rPr>
            <a:t>Which fragments to replicate</a:t>
          </a:r>
          <a:endParaRPr lang="en-US" sz="2500" kern="1200" dirty="0">
            <a:latin typeface="+mj-lt"/>
          </a:endParaRPr>
        </a:p>
      </dsp:txBody>
      <dsp:txXfrm>
        <a:off x="4400670" y="2407389"/>
        <a:ext cx="2315002" cy="1413885"/>
      </dsp:txXfrm>
    </dsp:sp>
    <dsp:sp modelId="{85887156-FFD3-4A3D-AEA8-4EEFE66E64D4}">
      <dsp:nvSpPr>
        <dsp:cNvPr id="0" name=""/>
        <dsp:cNvSpPr/>
      </dsp:nvSpPr>
      <dsp:spPr>
        <a:xfrm>
          <a:off x="7510592" y="486074"/>
          <a:ext cx="3003723" cy="15018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0993891"/>
                <a:satOff val="5100"/>
                <a:lumOff val="-13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0993891"/>
                <a:satOff val="5100"/>
                <a:lumOff val="-13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0993891"/>
                <a:satOff val="5100"/>
                <a:lumOff val="-13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800" kern="1200" dirty="0">
              <a:solidFill>
                <a:schemeClr val="bg1">
                  <a:lumMod val="50000"/>
                </a:schemeClr>
              </a:solidFill>
              <a:latin typeface="+mj-lt"/>
            </a:rPr>
            <a:t>Data allocation</a:t>
          </a:r>
          <a:endParaRPr lang="en-US" sz="3800" kern="1200" dirty="0">
            <a:solidFill>
              <a:schemeClr val="bg1">
                <a:lumMod val="50000"/>
              </a:schemeClr>
            </a:solidFill>
            <a:latin typeface="+mj-lt"/>
          </a:endParaRPr>
        </a:p>
      </dsp:txBody>
      <dsp:txXfrm>
        <a:off x="7554580" y="530062"/>
        <a:ext cx="2915747" cy="1413885"/>
      </dsp:txXfrm>
    </dsp:sp>
    <dsp:sp modelId="{37643CC2-C409-469E-A5FB-6AD29D401B43}">
      <dsp:nvSpPr>
        <dsp:cNvPr id="0" name=""/>
        <dsp:cNvSpPr/>
      </dsp:nvSpPr>
      <dsp:spPr>
        <a:xfrm>
          <a:off x="7810965" y="1987936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8F0E40-6100-4517-8CA1-1B08C724EF81}">
      <dsp:nvSpPr>
        <dsp:cNvPr id="0" name=""/>
        <dsp:cNvSpPr/>
      </dsp:nvSpPr>
      <dsp:spPr>
        <a:xfrm>
          <a:off x="8111337" y="2363401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-10993891"/>
              <a:satOff val="5100"/>
              <a:lumOff val="-136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kern="1200">
              <a:latin typeface="+mj-lt"/>
            </a:rPr>
            <a:t>Where to locate fragments and replicas</a:t>
          </a:r>
          <a:endParaRPr lang="en-US" sz="2500" kern="1200" dirty="0">
            <a:latin typeface="+mj-lt"/>
          </a:endParaRPr>
        </a:p>
      </dsp:txBody>
      <dsp:txXfrm>
        <a:off x="8155325" y="2407389"/>
        <a:ext cx="2315002" cy="14138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0F8986-66F9-4055-8A8C-98EA97E2F647}">
      <dsp:nvSpPr>
        <dsp:cNvPr id="0" name=""/>
        <dsp:cNvSpPr/>
      </dsp:nvSpPr>
      <dsp:spPr>
        <a:xfrm>
          <a:off x="2824" y="219075"/>
          <a:ext cx="2754262" cy="11017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kern="1200" dirty="0">
              <a:latin typeface="+mj-lt"/>
            </a:rPr>
            <a:t>Fully</a:t>
          </a:r>
          <a:endParaRPr lang="en-US" sz="3200" kern="1200" dirty="0">
            <a:latin typeface="+mj-lt"/>
          </a:endParaRPr>
        </a:p>
      </dsp:txBody>
      <dsp:txXfrm>
        <a:off x="2824" y="219075"/>
        <a:ext cx="2754262" cy="1101705"/>
      </dsp:txXfrm>
    </dsp:sp>
    <dsp:sp modelId="{DF4B913F-2BFC-4627-B12F-526572A8FC00}">
      <dsp:nvSpPr>
        <dsp:cNvPr id="0" name=""/>
        <dsp:cNvSpPr/>
      </dsp:nvSpPr>
      <dsp:spPr>
        <a:xfrm>
          <a:off x="2824" y="1320780"/>
          <a:ext cx="2754262" cy="28548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6">
                <a:lumMod val="75000"/>
              </a:schemeClr>
            </a:buClr>
            <a:buFont typeface="Wingdings" panose="05000000000000000000" pitchFamily="2" charset="2"/>
            <a:buChar char="§"/>
          </a:pPr>
          <a:r>
            <a:rPr lang="en-ZA" sz="2400" kern="1200" dirty="0">
              <a:latin typeface="+mj-lt"/>
            </a:rPr>
            <a:t>Stores multiple copies of each database fragment at multiple sites</a:t>
          </a:r>
          <a:endParaRPr lang="en-US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6">
                <a:lumMod val="75000"/>
              </a:schemeClr>
            </a:buClr>
            <a:buFont typeface="Wingdings" panose="05000000000000000000" pitchFamily="2" charset="2"/>
            <a:buChar char="§"/>
          </a:pPr>
          <a:r>
            <a:rPr lang="en-ZA" sz="2400" kern="1200" dirty="0">
              <a:latin typeface="+mj-lt"/>
            </a:rPr>
            <a:t>Potentially impractical due to overhead</a:t>
          </a:r>
        </a:p>
      </dsp:txBody>
      <dsp:txXfrm>
        <a:off x="2824" y="1320780"/>
        <a:ext cx="2754262" cy="2854800"/>
      </dsp:txXfrm>
    </dsp:sp>
    <dsp:sp modelId="{DC65C76A-FCEF-4275-A6E4-E2CA6CC5F762}">
      <dsp:nvSpPr>
        <dsp:cNvPr id="0" name=""/>
        <dsp:cNvSpPr/>
      </dsp:nvSpPr>
      <dsp:spPr>
        <a:xfrm>
          <a:off x="3142684" y="219075"/>
          <a:ext cx="2754262" cy="1101705"/>
        </a:xfrm>
        <a:prstGeom prst="rect">
          <a:avLst/>
        </a:prstGeom>
        <a:solidFill>
          <a:schemeClr val="accent4">
            <a:hueOff val="-5496946"/>
            <a:satOff val="2550"/>
            <a:lumOff val="-6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kern="1200" dirty="0">
              <a:latin typeface="+mj-lt"/>
            </a:rPr>
            <a:t>Partially</a:t>
          </a:r>
          <a:endParaRPr lang="en-US" sz="3200" kern="1200" dirty="0">
            <a:latin typeface="+mj-lt"/>
          </a:endParaRPr>
        </a:p>
      </dsp:txBody>
      <dsp:txXfrm>
        <a:off x="3142684" y="219075"/>
        <a:ext cx="2754262" cy="1101705"/>
      </dsp:txXfrm>
    </dsp:sp>
    <dsp:sp modelId="{45A991F9-FB7F-4611-9157-5521D4B84C4D}">
      <dsp:nvSpPr>
        <dsp:cNvPr id="0" name=""/>
        <dsp:cNvSpPr/>
      </dsp:nvSpPr>
      <dsp:spPr>
        <a:xfrm>
          <a:off x="3142684" y="1320780"/>
          <a:ext cx="2754262" cy="2854800"/>
        </a:xfrm>
        <a:prstGeom prst="rect">
          <a:avLst/>
        </a:prstGeom>
        <a:solidFill>
          <a:schemeClr val="accent4">
            <a:tint val="40000"/>
            <a:alpha val="90000"/>
            <a:hueOff val="-6106483"/>
            <a:satOff val="3965"/>
            <a:lumOff val="19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6">
                <a:lumMod val="75000"/>
              </a:schemeClr>
            </a:buClr>
            <a:buFont typeface="Wingdings" panose="05000000000000000000" pitchFamily="2" charset="2"/>
            <a:buChar char="§"/>
          </a:pPr>
          <a:r>
            <a:rPr lang="en-ZA" sz="2400" b="0" i="0" u="none" kern="1200" dirty="0">
              <a:latin typeface="+mj-lt"/>
            </a:rPr>
            <a:t>Stores multiple</a:t>
          </a:r>
          <a:r>
            <a:rPr lang="en-ZA" sz="2400" b="0" i="0" u="none" kern="1200" baseline="0" dirty="0">
              <a:latin typeface="+mj-lt"/>
            </a:rPr>
            <a:t> copies of some fragments at multiple sites</a:t>
          </a:r>
          <a:endParaRPr lang="en-US" sz="2400" b="0" kern="1200" dirty="0">
            <a:latin typeface="+mj-lt"/>
          </a:endParaRPr>
        </a:p>
      </dsp:txBody>
      <dsp:txXfrm>
        <a:off x="3142684" y="1320780"/>
        <a:ext cx="2754262" cy="2854800"/>
      </dsp:txXfrm>
    </dsp:sp>
    <dsp:sp modelId="{3E56F831-DBDC-4B50-A819-BE0758F5E992}">
      <dsp:nvSpPr>
        <dsp:cNvPr id="0" name=""/>
        <dsp:cNvSpPr/>
      </dsp:nvSpPr>
      <dsp:spPr>
        <a:xfrm>
          <a:off x="6282543" y="219075"/>
          <a:ext cx="2754262" cy="1101705"/>
        </a:xfrm>
        <a:prstGeom prst="rect">
          <a:avLst/>
        </a:prstGeom>
        <a:solidFill>
          <a:schemeClr val="accent4">
            <a:hueOff val="-10993891"/>
            <a:satOff val="5100"/>
            <a:lumOff val="-136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kern="1200" dirty="0">
              <a:solidFill>
                <a:schemeClr val="bg1">
                  <a:lumMod val="50000"/>
                </a:schemeClr>
              </a:solidFill>
              <a:latin typeface="+mj-lt"/>
            </a:rPr>
            <a:t>Un-replicated</a:t>
          </a:r>
          <a:endParaRPr lang="en-US" sz="3200" kern="1200" dirty="0">
            <a:solidFill>
              <a:schemeClr val="bg1">
                <a:lumMod val="50000"/>
              </a:schemeClr>
            </a:solidFill>
            <a:latin typeface="+mj-lt"/>
          </a:endParaRPr>
        </a:p>
      </dsp:txBody>
      <dsp:txXfrm>
        <a:off x="6282543" y="219075"/>
        <a:ext cx="2754262" cy="1101705"/>
      </dsp:txXfrm>
    </dsp:sp>
    <dsp:sp modelId="{1B5D0587-6531-4B74-B9E0-C064E134D64B}">
      <dsp:nvSpPr>
        <dsp:cNvPr id="0" name=""/>
        <dsp:cNvSpPr/>
      </dsp:nvSpPr>
      <dsp:spPr>
        <a:xfrm>
          <a:off x="6282543" y="1320780"/>
          <a:ext cx="2754262" cy="2854800"/>
        </a:xfrm>
        <a:prstGeom prst="rect">
          <a:avLst/>
        </a:prstGeom>
        <a:solidFill>
          <a:schemeClr val="accent4">
            <a:tint val="40000"/>
            <a:alpha val="90000"/>
            <a:hueOff val="-12212966"/>
            <a:satOff val="7930"/>
            <a:lumOff val="38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6">
                <a:lumMod val="75000"/>
              </a:schemeClr>
            </a:buClr>
            <a:buFont typeface="Wingdings" panose="05000000000000000000" pitchFamily="2" charset="2"/>
            <a:buChar char="§"/>
          </a:pPr>
          <a:r>
            <a:rPr lang="en-ZA" sz="2400" b="0" i="0" u="none" kern="1200" dirty="0">
              <a:latin typeface="+mj-lt"/>
            </a:rPr>
            <a:t>Stores each database fragment at single site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accent6">
                <a:lumMod val="75000"/>
              </a:schemeClr>
            </a:buClr>
            <a:buFont typeface="Wingdings" panose="05000000000000000000" pitchFamily="2" charset="2"/>
            <a:buChar char="§"/>
          </a:pPr>
          <a:r>
            <a:rPr lang="en-ZA" sz="2400" b="0" i="0" u="none" kern="1200" dirty="0">
              <a:latin typeface="+mj-lt"/>
            </a:rPr>
            <a:t>No duplicate database fragments</a:t>
          </a:r>
        </a:p>
      </dsp:txBody>
      <dsp:txXfrm>
        <a:off x="6282543" y="1320780"/>
        <a:ext cx="2754262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873B9F-50A0-4622-8B27-9EA7B86E7C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17B71-78E5-4F1B-8D85-573B8AAD3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A5925-1F73-40BA-85C9-D3AC61ACF64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5D993-102A-4921-A12E-E8E8D0285A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94975-3B91-4B9C-9498-7DA766AE14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0B77D-D561-4A25-8C29-51CAB365A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2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8DB0-09F6-4366-A211-0FA9A757C8BD}" type="datetimeFigureOut">
              <a:rPr lang="en-US" noProof="0" smtClean="0"/>
              <a:t>5/6/2026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CE8F5-1341-475C-BF40-2E24D91E8058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945AC3A-7D9B-423E-A2BF-B883C9B2D24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"/>
          <a:stretch/>
        </p:blipFill>
        <p:spPr>
          <a:xfrm>
            <a:off x="7801452" y="1"/>
            <a:ext cx="4389120" cy="6675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524B29-B525-4E47-862B-FD57B403D539}"/>
              </a:ext>
            </a:extLst>
          </p:cNvPr>
          <p:cNvSpPr/>
          <p:nvPr userDrawn="1"/>
        </p:nvSpPr>
        <p:spPr>
          <a:xfrm>
            <a:off x="7804351" y="1"/>
            <a:ext cx="4386221" cy="667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284" y="1"/>
            <a:ext cx="7815636" cy="667702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C333A-735B-44F8-99E4-E73D8172DE35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9AA83-848B-4DFD-A644-A5D9CEFF95E3}"/>
              </a:ext>
            </a:extLst>
          </p:cNvPr>
          <p:cNvSpPr/>
          <p:nvPr userDrawn="1"/>
        </p:nvSpPr>
        <p:spPr>
          <a:xfrm>
            <a:off x="7804351" y="6678000"/>
            <a:ext cx="4224295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2880EF2-ACF9-4D66-99FF-99CB3F61BE99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962149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602038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Graphic 11">
            <a:extLst>
              <a:ext uri="{FF2B5EF4-FFF2-40B4-BE49-F238E27FC236}">
                <a16:creationId xmlns:a16="http://schemas.microsoft.com/office/drawing/2014/main" id="{54BAE1D8-3DF8-48CA-92C4-2E2064E4A3C5}"/>
              </a:ext>
            </a:extLst>
          </p:cNvPr>
          <p:cNvSpPr/>
          <p:nvPr userDrawn="1"/>
        </p:nvSpPr>
        <p:spPr>
          <a:xfrm>
            <a:off x="8776606" y="3981146"/>
            <a:ext cx="3413965" cy="2695876"/>
          </a:xfrm>
          <a:custGeom>
            <a:avLst/>
            <a:gdLst>
              <a:gd name="connsiteX0" fmla="*/ 4121944 w 4124325"/>
              <a:gd name="connsiteY0" fmla="*/ 1555076 h 3257550"/>
              <a:gd name="connsiteX1" fmla="*/ 4118134 w 4124325"/>
              <a:gd name="connsiteY1" fmla="*/ 1533169 h 3257550"/>
              <a:gd name="connsiteX2" fmla="*/ 2782729 w 4124325"/>
              <a:gd name="connsiteY2" fmla="*/ 39649 h 3257550"/>
              <a:gd name="connsiteX3" fmla="*/ 2108359 w 4124325"/>
              <a:gd name="connsiteY3" fmla="*/ 2436139 h 3257550"/>
              <a:gd name="connsiteX4" fmla="*/ 1262539 w 4124325"/>
              <a:gd name="connsiteY4" fmla="*/ 1310284 h 3257550"/>
              <a:gd name="connsiteX5" fmla="*/ 717709 w 4124325"/>
              <a:gd name="connsiteY5" fmla="*/ 2358986 h 3257550"/>
              <a:gd name="connsiteX6" fmla="*/ 7144 w 4124325"/>
              <a:gd name="connsiteY6" fmla="*/ 3257194 h 3257550"/>
              <a:gd name="connsiteX7" fmla="*/ 4075271 w 4124325"/>
              <a:gd name="connsiteY7" fmla="*/ 3257194 h 3257550"/>
              <a:gd name="connsiteX8" fmla="*/ 4122896 w 4124325"/>
              <a:gd name="connsiteY8" fmla="*/ 3201949 h 3257550"/>
              <a:gd name="connsiteX9" fmla="*/ 4122896 w 4124325"/>
              <a:gd name="connsiteY9" fmla="*/ 1555076 h 3257550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068127 w 4207192"/>
              <a:gd name="connsiteY9" fmla="*/ 3250050 h 3286245"/>
              <a:gd name="connsiteX10" fmla="*/ 4207192 w 4207192"/>
              <a:gd name="connsiteY10" fmla="*/ 3286245 h 3286245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207192 w 4207192"/>
              <a:gd name="connsiteY9" fmla="*/ 3286245 h 3286245"/>
              <a:gd name="connsiteX0" fmla="*/ 4115752 w 4115752"/>
              <a:gd name="connsiteY0" fmla="*/ 3194805 h 3250050"/>
              <a:gd name="connsiteX1" fmla="*/ 4115752 w 4115752"/>
              <a:gd name="connsiteY1" fmla="*/ 1547932 h 3250050"/>
              <a:gd name="connsiteX2" fmla="*/ 4114800 w 4115752"/>
              <a:gd name="connsiteY2" fmla="*/ 1547932 h 3250050"/>
              <a:gd name="connsiteX3" fmla="*/ 4110990 w 4115752"/>
              <a:gd name="connsiteY3" fmla="*/ 1526025 h 3250050"/>
              <a:gd name="connsiteX4" fmla="*/ 2775585 w 4115752"/>
              <a:gd name="connsiteY4" fmla="*/ 32505 h 3250050"/>
              <a:gd name="connsiteX5" fmla="*/ 2101215 w 4115752"/>
              <a:gd name="connsiteY5" fmla="*/ 2428995 h 3250050"/>
              <a:gd name="connsiteX6" fmla="*/ 1255395 w 4115752"/>
              <a:gd name="connsiteY6" fmla="*/ 1303140 h 3250050"/>
              <a:gd name="connsiteX7" fmla="*/ 710565 w 4115752"/>
              <a:gd name="connsiteY7" fmla="*/ 2351842 h 3250050"/>
              <a:gd name="connsiteX8" fmla="*/ 0 w 4115752"/>
              <a:gd name="connsiteY8" fmla="*/ 3250050 h 3250050"/>
              <a:gd name="connsiteX0" fmla="*/ 4115752 w 4115752"/>
              <a:gd name="connsiteY0" fmla="*/ 1547932 h 3250050"/>
              <a:gd name="connsiteX1" fmla="*/ 4114800 w 4115752"/>
              <a:gd name="connsiteY1" fmla="*/ 1547932 h 3250050"/>
              <a:gd name="connsiteX2" fmla="*/ 4110990 w 4115752"/>
              <a:gd name="connsiteY2" fmla="*/ 1526025 h 3250050"/>
              <a:gd name="connsiteX3" fmla="*/ 2775585 w 4115752"/>
              <a:gd name="connsiteY3" fmla="*/ 32505 h 3250050"/>
              <a:gd name="connsiteX4" fmla="*/ 2101215 w 4115752"/>
              <a:gd name="connsiteY4" fmla="*/ 2428995 h 3250050"/>
              <a:gd name="connsiteX5" fmla="*/ 1255395 w 4115752"/>
              <a:gd name="connsiteY5" fmla="*/ 1303140 h 3250050"/>
              <a:gd name="connsiteX6" fmla="*/ 710565 w 4115752"/>
              <a:gd name="connsiteY6" fmla="*/ 2351842 h 3250050"/>
              <a:gd name="connsiteX7" fmla="*/ 0 w 4115752"/>
              <a:gd name="connsiteY7" fmla="*/ 3250050 h 325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5752" h="3250050">
                <a:moveTo>
                  <a:pt x="4115752" y="1547932"/>
                </a:moveTo>
                <a:lnTo>
                  <a:pt x="4114800" y="1547932"/>
                </a:lnTo>
                <a:cubicBezTo>
                  <a:pt x="4114800" y="1540312"/>
                  <a:pt x="4113847" y="1532692"/>
                  <a:pt x="4110990" y="1526025"/>
                </a:cubicBezTo>
                <a:cubicBezTo>
                  <a:pt x="4060507" y="1391722"/>
                  <a:pt x="3224212" y="-249435"/>
                  <a:pt x="2775585" y="32505"/>
                </a:cubicBezTo>
                <a:cubicBezTo>
                  <a:pt x="2375535" y="283965"/>
                  <a:pt x="2629852" y="2428995"/>
                  <a:pt x="2101215" y="2428995"/>
                </a:cubicBezTo>
                <a:cubicBezTo>
                  <a:pt x="1784985" y="2428995"/>
                  <a:pt x="1670685" y="1303140"/>
                  <a:pt x="1255395" y="1303140"/>
                </a:cubicBezTo>
                <a:cubicBezTo>
                  <a:pt x="1037272" y="1303140"/>
                  <a:pt x="710565" y="1554600"/>
                  <a:pt x="710565" y="2351842"/>
                </a:cubicBezTo>
                <a:cubicBezTo>
                  <a:pt x="710565" y="3149085"/>
                  <a:pt x="0" y="3250050"/>
                  <a:pt x="0" y="325005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E860F-437F-442E-898C-244A0DD5D765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B83C35-D975-48B4-8E79-AB7A1A80DF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99832" cy="66751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E187E-6082-49C3-B795-CC4321FE39F8}"/>
              </a:ext>
            </a:extLst>
          </p:cNvPr>
          <p:cNvSpPr/>
          <p:nvPr userDrawn="1"/>
        </p:nvSpPr>
        <p:spPr>
          <a:xfrm>
            <a:off x="6671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FF6A8-5ABD-4191-81E4-C9F86380A5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7D1E-1708-4D17-AB85-058EE0C34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30496" y="6700324"/>
            <a:ext cx="3785205" cy="93684"/>
          </a:xfrm>
          <a:prstGeom prst="rect">
            <a:avLst/>
          </a:prstGeom>
          <a:gradFill>
            <a:gsLst>
              <a:gs pos="82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Chapter 14 - Distributed Databases</a:t>
            </a:r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29A18-E6EB-4081-B804-B2FCF5287D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2481141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CDBDF0B-F377-47FD-9DA1-C3BDA7C1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3" y="4220102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/>
        </p:nvSpPr>
        <p:spPr>
          <a:xfrm flipH="1">
            <a:off x="-1428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04150" y="1"/>
            <a:ext cx="4387850" cy="6679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953439" y="6660000"/>
            <a:ext cx="3790250" cy="18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14 - Distributed Databases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A87C21-15CD-48D8-B583-89B110156879}"/>
              </a:ext>
            </a:extLst>
          </p:cNvPr>
          <p:cNvSpPr/>
          <p:nvPr userDrawn="1"/>
        </p:nvSpPr>
        <p:spPr>
          <a:xfrm>
            <a:off x="7804351" y="0"/>
            <a:ext cx="4386221" cy="667702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7752" y="4320000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922511" y="6676120"/>
            <a:ext cx="3755867" cy="14399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14 - Distributed Databases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092E684-C621-4F92-A05A-A167EEF462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57037" y="4320000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958D132-F2A9-41E1-BDD8-067D52CE5F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7752" y="2395565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88FD4DB-5089-4686-B4F7-A26163146C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057037" y="2395565"/>
            <a:ext cx="1800000" cy="1800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24023AF-AB97-4B60-86FA-5DC8DA1B5C4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27752" y="471129"/>
            <a:ext cx="1800000" cy="1800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8210F231-568A-4348-B33F-9EBB4A5CF9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057037" y="471129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</p:spTree>
    <p:extLst>
      <p:ext uri="{BB962C8B-B14F-4D97-AF65-F5344CB8AC3E}">
        <p14:creationId xmlns:p14="http://schemas.microsoft.com/office/powerpoint/2010/main" val="244511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Left Header">
            <a:extLst>
              <a:ext uri="{FF2B5EF4-FFF2-40B4-BE49-F238E27FC236}">
                <a16:creationId xmlns:a16="http://schemas.microsoft.com/office/drawing/2014/main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A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Right Header">
            <a:extLst>
              <a:ext uri="{FF2B5EF4-FFF2-40B4-BE49-F238E27FC236}">
                <a16:creationId xmlns:a16="http://schemas.microsoft.com/office/drawing/2014/main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AC535-CCE6-472A-BA3D-DDE92DFF0E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853980" y="6650007"/>
            <a:ext cx="3740419" cy="19431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14 - Distributed Databases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F890-EB29-4A5B-A499-BB0FC04447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67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A41AC-399F-4B25-A28A-F7679843C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E1C65CF6-B529-468F-B46C-1D1C2E71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45FB-DCB7-4844-B346-98986ADF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0" y="0"/>
            <a:ext cx="12192000" cy="6678000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Your Video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EBDA-221D-4CBD-8DBF-E03A370015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508FC-366E-44DA-80A8-28048E1E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11E4563-E2FC-4D6F-B759-AB4FB77D2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799832" cy="667512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2FE8913-A018-418C-99FB-2DF342B9B5A0}"/>
              </a:ext>
            </a:extLst>
          </p:cNvPr>
          <p:cNvSpPr/>
          <p:nvPr userDrawn="1"/>
        </p:nvSpPr>
        <p:spPr>
          <a:xfrm>
            <a:off x="0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F7702AD-1968-4CE6-BC7C-02C063706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862" y="3032684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66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 userDrawn="1"/>
        </p:nvSpPr>
        <p:spPr>
          <a:xfrm>
            <a:off x="1774391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Name">
            <a:extLst>
              <a:ext uri="{FF2B5EF4-FFF2-40B4-BE49-F238E27FC236}">
                <a16:creationId xmlns:a16="http://schemas.microsoft.com/office/drawing/2014/main" id="{B8C48821-0D90-416C-873E-50587E8A0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861" y="4741677"/>
            <a:ext cx="3756943" cy="252000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  <a:endParaRPr lang="en-US" dirty="0"/>
          </a:p>
        </p:txBody>
      </p:sp>
      <p:sp>
        <p:nvSpPr>
          <p:cNvPr id="16" name="Email">
            <a:extLst>
              <a:ext uri="{FF2B5EF4-FFF2-40B4-BE49-F238E27FC236}">
                <a16:creationId xmlns:a16="http://schemas.microsoft.com/office/drawing/2014/main" id="{42450180-8D19-405E-97F0-2A309B58D0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8990" y="5147137"/>
            <a:ext cx="3462814" cy="25200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Email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37F23B-0C4D-4D27-BF83-0B10D1CFFDCD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9551A1-FBAD-4CC8-AA99-F9F4D4281782}"/>
              </a:ext>
            </a:extLst>
          </p:cNvPr>
          <p:cNvSpPr/>
          <p:nvPr userDrawn="1"/>
        </p:nvSpPr>
        <p:spPr>
          <a:xfrm>
            <a:off x="7804351" y="6678000"/>
            <a:ext cx="4224296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F695C6B-DBEE-447E-B106-7351E00BD0AF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38929-6316-4332-83F8-9E95386C7C42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7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1CC9B96F-1A0A-4B16-BDF7-48B289CD53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7081-42C5-4F4E-8A26-E7788CC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FCAA-94B1-47BD-AD46-123D3404BB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11CEA-C130-40E5-A858-8D4FE6E586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9123-1F0C-4BD2-8233-FEE5B2A466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08467" y="6622014"/>
            <a:ext cx="3807232" cy="25568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14 - Distributed Databases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8981-59A6-4480-80A6-5619C22017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302A3D4-CF60-41AF-924C-B30D3FD997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8FCF-8FC7-49D2-9516-7662294E35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08467" y="6678000"/>
            <a:ext cx="3633501" cy="14400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14 - Distributed Databases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08B4-CFD5-4FAE-9519-74EFAC0B03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ED074E-AB07-44D1-8B4E-189EAEF79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08466" y="6678000"/>
            <a:ext cx="3685934" cy="14400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Chapter 14 - Distributed Databases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1D44B-9877-40D1-B788-EE3BFD57C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B5D6-0FB6-494F-A52C-A12EA63DC75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35754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99CE02-8616-40B2-85FF-B06E192752AB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DF8E0-6324-45B7-8B0A-24383EF1B915}"/>
              </a:ext>
            </a:extLst>
          </p:cNvPr>
          <p:cNvSpPr/>
          <p:nvPr userDrawn="1"/>
        </p:nvSpPr>
        <p:spPr>
          <a:xfrm>
            <a:off x="7804351" y="6678000"/>
            <a:ext cx="3789833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E718F-2F10-41F1-8E9F-18DD53EF065F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06992" y="6677338"/>
            <a:ext cx="3789833" cy="144000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400" y="6678000"/>
            <a:ext cx="597600" cy="144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</a:gradFill>
        </p:spPr>
        <p:txBody>
          <a:bodyPr vert="horz" lIns="0" tIns="0" rIns="72000" bIns="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63" r:id="rId4"/>
    <p:sldLayoutId id="2147483656" r:id="rId5"/>
    <p:sldLayoutId id="2147483660" r:id="rId6"/>
    <p:sldLayoutId id="2147483661" r:id="rId7"/>
    <p:sldLayoutId id="2147483664" r:id="rId8"/>
    <p:sldLayoutId id="2147483650" r:id="rId9"/>
    <p:sldLayoutId id="2147483652" r:id="rId10"/>
    <p:sldLayoutId id="2147483654" r:id="rId11"/>
    <p:sldLayoutId id="2147483655" r:id="rId12"/>
    <p:sldLayoutId id="214748366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701965"/>
            <a:ext cx="4007769" cy="2807998"/>
          </a:xfrm>
        </p:spPr>
        <p:txBody>
          <a:bodyPr/>
          <a:lstStyle/>
          <a:p>
            <a:r>
              <a:rPr lang="en-US" sz="4800" dirty="0"/>
              <a:t>Distributed </a:t>
            </a:r>
            <a:r>
              <a:rPr lang="en-ZA" sz="4800" dirty="0"/>
              <a:t>Databases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7 May 2026</a:t>
            </a:r>
          </a:p>
          <a:p>
            <a:r>
              <a:rPr lang="en-US" noProof="1"/>
              <a:t>Lynette Barnard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17638D-56AE-48AD-96C8-EE46229C7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D243359-CBEA-4C3C-8024-4EDF4953F8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7351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0487-B7F4-5E2D-AA3D-544A6E5C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ZA" dirty="0"/>
              <a:t>Our Focus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3FB78D2-A640-508E-C2AB-D4ADD4BBF5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1A65B-DE85-8DF3-EE38-F6313A4D0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marL="0" indent="0">
              <a:buNone/>
            </a:pPr>
            <a:r>
              <a:rPr lang="en-ZA" sz="2800" dirty="0"/>
              <a:t>Distributed database management systems (DDBMS)</a:t>
            </a:r>
          </a:p>
          <a:p>
            <a:pPr marL="228600" lvl="1"/>
            <a:r>
              <a:rPr lang="en-ZA" sz="2800" dirty="0"/>
              <a:t>Data storage and processing take place over networks</a:t>
            </a:r>
          </a:p>
          <a:p>
            <a:pPr marL="228600" lvl="1"/>
            <a:r>
              <a:rPr lang="en-ZA" sz="2800" dirty="0"/>
              <a:t>Both data and processing distributed (different sites)</a:t>
            </a:r>
          </a:p>
          <a:p>
            <a:pPr marL="0" indent="0">
              <a:buNone/>
            </a:pPr>
            <a:r>
              <a:rPr lang="en-ZA" sz="2800" dirty="0"/>
              <a:t>Multi-site database forms core of distributed database system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0FCD17-E809-DD26-3695-E27240FEDF6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953439" y="6660000"/>
            <a:ext cx="3790250" cy="180000"/>
          </a:xfrm>
        </p:spPr>
        <p:txBody>
          <a:bodyPr/>
          <a:lstStyle/>
          <a:p>
            <a:r>
              <a:rPr lang="en-US" noProof="0" dirty="0"/>
              <a:t>Chapter 14 - Distributed Databases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BA7F9-AC4E-25CD-916E-981178A3A9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9C7AD-C7C3-9073-E3A1-63E0F814BD7C}"/>
              </a:ext>
            </a:extLst>
          </p:cNvPr>
          <p:cNvSpPr txBox="1"/>
          <p:nvPr/>
        </p:nvSpPr>
        <p:spPr>
          <a:xfrm>
            <a:off x="10622922" y="6447168"/>
            <a:ext cx="16193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0" i="0" u="sng" dirty="0">
                <a:solidFill>
                  <a:srgbClr val="FFFFFF"/>
                </a:solidFill>
                <a:effectLst/>
                <a:latin typeface="__Inter_8effd3"/>
              </a:rPr>
              <a:t>Image by DC Studio on </a:t>
            </a:r>
            <a:r>
              <a:rPr lang="en-US" sz="900" b="0" i="0" u="sng" dirty="0" err="1">
                <a:solidFill>
                  <a:srgbClr val="FFFFFF"/>
                </a:solidFill>
                <a:effectLst/>
                <a:latin typeface="__Inter_8effd3"/>
              </a:rPr>
              <a:t>Freepik</a:t>
            </a:r>
            <a:endParaRPr lang="en-ZA" sz="900" dirty="0"/>
          </a:p>
        </p:txBody>
      </p:sp>
      <p:pic>
        <p:nvPicPr>
          <p:cNvPr id="18" name="Picture Placeholder 17" descr="A close up of a crosshair&#10;&#10;Description automatically generated">
            <a:extLst>
              <a:ext uri="{FF2B5EF4-FFF2-40B4-BE49-F238E27FC236}">
                <a16:creationId xmlns:a16="http://schemas.microsoft.com/office/drawing/2014/main" id="{C5DE028E-3815-D737-0EDF-E38424B6B88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7151" r="17151"/>
          <a:stretch>
            <a:fillRect/>
          </a:stretch>
        </p:blipFill>
        <p:spPr/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634E718-571A-E6CC-087B-C518162FED6E}"/>
              </a:ext>
            </a:extLst>
          </p:cNvPr>
          <p:cNvSpPr txBox="1"/>
          <p:nvPr/>
        </p:nvSpPr>
        <p:spPr>
          <a:xfrm>
            <a:off x="9998075" y="6442630"/>
            <a:ext cx="2247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Image by rawpixel.com on Magnific</a:t>
            </a:r>
            <a:endParaRPr lang="en-ZA" sz="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662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187" y="555042"/>
            <a:ext cx="10515600" cy="631012"/>
          </a:xfrm>
        </p:spPr>
        <p:txBody>
          <a:bodyPr/>
          <a:lstStyle/>
          <a:p>
            <a:r>
              <a:rPr lang="en-ZA" sz="4000" dirty="0"/>
              <a:t>Distributed processing and distributed database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8012641" y="6553267"/>
            <a:ext cx="4114800" cy="365125"/>
          </a:xfrm>
        </p:spPr>
        <p:txBody>
          <a:bodyPr/>
          <a:lstStyle/>
          <a:p>
            <a:r>
              <a:rPr lang="en-US" dirty="0"/>
              <a:t>Chapter 14 - Distributed Databases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B5D6-0FB6-494F-A52C-A12EA63DC752}" type="slidenum">
              <a:rPr lang="en-ZA" smtClean="0"/>
              <a:t>3</a:t>
            </a:fld>
            <a:endParaRPr lang="en-ZA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E2735AC-4BF2-FC1D-57CC-2502DAD4F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75" y="2556856"/>
            <a:ext cx="3945451" cy="37461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2C894D9C-BF16-EF36-3296-C42899F2591A}"/>
              </a:ext>
            </a:extLst>
          </p:cNvPr>
          <p:cNvSpPr txBox="1">
            <a:spLocks/>
          </p:cNvSpPr>
          <p:nvPr/>
        </p:nvSpPr>
        <p:spPr>
          <a:xfrm>
            <a:off x="860426" y="1652922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2399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1999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1799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ZA">
                <a:latin typeface="+mj-lt"/>
              </a:rPr>
              <a:t>Distributed processing does not require distributed database</a:t>
            </a:r>
            <a:endParaRPr lang="en-ZA" dirty="0">
              <a:latin typeface="+mj-lt"/>
            </a:endParaRP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846085CC-F931-2BBC-5DD3-2FE09C57A551}"/>
              </a:ext>
            </a:extLst>
          </p:cNvPr>
          <p:cNvSpPr txBox="1">
            <a:spLocks/>
          </p:cNvSpPr>
          <p:nvPr/>
        </p:nvSpPr>
        <p:spPr>
          <a:xfrm>
            <a:off x="6170612" y="1654534"/>
            <a:ext cx="5183188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2399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1999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1799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ZA" dirty="0">
                <a:latin typeface="+mj-lt"/>
              </a:rPr>
              <a:t>Distributed database does require distributed processing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27143D01-EB8D-EE19-64E8-156ABF88C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3" y="2556856"/>
            <a:ext cx="4209047" cy="369284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8387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>
            <a:normAutofit/>
          </a:bodyPr>
          <a:lstStyle/>
          <a:p>
            <a:r>
              <a:rPr lang="en-ZA" dirty="0"/>
              <a:t>DDBMS Characteristics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1E6350-76D9-DA52-F679-BDE4193B1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243" y="1214728"/>
            <a:ext cx="7417113" cy="4860000"/>
          </a:xfrm>
        </p:spPr>
        <p:txBody>
          <a:bodyPr/>
          <a:lstStyle/>
          <a:p>
            <a:pPr marL="0" indent="0">
              <a:buClr>
                <a:schemeClr val="accent2"/>
              </a:buClr>
              <a:buNone/>
            </a:pPr>
            <a:r>
              <a:rPr lang="en-ZA" sz="2800" dirty="0"/>
              <a:t>Fully distributed - perform all functions of centralised DBMS, e.g.</a:t>
            </a:r>
          </a:p>
          <a:p>
            <a:pPr marL="646113" indent="-457200"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ZA" sz="2800" dirty="0"/>
              <a:t>Receive user request</a:t>
            </a:r>
          </a:p>
          <a:p>
            <a:pPr marL="646113" indent="-457200"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ZA" sz="2800" dirty="0"/>
              <a:t>Validate, analyse, decompose request</a:t>
            </a:r>
          </a:p>
          <a:p>
            <a:pPr marL="646113" indent="-457200"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ZA" sz="2800" dirty="0"/>
              <a:t>Locate requested data (wherever located)</a:t>
            </a:r>
          </a:p>
          <a:p>
            <a:pPr marL="646113" indent="-457200"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ZA" sz="2800" dirty="0"/>
              <a:t>Ensure database consistency, security, integrity</a:t>
            </a:r>
          </a:p>
          <a:p>
            <a:pPr marL="646113" indent="-457200">
              <a:spcBef>
                <a:spcPts val="0"/>
              </a:spcBef>
              <a:buClr>
                <a:schemeClr val="accent6">
                  <a:lumMod val="75000"/>
                </a:schemeClr>
              </a:buClr>
            </a:pPr>
            <a:r>
              <a:rPr lang="en-ZA" sz="2800" dirty="0"/>
              <a:t>Present requested data in required format</a:t>
            </a:r>
          </a:p>
          <a:p>
            <a:pPr marL="0" indent="0">
              <a:buClr>
                <a:schemeClr val="accent2"/>
              </a:buClr>
              <a:buNone/>
            </a:pPr>
            <a:r>
              <a:rPr lang="en-ZA" sz="2800" dirty="0"/>
              <a:t>Data and processing distribution should be transparent to user</a:t>
            </a:r>
          </a:p>
          <a:p>
            <a:endParaRPr lang="en-ZA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pPr lvl="0"/>
            <a:fld id="{8C95B5D6-0FB6-494F-A52C-A12EA63DC752}" type="slidenum">
              <a:rPr lang="en-ZA" noProof="0" smtClean="0"/>
              <a:pPr lvl="0"/>
              <a:t>4</a:t>
            </a:fld>
            <a:endParaRPr lang="en-ZA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Chapter 14 - Distributed Databases</a:t>
            </a:r>
            <a:endParaRPr kumimoji="0" lang="en-ZA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/>
        </p:nvSpPr>
        <p:spPr>
          <a:xfrm>
            <a:off x="8009380" y="6670606"/>
            <a:ext cx="3816563" cy="139445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Chapter 14 - Distributed Databases</a:t>
            </a:r>
            <a:endParaRPr lang="en-Z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372089-A4D1-4EFB-C4CE-42E88A0FF1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5" r="-2" b="-2"/>
          <a:stretch/>
        </p:blipFill>
        <p:spPr>
          <a:xfrm>
            <a:off x="7579150" y="1214728"/>
            <a:ext cx="4504232" cy="43674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57755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sz="3600" dirty="0"/>
              <a:t>Components of DDBMS (Fig 14.5, p 718)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9E8EA-1C6A-B42D-B3FF-239BAAA0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2" y="1619250"/>
            <a:ext cx="11234037" cy="4500563"/>
          </a:xfrm>
        </p:spPr>
        <p:txBody>
          <a:bodyPr/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ZA" sz="2800" dirty="0"/>
              <a:t>Computer workstation / remote device</a:t>
            </a:r>
            <a:endParaRPr lang="en-US" sz="2800" dirty="0"/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ZA" sz="2800" dirty="0"/>
              <a:t>Network hardware &amp; software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ZA" sz="2800" dirty="0"/>
              <a:t>Communications media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ZA" sz="2800" dirty="0"/>
              <a:t>Transaction or Application processor (TP or AP) / Transaction manager (TM)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Software component that requests data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Receives and processes remote and local data requests</a:t>
            </a:r>
          </a:p>
          <a:p>
            <a:pPr marL="0" indent="0">
              <a:buNone/>
            </a:pPr>
            <a:r>
              <a:rPr lang="en-ZA" sz="2800" dirty="0"/>
              <a:t>Data processor or manager (DP or DM)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Software component that stores / retrieves data at local site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 noProof="0"/>
              <a:t>Chapter 14 - Distributed Databases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FA179799-DA1A-0696-546E-8F62FC304C5A}"/>
              </a:ext>
            </a:extLst>
          </p:cNvPr>
          <p:cNvSpPr/>
          <p:nvPr/>
        </p:nvSpPr>
        <p:spPr>
          <a:xfrm>
            <a:off x="9276140" y="3888196"/>
            <a:ext cx="2534860" cy="246815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1248">
              <a:spcAft>
                <a:spcPts val="600"/>
              </a:spcAft>
            </a:pPr>
            <a:r>
              <a:rPr lang="en-ZA" sz="2208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/>
              </a:rPr>
              <a:t>Communication between TP and DP handled via protocols</a:t>
            </a:r>
            <a:endParaRPr lang="en-ZA" sz="2400" dirty="0">
              <a:solidFill>
                <a:schemeClr val="accent1">
                  <a:lumMod val="20000"/>
                  <a:lumOff val="80000"/>
                </a:scheme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3903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sz="4400" dirty="0"/>
              <a:t>Distributed database transparency features</a:t>
            </a:r>
            <a:endParaRPr lang="en-ZA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9E8EA-1C6A-B42D-B3FF-239BAAA0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2" y="1619250"/>
            <a:ext cx="11234037" cy="4500563"/>
          </a:xfrm>
        </p:spPr>
        <p:txBody>
          <a:bodyPr/>
          <a:lstStyle/>
          <a:p>
            <a:pPr marL="0" indent="0">
              <a:buClr>
                <a:schemeClr val="accent2"/>
              </a:buClr>
              <a:buNone/>
            </a:pPr>
            <a:r>
              <a:rPr lang="en-ZA" sz="3200" dirty="0"/>
              <a:t>Hide system complexities so user perceives database as single-user</a:t>
            </a:r>
          </a:p>
          <a:p>
            <a:pPr marL="0" indent="0">
              <a:buClr>
                <a:schemeClr val="accent2"/>
              </a:buClr>
              <a:buNone/>
            </a:pPr>
            <a:r>
              <a:rPr lang="en-ZA" sz="3200" dirty="0"/>
              <a:t>Transparency features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800" dirty="0"/>
              <a:t>Distribution (user unaware of partitioning, replication, location)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800" dirty="0"/>
              <a:t>Transaction (data updated at multiple sites; integrity &amp; consistency ensured)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800" dirty="0"/>
              <a:t>Failure (system continues if one node fails)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800" dirty="0"/>
              <a:t>Performance (performs as if centralised)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800" dirty="0"/>
              <a:t>Heterogeneity (integrate different local DBMSs)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 noProof="0"/>
              <a:t>Chapter 14 - Distributed Databases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01704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5493572" cy="540000"/>
          </a:xfrm>
        </p:spPr>
        <p:txBody>
          <a:bodyPr/>
          <a:lstStyle/>
          <a:p>
            <a:r>
              <a:rPr lang="en-ZA" sz="4400" dirty="0"/>
              <a:t>Distribution transparency</a:t>
            </a:r>
            <a:endParaRPr lang="en-ZA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9E8EA-1C6A-B42D-B3FF-239BAAA0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2" y="2432479"/>
            <a:ext cx="4110069" cy="3687334"/>
          </a:xfrm>
        </p:spPr>
        <p:txBody>
          <a:bodyPr/>
          <a:lstStyle/>
          <a:p>
            <a:pPr marL="0" indent="0">
              <a:buNone/>
            </a:pPr>
            <a:r>
              <a:rPr lang="en-ZA" sz="2800" dirty="0"/>
              <a:t>Physically dispersed database managed as if centralised</a:t>
            </a:r>
          </a:p>
          <a:p>
            <a:pPr marL="0" indent="0">
              <a:buNone/>
            </a:pPr>
            <a:r>
              <a:rPr lang="en-ZA" sz="2800" dirty="0"/>
              <a:t>Three distribution transparency levels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Local mapping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Location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Fragmentation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 noProof="0"/>
              <a:t>Chapter 14 - Distributed Databases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7</a:t>
            </a:fld>
            <a:endParaRPr lang="en-US" noProof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DF5EB2E-DE09-CBD0-D386-BF40D2831992}"/>
              </a:ext>
            </a:extLst>
          </p:cNvPr>
          <p:cNvGrpSpPr/>
          <p:nvPr/>
        </p:nvGrpSpPr>
        <p:grpSpPr>
          <a:xfrm>
            <a:off x="4366360" y="-26786"/>
            <a:ext cx="7711946" cy="2459265"/>
            <a:chOff x="4366360" y="-26786"/>
            <a:chExt cx="7711946" cy="245926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2591813-FA25-B1A1-ED8A-7590FC35D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53572" y="-26786"/>
              <a:ext cx="6224734" cy="241489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2B3698-1D79-92CB-2E43-8AB5ADA15743}"/>
                </a:ext>
              </a:extLst>
            </p:cNvPr>
            <p:cNvSpPr txBox="1"/>
            <p:nvPr/>
          </p:nvSpPr>
          <p:spPr>
            <a:xfrm>
              <a:off x="4366360" y="1223751"/>
              <a:ext cx="13248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prstClr val="black"/>
                  </a:solidFill>
                  <a:latin typeface="Calibri" panose="020F0502020204030204"/>
                </a:rPr>
                <a:t>Fragment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D5E5FF-3549-AB5B-B1A5-7B9B1C3DD920}"/>
                </a:ext>
              </a:extLst>
            </p:cNvPr>
            <p:cNvSpPr txBox="1"/>
            <p:nvPr/>
          </p:nvSpPr>
          <p:spPr>
            <a:xfrm>
              <a:off x="4470431" y="2063147"/>
              <a:ext cx="11765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prstClr val="black"/>
                  </a:solidFill>
                  <a:latin typeface="Calibri" panose="020F0502020204030204"/>
                </a:rPr>
                <a:t>Location</a:t>
              </a:r>
            </a:p>
          </p:txBody>
        </p:sp>
        <p:sp>
          <p:nvSpPr>
            <p:cNvPr id="10" name="Right Arrow 14">
              <a:extLst>
                <a:ext uri="{FF2B5EF4-FFF2-40B4-BE49-F238E27FC236}">
                  <a16:creationId xmlns:a16="http://schemas.microsoft.com/office/drawing/2014/main" id="{51C15741-193B-A74F-12BC-65E659ABDEB8}"/>
                </a:ext>
              </a:extLst>
            </p:cNvPr>
            <p:cNvSpPr/>
            <p:nvPr/>
          </p:nvSpPr>
          <p:spPr>
            <a:xfrm>
              <a:off x="5379985" y="1382014"/>
              <a:ext cx="1302626" cy="92824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" name="Right Arrow 15">
              <a:extLst>
                <a:ext uri="{FF2B5EF4-FFF2-40B4-BE49-F238E27FC236}">
                  <a16:creationId xmlns:a16="http://schemas.microsoft.com/office/drawing/2014/main" id="{9096C260-899A-5733-8CB7-985E7068C3D9}"/>
                </a:ext>
              </a:extLst>
            </p:cNvPr>
            <p:cNvSpPr/>
            <p:nvPr/>
          </p:nvSpPr>
          <p:spPr>
            <a:xfrm>
              <a:off x="5379985" y="2241099"/>
              <a:ext cx="1302626" cy="92824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0A349C7-FCCC-3DDA-F97E-2AB8E0976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067157"/>
              </p:ext>
            </p:extLst>
          </p:nvPr>
        </p:nvGraphicFramePr>
        <p:xfrm>
          <a:off x="4007578" y="3097946"/>
          <a:ext cx="8070728" cy="2914002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193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1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218">
                <a:tc gridSpan="4">
                  <a:txBody>
                    <a:bodyPr/>
                    <a:lstStyle/>
                    <a:p>
                      <a:r>
                        <a:rPr lang="en-ZA" sz="2000" dirty="0">
                          <a:latin typeface="+mj-lt"/>
                        </a:rPr>
                        <a:t>If SQL requires…</a:t>
                      </a:r>
                    </a:p>
                  </a:txBody>
                  <a:tcPr marL="99561" marR="99561" marT="49781" marB="49781"/>
                </a:tc>
                <a:tc hMerge="1">
                  <a:txBody>
                    <a:bodyPr/>
                    <a:lstStyle/>
                    <a:p>
                      <a:endParaRPr lang="en-ZA" sz="14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ZA" sz="14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ZA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41074790"/>
                  </a:ext>
                </a:extLst>
              </a:tr>
              <a:tr h="532308">
                <a:tc>
                  <a:txBody>
                    <a:bodyPr/>
                    <a:lstStyle/>
                    <a:p>
                      <a:r>
                        <a:rPr lang="en-ZA" sz="2000" b="1" dirty="0">
                          <a:latin typeface="+mj-lt"/>
                        </a:rPr>
                        <a:t>Fragment name </a:t>
                      </a:r>
                    </a:p>
                    <a:p>
                      <a:r>
                        <a:rPr lang="en-ZA" sz="1800" b="1" kern="1200" dirty="0">
                          <a:solidFill>
                            <a:schemeClr val="tx1"/>
                          </a:solidFill>
                          <a:latin typeface="+mj-lt"/>
                        </a:rPr>
                        <a:t>e.g. INV_F2</a:t>
                      </a:r>
                      <a:endParaRPr lang="en-ZA" sz="2000" b="1" i="1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9561" marR="99561" marT="49781" marB="49781"/>
                </a:tc>
                <a:tc>
                  <a:txBody>
                    <a:bodyPr/>
                    <a:lstStyle/>
                    <a:p>
                      <a:r>
                        <a:rPr lang="en-ZA" sz="2000" b="1" dirty="0">
                          <a:latin typeface="+mj-lt"/>
                        </a:rPr>
                        <a:t>Location</a:t>
                      </a:r>
                      <a:r>
                        <a:rPr lang="en-ZA" sz="2000" b="1" baseline="0" dirty="0">
                          <a:latin typeface="+mj-lt"/>
                        </a:rPr>
                        <a:t> name</a:t>
                      </a:r>
                    </a:p>
                    <a:p>
                      <a:r>
                        <a:rPr lang="en-ZA" sz="2000" b="1" baseline="0" dirty="0">
                          <a:solidFill>
                            <a:schemeClr val="tx1"/>
                          </a:solidFill>
                          <a:latin typeface="+mj-lt"/>
                        </a:rPr>
                        <a:t>e.g. Durban</a:t>
                      </a:r>
                      <a:endParaRPr lang="en-ZA" sz="2000" b="1" i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9561" marR="99561" marT="49781" marB="49781"/>
                </a:tc>
                <a:tc>
                  <a:txBody>
                    <a:bodyPr/>
                    <a:lstStyle/>
                    <a:p>
                      <a:r>
                        <a:rPr lang="en-ZA" sz="2000" b="1" dirty="0">
                          <a:latin typeface="+mj-lt"/>
                        </a:rPr>
                        <a:t>Then DBMS supports</a:t>
                      </a:r>
                      <a:endParaRPr lang="en-ZA" sz="2000" b="1" i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9561" marR="99561" marT="49781" marB="49781"/>
                </a:tc>
                <a:tc>
                  <a:txBody>
                    <a:bodyPr/>
                    <a:lstStyle/>
                    <a:p>
                      <a:r>
                        <a:rPr lang="en-ZA" sz="2000" b="1" dirty="0">
                          <a:latin typeface="+mj-lt"/>
                        </a:rPr>
                        <a:t>Level of distribution transparency</a:t>
                      </a:r>
                      <a:endParaRPr lang="en-ZA" sz="2000" b="1" i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9561" marR="99561" marT="49781" marB="4978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218">
                <a:tc>
                  <a:txBody>
                    <a:bodyPr/>
                    <a:lstStyle/>
                    <a:p>
                      <a:r>
                        <a:rPr lang="en-ZA" sz="1800" dirty="0">
                          <a:latin typeface="+mj-lt"/>
                        </a:rPr>
                        <a:t>Yes</a:t>
                      </a:r>
                    </a:p>
                  </a:txBody>
                  <a:tcPr marL="99561" marR="99561" marT="49781" marB="49781"/>
                </a:tc>
                <a:tc>
                  <a:txBody>
                    <a:bodyPr/>
                    <a:lstStyle/>
                    <a:p>
                      <a:r>
                        <a:rPr lang="en-ZA" sz="1800" dirty="0">
                          <a:latin typeface="+mj-lt"/>
                        </a:rPr>
                        <a:t>Yes</a:t>
                      </a:r>
                    </a:p>
                  </a:txBody>
                  <a:tcPr marL="99561" marR="99561" marT="49781" marB="49781"/>
                </a:tc>
                <a:tc>
                  <a:txBody>
                    <a:bodyPr/>
                    <a:lstStyle/>
                    <a:p>
                      <a:r>
                        <a:rPr lang="en-ZA" sz="1800">
                          <a:latin typeface="+mj-lt"/>
                        </a:rPr>
                        <a:t>Local mapping</a:t>
                      </a:r>
                    </a:p>
                  </a:txBody>
                  <a:tcPr marL="99561" marR="99561" marT="49781" marB="49781"/>
                </a:tc>
                <a:tc>
                  <a:txBody>
                    <a:bodyPr/>
                    <a:lstStyle/>
                    <a:p>
                      <a:r>
                        <a:rPr lang="en-ZA" sz="1800">
                          <a:latin typeface="+mj-lt"/>
                        </a:rPr>
                        <a:t>Low</a:t>
                      </a:r>
                    </a:p>
                  </a:txBody>
                  <a:tcPr marL="99561" marR="99561" marT="49781" marB="4978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218">
                <a:tc>
                  <a:txBody>
                    <a:bodyPr/>
                    <a:lstStyle/>
                    <a:p>
                      <a:r>
                        <a:rPr lang="en-ZA" sz="1800">
                          <a:latin typeface="+mj-lt"/>
                        </a:rPr>
                        <a:t>Yes</a:t>
                      </a:r>
                    </a:p>
                  </a:txBody>
                  <a:tcPr marL="99561" marR="99561" marT="49781" marB="49781"/>
                </a:tc>
                <a:tc>
                  <a:txBody>
                    <a:bodyPr/>
                    <a:lstStyle/>
                    <a:p>
                      <a:r>
                        <a:rPr lang="en-ZA" sz="1800" dirty="0">
                          <a:latin typeface="+mj-lt"/>
                        </a:rPr>
                        <a:t>No</a:t>
                      </a:r>
                    </a:p>
                  </a:txBody>
                  <a:tcPr marL="99561" marR="99561" marT="49781" marB="49781"/>
                </a:tc>
                <a:tc>
                  <a:txBody>
                    <a:bodyPr/>
                    <a:lstStyle/>
                    <a:p>
                      <a:r>
                        <a:rPr lang="en-ZA" sz="1800" dirty="0">
                          <a:latin typeface="+mj-lt"/>
                        </a:rPr>
                        <a:t>Location transparency</a:t>
                      </a:r>
                    </a:p>
                  </a:txBody>
                  <a:tcPr marL="99561" marR="99561" marT="49781" marB="49781"/>
                </a:tc>
                <a:tc>
                  <a:txBody>
                    <a:bodyPr/>
                    <a:lstStyle/>
                    <a:p>
                      <a:r>
                        <a:rPr lang="en-ZA" sz="1800" dirty="0">
                          <a:latin typeface="+mj-lt"/>
                        </a:rPr>
                        <a:t>Medium</a:t>
                      </a:r>
                    </a:p>
                  </a:txBody>
                  <a:tcPr marL="99561" marR="99561" marT="49781" marB="4978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218">
                <a:tc>
                  <a:txBody>
                    <a:bodyPr/>
                    <a:lstStyle/>
                    <a:p>
                      <a:r>
                        <a:rPr lang="en-ZA" sz="1800" dirty="0">
                          <a:latin typeface="+mj-lt"/>
                        </a:rPr>
                        <a:t>No</a:t>
                      </a:r>
                    </a:p>
                  </a:txBody>
                  <a:tcPr marL="99561" marR="99561" marT="49781" marB="49781"/>
                </a:tc>
                <a:tc>
                  <a:txBody>
                    <a:bodyPr/>
                    <a:lstStyle/>
                    <a:p>
                      <a:r>
                        <a:rPr lang="en-ZA" sz="1800" dirty="0">
                          <a:latin typeface="+mj-lt"/>
                        </a:rPr>
                        <a:t>No</a:t>
                      </a:r>
                    </a:p>
                  </a:txBody>
                  <a:tcPr marL="99561" marR="99561" marT="49781" marB="49781"/>
                </a:tc>
                <a:tc>
                  <a:txBody>
                    <a:bodyPr/>
                    <a:lstStyle/>
                    <a:p>
                      <a:r>
                        <a:rPr lang="en-ZA" sz="1800" dirty="0">
                          <a:latin typeface="+mj-lt"/>
                        </a:rPr>
                        <a:t>Fragmentation transparency</a:t>
                      </a:r>
                    </a:p>
                  </a:txBody>
                  <a:tcPr marL="99561" marR="99561" marT="49781" marB="49781"/>
                </a:tc>
                <a:tc>
                  <a:txBody>
                    <a:bodyPr/>
                    <a:lstStyle/>
                    <a:p>
                      <a:r>
                        <a:rPr lang="en-ZA" sz="1800" dirty="0">
                          <a:latin typeface="+mj-lt"/>
                        </a:rPr>
                        <a:t>High</a:t>
                      </a:r>
                    </a:p>
                  </a:txBody>
                  <a:tcPr marL="99561" marR="99561" marT="49781" marB="4978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Arrow: Down 11">
            <a:extLst>
              <a:ext uri="{FF2B5EF4-FFF2-40B4-BE49-F238E27FC236}">
                <a16:creationId xmlns:a16="http://schemas.microsoft.com/office/drawing/2014/main" id="{F990837C-DAEF-BD35-78C5-3B181AFF8D53}"/>
              </a:ext>
            </a:extLst>
          </p:cNvPr>
          <p:cNvSpPr/>
          <p:nvPr/>
        </p:nvSpPr>
        <p:spPr>
          <a:xfrm>
            <a:off x="2950590" y="4666268"/>
            <a:ext cx="282804" cy="1131217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908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Transaction</a:t>
            </a:r>
            <a:r>
              <a:rPr lang="en-ZA" dirty="0"/>
              <a:t> transparency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Transactions to maintain distributed database integrity and consistency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Transactions can update data stored in many different computers via network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Transactions only completed once all sites involved in transaction completed their parts</a:t>
            </a:r>
          </a:p>
          <a:p>
            <a:pPr marL="0" indent="0">
              <a:buNone/>
            </a:pPr>
            <a:r>
              <a:rPr lang="en-ZA" sz="2800" dirty="0"/>
              <a:t>Complex mechanisms to manage transactions</a:t>
            </a:r>
          </a:p>
          <a:p>
            <a:pPr marL="0" indent="0">
              <a:buNone/>
            </a:pPr>
            <a:r>
              <a:rPr lang="en-ZA" sz="2800" dirty="0"/>
              <a:t>Need to understand basic concepts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Remote &amp; distributed requests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Remote &amp; distributed transactions</a:t>
            </a:r>
          </a:p>
          <a:p>
            <a:pPr marL="0" indent="0">
              <a:buNone/>
            </a:pPr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5949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Transaction</a:t>
            </a:r>
            <a:r>
              <a:rPr lang="en-ZA" dirty="0"/>
              <a:t> transparency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Requests and Transactions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dirty="0">
                <a:solidFill>
                  <a:schemeClr val="accent1"/>
                </a:solidFill>
              </a:rPr>
              <a:t>Remote</a:t>
            </a:r>
            <a:r>
              <a:rPr lang="en-ZA" sz="2400" dirty="0"/>
              <a:t> </a:t>
            </a:r>
            <a:r>
              <a:rPr lang="en-ZA" sz="2400" i="1" dirty="0">
                <a:solidFill>
                  <a:srgbClr val="00B050"/>
                </a:solidFill>
              </a:rPr>
              <a:t>request</a:t>
            </a:r>
            <a:r>
              <a:rPr lang="en-ZA" sz="2400" dirty="0"/>
              <a:t> (Figure 14.10 p 726)</a:t>
            </a:r>
            <a:endParaRPr lang="en-US" sz="2400" dirty="0"/>
          </a:p>
          <a:p>
            <a:pPr lvl="1"/>
            <a:r>
              <a:rPr lang="en-ZA" sz="2000" i="1" dirty="0">
                <a:solidFill>
                  <a:srgbClr val="00B050"/>
                </a:solidFill>
              </a:rPr>
              <a:t>Single</a:t>
            </a:r>
            <a:r>
              <a:rPr lang="en-ZA" sz="2000" dirty="0"/>
              <a:t> SQL statement accesses data at </a:t>
            </a:r>
            <a:r>
              <a:rPr lang="en-ZA" sz="2000" dirty="0">
                <a:solidFill>
                  <a:schemeClr val="accent1"/>
                </a:solidFill>
              </a:rPr>
              <a:t>single</a:t>
            </a:r>
            <a:r>
              <a:rPr lang="en-ZA" sz="2000" dirty="0"/>
              <a:t> site</a:t>
            </a:r>
          </a:p>
          <a:p>
            <a:r>
              <a:rPr lang="en-ZA" sz="2400" dirty="0">
                <a:solidFill>
                  <a:schemeClr val="accent1"/>
                </a:solidFill>
              </a:rPr>
              <a:t>Remote</a:t>
            </a:r>
            <a:r>
              <a:rPr lang="en-ZA" sz="2400" dirty="0"/>
              <a:t> </a:t>
            </a:r>
            <a:r>
              <a:rPr lang="en-ZA" sz="2400" i="1" dirty="0">
                <a:solidFill>
                  <a:srgbClr val="FFC000"/>
                </a:solidFill>
              </a:rPr>
              <a:t>transaction</a:t>
            </a:r>
            <a:r>
              <a:rPr lang="en-ZA" sz="2400" dirty="0"/>
              <a:t> (Figure 14.11 p 727)</a:t>
            </a:r>
          </a:p>
          <a:p>
            <a:pPr lvl="1"/>
            <a:r>
              <a:rPr lang="en-ZA" sz="2000" dirty="0"/>
              <a:t>Composed of </a:t>
            </a:r>
            <a:r>
              <a:rPr lang="en-ZA" sz="2000" i="1" dirty="0">
                <a:solidFill>
                  <a:srgbClr val="FFC000"/>
                </a:solidFill>
              </a:rPr>
              <a:t>several requests</a:t>
            </a:r>
          </a:p>
          <a:p>
            <a:pPr lvl="1"/>
            <a:r>
              <a:rPr lang="en-ZA" sz="2000" dirty="0"/>
              <a:t>Accesses data at a </a:t>
            </a:r>
            <a:r>
              <a:rPr lang="en-ZA" sz="2000" dirty="0">
                <a:solidFill>
                  <a:schemeClr val="accent1"/>
                </a:solidFill>
              </a:rPr>
              <a:t>single</a:t>
            </a:r>
            <a:r>
              <a:rPr lang="en-ZA" sz="2000" dirty="0"/>
              <a:t> site</a:t>
            </a:r>
          </a:p>
          <a:p>
            <a:r>
              <a:rPr lang="en-ZA" sz="2400" dirty="0">
                <a:solidFill>
                  <a:srgbClr val="FF28FF"/>
                </a:solidFill>
              </a:rPr>
              <a:t>Distributed</a:t>
            </a:r>
            <a:r>
              <a:rPr lang="en-ZA" sz="2400" dirty="0"/>
              <a:t> </a:t>
            </a:r>
            <a:r>
              <a:rPr lang="en-ZA" sz="2400" dirty="0">
                <a:solidFill>
                  <a:srgbClr val="FFC000"/>
                </a:solidFill>
              </a:rPr>
              <a:t>transaction</a:t>
            </a:r>
            <a:r>
              <a:rPr lang="en-ZA" sz="2400" dirty="0"/>
              <a:t> (Figure 14.12 p 728)</a:t>
            </a:r>
            <a:endParaRPr lang="en-US" sz="2400" dirty="0"/>
          </a:p>
          <a:p>
            <a:pPr lvl="1"/>
            <a:r>
              <a:rPr lang="en-ZA" sz="2000" dirty="0">
                <a:solidFill>
                  <a:srgbClr val="FFC000"/>
                </a:solidFill>
              </a:rPr>
              <a:t>Transaction</a:t>
            </a:r>
            <a:r>
              <a:rPr lang="en-ZA" sz="2000" dirty="0"/>
              <a:t> (</a:t>
            </a:r>
            <a:r>
              <a:rPr lang="en-ZA" sz="2000" dirty="0">
                <a:solidFill>
                  <a:srgbClr val="FFC000"/>
                </a:solidFill>
              </a:rPr>
              <a:t>several requests</a:t>
            </a:r>
            <a:r>
              <a:rPr lang="en-ZA" sz="2000" dirty="0"/>
              <a:t>) references </a:t>
            </a:r>
            <a:r>
              <a:rPr lang="en-ZA" sz="2000" dirty="0">
                <a:solidFill>
                  <a:srgbClr val="FF28FF"/>
                </a:solidFill>
              </a:rPr>
              <a:t>several local or remote sites</a:t>
            </a:r>
            <a:endParaRPr lang="en-US" sz="2000" dirty="0">
              <a:solidFill>
                <a:srgbClr val="FF28FF"/>
              </a:solidFill>
            </a:endParaRPr>
          </a:p>
          <a:p>
            <a:pPr lvl="1"/>
            <a:r>
              <a:rPr lang="en-ZA" sz="2000" dirty="0"/>
              <a:t>Each request accesses only one site at a time</a:t>
            </a:r>
            <a:endParaRPr lang="en-US" sz="2000" dirty="0"/>
          </a:p>
          <a:p>
            <a:r>
              <a:rPr lang="en-ZA" sz="2400" dirty="0">
                <a:solidFill>
                  <a:srgbClr val="FF28FF"/>
                </a:solidFill>
              </a:rPr>
              <a:t>Distributed</a:t>
            </a:r>
            <a:r>
              <a:rPr lang="en-ZA" sz="2400" dirty="0"/>
              <a:t> </a:t>
            </a:r>
            <a:r>
              <a:rPr lang="en-ZA" sz="2400" i="1" dirty="0">
                <a:solidFill>
                  <a:srgbClr val="00B050"/>
                </a:solidFill>
              </a:rPr>
              <a:t>request</a:t>
            </a:r>
            <a:r>
              <a:rPr lang="en-ZA" sz="2400" dirty="0"/>
              <a:t> (Figure 14.13 and 14.14 p 729)</a:t>
            </a:r>
            <a:endParaRPr lang="en-US" sz="2400" dirty="0"/>
          </a:p>
          <a:p>
            <a:pPr lvl="1"/>
            <a:r>
              <a:rPr lang="en-ZA" sz="2000" i="1" dirty="0">
                <a:solidFill>
                  <a:srgbClr val="00B050"/>
                </a:solidFill>
              </a:rPr>
              <a:t>Single</a:t>
            </a:r>
            <a:r>
              <a:rPr lang="en-ZA" sz="2000" dirty="0"/>
              <a:t> SQL statement references data located at </a:t>
            </a:r>
            <a:r>
              <a:rPr lang="en-ZA" sz="2000" dirty="0">
                <a:solidFill>
                  <a:srgbClr val="FF28FF"/>
                </a:solidFill>
              </a:rPr>
              <a:t>several local or remote sites</a:t>
            </a:r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357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707BE8A-AB08-16BA-32C3-30BE3FDF0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701" y="2173188"/>
            <a:ext cx="7486373" cy="38426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3080421" cy="540000"/>
          </a:xfrm>
        </p:spPr>
        <p:txBody>
          <a:bodyPr/>
          <a:lstStyle/>
          <a:p>
            <a:r>
              <a:rPr lang="en-ZA" sz="3600" dirty="0"/>
              <a:t>Examples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363" y="1080000"/>
            <a:ext cx="3080421" cy="360362"/>
          </a:xfrm>
        </p:spPr>
        <p:txBody>
          <a:bodyPr/>
          <a:lstStyle/>
          <a:p>
            <a:r>
              <a:rPr lang="en-ZA" dirty="0"/>
              <a:t>Requests and transactions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3467282" cy="4500000"/>
          </a:xfrm>
        </p:spPr>
        <p:txBody>
          <a:bodyPr/>
          <a:lstStyle/>
          <a:p>
            <a:r>
              <a:rPr lang="en-ZA" sz="2400" dirty="0"/>
              <a:t>UPDATE CUSTOMER</a:t>
            </a:r>
          </a:p>
          <a:p>
            <a:pPr lvl="1"/>
            <a:r>
              <a:rPr lang="en-ZA" sz="2000" dirty="0"/>
              <a:t>Remote request</a:t>
            </a:r>
          </a:p>
          <a:p>
            <a:r>
              <a:rPr lang="en-ZA" sz="2400" dirty="0"/>
              <a:t>INSERT INTO INVOICE</a:t>
            </a:r>
          </a:p>
          <a:p>
            <a:pPr lvl="1"/>
            <a:r>
              <a:rPr lang="en-ZA" sz="2000" dirty="0"/>
              <a:t>Remote request</a:t>
            </a:r>
          </a:p>
          <a:p>
            <a:r>
              <a:rPr lang="en-ZA" sz="2400" dirty="0"/>
              <a:t>INSERT INTO INVLINE</a:t>
            </a:r>
          </a:p>
          <a:p>
            <a:pPr lvl="1"/>
            <a:r>
              <a:rPr lang="en-ZA" sz="2000" dirty="0"/>
              <a:t>Remote request</a:t>
            </a:r>
          </a:p>
          <a:p>
            <a:r>
              <a:rPr lang="en-ZA" sz="2400" dirty="0"/>
              <a:t>UPDATE PRODUCT</a:t>
            </a:r>
          </a:p>
          <a:p>
            <a:pPr lvl="1"/>
            <a:r>
              <a:rPr lang="en-ZA" sz="2000" dirty="0"/>
              <a:t>Distributed request</a:t>
            </a:r>
          </a:p>
          <a:p>
            <a:r>
              <a:rPr lang="en-ZA" sz="2400" dirty="0"/>
              <a:t>Entire transaction at site C</a:t>
            </a:r>
          </a:p>
          <a:p>
            <a:pPr lvl="1"/>
            <a:r>
              <a:rPr lang="en-ZA" sz="2000" dirty="0"/>
              <a:t>Distributed transaction</a:t>
            </a:r>
            <a:endParaRPr lang="en-ZA" sz="4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10</a:t>
            </a:fld>
            <a:endParaRPr lang="en-US" noProof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AE01F0-0C5C-5B3C-012E-F97386D23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607" y="69398"/>
            <a:ext cx="6622467" cy="2049014"/>
          </a:xfrm>
          <a:prstGeom prst="rect">
            <a:avLst/>
          </a:prstGeom>
        </p:spPr>
      </p:pic>
      <p:sp>
        <p:nvSpPr>
          <p:cNvPr id="10" name="Rounded Rectangle 21">
            <a:extLst>
              <a:ext uri="{FF2B5EF4-FFF2-40B4-BE49-F238E27FC236}">
                <a16:creationId xmlns:a16="http://schemas.microsoft.com/office/drawing/2014/main" id="{1146A1D6-95AD-8BB5-CB3B-0729EA6ECA46}"/>
              </a:ext>
            </a:extLst>
          </p:cNvPr>
          <p:cNvSpPr/>
          <p:nvPr/>
        </p:nvSpPr>
        <p:spPr>
          <a:xfrm>
            <a:off x="4530701" y="3012555"/>
            <a:ext cx="5107569" cy="80169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ounded Rectangle 23">
            <a:extLst>
              <a:ext uri="{FF2B5EF4-FFF2-40B4-BE49-F238E27FC236}">
                <a16:creationId xmlns:a16="http://schemas.microsoft.com/office/drawing/2014/main" id="{EA575FA7-1527-AE93-CA7F-9A7FF555A363}"/>
              </a:ext>
            </a:extLst>
          </p:cNvPr>
          <p:cNvSpPr/>
          <p:nvPr/>
        </p:nvSpPr>
        <p:spPr>
          <a:xfrm>
            <a:off x="4562392" y="4385990"/>
            <a:ext cx="7391300" cy="53553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ounded Rectangle 24">
            <a:extLst>
              <a:ext uri="{FF2B5EF4-FFF2-40B4-BE49-F238E27FC236}">
                <a16:creationId xmlns:a16="http://schemas.microsoft.com/office/drawing/2014/main" id="{8C28737D-A710-7BDC-BB99-9C69D5616443}"/>
              </a:ext>
            </a:extLst>
          </p:cNvPr>
          <p:cNvSpPr/>
          <p:nvPr/>
        </p:nvSpPr>
        <p:spPr>
          <a:xfrm>
            <a:off x="4530702" y="4921520"/>
            <a:ext cx="3829528" cy="80169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ounded Rectangle 25">
            <a:extLst>
              <a:ext uri="{FF2B5EF4-FFF2-40B4-BE49-F238E27FC236}">
                <a16:creationId xmlns:a16="http://schemas.microsoft.com/office/drawing/2014/main" id="{F56DC9ED-1A32-4A3A-7D23-7D0E5BAFFEFA}"/>
              </a:ext>
            </a:extLst>
          </p:cNvPr>
          <p:cNvSpPr/>
          <p:nvPr/>
        </p:nvSpPr>
        <p:spPr>
          <a:xfrm>
            <a:off x="4530701" y="2526458"/>
            <a:ext cx="7422991" cy="371906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50EA6E73-754A-E009-1552-6FBB54B40034}"/>
              </a:ext>
            </a:extLst>
          </p:cNvPr>
          <p:cNvSpPr/>
          <p:nvPr/>
        </p:nvSpPr>
        <p:spPr>
          <a:xfrm>
            <a:off x="4530701" y="3818723"/>
            <a:ext cx="7422991" cy="5711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167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5" grpId="0" animBg="1"/>
      <p:bldP spid="1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Performance</a:t>
            </a:r>
            <a:r>
              <a:rPr lang="en-ZA" dirty="0"/>
              <a:t> transparency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Allows DDBMS to perform as if centralised</a:t>
            </a:r>
          </a:p>
          <a:p>
            <a:pPr marL="0" indent="0">
              <a:buNone/>
            </a:pPr>
            <a:r>
              <a:rPr lang="en-ZA" sz="2800" dirty="0"/>
              <a:t>Issues related to data requests in distributed data environment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Data distribution (which fragment?)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Data replication (all replicas to remain consistent)</a:t>
            </a:r>
          </a:p>
          <a:p>
            <a:pPr marL="0" indent="0">
              <a:buNone/>
            </a:pPr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7908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Distributed database design</a:t>
            </a:r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12</a:t>
            </a:fld>
            <a:endParaRPr lang="en-US" noProof="0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E025C00D-5D4F-AE69-0D32-D55B5BD31C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883516"/>
              </p:ext>
            </p:extLst>
          </p:nvPr>
        </p:nvGraphicFramePr>
        <p:xfrm>
          <a:off x="643647" y="147543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1698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fragmentation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Object (user database / system database / table) split into more than one fragment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Each fragment can be stored at any site over network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Information stored in distributed data catalogue</a:t>
            </a:r>
          </a:p>
          <a:p>
            <a:pPr lvl="2">
              <a:buClr>
                <a:schemeClr val="accent6">
                  <a:lumMod val="75000"/>
                </a:schemeClr>
              </a:buClr>
            </a:pPr>
            <a:r>
              <a:rPr lang="en-US" sz="2200" dirty="0"/>
              <a:t>Accessed by TP to process user requests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US" sz="2600" dirty="0"/>
              <a:t>Fragmentation strategies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Horizontal (Fig 14.17, p 735)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Vertical (Fig 14.18, p 736)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Mixed (Fig 14.19, p 737)</a:t>
            </a:r>
            <a:endParaRPr lang="en-ZA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77158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fragmentation: Horizontal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Divides relation into fragments of rows</a:t>
            </a:r>
          </a:p>
          <a:p>
            <a:pPr marL="0" indent="0">
              <a:buNone/>
            </a:pPr>
            <a:r>
              <a:rPr lang="en-ZA" sz="2800" dirty="0"/>
              <a:t>All rows must have same (number of) attributes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Similar to SELECT with WHERE clause on single attribute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US" sz="2600" dirty="0"/>
              <a:t>If equal distribution of rows required among fragments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Use round-robin partitioning</a:t>
            </a:r>
          </a:p>
          <a:p>
            <a:pPr marL="0" indent="-9525">
              <a:buClr>
                <a:schemeClr val="accent6">
                  <a:lumMod val="75000"/>
                </a:schemeClr>
              </a:buClr>
              <a:buNone/>
            </a:pPr>
            <a:r>
              <a:rPr lang="en-US" sz="2600" dirty="0"/>
              <a:t>Range partitioning based on partition key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2929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fragmentation: Horizontal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Fragment per country (horizontally)</a:t>
            </a:r>
            <a:endParaRPr lang="en-US" sz="2400" dirty="0"/>
          </a:p>
          <a:p>
            <a:pPr marL="447675" indent="-457200">
              <a:buClr>
                <a:schemeClr val="accent6">
                  <a:lumMod val="75000"/>
                </a:schemeClr>
              </a:buClr>
            </a:pPr>
            <a:r>
              <a:rPr lang="en-US" sz="2600" dirty="0"/>
              <a:t>Partition key will be </a:t>
            </a:r>
            <a:r>
              <a:rPr lang="en-US" sz="2600" dirty="0" err="1"/>
              <a:t>cCountry</a:t>
            </a:r>
            <a:endParaRPr lang="en-US" sz="2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15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DDE174-2777-5F97-8249-508CE51D3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7" y="2634954"/>
            <a:ext cx="11986166" cy="22972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5808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fragmentation: Horizontal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2400" dirty="0"/>
              <a:t>Partition key </a:t>
            </a:r>
            <a:r>
              <a:rPr lang="en-US" sz="2400" dirty="0" err="1"/>
              <a:t>cCountry</a:t>
            </a:r>
            <a:endParaRPr lang="en-US" sz="2400" dirty="0"/>
          </a:p>
          <a:p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16</a:t>
            </a:fld>
            <a:endParaRPr lang="en-US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5ACD2-3675-D7FC-9FE3-CCACCEC0E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39" y="4565073"/>
            <a:ext cx="10947061" cy="13255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D00DF8-E773-5CDF-AC6F-D102EBC7B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8" y="1901198"/>
            <a:ext cx="10306623" cy="10276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9C59AF-14B6-763B-FBE8-65971193A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89" y="3420950"/>
            <a:ext cx="10142787" cy="6851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FFC30D-E5EB-BEC2-1AAB-9CE50630B715}"/>
              </a:ext>
            </a:extLst>
          </p:cNvPr>
          <p:cNvSpPr/>
          <p:nvPr/>
        </p:nvSpPr>
        <p:spPr>
          <a:xfrm>
            <a:off x="4827639" y="1690688"/>
            <a:ext cx="1720645" cy="4454473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2813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fragmentation: Vertical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Divides relation into subsets based on specific attributes</a:t>
            </a:r>
          </a:p>
          <a:p>
            <a:pPr marL="0" indent="0">
              <a:buNone/>
            </a:pPr>
            <a:r>
              <a:rPr lang="en-ZA" sz="2800" dirty="0"/>
              <a:t>Each subset has unique columns, except for key column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Key column common to all fragments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US" sz="2600" dirty="0"/>
              <a:t>Each vertical fragment must have same number of rows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US" sz="2600" dirty="0"/>
              <a:t>Similar to PROJECT statement in SQL</a:t>
            </a:r>
          </a:p>
          <a:p>
            <a:pPr marL="0" indent="-9525">
              <a:buClr>
                <a:schemeClr val="accent6">
                  <a:lumMod val="75000"/>
                </a:schemeClr>
              </a:buClr>
              <a:buNone/>
            </a:pPr>
            <a:endParaRPr lang="en-US" sz="2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46994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fragmentation: Vertical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3579779"/>
            <a:ext cx="11473200" cy="48638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Split Address info from Financial info (key column common to both)</a:t>
            </a: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18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DDE174-2777-5F97-8249-508CE51D3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7" y="900000"/>
            <a:ext cx="11986166" cy="22972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B903AE-A836-81CF-68BB-543014BA0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7" y="3990113"/>
            <a:ext cx="6252752" cy="21949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83B52E-D4FD-0491-CF83-60CF1DBFC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157" y="3995351"/>
            <a:ext cx="5602926" cy="21897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376665-A58B-C4F2-D6DA-B388E05354CE}"/>
              </a:ext>
            </a:extLst>
          </p:cNvPr>
          <p:cNvSpPr/>
          <p:nvPr/>
        </p:nvSpPr>
        <p:spPr>
          <a:xfrm>
            <a:off x="233464" y="3893574"/>
            <a:ext cx="1050587" cy="2462776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F63148-6E88-1EB2-542A-1C8F7FF6EE4E}"/>
              </a:ext>
            </a:extLst>
          </p:cNvPr>
          <p:cNvSpPr/>
          <p:nvPr/>
        </p:nvSpPr>
        <p:spPr>
          <a:xfrm>
            <a:off x="6566169" y="3893574"/>
            <a:ext cx="1118681" cy="2462776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042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fragmentation: Mixed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Two steps</a:t>
            </a:r>
          </a:p>
          <a:p>
            <a:pPr marL="720725" lvl="1" indent="-457200">
              <a:buClr>
                <a:schemeClr val="accent6">
                  <a:lumMod val="75000"/>
                </a:schemeClr>
              </a:buClr>
              <a:buFont typeface="+mj-lt"/>
              <a:buAutoNum type="arabicPeriod"/>
            </a:pPr>
            <a:r>
              <a:rPr lang="en-US" sz="2400" dirty="0"/>
              <a:t>Horizontal fragmentation to extract relevant rows</a:t>
            </a:r>
          </a:p>
          <a:p>
            <a:pPr marL="720725" lvl="1" indent="-457200">
              <a:buClr>
                <a:schemeClr val="accent6">
                  <a:lumMod val="75000"/>
                </a:schemeClr>
              </a:buClr>
              <a:buFont typeface="+mj-lt"/>
              <a:buAutoNum type="arabicPeriod"/>
            </a:pPr>
            <a:r>
              <a:rPr lang="en-US" sz="2400" dirty="0"/>
              <a:t>Vertical fragmentation (per horizontally fragmented subset) to extract columns</a:t>
            </a:r>
          </a:p>
          <a:p>
            <a:pPr marL="0" indent="-9525">
              <a:buClr>
                <a:schemeClr val="accent6">
                  <a:lumMod val="75000"/>
                </a:schemeClr>
              </a:buClr>
              <a:buNone/>
            </a:pPr>
            <a:endParaRPr lang="en-US" sz="2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08437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fragmentation: Mixed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3235915"/>
            <a:ext cx="11726772" cy="48638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Split Address info from Financial info, per country, e.g.</a:t>
            </a:r>
            <a:r>
              <a:rPr lang="en-US" sz="2400" dirty="0"/>
              <a:t> </a:t>
            </a:r>
            <a:r>
              <a:rPr lang="en-US" sz="2800" dirty="0"/>
              <a:t>(key column common to all)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20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DDE174-2777-5F97-8249-508CE51D3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7" y="900000"/>
            <a:ext cx="11986166" cy="22972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6664EA-EDAA-3758-DD3F-94756D0129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17" r="4037"/>
          <a:stretch/>
        </p:blipFill>
        <p:spPr>
          <a:xfrm>
            <a:off x="100006" y="3848682"/>
            <a:ext cx="3929639" cy="9590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CB533C-B978-34F6-3C3E-7FA1CAC7E2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0" r="4276"/>
          <a:stretch/>
        </p:blipFill>
        <p:spPr>
          <a:xfrm>
            <a:off x="4286323" y="3848682"/>
            <a:ext cx="3735761" cy="7272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A3CC9C-8025-8775-F35B-26BA487A0B7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36" r="2429"/>
          <a:stretch/>
        </p:blipFill>
        <p:spPr>
          <a:xfrm>
            <a:off x="8278762" y="3848682"/>
            <a:ext cx="3807410" cy="5375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83CAD7-8104-A1C6-9B43-C31956D60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52" y="5129625"/>
            <a:ext cx="3928739" cy="8582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B02756-65CF-280B-F816-97B529E158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4254" y="5091296"/>
            <a:ext cx="3735761" cy="6609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7746E5-BBFA-DFF8-7597-1D30181A10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8761" y="5086013"/>
            <a:ext cx="3559277" cy="4541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163564-744E-7E11-8355-A2328F469D7A}"/>
              </a:ext>
            </a:extLst>
          </p:cNvPr>
          <p:cNvSpPr/>
          <p:nvPr/>
        </p:nvSpPr>
        <p:spPr>
          <a:xfrm>
            <a:off x="61094" y="3737217"/>
            <a:ext cx="785212" cy="2297217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CE9EAE-2673-4699-3E3F-5B450FBB20B8}"/>
              </a:ext>
            </a:extLst>
          </p:cNvPr>
          <p:cNvSpPr/>
          <p:nvPr/>
        </p:nvSpPr>
        <p:spPr>
          <a:xfrm>
            <a:off x="4251408" y="3722298"/>
            <a:ext cx="875069" cy="2143481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CFA28D-3B9A-C1ED-54A6-47D7FF1CF515}"/>
              </a:ext>
            </a:extLst>
          </p:cNvPr>
          <p:cNvSpPr/>
          <p:nvPr/>
        </p:nvSpPr>
        <p:spPr>
          <a:xfrm>
            <a:off x="8252190" y="3737216"/>
            <a:ext cx="775483" cy="1895099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731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replication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Storage of data copies at multiple sites served by computer network</a:t>
            </a:r>
          </a:p>
          <a:p>
            <a:pPr marL="0" indent="0">
              <a:buNone/>
            </a:pPr>
            <a:r>
              <a:rPr lang="en-ZA" sz="2800" dirty="0"/>
              <a:t>Serves specific information requirements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Improve data availability and response time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Reduce communication and total query costs</a:t>
            </a:r>
          </a:p>
          <a:p>
            <a:pPr marL="0" indent="-9525">
              <a:buClr>
                <a:schemeClr val="accent6">
                  <a:lumMod val="75000"/>
                </a:schemeClr>
              </a:buClr>
              <a:buNone/>
            </a:pPr>
            <a:r>
              <a:rPr lang="en-US" sz="2600" dirty="0"/>
              <a:t>Mutual consistency rule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ALL copies of data fragments must be identical</a:t>
            </a:r>
          </a:p>
          <a:p>
            <a:pPr marL="0" indent="-9525">
              <a:buClr>
                <a:schemeClr val="accent6">
                  <a:lumMod val="75000"/>
                </a:schemeClr>
              </a:buClr>
              <a:buNone/>
            </a:pPr>
            <a:endParaRPr lang="en-US" sz="2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33262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Replication types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22</a:t>
            </a:fld>
            <a:endParaRPr lang="en-US" noProof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802092BC-301D-2820-5078-F53A9C8A41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9486756"/>
              </p:ext>
            </p:extLst>
          </p:nvPr>
        </p:nvGraphicFramePr>
        <p:xfrm>
          <a:off x="2096930" y="1689666"/>
          <a:ext cx="9039631" cy="4394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5128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B552-5348-D4DE-D67D-49DB09BB1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CAP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99AF9-D750-765E-911B-7E17CB73D1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800" dirty="0"/>
              <a:t>Refers to desirable properties in highly distributed 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8160F-F95D-0209-768E-7266EAF94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207" y="2824939"/>
            <a:ext cx="3855623" cy="3483804"/>
          </a:xfrm>
        </p:spPr>
        <p:txBody>
          <a:bodyPr/>
          <a:lstStyle/>
          <a:p>
            <a:pPr marL="0" indent="0" algn="ctr">
              <a:buNone/>
            </a:pPr>
            <a:r>
              <a:rPr lang="en-ZA" sz="2800" dirty="0"/>
              <a:t>Consistency</a:t>
            </a:r>
          </a:p>
          <a:p>
            <a:pPr marL="0" indent="0" algn="ctr">
              <a:buNone/>
            </a:pPr>
            <a:r>
              <a:rPr lang="en-ZA" sz="2800" dirty="0"/>
              <a:t>Availability</a:t>
            </a:r>
          </a:p>
          <a:p>
            <a:pPr marL="0" indent="0" algn="ctr">
              <a:buNone/>
            </a:pPr>
            <a:r>
              <a:rPr lang="en-ZA" sz="2800" dirty="0"/>
              <a:t>Partition tolerance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681B9-9C76-CF68-123B-335E709937F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9477E-5595-5DE6-280D-AC3A8FAB0F6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23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29A9D8-E410-36AF-FE2B-33822A027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007" y="1605898"/>
            <a:ext cx="4896612" cy="4693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597870-15E0-30F0-5C4A-83CC1D9B7AFC}"/>
              </a:ext>
            </a:extLst>
          </p:cNvPr>
          <p:cNvSpPr txBox="1"/>
          <p:nvPr/>
        </p:nvSpPr>
        <p:spPr>
          <a:xfrm>
            <a:off x="5047950" y="6285536"/>
            <a:ext cx="5846324" cy="218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Nikolaidis</a:t>
            </a:r>
            <a:r>
              <a:rPr lang="en-US" sz="800" dirty="0"/>
              <a:t>, </a:t>
            </a:r>
            <a:r>
              <a:rPr lang="en-US" sz="800" dirty="0" err="1"/>
              <a:t>Fotis</a:t>
            </a:r>
            <a:r>
              <a:rPr lang="en-US" sz="800" dirty="0"/>
              <a:t>. (2019). </a:t>
            </a:r>
            <a:r>
              <a:rPr lang="en-US" sz="800" dirty="0" err="1"/>
              <a:t>Tromos</a:t>
            </a:r>
            <a:r>
              <a:rPr lang="en-US" sz="800" dirty="0"/>
              <a:t> : a software development kit for virtual storage systems. </a:t>
            </a:r>
            <a:endParaRPr lang="en-ZA" sz="800" dirty="0"/>
          </a:p>
        </p:txBody>
      </p:sp>
    </p:spTree>
    <p:extLst>
      <p:ext uri="{BB962C8B-B14F-4D97-AF65-F5344CB8AC3E}">
        <p14:creationId xmlns:p14="http://schemas.microsoft.com/office/powerpoint/2010/main" val="268941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BASE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Some companies forfeit consistency and isolation</a:t>
            </a:r>
          </a:p>
          <a:p>
            <a:pPr lvl="1"/>
            <a:r>
              <a:rPr lang="en-ZA" sz="2600" dirty="0"/>
              <a:t>Aim to achieve higher availability and flexibility</a:t>
            </a:r>
          </a:p>
          <a:p>
            <a:pPr marL="0" indent="0">
              <a:buNone/>
            </a:pPr>
            <a:r>
              <a:rPr lang="en-ZA" sz="2800" dirty="0"/>
              <a:t>New type of distributed system - </a:t>
            </a:r>
            <a:r>
              <a:rPr lang="en-ZA" sz="2800" b="1" dirty="0">
                <a:solidFill>
                  <a:srgbClr val="C00000"/>
                </a:solidFill>
              </a:rPr>
              <a:t>BASE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b="1" dirty="0" err="1">
                <a:solidFill>
                  <a:srgbClr val="C00000"/>
                </a:solidFill>
              </a:rPr>
              <a:t>BA</a:t>
            </a:r>
            <a:r>
              <a:rPr lang="en-US" sz="2400" dirty="0" err="1"/>
              <a:t>sically</a:t>
            </a:r>
            <a:r>
              <a:rPr lang="en-US" sz="2400" dirty="0"/>
              <a:t> available, </a:t>
            </a:r>
            <a:r>
              <a:rPr lang="en-US" sz="2400" b="1" dirty="0">
                <a:solidFill>
                  <a:srgbClr val="C00000"/>
                </a:solidFill>
              </a:rPr>
              <a:t>S</a:t>
            </a:r>
            <a:r>
              <a:rPr lang="en-US" sz="2400" dirty="0"/>
              <a:t>oft state, </a:t>
            </a:r>
            <a:r>
              <a:rPr lang="en-US" sz="2400" b="1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ventually consistent (consistency vs. availability)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Data consistency model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Data changes not immediately updated</a:t>
            </a:r>
          </a:p>
          <a:p>
            <a:pPr lvl="2">
              <a:buClr>
                <a:schemeClr val="accent6">
                  <a:lumMod val="75000"/>
                </a:schemeClr>
              </a:buClr>
            </a:pPr>
            <a:r>
              <a:rPr lang="en-US" sz="2200" dirty="0"/>
              <a:t>Propagate slowly through the system</a:t>
            </a:r>
          </a:p>
          <a:p>
            <a:pPr lvl="2">
              <a:buClr>
                <a:schemeClr val="accent6">
                  <a:lumMod val="75000"/>
                </a:schemeClr>
              </a:buClr>
            </a:pPr>
            <a:r>
              <a:rPr lang="en-US" sz="2200" dirty="0"/>
              <a:t>All replicas will (eventually) be consistent</a:t>
            </a:r>
          </a:p>
          <a:p>
            <a:pPr marL="0" indent="-9525">
              <a:buClr>
                <a:schemeClr val="accent6">
                  <a:lumMod val="75000"/>
                </a:schemeClr>
              </a:buClr>
              <a:buNone/>
            </a:pPr>
            <a:endParaRPr lang="en-US" sz="2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88328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DDBMS in the cloud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72A0-9418-06BE-80DA-58A0B99A3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ZA" sz="2400" dirty="0"/>
              <a:t>3</a:t>
            </a:r>
            <a:r>
              <a:rPr lang="en-ZA" sz="2400" baseline="30000" dirty="0"/>
              <a:t>rd</a:t>
            </a:r>
            <a:r>
              <a:rPr lang="en-ZA" sz="2400" dirty="0"/>
              <a:t> party supplies IT services</a:t>
            </a:r>
            <a:endParaRPr lang="en-US" sz="2400" dirty="0"/>
          </a:p>
          <a:p>
            <a:pPr marL="452438" lvl="2">
              <a:buClr>
                <a:schemeClr val="accent6">
                  <a:lumMod val="75000"/>
                </a:schemeClr>
              </a:buClr>
            </a:pPr>
            <a:r>
              <a:rPr lang="en-ZA" sz="2200" dirty="0"/>
              <a:t>Offers interconnected &amp; virtual computers</a:t>
            </a:r>
          </a:p>
          <a:p>
            <a:pPr marL="452438" lvl="2">
              <a:buClr>
                <a:schemeClr val="accent6">
                  <a:lumMod val="75000"/>
                </a:schemeClr>
              </a:buClr>
            </a:pPr>
            <a:r>
              <a:rPr lang="en-ZA" sz="2200" dirty="0"/>
              <a:t>Pricing often negotiated</a:t>
            </a:r>
          </a:p>
          <a:p>
            <a:pPr marL="452438" lvl="2">
              <a:buClr>
                <a:schemeClr val="accent6">
                  <a:lumMod val="75000"/>
                </a:schemeClr>
              </a:buClr>
            </a:pPr>
            <a:r>
              <a:rPr lang="en-ZA" sz="2200" dirty="0"/>
              <a:t>Arrangement typically via service level agreement (SLA)</a:t>
            </a:r>
          </a:p>
          <a:p>
            <a:pPr marL="717550" lvl="3">
              <a:buClr>
                <a:schemeClr val="accent6">
                  <a:lumMod val="75000"/>
                </a:schemeClr>
              </a:buClr>
            </a:pPr>
            <a:r>
              <a:rPr lang="en-ZA" sz="2200" dirty="0"/>
              <a:t>Cost effective for client</a:t>
            </a:r>
          </a:p>
          <a:p>
            <a:pPr marL="717550" lvl="3">
              <a:buClr>
                <a:schemeClr val="accent6">
                  <a:lumMod val="75000"/>
                </a:schemeClr>
              </a:buClr>
            </a:pPr>
            <a:r>
              <a:rPr lang="en-ZA" sz="2200" dirty="0"/>
              <a:t>Latest software</a:t>
            </a:r>
          </a:p>
          <a:p>
            <a:pPr marL="717550" lvl="3">
              <a:buClr>
                <a:schemeClr val="accent6">
                  <a:lumMod val="75000"/>
                </a:schemeClr>
              </a:buClr>
            </a:pPr>
            <a:r>
              <a:rPr lang="en-ZA" sz="2200" dirty="0"/>
              <a:t>Scalable architecture</a:t>
            </a:r>
          </a:p>
          <a:p>
            <a:pPr marL="717550" lvl="3">
              <a:buClr>
                <a:schemeClr val="accent6">
                  <a:lumMod val="75000"/>
                </a:schemeClr>
              </a:buClr>
            </a:pPr>
            <a:r>
              <a:rPr lang="en-ZA" sz="2200" dirty="0"/>
              <a:t>Anywhere, anytime access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ZA" sz="2400" dirty="0"/>
              <a:t>Traditional DDBMS not compatible with cloud services</a:t>
            </a:r>
          </a:p>
          <a:p>
            <a:pPr marL="452438" lvl="1">
              <a:buClr>
                <a:schemeClr val="accent6">
                  <a:lumMod val="75000"/>
                </a:schemeClr>
              </a:buClr>
            </a:pPr>
            <a:r>
              <a:rPr lang="en-ZA" sz="2200" dirty="0"/>
              <a:t>Cloud solutions allocate resources dynamically, based on requirements</a:t>
            </a:r>
          </a:p>
          <a:p>
            <a:pPr marL="452438" lvl="1">
              <a:buClr>
                <a:schemeClr val="accent6">
                  <a:lumMod val="75000"/>
                </a:schemeClr>
              </a:buClr>
            </a:pPr>
            <a:r>
              <a:rPr lang="en-ZA" sz="2200" dirty="0"/>
              <a:t>Potential solution – NoSQL database</a:t>
            </a:r>
            <a:endParaRPr lang="en-US" sz="2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6269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1A30-93E8-EFD5-F02D-D4B3AA40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CJ Date’s (1987) 12 commandments for distributed databases</a:t>
            </a:r>
            <a:endParaRPr lang="en-ZA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01BA4-87C9-DD5F-D918-358D88C116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ZA" sz="3200" dirty="0"/>
              <a:t>Local site independence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ZA" sz="3200" dirty="0"/>
              <a:t>Central site independence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ZA" sz="3200" dirty="0"/>
              <a:t>Failure independence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ZA" sz="3200" dirty="0"/>
              <a:t>Location transparency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ZA" sz="3200" dirty="0"/>
              <a:t>Fragmentation transparency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ZA" sz="3200" dirty="0"/>
              <a:t>Replication transparency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F9959D-48AB-A8B1-C9D8-7C0AAA828F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Distributed query processing</a:t>
            </a:r>
          </a:p>
          <a:p>
            <a:pPr marL="0" indent="0">
              <a:buNone/>
            </a:pPr>
            <a:r>
              <a:rPr lang="en-US" sz="3200" dirty="0"/>
              <a:t>Distributed transaction processing</a:t>
            </a:r>
          </a:p>
          <a:p>
            <a:pPr marL="0" indent="0">
              <a:buNone/>
            </a:pPr>
            <a:r>
              <a:rPr lang="en-US" sz="3200" dirty="0"/>
              <a:t>Hardware independence</a:t>
            </a:r>
          </a:p>
          <a:p>
            <a:pPr marL="0" indent="0">
              <a:buNone/>
            </a:pPr>
            <a:r>
              <a:rPr lang="en-US" sz="3200" dirty="0"/>
              <a:t>Operating system independence</a:t>
            </a:r>
          </a:p>
          <a:p>
            <a:pPr marL="0" indent="0">
              <a:buNone/>
            </a:pPr>
            <a:r>
              <a:rPr lang="en-US" sz="3200" dirty="0"/>
              <a:t>Network independence</a:t>
            </a:r>
          </a:p>
          <a:p>
            <a:pPr marL="0" indent="0">
              <a:buNone/>
            </a:pPr>
            <a:r>
              <a:rPr lang="en-US" sz="3200" dirty="0"/>
              <a:t>Database independence</a:t>
            </a:r>
            <a:endParaRPr lang="en-ZA" sz="3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5596-038F-8B68-78A7-E47B12AD41B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14 - Distributed Databases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4E3A1-4630-67D7-CC17-C7F2A90336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29590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DD3BB60-F1C6-016E-41FD-3DD8F019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Portfolios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3F3BFA-3A8C-1A9F-EAA9-10F174163A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If you haven’t started compiling yet – good time to start now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B275498-FA5A-EBD6-BEDF-807DA9EC3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400" dirty="0"/>
              <a:t>Use Portfolio details in Assignment and Portfolio Guide as a checklist</a:t>
            </a:r>
          </a:p>
          <a:p>
            <a:pPr marL="0" indent="0">
              <a:buNone/>
            </a:pPr>
            <a:r>
              <a:rPr lang="en-ZA" sz="2400" dirty="0"/>
              <a:t>ALL information contained there</a:t>
            </a:r>
          </a:p>
          <a:p>
            <a:r>
              <a:rPr lang="en-ZA" sz="2400" dirty="0"/>
              <a:t>Format</a:t>
            </a:r>
          </a:p>
          <a:p>
            <a:r>
              <a:rPr lang="en-ZA" sz="2400" dirty="0"/>
              <a:t>Content</a:t>
            </a:r>
          </a:p>
          <a:p>
            <a:r>
              <a:rPr lang="en-ZA" sz="2400" dirty="0"/>
              <a:t>All other requirements</a:t>
            </a:r>
          </a:p>
          <a:p>
            <a:r>
              <a:rPr lang="en-ZA" sz="2400" dirty="0"/>
              <a:t>Marking rubric</a:t>
            </a:r>
          </a:p>
          <a:p>
            <a:endParaRPr lang="en-ZA" sz="2400" dirty="0"/>
          </a:p>
          <a:p>
            <a:pPr marL="0" indent="0">
              <a:buNone/>
            </a:pPr>
            <a:r>
              <a:rPr lang="en-ZA" sz="2400" dirty="0"/>
              <a:t>Rubrics to be included</a:t>
            </a:r>
          </a:p>
          <a:p>
            <a:r>
              <a:rPr lang="en-ZA" sz="2400" dirty="0"/>
              <a:t>Final academic progress email will contain rubrics to be included</a:t>
            </a:r>
          </a:p>
          <a:p>
            <a:r>
              <a:rPr lang="en-ZA" sz="2400" dirty="0"/>
              <a:t>Also include Portfolio rubric (the one at the end of the Assignment and Portfolio Guide)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DCA6E-0BF1-CBD7-CB0E-875B5F4D5C6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Chapter 14 - Distributed Databases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5320D-9904-C27B-EC10-2CCD1ED2648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44622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3BB2-5C08-0252-DDF4-014310E3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/>
              <a:t>Semester test 2 – Final notice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BE155-4076-9DB5-3EFF-685F54976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Schedule:</a:t>
            </a:r>
          </a:p>
          <a:p>
            <a:pPr marL="0" indent="0">
              <a:buNone/>
            </a:pPr>
            <a:endParaRPr lang="en-ZA" sz="2800" dirty="0"/>
          </a:p>
          <a:p>
            <a:pPr marL="0" indent="0">
              <a:buNone/>
            </a:pPr>
            <a:endParaRPr lang="en-ZA" sz="2800" dirty="0"/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US" sz="2400" dirty="0"/>
              <a:t>Tuesday, 12 May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US" sz="2000" dirty="0"/>
              <a:t>May bring in ONE page (double sided) hand written (no photocopies) notes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2-hour test, 60 marks</a:t>
            </a:r>
          </a:p>
          <a:p>
            <a:pPr>
              <a:buClr>
                <a:schemeClr val="accent6">
                  <a:lumMod val="75000"/>
                </a:schemeClr>
              </a:buClr>
            </a:pPr>
            <a:r>
              <a:rPr lang="en-ZA" sz="2400" dirty="0"/>
              <a:t>Booking list available just before test sessions (outside labs)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en-ZA" sz="2000" dirty="0"/>
              <a:t>Seat and PC allocation – ensure you know your allocated seat</a:t>
            </a:r>
          </a:p>
          <a:p>
            <a:endParaRPr lang="en-ZA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114D5-FB0F-4DB3-7A20-8CD35542F0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28</a:t>
            </a:fld>
            <a:endParaRPr lang="en-US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4ECE32-B211-45E4-A0E8-9E2D3A3875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31040" y="1620000"/>
            <a:ext cx="9663360" cy="1120073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C3C8EC4-D339-4E77-B14D-26282BF38C0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805395" y="6641402"/>
            <a:ext cx="3789006" cy="198598"/>
          </a:xfrm>
        </p:spPr>
        <p:txBody>
          <a:bodyPr/>
          <a:lstStyle/>
          <a:p>
            <a:r>
              <a:rPr lang="en-US" sz="1100">
                <a:solidFill>
                  <a:schemeClr val="bg1">
                    <a:lumMod val="75000"/>
                  </a:schemeClr>
                </a:solidFill>
              </a:rPr>
              <a:t>Chapter 14 - Distributed Databases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558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78043420_Science fair presentation_RVA_v3.potx" id="{29D4BD8F-7488-49D9-BFBB-7DF8C2B0292D}" vid="{799E8309-D02B-4451-A1B1-915D5FF07E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Science fair presentation</Template>
  <TotalTime>2816</TotalTime>
  <Words>1351</Words>
  <Application>Microsoft Office PowerPoint</Application>
  <PresentationFormat>Widescreen</PresentationFormat>
  <Paragraphs>277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__Inter_8effd3</vt:lpstr>
      <vt:lpstr>Arial</vt:lpstr>
      <vt:lpstr>Calibri</vt:lpstr>
      <vt:lpstr>Lucida Sans Typewriter</vt:lpstr>
      <vt:lpstr>Times New Roman</vt:lpstr>
      <vt:lpstr>Tw Cen MT</vt:lpstr>
      <vt:lpstr>Wingdings</vt:lpstr>
      <vt:lpstr>Office Theme</vt:lpstr>
      <vt:lpstr>Distributed Databases</vt:lpstr>
      <vt:lpstr>Our Focus</vt:lpstr>
      <vt:lpstr>Distributed processing and distributed database</vt:lpstr>
      <vt:lpstr>DDBMS Characteristics</vt:lpstr>
      <vt:lpstr>Components of DDBMS (Fig 14.5, p 718)</vt:lpstr>
      <vt:lpstr>Distributed database transparency features</vt:lpstr>
      <vt:lpstr>Distribution transparency</vt:lpstr>
      <vt:lpstr>Transaction transparency</vt:lpstr>
      <vt:lpstr>Transaction transparency</vt:lpstr>
      <vt:lpstr>Examples</vt:lpstr>
      <vt:lpstr>Performance transparency</vt:lpstr>
      <vt:lpstr>Distributed database design</vt:lpstr>
      <vt:lpstr>Data fragmentation</vt:lpstr>
      <vt:lpstr>Data fragmentation: Horizontal</vt:lpstr>
      <vt:lpstr>Data fragmentation: Horizontal</vt:lpstr>
      <vt:lpstr>Data fragmentation: Horizontal</vt:lpstr>
      <vt:lpstr>Data fragmentation: Vertical</vt:lpstr>
      <vt:lpstr>Data fragmentation: Vertical</vt:lpstr>
      <vt:lpstr>Data fragmentation: Mixed</vt:lpstr>
      <vt:lpstr>Data fragmentation: Mixed</vt:lpstr>
      <vt:lpstr>Data replication</vt:lpstr>
      <vt:lpstr>Replication types</vt:lpstr>
      <vt:lpstr>CAP Theorem</vt:lpstr>
      <vt:lpstr>BASE</vt:lpstr>
      <vt:lpstr>DDBMS in the cloud</vt:lpstr>
      <vt:lpstr>CJ Date’s (1987) 12 commandments for distributed databases</vt:lpstr>
      <vt:lpstr>Portfolios</vt:lpstr>
      <vt:lpstr>Semester test 2 – Final notice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Cover Title</dc:title>
  <dc:creator>Barnard, Lynette (Dr) (Summerstrand Campus South)</dc:creator>
  <cp:lastModifiedBy>Barnard, Lynette (Dr) (Summerstrand Campus South)</cp:lastModifiedBy>
  <cp:revision>445</cp:revision>
  <dcterms:created xsi:type="dcterms:W3CDTF">2026-01-27T08:37:41Z</dcterms:created>
  <dcterms:modified xsi:type="dcterms:W3CDTF">2026-05-06T13:22:20Z</dcterms:modified>
</cp:coreProperties>
</file>