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15" r:id="rId11"/>
    <p:sldId id="405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396" r:id="rId21"/>
  </p:sldIdLst>
  <p:sldSz cx="12192000" cy="6858000"/>
  <p:notesSz cx="6797675" cy="98742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57" autoAdjust="0"/>
  </p:normalViewPr>
  <p:slideViewPr>
    <p:cSldViewPr snapToGrid="0">
      <p:cViewPr varScale="1">
        <p:scale>
          <a:sx n="75" d="100"/>
          <a:sy n="75" d="100"/>
        </p:scale>
        <p:origin x="26" y="53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37A1A6-1A29-46D0-A78D-672E14D77404}" type="doc">
      <dgm:prSet loTypeId="urn:microsoft.com/office/officeart/2005/8/layout/vList5" loCatId="list" qsTypeId="urn:microsoft.com/office/officeart/2005/8/quickstyle/3d3" qsCatId="3D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A61C4915-3A1E-466F-84D0-BF89125BC9B9}">
      <dgm:prSet phldrT="[Text]" custT="1"/>
      <dgm:spPr/>
      <dgm:t>
        <a:bodyPr/>
        <a:lstStyle/>
        <a:p>
          <a:r>
            <a:rPr lang="en-US" sz="2000"/>
            <a:t>Atomicity</a:t>
          </a:r>
          <a:endParaRPr lang="en-US" sz="2000" dirty="0"/>
        </a:p>
      </dgm:t>
    </dgm:pt>
    <dgm:pt modelId="{FF11693C-5E7C-40F1-99C7-C133E858F30C}" type="parTrans" cxnId="{1C6E4EB1-A1F4-46F2-964C-2AC6B6B9A210}">
      <dgm:prSet/>
      <dgm:spPr/>
      <dgm:t>
        <a:bodyPr/>
        <a:lstStyle/>
        <a:p>
          <a:endParaRPr lang="en-US" sz="1600"/>
        </a:p>
      </dgm:t>
    </dgm:pt>
    <dgm:pt modelId="{75883BF9-D8B6-45DA-B907-AB28D60073A1}" type="sibTrans" cxnId="{1C6E4EB1-A1F4-46F2-964C-2AC6B6B9A210}">
      <dgm:prSet/>
      <dgm:spPr/>
      <dgm:t>
        <a:bodyPr/>
        <a:lstStyle/>
        <a:p>
          <a:endParaRPr lang="en-US" sz="1600"/>
        </a:p>
      </dgm:t>
    </dgm:pt>
    <dgm:pt modelId="{E9BB35BD-F9D2-4D23-915B-61FFBF0A8D13}">
      <dgm:prSet phldrT="[Text]" custT="1"/>
      <dgm:spPr/>
      <dgm:t>
        <a:bodyPr/>
        <a:lstStyle/>
        <a:p>
          <a:r>
            <a:rPr lang="en-ZA" sz="2400" dirty="0">
              <a:latin typeface="+mj-lt"/>
            </a:rPr>
            <a:t>ALL operations of transaction must be completed; if not, transaction is aborted</a:t>
          </a:r>
          <a:endParaRPr lang="en-US" sz="2400" dirty="0">
            <a:latin typeface="+mj-lt"/>
          </a:endParaRPr>
        </a:p>
      </dgm:t>
    </dgm:pt>
    <dgm:pt modelId="{96DC71C5-0E4C-4BF2-842A-BE4D5FE72904}" type="parTrans" cxnId="{9D5C009A-FB83-415E-A91D-8D9535DFA673}">
      <dgm:prSet/>
      <dgm:spPr/>
      <dgm:t>
        <a:bodyPr/>
        <a:lstStyle/>
        <a:p>
          <a:endParaRPr lang="en-US" sz="1600"/>
        </a:p>
      </dgm:t>
    </dgm:pt>
    <dgm:pt modelId="{6806E2E8-DEAF-4771-A240-B3E68B9BDC21}" type="sibTrans" cxnId="{9D5C009A-FB83-415E-A91D-8D9535DFA673}">
      <dgm:prSet/>
      <dgm:spPr/>
      <dgm:t>
        <a:bodyPr/>
        <a:lstStyle/>
        <a:p>
          <a:endParaRPr lang="en-US" sz="1600"/>
        </a:p>
      </dgm:t>
    </dgm:pt>
    <dgm:pt modelId="{4AC85C38-BD45-4D5B-AD50-50207F0BD185}">
      <dgm:prSet phldrT="[Text]" custT="1"/>
      <dgm:spPr/>
      <dgm:t>
        <a:bodyPr/>
        <a:lstStyle/>
        <a:p>
          <a:r>
            <a:rPr lang="en-US" sz="2000"/>
            <a:t>Consistency</a:t>
          </a:r>
          <a:endParaRPr lang="en-US" sz="2000" dirty="0"/>
        </a:p>
      </dgm:t>
    </dgm:pt>
    <dgm:pt modelId="{740C9F95-25B6-4CCB-BB06-82BAC34E7273}" type="parTrans" cxnId="{27A9D71B-98A2-4767-B62A-D9E41B7FC6FC}">
      <dgm:prSet/>
      <dgm:spPr/>
      <dgm:t>
        <a:bodyPr/>
        <a:lstStyle/>
        <a:p>
          <a:endParaRPr lang="en-US" sz="1600"/>
        </a:p>
      </dgm:t>
    </dgm:pt>
    <dgm:pt modelId="{44B39D67-12D7-451D-B637-B23030E5CDC7}" type="sibTrans" cxnId="{27A9D71B-98A2-4767-B62A-D9E41B7FC6FC}">
      <dgm:prSet/>
      <dgm:spPr/>
      <dgm:t>
        <a:bodyPr/>
        <a:lstStyle/>
        <a:p>
          <a:endParaRPr lang="en-US" sz="1600"/>
        </a:p>
      </dgm:t>
    </dgm:pt>
    <dgm:pt modelId="{49766052-8F8D-44D1-89AF-AFFE2DA16C5E}">
      <dgm:prSet phldrT="[Text]" custT="1"/>
      <dgm:spPr/>
      <dgm:t>
        <a:bodyPr/>
        <a:lstStyle/>
        <a:p>
          <a:r>
            <a:rPr lang="en-US" sz="2400" dirty="0">
              <a:latin typeface="+mj-lt"/>
            </a:rPr>
            <a:t>Transaction takes database from one consistent state to another</a:t>
          </a:r>
        </a:p>
      </dgm:t>
    </dgm:pt>
    <dgm:pt modelId="{946915E0-377A-43A0-B585-023FD279D84F}" type="parTrans" cxnId="{F3C7ADC4-62B3-4048-9F4F-A33B5BA2C6E5}">
      <dgm:prSet/>
      <dgm:spPr/>
      <dgm:t>
        <a:bodyPr/>
        <a:lstStyle/>
        <a:p>
          <a:endParaRPr lang="en-US" sz="1600"/>
        </a:p>
      </dgm:t>
    </dgm:pt>
    <dgm:pt modelId="{CDDDBEF4-E492-4EBF-9269-86C629E03832}" type="sibTrans" cxnId="{F3C7ADC4-62B3-4048-9F4F-A33B5BA2C6E5}">
      <dgm:prSet/>
      <dgm:spPr/>
      <dgm:t>
        <a:bodyPr/>
        <a:lstStyle/>
        <a:p>
          <a:endParaRPr lang="en-US" sz="1600"/>
        </a:p>
      </dgm:t>
    </dgm:pt>
    <dgm:pt modelId="{2C6B3410-16C0-49DF-93BD-1A2705E1A09F}">
      <dgm:prSet phldrT="[Text]" custT="1"/>
      <dgm:spPr/>
      <dgm:t>
        <a:bodyPr/>
        <a:lstStyle/>
        <a:p>
          <a:r>
            <a:rPr lang="en-US" sz="2000"/>
            <a:t>Isolation</a:t>
          </a:r>
          <a:endParaRPr lang="en-US" sz="2000" dirty="0"/>
        </a:p>
      </dgm:t>
    </dgm:pt>
    <dgm:pt modelId="{55044F42-5012-4F6B-871C-6B2F700C2606}" type="parTrans" cxnId="{36FE0DCC-356D-47F2-B632-CD9D731CC02A}">
      <dgm:prSet/>
      <dgm:spPr/>
      <dgm:t>
        <a:bodyPr/>
        <a:lstStyle/>
        <a:p>
          <a:endParaRPr lang="en-US" sz="1600"/>
        </a:p>
      </dgm:t>
    </dgm:pt>
    <dgm:pt modelId="{A6CE6C15-2D57-49B9-B520-F0160FD94F19}" type="sibTrans" cxnId="{36FE0DCC-356D-47F2-B632-CD9D731CC02A}">
      <dgm:prSet/>
      <dgm:spPr/>
      <dgm:t>
        <a:bodyPr/>
        <a:lstStyle/>
        <a:p>
          <a:endParaRPr lang="en-US" sz="1600"/>
        </a:p>
      </dgm:t>
    </dgm:pt>
    <dgm:pt modelId="{11390EE9-A055-4349-ACF4-D1C608D2EC9C}">
      <dgm:prSet phldrT="[Text]" custT="1"/>
      <dgm:spPr/>
      <dgm:t>
        <a:bodyPr/>
        <a:lstStyle/>
        <a:p>
          <a:r>
            <a:rPr lang="en-ZA" sz="2400" dirty="0">
              <a:latin typeface="+mj-lt"/>
            </a:rPr>
            <a:t>Data cannot be used by 2</a:t>
          </a:r>
          <a:r>
            <a:rPr lang="en-ZA" sz="2400" baseline="30000" dirty="0">
              <a:latin typeface="+mj-lt"/>
            </a:rPr>
            <a:t>nd</a:t>
          </a:r>
          <a:r>
            <a:rPr lang="en-ZA" sz="2400" dirty="0">
              <a:latin typeface="+mj-lt"/>
            </a:rPr>
            <a:t> transaction until 1</a:t>
          </a:r>
          <a:r>
            <a:rPr lang="en-ZA" sz="2400" baseline="30000" dirty="0">
              <a:latin typeface="+mj-lt"/>
            </a:rPr>
            <a:t>st</a:t>
          </a:r>
          <a:r>
            <a:rPr lang="en-ZA" sz="2400" dirty="0">
              <a:latin typeface="+mj-lt"/>
            </a:rPr>
            <a:t> transaction done with it</a:t>
          </a:r>
          <a:endParaRPr lang="en-US" sz="2400" dirty="0">
            <a:latin typeface="+mj-lt"/>
          </a:endParaRPr>
        </a:p>
      </dgm:t>
    </dgm:pt>
    <dgm:pt modelId="{94B8C7CF-6E5E-4960-AB47-41A6734B237A}" type="parTrans" cxnId="{2DE35F66-6B84-452D-BBC9-E3D423A37A39}">
      <dgm:prSet/>
      <dgm:spPr/>
      <dgm:t>
        <a:bodyPr/>
        <a:lstStyle/>
        <a:p>
          <a:endParaRPr lang="en-US" sz="1600"/>
        </a:p>
      </dgm:t>
    </dgm:pt>
    <dgm:pt modelId="{AE70AA5E-A35C-46B6-8CE6-527C36B2D16D}" type="sibTrans" cxnId="{2DE35F66-6B84-452D-BBC9-E3D423A37A39}">
      <dgm:prSet/>
      <dgm:spPr/>
      <dgm:t>
        <a:bodyPr/>
        <a:lstStyle/>
        <a:p>
          <a:endParaRPr lang="en-US" sz="1600"/>
        </a:p>
      </dgm:t>
    </dgm:pt>
    <dgm:pt modelId="{02123E74-22BE-4B95-9070-43BB0CECF723}">
      <dgm:prSet phldrT="[Text]" custT="1"/>
      <dgm:spPr/>
      <dgm:t>
        <a:bodyPr/>
        <a:lstStyle/>
        <a:p>
          <a:r>
            <a:rPr lang="en-US" sz="2000"/>
            <a:t>Durability</a:t>
          </a:r>
          <a:endParaRPr lang="en-US" sz="2000" dirty="0"/>
        </a:p>
      </dgm:t>
    </dgm:pt>
    <dgm:pt modelId="{C370FC49-74E6-40B9-9DBA-200DEDF3211F}" type="parTrans" cxnId="{B7B20F74-A1B8-472D-980F-4BF0AFDF0F08}">
      <dgm:prSet/>
      <dgm:spPr/>
      <dgm:t>
        <a:bodyPr/>
        <a:lstStyle/>
        <a:p>
          <a:endParaRPr lang="en-US" sz="1600"/>
        </a:p>
      </dgm:t>
    </dgm:pt>
    <dgm:pt modelId="{09A7C393-31B5-4EBA-936B-5EE101E46DBA}" type="sibTrans" cxnId="{B7B20F74-A1B8-472D-980F-4BF0AFDF0F08}">
      <dgm:prSet/>
      <dgm:spPr/>
      <dgm:t>
        <a:bodyPr/>
        <a:lstStyle/>
        <a:p>
          <a:endParaRPr lang="en-US" sz="1600"/>
        </a:p>
      </dgm:t>
    </dgm:pt>
    <dgm:pt modelId="{DC836313-BAD0-42DF-AAC9-BE9611B1C9D2}">
      <dgm:prSet phldrT="[Text]" custT="1"/>
      <dgm:spPr/>
      <dgm:t>
        <a:bodyPr/>
        <a:lstStyle/>
        <a:p>
          <a:r>
            <a:rPr lang="en-ZA" sz="2400" dirty="0">
              <a:latin typeface="+mj-lt"/>
            </a:rPr>
            <a:t>Once transaction commits, it cannot be undone or lost</a:t>
          </a:r>
          <a:endParaRPr lang="en-US" sz="2400" dirty="0">
            <a:latin typeface="+mj-lt"/>
          </a:endParaRPr>
        </a:p>
      </dgm:t>
    </dgm:pt>
    <dgm:pt modelId="{E56E1F24-6098-41B3-8F0C-01667C30D791}" type="parTrans" cxnId="{1963E41D-C6F4-43BD-9300-8CFDE6ECC675}">
      <dgm:prSet/>
      <dgm:spPr/>
      <dgm:t>
        <a:bodyPr/>
        <a:lstStyle/>
        <a:p>
          <a:endParaRPr lang="en-US" sz="1600"/>
        </a:p>
      </dgm:t>
    </dgm:pt>
    <dgm:pt modelId="{5ED3895F-B96C-4C8A-89CE-33B69207E1A0}" type="sibTrans" cxnId="{1963E41D-C6F4-43BD-9300-8CFDE6ECC675}">
      <dgm:prSet/>
      <dgm:spPr/>
      <dgm:t>
        <a:bodyPr/>
        <a:lstStyle/>
        <a:p>
          <a:endParaRPr lang="en-US" sz="1600"/>
        </a:p>
      </dgm:t>
    </dgm:pt>
    <dgm:pt modelId="{65BE6A95-E92B-4802-8523-0683935A1D64}">
      <dgm:prSet phldrT="[Text]" custT="1"/>
      <dgm:spPr/>
      <dgm:t>
        <a:bodyPr/>
        <a:lstStyle/>
        <a:p>
          <a:r>
            <a:rPr lang="en-US" sz="2000" dirty="0" err="1"/>
            <a:t>Serialisability</a:t>
          </a:r>
          <a:endParaRPr lang="en-US" sz="2000" dirty="0"/>
        </a:p>
      </dgm:t>
    </dgm:pt>
    <dgm:pt modelId="{7303137F-84A5-47CD-BC5E-1276999A8079}" type="parTrans" cxnId="{D5EBBF26-7956-435D-AD26-D35B334E379E}">
      <dgm:prSet/>
      <dgm:spPr/>
      <dgm:t>
        <a:bodyPr/>
        <a:lstStyle/>
        <a:p>
          <a:endParaRPr lang="en-US" sz="1600"/>
        </a:p>
      </dgm:t>
    </dgm:pt>
    <dgm:pt modelId="{F347D61A-A45A-46CE-ACDE-62CEDB139890}" type="sibTrans" cxnId="{D5EBBF26-7956-435D-AD26-D35B334E379E}">
      <dgm:prSet/>
      <dgm:spPr/>
      <dgm:t>
        <a:bodyPr/>
        <a:lstStyle/>
        <a:p>
          <a:endParaRPr lang="en-US" sz="1600"/>
        </a:p>
      </dgm:t>
    </dgm:pt>
    <dgm:pt modelId="{6F6DA96C-ABD9-4F78-8CF5-A6204CE37F09}">
      <dgm:prSet phldrT="[Text]" custT="1"/>
      <dgm:spPr/>
      <dgm:t>
        <a:bodyPr/>
        <a:lstStyle/>
        <a:p>
          <a:r>
            <a:rPr lang="en-ZA" sz="2400" dirty="0">
              <a:latin typeface="+mj-lt"/>
            </a:rPr>
            <a:t>In multi-user and distributed databases: concurrent execution of several transactions yield consistent results</a:t>
          </a:r>
          <a:endParaRPr lang="en-US" sz="2400" dirty="0">
            <a:latin typeface="+mj-lt"/>
          </a:endParaRPr>
        </a:p>
      </dgm:t>
    </dgm:pt>
    <dgm:pt modelId="{59491183-42AD-4639-8E59-50C694FB73FB}" type="parTrans" cxnId="{27857CD2-70F9-4D40-9C29-D46DAB0EB177}">
      <dgm:prSet/>
      <dgm:spPr/>
      <dgm:t>
        <a:bodyPr/>
        <a:lstStyle/>
        <a:p>
          <a:endParaRPr lang="en-US" sz="1600"/>
        </a:p>
      </dgm:t>
    </dgm:pt>
    <dgm:pt modelId="{6E1348D7-5E3B-449C-9D69-DE57201A6229}" type="sibTrans" cxnId="{27857CD2-70F9-4D40-9C29-D46DAB0EB177}">
      <dgm:prSet/>
      <dgm:spPr/>
      <dgm:t>
        <a:bodyPr/>
        <a:lstStyle/>
        <a:p>
          <a:endParaRPr lang="en-US" sz="1600"/>
        </a:p>
      </dgm:t>
    </dgm:pt>
    <dgm:pt modelId="{772324E3-7BB1-473C-B20E-499599343E02}" type="pres">
      <dgm:prSet presAssocID="{F437A1A6-1A29-46D0-A78D-672E14D77404}" presName="Name0" presStyleCnt="0">
        <dgm:presLayoutVars>
          <dgm:dir/>
          <dgm:animLvl val="lvl"/>
          <dgm:resizeHandles val="exact"/>
        </dgm:presLayoutVars>
      </dgm:prSet>
      <dgm:spPr/>
    </dgm:pt>
    <dgm:pt modelId="{E400D3D7-35DF-44C1-8CEE-8F903972D93B}" type="pres">
      <dgm:prSet presAssocID="{A61C4915-3A1E-466F-84D0-BF89125BC9B9}" presName="linNode" presStyleCnt="0"/>
      <dgm:spPr/>
    </dgm:pt>
    <dgm:pt modelId="{E7F15220-DF4C-4007-ABB6-E039E6111414}" type="pres">
      <dgm:prSet presAssocID="{A61C4915-3A1E-466F-84D0-BF89125BC9B9}" presName="parentText" presStyleLbl="node1" presStyleIdx="0" presStyleCnt="5" custScaleX="86975" custLinFactNeighborY="-911">
        <dgm:presLayoutVars>
          <dgm:chMax val="1"/>
          <dgm:bulletEnabled val="1"/>
        </dgm:presLayoutVars>
      </dgm:prSet>
      <dgm:spPr/>
    </dgm:pt>
    <dgm:pt modelId="{47E1AA58-6240-4F51-83F0-FA0F936A3B31}" type="pres">
      <dgm:prSet presAssocID="{A61C4915-3A1E-466F-84D0-BF89125BC9B9}" presName="descendantText" presStyleLbl="alignAccFollowNode1" presStyleIdx="0" presStyleCnt="5" custLinFactNeighborX="0" custLinFactNeighborY="837">
        <dgm:presLayoutVars>
          <dgm:bulletEnabled val="1"/>
        </dgm:presLayoutVars>
      </dgm:prSet>
      <dgm:spPr/>
    </dgm:pt>
    <dgm:pt modelId="{361D6EDF-5517-4ADB-8ABE-F286AD167FF3}" type="pres">
      <dgm:prSet presAssocID="{75883BF9-D8B6-45DA-B907-AB28D60073A1}" presName="sp" presStyleCnt="0"/>
      <dgm:spPr/>
    </dgm:pt>
    <dgm:pt modelId="{640306F7-0734-4DDF-9457-60BBA0637070}" type="pres">
      <dgm:prSet presAssocID="{4AC85C38-BD45-4D5B-AD50-50207F0BD185}" presName="linNode" presStyleCnt="0"/>
      <dgm:spPr/>
    </dgm:pt>
    <dgm:pt modelId="{EC454966-F6B9-4D7B-B9E0-D69A3EC32E2C}" type="pres">
      <dgm:prSet presAssocID="{4AC85C38-BD45-4D5B-AD50-50207F0BD185}" presName="parentText" presStyleLbl="node1" presStyleIdx="1" presStyleCnt="5" custScaleX="86975">
        <dgm:presLayoutVars>
          <dgm:chMax val="1"/>
          <dgm:bulletEnabled val="1"/>
        </dgm:presLayoutVars>
      </dgm:prSet>
      <dgm:spPr/>
    </dgm:pt>
    <dgm:pt modelId="{F3F76C80-A943-4BC7-9F19-9D7EC719FC73}" type="pres">
      <dgm:prSet presAssocID="{4AC85C38-BD45-4D5B-AD50-50207F0BD185}" presName="descendantText" presStyleLbl="alignAccFollowNode1" presStyleIdx="1" presStyleCnt="5" custLinFactNeighborX="0" custLinFactNeighborY="837">
        <dgm:presLayoutVars>
          <dgm:bulletEnabled val="1"/>
        </dgm:presLayoutVars>
      </dgm:prSet>
      <dgm:spPr/>
    </dgm:pt>
    <dgm:pt modelId="{C2A15730-3A58-4BAE-899F-1CD687624C04}" type="pres">
      <dgm:prSet presAssocID="{44B39D67-12D7-451D-B637-B23030E5CDC7}" presName="sp" presStyleCnt="0"/>
      <dgm:spPr/>
    </dgm:pt>
    <dgm:pt modelId="{1F2B4DD4-C108-4050-98A5-2A870DB6F2E0}" type="pres">
      <dgm:prSet presAssocID="{2C6B3410-16C0-49DF-93BD-1A2705E1A09F}" presName="linNode" presStyleCnt="0"/>
      <dgm:spPr/>
    </dgm:pt>
    <dgm:pt modelId="{B4720FA1-F339-45E9-86B0-12C571AA286C}" type="pres">
      <dgm:prSet presAssocID="{2C6B3410-16C0-49DF-93BD-1A2705E1A09F}" presName="parentText" presStyleLbl="node1" presStyleIdx="2" presStyleCnt="5" custScaleX="86975">
        <dgm:presLayoutVars>
          <dgm:chMax val="1"/>
          <dgm:bulletEnabled val="1"/>
        </dgm:presLayoutVars>
      </dgm:prSet>
      <dgm:spPr/>
    </dgm:pt>
    <dgm:pt modelId="{C8B8982B-493C-4280-97E9-D3AEA2413C24}" type="pres">
      <dgm:prSet presAssocID="{2C6B3410-16C0-49DF-93BD-1A2705E1A09F}" presName="descendantText" presStyleLbl="alignAccFollowNode1" presStyleIdx="2" presStyleCnt="5" custLinFactNeighborX="0" custLinFactNeighborY="837">
        <dgm:presLayoutVars>
          <dgm:bulletEnabled val="1"/>
        </dgm:presLayoutVars>
      </dgm:prSet>
      <dgm:spPr/>
    </dgm:pt>
    <dgm:pt modelId="{EA0102A1-C9B8-448B-8261-E5C3058757EB}" type="pres">
      <dgm:prSet presAssocID="{A6CE6C15-2D57-49B9-B520-F0160FD94F19}" presName="sp" presStyleCnt="0"/>
      <dgm:spPr/>
    </dgm:pt>
    <dgm:pt modelId="{8F904929-4A56-497C-AAE9-7993FFBD1C71}" type="pres">
      <dgm:prSet presAssocID="{02123E74-22BE-4B95-9070-43BB0CECF723}" presName="linNode" presStyleCnt="0"/>
      <dgm:spPr/>
    </dgm:pt>
    <dgm:pt modelId="{B5644FD3-A666-4A7D-9E13-546957E92902}" type="pres">
      <dgm:prSet presAssocID="{02123E74-22BE-4B95-9070-43BB0CECF723}" presName="parentText" presStyleLbl="node1" presStyleIdx="3" presStyleCnt="5" custScaleX="86975">
        <dgm:presLayoutVars>
          <dgm:chMax val="1"/>
          <dgm:bulletEnabled val="1"/>
        </dgm:presLayoutVars>
      </dgm:prSet>
      <dgm:spPr/>
    </dgm:pt>
    <dgm:pt modelId="{953D02E8-3E4F-496C-821F-8A8BF804CF32}" type="pres">
      <dgm:prSet presAssocID="{02123E74-22BE-4B95-9070-43BB0CECF723}" presName="descendantText" presStyleLbl="alignAccFollowNode1" presStyleIdx="3" presStyleCnt="5">
        <dgm:presLayoutVars>
          <dgm:bulletEnabled val="1"/>
        </dgm:presLayoutVars>
      </dgm:prSet>
      <dgm:spPr/>
    </dgm:pt>
    <dgm:pt modelId="{2FD9386F-149E-40DB-898C-9C4ED7626B7C}" type="pres">
      <dgm:prSet presAssocID="{09A7C393-31B5-4EBA-936B-5EE101E46DBA}" presName="sp" presStyleCnt="0"/>
      <dgm:spPr/>
    </dgm:pt>
    <dgm:pt modelId="{B9930199-9F1B-4318-AB66-837CC5CDC70F}" type="pres">
      <dgm:prSet presAssocID="{65BE6A95-E92B-4802-8523-0683935A1D64}" presName="linNode" presStyleCnt="0"/>
      <dgm:spPr/>
    </dgm:pt>
    <dgm:pt modelId="{534AE89D-6FB0-4F29-9F78-6890AE6C60E0}" type="pres">
      <dgm:prSet presAssocID="{65BE6A95-E92B-4802-8523-0683935A1D64}" presName="parentText" presStyleLbl="node1" presStyleIdx="4" presStyleCnt="5" custScaleX="86975">
        <dgm:presLayoutVars>
          <dgm:chMax val="1"/>
          <dgm:bulletEnabled val="1"/>
        </dgm:presLayoutVars>
      </dgm:prSet>
      <dgm:spPr/>
    </dgm:pt>
    <dgm:pt modelId="{2999A22F-A0AA-4D59-ACCC-A05FE4FF0374}" type="pres">
      <dgm:prSet presAssocID="{65BE6A95-E92B-4802-8523-0683935A1D64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5BB7A15-C835-4430-8814-7AEFCFDBFF43}" type="presOf" srcId="{DC836313-BAD0-42DF-AAC9-BE9611B1C9D2}" destId="{953D02E8-3E4F-496C-821F-8A8BF804CF32}" srcOrd="0" destOrd="0" presId="urn:microsoft.com/office/officeart/2005/8/layout/vList5"/>
    <dgm:cxn modelId="{2328161A-2CCD-4F5F-A6A8-9B6E213D8CC2}" type="presOf" srcId="{2C6B3410-16C0-49DF-93BD-1A2705E1A09F}" destId="{B4720FA1-F339-45E9-86B0-12C571AA286C}" srcOrd="0" destOrd="0" presId="urn:microsoft.com/office/officeart/2005/8/layout/vList5"/>
    <dgm:cxn modelId="{27A9D71B-98A2-4767-B62A-D9E41B7FC6FC}" srcId="{F437A1A6-1A29-46D0-A78D-672E14D77404}" destId="{4AC85C38-BD45-4D5B-AD50-50207F0BD185}" srcOrd="1" destOrd="0" parTransId="{740C9F95-25B6-4CCB-BB06-82BAC34E7273}" sibTransId="{44B39D67-12D7-451D-B637-B23030E5CDC7}"/>
    <dgm:cxn modelId="{1963E41D-C6F4-43BD-9300-8CFDE6ECC675}" srcId="{02123E74-22BE-4B95-9070-43BB0CECF723}" destId="{DC836313-BAD0-42DF-AAC9-BE9611B1C9D2}" srcOrd="0" destOrd="0" parTransId="{E56E1F24-6098-41B3-8F0C-01667C30D791}" sibTransId="{5ED3895F-B96C-4C8A-89CE-33B69207E1A0}"/>
    <dgm:cxn modelId="{9335101E-7008-414E-B217-93BD7DFE44A7}" type="presOf" srcId="{F437A1A6-1A29-46D0-A78D-672E14D77404}" destId="{772324E3-7BB1-473C-B20E-499599343E02}" srcOrd="0" destOrd="0" presId="urn:microsoft.com/office/officeart/2005/8/layout/vList5"/>
    <dgm:cxn modelId="{D5EBBF26-7956-435D-AD26-D35B334E379E}" srcId="{F437A1A6-1A29-46D0-A78D-672E14D77404}" destId="{65BE6A95-E92B-4802-8523-0683935A1D64}" srcOrd="4" destOrd="0" parTransId="{7303137F-84A5-47CD-BC5E-1276999A8079}" sibTransId="{F347D61A-A45A-46CE-ACDE-62CEDB139890}"/>
    <dgm:cxn modelId="{0276CF34-942F-4BCF-8D6F-A3D99F2D9049}" type="presOf" srcId="{A61C4915-3A1E-466F-84D0-BF89125BC9B9}" destId="{E7F15220-DF4C-4007-ABB6-E039E6111414}" srcOrd="0" destOrd="0" presId="urn:microsoft.com/office/officeart/2005/8/layout/vList5"/>
    <dgm:cxn modelId="{516AD15E-092E-43A3-90BA-3DA72025B824}" type="presOf" srcId="{6F6DA96C-ABD9-4F78-8CF5-A6204CE37F09}" destId="{2999A22F-A0AA-4D59-ACCC-A05FE4FF0374}" srcOrd="0" destOrd="0" presId="urn:microsoft.com/office/officeart/2005/8/layout/vList5"/>
    <dgm:cxn modelId="{2DE35F66-6B84-452D-BBC9-E3D423A37A39}" srcId="{2C6B3410-16C0-49DF-93BD-1A2705E1A09F}" destId="{11390EE9-A055-4349-ACF4-D1C608D2EC9C}" srcOrd="0" destOrd="0" parTransId="{94B8C7CF-6E5E-4960-AB47-41A6734B237A}" sibTransId="{AE70AA5E-A35C-46B6-8CE6-527C36B2D16D}"/>
    <dgm:cxn modelId="{B7B20F74-A1B8-472D-980F-4BF0AFDF0F08}" srcId="{F437A1A6-1A29-46D0-A78D-672E14D77404}" destId="{02123E74-22BE-4B95-9070-43BB0CECF723}" srcOrd="3" destOrd="0" parTransId="{C370FC49-74E6-40B9-9DBA-200DEDF3211F}" sibTransId="{09A7C393-31B5-4EBA-936B-5EE101E46DBA}"/>
    <dgm:cxn modelId="{CA17A755-B51A-41B2-8DD4-D793701F9D1D}" type="presOf" srcId="{49766052-8F8D-44D1-89AF-AFFE2DA16C5E}" destId="{F3F76C80-A943-4BC7-9F19-9D7EC719FC73}" srcOrd="0" destOrd="0" presId="urn:microsoft.com/office/officeart/2005/8/layout/vList5"/>
    <dgm:cxn modelId="{288A117E-564C-4E6C-AB4E-9D8E700C6D7E}" type="presOf" srcId="{02123E74-22BE-4B95-9070-43BB0CECF723}" destId="{B5644FD3-A666-4A7D-9E13-546957E92902}" srcOrd="0" destOrd="0" presId="urn:microsoft.com/office/officeart/2005/8/layout/vList5"/>
    <dgm:cxn modelId="{F1CF107F-68DC-49EA-ACF2-D76F5706D7E8}" type="presOf" srcId="{65BE6A95-E92B-4802-8523-0683935A1D64}" destId="{534AE89D-6FB0-4F29-9F78-6890AE6C60E0}" srcOrd="0" destOrd="0" presId="urn:microsoft.com/office/officeart/2005/8/layout/vList5"/>
    <dgm:cxn modelId="{C9ECF18E-06A6-47AF-AB1F-4EEA0DB30A85}" type="presOf" srcId="{11390EE9-A055-4349-ACF4-D1C608D2EC9C}" destId="{C8B8982B-493C-4280-97E9-D3AEA2413C24}" srcOrd="0" destOrd="0" presId="urn:microsoft.com/office/officeart/2005/8/layout/vList5"/>
    <dgm:cxn modelId="{9D5C009A-FB83-415E-A91D-8D9535DFA673}" srcId="{A61C4915-3A1E-466F-84D0-BF89125BC9B9}" destId="{E9BB35BD-F9D2-4D23-915B-61FFBF0A8D13}" srcOrd="0" destOrd="0" parTransId="{96DC71C5-0E4C-4BF2-842A-BE4D5FE72904}" sibTransId="{6806E2E8-DEAF-4771-A240-B3E68B9BDC21}"/>
    <dgm:cxn modelId="{1C6E4EB1-A1F4-46F2-964C-2AC6B6B9A210}" srcId="{F437A1A6-1A29-46D0-A78D-672E14D77404}" destId="{A61C4915-3A1E-466F-84D0-BF89125BC9B9}" srcOrd="0" destOrd="0" parTransId="{FF11693C-5E7C-40F1-99C7-C133E858F30C}" sibTransId="{75883BF9-D8B6-45DA-B907-AB28D60073A1}"/>
    <dgm:cxn modelId="{F3C7ADC4-62B3-4048-9F4F-A33B5BA2C6E5}" srcId="{4AC85C38-BD45-4D5B-AD50-50207F0BD185}" destId="{49766052-8F8D-44D1-89AF-AFFE2DA16C5E}" srcOrd="0" destOrd="0" parTransId="{946915E0-377A-43A0-B585-023FD279D84F}" sibTransId="{CDDDBEF4-E492-4EBF-9269-86C629E03832}"/>
    <dgm:cxn modelId="{436DFDCA-9FFF-4D60-9A31-944890BCDF77}" type="presOf" srcId="{4AC85C38-BD45-4D5B-AD50-50207F0BD185}" destId="{EC454966-F6B9-4D7B-B9E0-D69A3EC32E2C}" srcOrd="0" destOrd="0" presId="urn:microsoft.com/office/officeart/2005/8/layout/vList5"/>
    <dgm:cxn modelId="{36FE0DCC-356D-47F2-B632-CD9D731CC02A}" srcId="{F437A1A6-1A29-46D0-A78D-672E14D77404}" destId="{2C6B3410-16C0-49DF-93BD-1A2705E1A09F}" srcOrd="2" destOrd="0" parTransId="{55044F42-5012-4F6B-871C-6B2F700C2606}" sibTransId="{A6CE6C15-2D57-49B9-B520-F0160FD94F19}"/>
    <dgm:cxn modelId="{27857CD2-70F9-4D40-9C29-D46DAB0EB177}" srcId="{65BE6A95-E92B-4802-8523-0683935A1D64}" destId="{6F6DA96C-ABD9-4F78-8CF5-A6204CE37F09}" srcOrd="0" destOrd="0" parTransId="{59491183-42AD-4639-8E59-50C694FB73FB}" sibTransId="{6E1348D7-5E3B-449C-9D69-DE57201A6229}"/>
    <dgm:cxn modelId="{4BBA73F8-0013-45EF-A9B1-822FB715028A}" type="presOf" srcId="{E9BB35BD-F9D2-4D23-915B-61FFBF0A8D13}" destId="{47E1AA58-6240-4F51-83F0-FA0F936A3B31}" srcOrd="0" destOrd="0" presId="urn:microsoft.com/office/officeart/2005/8/layout/vList5"/>
    <dgm:cxn modelId="{778840E8-86FE-4676-83BF-00B390E879BC}" type="presParOf" srcId="{772324E3-7BB1-473C-B20E-499599343E02}" destId="{E400D3D7-35DF-44C1-8CEE-8F903972D93B}" srcOrd="0" destOrd="0" presId="urn:microsoft.com/office/officeart/2005/8/layout/vList5"/>
    <dgm:cxn modelId="{552C1691-8583-4887-B5DC-41E131C2ECFA}" type="presParOf" srcId="{E400D3D7-35DF-44C1-8CEE-8F903972D93B}" destId="{E7F15220-DF4C-4007-ABB6-E039E6111414}" srcOrd="0" destOrd="0" presId="urn:microsoft.com/office/officeart/2005/8/layout/vList5"/>
    <dgm:cxn modelId="{65B27A12-1AD2-4093-B20D-0D5142CD1863}" type="presParOf" srcId="{E400D3D7-35DF-44C1-8CEE-8F903972D93B}" destId="{47E1AA58-6240-4F51-83F0-FA0F936A3B31}" srcOrd="1" destOrd="0" presId="urn:microsoft.com/office/officeart/2005/8/layout/vList5"/>
    <dgm:cxn modelId="{D3FD5463-F121-4AC5-AFCC-B34EC12307C5}" type="presParOf" srcId="{772324E3-7BB1-473C-B20E-499599343E02}" destId="{361D6EDF-5517-4ADB-8ABE-F286AD167FF3}" srcOrd="1" destOrd="0" presId="urn:microsoft.com/office/officeart/2005/8/layout/vList5"/>
    <dgm:cxn modelId="{AA414F35-A320-442C-9EE8-A7B74FEC7CA3}" type="presParOf" srcId="{772324E3-7BB1-473C-B20E-499599343E02}" destId="{640306F7-0734-4DDF-9457-60BBA0637070}" srcOrd="2" destOrd="0" presId="urn:microsoft.com/office/officeart/2005/8/layout/vList5"/>
    <dgm:cxn modelId="{480C81A4-4FA6-497E-93A4-792284B5BA26}" type="presParOf" srcId="{640306F7-0734-4DDF-9457-60BBA0637070}" destId="{EC454966-F6B9-4D7B-B9E0-D69A3EC32E2C}" srcOrd="0" destOrd="0" presId="urn:microsoft.com/office/officeart/2005/8/layout/vList5"/>
    <dgm:cxn modelId="{BB25CD2B-39CF-4233-881E-28A965CDBB55}" type="presParOf" srcId="{640306F7-0734-4DDF-9457-60BBA0637070}" destId="{F3F76C80-A943-4BC7-9F19-9D7EC719FC73}" srcOrd="1" destOrd="0" presId="urn:microsoft.com/office/officeart/2005/8/layout/vList5"/>
    <dgm:cxn modelId="{F913BDCF-CE3D-4424-A2DB-B0A8F76B3CD6}" type="presParOf" srcId="{772324E3-7BB1-473C-B20E-499599343E02}" destId="{C2A15730-3A58-4BAE-899F-1CD687624C04}" srcOrd="3" destOrd="0" presId="urn:microsoft.com/office/officeart/2005/8/layout/vList5"/>
    <dgm:cxn modelId="{F8D6CD40-7E98-4D4B-8B25-2D49A92DB6F8}" type="presParOf" srcId="{772324E3-7BB1-473C-B20E-499599343E02}" destId="{1F2B4DD4-C108-4050-98A5-2A870DB6F2E0}" srcOrd="4" destOrd="0" presId="urn:microsoft.com/office/officeart/2005/8/layout/vList5"/>
    <dgm:cxn modelId="{FD7EBAF0-C84B-4195-9A6B-1B6EC17A93BA}" type="presParOf" srcId="{1F2B4DD4-C108-4050-98A5-2A870DB6F2E0}" destId="{B4720FA1-F339-45E9-86B0-12C571AA286C}" srcOrd="0" destOrd="0" presId="urn:microsoft.com/office/officeart/2005/8/layout/vList5"/>
    <dgm:cxn modelId="{8A061BA6-7477-4D1D-B204-5CD0C28B36C0}" type="presParOf" srcId="{1F2B4DD4-C108-4050-98A5-2A870DB6F2E0}" destId="{C8B8982B-493C-4280-97E9-D3AEA2413C24}" srcOrd="1" destOrd="0" presId="urn:microsoft.com/office/officeart/2005/8/layout/vList5"/>
    <dgm:cxn modelId="{4D2D304E-4816-40B6-8C3A-A13F789E8F57}" type="presParOf" srcId="{772324E3-7BB1-473C-B20E-499599343E02}" destId="{EA0102A1-C9B8-448B-8261-E5C3058757EB}" srcOrd="5" destOrd="0" presId="urn:microsoft.com/office/officeart/2005/8/layout/vList5"/>
    <dgm:cxn modelId="{F854B1BE-E9E7-4EC3-9177-C2AFB324436F}" type="presParOf" srcId="{772324E3-7BB1-473C-B20E-499599343E02}" destId="{8F904929-4A56-497C-AAE9-7993FFBD1C71}" srcOrd="6" destOrd="0" presId="urn:microsoft.com/office/officeart/2005/8/layout/vList5"/>
    <dgm:cxn modelId="{08A2BE33-AB9D-4C52-A06D-2777E6961A29}" type="presParOf" srcId="{8F904929-4A56-497C-AAE9-7993FFBD1C71}" destId="{B5644FD3-A666-4A7D-9E13-546957E92902}" srcOrd="0" destOrd="0" presId="urn:microsoft.com/office/officeart/2005/8/layout/vList5"/>
    <dgm:cxn modelId="{7792B1A5-C29D-4094-B72D-435B928B073C}" type="presParOf" srcId="{8F904929-4A56-497C-AAE9-7993FFBD1C71}" destId="{953D02E8-3E4F-496C-821F-8A8BF804CF32}" srcOrd="1" destOrd="0" presId="urn:microsoft.com/office/officeart/2005/8/layout/vList5"/>
    <dgm:cxn modelId="{67580314-938B-4227-98DB-FCCE044AEE17}" type="presParOf" srcId="{772324E3-7BB1-473C-B20E-499599343E02}" destId="{2FD9386F-149E-40DB-898C-9C4ED7626B7C}" srcOrd="7" destOrd="0" presId="urn:microsoft.com/office/officeart/2005/8/layout/vList5"/>
    <dgm:cxn modelId="{4717F9FA-2230-4786-82FD-1AAC96F341E3}" type="presParOf" srcId="{772324E3-7BB1-473C-B20E-499599343E02}" destId="{B9930199-9F1B-4318-AB66-837CC5CDC70F}" srcOrd="8" destOrd="0" presId="urn:microsoft.com/office/officeart/2005/8/layout/vList5"/>
    <dgm:cxn modelId="{69719533-5F1D-448D-B157-DFB6EAE30250}" type="presParOf" srcId="{B9930199-9F1B-4318-AB66-837CC5CDC70F}" destId="{534AE89D-6FB0-4F29-9F78-6890AE6C60E0}" srcOrd="0" destOrd="0" presId="urn:microsoft.com/office/officeart/2005/8/layout/vList5"/>
    <dgm:cxn modelId="{16BF9DFD-C626-48DE-BD10-3A2D9241EA87}" type="presParOf" srcId="{B9930199-9F1B-4318-AB66-837CC5CDC70F}" destId="{2999A22F-A0AA-4D59-ACCC-A05FE4FF037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ADE6BDD-E3F5-4B59-83BB-770A90A55CC1}" type="doc">
      <dgm:prSet loTypeId="urn:microsoft.com/office/officeart/2005/8/layout/vList2" loCatId="list" qsTypeId="urn:microsoft.com/office/officeart/2005/8/quickstyle/3d3" qsCatId="3D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6B982B1D-8488-4433-84CB-8981EC346884}">
      <dgm:prSet custT="1"/>
      <dgm:spPr/>
      <dgm:t>
        <a:bodyPr/>
        <a:lstStyle/>
        <a:p>
          <a:r>
            <a:rPr lang="en-ZA" sz="3200">
              <a:latin typeface="Tw Cen MT" panose="020B0602020104020603" pitchFamily="34" charset="0"/>
            </a:rPr>
            <a:t>Aim to restore database to previous consistent state</a:t>
          </a:r>
          <a:endParaRPr lang="en-US" sz="3200">
            <a:latin typeface="Tw Cen MT" panose="020B0602020104020603" pitchFamily="34" charset="0"/>
          </a:endParaRPr>
        </a:p>
      </dgm:t>
    </dgm:pt>
    <dgm:pt modelId="{2030AB55-C2DA-4154-81A3-499EADEEDC35}" type="parTrans" cxnId="{D96A3C52-8BF2-4B7F-BA50-5394A8816043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928816E1-4B2E-4711-AF07-366DBC84D1D3}" type="sibTrans" cxnId="{D96A3C52-8BF2-4B7F-BA50-5394A8816043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EC55AB7E-F988-4579-8EC5-3C5784E0B327}">
      <dgm:prSet custT="1"/>
      <dgm:spPr/>
      <dgm:t>
        <a:bodyPr/>
        <a:lstStyle/>
        <a:p>
          <a:r>
            <a:rPr lang="en-ZA" sz="3200">
              <a:latin typeface="Tw Cen MT" panose="020B0602020104020603" pitchFamily="34" charset="0"/>
            </a:rPr>
            <a:t>Recovery based on atomicity</a:t>
          </a:r>
          <a:endParaRPr lang="en-US" sz="3200">
            <a:latin typeface="Tw Cen MT" panose="020B0602020104020603" pitchFamily="34" charset="0"/>
          </a:endParaRPr>
        </a:p>
      </dgm:t>
    </dgm:pt>
    <dgm:pt modelId="{21FEC442-3CF4-4CF5-A978-0D560B1C29B2}" type="parTrans" cxnId="{F007AD22-43C4-446F-B573-F419C1304612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7BBA0A12-B493-421E-948D-55FA905A91EA}" type="sibTrans" cxnId="{F007AD22-43C4-446F-B573-F419C1304612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7E23C969-D045-42B1-83E2-090ACF1CFF4B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Transaction property ensuring all operations of transactions complete</a:t>
          </a:r>
          <a:endParaRPr lang="en-US" sz="2400">
            <a:latin typeface="Tw Cen MT" panose="020B0602020104020603" pitchFamily="34" charset="0"/>
          </a:endParaRPr>
        </a:p>
      </dgm:t>
    </dgm:pt>
    <dgm:pt modelId="{0D8FE74B-3EA1-4DCC-8132-1BCE21BDE2BA}" type="parTrans" cxnId="{DB1DC350-262D-45D3-A009-8EEA0FE46AE3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CEDD6C3C-6044-4C56-95FD-43F07102AB5F}" type="sibTrans" cxnId="{DB1DC350-262D-45D3-A009-8EEA0FE46AE3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D480D8E7-0769-4048-86B4-B73EB193F2FE}">
      <dgm:prSet custT="1"/>
      <dgm:spPr/>
      <dgm:t>
        <a:bodyPr/>
        <a:lstStyle/>
        <a:p>
          <a:r>
            <a:rPr lang="en-ZA" sz="3200">
              <a:latin typeface="Tw Cen MT" panose="020B0602020104020603" pitchFamily="34" charset="0"/>
            </a:rPr>
            <a:t>Concepts impacting recovery process</a:t>
          </a:r>
          <a:endParaRPr lang="en-US" sz="3200">
            <a:latin typeface="Tw Cen MT" panose="020B0602020104020603" pitchFamily="34" charset="0"/>
          </a:endParaRPr>
        </a:p>
      </dgm:t>
    </dgm:pt>
    <dgm:pt modelId="{48873051-6D85-4A05-A431-9659BA6D4213}" type="parTrans" cxnId="{170B7E68-AAC6-401C-BE18-AFF407C5450F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9DFD0108-58DD-4C60-91D5-382B031EBED1}" type="sibTrans" cxnId="{170B7E68-AAC6-401C-BE18-AFF407C5450F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DD157CBF-306D-44DA-9B3B-D52547BBB9A1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Write-ahead-log protocol</a:t>
          </a:r>
          <a:endParaRPr lang="en-US" sz="2400">
            <a:latin typeface="Tw Cen MT" panose="020B0602020104020603" pitchFamily="34" charset="0"/>
          </a:endParaRPr>
        </a:p>
      </dgm:t>
    </dgm:pt>
    <dgm:pt modelId="{4866277A-FE61-439B-AC77-2998BBE5DA18}" type="parTrans" cxnId="{D3FFF15B-C85B-4BF7-89D2-F5DD3797949A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84EF401D-0367-41A4-98AD-D3610F234F5C}" type="sibTrans" cxnId="{D3FFF15B-C85B-4BF7-89D2-F5DD3797949A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70402600-ABD9-4B4E-930A-4E0327FEFA94}">
      <dgm:prSet custT="1"/>
      <dgm:spPr/>
      <dgm:t>
        <a:bodyPr/>
        <a:lstStyle/>
        <a:p>
          <a:r>
            <a:rPr lang="en-ZA" sz="2400">
              <a:latin typeface="Tw Cen MT" panose="020B0602020104020603" pitchFamily="34" charset="0"/>
            </a:rPr>
            <a:t>Redundant transaction logs</a:t>
          </a:r>
          <a:endParaRPr lang="en-US" sz="2400">
            <a:latin typeface="Tw Cen MT" panose="020B0602020104020603" pitchFamily="34" charset="0"/>
          </a:endParaRPr>
        </a:p>
      </dgm:t>
    </dgm:pt>
    <dgm:pt modelId="{EDAF566C-2E48-4611-AAA7-2E1070741E43}" type="parTrans" cxnId="{425B3D9F-6CA9-480E-A3F6-EA7633346FBB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3FB9E560-0D37-4504-A60F-022138A37121}" type="sibTrans" cxnId="{425B3D9F-6CA9-480E-A3F6-EA7633346FBB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CDA0FFE7-1DE8-47AE-96C4-8A6EB4DB1361}">
      <dgm:prSet custT="1"/>
      <dgm:spPr/>
      <dgm:t>
        <a:bodyPr/>
        <a:lstStyle/>
        <a:p>
          <a:r>
            <a:rPr lang="en-ZA" sz="2400" dirty="0">
              <a:latin typeface="Tw Cen MT" panose="020B0602020104020603" pitchFamily="34" charset="0"/>
            </a:rPr>
            <a:t>Buffers (temp storage area in primary memory)</a:t>
          </a:r>
          <a:endParaRPr lang="en-US" sz="2400" dirty="0">
            <a:latin typeface="Tw Cen MT" panose="020B0602020104020603" pitchFamily="34" charset="0"/>
          </a:endParaRPr>
        </a:p>
      </dgm:t>
    </dgm:pt>
    <dgm:pt modelId="{2BF08D99-9179-4D98-85EE-1A4B95117D74}" type="parTrans" cxnId="{1D46205B-967A-4BE7-B3F5-7642BA7BB0E9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4FD55DFF-69F9-4196-8030-45511AE9B0D7}" type="sibTrans" cxnId="{1D46205B-967A-4BE7-B3F5-7642BA7BB0E9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1BEC31D4-88BF-4376-BE0B-EC7B36935C81}">
      <dgm:prSet custT="1"/>
      <dgm:spPr/>
      <dgm:t>
        <a:bodyPr/>
        <a:lstStyle/>
        <a:p>
          <a:r>
            <a:rPr lang="en-ZA" sz="2400" dirty="0">
              <a:latin typeface="Tw Cen MT" panose="020B0602020104020603" pitchFamily="34" charset="0"/>
            </a:rPr>
            <a:t>Checkpoints (operation writing buffer updates to disk)</a:t>
          </a:r>
          <a:endParaRPr lang="en-US" sz="2400" dirty="0">
            <a:latin typeface="Tw Cen MT" panose="020B0602020104020603" pitchFamily="34" charset="0"/>
          </a:endParaRPr>
        </a:p>
      </dgm:t>
    </dgm:pt>
    <dgm:pt modelId="{47FD1075-F9F4-4BF7-B308-21A1C8ABC92C}" type="parTrans" cxnId="{AD833E24-66D6-4E36-9818-F5EB92D3B0BC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189992B0-FA41-4EF8-AEE4-5636B018ED64}" type="sibTrans" cxnId="{AD833E24-66D6-4E36-9818-F5EB92D3B0BC}">
      <dgm:prSet/>
      <dgm:spPr/>
      <dgm:t>
        <a:bodyPr/>
        <a:lstStyle/>
        <a:p>
          <a:endParaRPr lang="en-US" sz="2000">
            <a:latin typeface="Tw Cen MT" panose="020B0602020104020603" pitchFamily="34" charset="0"/>
          </a:endParaRPr>
        </a:p>
      </dgm:t>
    </dgm:pt>
    <dgm:pt modelId="{E29F2CA4-EFAD-45C9-BD9B-24DF36787FC9}" type="pres">
      <dgm:prSet presAssocID="{0ADE6BDD-E3F5-4B59-83BB-770A90A55CC1}" presName="linear" presStyleCnt="0">
        <dgm:presLayoutVars>
          <dgm:animLvl val="lvl"/>
          <dgm:resizeHandles val="exact"/>
        </dgm:presLayoutVars>
      </dgm:prSet>
      <dgm:spPr/>
    </dgm:pt>
    <dgm:pt modelId="{E9EECB1B-45B2-4B2D-B8DA-A4F7A411E4AC}" type="pres">
      <dgm:prSet presAssocID="{6B982B1D-8488-4433-84CB-8981EC3468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3E5BC3-CC8D-43A0-9BD8-056AE87E924F}" type="pres">
      <dgm:prSet presAssocID="{928816E1-4B2E-4711-AF07-366DBC84D1D3}" presName="spacer" presStyleCnt="0"/>
      <dgm:spPr/>
    </dgm:pt>
    <dgm:pt modelId="{FF8D5AA9-2519-48D6-84B9-08FB436DFBCF}" type="pres">
      <dgm:prSet presAssocID="{EC55AB7E-F988-4579-8EC5-3C5784E0B32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A72621-4AEA-4BD3-ACF3-E0A815A54450}" type="pres">
      <dgm:prSet presAssocID="{EC55AB7E-F988-4579-8EC5-3C5784E0B327}" presName="childText" presStyleLbl="revTx" presStyleIdx="0" presStyleCnt="2">
        <dgm:presLayoutVars>
          <dgm:bulletEnabled val="1"/>
        </dgm:presLayoutVars>
      </dgm:prSet>
      <dgm:spPr/>
    </dgm:pt>
    <dgm:pt modelId="{129FC87F-CD67-4A52-865B-A2B48CD3E41E}" type="pres">
      <dgm:prSet presAssocID="{D480D8E7-0769-4048-86B4-B73EB193F2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D95084C-2020-4FE7-8574-854E52F44BBE}" type="pres">
      <dgm:prSet presAssocID="{D480D8E7-0769-4048-86B4-B73EB193F2F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45E8F0F-7D85-4778-B4D2-7BFD532DC896}" type="presOf" srcId="{70402600-ABD9-4B4E-930A-4E0327FEFA94}" destId="{0D95084C-2020-4FE7-8574-854E52F44BBE}" srcOrd="0" destOrd="1" presId="urn:microsoft.com/office/officeart/2005/8/layout/vList2"/>
    <dgm:cxn modelId="{4E8E031A-F65D-477A-A6C2-9C61648A14FF}" type="presOf" srcId="{6B982B1D-8488-4433-84CB-8981EC346884}" destId="{E9EECB1B-45B2-4B2D-B8DA-A4F7A411E4AC}" srcOrd="0" destOrd="0" presId="urn:microsoft.com/office/officeart/2005/8/layout/vList2"/>
    <dgm:cxn modelId="{F007AD22-43C4-446F-B573-F419C1304612}" srcId="{0ADE6BDD-E3F5-4B59-83BB-770A90A55CC1}" destId="{EC55AB7E-F988-4579-8EC5-3C5784E0B327}" srcOrd="1" destOrd="0" parTransId="{21FEC442-3CF4-4CF5-A978-0D560B1C29B2}" sibTransId="{7BBA0A12-B493-421E-948D-55FA905A91EA}"/>
    <dgm:cxn modelId="{AD833E24-66D6-4E36-9818-F5EB92D3B0BC}" srcId="{D480D8E7-0769-4048-86B4-B73EB193F2FE}" destId="{1BEC31D4-88BF-4376-BE0B-EC7B36935C81}" srcOrd="3" destOrd="0" parTransId="{47FD1075-F9F4-4BF7-B308-21A1C8ABC92C}" sibTransId="{189992B0-FA41-4EF8-AEE4-5636B018ED64}"/>
    <dgm:cxn modelId="{1D46205B-967A-4BE7-B3F5-7642BA7BB0E9}" srcId="{D480D8E7-0769-4048-86B4-B73EB193F2FE}" destId="{CDA0FFE7-1DE8-47AE-96C4-8A6EB4DB1361}" srcOrd="2" destOrd="0" parTransId="{2BF08D99-9179-4D98-85EE-1A4B95117D74}" sibTransId="{4FD55DFF-69F9-4196-8030-45511AE9B0D7}"/>
    <dgm:cxn modelId="{D3FFF15B-C85B-4BF7-89D2-F5DD3797949A}" srcId="{D480D8E7-0769-4048-86B4-B73EB193F2FE}" destId="{DD157CBF-306D-44DA-9B3B-D52547BBB9A1}" srcOrd="0" destOrd="0" parTransId="{4866277A-FE61-439B-AC77-2998BBE5DA18}" sibTransId="{84EF401D-0367-41A4-98AD-D3610F234F5C}"/>
    <dgm:cxn modelId="{170B7E68-AAC6-401C-BE18-AFF407C5450F}" srcId="{0ADE6BDD-E3F5-4B59-83BB-770A90A55CC1}" destId="{D480D8E7-0769-4048-86B4-B73EB193F2FE}" srcOrd="2" destOrd="0" parTransId="{48873051-6D85-4A05-A431-9659BA6D4213}" sibTransId="{9DFD0108-58DD-4C60-91D5-382B031EBED1}"/>
    <dgm:cxn modelId="{DC51BD4C-179F-4E29-BDC7-8FC0C2C538E5}" type="presOf" srcId="{EC55AB7E-F988-4579-8EC5-3C5784E0B327}" destId="{FF8D5AA9-2519-48D6-84B9-08FB436DFBCF}" srcOrd="0" destOrd="0" presId="urn:microsoft.com/office/officeart/2005/8/layout/vList2"/>
    <dgm:cxn modelId="{DB1DC350-262D-45D3-A009-8EEA0FE46AE3}" srcId="{EC55AB7E-F988-4579-8EC5-3C5784E0B327}" destId="{7E23C969-D045-42B1-83E2-090ACF1CFF4B}" srcOrd="0" destOrd="0" parTransId="{0D8FE74B-3EA1-4DCC-8132-1BCE21BDE2BA}" sibTransId="{CEDD6C3C-6044-4C56-95FD-43F07102AB5F}"/>
    <dgm:cxn modelId="{D96A3C52-8BF2-4B7F-BA50-5394A8816043}" srcId="{0ADE6BDD-E3F5-4B59-83BB-770A90A55CC1}" destId="{6B982B1D-8488-4433-84CB-8981EC346884}" srcOrd="0" destOrd="0" parTransId="{2030AB55-C2DA-4154-81A3-499EADEEDC35}" sibTransId="{928816E1-4B2E-4711-AF07-366DBC84D1D3}"/>
    <dgm:cxn modelId="{109A5152-4CAF-4E1B-9EC4-57DF07B1E77E}" type="presOf" srcId="{DD157CBF-306D-44DA-9B3B-D52547BBB9A1}" destId="{0D95084C-2020-4FE7-8574-854E52F44BBE}" srcOrd="0" destOrd="0" presId="urn:microsoft.com/office/officeart/2005/8/layout/vList2"/>
    <dgm:cxn modelId="{4490E877-E42E-4767-97ED-BA9A79299794}" type="presOf" srcId="{D480D8E7-0769-4048-86B4-B73EB193F2FE}" destId="{129FC87F-CD67-4A52-865B-A2B48CD3E41E}" srcOrd="0" destOrd="0" presId="urn:microsoft.com/office/officeart/2005/8/layout/vList2"/>
    <dgm:cxn modelId="{812A5689-7821-4331-97F4-AA0922E7E721}" type="presOf" srcId="{CDA0FFE7-1DE8-47AE-96C4-8A6EB4DB1361}" destId="{0D95084C-2020-4FE7-8574-854E52F44BBE}" srcOrd="0" destOrd="2" presId="urn:microsoft.com/office/officeart/2005/8/layout/vList2"/>
    <dgm:cxn modelId="{425B3D9F-6CA9-480E-A3F6-EA7633346FBB}" srcId="{D480D8E7-0769-4048-86B4-B73EB193F2FE}" destId="{70402600-ABD9-4B4E-930A-4E0327FEFA94}" srcOrd="1" destOrd="0" parTransId="{EDAF566C-2E48-4611-AAA7-2E1070741E43}" sibTransId="{3FB9E560-0D37-4504-A60F-022138A37121}"/>
    <dgm:cxn modelId="{D24AD7D3-0A66-4BD0-ADF3-DF7938734741}" type="presOf" srcId="{0ADE6BDD-E3F5-4B59-83BB-770A90A55CC1}" destId="{E29F2CA4-EFAD-45C9-BD9B-24DF36787FC9}" srcOrd="0" destOrd="0" presId="urn:microsoft.com/office/officeart/2005/8/layout/vList2"/>
    <dgm:cxn modelId="{DD9E81ED-7E3D-453E-84F9-CA9CB24FB23F}" type="presOf" srcId="{7E23C969-D045-42B1-83E2-090ACF1CFF4B}" destId="{44A72621-4AEA-4BD3-ACF3-E0A815A54450}" srcOrd="0" destOrd="0" presId="urn:microsoft.com/office/officeart/2005/8/layout/vList2"/>
    <dgm:cxn modelId="{34931AEF-C523-4535-B6B1-E1EFF996A555}" type="presOf" srcId="{1BEC31D4-88BF-4376-BE0B-EC7B36935C81}" destId="{0D95084C-2020-4FE7-8574-854E52F44BBE}" srcOrd="0" destOrd="3" presId="urn:microsoft.com/office/officeart/2005/8/layout/vList2"/>
    <dgm:cxn modelId="{783A35CC-6371-43CE-A7FB-E8293A6A1B4B}" type="presParOf" srcId="{E29F2CA4-EFAD-45C9-BD9B-24DF36787FC9}" destId="{E9EECB1B-45B2-4B2D-B8DA-A4F7A411E4AC}" srcOrd="0" destOrd="0" presId="urn:microsoft.com/office/officeart/2005/8/layout/vList2"/>
    <dgm:cxn modelId="{E95455C0-BC73-485A-B950-857AE5202D5C}" type="presParOf" srcId="{E29F2CA4-EFAD-45C9-BD9B-24DF36787FC9}" destId="{363E5BC3-CC8D-43A0-9BD8-056AE87E924F}" srcOrd="1" destOrd="0" presId="urn:microsoft.com/office/officeart/2005/8/layout/vList2"/>
    <dgm:cxn modelId="{F908B43C-4C49-438F-B2F0-1D2FBB01F9AE}" type="presParOf" srcId="{E29F2CA4-EFAD-45C9-BD9B-24DF36787FC9}" destId="{FF8D5AA9-2519-48D6-84B9-08FB436DFBCF}" srcOrd="2" destOrd="0" presId="urn:microsoft.com/office/officeart/2005/8/layout/vList2"/>
    <dgm:cxn modelId="{BAC086B9-DD34-4CAD-94A7-152D578B47F2}" type="presParOf" srcId="{E29F2CA4-EFAD-45C9-BD9B-24DF36787FC9}" destId="{44A72621-4AEA-4BD3-ACF3-E0A815A54450}" srcOrd="3" destOrd="0" presId="urn:microsoft.com/office/officeart/2005/8/layout/vList2"/>
    <dgm:cxn modelId="{D93963F5-5FFB-4A5C-B38D-FF5EBDA7FA5D}" type="presParOf" srcId="{E29F2CA4-EFAD-45C9-BD9B-24DF36787FC9}" destId="{129FC87F-CD67-4A52-865B-A2B48CD3E41E}" srcOrd="4" destOrd="0" presId="urn:microsoft.com/office/officeart/2005/8/layout/vList2"/>
    <dgm:cxn modelId="{C380CF24-35F5-4F6D-9798-8F61D4DC6204}" type="presParOf" srcId="{E29F2CA4-EFAD-45C9-BD9B-24DF36787FC9}" destId="{0D95084C-2020-4FE7-8574-854E52F44BB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1AA58-6240-4F51-83F0-FA0F936A3B31}">
      <dsp:nvSpPr>
        <dsp:cNvPr id="0" name=""/>
        <dsp:cNvSpPr/>
      </dsp:nvSpPr>
      <dsp:spPr>
        <a:xfrm rot="5400000">
          <a:off x="5403665" y="-2268819"/>
          <a:ext cx="929571" cy="5720478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+mj-lt"/>
            </a:rPr>
            <a:t>ALL operations of transaction must be completed; if not, transaction is aborted</a:t>
          </a:r>
          <a:endParaRPr lang="en-US" sz="2400" kern="1200" dirty="0">
            <a:latin typeface="+mj-lt"/>
          </a:endParaRPr>
        </a:p>
      </dsp:txBody>
      <dsp:txXfrm rot="-5400000">
        <a:off x="3008212" y="172012"/>
        <a:ext cx="5675100" cy="838815"/>
      </dsp:txXfrm>
    </dsp:sp>
    <dsp:sp modelId="{E7F15220-DF4C-4007-ABB6-E039E6111414}">
      <dsp:nvSpPr>
        <dsp:cNvPr id="0" name=""/>
        <dsp:cNvSpPr/>
      </dsp:nvSpPr>
      <dsp:spPr>
        <a:xfrm>
          <a:off x="209557" y="0"/>
          <a:ext cx="2798654" cy="1161963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Atomicity</a:t>
          </a:r>
          <a:endParaRPr lang="en-US" sz="2000" kern="1200" dirty="0"/>
        </a:p>
      </dsp:txBody>
      <dsp:txXfrm>
        <a:off x="266279" y="56722"/>
        <a:ext cx="2685210" cy="1048519"/>
      </dsp:txXfrm>
    </dsp:sp>
    <dsp:sp modelId="{F3F76C80-A943-4BC7-9F19-9D7EC719FC73}">
      <dsp:nvSpPr>
        <dsp:cNvPr id="0" name=""/>
        <dsp:cNvSpPr/>
      </dsp:nvSpPr>
      <dsp:spPr>
        <a:xfrm rot="5400000">
          <a:off x="5403665" y="-1048757"/>
          <a:ext cx="929571" cy="5720478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latin typeface="+mj-lt"/>
            </a:rPr>
            <a:t>Transaction takes database from one consistent state to another</a:t>
          </a:r>
        </a:p>
      </dsp:txBody>
      <dsp:txXfrm rot="-5400000">
        <a:off x="3008212" y="1392074"/>
        <a:ext cx="5675100" cy="838815"/>
      </dsp:txXfrm>
    </dsp:sp>
    <dsp:sp modelId="{EC454966-F6B9-4D7B-B9E0-D69A3EC32E2C}">
      <dsp:nvSpPr>
        <dsp:cNvPr id="0" name=""/>
        <dsp:cNvSpPr/>
      </dsp:nvSpPr>
      <dsp:spPr>
        <a:xfrm>
          <a:off x="209557" y="1222719"/>
          <a:ext cx="2798654" cy="1161963"/>
        </a:xfrm>
        <a:prstGeom prst="roundRect">
          <a:avLst/>
        </a:prstGeom>
        <a:solidFill>
          <a:schemeClr val="accent6">
            <a:shade val="80000"/>
            <a:hueOff val="-33555"/>
            <a:satOff val="-10296"/>
            <a:lumOff val="855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Consistency</a:t>
          </a:r>
          <a:endParaRPr lang="en-US" sz="2000" kern="1200" dirty="0"/>
        </a:p>
      </dsp:txBody>
      <dsp:txXfrm>
        <a:off x="266279" y="1279441"/>
        <a:ext cx="2685210" cy="1048519"/>
      </dsp:txXfrm>
    </dsp:sp>
    <dsp:sp modelId="{C8B8982B-493C-4280-97E9-D3AEA2413C24}">
      <dsp:nvSpPr>
        <dsp:cNvPr id="0" name=""/>
        <dsp:cNvSpPr/>
      </dsp:nvSpPr>
      <dsp:spPr>
        <a:xfrm rot="5400000">
          <a:off x="5403665" y="171304"/>
          <a:ext cx="929571" cy="5720478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+mj-lt"/>
            </a:rPr>
            <a:t>Data cannot be used by 2</a:t>
          </a:r>
          <a:r>
            <a:rPr lang="en-ZA" sz="2400" kern="1200" baseline="30000" dirty="0">
              <a:latin typeface="+mj-lt"/>
            </a:rPr>
            <a:t>nd</a:t>
          </a:r>
          <a:r>
            <a:rPr lang="en-ZA" sz="2400" kern="1200" dirty="0">
              <a:latin typeface="+mj-lt"/>
            </a:rPr>
            <a:t> transaction until 1</a:t>
          </a:r>
          <a:r>
            <a:rPr lang="en-ZA" sz="2400" kern="1200" baseline="30000" dirty="0">
              <a:latin typeface="+mj-lt"/>
            </a:rPr>
            <a:t>st</a:t>
          </a:r>
          <a:r>
            <a:rPr lang="en-ZA" sz="2400" kern="1200" dirty="0">
              <a:latin typeface="+mj-lt"/>
            </a:rPr>
            <a:t> transaction done with it</a:t>
          </a:r>
          <a:endParaRPr lang="en-US" sz="2400" kern="1200" dirty="0">
            <a:latin typeface="+mj-lt"/>
          </a:endParaRPr>
        </a:p>
      </dsp:txBody>
      <dsp:txXfrm rot="-5400000">
        <a:off x="3008212" y="2612135"/>
        <a:ext cx="5675100" cy="838815"/>
      </dsp:txXfrm>
    </dsp:sp>
    <dsp:sp modelId="{B4720FA1-F339-45E9-86B0-12C571AA286C}">
      <dsp:nvSpPr>
        <dsp:cNvPr id="0" name=""/>
        <dsp:cNvSpPr/>
      </dsp:nvSpPr>
      <dsp:spPr>
        <a:xfrm>
          <a:off x="209557" y="2442781"/>
          <a:ext cx="2798654" cy="1161963"/>
        </a:xfrm>
        <a:prstGeom prst="roundRect">
          <a:avLst/>
        </a:prstGeom>
        <a:solidFill>
          <a:schemeClr val="accent6">
            <a:shade val="80000"/>
            <a:hueOff val="-67110"/>
            <a:satOff val="-20592"/>
            <a:lumOff val="1711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Isolation</a:t>
          </a:r>
          <a:endParaRPr lang="en-US" sz="2000" kern="1200" dirty="0"/>
        </a:p>
      </dsp:txBody>
      <dsp:txXfrm>
        <a:off x="266279" y="2499503"/>
        <a:ext cx="2685210" cy="1048519"/>
      </dsp:txXfrm>
    </dsp:sp>
    <dsp:sp modelId="{953D02E8-3E4F-496C-821F-8A8BF804CF32}">
      <dsp:nvSpPr>
        <dsp:cNvPr id="0" name=""/>
        <dsp:cNvSpPr/>
      </dsp:nvSpPr>
      <dsp:spPr>
        <a:xfrm rot="5400000">
          <a:off x="5403665" y="1383586"/>
          <a:ext cx="929571" cy="5720478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+mj-lt"/>
            </a:rPr>
            <a:t>Once transaction commits, it cannot be undone or lost</a:t>
          </a:r>
          <a:endParaRPr lang="en-US" sz="2400" kern="1200" dirty="0">
            <a:latin typeface="+mj-lt"/>
          </a:endParaRPr>
        </a:p>
      </dsp:txBody>
      <dsp:txXfrm rot="-5400000">
        <a:off x="3008212" y="3824417"/>
        <a:ext cx="5675100" cy="838815"/>
      </dsp:txXfrm>
    </dsp:sp>
    <dsp:sp modelId="{B5644FD3-A666-4A7D-9E13-546957E92902}">
      <dsp:nvSpPr>
        <dsp:cNvPr id="0" name=""/>
        <dsp:cNvSpPr/>
      </dsp:nvSpPr>
      <dsp:spPr>
        <a:xfrm>
          <a:off x="209557" y="3662843"/>
          <a:ext cx="2798654" cy="1161963"/>
        </a:xfrm>
        <a:prstGeom prst="roundRect">
          <a:avLst/>
        </a:prstGeom>
        <a:solidFill>
          <a:schemeClr val="accent6">
            <a:shade val="80000"/>
            <a:hueOff val="-100665"/>
            <a:satOff val="-30888"/>
            <a:lumOff val="2567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Durability</a:t>
          </a:r>
          <a:endParaRPr lang="en-US" sz="2000" kern="1200" dirty="0"/>
        </a:p>
      </dsp:txBody>
      <dsp:txXfrm>
        <a:off x="266279" y="3719565"/>
        <a:ext cx="2685210" cy="1048519"/>
      </dsp:txXfrm>
    </dsp:sp>
    <dsp:sp modelId="{2999A22F-A0AA-4D59-ACCC-A05FE4FF0374}">
      <dsp:nvSpPr>
        <dsp:cNvPr id="0" name=""/>
        <dsp:cNvSpPr/>
      </dsp:nvSpPr>
      <dsp:spPr>
        <a:xfrm rot="5400000">
          <a:off x="5403665" y="2603648"/>
          <a:ext cx="929571" cy="5720478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400" kern="1200" dirty="0">
              <a:latin typeface="+mj-lt"/>
            </a:rPr>
            <a:t>In multi-user and distributed databases: concurrent execution of several transactions yield consistent results</a:t>
          </a:r>
          <a:endParaRPr lang="en-US" sz="2400" kern="1200" dirty="0">
            <a:latin typeface="+mj-lt"/>
          </a:endParaRPr>
        </a:p>
      </dsp:txBody>
      <dsp:txXfrm rot="-5400000">
        <a:off x="3008212" y="5044479"/>
        <a:ext cx="5675100" cy="838815"/>
      </dsp:txXfrm>
    </dsp:sp>
    <dsp:sp modelId="{534AE89D-6FB0-4F29-9F78-6890AE6C60E0}">
      <dsp:nvSpPr>
        <dsp:cNvPr id="0" name=""/>
        <dsp:cNvSpPr/>
      </dsp:nvSpPr>
      <dsp:spPr>
        <a:xfrm>
          <a:off x="209557" y="4882905"/>
          <a:ext cx="2798654" cy="1161963"/>
        </a:xfrm>
        <a:prstGeom prst="roundRect">
          <a:avLst/>
        </a:prstGeom>
        <a:solidFill>
          <a:schemeClr val="accent6">
            <a:shade val="80000"/>
            <a:hueOff val="-134220"/>
            <a:satOff val="-41184"/>
            <a:lumOff val="3422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Serialisability</a:t>
          </a:r>
          <a:endParaRPr lang="en-US" sz="2000" kern="1200" dirty="0"/>
        </a:p>
      </dsp:txBody>
      <dsp:txXfrm>
        <a:off x="266279" y="4939627"/>
        <a:ext cx="2685210" cy="10485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ECB1B-45B2-4B2D-B8DA-A4F7A411E4AC}">
      <dsp:nvSpPr>
        <dsp:cNvPr id="0" name=""/>
        <dsp:cNvSpPr/>
      </dsp:nvSpPr>
      <dsp:spPr>
        <a:xfrm>
          <a:off x="0" y="1980"/>
          <a:ext cx="8233756" cy="1152861"/>
        </a:xfrm>
        <a:prstGeom prst="roundRect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>
              <a:latin typeface="Tw Cen MT" panose="020B0602020104020603" pitchFamily="34" charset="0"/>
            </a:rPr>
            <a:t>Aim to restore database to previous consistent state</a:t>
          </a:r>
          <a:endParaRPr lang="en-US" sz="3200" kern="1200">
            <a:latin typeface="Tw Cen MT" panose="020B0602020104020603" pitchFamily="34" charset="0"/>
          </a:endParaRPr>
        </a:p>
      </dsp:txBody>
      <dsp:txXfrm>
        <a:off x="56278" y="58258"/>
        <a:ext cx="8121200" cy="1040305"/>
      </dsp:txXfrm>
    </dsp:sp>
    <dsp:sp modelId="{FF8D5AA9-2519-48D6-84B9-08FB436DFBCF}">
      <dsp:nvSpPr>
        <dsp:cNvPr id="0" name=""/>
        <dsp:cNvSpPr/>
      </dsp:nvSpPr>
      <dsp:spPr>
        <a:xfrm>
          <a:off x="0" y="1169030"/>
          <a:ext cx="8233756" cy="1152861"/>
        </a:xfrm>
        <a:prstGeom prst="roundRect">
          <a:avLst/>
        </a:prstGeom>
        <a:solidFill>
          <a:schemeClr val="accent6">
            <a:shade val="50000"/>
            <a:hueOff val="-105437"/>
            <a:satOff val="-31005"/>
            <a:lumOff val="3302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>
              <a:latin typeface="Tw Cen MT" panose="020B0602020104020603" pitchFamily="34" charset="0"/>
            </a:rPr>
            <a:t>Recovery based on atomicity</a:t>
          </a:r>
          <a:endParaRPr lang="en-US" sz="3200" kern="1200">
            <a:latin typeface="Tw Cen MT" panose="020B0602020104020603" pitchFamily="34" charset="0"/>
          </a:endParaRPr>
        </a:p>
      </dsp:txBody>
      <dsp:txXfrm>
        <a:off x="56278" y="1225308"/>
        <a:ext cx="8121200" cy="1040305"/>
      </dsp:txXfrm>
    </dsp:sp>
    <dsp:sp modelId="{44A72621-4AEA-4BD3-ACF3-E0A815A54450}">
      <dsp:nvSpPr>
        <dsp:cNvPr id="0" name=""/>
        <dsp:cNvSpPr/>
      </dsp:nvSpPr>
      <dsp:spPr>
        <a:xfrm>
          <a:off x="0" y="2321892"/>
          <a:ext cx="8233756" cy="652696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2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Transaction property ensuring all operations of transactions complete</a:t>
          </a:r>
          <a:endParaRPr lang="en-US" sz="2400" kern="1200">
            <a:latin typeface="Tw Cen MT" panose="020B0602020104020603" pitchFamily="34" charset="0"/>
          </a:endParaRPr>
        </a:p>
      </dsp:txBody>
      <dsp:txXfrm>
        <a:off x="0" y="2321892"/>
        <a:ext cx="8233756" cy="652696"/>
      </dsp:txXfrm>
    </dsp:sp>
    <dsp:sp modelId="{129FC87F-CD67-4A52-865B-A2B48CD3E41E}">
      <dsp:nvSpPr>
        <dsp:cNvPr id="0" name=""/>
        <dsp:cNvSpPr/>
      </dsp:nvSpPr>
      <dsp:spPr>
        <a:xfrm>
          <a:off x="0" y="2974589"/>
          <a:ext cx="8233756" cy="1152861"/>
        </a:xfrm>
        <a:prstGeom prst="roundRect">
          <a:avLst/>
        </a:prstGeom>
        <a:solidFill>
          <a:schemeClr val="accent6">
            <a:shade val="50000"/>
            <a:hueOff val="-105437"/>
            <a:satOff val="-31005"/>
            <a:lumOff val="3302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kern="1200">
              <a:latin typeface="Tw Cen MT" panose="020B0602020104020603" pitchFamily="34" charset="0"/>
            </a:rPr>
            <a:t>Concepts impacting recovery process</a:t>
          </a:r>
          <a:endParaRPr lang="en-US" sz="3200" kern="1200">
            <a:latin typeface="Tw Cen MT" panose="020B0602020104020603" pitchFamily="34" charset="0"/>
          </a:endParaRPr>
        </a:p>
      </dsp:txBody>
      <dsp:txXfrm>
        <a:off x="56278" y="3030867"/>
        <a:ext cx="8121200" cy="1040305"/>
      </dsp:txXfrm>
    </dsp:sp>
    <dsp:sp modelId="{0D95084C-2020-4FE7-8574-854E52F44BBE}">
      <dsp:nvSpPr>
        <dsp:cNvPr id="0" name=""/>
        <dsp:cNvSpPr/>
      </dsp:nvSpPr>
      <dsp:spPr>
        <a:xfrm>
          <a:off x="0" y="4127450"/>
          <a:ext cx="8233756" cy="1468567"/>
        </a:xfrm>
        <a:prstGeom prst="rect">
          <a:avLst/>
        </a:prstGeom>
        <a:noFill/>
        <a:ln w="635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42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Write-ahead-log protocol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>
              <a:latin typeface="Tw Cen MT" panose="020B0602020104020603" pitchFamily="34" charset="0"/>
            </a:rPr>
            <a:t>Redundant transaction logs</a:t>
          </a:r>
          <a:endParaRPr lang="en-US" sz="2400" kern="120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Tw Cen MT" panose="020B0602020104020603" pitchFamily="34" charset="0"/>
            </a:rPr>
            <a:t>Buffers (temp storage area in primary memory)</a:t>
          </a:r>
          <a:endParaRPr lang="en-US" sz="2400" kern="1200" dirty="0">
            <a:latin typeface="Tw Cen MT" panose="020B06020201040206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ZA" sz="2400" kern="1200" dirty="0">
              <a:latin typeface="Tw Cen MT" panose="020B0602020104020603" pitchFamily="34" charset="0"/>
            </a:rPr>
            <a:t>Checkpoints (operation writing buffer updates to disk)</a:t>
          </a:r>
          <a:endParaRPr lang="en-US" sz="2400" kern="1200" dirty="0">
            <a:latin typeface="Tw Cen MT" panose="020B0602020104020603" pitchFamily="34" charset="0"/>
          </a:endParaRPr>
        </a:p>
      </dsp:txBody>
      <dsp:txXfrm>
        <a:off x="0" y="4127450"/>
        <a:ext cx="8233756" cy="14685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4/22/2026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30496" y="6700324"/>
            <a:ext cx="3785205" cy="93684"/>
          </a:xfrm>
          <a:prstGeom prst="rect">
            <a:avLst/>
          </a:prstGeom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53439" y="6660000"/>
            <a:ext cx="3790250" cy="180000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922511" y="6676120"/>
            <a:ext cx="3755867" cy="143999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853980" y="6650007"/>
            <a:ext cx="3740419" cy="194317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22014"/>
            <a:ext cx="3807232" cy="255683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08467" y="6678000"/>
            <a:ext cx="3633501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08466" y="6678000"/>
            <a:ext cx="3685934" cy="144001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Chapter 12 - Managing Transactions and Concurrency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06992" y="6677338"/>
            <a:ext cx="3789833" cy="144000"/>
          </a:xfrm>
          <a:prstGeom prst="rect">
            <a:avLst/>
          </a:prstGeom>
          <a:noFill/>
        </p:spPr>
        <p:txBody>
          <a:bodyPr vert="horz" lIns="36000" tIns="0" rIns="0" bIns="0" rtlCol="0" anchor="ctr"/>
          <a:lstStyle>
            <a:lvl1pPr algn="l">
              <a:defRPr sz="11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pik.com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701965"/>
            <a:ext cx="4007769" cy="2807998"/>
          </a:xfrm>
        </p:spPr>
        <p:txBody>
          <a:bodyPr/>
          <a:lstStyle/>
          <a:p>
            <a:r>
              <a:rPr lang="en-US" sz="4800" dirty="0"/>
              <a:t>Managing Transactions and Concurrency Control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23 April 2026</a:t>
            </a:r>
          </a:p>
          <a:p>
            <a:r>
              <a:rPr lang="en-US" noProof="1"/>
              <a:t>Lynette Barnard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D243359-CBEA-4C3C-8024-4EDF4953F8F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CABF-DDF7-3FFB-E6F7-4DB86515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Transactions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8097F-C569-7283-0203-18233A633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cap="none" spc="100" dirty="0"/>
              <a:t>Logical </a:t>
            </a:r>
            <a:r>
              <a:rPr lang="en-ZA" sz="2400" i="1" cap="none" spc="100" dirty="0"/>
              <a:t>unit of work</a:t>
            </a:r>
          </a:p>
          <a:p>
            <a:endParaRPr lang="en-ZA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1A65B-DE85-8DF3-EE38-F6313A4D08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ZA" sz="2400" cap="none" spc="100" dirty="0"/>
              <a:t>Completed in its entirety; or aborted</a:t>
            </a:r>
          </a:p>
          <a:p>
            <a:r>
              <a:rPr lang="en-ZA" sz="2400" cap="none" spc="100" dirty="0"/>
              <a:t>Reflects real-world transactions</a:t>
            </a:r>
          </a:p>
          <a:p>
            <a:r>
              <a:rPr lang="en-ZA" sz="2400" cap="none" spc="100" dirty="0"/>
              <a:t>Triggered by an event</a:t>
            </a:r>
          </a:p>
          <a:p>
            <a:pPr lvl="1"/>
            <a:r>
              <a:rPr lang="en-ZA" sz="2400" cap="none" spc="100" dirty="0"/>
              <a:t>E.g. when you withdraw money at ATM</a:t>
            </a:r>
          </a:p>
          <a:p>
            <a:r>
              <a:rPr lang="en-ZA" sz="2400" cap="none" spc="100" dirty="0"/>
              <a:t>Typically formed by multiple requests</a:t>
            </a:r>
          </a:p>
          <a:p>
            <a:pPr lvl="1"/>
            <a:r>
              <a:rPr lang="en-ZA" sz="2400" cap="none" spc="100" dirty="0"/>
              <a:t>E.g. authenticate client; check funds; if ok, not </a:t>
            </a:r>
            <a:r>
              <a:rPr lang="en-ZA" sz="2400" spc="100" dirty="0"/>
              <a:t>updated balance; dispense funds; finalise balance</a:t>
            </a:r>
            <a:endParaRPr lang="en-ZA" sz="2400" cap="none" spc="100" dirty="0"/>
          </a:p>
          <a:p>
            <a:r>
              <a:rPr lang="en-ZA" sz="2400" cap="none" spc="100" dirty="0"/>
              <a:t>Takes database from one consistent state to another</a:t>
            </a:r>
          </a:p>
          <a:p>
            <a:r>
              <a:rPr lang="en-ZA" sz="2400" cap="none" spc="100" dirty="0"/>
              <a:t>Often SQL used to represent transactions</a:t>
            </a:r>
            <a:endParaRPr lang="en-ZA" dirty="0"/>
          </a:p>
        </p:txBody>
      </p:sp>
      <p:pic>
        <p:nvPicPr>
          <p:cNvPr id="9" name="Picture Placeholder 8" descr="A pencil next to a check box&#10;&#10;Description automatically generated">
            <a:extLst>
              <a:ext uri="{FF2B5EF4-FFF2-40B4-BE49-F238E27FC236}">
                <a16:creationId xmlns:a16="http://schemas.microsoft.com/office/drawing/2014/main" id="{5EFE096C-CD0A-79E0-4D9B-39DAF77620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3668" r="23668"/>
          <a:stretch>
            <a:fillRect/>
          </a:stretch>
        </p:blipFill>
        <p:spPr/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BA7F9-AC4E-25CD-916E-981178A3A9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79C7AD-C7C3-9073-E3A1-63E0F814BD7C}"/>
              </a:ext>
            </a:extLst>
          </p:cNvPr>
          <p:cNvSpPr txBox="1"/>
          <p:nvPr/>
        </p:nvSpPr>
        <p:spPr>
          <a:xfrm>
            <a:off x="11004705" y="6420073"/>
            <a:ext cx="10214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900" dirty="0">
                <a:hlinkClick r:id="rId3"/>
              </a:rPr>
              <a:t>www.freepik.com</a:t>
            </a:r>
            <a:endParaRPr lang="en-ZA" sz="900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0FCD17-E809-DD26-3695-E27240FEDF6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32662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2D69D-D1C9-066B-2837-4E30A3D4F72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</a:t>
            </a:fld>
            <a:endParaRPr lang="en-US" noProof="0"/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2EDED071-D18A-067F-A1C7-4260AF91A3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607362"/>
              </p:ext>
            </p:extLst>
          </p:nvPr>
        </p:nvGraphicFramePr>
        <p:xfrm>
          <a:off x="3175486" y="333730"/>
          <a:ext cx="8938247" cy="6047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58D5B3FB-F424-365C-4444-702CBF81E269}"/>
              </a:ext>
            </a:extLst>
          </p:cNvPr>
          <p:cNvSpPr txBox="1">
            <a:spLocks/>
          </p:cNvSpPr>
          <p:nvPr/>
        </p:nvSpPr>
        <p:spPr>
          <a:xfrm>
            <a:off x="208895" y="1340271"/>
            <a:ext cx="2831967" cy="3633787"/>
          </a:xfrm>
          <a:prstGeom prst="ellipse">
            <a:avLst/>
          </a:prstGeom>
          <a:solidFill>
            <a:schemeClr val="accent6"/>
          </a:solidFill>
          <a:ln w="174625" cmpd="thinThick">
            <a:solidFill>
              <a:schemeClr val="accent6">
                <a:lumMod val="5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ea typeface="+mj-ea"/>
                <a:cs typeface="+mj-cs"/>
              </a:rPr>
              <a:t>Transaction properties:</a:t>
            </a:r>
            <a:br>
              <a:rPr lang="en-US" sz="2600" dirty="0">
                <a:solidFill>
                  <a:srgbClr val="FFFFFF"/>
                </a:solidFill>
                <a:ea typeface="+mj-ea"/>
                <a:cs typeface="+mj-cs"/>
              </a:rPr>
            </a:br>
            <a:r>
              <a:rPr lang="en-US" sz="2600" dirty="0">
                <a:solidFill>
                  <a:srgbClr val="FFFFFF"/>
                </a:solidFill>
                <a:ea typeface="+mj-ea"/>
                <a:cs typeface="+mj-cs"/>
              </a:rPr>
              <a:t>ACIDs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9F2A563-6702-44E0-7FE4-5D72E95D121C}"/>
              </a:ext>
            </a:extLst>
          </p:cNvPr>
          <p:cNvSpPr txBox="1">
            <a:spLocks/>
          </p:cNvSpPr>
          <p:nvPr/>
        </p:nvSpPr>
        <p:spPr>
          <a:xfrm>
            <a:off x="7805395" y="6641402"/>
            <a:ext cx="3789006" cy="19859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i="1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i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Chapter 12 - </a:t>
            </a:r>
            <a:r>
              <a:rPr lang="en-ZA" sz="1100" i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Managing Transactions and Concurrency Control</a:t>
            </a:r>
            <a:endParaRPr lang="en-US" sz="1100" i="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676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Serialisability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3F7D7E-DAF1-EE9C-2536-2204CBD848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r>
              <a:rPr lang="en-ZA" sz="2800" dirty="0"/>
              <a:t>T1 and T2 each has “own” memory space for data values</a:t>
            </a:r>
          </a:p>
          <a:p>
            <a:pPr lvl="1"/>
            <a:r>
              <a:rPr lang="en-ZA" sz="2400" dirty="0"/>
              <a:t>T1 and T2 not “aware” of contents of memory space of the other T</a:t>
            </a:r>
          </a:p>
          <a:p>
            <a:r>
              <a:rPr lang="en-ZA" sz="2800" dirty="0"/>
              <a:t>Final data item values should be the same at end of execution for each case</a:t>
            </a:r>
          </a:p>
          <a:p>
            <a:pPr lvl="1"/>
            <a:r>
              <a:rPr lang="en-ZA" sz="2400" dirty="0"/>
              <a:t>Case 1 - T1 executes entirely; then T2 executes entirely</a:t>
            </a:r>
          </a:p>
          <a:p>
            <a:pPr lvl="1"/>
            <a:r>
              <a:rPr lang="en-ZA" sz="2400" dirty="0"/>
              <a:t>Case 2 - T2 executes entirely; then T1 executes entirely</a:t>
            </a:r>
          </a:p>
          <a:p>
            <a:pPr lvl="1"/>
            <a:r>
              <a:rPr lang="en-ZA" sz="2400" dirty="0"/>
              <a:t>Case 3 - T1 and T2 interleave, as submitted to scheduler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869CA5FB-8261-D348-9E51-4ED6268AA3EB}"/>
              </a:ext>
            </a:extLst>
          </p:cNvPr>
          <p:cNvSpPr/>
          <p:nvPr/>
        </p:nvSpPr>
        <p:spPr>
          <a:xfrm>
            <a:off x="8313621" y="46037"/>
            <a:ext cx="3579929" cy="151811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400" dirty="0">
                <a:solidFill>
                  <a:schemeClr val="bg1"/>
                </a:solidFill>
                <a:latin typeface="+mj-lt"/>
              </a:rPr>
              <a:t>2 transactions – T1 and T2</a:t>
            </a:r>
          </a:p>
          <a:p>
            <a:pPr algn="ctr"/>
            <a:r>
              <a:rPr lang="en-ZA" sz="2400" dirty="0">
                <a:solidFill>
                  <a:schemeClr val="bg1"/>
                </a:solidFill>
                <a:latin typeface="+mj-lt"/>
              </a:rPr>
              <a:t>Share data items</a:t>
            </a:r>
          </a:p>
        </p:txBody>
      </p:sp>
    </p:spTree>
    <p:extLst>
      <p:ext uri="{BB962C8B-B14F-4D97-AF65-F5344CB8AC3E}">
        <p14:creationId xmlns:p14="http://schemas.microsoft.com/office/powerpoint/2010/main" val="261282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Serialisability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C5664D-C65C-F946-51D3-FDB68F706B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How to test for serialisability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1619250"/>
            <a:ext cx="6644738" cy="4500563"/>
          </a:xfrm>
        </p:spPr>
        <p:txBody>
          <a:bodyPr/>
          <a:lstStyle/>
          <a:p>
            <a:r>
              <a:rPr lang="en-ZA" sz="2400" dirty="0"/>
              <a:t>Test with starting values, e.g.</a:t>
            </a:r>
          </a:p>
          <a:p>
            <a:pPr lvl="1"/>
            <a:r>
              <a:rPr lang="en-ZA" sz="2000" dirty="0"/>
              <a:t>A = 5</a:t>
            </a:r>
          </a:p>
          <a:p>
            <a:pPr lvl="1"/>
            <a:r>
              <a:rPr lang="en-ZA" sz="2000" dirty="0"/>
              <a:t>B = 6</a:t>
            </a:r>
          </a:p>
          <a:p>
            <a:r>
              <a:rPr lang="en-ZA" sz="2400" dirty="0"/>
              <a:t>Check (for our </a:t>
            </a:r>
            <a:r>
              <a:rPr lang="en-ZA" sz="2400" dirty="0" err="1"/>
              <a:t>purposeWRITE</a:t>
            </a:r>
            <a:r>
              <a:rPr lang="en-ZA" sz="2400" dirty="0"/>
              <a:t> updates database)</a:t>
            </a:r>
          </a:p>
          <a:p>
            <a:pPr lvl="1"/>
            <a:r>
              <a:rPr lang="en-ZA" sz="2000" dirty="0"/>
              <a:t>Case 1: T1 completes; then T2</a:t>
            </a:r>
          </a:p>
          <a:p>
            <a:pPr lvl="1"/>
            <a:r>
              <a:rPr lang="en-ZA" sz="2000" dirty="0"/>
              <a:t>Case 2: T2 completes; then T1</a:t>
            </a:r>
          </a:p>
          <a:p>
            <a:pPr lvl="1"/>
            <a:r>
              <a:rPr lang="en-ZA" sz="2000" dirty="0"/>
              <a:t>Case 3: T1 and T2 interleave</a:t>
            </a:r>
          </a:p>
          <a:p>
            <a:r>
              <a:rPr lang="en-ZA" sz="2400" dirty="0"/>
              <a:t>Compare values of A and B after each case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5</a:t>
            </a:fld>
            <a:endParaRPr lang="en-US" noProof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15E54EB-8F93-CDA2-E20E-8D1F9A9BA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928669"/>
              </p:ext>
            </p:extLst>
          </p:nvPr>
        </p:nvGraphicFramePr>
        <p:xfrm>
          <a:off x="7375250" y="900113"/>
          <a:ext cx="4135008" cy="4938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2119985">
                  <a:extLst>
                    <a:ext uri="{9D8B030D-6E8A-4147-A177-3AD203B41FA5}">
                      <a16:colId xmlns:a16="http://schemas.microsoft.com/office/drawing/2014/main" val="1345989524"/>
                    </a:ext>
                  </a:extLst>
                </a:gridCol>
                <a:gridCol w="2015023">
                  <a:extLst>
                    <a:ext uri="{9D8B030D-6E8A-4147-A177-3AD203B41FA5}">
                      <a16:colId xmlns:a16="http://schemas.microsoft.com/office/drawing/2014/main" val="3384347039"/>
                    </a:ext>
                  </a:extLst>
                </a:gridCol>
              </a:tblGrid>
              <a:tr h="5487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 dirty="0">
                          <a:effectLst/>
                          <a:latin typeface="+mj-lt"/>
                        </a:rPr>
                        <a:t>T1</a:t>
                      </a:r>
                      <a:endParaRPr lang="en-ZA" sz="3300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T2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404648091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 dirty="0">
                          <a:effectLst/>
                          <a:latin typeface="+mj-lt"/>
                        </a:rPr>
                        <a:t>Read A</a:t>
                      </a:r>
                      <a:endParaRPr lang="en-ZA" sz="3300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3587932462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Read B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1056240540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Read A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1843992258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 dirty="0">
                          <a:effectLst/>
                          <a:latin typeface="+mj-lt"/>
                        </a:rPr>
                        <a:t>A = B - A</a:t>
                      </a:r>
                      <a:endParaRPr lang="en-ZA" sz="3300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367175573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Write A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3416038218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Read B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4166909568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B = B + A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 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1686336793"/>
                  </a:ext>
                </a:extLst>
              </a:tr>
              <a:tr h="5487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>
                          <a:effectLst/>
                          <a:latin typeface="+mj-lt"/>
                        </a:rPr>
                        <a:t>Write B</a:t>
                      </a:r>
                      <a:endParaRPr lang="en-ZA" sz="330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300"/>
                        </a:spcAft>
                      </a:pPr>
                      <a:r>
                        <a:rPr lang="en-US" sz="3300" dirty="0">
                          <a:effectLst/>
                          <a:latin typeface="+mj-lt"/>
                        </a:rPr>
                        <a:t> </a:t>
                      </a:r>
                      <a:endParaRPr lang="en-ZA" sz="3300" dirty="0">
                        <a:effectLst/>
                        <a:latin typeface="+mj-lt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80972" marR="80972" marT="0" marB="0"/>
                </a:tc>
                <a:extLst>
                  <a:ext uri="{0D108BD9-81ED-4DB2-BD59-A6C34878D82A}">
                    <a16:rowId xmlns:a16="http://schemas.microsoft.com/office/drawing/2014/main" val="673851953"/>
                  </a:ext>
                </a:extLst>
              </a:tr>
            </a:tbl>
          </a:graphicData>
        </a:graphic>
      </p:graphicFrame>
      <p:sp>
        <p:nvSpPr>
          <p:cNvPr id="3" name="Arrow: Down 2">
            <a:extLst>
              <a:ext uri="{FF2B5EF4-FFF2-40B4-BE49-F238E27FC236}">
                <a16:creationId xmlns:a16="http://schemas.microsoft.com/office/drawing/2014/main" id="{AADC4576-84CB-43E8-BC70-58465C27F954}"/>
              </a:ext>
            </a:extLst>
          </p:cNvPr>
          <p:cNvSpPr/>
          <p:nvPr/>
        </p:nvSpPr>
        <p:spPr>
          <a:xfrm>
            <a:off x="9125527" y="1533236"/>
            <a:ext cx="323273" cy="424476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10D791D-2AB1-449B-9C3C-62143F3153CE}"/>
              </a:ext>
            </a:extLst>
          </p:cNvPr>
          <p:cNvSpPr/>
          <p:nvPr/>
        </p:nvSpPr>
        <p:spPr>
          <a:xfrm>
            <a:off x="11199077" y="1557900"/>
            <a:ext cx="323273" cy="4244764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619056D-D1B3-423A-A5C7-A2718582906F}"/>
              </a:ext>
            </a:extLst>
          </p:cNvPr>
          <p:cNvSpPr/>
          <p:nvPr/>
        </p:nvSpPr>
        <p:spPr>
          <a:xfrm>
            <a:off x="4062927" y="3146927"/>
            <a:ext cx="125095" cy="27940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D22A98B4-A487-433D-BD7D-8472AF11BA59}"/>
              </a:ext>
            </a:extLst>
          </p:cNvPr>
          <p:cNvSpPr/>
          <p:nvPr/>
        </p:nvSpPr>
        <p:spPr>
          <a:xfrm>
            <a:off x="9120522" y="1526900"/>
            <a:ext cx="323273" cy="4244764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2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D290284-3B26-452D-872D-20FCF4BF7BF6}"/>
              </a:ext>
            </a:extLst>
          </p:cNvPr>
          <p:cNvSpPr/>
          <p:nvPr/>
        </p:nvSpPr>
        <p:spPr>
          <a:xfrm>
            <a:off x="11204082" y="1557532"/>
            <a:ext cx="323273" cy="4244764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6E1638D-D7A4-4FA2-8CCA-1574F098EDE0}"/>
              </a:ext>
            </a:extLst>
          </p:cNvPr>
          <p:cNvSpPr/>
          <p:nvPr/>
        </p:nvSpPr>
        <p:spPr>
          <a:xfrm>
            <a:off x="4062927" y="3521784"/>
            <a:ext cx="125095" cy="279400"/>
          </a:xfrm>
          <a:prstGeom prst="dow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0FA52731-2FC6-4D78-ADD9-8AFCE7BFB869}"/>
              </a:ext>
            </a:extLst>
          </p:cNvPr>
          <p:cNvSpPr/>
          <p:nvPr/>
        </p:nvSpPr>
        <p:spPr>
          <a:xfrm>
            <a:off x="4023469" y="3883819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86ED7508-E79F-4026-B40E-3B80D37A17F0}"/>
              </a:ext>
            </a:extLst>
          </p:cNvPr>
          <p:cNvSpPr/>
          <p:nvPr/>
        </p:nvSpPr>
        <p:spPr>
          <a:xfrm>
            <a:off x="8797580" y="1657484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AB2E8F8C-0D6C-444D-97F1-684FA6798F6D}"/>
              </a:ext>
            </a:extLst>
          </p:cNvPr>
          <p:cNvSpPr/>
          <p:nvPr/>
        </p:nvSpPr>
        <p:spPr>
          <a:xfrm>
            <a:off x="10873278" y="2214007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DA9D384D-9D44-40DB-A74B-1CD2FF67D523}"/>
              </a:ext>
            </a:extLst>
          </p:cNvPr>
          <p:cNvSpPr/>
          <p:nvPr/>
        </p:nvSpPr>
        <p:spPr>
          <a:xfrm>
            <a:off x="10873278" y="2748164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A0B91325-D29C-496E-86B7-8DC7779FF5CC}"/>
              </a:ext>
            </a:extLst>
          </p:cNvPr>
          <p:cNvSpPr/>
          <p:nvPr/>
        </p:nvSpPr>
        <p:spPr>
          <a:xfrm>
            <a:off x="11258708" y="3247969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DB187674-258B-42B6-BFD4-C9C0B83591D2}"/>
              </a:ext>
            </a:extLst>
          </p:cNvPr>
          <p:cNvSpPr/>
          <p:nvPr/>
        </p:nvSpPr>
        <p:spPr>
          <a:xfrm>
            <a:off x="10934173" y="3822041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C91904E3-3349-49B8-9060-2A1482816364}"/>
              </a:ext>
            </a:extLst>
          </p:cNvPr>
          <p:cNvSpPr/>
          <p:nvPr/>
        </p:nvSpPr>
        <p:spPr>
          <a:xfrm>
            <a:off x="8760383" y="4399080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E43CAE40-26A5-488F-B641-537C0F0B9DC6}"/>
              </a:ext>
            </a:extLst>
          </p:cNvPr>
          <p:cNvSpPr/>
          <p:nvPr/>
        </p:nvSpPr>
        <p:spPr>
          <a:xfrm>
            <a:off x="9180153" y="4899593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1EE19001-2386-4A2D-8E4D-3CE52C7E9B57}"/>
              </a:ext>
            </a:extLst>
          </p:cNvPr>
          <p:cNvSpPr/>
          <p:nvPr/>
        </p:nvSpPr>
        <p:spPr>
          <a:xfrm>
            <a:off x="8838448" y="5482583"/>
            <a:ext cx="204009" cy="192505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903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9" grpId="0" animBg="1"/>
      <p:bldP spid="9" grpId="1" animBg="1"/>
      <p:bldP spid="7" grpId="0" animBg="1"/>
      <p:bldP spid="7" grpId="1" animBg="1"/>
      <p:bldP spid="11" grpId="0" animBg="1"/>
      <p:bldP spid="11" grpId="1" animBg="1"/>
      <p:bldP spid="12" grpId="0" animBg="1"/>
      <p:bldP spid="12" grpId="1" animBg="1"/>
      <p:bldP spid="8" grpId="0" animBg="1"/>
      <p:bldP spid="8" grpId="1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dirty="0"/>
              <a:t>Transaction log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1018095"/>
            <a:ext cx="11401979" cy="5479905"/>
          </a:xfrm>
        </p:spPr>
        <p:txBody>
          <a:bodyPr/>
          <a:lstStyle/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BEGIN TRANSACTION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INVOICE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VALUES (55, ‘8807’, ’23-Apr-2026’, 115); </a:t>
            </a:r>
            <a:endParaRPr lang="en-ZA" sz="2000" dirty="0">
              <a:latin typeface="Tw Cen MT" panose="020B0602020104020603" pitchFamily="34" charset="0"/>
              <a:cs typeface="Calibri"/>
            </a:endParaRP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LINE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VALUES (55, 1, ‘XXAX’, 1, 100.00);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PRODUCT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– 1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pCode</a:t>
            </a:r>
            <a:r>
              <a:rPr lang="en-ZA" sz="2000" dirty="0">
                <a:latin typeface="Tw Cen MT" panose="020B0602020104020603" pitchFamily="34" charset="0"/>
              </a:rPr>
              <a:t> = ‘XXAX’;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CUSTOMER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cPurDate</a:t>
            </a:r>
            <a:r>
              <a:rPr lang="en-ZA" sz="2000" dirty="0">
                <a:latin typeface="Tw Cen MT" panose="020B0602020104020603" pitchFamily="34" charset="0"/>
              </a:rPr>
              <a:t> = ’23-Apr-2026’,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+115 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cCode</a:t>
            </a:r>
            <a:r>
              <a:rPr lang="en-ZA" sz="2000" dirty="0">
                <a:latin typeface="Tw Cen MT" panose="020B0602020104020603" pitchFamily="34" charset="0"/>
              </a:rPr>
              <a:t> = ‘8807’;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COMMIT; </a:t>
            </a:r>
          </a:p>
          <a:p>
            <a:endParaRPr lang="en-ZA" sz="1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6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4D5D0A-34B7-3AF1-9DEC-3CCAAEFD06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82347" y="97677"/>
            <a:ext cx="5731510" cy="1604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63132F-6ECC-42E9-B79A-6DAF16C3A5C0}"/>
              </a:ext>
            </a:extLst>
          </p:cNvPr>
          <p:cNvSpPr txBox="1"/>
          <p:nvPr/>
        </p:nvSpPr>
        <p:spPr>
          <a:xfrm>
            <a:off x="8433211" y="2031524"/>
            <a:ext cx="35775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pQoH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cBal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cPurDate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14-Mar-2025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36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dirty="0"/>
              <a:t>Transaction log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3132F-6ECC-42E9-B79A-6DAF16C3A5C0}"/>
              </a:ext>
            </a:extLst>
          </p:cNvPr>
          <p:cNvSpPr txBox="1"/>
          <p:nvPr/>
        </p:nvSpPr>
        <p:spPr>
          <a:xfrm>
            <a:off x="8475899" y="106939"/>
            <a:ext cx="3577557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pQoH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cBal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300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cPurDate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14-Mar-2025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3ACBA-383D-A5DE-D748-C65CA8F7D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07" y="80200"/>
            <a:ext cx="2729236" cy="209453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6187AA-D32B-DA02-753F-162A856F6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094534"/>
              </p:ext>
            </p:extLst>
          </p:nvPr>
        </p:nvGraphicFramePr>
        <p:xfrm>
          <a:off x="220183" y="2174730"/>
          <a:ext cx="11751634" cy="4020755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598918">
                  <a:extLst>
                    <a:ext uri="{9D8B030D-6E8A-4147-A177-3AD203B41FA5}">
                      <a16:colId xmlns:a16="http://schemas.microsoft.com/office/drawing/2014/main" val="440545353"/>
                    </a:ext>
                  </a:extLst>
                </a:gridCol>
                <a:gridCol w="699489">
                  <a:extLst>
                    <a:ext uri="{9D8B030D-6E8A-4147-A177-3AD203B41FA5}">
                      <a16:colId xmlns:a16="http://schemas.microsoft.com/office/drawing/2014/main" val="1861767628"/>
                    </a:ext>
                  </a:extLst>
                </a:gridCol>
                <a:gridCol w="761668">
                  <a:extLst>
                    <a:ext uri="{9D8B030D-6E8A-4147-A177-3AD203B41FA5}">
                      <a16:colId xmlns:a16="http://schemas.microsoft.com/office/drawing/2014/main" val="1818746124"/>
                    </a:ext>
                  </a:extLst>
                </a:gridCol>
                <a:gridCol w="620618">
                  <a:extLst>
                    <a:ext uri="{9D8B030D-6E8A-4147-A177-3AD203B41FA5}">
                      <a16:colId xmlns:a16="http://schemas.microsoft.com/office/drawing/2014/main" val="1327125236"/>
                    </a:ext>
                  </a:extLst>
                </a:gridCol>
                <a:gridCol w="1190082">
                  <a:extLst>
                    <a:ext uri="{9D8B030D-6E8A-4147-A177-3AD203B41FA5}">
                      <a16:colId xmlns:a16="http://schemas.microsoft.com/office/drawing/2014/main" val="2901366308"/>
                    </a:ext>
                  </a:extLst>
                </a:gridCol>
                <a:gridCol w="1300097">
                  <a:extLst>
                    <a:ext uri="{9D8B030D-6E8A-4147-A177-3AD203B41FA5}">
                      <a16:colId xmlns:a16="http://schemas.microsoft.com/office/drawing/2014/main" val="3282236176"/>
                    </a:ext>
                  </a:extLst>
                </a:gridCol>
                <a:gridCol w="1118359">
                  <a:extLst>
                    <a:ext uri="{9D8B030D-6E8A-4147-A177-3AD203B41FA5}">
                      <a16:colId xmlns:a16="http://schemas.microsoft.com/office/drawing/2014/main" val="3158375879"/>
                    </a:ext>
                  </a:extLst>
                </a:gridCol>
                <a:gridCol w="1137999">
                  <a:extLst>
                    <a:ext uri="{9D8B030D-6E8A-4147-A177-3AD203B41FA5}">
                      <a16:colId xmlns:a16="http://schemas.microsoft.com/office/drawing/2014/main" val="1658201467"/>
                    </a:ext>
                  </a:extLst>
                </a:gridCol>
                <a:gridCol w="1505754">
                  <a:extLst>
                    <a:ext uri="{9D8B030D-6E8A-4147-A177-3AD203B41FA5}">
                      <a16:colId xmlns:a16="http://schemas.microsoft.com/office/drawing/2014/main" val="428697098"/>
                    </a:ext>
                  </a:extLst>
                </a:gridCol>
                <a:gridCol w="2818650">
                  <a:extLst>
                    <a:ext uri="{9D8B030D-6E8A-4147-A177-3AD203B41FA5}">
                      <a16:colId xmlns:a16="http://schemas.microsoft.com/office/drawing/2014/main" val="1319873070"/>
                    </a:ext>
                  </a:extLst>
                </a:gridCol>
              </a:tblGrid>
              <a:tr h="729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TRL ID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TRX NUM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PREV PTR</a:t>
                      </a:r>
                      <a:endParaRPr lang="en-ZA" sz="1400" b="0" cap="none" spc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NXT PTR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OPERATION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TABLE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ROW ID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ATTRIBUTE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BEFORE VALUE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b="0" cap="none" spc="0" dirty="0">
                          <a:solidFill>
                            <a:schemeClr val="bg1"/>
                          </a:solidFill>
                          <a:effectLst/>
                        </a:rPr>
                        <a:t>AFTER VALUE</a:t>
                      </a:r>
                      <a:endParaRPr lang="en-ZA" sz="1400" b="0" cap="none" spc="0" dirty="0">
                        <a:solidFill>
                          <a:schemeClr val="bg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01391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987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988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START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*Start TRX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196875"/>
                  </a:ext>
                </a:extLst>
              </a:tr>
              <a:tr h="49232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988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987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989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INSERT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INVOICE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55,8807,23-Apr-2026,115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074681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989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988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990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INSERT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LINE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55,1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55,1,XXAX,1,100.00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229693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990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989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UPDATE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PRODUCT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XXAX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err="1">
                          <a:solidFill>
                            <a:schemeClr val="tx1"/>
                          </a:solidFill>
                          <a:effectLst/>
                        </a:rPr>
                        <a:t>pQoH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40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39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838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991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990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992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UPDATE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8807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err="1">
                          <a:solidFill>
                            <a:schemeClr val="tx1"/>
                          </a:solidFill>
                          <a:effectLst/>
                        </a:rPr>
                        <a:t>cBal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300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415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263053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992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993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UPDATE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8807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 err="1">
                          <a:solidFill>
                            <a:schemeClr val="tx1"/>
                          </a:solidFill>
                          <a:effectLst/>
                        </a:rPr>
                        <a:t>cPurDate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14-Mar-2025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23-Apr-2026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627648"/>
                  </a:ext>
                </a:extLst>
              </a:tr>
              <a:tr h="46647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993</a:t>
                      </a:r>
                      <a:endParaRPr lang="en-ZA" sz="1400" cap="none" spc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101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992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Null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Commit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ZA" sz="1400" cap="none" spc="0" dirty="0">
                          <a:solidFill>
                            <a:schemeClr val="tx1"/>
                          </a:solidFill>
                          <a:effectLst/>
                        </a:rPr>
                        <a:t>*End TRX</a:t>
                      </a: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ZA" sz="1400" cap="none" spc="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 panose="02020603050405020304" pitchFamily="18" charset="0"/>
                        <a:cs typeface="Calibri"/>
                      </a:endParaRPr>
                    </a:p>
                  </a:txBody>
                  <a:tcPr marL="104418" marR="48975" marT="80321" marB="8032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269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701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EDE8-A2DA-D666-6579-47FC2CFF9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dirty="0"/>
              <a:t>Concurrency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74CC0-C48B-79EE-AAF6-7582091F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3" y="1619250"/>
            <a:ext cx="5833047" cy="4500563"/>
          </a:xfrm>
        </p:spPr>
        <p:txBody>
          <a:bodyPr/>
          <a:lstStyle/>
          <a:p>
            <a:r>
              <a:rPr lang="en-ZA" sz="2800" dirty="0"/>
              <a:t>Some examples covered in videos</a:t>
            </a:r>
          </a:p>
          <a:p>
            <a:pPr lvl="1"/>
            <a:r>
              <a:rPr lang="en-ZA" sz="2400" dirty="0"/>
              <a:t>Lost updates</a:t>
            </a:r>
          </a:p>
          <a:p>
            <a:pPr lvl="1"/>
            <a:r>
              <a:rPr lang="en-ZA" sz="2400" dirty="0"/>
              <a:t>Uncommitted data</a:t>
            </a:r>
          </a:p>
          <a:p>
            <a:pPr lvl="1"/>
            <a:r>
              <a:rPr lang="en-ZA" sz="2400" dirty="0"/>
              <a:t>Inconsistent retrievals</a:t>
            </a:r>
          </a:p>
          <a:p>
            <a:r>
              <a:rPr lang="en-ZA" sz="2800" dirty="0"/>
              <a:t>Scheduler facilitates data item isolation</a:t>
            </a:r>
          </a:p>
          <a:p>
            <a:pPr lvl="1"/>
            <a:r>
              <a:rPr lang="en-ZA" sz="2400" dirty="0">
                <a:solidFill>
                  <a:srgbClr val="C00000"/>
                </a:solidFill>
              </a:rPr>
              <a:t>Conflict</a:t>
            </a:r>
            <a:r>
              <a:rPr lang="en-ZA" sz="2400" dirty="0"/>
              <a:t> if </a:t>
            </a:r>
            <a:r>
              <a:rPr lang="en-ZA" sz="2400" dirty="0">
                <a:solidFill>
                  <a:srgbClr val="C00000"/>
                </a:solidFill>
              </a:rPr>
              <a:t>two</a:t>
            </a:r>
            <a:r>
              <a:rPr lang="en-ZA" sz="2400" dirty="0"/>
              <a:t> operations </a:t>
            </a:r>
            <a:r>
              <a:rPr lang="en-ZA" sz="2400" dirty="0">
                <a:solidFill>
                  <a:srgbClr val="C00000"/>
                </a:solidFill>
              </a:rPr>
              <a:t>access same data item</a:t>
            </a:r>
            <a:r>
              <a:rPr lang="en-ZA" sz="2400" dirty="0"/>
              <a:t> and </a:t>
            </a:r>
            <a:r>
              <a:rPr lang="en-ZA" sz="2400" dirty="0">
                <a:solidFill>
                  <a:srgbClr val="C00000"/>
                </a:solidFill>
              </a:rPr>
              <a:t>at least one </a:t>
            </a:r>
            <a:r>
              <a:rPr lang="en-ZA" sz="2400" dirty="0"/>
              <a:t>operation is </a:t>
            </a:r>
            <a:r>
              <a:rPr lang="en-ZA" sz="2400" dirty="0">
                <a:solidFill>
                  <a:srgbClr val="C00000"/>
                </a:solidFill>
              </a:rPr>
              <a:t>WRITE</a:t>
            </a:r>
          </a:p>
          <a:p>
            <a:endParaRPr lang="en-Z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DAACC-1A5A-9C7C-6401-173EFBFE063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C9AA5-A2CB-C394-01E7-A7E2ACE4A2D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8</a:t>
            </a:fld>
            <a:endParaRPr lang="en-US" noProof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FE667E8-92EC-6C5C-886F-154DE7835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268826"/>
              </p:ext>
            </p:extLst>
          </p:nvPr>
        </p:nvGraphicFramePr>
        <p:xfrm>
          <a:off x="6372668" y="1477384"/>
          <a:ext cx="5458969" cy="414326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15161">
                  <a:extLst>
                    <a:ext uri="{9D8B030D-6E8A-4147-A177-3AD203B41FA5}">
                      <a16:colId xmlns:a16="http://schemas.microsoft.com/office/drawing/2014/main" val="3573768147"/>
                    </a:ext>
                  </a:extLst>
                </a:gridCol>
                <a:gridCol w="1515161">
                  <a:extLst>
                    <a:ext uri="{9D8B030D-6E8A-4147-A177-3AD203B41FA5}">
                      <a16:colId xmlns:a16="http://schemas.microsoft.com/office/drawing/2014/main" val="1119597503"/>
                    </a:ext>
                  </a:extLst>
                </a:gridCol>
                <a:gridCol w="2428647">
                  <a:extLst>
                    <a:ext uri="{9D8B030D-6E8A-4147-A177-3AD203B41FA5}">
                      <a16:colId xmlns:a16="http://schemas.microsoft.com/office/drawing/2014/main" val="2626500248"/>
                    </a:ext>
                  </a:extLst>
                </a:gridCol>
              </a:tblGrid>
              <a:tr h="952873">
                <a:tc>
                  <a:txBody>
                    <a:bodyPr/>
                    <a:lstStyle/>
                    <a:p>
                      <a:pPr algn="l" fontAlgn="base"/>
                      <a:r>
                        <a:rPr lang="en-ZA" sz="2400" cap="all" spc="60" dirty="0">
                          <a:effectLst/>
                          <a:latin typeface="Tw Cen MT" panose="020B0602020104020603" pitchFamily="34" charset="0"/>
                        </a:rPr>
                        <a:t>T1​</a:t>
                      </a:r>
                      <a:endParaRPr lang="en-ZA" sz="2400" b="1" i="0" cap="all" spc="60" dirty="0">
                        <a:solidFill>
                          <a:schemeClr val="tx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270661" marR="270661" marT="270661" marB="27066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2400" cap="all" spc="60" dirty="0">
                          <a:effectLst/>
                          <a:latin typeface="Tw Cen MT" panose="020B0602020104020603" pitchFamily="34" charset="0"/>
                        </a:rPr>
                        <a:t>T2​</a:t>
                      </a:r>
                      <a:endParaRPr lang="en-ZA" sz="2400" b="1" i="0" cap="all" spc="60" dirty="0">
                        <a:solidFill>
                          <a:schemeClr val="tx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270661" marR="270661" marT="270661" marB="27066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2400" cap="all" spc="60">
                          <a:effectLst/>
                          <a:latin typeface="Tw Cen MT" panose="020B0602020104020603" pitchFamily="34" charset="0"/>
                        </a:rPr>
                        <a:t>Result​</a:t>
                      </a:r>
                      <a:endParaRPr lang="en-ZA" sz="2400" b="1" i="0" cap="all" spc="60">
                        <a:solidFill>
                          <a:schemeClr val="tx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270661" marR="270661" marT="270661" marB="270661"/>
                </a:tc>
                <a:extLst>
                  <a:ext uri="{0D108BD9-81ED-4DB2-BD59-A6C34878D82A}">
                    <a16:rowId xmlns:a16="http://schemas.microsoft.com/office/drawing/2014/main" val="3507099323"/>
                  </a:ext>
                </a:extLst>
              </a:tr>
              <a:tr h="797599"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Read​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 dirty="0">
                          <a:effectLst/>
                          <a:latin typeface="Tw Cen MT" panose="020B0602020104020603" pitchFamily="34" charset="0"/>
                        </a:rPr>
                        <a:t>Read​</a:t>
                      </a:r>
                      <a:endParaRPr lang="en-ZA" sz="3200" b="0" i="0" cap="none" spc="0" dirty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No conflict​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extLst>
                  <a:ext uri="{0D108BD9-81ED-4DB2-BD59-A6C34878D82A}">
                    <a16:rowId xmlns:a16="http://schemas.microsoft.com/office/drawing/2014/main" val="3320872827"/>
                  </a:ext>
                </a:extLst>
              </a:tr>
              <a:tr h="797599"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Read​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 dirty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Write</a:t>
                      </a:r>
                      <a:r>
                        <a:rPr lang="en-ZA" sz="3200" cap="none" spc="0" dirty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 dirty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Conflict</a:t>
                      </a:r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extLst>
                  <a:ext uri="{0D108BD9-81ED-4DB2-BD59-A6C34878D82A}">
                    <a16:rowId xmlns:a16="http://schemas.microsoft.com/office/drawing/2014/main" val="2596711551"/>
                  </a:ext>
                </a:extLst>
              </a:tr>
              <a:tr h="797599"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Write</a:t>
                      </a:r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Read​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Conflict</a:t>
                      </a:r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extLst>
                  <a:ext uri="{0D108BD9-81ED-4DB2-BD59-A6C34878D82A}">
                    <a16:rowId xmlns:a16="http://schemas.microsoft.com/office/drawing/2014/main" val="157051100"/>
                  </a:ext>
                </a:extLst>
              </a:tr>
              <a:tr h="797599"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Write</a:t>
                      </a:r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Write</a:t>
                      </a:r>
                      <a:r>
                        <a:rPr lang="en-ZA" sz="3200" cap="none" spc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ZA" sz="3200" cap="none" spc="0" dirty="0">
                          <a:solidFill>
                            <a:srgbClr val="C00000"/>
                          </a:solidFill>
                          <a:effectLst/>
                          <a:latin typeface="Tw Cen MT" panose="020B0602020104020603" pitchFamily="34" charset="0"/>
                        </a:rPr>
                        <a:t>Conflict</a:t>
                      </a:r>
                      <a:r>
                        <a:rPr lang="en-ZA" sz="3200" cap="none" spc="0" dirty="0">
                          <a:effectLst/>
                          <a:latin typeface="Tw Cen MT" panose="020B0602020104020603" pitchFamily="34" charset="0"/>
                        </a:rPr>
                        <a:t>​</a:t>
                      </a:r>
                      <a:endParaRPr lang="en-ZA" sz="3200" b="0" i="0" cap="none" spc="0" dirty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180441" marR="180441" marT="90220" marB="180441"/>
                </a:tc>
                <a:extLst>
                  <a:ext uri="{0D108BD9-81ED-4DB2-BD59-A6C34878D82A}">
                    <a16:rowId xmlns:a16="http://schemas.microsoft.com/office/drawing/2014/main" val="1194899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09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3AA8-9166-A9C2-2FE5-87377D783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Concurrency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A66B4-FF22-AE0E-4C01-17D8661CF5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40300-AE59-42C1-8DE9-E2D5121F1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4362829" cy="48780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Tw Cen MT" panose="020B0602020104020603" pitchFamily="34" charset="0"/>
              </a:rPr>
              <a:t>Consider the following two transactions, T1 and T2. </a:t>
            </a:r>
          </a:p>
          <a:p>
            <a:pPr marL="0" indent="0">
              <a:buNone/>
            </a:pPr>
            <a:r>
              <a:rPr lang="en-US" sz="2400" dirty="0">
                <a:latin typeface="Tw Cen MT" panose="020B0602020104020603" pitchFamily="34" charset="0"/>
              </a:rPr>
              <a:t>The transactions are interleaved in their execution, from time 1 through to time 10 (the time is indicated in the left most column in the table). </a:t>
            </a:r>
          </a:p>
          <a:p>
            <a:pPr marL="0" indent="0">
              <a:buNone/>
            </a:pPr>
            <a:r>
              <a:rPr lang="en-US" sz="2400" dirty="0">
                <a:latin typeface="Tw Cen MT" panose="020B0602020104020603" pitchFamily="34" charset="0"/>
              </a:rPr>
              <a:t>At time 10, T2 fails and is aborted.</a:t>
            </a:r>
          </a:p>
          <a:p>
            <a:pPr marL="0" indent="0">
              <a:buNone/>
            </a:pPr>
            <a:endParaRPr lang="en-US" sz="24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en-US" sz="2400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</a:rPr>
              <a:t>Identify the type of problem that occurred and explain why &amp; where this problem occurred.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en-ZA" sz="2400" dirty="0">
              <a:latin typeface="Tw Cen MT" panose="020B0602020104020603" pitchFamily="34" charset="0"/>
            </a:endParaRPr>
          </a:p>
          <a:p>
            <a:endParaRPr lang="en-ZA" sz="2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8FFC8-7C55-0DF6-01A0-9234D1B588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3F166-5C61-1805-A339-4B1FE87011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CFFFD13-DFA7-2AA9-1E6F-0EC647242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002787"/>
              </p:ext>
            </p:extLst>
          </p:nvPr>
        </p:nvGraphicFramePr>
        <p:xfrm>
          <a:off x="7032396" y="963945"/>
          <a:ext cx="4139178" cy="3985641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886119">
                  <a:extLst>
                    <a:ext uri="{9D8B030D-6E8A-4147-A177-3AD203B41FA5}">
                      <a16:colId xmlns:a16="http://schemas.microsoft.com/office/drawing/2014/main" val="2741196049"/>
                    </a:ext>
                  </a:extLst>
                </a:gridCol>
                <a:gridCol w="1708693">
                  <a:extLst>
                    <a:ext uri="{9D8B030D-6E8A-4147-A177-3AD203B41FA5}">
                      <a16:colId xmlns:a16="http://schemas.microsoft.com/office/drawing/2014/main" val="1100608713"/>
                    </a:ext>
                  </a:extLst>
                </a:gridCol>
                <a:gridCol w="1544366">
                  <a:extLst>
                    <a:ext uri="{9D8B030D-6E8A-4147-A177-3AD203B41FA5}">
                      <a16:colId xmlns:a16="http://schemas.microsoft.com/office/drawing/2014/main" val="1762963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Time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T1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T2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728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Read B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6634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Read C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0692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B = B+C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22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Write B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206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Read A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3319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Read B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993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7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B =B*1.5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9474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8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 = A–B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307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9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Write A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9928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ZA" sz="2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Read A</a:t>
                      </a:r>
                      <a:endParaRPr lang="en-ZA" sz="2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7684266"/>
                  </a:ext>
                </a:extLst>
              </a:tr>
            </a:tbl>
          </a:graphicData>
        </a:graphic>
      </p:graphicFrame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A5F85F9E-82F7-107B-7F75-211CFD81A938}"/>
              </a:ext>
            </a:extLst>
          </p:cNvPr>
          <p:cNvSpPr/>
          <p:nvPr/>
        </p:nvSpPr>
        <p:spPr>
          <a:xfrm>
            <a:off x="9611288" y="737921"/>
            <a:ext cx="1560286" cy="443768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ight Arrow 9">
            <a:extLst>
              <a:ext uri="{FF2B5EF4-FFF2-40B4-BE49-F238E27FC236}">
                <a16:creationId xmlns:a16="http://schemas.microsoft.com/office/drawing/2014/main" id="{C2C06CCA-AE97-C628-8181-8A8D7B8BE2C3}"/>
              </a:ext>
            </a:extLst>
          </p:cNvPr>
          <p:cNvSpPr/>
          <p:nvPr/>
        </p:nvSpPr>
        <p:spPr>
          <a:xfrm>
            <a:off x="4890641" y="4613131"/>
            <a:ext cx="1973943" cy="341086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69CAA7B9-5802-0FAC-6F25-B0753AF79FCB}"/>
              </a:ext>
            </a:extLst>
          </p:cNvPr>
          <p:cNvSpPr/>
          <p:nvPr/>
        </p:nvSpPr>
        <p:spPr>
          <a:xfrm>
            <a:off x="9681329" y="2396954"/>
            <a:ext cx="1423446" cy="47413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472456EC-48DA-DC77-EADC-0ED2EF5D8EE4}"/>
              </a:ext>
            </a:extLst>
          </p:cNvPr>
          <p:cNvSpPr/>
          <p:nvPr/>
        </p:nvSpPr>
        <p:spPr>
          <a:xfrm>
            <a:off x="7863527" y="3077800"/>
            <a:ext cx="1423446" cy="47413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FAC96-95CF-346E-D5B3-2242E8829599}"/>
              </a:ext>
            </a:extLst>
          </p:cNvPr>
          <p:cNvSpPr txBox="1"/>
          <p:nvPr/>
        </p:nvSpPr>
        <p:spPr>
          <a:xfrm>
            <a:off x="11104775" y="2396954"/>
            <a:ext cx="1194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Undone; no commit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6F1512-7E4C-89ED-D442-8DCB0027C9EF}"/>
              </a:ext>
            </a:extLst>
          </p:cNvPr>
          <p:cNvSpPr txBox="1"/>
          <p:nvPr/>
        </p:nvSpPr>
        <p:spPr>
          <a:xfrm>
            <a:off x="4958081" y="2728766"/>
            <a:ext cx="2130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Read a value that no longer exists (data not committed)</a:t>
            </a:r>
          </a:p>
        </p:txBody>
      </p:sp>
    </p:spTree>
    <p:extLst>
      <p:ext uri="{BB962C8B-B14F-4D97-AF65-F5344CB8AC3E}">
        <p14:creationId xmlns:p14="http://schemas.microsoft.com/office/powerpoint/2010/main" val="245698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1" grpId="0" animBg="1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4ED9FD-75C5-A434-E605-422BEF8E1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48" y="1580828"/>
            <a:ext cx="2352203" cy="3125492"/>
          </a:xfrm>
        </p:spPr>
        <p:txBody>
          <a:bodyPr/>
          <a:lstStyle/>
          <a:p>
            <a:r>
              <a:rPr lang="en-ZA" dirty="0"/>
              <a:t>Inconsistent retrieval example</a:t>
            </a:r>
            <a:br>
              <a:rPr lang="en-ZA" dirty="0"/>
            </a:br>
            <a:br>
              <a:rPr lang="en-ZA" dirty="0"/>
            </a:br>
            <a:r>
              <a:rPr lang="en-ZA" sz="2800" dirty="0"/>
              <a:t>Move 100 from Savings to Cheque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4A6D-1012-6F72-CAE0-EA30074979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3C46F-54D6-BE0E-EBA3-C6F13EA794D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10</a:t>
            </a:fld>
            <a:endParaRPr lang="en-US" noProof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2D0AB6-DBB8-478C-7E16-235EED76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51" y="294468"/>
            <a:ext cx="9391832" cy="61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3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2F46-72B9-1475-1A6A-EA5E2AAF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Concurrency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48DB3-A496-37DF-7F40-53643098CC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400" dirty="0"/>
              <a:t>Used with Locking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24B54-7A84-EE70-51EA-677F1E8400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9999" y="1620000"/>
            <a:ext cx="7407687" cy="4500000"/>
          </a:xfrm>
        </p:spPr>
        <p:txBody>
          <a:bodyPr/>
          <a:lstStyle/>
          <a:p>
            <a:r>
              <a:rPr lang="en-ZA" sz="2800" dirty="0"/>
              <a:t>Locks used to guarantee exclusive data item use</a:t>
            </a:r>
          </a:p>
          <a:p>
            <a:r>
              <a:rPr lang="en-ZA" sz="2800" dirty="0"/>
              <a:t>Various lock granularity, e.g.</a:t>
            </a:r>
          </a:p>
          <a:p>
            <a:pPr lvl="1"/>
            <a:r>
              <a:rPr lang="en-ZA" sz="2400" dirty="0"/>
              <a:t>Database, table, row, attribute, page</a:t>
            </a:r>
          </a:p>
          <a:p>
            <a:r>
              <a:rPr lang="en-ZA" sz="2800" dirty="0"/>
              <a:t>Lock types</a:t>
            </a:r>
          </a:p>
          <a:p>
            <a:pPr lvl="1"/>
            <a:r>
              <a:rPr lang="en-ZA" sz="2400" dirty="0"/>
              <a:t>Binary (locked / not locked)</a:t>
            </a:r>
          </a:p>
          <a:p>
            <a:pPr lvl="1"/>
            <a:r>
              <a:rPr lang="en-ZA" sz="2400" dirty="0"/>
              <a:t>Shared and exclusive locks</a:t>
            </a:r>
          </a:p>
          <a:p>
            <a:pPr lvl="2"/>
            <a:r>
              <a:rPr lang="en-ZA" sz="2000" dirty="0"/>
              <a:t>Shared allows read access (&gt;1 transaction may share)</a:t>
            </a:r>
          </a:p>
          <a:p>
            <a:pPr lvl="2"/>
            <a:r>
              <a:rPr lang="en-ZA" sz="2000" dirty="0"/>
              <a:t>Exclusive allows write access (1 transaction owns lock)</a:t>
            </a:r>
          </a:p>
          <a:p>
            <a:r>
              <a:rPr lang="en-ZA" sz="2600" dirty="0"/>
              <a:t>Issues with locks</a:t>
            </a:r>
          </a:p>
          <a:p>
            <a:pPr lvl="1"/>
            <a:r>
              <a:rPr lang="en-ZA" sz="2200" dirty="0"/>
              <a:t>Serialisability (handled through 2PL)</a:t>
            </a:r>
          </a:p>
          <a:p>
            <a:pPr lvl="1"/>
            <a:r>
              <a:rPr lang="en-ZA" sz="2200" dirty="0"/>
              <a:t>Deadlocks / deadly embrace  (detection and prevention)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1FAD0-3B98-E0C4-8566-B8ECB063E33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60B14-1777-6CF7-5383-7F69E436E18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11</a:t>
            </a:fld>
            <a:endParaRPr lang="en-US" noProof="0"/>
          </a:p>
        </p:txBody>
      </p:sp>
      <p:pic>
        <p:nvPicPr>
          <p:cNvPr id="20" name="Picture 19" descr="A diagram of a diagram&#10;&#10;Description automatically generated">
            <a:extLst>
              <a:ext uri="{FF2B5EF4-FFF2-40B4-BE49-F238E27FC236}">
                <a16:creationId xmlns:a16="http://schemas.microsoft.com/office/drawing/2014/main" id="{325909AA-DBE7-40F3-5D93-54B068716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531" y="2375537"/>
            <a:ext cx="4303470" cy="3762463"/>
          </a:xfrm>
          <a:prstGeom prst="rect">
            <a:avLst/>
          </a:prstGeom>
        </p:spPr>
      </p:pic>
      <p:sp>
        <p:nvSpPr>
          <p:cNvPr id="21" name="Right Arrow 9">
            <a:extLst>
              <a:ext uri="{FF2B5EF4-FFF2-40B4-BE49-F238E27FC236}">
                <a16:creationId xmlns:a16="http://schemas.microsoft.com/office/drawing/2014/main" id="{526F7AA2-77F7-10E7-3171-3C4C3A672D78}"/>
              </a:ext>
            </a:extLst>
          </p:cNvPr>
          <p:cNvSpPr/>
          <p:nvPr/>
        </p:nvSpPr>
        <p:spPr>
          <a:xfrm>
            <a:off x="5266594" y="5394221"/>
            <a:ext cx="1973943" cy="341086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79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sz="3600" dirty="0"/>
              <a:t>Pessimistic locking, </a:t>
            </a:r>
            <a:r>
              <a:rPr lang="en-ZA" sz="3600" dirty="0">
                <a:solidFill>
                  <a:srgbClr val="C00000"/>
                </a:solidFill>
              </a:rPr>
              <a:t>no 2PL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4" y="1310326"/>
            <a:ext cx="5531390" cy="5187674"/>
          </a:xfrm>
        </p:spPr>
        <p:txBody>
          <a:bodyPr/>
          <a:lstStyle/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BEGIN TRANSACTION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INVOICE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VALUES (55, ‘8807’, ’23-Apr-2026’, 115); </a:t>
            </a:r>
            <a:endParaRPr lang="en-ZA" sz="2000" dirty="0">
              <a:latin typeface="Tw Cen MT" panose="020B0602020104020603" pitchFamily="34" charset="0"/>
              <a:cs typeface="Calibri"/>
            </a:endParaRP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LINE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VALUES (55, 1, ‘XXAX’, 1, 100.00);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PRODUCT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– 1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pCode</a:t>
            </a:r>
            <a:r>
              <a:rPr lang="en-ZA" sz="2000" dirty="0">
                <a:latin typeface="Tw Cen MT" panose="020B0602020104020603" pitchFamily="34" charset="0"/>
              </a:rPr>
              <a:t> = ‘XXAX’;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CUSTOMER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cPurDate</a:t>
            </a:r>
            <a:r>
              <a:rPr lang="en-ZA" sz="2000" dirty="0">
                <a:latin typeface="Tw Cen MT" panose="020B0602020104020603" pitchFamily="34" charset="0"/>
              </a:rPr>
              <a:t> = ’23-Apr-2026’,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+115 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cCode</a:t>
            </a:r>
            <a:r>
              <a:rPr lang="en-ZA" sz="2000" dirty="0">
                <a:latin typeface="Tw Cen MT" panose="020B0602020104020603" pitchFamily="34" charset="0"/>
              </a:rPr>
              <a:t> = ‘8807’;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COMMIT; </a:t>
            </a:r>
          </a:p>
          <a:p>
            <a:endParaRPr lang="en-ZA" sz="1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12</a:t>
            </a:fld>
            <a:endParaRPr lang="en-US" noProof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34DE7-67C3-A2EA-3C58-E6D281397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68279"/>
              </p:ext>
            </p:extLst>
          </p:nvPr>
        </p:nvGraphicFramePr>
        <p:xfrm>
          <a:off x="5931244" y="106710"/>
          <a:ext cx="6226396" cy="6217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1660">
                  <a:extLst>
                    <a:ext uri="{9D8B030D-6E8A-4147-A177-3AD203B41FA5}">
                      <a16:colId xmlns:a16="http://schemas.microsoft.com/office/drawing/2014/main" val="3398977363"/>
                    </a:ext>
                  </a:extLst>
                </a:gridCol>
                <a:gridCol w="5644736">
                  <a:extLst>
                    <a:ext uri="{9D8B030D-6E8A-4147-A177-3AD203B41FA5}">
                      <a16:colId xmlns:a16="http://schemas.microsoft.com/office/drawing/2014/main" val="1983193822"/>
                    </a:ext>
                  </a:extLst>
                </a:gridCol>
              </a:tblGrid>
              <a:tr h="679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Action 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10271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INVOICE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6344019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2 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Insert row 55 into INVOICE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1674845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3 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INVOICE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963447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4 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LINE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4704317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5 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Insert row 55, 1 into LINE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366986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6 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LINE 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343909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7 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PRODUCT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6868651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8 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Update PRODUCT XXAX,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pQoH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from 40 to 39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320305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9 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PRODUCT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1191257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10 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CUSTOMER 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5961727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11 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Update CUSTOMER 8807,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cBal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from 300 to 415 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6337466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12 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Update CUSTOMER 8807,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/>
                          <a:cs typeface="Calibri Light"/>
                        </a:rPr>
                        <a:t>cPurDate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from 14-Mar-2025 to 23-Apr-2026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/>
                        <a:ea typeface="Times New Roman" panose="02020603050405020304" pitchFamily="18" charset="0"/>
                        <a:cs typeface="Calibri Ligh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3362322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13 </a:t>
                      </a:r>
                      <a:endParaRPr lang="en-ZA" sz="28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CUSTOMER </a:t>
                      </a:r>
                      <a:endParaRPr lang="en-ZA" sz="28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0821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46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42BEA-CF01-B2F4-E284-EA557E16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ZA" sz="3600" dirty="0"/>
              <a:t>Pessimistic locking, </a:t>
            </a:r>
            <a:r>
              <a:rPr lang="en-ZA" sz="3600" dirty="0">
                <a:solidFill>
                  <a:srgbClr val="C00000"/>
                </a:solidFill>
              </a:rPr>
              <a:t>with 2PL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9E8EA-1C6A-B42D-B3FF-239BAAA07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364" y="1310326"/>
            <a:ext cx="5531390" cy="5187674"/>
          </a:xfrm>
        </p:spPr>
        <p:txBody>
          <a:bodyPr/>
          <a:lstStyle/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BEGIN TRANSACTION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INVOICE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VALUES (55, ‘8807’, ’23-Apr-2026’, 115); </a:t>
            </a:r>
            <a:endParaRPr lang="en-ZA" sz="2000" dirty="0">
              <a:latin typeface="Tw Cen MT" panose="020B0602020104020603" pitchFamily="34" charset="0"/>
              <a:cs typeface="Calibri"/>
            </a:endParaRP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INSERT INTO LINE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VALUES (55, 1, ‘XXAX’, 1, 100.00);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PRODUCT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pQoH</a:t>
            </a:r>
            <a:r>
              <a:rPr lang="en-ZA" sz="2000" dirty="0">
                <a:latin typeface="Tw Cen MT" panose="020B0602020104020603" pitchFamily="34" charset="0"/>
              </a:rPr>
              <a:t> – 1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pCode</a:t>
            </a:r>
            <a:r>
              <a:rPr lang="en-ZA" sz="2000" dirty="0">
                <a:latin typeface="Tw Cen MT" panose="020B0602020104020603" pitchFamily="34" charset="0"/>
              </a:rPr>
              <a:t> = ‘XXAX’;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UPDATE CUSTOMER 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SET </a:t>
            </a:r>
            <a:r>
              <a:rPr lang="en-ZA" sz="2000" dirty="0" err="1">
                <a:latin typeface="Tw Cen MT" panose="020B0602020104020603" pitchFamily="34" charset="0"/>
              </a:rPr>
              <a:t>cPurDate</a:t>
            </a:r>
            <a:r>
              <a:rPr lang="en-ZA" sz="2000" dirty="0">
                <a:latin typeface="Tw Cen MT" panose="020B0602020104020603" pitchFamily="34" charset="0"/>
              </a:rPr>
              <a:t> = ’23-Apr-2026’,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= </a:t>
            </a:r>
            <a:r>
              <a:rPr lang="en-ZA" sz="2000" dirty="0" err="1">
                <a:latin typeface="Tw Cen MT" panose="020B0602020104020603" pitchFamily="34" charset="0"/>
              </a:rPr>
              <a:t>cBal</a:t>
            </a:r>
            <a:r>
              <a:rPr lang="en-ZA" sz="2000" dirty="0">
                <a:latin typeface="Tw Cen MT" panose="020B0602020104020603" pitchFamily="34" charset="0"/>
              </a:rPr>
              <a:t> +115 </a:t>
            </a:r>
          </a:p>
          <a:p>
            <a:pPr marL="0" indent="0">
              <a:buNone/>
              <a:tabLst>
                <a:tab pos="358775" algn="l"/>
              </a:tabLst>
            </a:pPr>
            <a:r>
              <a:rPr lang="en-ZA" sz="2000" dirty="0">
                <a:latin typeface="Tw Cen MT" panose="020B0602020104020603" pitchFamily="34" charset="0"/>
              </a:rPr>
              <a:t>	WHERE </a:t>
            </a:r>
            <a:r>
              <a:rPr lang="en-ZA" sz="2000" dirty="0" err="1">
                <a:latin typeface="Tw Cen MT" panose="020B0602020104020603" pitchFamily="34" charset="0"/>
              </a:rPr>
              <a:t>cCode</a:t>
            </a:r>
            <a:r>
              <a:rPr lang="en-ZA" sz="2000" dirty="0">
                <a:latin typeface="Tw Cen MT" panose="020B0602020104020603" pitchFamily="34" charset="0"/>
              </a:rPr>
              <a:t> = ‘8807’; </a:t>
            </a:r>
          </a:p>
          <a:p>
            <a:pPr marL="0" indent="0">
              <a:buNone/>
            </a:pPr>
            <a:r>
              <a:rPr lang="en-ZA" sz="2000" dirty="0">
                <a:latin typeface="Tw Cen MT" panose="020B0602020104020603" pitchFamily="34" charset="0"/>
              </a:rPr>
              <a:t>COMMIT; </a:t>
            </a:r>
          </a:p>
          <a:p>
            <a:endParaRPr lang="en-ZA" sz="1400" dirty="0">
              <a:latin typeface="Tw Cen MT" panose="020B06020201040206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66D96-4FA9-1EEA-29CC-D118D68DB1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945779" y="6672562"/>
            <a:ext cx="3816563" cy="139445"/>
          </a:xfrm>
        </p:spPr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8BFAE-82A5-B941-2DF1-7D5742EC8D9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13</a:t>
            </a:fld>
            <a:endParaRPr lang="en-US" noProof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EF2309-F78B-5D29-83AE-C5AB031F0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73843"/>
              </p:ext>
            </p:extLst>
          </p:nvPr>
        </p:nvGraphicFramePr>
        <p:xfrm>
          <a:off x="5825328" y="207800"/>
          <a:ext cx="6259580" cy="6217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620">
                  <a:extLst>
                    <a:ext uri="{9D8B030D-6E8A-4147-A177-3AD203B41FA5}">
                      <a16:colId xmlns:a16="http://schemas.microsoft.com/office/drawing/2014/main" val="1661513298"/>
                    </a:ext>
                  </a:extLst>
                </a:gridCol>
                <a:gridCol w="5696960">
                  <a:extLst>
                    <a:ext uri="{9D8B030D-6E8A-4147-A177-3AD203B41FA5}">
                      <a16:colId xmlns:a16="http://schemas.microsoft.com/office/drawing/2014/main" val="833946667"/>
                    </a:ext>
                  </a:extLst>
                </a:gridCol>
              </a:tblGrid>
              <a:tr h="679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T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Action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620305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INVOICE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9032618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2 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LINE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9669998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3 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PRODUCT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8259012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4 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/>
                          <a:cs typeface="Calibri Light"/>
                        </a:rPr>
                        <a:t>Lock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CUSTOMER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9513743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5 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Insert row 55 into INVOICE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667531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6 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Insert tow 55, 1 into LINE 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7411562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7 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Update PRODUCT XXAX,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pQoH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from 40 to 39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8713280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8 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Update CUSTOMER 8807,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cBal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from 300 to 415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9404121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9 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Update CUSTOMER 8807,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 err="1">
                          <a:effectLst/>
                          <a:latin typeface="Calibri Light"/>
                          <a:cs typeface="Calibri Light"/>
                        </a:rPr>
                        <a:t>cPurDate</a:t>
                      </a: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 from 14-Mar-2025 to 23-Apr-2026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/>
                        <a:ea typeface="Times New Roman" panose="02020603050405020304" pitchFamily="18" charset="0"/>
                        <a:cs typeface="Calibri Light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8838654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10 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CUSTOMER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3869453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11 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PRODUCT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4390035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12 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LINE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978712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effectLst/>
                          <a:latin typeface="Calibri Light"/>
                          <a:cs typeface="Calibri Light"/>
                        </a:rPr>
                        <a:t>13 </a:t>
                      </a:r>
                      <a:endParaRPr lang="en-ZA" sz="240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ZA" sz="2400" dirty="0">
                          <a:solidFill>
                            <a:srgbClr val="C00000"/>
                          </a:solidFill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Unlock</a:t>
                      </a:r>
                      <a:r>
                        <a:rPr lang="en-ZA" sz="2400" dirty="0">
                          <a:effectLst/>
                          <a:latin typeface="Calibri Light" panose="020F0302020204030204" pitchFamily="34" charset="0"/>
                          <a:cs typeface="Calibri Light" panose="020F0302020204030204" pitchFamily="34" charset="0"/>
                        </a:rPr>
                        <a:t> INVOICE </a:t>
                      </a:r>
                      <a:endParaRPr lang="en-ZA" sz="2400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0613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94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D68B-9039-F17D-ED23-7904D173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200" dirty="0"/>
              <a:t>Concurrency control with time stamping</a:t>
            </a:r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7065D-A2FA-A8FB-70CE-F6117E295F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Chapter 12 - Managing Transactions and Concurrency Control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94046-7A4F-7116-7863-EDAD66B5B2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14</a:t>
            </a:fld>
            <a:endParaRPr lang="en-US" noProof="0"/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57CB9374-4643-0ED1-51F2-E2AC6516AC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9210977"/>
              </p:ext>
            </p:extLst>
          </p:nvPr>
        </p:nvGraphicFramePr>
        <p:xfrm>
          <a:off x="622169" y="2183402"/>
          <a:ext cx="11211031" cy="404615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459929">
                  <a:extLst>
                    <a:ext uri="{9D8B030D-6E8A-4147-A177-3AD203B41FA5}">
                      <a16:colId xmlns:a16="http://schemas.microsoft.com/office/drawing/2014/main" val="3361993919"/>
                    </a:ext>
                  </a:extLst>
                </a:gridCol>
                <a:gridCol w="2159725">
                  <a:extLst>
                    <a:ext uri="{9D8B030D-6E8A-4147-A177-3AD203B41FA5}">
                      <a16:colId xmlns:a16="http://schemas.microsoft.com/office/drawing/2014/main" val="1142002519"/>
                    </a:ext>
                  </a:extLst>
                </a:gridCol>
                <a:gridCol w="3190648">
                  <a:extLst>
                    <a:ext uri="{9D8B030D-6E8A-4147-A177-3AD203B41FA5}">
                      <a16:colId xmlns:a16="http://schemas.microsoft.com/office/drawing/2014/main" val="3749888788"/>
                    </a:ext>
                  </a:extLst>
                </a:gridCol>
                <a:gridCol w="3400729">
                  <a:extLst>
                    <a:ext uri="{9D8B030D-6E8A-4147-A177-3AD203B41FA5}">
                      <a16:colId xmlns:a16="http://schemas.microsoft.com/office/drawing/2014/main" val="2175603583"/>
                    </a:ext>
                  </a:extLst>
                </a:gridCol>
              </a:tblGrid>
              <a:tr h="453980">
                <a:tc gridSpan="4">
                  <a:txBody>
                    <a:bodyPr/>
                    <a:lstStyle/>
                    <a:p>
                      <a:r>
                        <a:rPr lang="en-ZA" sz="2400" dirty="0">
                          <a:latin typeface="Tw Cen MT" panose="020B0602020104020603" pitchFamily="34" charset="0"/>
                        </a:rPr>
                        <a:t>Wait / Die</a:t>
                      </a:r>
                      <a:r>
                        <a:rPr lang="en-ZA" sz="2400" baseline="0" dirty="0">
                          <a:latin typeface="Tw Cen MT" panose="020B0602020104020603" pitchFamily="34" charset="0"/>
                        </a:rPr>
                        <a:t> and Wound / Wait concurrency control schemes</a:t>
                      </a:r>
                      <a:endParaRPr lang="en-ZA" sz="2400" dirty="0">
                        <a:latin typeface="Tw Cen MT" panose="020B0602020104020603" pitchFamily="34" charset="0"/>
                      </a:endParaRPr>
                    </a:p>
                  </a:txBody>
                  <a:tcPr marL="101845" marR="101845" marT="50922" marB="50922"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65931"/>
                  </a:ext>
                </a:extLst>
              </a:tr>
              <a:tr h="760185"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Transaction requesting</a:t>
                      </a:r>
                      <a:r>
                        <a:rPr lang="en-ZA" sz="2400" baseline="0">
                          <a:latin typeface="Tw Cen MT" panose="020B0602020104020603" pitchFamily="34" charset="0"/>
                        </a:rPr>
                        <a:t> lock</a:t>
                      </a:r>
                      <a:endParaRPr lang="en-ZA" sz="2400">
                        <a:latin typeface="Tw Cen MT" panose="020B0602020104020603" pitchFamily="34" charset="0"/>
                      </a:endParaRP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Transaction owning lock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Wait / Die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Wound / Wait</a:t>
                      </a:r>
                    </a:p>
                  </a:txBody>
                  <a:tcPr marL="101845" marR="101845" marT="50922" marB="50922"/>
                </a:tc>
                <a:extLst>
                  <a:ext uri="{0D108BD9-81ED-4DB2-BD59-A6C34878D82A}">
                    <a16:rowId xmlns:a16="http://schemas.microsoft.com/office/drawing/2014/main" val="4264324835"/>
                  </a:ext>
                </a:extLst>
              </a:tr>
              <a:tr h="1372594"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T1 (older)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>
                          <a:latin typeface="Tw Cen MT" panose="020B0602020104020603" pitchFamily="34" charset="0"/>
                        </a:rPr>
                        <a:t>T2 (younger)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Tw Cen MT" panose="020B0602020104020603" pitchFamily="34" charset="0"/>
                        </a:rPr>
                        <a:t>T1 waits for T2 to complete and for T2 to release all locks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Tw Cen MT" panose="020B0602020104020603" pitchFamily="34" charset="0"/>
                        </a:rPr>
                        <a:t>T1 rolls back T2</a:t>
                      </a:r>
                    </a:p>
                    <a:p>
                      <a:r>
                        <a:rPr lang="en-ZA" sz="2400" dirty="0">
                          <a:latin typeface="Tw Cen MT" panose="020B0602020104020603" pitchFamily="34" charset="0"/>
                        </a:rPr>
                        <a:t>T2 rescheduled, using same</a:t>
                      </a:r>
                      <a:r>
                        <a:rPr lang="en-ZA" sz="2400" baseline="0" dirty="0">
                          <a:latin typeface="Tw Cen MT" panose="020B0602020104020603" pitchFamily="34" charset="0"/>
                        </a:rPr>
                        <a:t> (original) time stamp</a:t>
                      </a:r>
                      <a:endParaRPr lang="en-ZA" sz="2400" dirty="0">
                        <a:latin typeface="Tw Cen MT" panose="020B0602020104020603" pitchFamily="34" charset="0"/>
                      </a:endParaRPr>
                    </a:p>
                  </a:txBody>
                  <a:tcPr marL="101845" marR="101845" marT="50922" marB="50922"/>
                </a:tc>
                <a:extLst>
                  <a:ext uri="{0D108BD9-81ED-4DB2-BD59-A6C34878D82A}">
                    <a16:rowId xmlns:a16="http://schemas.microsoft.com/office/drawing/2014/main" val="3265513886"/>
                  </a:ext>
                </a:extLst>
              </a:tr>
              <a:tr h="1372594"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T2 (younger)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T1 (older)</a:t>
                      </a: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T2 rolls back (dies)</a:t>
                      </a:r>
                    </a:p>
                    <a:p>
                      <a:r>
                        <a:rPr lang="en-ZA" sz="2400">
                          <a:latin typeface="Tw Cen MT" panose="020B0602020104020603" pitchFamily="34" charset="0"/>
                        </a:rPr>
                        <a:t>T2 rescheduled, using same</a:t>
                      </a:r>
                      <a:r>
                        <a:rPr lang="en-ZA" sz="2400" baseline="0">
                          <a:latin typeface="Tw Cen MT" panose="020B0602020104020603" pitchFamily="34" charset="0"/>
                        </a:rPr>
                        <a:t> time stamp</a:t>
                      </a:r>
                      <a:endParaRPr lang="en-ZA" sz="2400">
                        <a:latin typeface="Tw Cen MT" panose="020B0602020104020603" pitchFamily="34" charset="0"/>
                      </a:endParaRPr>
                    </a:p>
                  </a:txBody>
                  <a:tcPr marL="101845" marR="101845" marT="50922" marB="50922"/>
                </a:tc>
                <a:tc>
                  <a:txBody>
                    <a:bodyPr/>
                    <a:lstStyle/>
                    <a:p>
                      <a:r>
                        <a:rPr lang="en-ZA" sz="2400" dirty="0">
                          <a:latin typeface="Tw Cen MT" panose="020B0602020104020603" pitchFamily="34" charset="0"/>
                        </a:rPr>
                        <a:t>T2 waits for T1 to complete and T1 to release all locks</a:t>
                      </a:r>
                    </a:p>
                  </a:txBody>
                  <a:tcPr marL="101845" marR="101845" marT="50922" marB="50922"/>
                </a:tc>
                <a:extLst>
                  <a:ext uri="{0D108BD9-81ED-4DB2-BD59-A6C34878D82A}">
                    <a16:rowId xmlns:a16="http://schemas.microsoft.com/office/drawing/2014/main" val="2428154562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F94023-3C1F-CEC4-8B66-202B47862E8E}"/>
              </a:ext>
            </a:extLst>
          </p:cNvPr>
          <p:cNvSpPr txBox="1">
            <a:spLocks/>
          </p:cNvSpPr>
          <p:nvPr/>
        </p:nvSpPr>
        <p:spPr>
          <a:xfrm>
            <a:off x="358800" y="720362"/>
            <a:ext cx="6894576" cy="14630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2"/>
              </a:buClr>
              <a:buNone/>
            </a:pPr>
            <a:r>
              <a:rPr lang="en-ZA" sz="2400" dirty="0">
                <a:latin typeface="Tw Cen MT" panose="020B0602020104020603" pitchFamily="34" charset="0"/>
              </a:rPr>
              <a:t>One example handled in video – two schemes</a:t>
            </a:r>
            <a:endParaRPr lang="en-ZA" sz="2400" dirty="0">
              <a:latin typeface="Tw Cen MT" panose="020B0602020104020603" pitchFamily="34" charset="0"/>
              <a:cs typeface="Calibri"/>
            </a:endParaRPr>
          </a:p>
          <a:p>
            <a:pPr marL="263525" lvl="1" indent="0">
              <a:buClr>
                <a:schemeClr val="accent2"/>
              </a:buClr>
              <a:buNone/>
            </a:pPr>
            <a:r>
              <a:rPr lang="en-ZA" sz="2400" dirty="0">
                <a:latin typeface="Tw Cen MT" panose="020B0602020104020603" pitchFamily="34" charset="0"/>
              </a:rPr>
              <a:t>Wait / Die</a:t>
            </a:r>
            <a:endParaRPr lang="en-ZA" sz="2400" dirty="0">
              <a:latin typeface="Tw Cen MT" panose="020B0602020104020603" pitchFamily="34" charset="0"/>
              <a:cs typeface="Calibri"/>
            </a:endParaRPr>
          </a:p>
          <a:p>
            <a:pPr marL="263525" lvl="1" indent="0">
              <a:buClr>
                <a:schemeClr val="accent2"/>
              </a:buClr>
              <a:buNone/>
            </a:pPr>
            <a:r>
              <a:rPr lang="en-ZA" sz="2400" dirty="0">
                <a:latin typeface="Tw Cen MT" panose="020B0602020104020603" pitchFamily="34" charset="0"/>
              </a:rPr>
              <a:t>Wound / Wait</a:t>
            </a:r>
            <a:endParaRPr lang="en-ZA" sz="2400" dirty="0">
              <a:latin typeface="Tw Cen MT" panose="020B0602020104020603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901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6AAF91-A6E9-9D10-F616-1CC3820B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200" dirty="0"/>
              <a:t>Concurrency control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13AC78-407F-9DEF-FC40-0EEA9F0AA4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With time stamping example</a:t>
            </a:r>
            <a:endParaRPr lang="en-ZA" sz="24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C7E13D1-92F5-24AA-225C-0AE1FEEE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75252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Consider sequence of operations (S1), listed in the order it is submitted to DBMS</a:t>
            </a:r>
          </a:p>
          <a:p>
            <a:pPr marL="0" indent="0">
              <a:buNone/>
            </a:pPr>
            <a:r>
              <a:rPr lang="en-US" sz="2800" dirty="0"/>
              <a:t>S1: </a:t>
            </a:r>
          </a:p>
          <a:p>
            <a:pPr marL="0" indent="0">
              <a:buNone/>
            </a:pPr>
            <a:r>
              <a:rPr lang="en-US" sz="2800" dirty="0"/>
              <a:t>T2: R(A); T3: W(B); T4: W(C); T3: W(C); T1 commits; T3: W(A); T4: R(B); T2 commits; T3 commits</a:t>
            </a:r>
          </a:p>
          <a:p>
            <a:pPr marL="0" indent="0">
              <a:buNone/>
            </a:pPr>
            <a:r>
              <a:rPr lang="en-US" sz="2800" dirty="0"/>
              <a:t>The timestamps of the transactions are as follows: </a:t>
            </a:r>
          </a:p>
          <a:p>
            <a:pPr marL="0" indent="0">
              <a:buNone/>
            </a:pPr>
            <a:r>
              <a:rPr lang="en-US" sz="2800" dirty="0"/>
              <a:t>T1=101, T2=102, T3=103, T4 = 104</a:t>
            </a:r>
          </a:p>
          <a:p>
            <a:pPr marL="0" indent="0">
              <a:buNone/>
            </a:pPr>
            <a:r>
              <a:rPr lang="en-US" sz="2800" dirty="0"/>
              <a:t>T1 holds an exclusive lock on data item A at the start of the sequence.</a:t>
            </a:r>
          </a:p>
          <a:p>
            <a:pPr marL="0" indent="0">
              <a:buNone/>
            </a:pPr>
            <a:r>
              <a:rPr lang="en-US" sz="2800" dirty="0"/>
              <a:t>Make use of time stamping concurrency control mechanism, implemented using Wound / Wait scheme, to show how sequence is handled.</a:t>
            </a:r>
          </a:p>
          <a:p>
            <a:endParaRPr lang="en-Z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962D8-EFBE-B886-267A-D7604B4B579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D6097-4A17-9365-0297-994FD512D2A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10316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AFE2E7-C3EA-0A29-2BF7-759D1EF535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042048-E8F1-60D9-3DF4-86D9281475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16</a:t>
            </a:fld>
            <a:endParaRPr lang="en-US" noProof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FE6A12-8B0E-70D5-622A-5AB18236D7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983851" cy="829559"/>
          </a:xfrm>
          <a:prstGeom prst="rect">
            <a:avLst/>
          </a:prstGeom>
          <a:solidFill>
            <a:schemeClr val="tx2"/>
          </a:solidFill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87313"/>
            <a:r>
              <a:rPr lang="en-GB" sz="1800" dirty="0">
                <a:solidFill>
                  <a:schemeClr val="bg1"/>
                </a:solidFill>
              </a:rPr>
              <a:t>T2: R(A); T3: W(B); T4: W(C); T3: W(C); T1 commits; T3: W(A); T4: R(B); T2 commits; T3 commits</a:t>
            </a:r>
            <a:br>
              <a:rPr lang="en-ZA" sz="1800" dirty="0">
                <a:solidFill>
                  <a:schemeClr val="bg1"/>
                </a:solidFill>
              </a:rPr>
            </a:br>
            <a:r>
              <a:rPr lang="en-ZA" sz="1800" dirty="0">
                <a:solidFill>
                  <a:schemeClr val="bg1"/>
                </a:solidFill>
              </a:rPr>
              <a:t>T</a:t>
            </a:r>
            <a:r>
              <a:rPr lang="en-GB" sz="1800" dirty="0" err="1">
                <a:solidFill>
                  <a:schemeClr val="bg1"/>
                </a:solidFill>
              </a:rPr>
              <a:t>imestamps</a:t>
            </a:r>
            <a:r>
              <a:rPr lang="en-GB" sz="1800" dirty="0">
                <a:solidFill>
                  <a:schemeClr val="bg1"/>
                </a:solidFill>
              </a:rPr>
              <a:t> of transactions: T1=101, T2=102, T3=103, T4 = 104</a:t>
            </a:r>
            <a:br>
              <a:rPr lang="en-ZA" sz="1800" dirty="0">
                <a:solidFill>
                  <a:schemeClr val="bg1"/>
                </a:solidFill>
              </a:rPr>
            </a:br>
            <a:r>
              <a:rPr lang="en-GB" sz="1800" b="1" i="1" dirty="0">
                <a:solidFill>
                  <a:schemeClr val="bg1"/>
                </a:solidFill>
              </a:rPr>
              <a:t>T1 holds an exclusive lock on data item A at the start of the sequence</a:t>
            </a:r>
            <a:r>
              <a:rPr lang="en-GB" sz="1800" dirty="0">
                <a:solidFill>
                  <a:schemeClr val="bg1"/>
                </a:solidFill>
              </a:rPr>
              <a:t>.</a:t>
            </a:r>
            <a:endParaRPr lang="en-ZA" sz="1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09D74-8F89-E889-BCF3-D081332B271A}"/>
              </a:ext>
            </a:extLst>
          </p:cNvPr>
          <p:cNvSpPr txBox="1"/>
          <p:nvPr/>
        </p:nvSpPr>
        <p:spPr>
          <a:xfrm>
            <a:off x="10656255" y="0"/>
            <a:ext cx="165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Wound / Wait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8404E2-B8A0-D655-DD0B-A9E079E00AD2}"/>
              </a:ext>
            </a:extLst>
          </p:cNvPr>
          <p:cNvSpPr txBox="1">
            <a:spLocks/>
          </p:cNvSpPr>
          <p:nvPr/>
        </p:nvSpPr>
        <p:spPr>
          <a:xfrm>
            <a:off x="344714" y="921657"/>
            <a:ext cx="2267857" cy="5646057"/>
          </a:xfrm>
          <a:prstGeom prst="rect">
            <a:avLst/>
          </a:prstGeom>
        </p:spPr>
        <p:txBody>
          <a:bodyPr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GB" sz="2400" dirty="0"/>
              <a:t>T2: R(A)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GB" sz="2400" dirty="0"/>
              <a:t>T3: W(B)	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T4: W(C)	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T3: W(C)	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T1 commits	</a:t>
            </a: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T3: W(A)	</a:t>
            </a:r>
          </a:p>
          <a:p>
            <a:pPr marL="0" indent="0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T4: R(B)	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2400" dirty="0"/>
              <a:t>T2 commits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2400" dirty="0"/>
              <a:t>T3 commits</a:t>
            </a:r>
            <a:r>
              <a:rPr lang="en-GB" dirty="0"/>
              <a:t>	</a:t>
            </a:r>
            <a:endParaRPr lang="en-Z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4BFC5DA-BBD1-284D-DF27-20B81F035087}"/>
              </a:ext>
            </a:extLst>
          </p:cNvPr>
          <p:cNvSpPr txBox="1">
            <a:spLocks/>
          </p:cNvSpPr>
          <p:nvPr/>
        </p:nvSpPr>
        <p:spPr>
          <a:xfrm>
            <a:off x="2177143" y="921657"/>
            <a:ext cx="9935029" cy="5255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T2 requests read lock on A;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T1 holds a write lock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T2 needs to wait for T1 to complete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T3 requests write lock on B and gets 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T4 requests write lock on C and gets it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T3 requests write lock on C;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T4 holds exclusive lock on 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T3 older than T4, so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T3 rolls back (wounds) T4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gets lock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T4 rescheduled (kicked out of sequence) to start later, using original timestamp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releases all locks 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exclusive lock on 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T2 obtains shareable lock on A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T3 requests write lock on 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T3 younger than T2, T2 currently holding read lock on A;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libri" panose="020F0502020204030204"/>
              </a:rPr>
              <a:t>T3 needs to wait on T2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T4: R(B)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nothing happens;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T4 was wounded / rolled back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T3 earlier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releases all its locks (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read lock on A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T3 to obtain write lock on 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releases all its locks (write locks on B,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A);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T4 restarted with original timestamp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endParaRPr kumimoji="0" lang="en-Z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14914-86F5-61BB-4474-A9D1704C8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068" y="18906"/>
            <a:ext cx="1991356" cy="88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37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65C9D36-9849-ADD5-EE4B-FA76E4BA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3600" dirty="0"/>
              <a:t>Database recovery management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159716-8D41-B201-265B-E1F784C615F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166031-E849-BDDD-3D47-C823FCCA9C5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17</a:t>
            </a:fld>
            <a:endParaRPr lang="en-US" noProof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89E82864-8DF6-49EF-4977-698DDCB2B8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0852631"/>
              </p:ext>
            </p:extLst>
          </p:nvPr>
        </p:nvGraphicFramePr>
        <p:xfrm>
          <a:off x="1771643" y="900000"/>
          <a:ext cx="8233756" cy="5597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27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6121-3BB2-3F85-B8A8-62549316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Transaction recovery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7A883-3BFA-A44B-2BF3-21781B2943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ZA" sz="2800" dirty="0"/>
              <a:t>Techniques used covered in video</a:t>
            </a:r>
            <a:endParaRPr lang="en-ZA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B55EB-9EBA-B2D6-5EEB-9FA288B6A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536CB-2DF5-CAAB-F79D-E73ACC866A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18</a:t>
            </a:fld>
            <a:endParaRPr lang="en-US" noProof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CB59F5-1404-0DEE-600E-5EA7C6C9BDD9}"/>
              </a:ext>
            </a:extLst>
          </p:cNvPr>
          <p:cNvSpPr txBox="1">
            <a:spLocks/>
          </p:cNvSpPr>
          <p:nvPr/>
        </p:nvSpPr>
        <p:spPr>
          <a:xfrm>
            <a:off x="360000" y="1688535"/>
            <a:ext cx="5157787" cy="47420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>
                <a:solidFill>
                  <a:schemeClr val="bg1"/>
                </a:solidFill>
                <a:latin typeface="Tw Cen MT" panose="020B0602020104020603" pitchFamily="34" charset="0"/>
              </a:rPr>
              <a:t>Deferred-write (deferred update)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41DE52-0CD1-C561-65B4-F4893C453029}"/>
              </a:ext>
            </a:extLst>
          </p:cNvPr>
          <p:cNvSpPr txBox="1">
            <a:spLocks/>
          </p:cNvSpPr>
          <p:nvPr/>
        </p:nvSpPr>
        <p:spPr>
          <a:xfrm>
            <a:off x="360000" y="2172556"/>
            <a:ext cx="5534822" cy="447803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400" dirty="0">
                <a:latin typeface="Tw Cen MT" panose="020B0602020104020603" pitchFamily="34" charset="0"/>
              </a:rPr>
              <a:t>Identify last checkpoint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latin typeface="Tw Cen MT" panose="020B0602020104020603" pitchFamily="34" charset="0"/>
              </a:rPr>
              <a:t>If transaction committed before last checkpoint, do nothing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latin typeface="Tw Cen MT" panose="020B0602020104020603" pitchFamily="34" charset="0"/>
              </a:rPr>
              <a:t>If transaction committed after last checkpoint</a:t>
            </a:r>
          </a:p>
          <a:p>
            <a:pPr lvl="1">
              <a:spcBef>
                <a:spcPts val="300"/>
              </a:spcBef>
            </a:pPr>
            <a:r>
              <a:rPr lang="en-US" sz="2000" dirty="0">
                <a:latin typeface="Tw Cen MT" panose="020B0602020104020603" pitchFamily="34" charset="0"/>
              </a:rPr>
              <a:t>Use transaction log to REDO transaction using “after” values in log in ascending order (old to new)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If transaction had ROLLBACK or was left active after last checkpoint, do nothing</a:t>
            </a:r>
          </a:p>
          <a:p>
            <a:endParaRPr lang="en-ZA" sz="2400" dirty="0">
              <a:latin typeface="Tw Cen MT" panose="020B0602020104020603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CF2609-5C63-3783-4E7A-1D728C5B7F87}"/>
              </a:ext>
            </a:extLst>
          </p:cNvPr>
          <p:cNvSpPr txBox="1">
            <a:spLocks/>
          </p:cNvSpPr>
          <p:nvPr/>
        </p:nvSpPr>
        <p:spPr>
          <a:xfrm>
            <a:off x="6070625" y="1698348"/>
            <a:ext cx="5761012" cy="47420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dirty="0">
                <a:solidFill>
                  <a:schemeClr val="bg1"/>
                </a:solidFill>
                <a:latin typeface="Tw Cen MT" panose="020B0602020104020603" pitchFamily="34" charset="0"/>
              </a:rPr>
              <a:t>Write-through (immediate update)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45BBF36-FC9B-8EBB-CD46-C606A18FB7EC}"/>
              </a:ext>
            </a:extLst>
          </p:cNvPr>
          <p:cNvSpPr txBox="1">
            <a:spLocks/>
          </p:cNvSpPr>
          <p:nvPr/>
        </p:nvSpPr>
        <p:spPr>
          <a:xfrm>
            <a:off x="5923238" y="2213278"/>
            <a:ext cx="5967663" cy="46447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ZA" sz="2400" dirty="0">
                <a:latin typeface="Tw Cen MT" panose="020B0602020104020603" pitchFamily="34" charset="0"/>
              </a:rPr>
              <a:t>Identify last checkpoint</a:t>
            </a:r>
          </a:p>
          <a:p>
            <a:pPr>
              <a:spcBef>
                <a:spcPts val="300"/>
              </a:spcBef>
            </a:pPr>
            <a:r>
              <a:rPr lang="en-ZA" sz="2400" dirty="0">
                <a:latin typeface="Tw Cen MT" panose="020B0602020104020603" pitchFamily="34" charset="0"/>
              </a:rPr>
              <a:t>If transaction committed before last checkpoint, do nothing</a:t>
            </a:r>
          </a:p>
          <a:p>
            <a:pPr>
              <a:spcBef>
                <a:spcPts val="300"/>
              </a:spcBef>
            </a:pPr>
            <a:r>
              <a:rPr lang="en-ZA" sz="2400" dirty="0">
                <a:latin typeface="Tw Cen MT" panose="020B0602020104020603" pitchFamily="34" charset="0"/>
              </a:rPr>
              <a:t>If transaction committed after last checkpoint</a:t>
            </a:r>
          </a:p>
          <a:p>
            <a:pPr lvl="1">
              <a:spcBef>
                <a:spcPts val="300"/>
              </a:spcBef>
            </a:pPr>
            <a:r>
              <a:rPr lang="en-ZA" sz="1800" dirty="0">
                <a:latin typeface="Tw Cen MT" panose="020B0602020104020603" pitchFamily="34" charset="0"/>
              </a:rPr>
              <a:t>Use transaction log to REDO transaction using “after” values in log in ascending order (old to new)</a:t>
            </a:r>
          </a:p>
          <a:p>
            <a:pPr>
              <a:spcBef>
                <a:spcPts val="300"/>
              </a:spcBef>
            </a:pPr>
            <a:r>
              <a:rPr lang="en-ZA" sz="24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If transaction was active after last checkpoint</a:t>
            </a:r>
          </a:p>
          <a:p>
            <a:pPr lvl="1">
              <a:spcBef>
                <a:spcPts val="300"/>
              </a:spcBef>
            </a:pPr>
            <a:r>
              <a:rPr lang="en-ZA" sz="18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Use transaction log to UNDO operations, using “before” values in log (reversed, new to old)</a:t>
            </a:r>
          </a:p>
          <a:p>
            <a:pPr lvl="1">
              <a:spcBef>
                <a:spcPts val="300"/>
              </a:spcBef>
            </a:pPr>
            <a:r>
              <a:rPr lang="en-ZA" sz="18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ROLLBACK happens immediately (</a:t>
            </a:r>
            <a:r>
              <a:rPr lang="en-ZA" sz="1800" dirty="0" err="1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UNDOne</a:t>
            </a:r>
            <a:r>
              <a:rPr lang="en-ZA" sz="1800" dirty="0">
                <a:solidFill>
                  <a:schemeClr val="accent2">
                    <a:lumMod val="75000"/>
                  </a:schemeClr>
                </a:solidFill>
                <a:latin typeface="Tw Cen MT" panose="020B0602020104020603" pitchFamily="34" charset="0"/>
              </a:rPr>
              <a:t> at rollback)</a:t>
            </a:r>
          </a:p>
          <a:p>
            <a:endParaRPr lang="en-ZA" sz="24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49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CA160D-6D62-DB8E-43B1-7A9753A87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171798"/>
              </p:ext>
            </p:extLst>
          </p:nvPr>
        </p:nvGraphicFramePr>
        <p:xfrm>
          <a:off x="6262282" y="46990"/>
          <a:ext cx="5829928" cy="6309360"/>
        </p:xfrm>
        <a:graphic>
          <a:graphicData uri="http://schemas.openxmlformats.org/drawingml/2006/table">
            <a:tbl>
              <a:tblPr firstCol="1" bandRow="1">
                <a:tableStyleId>{AF606853-7671-496A-8E4F-DF71F8EC918B}</a:tableStyleId>
              </a:tblPr>
              <a:tblGrid>
                <a:gridCol w="1378585">
                  <a:extLst>
                    <a:ext uri="{9D8B030D-6E8A-4147-A177-3AD203B41FA5}">
                      <a16:colId xmlns:a16="http://schemas.microsoft.com/office/drawing/2014/main" val="272934134"/>
                    </a:ext>
                  </a:extLst>
                </a:gridCol>
                <a:gridCol w="1180151">
                  <a:extLst>
                    <a:ext uri="{9D8B030D-6E8A-4147-A177-3AD203B41FA5}">
                      <a16:colId xmlns:a16="http://schemas.microsoft.com/office/drawing/2014/main" val="3955982632"/>
                    </a:ext>
                  </a:extLst>
                </a:gridCol>
                <a:gridCol w="1546045">
                  <a:extLst>
                    <a:ext uri="{9D8B030D-6E8A-4147-A177-3AD203B41FA5}">
                      <a16:colId xmlns:a16="http://schemas.microsoft.com/office/drawing/2014/main" val="1640813981"/>
                    </a:ext>
                  </a:extLst>
                </a:gridCol>
                <a:gridCol w="1725147">
                  <a:extLst>
                    <a:ext uri="{9D8B030D-6E8A-4147-A177-3AD203B41FA5}">
                      <a16:colId xmlns:a16="http://schemas.microsoft.com/office/drawing/2014/main" val="2729856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07:30:00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T10 Commit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9073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07:30:05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T2 Read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342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07:30:09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 Read A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6052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07:30:15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T4 Read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801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07:30:18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T3 Read B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65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07:30:20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T2 Commit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369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07:30:24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 T3 T4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//checkpoint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4567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07:30:28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 Write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0112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07:30:32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T4 Write B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82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07:30:33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T3 Write A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9644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07:30:34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T5 Write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853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07:30:39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T11 Read A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976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07:30:40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T4 T5 T11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//checkpoint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8477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07:30:42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T6 Read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756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07:30:46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T6 Read A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7757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07:30:49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T6 Abort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0255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07:30:52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T7 Write B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28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07:30:54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T7 Commit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942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07:30:58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T11 Commit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013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07:31:01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T8 Read A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4833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07:31:04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T8 Write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5322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07:31:15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T9 Read C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058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2026-04-21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07:31:16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>
                          <a:effectLst/>
                          <a:latin typeface="Tw Cen MT" panose="020B0602020104020603" pitchFamily="34" charset="0"/>
                        </a:rPr>
                        <a:t>T9 Read B</a:t>
                      </a:r>
                      <a:endParaRPr lang="en-ZA" sz="180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ZA" sz="1800" dirty="0"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  <a:endParaRPr lang="en-ZA" sz="1800" dirty="0">
                        <a:effectLst/>
                        <a:latin typeface="Tw Cen MT" panose="020B0602020104020603" pitchFamily="34" charset="0"/>
                        <a:ea typeface="Times New Roman" panose="02020603050405020304" pitchFamily="18" charset="0"/>
                        <a:cs typeface="Calibri Light" panose="020F03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1922942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4BDFF08-41D5-9642-256C-8EF7AAB5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Transaction recovery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521FA-BBB7-4794-694D-53934A4B29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Chapter 12 - Managing Transactions and Concurrency Control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14A4B-220A-D316-0D76-43E0F76A38F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19</a:t>
            </a:fld>
            <a:endParaRPr lang="en-US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69AB0E-5435-D219-D285-9F47DE645ED3}"/>
              </a:ext>
            </a:extLst>
          </p:cNvPr>
          <p:cNvGrpSpPr/>
          <p:nvPr/>
        </p:nvGrpSpPr>
        <p:grpSpPr>
          <a:xfrm>
            <a:off x="6252520" y="20698"/>
            <a:ext cx="5829928" cy="3348257"/>
            <a:chOff x="6252520" y="86687"/>
            <a:chExt cx="5829928" cy="343675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FE8A116-083B-530F-A4E3-D5C3E0D1BBA1}"/>
                </a:ext>
              </a:extLst>
            </p:cNvPr>
            <p:cNvCxnSpPr/>
            <p:nvPr/>
          </p:nvCxnSpPr>
          <p:spPr>
            <a:xfrm flipV="1">
              <a:off x="6252520" y="91793"/>
              <a:ext cx="5829928" cy="3431648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97B40ED-B368-90B8-D947-73C72A6D55BC}"/>
                </a:ext>
              </a:extLst>
            </p:cNvPr>
            <p:cNvCxnSpPr/>
            <p:nvPr/>
          </p:nvCxnSpPr>
          <p:spPr>
            <a:xfrm flipH="1" flipV="1">
              <a:off x="6319598" y="86687"/>
              <a:ext cx="5762850" cy="3436754"/>
            </a:xfrm>
            <a:prstGeom prst="line">
              <a:avLst/>
            </a:prstGeom>
            <a:ln w="762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990DCD1-E8D9-738E-C270-4D82B384CB79}"/>
              </a:ext>
            </a:extLst>
          </p:cNvPr>
          <p:cNvSpPr/>
          <p:nvPr/>
        </p:nvSpPr>
        <p:spPr>
          <a:xfrm>
            <a:off x="6252520" y="4695824"/>
            <a:ext cx="4137749" cy="5542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F3C3E2-7759-423F-C081-91E7072ACD38}"/>
              </a:ext>
            </a:extLst>
          </p:cNvPr>
          <p:cNvCxnSpPr/>
          <p:nvPr/>
        </p:nvCxnSpPr>
        <p:spPr>
          <a:xfrm flipV="1">
            <a:off x="6252520" y="3313075"/>
            <a:ext cx="5829928" cy="17069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2E0BCDAC-7968-D524-21A8-AC3E4843A838}"/>
              </a:ext>
            </a:extLst>
          </p:cNvPr>
          <p:cNvSpPr/>
          <p:nvPr/>
        </p:nvSpPr>
        <p:spPr>
          <a:xfrm>
            <a:off x="8834156" y="5227597"/>
            <a:ext cx="345989" cy="1116993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Rounded Rectangle 21">
            <a:extLst>
              <a:ext uri="{FF2B5EF4-FFF2-40B4-BE49-F238E27FC236}">
                <a16:creationId xmlns:a16="http://schemas.microsoft.com/office/drawing/2014/main" id="{4D362C99-F0E7-B33E-D54B-DD4D252D122B}"/>
              </a:ext>
            </a:extLst>
          </p:cNvPr>
          <p:cNvSpPr/>
          <p:nvPr/>
        </p:nvSpPr>
        <p:spPr>
          <a:xfrm>
            <a:off x="8883284" y="3336001"/>
            <a:ext cx="587924" cy="271952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4FA11C2-A664-AA2D-2050-E6CB0E0C122E}"/>
              </a:ext>
            </a:extLst>
          </p:cNvPr>
          <p:cNvSpPr txBox="1">
            <a:spLocks/>
          </p:cNvSpPr>
          <p:nvPr/>
        </p:nvSpPr>
        <p:spPr>
          <a:xfrm>
            <a:off x="391886" y="1310326"/>
            <a:ext cx="5111749" cy="5046024"/>
          </a:xfrm>
          <a:prstGeom prst="rect">
            <a:avLst/>
          </a:prstGeom>
        </p:spPr>
        <p:txBody>
          <a:bodyPr>
            <a:normAutofit/>
          </a:bodyPr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ZA" sz="2400" dirty="0"/>
              <a:t>At time 07:31:17 the system fails.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Use the log to explain how the database will be brought back to a consistent state (which transactions to be redone, if any, and which undone, if any, in an </a:t>
            </a:r>
            <a:r>
              <a:rPr lang="en-ZA" sz="2400" i="1" dirty="0"/>
              <a:t>immediate update </a:t>
            </a:r>
            <a:r>
              <a:rPr lang="en-ZA" sz="2400" dirty="0"/>
              <a:t>environment).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ZA" sz="2400" dirty="0"/>
          </a:p>
          <a:p>
            <a:r>
              <a:rPr lang="en-ZA" sz="2400" dirty="0"/>
              <a:t>Checkpoint</a:t>
            </a:r>
          </a:p>
          <a:p>
            <a:r>
              <a:rPr lang="en-ZA" sz="2400" dirty="0"/>
              <a:t>Commit after checkpoint (redo)</a:t>
            </a:r>
          </a:p>
          <a:p>
            <a:r>
              <a:rPr lang="en-ZA" sz="2400" dirty="0"/>
              <a:t>Active (undo)</a:t>
            </a:r>
          </a:p>
          <a:p>
            <a:r>
              <a:rPr lang="en-ZA" sz="2400" dirty="0"/>
              <a:t>Abort (rollback) – took place at time of abort (rollback)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B4C50F7-B5B1-A3ED-B2BF-1B6FED0E43DE}"/>
              </a:ext>
            </a:extLst>
          </p:cNvPr>
          <p:cNvSpPr/>
          <p:nvPr/>
        </p:nvSpPr>
        <p:spPr>
          <a:xfrm>
            <a:off x="316985" y="4468333"/>
            <a:ext cx="4645552" cy="38835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B19B1E3A-85F2-1058-7962-45153FD2DC84}"/>
              </a:ext>
            </a:extLst>
          </p:cNvPr>
          <p:cNvSpPr/>
          <p:nvPr/>
        </p:nvSpPr>
        <p:spPr>
          <a:xfrm>
            <a:off x="296779" y="4909657"/>
            <a:ext cx="4664087" cy="388355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19C9FE-4A10-C839-F0B3-196B5002124C}"/>
              </a:ext>
            </a:extLst>
          </p:cNvPr>
          <p:cNvSpPr/>
          <p:nvPr/>
        </p:nvSpPr>
        <p:spPr>
          <a:xfrm>
            <a:off x="8883284" y="3662680"/>
            <a:ext cx="296861" cy="71149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0DCBB1-8FF0-A898-3200-DE6B1CB54840}"/>
              </a:ext>
            </a:extLst>
          </p:cNvPr>
          <p:cNvSpPr/>
          <p:nvPr/>
        </p:nvSpPr>
        <p:spPr>
          <a:xfrm>
            <a:off x="316985" y="5350981"/>
            <a:ext cx="4895095" cy="71149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648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  <p:bldP spid="21" grpId="0" animBg="1"/>
      <p:bldP spid="22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3BB2-5C08-0252-DDF4-014310E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4000" dirty="0"/>
              <a:t>Semester test 2 – second notice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BE155-4076-9DB5-3EFF-685F5497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sz="2800" dirty="0"/>
              <a:t>Schedule:</a:t>
            </a:r>
          </a:p>
          <a:p>
            <a:pPr marL="0" indent="0">
              <a:buNone/>
            </a:pPr>
            <a:endParaRPr lang="en-ZA" sz="2800" dirty="0"/>
          </a:p>
          <a:p>
            <a:pPr marL="0" indent="0">
              <a:buNone/>
            </a:pPr>
            <a:endParaRPr lang="en-ZA" sz="2800" dirty="0"/>
          </a:p>
          <a:p>
            <a:r>
              <a:rPr lang="en-US" sz="2400" dirty="0"/>
              <a:t>Tuesday, 12 May</a:t>
            </a:r>
          </a:p>
          <a:p>
            <a:pPr lvl="1"/>
            <a:r>
              <a:rPr lang="en-US" sz="2000" dirty="0"/>
              <a:t>May bring in ONE page (double sided) hand written (no photocopies) notes</a:t>
            </a:r>
          </a:p>
          <a:p>
            <a:r>
              <a:rPr lang="en-ZA" sz="2400" dirty="0"/>
              <a:t>2-hour test, 60 marks</a:t>
            </a:r>
          </a:p>
          <a:p>
            <a:r>
              <a:rPr lang="en-ZA" sz="2400" dirty="0"/>
              <a:t>Time to be confirmed – depends on lab availability (venues shared with another module this time)</a:t>
            </a:r>
          </a:p>
          <a:p>
            <a:endParaRPr lang="en-ZA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114D5-FB0F-4DB3-7A20-8CD35542F0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20</a:t>
            </a:fld>
            <a:endParaRPr lang="en-US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ECE32-B211-45E4-A0E8-9E2D3A3875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0"/>
          <a:stretch/>
        </p:blipFill>
        <p:spPr>
          <a:xfrm>
            <a:off x="1888321" y="1382981"/>
            <a:ext cx="9663360" cy="1120073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3C8EC4-D339-4E77-B14D-26282BF38C0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805395" y="6641402"/>
            <a:ext cx="3789006" cy="198598"/>
          </a:xfrm>
        </p:spPr>
        <p:txBody>
          <a:bodyPr/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Chapter 12 - </a:t>
            </a:r>
            <a:r>
              <a:rPr lang="en-ZA" sz="1100" dirty="0">
                <a:solidFill>
                  <a:schemeClr val="bg1">
                    <a:lumMod val="75000"/>
                  </a:schemeClr>
                </a:solidFill>
              </a:rPr>
              <a:t>Managing Transactions and Concurrency Control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55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Science fair presentation</Template>
  <TotalTime>2271</TotalTime>
  <Words>2279</Words>
  <Application>Microsoft Office PowerPoint</Application>
  <PresentationFormat>Widescreen</PresentationFormat>
  <Paragraphs>541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Lucida Sans Typewriter</vt:lpstr>
      <vt:lpstr>Times New Roman</vt:lpstr>
      <vt:lpstr>Tw Cen MT</vt:lpstr>
      <vt:lpstr>Office Theme</vt:lpstr>
      <vt:lpstr>Managing Transactions and Concurrency Control</vt:lpstr>
      <vt:lpstr>Transactions</vt:lpstr>
      <vt:lpstr>PowerPoint Presentation</vt:lpstr>
      <vt:lpstr>Serialisability</vt:lpstr>
      <vt:lpstr>Serialisability</vt:lpstr>
      <vt:lpstr>Transaction log</vt:lpstr>
      <vt:lpstr>Transaction log</vt:lpstr>
      <vt:lpstr>Concurrency Control</vt:lpstr>
      <vt:lpstr>Concurrency Control</vt:lpstr>
      <vt:lpstr>Inconsistent retrieval example  Move 100 from Savings to Cheque</vt:lpstr>
      <vt:lpstr>Concurrency Control</vt:lpstr>
      <vt:lpstr>Pessimistic locking, no 2PL</vt:lpstr>
      <vt:lpstr>Pessimistic locking, with 2PL</vt:lpstr>
      <vt:lpstr>Concurrency control with time stamping</vt:lpstr>
      <vt:lpstr>Concurrency control</vt:lpstr>
      <vt:lpstr>PowerPoint Presentation</vt:lpstr>
      <vt:lpstr>Database recovery management</vt:lpstr>
      <vt:lpstr>Transaction recovery procedures</vt:lpstr>
      <vt:lpstr>Transaction recovery example</vt:lpstr>
      <vt:lpstr>Semester test 2 – second notice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Cover Title</dc:title>
  <dc:creator>Barnard, Lynette (Dr) (Summerstrand Campus South)</dc:creator>
  <cp:lastModifiedBy>Barnard, Lynette (Dr) (Summerstrand Campus South)</cp:lastModifiedBy>
  <cp:revision>364</cp:revision>
  <dcterms:created xsi:type="dcterms:W3CDTF">2026-01-27T08:37:41Z</dcterms:created>
  <dcterms:modified xsi:type="dcterms:W3CDTF">2026-04-22T20:39:50Z</dcterms:modified>
</cp:coreProperties>
</file>