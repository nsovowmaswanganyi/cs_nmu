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54" r:id="rId1"/>
  </p:sldMasterIdLst>
  <p:notesMasterIdLst>
    <p:notesMasterId r:id="rId11"/>
  </p:notesMasterIdLst>
  <p:handoutMasterIdLst>
    <p:handoutMasterId r:id="rId12"/>
  </p:handoutMasterIdLst>
  <p:sldIdLst>
    <p:sldId id="499" r:id="rId2"/>
    <p:sldId id="540" r:id="rId3"/>
    <p:sldId id="544" r:id="rId4"/>
    <p:sldId id="514" r:id="rId5"/>
    <p:sldId id="542" r:id="rId6"/>
    <p:sldId id="555" r:id="rId7"/>
    <p:sldId id="515" r:id="rId8"/>
    <p:sldId id="516" r:id="rId9"/>
    <p:sldId id="517" r:id="rId10"/>
  </p:sldIdLst>
  <p:sldSz cx="9144000" cy="6858000" type="screen4x3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38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38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38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38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38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38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38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38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38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009900"/>
    <a:srgbClr val="800000"/>
    <a:srgbClr val="9900CC"/>
    <a:srgbClr val="FF9900"/>
    <a:srgbClr val="FF00FF"/>
    <a:srgbClr val="FF3300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08" autoAdjust="0"/>
    <p:restoredTop sz="92929" autoAdjust="0"/>
  </p:normalViewPr>
  <p:slideViewPr>
    <p:cSldViewPr>
      <p:cViewPr varScale="1">
        <p:scale>
          <a:sx n="85" d="100"/>
          <a:sy n="85" d="100"/>
        </p:scale>
        <p:origin x="1262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otman, Chantal (Prof) (Summerstrand Campus South)" userId="b3444f73-21d4-4d22-b260-75b64de2b6d6" providerId="ADAL" clId="{BDC06D01-9930-43F4-9B73-02007E445595}"/>
    <pc:docChg chg="undo custSel addSld delSld modSld">
      <pc:chgData name="Rootman, Chantal (Prof) (Summerstrand Campus South)" userId="b3444f73-21d4-4d22-b260-75b64de2b6d6" providerId="ADAL" clId="{BDC06D01-9930-43F4-9B73-02007E445595}" dt="2026-05-16T13:37:45.541" v="106" actId="6549"/>
      <pc:docMkLst>
        <pc:docMk/>
      </pc:docMkLst>
      <pc:sldChg chg="del">
        <pc:chgData name="Rootman, Chantal (Prof) (Summerstrand Campus South)" userId="b3444f73-21d4-4d22-b260-75b64de2b6d6" providerId="ADAL" clId="{BDC06D01-9930-43F4-9B73-02007E445595}" dt="2026-05-16T13:37:21.666" v="64" actId="47"/>
        <pc:sldMkLst>
          <pc:docMk/>
          <pc:sldMk cId="0" sldId="362"/>
        </pc:sldMkLst>
      </pc:sldChg>
      <pc:sldChg chg="delSp modSp mod">
        <pc:chgData name="Rootman, Chantal (Prof) (Summerstrand Campus South)" userId="b3444f73-21d4-4d22-b260-75b64de2b6d6" providerId="ADAL" clId="{BDC06D01-9930-43F4-9B73-02007E445595}" dt="2026-05-16T13:37:18.490" v="63" actId="6549"/>
        <pc:sldMkLst>
          <pc:docMk/>
          <pc:sldMk cId="0" sldId="499"/>
        </pc:sldMkLst>
        <pc:spChg chg="mod">
          <ac:chgData name="Rootman, Chantal (Prof) (Summerstrand Campus South)" userId="b3444f73-21d4-4d22-b260-75b64de2b6d6" providerId="ADAL" clId="{BDC06D01-9930-43F4-9B73-02007E445595}" dt="2026-05-16T13:37:18.490" v="63" actId="6549"/>
          <ac:spMkLst>
            <pc:docMk/>
            <pc:sldMk cId="0" sldId="499"/>
            <ac:spMk id="4099" creationId="{1C5E7971-B5D2-4709-854E-7D6089EDD85E}"/>
          </ac:spMkLst>
        </pc:spChg>
        <pc:picChg chg="del">
          <ac:chgData name="Rootman, Chantal (Prof) (Summerstrand Campus South)" userId="b3444f73-21d4-4d22-b260-75b64de2b6d6" providerId="ADAL" clId="{BDC06D01-9930-43F4-9B73-02007E445595}" dt="2026-05-16T13:37:04.900" v="0" actId="478"/>
          <ac:picMkLst>
            <pc:docMk/>
            <pc:sldMk cId="0" sldId="499"/>
            <ac:picMk id="2" creationId="{44F60212-1A4D-1084-A932-2538DC8A1ED6}"/>
          </ac:picMkLst>
        </pc:picChg>
      </pc:sldChg>
      <pc:sldChg chg="del">
        <pc:chgData name="Rootman, Chantal (Prof) (Summerstrand Campus South)" userId="b3444f73-21d4-4d22-b260-75b64de2b6d6" providerId="ADAL" clId="{BDC06D01-9930-43F4-9B73-02007E445595}" dt="2026-05-16T13:37:22.622" v="65" actId="47"/>
        <pc:sldMkLst>
          <pc:docMk/>
          <pc:sldMk cId="0" sldId="506"/>
        </pc:sldMkLst>
      </pc:sldChg>
      <pc:sldChg chg="del">
        <pc:chgData name="Rootman, Chantal (Prof) (Summerstrand Campus South)" userId="b3444f73-21d4-4d22-b260-75b64de2b6d6" providerId="ADAL" clId="{BDC06D01-9930-43F4-9B73-02007E445595}" dt="2026-05-16T13:37:23.155" v="66" actId="47"/>
        <pc:sldMkLst>
          <pc:docMk/>
          <pc:sldMk cId="0" sldId="509"/>
        </pc:sldMkLst>
      </pc:sldChg>
      <pc:sldChg chg="del">
        <pc:chgData name="Rootman, Chantal (Prof) (Summerstrand Campus South)" userId="b3444f73-21d4-4d22-b260-75b64de2b6d6" providerId="ADAL" clId="{BDC06D01-9930-43F4-9B73-02007E445595}" dt="2026-05-16T13:37:23.568" v="67" actId="47"/>
        <pc:sldMkLst>
          <pc:docMk/>
          <pc:sldMk cId="0" sldId="511"/>
        </pc:sldMkLst>
      </pc:sldChg>
      <pc:sldChg chg="del">
        <pc:chgData name="Rootman, Chantal (Prof) (Summerstrand Campus South)" userId="b3444f73-21d4-4d22-b260-75b64de2b6d6" providerId="ADAL" clId="{BDC06D01-9930-43F4-9B73-02007E445595}" dt="2026-05-16T13:37:25.661" v="70" actId="47"/>
        <pc:sldMkLst>
          <pc:docMk/>
          <pc:sldMk cId="0" sldId="512"/>
        </pc:sldMkLst>
      </pc:sldChg>
      <pc:sldChg chg="modSp add del mod">
        <pc:chgData name="Rootman, Chantal (Prof) (Summerstrand Campus South)" userId="b3444f73-21d4-4d22-b260-75b64de2b6d6" providerId="ADAL" clId="{BDC06D01-9930-43F4-9B73-02007E445595}" dt="2026-05-16T13:37:45.541" v="106" actId="6549"/>
        <pc:sldMkLst>
          <pc:docMk/>
          <pc:sldMk cId="0" sldId="540"/>
        </pc:sldMkLst>
        <pc:spChg chg="mod">
          <ac:chgData name="Rootman, Chantal (Prof) (Summerstrand Campus South)" userId="b3444f73-21d4-4d22-b260-75b64de2b6d6" providerId="ADAL" clId="{BDC06D01-9930-43F4-9B73-02007E445595}" dt="2026-05-16T13:37:39.237" v="76" actId="6549"/>
          <ac:spMkLst>
            <pc:docMk/>
            <pc:sldMk cId="0" sldId="540"/>
            <ac:spMk id="10244" creationId="{D388546A-D576-458A-9796-274D20EACEFE}"/>
          </ac:spMkLst>
        </pc:spChg>
        <pc:spChg chg="mod">
          <ac:chgData name="Rootman, Chantal (Prof) (Summerstrand Campus South)" userId="b3444f73-21d4-4d22-b260-75b64de2b6d6" providerId="ADAL" clId="{BDC06D01-9930-43F4-9B73-02007E445595}" dt="2026-05-16T13:37:45.541" v="106" actId="6549"/>
          <ac:spMkLst>
            <pc:docMk/>
            <pc:sldMk cId="0" sldId="540"/>
            <ac:spMk id="12291" creationId="{07FD4499-D1B8-48A1-81FD-BDC7C00D157A}"/>
          </ac:spMkLst>
        </pc:spChg>
      </pc:sldChg>
      <pc:sldChg chg="del">
        <pc:chgData name="Rootman, Chantal (Prof) (Summerstrand Campus South)" userId="b3444f73-21d4-4d22-b260-75b64de2b6d6" providerId="ADAL" clId="{BDC06D01-9930-43F4-9B73-02007E445595}" dt="2026-05-16T13:37:24.417" v="68" actId="47"/>
        <pc:sldMkLst>
          <pc:docMk/>
          <pc:sldMk cId="0" sldId="546"/>
        </pc:sldMkLst>
      </pc:sldChg>
      <pc:sldChg chg="del">
        <pc:chgData name="Rootman, Chantal (Prof) (Summerstrand Campus South)" userId="b3444f73-21d4-4d22-b260-75b64de2b6d6" providerId="ADAL" clId="{BDC06D01-9930-43F4-9B73-02007E445595}" dt="2026-05-16T13:37:26.486" v="71" actId="47"/>
        <pc:sldMkLst>
          <pc:docMk/>
          <pc:sldMk cId="612804189" sldId="553"/>
        </pc:sldMkLst>
      </pc:sldChg>
      <pc:sldChg chg="del">
        <pc:chgData name="Rootman, Chantal (Prof) (Summerstrand Campus South)" userId="b3444f73-21d4-4d22-b260-75b64de2b6d6" providerId="ADAL" clId="{BDC06D01-9930-43F4-9B73-02007E445595}" dt="2026-05-16T13:37:24.888" v="69" actId="47"/>
        <pc:sldMkLst>
          <pc:docMk/>
          <pc:sldMk cId="992919143" sldId="55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E207546B-B02D-4265-90C8-80F157FFE6B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7D5E8EE1-2468-4C07-96CF-58CF012AF75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3732" name="Rectangle 4">
            <a:extLst>
              <a:ext uri="{FF2B5EF4-FFF2-40B4-BE49-F238E27FC236}">
                <a16:creationId xmlns:a16="http://schemas.microsoft.com/office/drawing/2014/main" id="{C1B4F0F9-7A3E-4D4F-83D6-F6CB5F67AF2A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3733" name="Rectangle 5">
            <a:extLst>
              <a:ext uri="{FF2B5EF4-FFF2-40B4-BE49-F238E27FC236}">
                <a16:creationId xmlns:a16="http://schemas.microsoft.com/office/drawing/2014/main" id="{BC122393-918F-4B4F-9778-527D2DA092B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FB04AE38-629E-4229-AF4D-829510A902A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30F056A7-5320-4D2A-B66C-2CD6562B198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E4E09C1B-99E3-4BB9-A9B6-27FA17301ED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7836949A-8DC8-425E-B276-DC50B0384DE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5" name="Rectangle 5">
            <a:extLst>
              <a:ext uri="{FF2B5EF4-FFF2-40B4-BE49-F238E27FC236}">
                <a16:creationId xmlns:a16="http://schemas.microsoft.com/office/drawing/2014/main" id="{66D54EC2-BFCB-45C4-B599-CABF22383BB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38775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246" name="Rectangle 6">
            <a:extLst>
              <a:ext uri="{FF2B5EF4-FFF2-40B4-BE49-F238E27FC236}">
                <a16:creationId xmlns:a16="http://schemas.microsoft.com/office/drawing/2014/main" id="{2369C60F-2DB5-421B-B2A8-07124DA3DED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7" name="Rectangle 7">
            <a:extLst>
              <a:ext uri="{FF2B5EF4-FFF2-40B4-BE49-F238E27FC236}">
                <a16:creationId xmlns:a16="http://schemas.microsoft.com/office/drawing/2014/main" id="{329CF535-0F18-4D6B-8353-FF7D861851F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F0EB137C-D8FB-4C44-9B91-C8EB62B1516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2458A96-FE45-441C-B7D9-2C84BC2BDEB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A46790-D02D-42E9-B5BB-FAFB8C10720B}" type="slidenum">
              <a:rPr lang="en-ZA" altLang="en-US"/>
              <a:pPr>
                <a:defRPr/>
              </a:pPr>
              <a:t>‹#›</a:t>
            </a:fld>
            <a:endParaRPr lang="en-ZA" altLang="en-US"/>
          </a:p>
        </p:txBody>
      </p:sp>
    </p:spTree>
    <p:extLst>
      <p:ext uri="{BB962C8B-B14F-4D97-AF65-F5344CB8AC3E}">
        <p14:creationId xmlns:p14="http://schemas.microsoft.com/office/powerpoint/2010/main" val="1101696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E13065E-C4C1-4EF6-BA9A-5203A3A2949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93C9DA-2D28-4B80-9417-35B6BA82B4D0}" type="slidenum">
              <a:rPr lang="en-ZA" altLang="en-US"/>
              <a:pPr>
                <a:defRPr/>
              </a:pPr>
              <a:t>‹#›</a:t>
            </a:fld>
            <a:endParaRPr lang="en-ZA" altLang="en-US"/>
          </a:p>
        </p:txBody>
      </p:sp>
    </p:spTree>
    <p:extLst>
      <p:ext uri="{BB962C8B-B14F-4D97-AF65-F5344CB8AC3E}">
        <p14:creationId xmlns:p14="http://schemas.microsoft.com/office/powerpoint/2010/main" val="38049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5380ACB-739D-46D8-A157-066D0725811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B1570D-B575-47CF-AA66-AF7ADB752529}" type="slidenum">
              <a:rPr lang="en-ZA" altLang="en-US"/>
              <a:pPr>
                <a:defRPr/>
              </a:pPr>
              <a:t>‹#›</a:t>
            </a:fld>
            <a:endParaRPr lang="en-ZA" altLang="en-US"/>
          </a:p>
        </p:txBody>
      </p:sp>
    </p:spTree>
    <p:extLst>
      <p:ext uri="{BB962C8B-B14F-4D97-AF65-F5344CB8AC3E}">
        <p14:creationId xmlns:p14="http://schemas.microsoft.com/office/powerpoint/2010/main" val="1122996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76400"/>
            <a:ext cx="39243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1676400"/>
            <a:ext cx="39243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BBF19C-E309-4D2A-83C9-54EFAC0A2C2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84B08C-8626-4673-8EBE-DB42975031D3}" type="slidenum">
              <a:rPr lang="en-ZA" altLang="en-US"/>
              <a:pPr>
                <a:defRPr/>
              </a:pPr>
              <a:t>‹#›</a:t>
            </a:fld>
            <a:endParaRPr lang="en-ZA" altLang="en-US"/>
          </a:p>
        </p:txBody>
      </p:sp>
    </p:spTree>
    <p:extLst>
      <p:ext uri="{BB962C8B-B14F-4D97-AF65-F5344CB8AC3E}">
        <p14:creationId xmlns:p14="http://schemas.microsoft.com/office/powerpoint/2010/main" val="2354643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4D5A9F8-920A-4651-BC6B-84F7A73988A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94E8FE-9D76-4F83-908E-ED98C7D57A82}" type="slidenum">
              <a:rPr lang="en-ZA" altLang="en-US"/>
              <a:pPr>
                <a:defRPr/>
              </a:pPr>
              <a:t>‹#›</a:t>
            </a:fld>
            <a:endParaRPr lang="en-ZA" altLang="en-US"/>
          </a:p>
        </p:txBody>
      </p:sp>
    </p:spTree>
    <p:extLst>
      <p:ext uri="{BB962C8B-B14F-4D97-AF65-F5344CB8AC3E}">
        <p14:creationId xmlns:p14="http://schemas.microsoft.com/office/powerpoint/2010/main" val="653343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177B940-04A2-42C6-92A4-BB70738BBA3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FDF35C-935B-46DD-90BE-045856A13064}" type="slidenum">
              <a:rPr lang="en-ZA" altLang="en-US"/>
              <a:pPr>
                <a:defRPr/>
              </a:pPr>
              <a:t>‹#›</a:t>
            </a:fld>
            <a:endParaRPr lang="en-ZA" altLang="en-US"/>
          </a:p>
        </p:txBody>
      </p:sp>
    </p:spTree>
    <p:extLst>
      <p:ext uri="{BB962C8B-B14F-4D97-AF65-F5344CB8AC3E}">
        <p14:creationId xmlns:p14="http://schemas.microsoft.com/office/powerpoint/2010/main" val="683589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3AF492D-35B0-4F90-B0F2-CE09804C16D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4698D7-C7E1-4F5F-A09F-F8482BC83207}" type="slidenum">
              <a:rPr lang="en-ZA" altLang="en-US"/>
              <a:pPr>
                <a:defRPr/>
              </a:pPr>
              <a:t>‹#›</a:t>
            </a:fld>
            <a:endParaRPr lang="en-ZA" altLang="en-US"/>
          </a:p>
        </p:txBody>
      </p:sp>
    </p:spTree>
    <p:extLst>
      <p:ext uri="{BB962C8B-B14F-4D97-AF65-F5344CB8AC3E}">
        <p14:creationId xmlns:p14="http://schemas.microsoft.com/office/powerpoint/2010/main" val="1043302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6D3A06-86B4-4B08-AB5A-205C74DC1E3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5FB40B-EAB9-4B77-8BDC-9D00E4633CCB}" type="slidenum">
              <a:rPr lang="en-ZA" altLang="en-US"/>
              <a:pPr>
                <a:defRPr/>
              </a:pPr>
              <a:t>‹#›</a:t>
            </a:fld>
            <a:endParaRPr lang="en-ZA" altLang="en-US"/>
          </a:p>
        </p:txBody>
      </p:sp>
    </p:spTree>
    <p:extLst>
      <p:ext uri="{BB962C8B-B14F-4D97-AF65-F5344CB8AC3E}">
        <p14:creationId xmlns:p14="http://schemas.microsoft.com/office/powerpoint/2010/main" val="1121304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ZA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1691EF-7F09-4F90-B130-B83F42BAD2B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DE8E3F-CC46-4C8E-9501-8BF164A16833}" type="slidenum">
              <a:rPr lang="en-ZA" altLang="en-US"/>
              <a:pPr>
                <a:defRPr/>
              </a:pPr>
              <a:t>‹#›</a:t>
            </a:fld>
            <a:endParaRPr lang="en-ZA" altLang="en-US"/>
          </a:p>
        </p:txBody>
      </p:sp>
    </p:spTree>
    <p:extLst>
      <p:ext uri="{BB962C8B-B14F-4D97-AF65-F5344CB8AC3E}">
        <p14:creationId xmlns:p14="http://schemas.microsoft.com/office/powerpoint/2010/main" val="360648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CAB08CA-94DB-4D29-93EA-1152F54213C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67B5B0-0F5D-450B-BFB1-502D19514BD4}" type="slidenum">
              <a:rPr lang="en-ZA" altLang="en-US"/>
              <a:pPr>
                <a:defRPr/>
              </a:pPr>
              <a:t>‹#›</a:t>
            </a:fld>
            <a:endParaRPr lang="en-ZA" altLang="en-US"/>
          </a:p>
        </p:txBody>
      </p:sp>
    </p:spTree>
    <p:extLst>
      <p:ext uri="{BB962C8B-B14F-4D97-AF65-F5344CB8AC3E}">
        <p14:creationId xmlns:p14="http://schemas.microsoft.com/office/powerpoint/2010/main" val="3016416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228600"/>
            <a:ext cx="200025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28600"/>
            <a:ext cx="5848350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E5895D0-8522-4BA0-9F49-125603D8CA3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B4A7F6-3B32-4A19-8837-ADA7162CC43E}" type="slidenum">
              <a:rPr lang="en-ZA" altLang="en-US"/>
              <a:pPr>
                <a:defRPr/>
              </a:pPr>
              <a:t>‹#›</a:t>
            </a:fld>
            <a:endParaRPr lang="en-ZA" altLang="en-US"/>
          </a:p>
        </p:txBody>
      </p:sp>
    </p:spTree>
    <p:extLst>
      <p:ext uri="{BB962C8B-B14F-4D97-AF65-F5344CB8AC3E}">
        <p14:creationId xmlns:p14="http://schemas.microsoft.com/office/powerpoint/2010/main" val="23418129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676400"/>
            <a:ext cx="3924300" cy="472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1676400"/>
            <a:ext cx="3924300" cy="228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114800"/>
            <a:ext cx="3924300" cy="228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3A3AC76B-623A-4019-B7B0-B79C5115B0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025295-84FC-4814-A204-198BFBA36B6E}" type="slidenum">
              <a:rPr lang="en-ZA" altLang="en-US"/>
              <a:pPr>
                <a:defRPr/>
              </a:pPr>
              <a:t>‹#›</a:t>
            </a:fld>
            <a:endParaRPr lang="en-ZA" altLang="en-US"/>
          </a:p>
        </p:txBody>
      </p:sp>
    </p:spTree>
    <p:extLst>
      <p:ext uri="{BB962C8B-B14F-4D97-AF65-F5344CB8AC3E}">
        <p14:creationId xmlns:p14="http://schemas.microsoft.com/office/powerpoint/2010/main" val="15855381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676400"/>
            <a:ext cx="3924300" cy="472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1676400"/>
            <a:ext cx="3924300" cy="472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38BA5B-EE51-4E0F-A9FC-CF60CFA5633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26291B-07D5-4F05-B065-C22F5CAAA6B3}" type="slidenum">
              <a:rPr lang="en-ZA" altLang="en-US"/>
              <a:pPr>
                <a:defRPr/>
              </a:pPr>
              <a:t>‹#›</a:t>
            </a:fld>
            <a:endParaRPr lang="en-ZA" altLang="en-US"/>
          </a:p>
        </p:txBody>
      </p:sp>
    </p:spTree>
    <p:extLst>
      <p:ext uri="{BB962C8B-B14F-4D97-AF65-F5344CB8AC3E}">
        <p14:creationId xmlns:p14="http://schemas.microsoft.com/office/powerpoint/2010/main" val="38089558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676400"/>
            <a:ext cx="8001000" cy="4724400"/>
          </a:xfrm>
        </p:spPr>
        <p:txBody>
          <a:bodyPr/>
          <a:lstStyle/>
          <a:p>
            <a:pPr lvl="0"/>
            <a:endParaRPr lang="en-ZA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59338A2-0D53-4C98-88AA-4E5EA2F4DF9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209A4C-AA28-40EF-8458-9C7425895072}" type="slidenum">
              <a:rPr lang="en-ZA" altLang="en-US"/>
              <a:pPr>
                <a:defRPr/>
              </a:pPr>
              <a:t>‹#›</a:t>
            </a:fld>
            <a:endParaRPr lang="en-ZA" altLang="en-US"/>
          </a:p>
        </p:txBody>
      </p:sp>
    </p:spTree>
    <p:extLst>
      <p:ext uri="{BB962C8B-B14F-4D97-AF65-F5344CB8AC3E}">
        <p14:creationId xmlns:p14="http://schemas.microsoft.com/office/powerpoint/2010/main" val="995679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D206875-1AD5-4456-8309-B6B0DFFF7A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ZA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162D5AB-3E96-43EC-96FB-D99285734C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80010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ZA" altLang="en-US"/>
              <a:t>Click to edit Master text styles</a:t>
            </a:r>
          </a:p>
          <a:p>
            <a:pPr lvl="1"/>
            <a:r>
              <a:rPr lang="en-ZA" altLang="en-US"/>
              <a:t>Second level</a:t>
            </a:r>
          </a:p>
          <a:p>
            <a:pPr lvl="2"/>
            <a:r>
              <a:rPr lang="en-ZA" altLang="en-US"/>
              <a:t>Third level</a:t>
            </a:r>
          </a:p>
          <a:p>
            <a:pPr lvl="3"/>
            <a:r>
              <a:rPr lang="en-ZA" altLang="en-US"/>
              <a:t>Fourth level</a:t>
            </a:r>
          </a:p>
          <a:p>
            <a:pPr lvl="4"/>
            <a:r>
              <a:rPr lang="en-ZA" altLang="en-US"/>
              <a:t>Fifth level</a:t>
            </a:r>
          </a:p>
        </p:txBody>
      </p:sp>
      <p:sp>
        <p:nvSpPr>
          <p:cNvPr id="45060" name="Rectangle 4">
            <a:extLst>
              <a:ext uri="{FF2B5EF4-FFF2-40B4-BE49-F238E27FC236}">
                <a16:creationId xmlns:a16="http://schemas.microsoft.com/office/drawing/2014/main" id="{449E955A-7E99-4F19-A790-063DF351E87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352800" y="6324600"/>
            <a:ext cx="2286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8D82B7C3-9FA9-438A-BB17-BB335A585C8E}" type="slidenum">
              <a:rPr lang="en-ZA" altLang="en-US"/>
              <a:pPr>
                <a:defRPr/>
              </a:pPr>
              <a:t>‹#›</a:t>
            </a:fld>
            <a:endParaRPr lang="en-ZA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800">
          <a:solidFill>
            <a:srgbClr val="0000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800">
          <a:solidFill>
            <a:srgbClr val="0000FF"/>
          </a:solidFill>
          <a:latin typeface="Tahom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800">
          <a:solidFill>
            <a:srgbClr val="0000FF"/>
          </a:solidFill>
          <a:latin typeface="Tahom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800">
          <a:solidFill>
            <a:srgbClr val="0000FF"/>
          </a:solidFill>
          <a:latin typeface="Tahom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800">
          <a:solidFill>
            <a:srgbClr val="0000FF"/>
          </a:solidFill>
          <a:latin typeface="Tahoma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800">
          <a:solidFill>
            <a:srgbClr val="0000FF"/>
          </a:solidFill>
          <a:latin typeface="Tahoma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800">
          <a:solidFill>
            <a:srgbClr val="0000FF"/>
          </a:solidFill>
          <a:latin typeface="Tahoma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800">
          <a:solidFill>
            <a:srgbClr val="0000FF"/>
          </a:solidFill>
          <a:latin typeface="Tahoma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800">
          <a:solidFill>
            <a:srgbClr val="0000FF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1">
            <a:extLst>
              <a:ext uri="{FF2B5EF4-FFF2-40B4-BE49-F238E27FC236}">
                <a16:creationId xmlns:a16="http://schemas.microsoft.com/office/drawing/2014/main" id="{6F73C352-6A6E-464E-8968-1945CCAC2D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1EC2D22-F9C8-4CFD-9AAF-4251783A67CC}" type="slidenum">
              <a:rPr lang="en-ZA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0</a:t>
            </a:fld>
            <a:endParaRPr lang="en-ZA" altLang="en-US" sz="1400">
              <a:latin typeface="Times New Roman" panose="02020603050405020304" pitchFamily="18" charset="0"/>
            </a:endParaRP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1C5E7971-B5D2-4709-854E-7D6089EDD8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2608780"/>
            <a:ext cx="3348038" cy="1074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0" tIns="44446" rIns="90480" bIns="44446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GB" altLang="en-US" sz="3200" dirty="0">
                <a:solidFill>
                  <a:srgbClr val="000066"/>
                </a:solidFill>
              </a:rPr>
              <a:t>Guidelines posted on Funda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D43240B7-D8FC-4FA9-9894-1869C9DA61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7638" y="533399"/>
            <a:ext cx="3378200" cy="115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0" tIns="44446" rIns="90480" bIns="44446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ZA" altLang="en-US" sz="4000" dirty="0">
                <a:solidFill>
                  <a:srgbClr val="28287A"/>
                </a:solidFill>
              </a:rPr>
              <a:t>EBMV301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ZA" altLang="en-US" sz="4000" dirty="0">
                <a:solidFill>
                  <a:srgbClr val="28287A"/>
                </a:solidFill>
              </a:rPr>
              <a:t>2026</a:t>
            </a:r>
            <a:endParaRPr lang="en-GB" altLang="en-US" sz="4000" dirty="0">
              <a:solidFill>
                <a:srgbClr val="28287A"/>
              </a:solidFill>
            </a:endParaRPr>
          </a:p>
        </p:txBody>
      </p:sp>
      <p:sp>
        <p:nvSpPr>
          <p:cNvPr id="4101" name="Rectangle 6">
            <a:extLst>
              <a:ext uri="{FF2B5EF4-FFF2-40B4-BE49-F238E27FC236}">
                <a16:creationId xmlns:a16="http://schemas.microsoft.com/office/drawing/2014/main" id="{D323F576-9CFE-4D92-A37D-DF78FF323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0958" y="5336305"/>
            <a:ext cx="4011706" cy="1013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0" tIns="44446" rIns="90480" bIns="44446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ts val="0"/>
              </a:spcBef>
              <a:buFontTx/>
              <a:buNone/>
            </a:pPr>
            <a:r>
              <a:rPr lang="en-GB" altLang="en-US" sz="2000" b="1" dirty="0">
                <a:solidFill>
                  <a:srgbClr val="000066"/>
                </a:solidFill>
              </a:rPr>
              <a:t>slides by Prof C Rootman, </a:t>
            </a:r>
          </a:p>
          <a:p>
            <a:pPr algn="ctr">
              <a:spcBef>
                <a:spcPts val="0"/>
              </a:spcBef>
              <a:buFontTx/>
              <a:buNone/>
            </a:pPr>
            <a:r>
              <a:rPr lang="en-GB" altLang="en-US" sz="2000" b="1" dirty="0">
                <a:solidFill>
                  <a:srgbClr val="000066"/>
                </a:solidFill>
              </a:rPr>
              <a:t>Dr S Watson, Ms E Kobese &amp; Ms N Maliwa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7120"/>
    </mc:Choice>
    <mc:Fallback xmlns="">
      <p:transition spd="slow" advTm="9712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4">
            <a:extLst>
              <a:ext uri="{FF2B5EF4-FFF2-40B4-BE49-F238E27FC236}">
                <a16:creationId xmlns:a16="http://schemas.microsoft.com/office/drawing/2014/main" id="{56D7213E-6E81-492D-ACFC-1F0591491AF1}"/>
              </a:ext>
            </a:extLst>
          </p:cNvPr>
          <p:cNvSpPr txBox="1">
            <a:spLocks noGrp="1"/>
          </p:cNvSpPr>
          <p:nvPr/>
        </p:nvSpPr>
        <p:spPr bwMode="auto">
          <a:xfrm>
            <a:off x="3352800" y="6324600"/>
            <a:ext cx="2286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865E2F00-FFA3-46BB-8DDD-28D86EF068B2}" type="slidenum">
              <a:rPr lang="en-ZA" altLang="en-US" sz="1400">
                <a:latin typeface="Times New Roman" panose="02020603050405020304" pitchFamily="18" charset="0"/>
              </a:rPr>
              <a:pPr algn="r">
                <a:spcBef>
                  <a:spcPct val="0"/>
                </a:spcBef>
                <a:buFontTx/>
                <a:buNone/>
              </a:pPr>
              <a:t>1</a:t>
            </a:fld>
            <a:endParaRPr lang="en-ZA" altLang="en-US" sz="1400">
              <a:latin typeface="Times New Roman" panose="02020603050405020304" pitchFamily="18" charset="0"/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07FD4499-D1B8-48A1-81FD-BDC7C00D157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0"/>
            <a:ext cx="8153400" cy="914400"/>
          </a:xfrm>
        </p:spPr>
        <p:txBody>
          <a:bodyPr/>
          <a:lstStyle/>
          <a:p>
            <a:r>
              <a:rPr lang="en-ZA" altLang="en-US" dirty="0">
                <a:solidFill>
                  <a:srgbClr val="000066"/>
                </a:solidFill>
              </a:rPr>
              <a:t>NB note</a:t>
            </a:r>
            <a:endParaRPr lang="en-GB" altLang="en-US" dirty="0">
              <a:solidFill>
                <a:srgbClr val="000066"/>
              </a:solidFill>
            </a:endParaRP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D388546A-D576-458A-9796-274D20EACEFE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28600" y="814873"/>
            <a:ext cx="8610600" cy="5867400"/>
          </a:xfrm>
        </p:spPr>
        <p:txBody>
          <a:bodyPr/>
          <a:lstStyle/>
          <a:p>
            <a:pPr marL="457200" lvl="1" indent="0" algn="just">
              <a:lnSpc>
                <a:spcPct val="90000"/>
              </a:lnSpc>
              <a:buFontTx/>
              <a:buNone/>
              <a:defRPr/>
            </a:pPr>
            <a:endParaRPr lang="en-ZA" altLang="en-US" sz="1200" dirty="0"/>
          </a:p>
          <a:p>
            <a:pPr marL="0" lvl="1" indent="0" algn="just">
              <a:lnSpc>
                <a:spcPct val="90000"/>
              </a:lnSpc>
              <a:buFontTx/>
              <a:buNone/>
              <a:defRPr/>
            </a:pPr>
            <a:r>
              <a:rPr lang="en-ZA" altLang="en-US" dirty="0"/>
              <a:t>For all chapters: </a:t>
            </a:r>
            <a:r>
              <a:rPr lang="en-ZA" altLang="en-US" dirty="0">
                <a:solidFill>
                  <a:srgbClr val="FF0000"/>
                </a:solidFill>
              </a:rPr>
              <a:t>LECTURE</a:t>
            </a:r>
            <a:r>
              <a:rPr lang="en-ZA" altLang="en-US" dirty="0"/>
              <a:t> is your first study resource; together with the lecture use the </a:t>
            </a:r>
            <a:r>
              <a:rPr lang="en-ZA" altLang="en-US" dirty="0">
                <a:solidFill>
                  <a:srgbClr val="FF0000"/>
                </a:solidFill>
              </a:rPr>
              <a:t>slides</a:t>
            </a:r>
            <a:r>
              <a:rPr lang="en-ZA" altLang="en-US" dirty="0"/>
              <a:t> as your guide, your </a:t>
            </a:r>
            <a:r>
              <a:rPr lang="en-ZA" altLang="en-US" dirty="0">
                <a:solidFill>
                  <a:srgbClr val="FF0000"/>
                </a:solidFill>
              </a:rPr>
              <a:t>SG</a:t>
            </a:r>
            <a:r>
              <a:rPr lang="en-ZA" altLang="en-US" dirty="0"/>
              <a:t> and its examples, </a:t>
            </a:r>
            <a:r>
              <a:rPr lang="en-ZA" altLang="en-US" dirty="0">
                <a:solidFill>
                  <a:srgbClr val="FF0000"/>
                </a:solidFill>
              </a:rPr>
              <a:t>tutorial B</a:t>
            </a:r>
            <a:r>
              <a:rPr lang="en-ZA" altLang="en-US" dirty="0"/>
              <a:t>, as well as the </a:t>
            </a:r>
            <a:r>
              <a:rPr lang="en-ZA" altLang="en-US" dirty="0">
                <a:solidFill>
                  <a:srgbClr val="FF0000"/>
                </a:solidFill>
              </a:rPr>
              <a:t>weekly tut discussions. </a:t>
            </a:r>
            <a:r>
              <a:rPr lang="en-ZA" altLang="en-US" dirty="0"/>
              <a:t>Your</a:t>
            </a:r>
            <a:r>
              <a:rPr lang="en-ZA" altLang="en-US" dirty="0">
                <a:solidFill>
                  <a:srgbClr val="FF0000"/>
                </a:solidFill>
              </a:rPr>
              <a:t> textbook </a:t>
            </a:r>
            <a:r>
              <a:rPr lang="en-ZA" altLang="en-US" dirty="0"/>
              <a:t>is also a great resource. You can also use </a:t>
            </a:r>
            <a:r>
              <a:rPr lang="en-ZA" altLang="en-US" dirty="0">
                <a:solidFill>
                  <a:srgbClr val="FF0000"/>
                </a:solidFill>
              </a:rPr>
              <a:t>the memos of the last semester test. </a:t>
            </a:r>
            <a:r>
              <a:rPr lang="en-ZA" altLang="en-US" dirty="0"/>
              <a:t>The</a:t>
            </a:r>
            <a:r>
              <a:rPr lang="en-ZA" altLang="en-US" dirty="0">
                <a:solidFill>
                  <a:schemeClr val="tx2"/>
                </a:solidFill>
              </a:rPr>
              <a:t> SG and TB have most of the solutions</a:t>
            </a:r>
            <a:r>
              <a:rPr lang="en-ZA" altLang="en-US" dirty="0"/>
              <a:t>.</a:t>
            </a:r>
          </a:p>
          <a:p>
            <a:pPr lvl="1" algn="just">
              <a:lnSpc>
                <a:spcPct val="90000"/>
              </a:lnSpc>
              <a:defRPr/>
            </a:pPr>
            <a:endParaRPr lang="en-ZA" altLang="en-US" sz="1200" dirty="0"/>
          </a:p>
          <a:p>
            <a:pPr lvl="1" algn="just">
              <a:lnSpc>
                <a:spcPct val="90000"/>
              </a:lnSpc>
              <a:defRPr/>
            </a:pPr>
            <a:endParaRPr lang="en-ZA" altLang="en-US" dirty="0"/>
          </a:p>
          <a:p>
            <a:pPr lvl="1" algn="just">
              <a:lnSpc>
                <a:spcPct val="90000"/>
              </a:lnSpc>
              <a:defRPr/>
            </a:pPr>
            <a:endParaRPr lang="en-ZA" altLang="en-US" sz="2800" dirty="0"/>
          </a:p>
        </p:txBody>
      </p:sp>
      <p:sp>
        <p:nvSpPr>
          <p:cNvPr id="12293" name="Slide Number Placeholder 1">
            <a:extLst>
              <a:ext uri="{FF2B5EF4-FFF2-40B4-BE49-F238E27FC236}">
                <a16:creationId xmlns:a16="http://schemas.microsoft.com/office/drawing/2014/main" id="{7A0E6050-FF44-44E3-BAC6-076DC38719C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86C5BA0-2357-4DA6-B825-6825608F1290}" type="slidenum">
              <a:rPr lang="en-ZA" altLang="en-US" sz="1400" smtClean="0"/>
              <a:pPr/>
              <a:t>1</a:t>
            </a:fld>
            <a:endParaRPr lang="en-ZA" altLang="en-US" sz="140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9973"/>
    </mc:Choice>
    <mc:Fallback xmlns="">
      <p:transition spd="slow" advTm="30997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4">
            <a:extLst>
              <a:ext uri="{FF2B5EF4-FFF2-40B4-BE49-F238E27FC236}">
                <a16:creationId xmlns:a16="http://schemas.microsoft.com/office/drawing/2014/main" id="{57D8A309-A598-441A-ACF3-F3456B6CE7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70DB0C2-47FF-4E4A-85B8-F18F0C992B09}" type="slidenum">
              <a:rPr lang="en-ZA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ZA" altLang="en-US" sz="1400">
              <a:latin typeface="Times New Roman" panose="02020603050405020304" pitchFamily="18" charset="0"/>
            </a:endParaRP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C43877F3-9314-40B5-B407-E90C9D5875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/>
          <a:lstStyle/>
          <a:p>
            <a:r>
              <a:rPr lang="en-US" altLang="en-US" dirty="0">
                <a:solidFill>
                  <a:srgbClr val="000066"/>
                </a:solidFill>
              </a:rPr>
              <a:t>EBMV301 Exam – June/July 2026</a:t>
            </a:r>
            <a:endParaRPr lang="en-GB" altLang="en-US" dirty="0">
              <a:solidFill>
                <a:srgbClr val="000066"/>
              </a:solidFill>
            </a:endParaRPr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5930138C-7956-45F1-9803-3FFDB365999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71463" y="795338"/>
            <a:ext cx="8601075" cy="6062662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US" altLang="en-US" sz="2400" dirty="0"/>
              <a:t>Final mark and result are calculated with the weightings:</a:t>
            </a:r>
          </a:p>
          <a:p>
            <a:pPr algn="just">
              <a:lnSpc>
                <a:spcPct val="90000"/>
              </a:lnSpc>
              <a:buFontTx/>
              <a:buNone/>
            </a:pPr>
            <a:r>
              <a:rPr lang="en-US" altLang="en-US" sz="2400" dirty="0"/>
              <a:t>	</a:t>
            </a:r>
          </a:p>
          <a:p>
            <a:pPr algn="just">
              <a:lnSpc>
                <a:spcPct val="90000"/>
              </a:lnSpc>
              <a:buFontTx/>
              <a:buNone/>
            </a:pPr>
            <a:endParaRPr lang="en-US" altLang="en-US" sz="2400" dirty="0"/>
          </a:p>
          <a:p>
            <a:pPr algn="just">
              <a:lnSpc>
                <a:spcPct val="90000"/>
              </a:lnSpc>
              <a:buFontTx/>
              <a:buNone/>
            </a:pPr>
            <a:endParaRPr lang="en-US" altLang="en-US" sz="2400" dirty="0"/>
          </a:p>
          <a:p>
            <a:pPr algn="just">
              <a:lnSpc>
                <a:spcPct val="90000"/>
              </a:lnSpc>
              <a:buFontTx/>
              <a:buNone/>
            </a:pPr>
            <a:endParaRPr lang="en-US" altLang="en-US" sz="2400" dirty="0"/>
          </a:p>
          <a:p>
            <a:pPr algn="just">
              <a:lnSpc>
                <a:spcPct val="90000"/>
              </a:lnSpc>
              <a:buFontTx/>
              <a:buNone/>
            </a:pPr>
            <a:endParaRPr lang="en-US" altLang="en-US" sz="2400" dirty="0"/>
          </a:p>
          <a:p>
            <a:pPr>
              <a:lnSpc>
                <a:spcPct val="90000"/>
              </a:lnSpc>
            </a:pPr>
            <a:endParaRPr lang="en-US" altLang="en-US" sz="2400" b="1" dirty="0">
              <a:solidFill>
                <a:srgbClr val="0066FF"/>
              </a:solidFill>
            </a:endParaRPr>
          </a:p>
          <a:p>
            <a:pPr>
              <a:lnSpc>
                <a:spcPct val="90000"/>
              </a:lnSpc>
            </a:pPr>
            <a:endParaRPr lang="en-US" altLang="en-US" sz="800" b="1" dirty="0">
              <a:solidFill>
                <a:srgbClr val="0066FF"/>
              </a:solidFill>
            </a:endParaRPr>
          </a:p>
          <a:p>
            <a:pPr algn="just">
              <a:lnSpc>
                <a:spcPct val="90000"/>
              </a:lnSpc>
            </a:pPr>
            <a:r>
              <a:rPr lang="en-US" altLang="en-US" sz="2400" b="1" dirty="0">
                <a:solidFill>
                  <a:srgbClr val="0066FF"/>
                </a:solidFill>
              </a:rPr>
              <a:t>Class mark (no DP min.) counts 50% of your final mark… Exam mark counts the other 50%!</a:t>
            </a:r>
          </a:p>
          <a:p>
            <a:pPr algn="just">
              <a:lnSpc>
                <a:spcPct val="90000"/>
              </a:lnSpc>
            </a:pPr>
            <a:r>
              <a:rPr lang="en-US" altLang="en-US" sz="2400" b="1" dirty="0">
                <a:solidFill>
                  <a:srgbClr val="0066FF"/>
                </a:solidFill>
              </a:rPr>
              <a:t>Date: 	??? June 2026</a:t>
            </a:r>
          </a:p>
          <a:p>
            <a:pPr algn="just">
              <a:lnSpc>
                <a:spcPct val="90000"/>
              </a:lnSpc>
            </a:pPr>
            <a:r>
              <a:rPr lang="en-US" altLang="en-US" sz="2400" b="1" dirty="0">
                <a:solidFill>
                  <a:srgbClr val="0066FF"/>
                </a:solidFill>
              </a:rPr>
              <a:t>Time: 	???	  			Check the venue! </a:t>
            </a:r>
            <a:r>
              <a:rPr lang="en-US" altLang="en-US" sz="2000" b="1" dirty="0">
                <a:solidFill>
                  <a:srgbClr val="0066FF"/>
                </a:solidFill>
              </a:rPr>
              <a:t> </a:t>
            </a:r>
          </a:p>
          <a:p>
            <a:pPr marL="0" indent="0" algn="just">
              <a:lnSpc>
                <a:spcPct val="90000"/>
              </a:lnSpc>
              <a:buNone/>
            </a:pPr>
            <a:endParaRPr lang="en-US" altLang="en-US" sz="1100" b="1" dirty="0">
              <a:solidFill>
                <a:srgbClr val="0066FF"/>
              </a:solidFill>
            </a:endParaRPr>
          </a:p>
          <a:p>
            <a:pPr marL="0" indent="0" algn="just">
              <a:lnSpc>
                <a:spcPct val="90000"/>
              </a:lnSpc>
              <a:buNone/>
            </a:pPr>
            <a:r>
              <a:rPr lang="en-US" altLang="en-US" sz="2000" b="1" dirty="0">
                <a:solidFill>
                  <a:srgbClr val="0066FF"/>
                </a:solidFill>
              </a:rPr>
              <a:t>(Above according to Exam/MEMO email – your responsibility to ensure you’re at right time and right place!!!!) [Follow Exams Office rules, etc.]</a:t>
            </a:r>
            <a:endParaRPr lang="en-US" altLang="en-US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09797E-9F41-4AB3-2480-802B35B6B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62" y="1129653"/>
            <a:ext cx="8590383" cy="2697016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9977"/>
    </mc:Choice>
    <mc:Fallback xmlns="">
      <p:transition spd="slow" advTm="26997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09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9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096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096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96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96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4">
            <a:extLst>
              <a:ext uri="{FF2B5EF4-FFF2-40B4-BE49-F238E27FC236}">
                <a16:creationId xmlns:a16="http://schemas.microsoft.com/office/drawing/2014/main" id="{7A2FFDFD-8D8A-442A-B6B4-017C93E321E0}"/>
              </a:ext>
            </a:extLst>
          </p:cNvPr>
          <p:cNvSpPr txBox="1">
            <a:spLocks noGrp="1"/>
          </p:cNvSpPr>
          <p:nvPr/>
        </p:nvSpPr>
        <p:spPr bwMode="auto">
          <a:xfrm>
            <a:off x="3352800" y="6324600"/>
            <a:ext cx="2286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5F647F66-8880-4AC7-B1D0-6CF58C6A5C80}" type="slidenum">
              <a:rPr lang="en-ZA" altLang="en-US" sz="1400">
                <a:latin typeface="Times New Roman" panose="02020603050405020304" pitchFamily="18" charset="0"/>
              </a:rPr>
              <a:pPr algn="r">
                <a:spcBef>
                  <a:spcPct val="0"/>
                </a:spcBef>
                <a:buFontTx/>
                <a:buNone/>
              </a:pPr>
              <a:t>3</a:t>
            </a:fld>
            <a:endParaRPr lang="en-ZA" altLang="en-US" sz="1400">
              <a:latin typeface="Times New Roman" panose="02020603050405020304" pitchFamily="18" charset="0"/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2D9752F8-95E6-42CF-8796-86DF78C2CF4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914400"/>
          </a:xfrm>
        </p:spPr>
        <p:txBody>
          <a:bodyPr/>
          <a:lstStyle/>
          <a:p>
            <a:r>
              <a:rPr lang="en-US" altLang="en-US" dirty="0">
                <a:solidFill>
                  <a:srgbClr val="000066"/>
                </a:solidFill>
              </a:rPr>
              <a:t>EBMV301 Exam – June/July 2026</a:t>
            </a:r>
            <a:endParaRPr lang="en-GB" altLang="en-US" dirty="0">
              <a:solidFill>
                <a:srgbClr val="000066"/>
              </a:solidFill>
            </a:endParaRP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59EBCDE6-76DD-4742-8AAD-952DDA2CB0A2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57200" y="838200"/>
            <a:ext cx="8153400" cy="5791200"/>
          </a:xfrm>
        </p:spPr>
        <p:txBody>
          <a:bodyPr/>
          <a:lstStyle/>
          <a:p>
            <a:pPr marL="342900" marR="0" lvl="0" indent="-342900" algn="just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Student’s own responsibility to check Exam timetable, instructions and process</a:t>
            </a:r>
          </a:p>
          <a:p>
            <a:pPr marL="342900" marR="0" lvl="0" indent="-342900" algn="just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Use your OWN financial calculator, stationary and remember your student card</a:t>
            </a:r>
          </a:p>
          <a:p>
            <a:pPr marL="342900" marR="0" lvl="0" indent="-342900" algn="just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altLang="en-US" sz="2400" dirty="0">
                <a:solidFill>
                  <a:srgbClr val="000000"/>
                </a:solidFill>
                <a:latin typeface="Tahoma"/>
              </a:rPr>
              <a:t>Use PENCIL to answer MC and either a BLUE or BLACK pen for open questions</a:t>
            </a:r>
            <a:endParaRPr kumimoji="0" lang="en-GB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algn="just"/>
            <a:endParaRPr lang="en-ZA" altLang="en-US" sz="2400" dirty="0"/>
          </a:p>
          <a:p>
            <a:pPr algn="just"/>
            <a:r>
              <a:rPr lang="en-ZA" altLang="en-US" sz="2400" dirty="0"/>
              <a:t>Chapters NOT specifically tested in the exam, BUT you however need the knowledge from these earlier study units/chapters to successfully answer the exam questions: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ZA" altLang="en-US" dirty="0"/>
              <a:t>Ch. 1, Ch. 2 (not covered), Ch. 3, Ch. 4, Ch. 5, Ch. 6, Ch. 7, Ch. 9, Ch. 11, Ch. 17 (not covered)</a:t>
            </a:r>
          </a:p>
          <a:p>
            <a:pPr lvl="1" algn="just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ZA" altLang="en-US" dirty="0"/>
          </a:p>
        </p:txBody>
      </p:sp>
      <p:sp>
        <p:nvSpPr>
          <p:cNvPr id="14341" name="Slide Number Placeholder 1">
            <a:extLst>
              <a:ext uri="{FF2B5EF4-FFF2-40B4-BE49-F238E27FC236}">
                <a16:creationId xmlns:a16="http://schemas.microsoft.com/office/drawing/2014/main" id="{6F5DF3C8-B6E2-4D99-B03B-7F69B1AC590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0BD1B5B-5B2C-4835-B4B0-0CF4F542B2A1}" type="slidenum">
              <a:rPr lang="en-ZA" altLang="en-US" sz="1400" smtClean="0"/>
              <a:pPr/>
              <a:t>3</a:t>
            </a:fld>
            <a:endParaRPr lang="en-ZA" altLang="en-US" sz="1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203"/>
    </mc:Choice>
    <mc:Fallback xmlns="">
      <p:transition spd="slow" advTm="1320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3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3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4">
            <a:extLst>
              <a:ext uri="{FF2B5EF4-FFF2-40B4-BE49-F238E27FC236}">
                <a16:creationId xmlns:a16="http://schemas.microsoft.com/office/drawing/2014/main" id="{4BD0F524-1F74-4C5D-B27E-67A482E09F4A}"/>
              </a:ext>
            </a:extLst>
          </p:cNvPr>
          <p:cNvSpPr txBox="1">
            <a:spLocks noGrp="1"/>
          </p:cNvSpPr>
          <p:nvPr/>
        </p:nvSpPr>
        <p:spPr bwMode="auto">
          <a:xfrm>
            <a:off x="3352800" y="6324600"/>
            <a:ext cx="2286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BCF3671F-3399-474E-AC65-1FFC1D5E0259}" type="slidenum">
              <a:rPr lang="en-ZA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 algn="r">
                <a:spcBef>
                  <a:spcPct val="0"/>
                </a:spcBef>
                <a:buFontTx/>
                <a:buNone/>
              </a:pPr>
              <a:t>4</a:t>
            </a:fld>
            <a:endParaRPr lang="en-ZA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74890949-EA87-4852-AE93-74A913C1458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0"/>
            <a:ext cx="8153400" cy="914400"/>
          </a:xfrm>
        </p:spPr>
        <p:txBody>
          <a:bodyPr/>
          <a:lstStyle/>
          <a:p>
            <a:r>
              <a:rPr lang="en-US" altLang="en-US" dirty="0">
                <a:solidFill>
                  <a:srgbClr val="000066"/>
                </a:solidFill>
              </a:rPr>
              <a:t>EBMV301 Final note 2026</a:t>
            </a:r>
            <a:endParaRPr lang="en-GB" altLang="en-US" dirty="0">
              <a:solidFill>
                <a:srgbClr val="000066"/>
              </a:solidFill>
            </a:endParaRP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08CC75B5-6A7B-42AF-AF65-57110D033002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04800" y="945776"/>
            <a:ext cx="8610600" cy="5759824"/>
          </a:xfrm>
        </p:spPr>
        <p:txBody>
          <a:bodyPr/>
          <a:lstStyle/>
          <a:p>
            <a:pPr algn="just">
              <a:defRPr/>
            </a:pPr>
            <a:r>
              <a:rPr lang="en-ZA" altLang="en-US" sz="2400" b="1" dirty="0">
                <a:solidFill>
                  <a:srgbClr val="0066FF"/>
                </a:solidFill>
              </a:rPr>
              <a:t>THANK YOU</a:t>
            </a:r>
            <a:r>
              <a:rPr lang="en-ZA" altLang="en-US" sz="2400" dirty="0"/>
              <a:t> for joining us for the EBMV301 Financial Management module – we really hope that you enjoyed the module… </a:t>
            </a:r>
          </a:p>
          <a:p>
            <a:pPr algn="just">
              <a:defRPr/>
            </a:pPr>
            <a:endParaRPr lang="en-ZA" altLang="en-US" sz="2400" dirty="0"/>
          </a:p>
          <a:p>
            <a:pPr algn="just">
              <a:defRPr/>
            </a:pPr>
            <a:r>
              <a:rPr lang="en-ZA" altLang="en-US" sz="2400" dirty="0"/>
              <a:t>We are available for consultation and here to help you. First contact point is via email.</a:t>
            </a:r>
          </a:p>
          <a:p>
            <a:pPr lvl="1" algn="just">
              <a:buFont typeface="Wingdings" panose="05000000000000000000" pitchFamily="2" charset="2"/>
              <a:buChar char="§"/>
              <a:defRPr/>
            </a:pPr>
            <a:r>
              <a:rPr lang="en-ZA" altLang="en-US" dirty="0"/>
              <a:t>Prof C Rootman 				</a:t>
            </a:r>
          </a:p>
          <a:p>
            <a:pPr lvl="1" algn="just">
              <a:buFont typeface="Wingdings" panose="05000000000000000000" pitchFamily="2" charset="2"/>
              <a:buChar char="§"/>
              <a:defRPr/>
            </a:pPr>
            <a:r>
              <a:rPr lang="en-US" altLang="en-US" dirty="0"/>
              <a:t>Dr S Watson</a:t>
            </a:r>
          </a:p>
          <a:p>
            <a:pPr lvl="1" algn="just">
              <a:buFont typeface="Wingdings" panose="05000000000000000000" pitchFamily="2" charset="2"/>
              <a:buChar char="§"/>
              <a:defRPr/>
            </a:pPr>
            <a:r>
              <a:rPr lang="en-US" altLang="en-US" dirty="0"/>
              <a:t>Ms E Kobese</a:t>
            </a:r>
            <a:r>
              <a:rPr lang="en-ZA" altLang="en-US" dirty="0"/>
              <a:t>					</a:t>
            </a:r>
          </a:p>
          <a:p>
            <a:pPr lvl="1" algn="just">
              <a:buFont typeface="Wingdings" panose="05000000000000000000" pitchFamily="2" charset="2"/>
              <a:buChar char="§"/>
              <a:defRPr/>
            </a:pPr>
            <a:r>
              <a:rPr lang="en-ZA" altLang="en-US" dirty="0"/>
              <a:t>Ms N Maliwa (George campus)</a:t>
            </a:r>
          </a:p>
          <a:p>
            <a:pPr lvl="1" algn="just">
              <a:buFontTx/>
              <a:buNone/>
              <a:defRPr/>
            </a:pPr>
            <a:endParaRPr lang="en-ZA" altLang="en-US" dirty="0"/>
          </a:p>
          <a:p>
            <a:pPr algn="just">
              <a:defRPr/>
            </a:pPr>
            <a:r>
              <a:rPr lang="en-ZA" altLang="en-US" sz="2400" b="1" dirty="0">
                <a:solidFill>
                  <a:srgbClr val="0066FF"/>
                </a:solidFill>
              </a:rPr>
              <a:t>GOOD LUCK WITH THE EXAM!</a:t>
            </a:r>
          </a:p>
          <a:p>
            <a:pPr algn="just">
              <a:defRPr/>
            </a:pPr>
            <a:endParaRPr lang="en-ZA" altLang="en-US" sz="1050" b="1" dirty="0">
              <a:solidFill>
                <a:srgbClr val="0066FF"/>
              </a:solidFill>
            </a:endParaRPr>
          </a:p>
          <a:p>
            <a:pPr lvl="1" algn="just">
              <a:defRPr/>
            </a:pPr>
            <a:r>
              <a:rPr lang="en-ZA" altLang="en-US" sz="2200" dirty="0"/>
              <a:t>We wish you all of the best for the future </a:t>
            </a:r>
          </a:p>
        </p:txBody>
      </p:sp>
      <p:sp>
        <p:nvSpPr>
          <p:cNvPr id="19461" name="Slide Number Placeholder 1">
            <a:extLst>
              <a:ext uri="{FF2B5EF4-FFF2-40B4-BE49-F238E27FC236}">
                <a16:creationId xmlns:a16="http://schemas.microsoft.com/office/drawing/2014/main" id="{F0BDF326-E72B-4F22-B9B3-42DFA21DF6D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E718351-3A06-4412-BF89-554C8FA0E693}" type="slidenum">
              <a:rPr lang="en-ZA" altLang="en-US" sz="1400" smtClean="0"/>
              <a:pPr/>
              <a:t>4</a:t>
            </a:fld>
            <a:endParaRPr lang="en-ZA" altLang="en-US" sz="1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341"/>
    </mc:Choice>
    <mc:Fallback xmlns="">
      <p:transition spd="slow" advTm="3534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E9127-866F-11CB-D534-544071285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4">
            <a:extLst>
              <a:ext uri="{FF2B5EF4-FFF2-40B4-BE49-F238E27FC236}">
                <a16:creationId xmlns:a16="http://schemas.microsoft.com/office/drawing/2014/main" id="{9FDAB90B-A7C9-2E48-BA30-2E7E33A6A298}"/>
              </a:ext>
            </a:extLst>
          </p:cNvPr>
          <p:cNvSpPr txBox="1">
            <a:spLocks noGrp="1"/>
          </p:cNvSpPr>
          <p:nvPr/>
        </p:nvSpPr>
        <p:spPr bwMode="auto">
          <a:xfrm>
            <a:off x="3352800" y="6324600"/>
            <a:ext cx="2286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BCF3671F-3399-474E-AC65-1FFC1D5E0259}" type="slidenum">
              <a:rPr lang="en-ZA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 algn="r">
                <a:spcBef>
                  <a:spcPct val="0"/>
                </a:spcBef>
                <a:buFontTx/>
                <a:buNone/>
              </a:pPr>
              <a:t>5</a:t>
            </a:fld>
            <a:endParaRPr lang="en-ZA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F8D0146A-DAB0-6C1D-4589-FD9BA4388A0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0"/>
            <a:ext cx="8153400" cy="914400"/>
          </a:xfrm>
        </p:spPr>
        <p:txBody>
          <a:bodyPr/>
          <a:lstStyle/>
          <a:p>
            <a:r>
              <a:rPr lang="en-US" altLang="en-US" dirty="0">
                <a:solidFill>
                  <a:srgbClr val="000066"/>
                </a:solidFill>
              </a:rPr>
              <a:t>EBMV301 Final note 2026</a:t>
            </a:r>
            <a:endParaRPr lang="en-GB" altLang="en-US" dirty="0">
              <a:solidFill>
                <a:srgbClr val="000066"/>
              </a:solidFill>
            </a:endParaRP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775AFDDF-5531-BA32-C82A-343FBC1854DA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04800" y="945776"/>
            <a:ext cx="8610600" cy="5759824"/>
          </a:xfrm>
        </p:spPr>
        <p:txBody>
          <a:bodyPr/>
          <a:lstStyle/>
          <a:p>
            <a:pPr algn="just">
              <a:defRPr/>
            </a:pPr>
            <a:r>
              <a:rPr lang="en-ZA" altLang="en-US" sz="2400" b="1" dirty="0">
                <a:solidFill>
                  <a:srgbClr val="0066FF"/>
                </a:solidFill>
              </a:rPr>
              <a:t>When to study what?</a:t>
            </a:r>
            <a:r>
              <a:rPr lang="en-ZA" altLang="en-US" sz="2400" dirty="0"/>
              <a:t> </a:t>
            </a:r>
          </a:p>
          <a:p>
            <a:pPr algn="just">
              <a:defRPr/>
            </a:pPr>
            <a:endParaRPr lang="en-ZA" altLang="en-US" sz="2400" dirty="0"/>
          </a:p>
          <a:p>
            <a:pPr algn="just">
              <a:defRPr/>
            </a:pPr>
            <a:r>
              <a:rPr lang="en-ZA" altLang="en-US" sz="2400" dirty="0"/>
              <a:t>Day 1: </a:t>
            </a:r>
            <a:r>
              <a:rPr lang="en-ZA" altLang="en-US" sz="2400" dirty="0" err="1"/>
              <a:t>Chs</a:t>
            </a:r>
            <a:r>
              <a:rPr lang="en-ZA" altLang="en-US" sz="2400" dirty="0"/>
              <a:t> 8, 12, 13</a:t>
            </a:r>
          </a:p>
          <a:p>
            <a:pPr algn="just">
              <a:defRPr/>
            </a:pPr>
            <a:r>
              <a:rPr lang="en-ZA" altLang="en-US" sz="2400" dirty="0"/>
              <a:t>Day 2: </a:t>
            </a:r>
            <a:r>
              <a:rPr lang="en-ZA" altLang="en-US" sz="2400" dirty="0" err="1"/>
              <a:t>Chs</a:t>
            </a:r>
            <a:r>
              <a:rPr lang="en-ZA" altLang="en-US" sz="2400" dirty="0"/>
              <a:t> 11, 14</a:t>
            </a:r>
          </a:p>
          <a:p>
            <a:pPr algn="just">
              <a:defRPr/>
            </a:pPr>
            <a:r>
              <a:rPr lang="en-ZA" altLang="en-US" sz="2400" dirty="0"/>
              <a:t>Day 3: Ch 15</a:t>
            </a:r>
          </a:p>
          <a:p>
            <a:pPr algn="just">
              <a:defRPr/>
            </a:pPr>
            <a:r>
              <a:rPr lang="en-ZA" altLang="en-US" sz="2400" dirty="0"/>
              <a:t>Day 4: Ch 16</a:t>
            </a:r>
          </a:p>
          <a:p>
            <a:pPr algn="just">
              <a:defRPr/>
            </a:pPr>
            <a:r>
              <a:rPr lang="en-ZA" altLang="en-US" sz="2400" dirty="0"/>
              <a:t>Day 5: Ch 18 and do various examples of Ch 15</a:t>
            </a:r>
          </a:p>
          <a:p>
            <a:pPr algn="just">
              <a:defRPr/>
            </a:pPr>
            <a:r>
              <a:rPr lang="en-ZA" altLang="en-US" sz="2400" dirty="0"/>
              <a:t>Day 6: Do various revision examples of </a:t>
            </a:r>
            <a:r>
              <a:rPr lang="en-ZA" altLang="en-US" sz="2400" dirty="0" err="1"/>
              <a:t>Chs</a:t>
            </a:r>
            <a:r>
              <a:rPr lang="en-ZA" altLang="en-US" sz="2400" dirty="0"/>
              <a:t> 11 and 14</a:t>
            </a:r>
          </a:p>
          <a:p>
            <a:pPr algn="just">
              <a:defRPr/>
            </a:pPr>
            <a:r>
              <a:rPr lang="en-ZA" altLang="en-US" sz="2400" dirty="0"/>
              <a:t>Day 7: Do various revision examples of </a:t>
            </a:r>
            <a:r>
              <a:rPr lang="en-ZA" altLang="en-US" sz="2400" dirty="0" err="1"/>
              <a:t>Chs</a:t>
            </a:r>
            <a:r>
              <a:rPr lang="en-ZA" altLang="en-US" sz="2400" dirty="0"/>
              <a:t> 8, 12 and 13</a:t>
            </a:r>
          </a:p>
          <a:p>
            <a:pPr algn="just">
              <a:defRPr/>
            </a:pPr>
            <a:r>
              <a:rPr lang="en-ZA" altLang="en-US" sz="2400" dirty="0"/>
              <a:t>Day 8: Do various revision examples of </a:t>
            </a:r>
            <a:r>
              <a:rPr lang="en-ZA" altLang="en-US" sz="2400" dirty="0" err="1"/>
              <a:t>Chs</a:t>
            </a:r>
            <a:r>
              <a:rPr lang="en-ZA" altLang="en-US" sz="2400" dirty="0"/>
              <a:t> 16 and 18</a:t>
            </a:r>
          </a:p>
          <a:p>
            <a:pPr algn="just">
              <a:defRPr/>
            </a:pPr>
            <a:r>
              <a:rPr lang="en-ZA" altLang="en-US" sz="2400" dirty="0"/>
              <a:t>Day 9: Revise as needed</a:t>
            </a:r>
          </a:p>
        </p:txBody>
      </p:sp>
      <p:sp>
        <p:nvSpPr>
          <p:cNvPr id="19461" name="Slide Number Placeholder 1">
            <a:extLst>
              <a:ext uri="{FF2B5EF4-FFF2-40B4-BE49-F238E27FC236}">
                <a16:creationId xmlns:a16="http://schemas.microsoft.com/office/drawing/2014/main" id="{A3C58267-850A-1E2C-750D-9BAA6C8D88E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E718351-3A06-4412-BF89-554C8FA0E693}" type="slidenum">
              <a:rPr lang="en-ZA" altLang="en-US" sz="1400" smtClean="0"/>
              <a:pPr/>
              <a:t>5</a:t>
            </a:fld>
            <a:endParaRPr lang="en-ZA" altLang="en-US" sz="1400"/>
          </a:p>
        </p:txBody>
      </p:sp>
    </p:spTree>
    <p:extLst>
      <p:ext uri="{BB962C8B-B14F-4D97-AF65-F5344CB8AC3E}">
        <p14:creationId xmlns:p14="http://schemas.microsoft.com/office/powerpoint/2010/main" val="1686419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341"/>
    </mc:Choice>
    <mc:Fallback xmlns="">
      <p:transition spd="slow" advTm="3534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4">
            <a:extLst>
              <a:ext uri="{FF2B5EF4-FFF2-40B4-BE49-F238E27FC236}">
                <a16:creationId xmlns:a16="http://schemas.microsoft.com/office/drawing/2014/main" id="{A4BEC4AA-DF67-497F-BF4A-505B4256956C}"/>
              </a:ext>
            </a:extLst>
          </p:cNvPr>
          <p:cNvSpPr txBox="1">
            <a:spLocks noGrp="1"/>
          </p:cNvSpPr>
          <p:nvPr/>
        </p:nvSpPr>
        <p:spPr bwMode="auto">
          <a:xfrm>
            <a:off x="3352800" y="6324600"/>
            <a:ext cx="2286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BB380C9F-B59D-4061-B7D4-3B475EE18503}" type="slidenum">
              <a:rPr lang="en-ZA" altLang="en-US" sz="1400">
                <a:latin typeface="Times New Roman" panose="02020603050405020304" pitchFamily="18" charset="0"/>
              </a:rPr>
              <a:pPr algn="r">
                <a:spcBef>
                  <a:spcPct val="0"/>
                </a:spcBef>
                <a:buFontTx/>
                <a:buNone/>
              </a:pPr>
              <a:t>6</a:t>
            </a:fld>
            <a:endParaRPr lang="en-ZA" altLang="en-US" sz="1400">
              <a:latin typeface="Times New Roman" panose="02020603050405020304" pitchFamily="18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88B7B8F2-DA36-4B9B-BBB9-84B026AF0A6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914400"/>
          </a:xfrm>
        </p:spPr>
        <p:txBody>
          <a:bodyPr/>
          <a:lstStyle/>
          <a:p>
            <a:r>
              <a:rPr lang="en-US" altLang="en-US" dirty="0">
                <a:solidFill>
                  <a:srgbClr val="000066"/>
                </a:solidFill>
              </a:rPr>
              <a:t>EBMV301 Exam – June/July 2026</a:t>
            </a:r>
            <a:endParaRPr lang="en-GB" altLang="en-US" dirty="0">
              <a:solidFill>
                <a:srgbClr val="000066"/>
              </a:solidFill>
            </a:endParaRPr>
          </a:p>
        </p:txBody>
      </p:sp>
      <p:sp>
        <p:nvSpPr>
          <p:cNvPr id="182275" name="Rectangle 3">
            <a:extLst>
              <a:ext uri="{FF2B5EF4-FFF2-40B4-BE49-F238E27FC236}">
                <a16:creationId xmlns:a16="http://schemas.microsoft.com/office/drawing/2014/main" id="{AFE92C46-4116-40A3-8E1E-18787C1AF837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57200" y="838200"/>
            <a:ext cx="8382000" cy="5791200"/>
          </a:xfrm>
        </p:spPr>
        <p:txBody>
          <a:bodyPr/>
          <a:lstStyle/>
          <a:p>
            <a:pPr algn="just">
              <a:defRPr/>
            </a:pPr>
            <a:r>
              <a:rPr lang="en-ZA" sz="2400" dirty="0"/>
              <a:t>Chapter 8 (10 marks open, 3 MC)</a:t>
            </a: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US" dirty="0">
                <a:solidFill>
                  <a:srgbClr val="000000"/>
                </a:solidFill>
                <a:ea typeface="+mn-ea"/>
                <a:cs typeface="+mn-cs"/>
              </a:rPr>
              <a:t>Valuation of shares and debentures</a:t>
            </a:r>
          </a:p>
          <a:p>
            <a:pPr marL="0" lvl="1" indent="0" algn="just">
              <a:buNone/>
              <a:defRPr/>
            </a:pPr>
            <a:r>
              <a:rPr lang="en-ZA" dirty="0"/>
              <a:t>    </a:t>
            </a:r>
            <a:endParaRPr lang="en-ZA" b="1" dirty="0">
              <a:solidFill>
                <a:srgbClr val="C00000"/>
              </a:solidFill>
            </a:endParaRPr>
          </a:p>
          <a:p>
            <a:pPr algn="just">
              <a:defRPr/>
            </a:pPr>
            <a:r>
              <a:rPr lang="en-ZA" sz="2400" dirty="0"/>
              <a:t>Chapter 10 (10 marks open, 3 MC) </a:t>
            </a: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ZA" dirty="0"/>
              <a:t>The </a:t>
            </a:r>
            <a:r>
              <a:rPr lang="en-US" dirty="0"/>
              <a:t>management of accounts receivable</a:t>
            </a:r>
          </a:p>
          <a:p>
            <a:pPr lvl="1" algn="just">
              <a:buFont typeface="Wingdings" pitchFamily="2" charset="2"/>
              <a:buChar char="§"/>
              <a:defRPr/>
            </a:pPr>
            <a:endParaRPr lang="en-ZA" dirty="0"/>
          </a:p>
          <a:p>
            <a:pPr algn="just">
              <a:defRPr/>
            </a:pPr>
            <a:r>
              <a:rPr lang="en-ZA" sz="2400" dirty="0">
                <a:solidFill>
                  <a:srgbClr val="000000"/>
                </a:solidFill>
              </a:rPr>
              <a:t>Chapter 12 (10 marks open, 3 MC)</a:t>
            </a: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ZA" dirty="0">
                <a:solidFill>
                  <a:srgbClr val="000000"/>
                </a:solidFill>
              </a:rPr>
              <a:t>Capital budgeting and cash flow principles</a:t>
            </a:r>
          </a:p>
          <a:p>
            <a:pPr lvl="1" algn="just">
              <a:buFont typeface="Wingdings" pitchFamily="2" charset="2"/>
              <a:buChar char="§"/>
              <a:defRPr/>
            </a:pPr>
            <a:endParaRPr lang="en-ZA" dirty="0"/>
          </a:p>
          <a:p>
            <a:pPr algn="just">
              <a:defRPr/>
            </a:pPr>
            <a:r>
              <a:rPr lang="en-ZA" sz="2400" dirty="0">
                <a:solidFill>
                  <a:srgbClr val="000000"/>
                </a:solidFill>
              </a:rPr>
              <a:t>Chapter 13 (12 marks open, 5 MC)</a:t>
            </a:r>
          </a:p>
          <a:p>
            <a:pPr lvl="1" algn="just">
              <a:buFont typeface="Wingdings" pitchFamily="2" charset="2"/>
              <a:buChar char="§"/>
              <a:defRPr/>
            </a:pPr>
            <a:r>
              <a:rPr lang="en-ZA" dirty="0">
                <a:solidFill>
                  <a:srgbClr val="000000"/>
                </a:solidFill>
              </a:rPr>
              <a:t>Capital budgeting techniques</a:t>
            </a:r>
          </a:p>
          <a:p>
            <a:pPr lvl="1" algn="just">
              <a:buFont typeface="Wingdings" pitchFamily="2" charset="2"/>
              <a:buChar char="§"/>
              <a:defRPr/>
            </a:pPr>
            <a:endParaRPr lang="en-ZA" dirty="0">
              <a:solidFill>
                <a:srgbClr val="000000"/>
              </a:solidFill>
            </a:endParaRPr>
          </a:p>
          <a:p>
            <a:pPr marL="457200" lvl="1" indent="0" algn="just">
              <a:buFontTx/>
              <a:buNone/>
              <a:defRPr/>
            </a:pPr>
            <a:endParaRPr lang="en-ZA" dirty="0"/>
          </a:p>
        </p:txBody>
      </p:sp>
      <p:sp>
        <p:nvSpPr>
          <p:cNvPr id="20485" name="Slide Number Placeholder 1">
            <a:extLst>
              <a:ext uri="{FF2B5EF4-FFF2-40B4-BE49-F238E27FC236}">
                <a16:creationId xmlns:a16="http://schemas.microsoft.com/office/drawing/2014/main" id="{7D5D0B90-258C-4593-B5F3-EF14982516D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D6ADE60-558E-445A-859D-29CA7D2625CD}" type="slidenum">
              <a:rPr lang="en-ZA" altLang="en-US" sz="1400" smtClean="0"/>
              <a:pPr/>
              <a:t>6</a:t>
            </a:fld>
            <a:endParaRPr lang="en-ZA" altLang="en-US" sz="140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8621"/>
    </mc:Choice>
    <mc:Fallback xmlns="">
      <p:transition spd="slow" advTm="7862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2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2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2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2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2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2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2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2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22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22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22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22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4">
            <a:extLst>
              <a:ext uri="{FF2B5EF4-FFF2-40B4-BE49-F238E27FC236}">
                <a16:creationId xmlns:a16="http://schemas.microsoft.com/office/drawing/2014/main" id="{1FC5269F-6A2D-4EC9-A35D-94C16E3B6076}"/>
              </a:ext>
            </a:extLst>
          </p:cNvPr>
          <p:cNvSpPr txBox="1">
            <a:spLocks noGrp="1"/>
          </p:cNvSpPr>
          <p:nvPr/>
        </p:nvSpPr>
        <p:spPr bwMode="auto">
          <a:xfrm>
            <a:off x="3352800" y="6324600"/>
            <a:ext cx="2286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84258F37-6D03-4C0A-A04B-B79CE98AAC25}" type="slidenum">
              <a:rPr lang="en-ZA" altLang="en-US" sz="1400">
                <a:latin typeface="Times New Roman" panose="02020603050405020304" pitchFamily="18" charset="0"/>
              </a:rPr>
              <a:pPr algn="r">
                <a:spcBef>
                  <a:spcPct val="0"/>
                </a:spcBef>
                <a:buFontTx/>
                <a:buNone/>
              </a:pPr>
              <a:t>7</a:t>
            </a:fld>
            <a:endParaRPr lang="en-ZA" altLang="en-US" sz="1400">
              <a:latin typeface="Times New Roman" panose="02020603050405020304" pitchFamily="18" charset="0"/>
            </a:endParaRP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CBEF5621-7502-48F7-A30D-1B7C4678148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914400"/>
          </a:xfrm>
        </p:spPr>
        <p:txBody>
          <a:bodyPr/>
          <a:lstStyle/>
          <a:p>
            <a:r>
              <a:rPr lang="en-US" altLang="en-US" dirty="0">
                <a:solidFill>
                  <a:srgbClr val="000066"/>
                </a:solidFill>
              </a:rPr>
              <a:t>EBMV301 Exam – June/July 2026</a:t>
            </a:r>
            <a:endParaRPr lang="en-GB" altLang="en-US" dirty="0">
              <a:solidFill>
                <a:srgbClr val="000066"/>
              </a:solidFill>
            </a:endParaRPr>
          </a:p>
        </p:txBody>
      </p:sp>
      <p:sp>
        <p:nvSpPr>
          <p:cNvPr id="182275" name="Rectangle 3">
            <a:extLst>
              <a:ext uri="{FF2B5EF4-FFF2-40B4-BE49-F238E27FC236}">
                <a16:creationId xmlns:a16="http://schemas.microsoft.com/office/drawing/2014/main" id="{8A3F2697-7433-46CE-B00A-2C4F250C367F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57200" y="838200"/>
            <a:ext cx="8382000" cy="5791200"/>
          </a:xfrm>
        </p:spPr>
        <p:txBody>
          <a:bodyPr/>
          <a:lstStyle/>
          <a:p>
            <a:pPr algn="just"/>
            <a:r>
              <a:rPr lang="en-ZA" altLang="en-US" sz="2400" dirty="0"/>
              <a:t>Chapter 14 (12 marks open, 5 MC)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ZA" altLang="en-US" dirty="0"/>
              <a:t>Risk adjustments and other refinements to capital budgeting</a:t>
            </a:r>
          </a:p>
          <a:p>
            <a:pPr lvl="1" algn="just">
              <a:buFont typeface="Wingdings" panose="05000000000000000000" pitchFamily="2" charset="2"/>
              <a:buChar char="§"/>
            </a:pPr>
            <a:endParaRPr lang="en-ZA" altLang="en-US" dirty="0"/>
          </a:p>
          <a:p>
            <a:pPr algn="just"/>
            <a:r>
              <a:rPr lang="en-ZA" altLang="en-US" sz="2400" dirty="0"/>
              <a:t>Chapter 15 (18 marks open, 4 MC)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ZA" altLang="en-US" dirty="0"/>
              <a:t>The cost of capital</a:t>
            </a:r>
          </a:p>
          <a:p>
            <a:pPr lvl="1" algn="just"/>
            <a:endParaRPr lang="en-ZA" altLang="en-US" dirty="0"/>
          </a:p>
          <a:p>
            <a:pPr algn="just"/>
            <a:r>
              <a:rPr lang="en-ZA" altLang="en-US" sz="2400" dirty="0"/>
              <a:t>Chapter 16 (16 marks open, 3 MC)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ZA" altLang="en-US" dirty="0"/>
              <a:t>Leverage and capital structure</a:t>
            </a:r>
          </a:p>
          <a:p>
            <a:pPr lvl="1" algn="just">
              <a:buFont typeface="Wingdings" panose="05000000000000000000" pitchFamily="2" charset="2"/>
              <a:buChar char="§"/>
            </a:pPr>
            <a:endParaRPr lang="en-ZA" altLang="en-US" dirty="0"/>
          </a:p>
          <a:p>
            <a:pPr algn="just"/>
            <a:r>
              <a:rPr lang="en-ZA" altLang="en-US" sz="2400" dirty="0">
                <a:solidFill>
                  <a:srgbClr val="000000"/>
                </a:solidFill>
              </a:rPr>
              <a:t> Chapter 18 (12 marks open, 4 MC)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ZA" altLang="en-US" dirty="0">
                <a:solidFill>
                  <a:srgbClr val="000000"/>
                </a:solidFill>
              </a:rPr>
              <a:t>Dividend policy</a:t>
            </a:r>
          </a:p>
          <a:p>
            <a:pPr lvl="1" algn="just">
              <a:buFont typeface="Wingdings" panose="05000000000000000000" pitchFamily="2" charset="2"/>
              <a:buChar char="§"/>
            </a:pPr>
            <a:endParaRPr lang="en-ZA" altLang="en-US" dirty="0"/>
          </a:p>
        </p:txBody>
      </p:sp>
      <p:sp>
        <p:nvSpPr>
          <p:cNvPr id="21509" name="Slide Number Placeholder 1">
            <a:extLst>
              <a:ext uri="{FF2B5EF4-FFF2-40B4-BE49-F238E27FC236}">
                <a16:creationId xmlns:a16="http://schemas.microsoft.com/office/drawing/2014/main" id="{2CFB3099-9291-46F9-A41C-723226FE092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C6F255A-381B-434C-BD54-5724F4009EEF}" type="slidenum">
              <a:rPr lang="en-ZA" altLang="en-US" sz="1400" smtClean="0"/>
              <a:pPr/>
              <a:t>7</a:t>
            </a:fld>
            <a:endParaRPr lang="en-ZA" altLang="en-US" sz="140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601"/>
    </mc:Choice>
    <mc:Fallback xmlns="">
      <p:transition spd="slow" advTm="5760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2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2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2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2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2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2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2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2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22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22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22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22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4">
            <a:extLst>
              <a:ext uri="{FF2B5EF4-FFF2-40B4-BE49-F238E27FC236}">
                <a16:creationId xmlns:a16="http://schemas.microsoft.com/office/drawing/2014/main" id="{014690F3-33AB-41FF-ADF8-11372091FA4C}"/>
              </a:ext>
            </a:extLst>
          </p:cNvPr>
          <p:cNvSpPr txBox="1">
            <a:spLocks noGrp="1"/>
          </p:cNvSpPr>
          <p:nvPr/>
        </p:nvSpPr>
        <p:spPr bwMode="auto">
          <a:xfrm>
            <a:off x="3352800" y="6324600"/>
            <a:ext cx="2286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fld id="{D42A7D49-DC2A-48BD-B92E-26D7569CE71B}" type="slidenum">
              <a:rPr lang="en-ZA" altLang="en-US" sz="1400">
                <a:latin typeface="Times New Roman" panose="02020603050405020304" pitchFamily="18" charset="0"/>
              </a:rPr>
              <a:pPr algn="r">
                <a:spcBef>
                  <a:spcPct val="0"/>
                </a:spcBef>
                <a:buFontTx/>
                <a:buNone/>
              </a:pPr>
              <a:t>8</a:t>
            </a:fld>
            <a:endParaRPr lang="en-ZA" altLang="en-US" sz="1400">
              <a:latin typeface="Times New Roman" panose="02020603050405020304" pitchFamily="18" charset="0"/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13BC43FE-1F98-4710-9019-D760BBBAEF3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914400"/>
          </a:xfrm>
        </p:spPr>
        <p:txBody>
          <a:bodyPr/>
          <a:lstStyle/>
          <a:p>
            <a:r>
              <a:rPr lang="en-US" altLang="en-US" dirty="0">
                <a:solidFill>
                  <a:srgbClr val="000066"/>
                </a:solidFill>
              </a:rPr>
              <a:t>EBMV301 Exam – June/July 2026</a:t>
            </a:r>
            <a:endParaRPr lang="en-GB" altLang="en-US" dirty="0">
              <a:solidFill>
                <a:srgbClr val="000066"/>
              </a:solidFill>
            </a:endParaRPr>
          </a:p>
        </p:txBody>
      </p:sp>
      <p:sp>
        <p:nvSpPr>
          <p:cNvPr id="182275" name="Rectangle 3">
            <a:extLst>
              <a:ext uri="{FF2B5EF4-FFF2-40B4-BE49-F238E27FC236}">
                <a16:creationId xmlns:a16="http://schemas.microsoft.com/office/drawing/2014/main" id="{50A544E9-0C51-47B0-A1B0-73A9CF122988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57200" y="1219200"/>
            <a:ext cx="8382000" cy="5410200"/>
          </a:xfrm>
        </p:spPr>
        <p:txBody>
          <a:bodyPr/>
          <a:lstStyle/>
          <a:p>
            <a:pPr algn="just">
              <a:defRPr/>
            </a:pPr>
            <a:r>
              <a:rPr lang="en-ZA" sz="2400" dirty="0"/>
              <a:t>Total open questions: 	100 marks</a:t>
            </a:r>
          </a:p>
          <a:p>
            <a:pPr algn="just">
              <a:defRPr/>
            </a:pPr>
            <a:r>
              <a:rPr lang="en-ZA" sz="2400" dirty="0"/>
              <a:t>Total MC questions: 	30 x 2.5 = 75 marks</a:t>
            </a:r>
          </a:p>
          <a:p>
            <a:pPr lvl="1" algn="just">
              <a:defRPr/>
            </a:pPr>
            <a:endParaRPr lang="en-ZA" sz="1800" dirty="0"/>
          </a:p>
          <a:p>
            <a:pPr algn="just">
              <a:defRPr/>
            </a:pPr>
            <a:r>
              <a:rPr lang="en-ZA" sz="2400" b="1" dirty="0">
                <a:solidFill>
                  <a:srgbClr val="0066FF"/>
                </a:solidFill>
              </a:rPr>
              <a:t>Total = 175 marks (3 hours)</a:t>
            </a:r>
          </a:p>
          <a:p>
            <a:pPr algn="just">
              <a:defRPr/>
            </a:pPr>
            <a:endParaRPr lang="en-ZA" sz="2400" b="1" dirty="0">
              <a:solidFill>
                <a:srgbClr val="0066FF"/>
              </a:solidFill>
            </a:endParaRPr>
          </a:p>
          <a:p>
            <a:pPr marL="0" indent="0" algn="ctr">
              <a:buFontTx/>
              <a:buNone/>
              <a:defRPr/>
            </a:pPr>
            <a:r>
              <a:rPr lang="en-ZA" sz="2400" b="1" dirty="0">
                <a:solidFill>
                  <a:srgbClr val="FF0000"/>
                </a:solidFill>
              </a:rPr>
              <a:t>“See” you then!</a:t>
            </a:r>
            <a:endParaRPr lang="en-ZA" dirty="0">
              <a:solidFill>
                <a:srgbClr val="FF0000"/>
              </a:solidFill>
            </a:endParaRPr>
          </a:p>
        </p:txBody>
      </p:sp>
      <p:sp>
        <p:nvSpPr>
          <p:cNvPr id="22533" name="Slide Number Placeholder 1">
            <a:extLst>
              <a:ext uri="{FF2B5EF4-FFF2-40B4-BE49-F238E27FC236}">
                <a16:creationId xmlns:a16="http://schemas.microsoft.com/office/drawing/2014/main" id="{8AED3E00-F5B1-4BE8-A1AD-8BFDC6269D1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D0E9416-9DE3-47A0-AFD8-93ACEDA87BAB}" type="slidenum">
              <a:rPr lang="en-ZA" altLang="en-US" sz="1400" smtClean="0"/>
              <a:pPr/>
              <a:t>8</a:t>
            </a:fld>
            <a:endParaRPr lang="en-ZA" altLang="en-US" sz="1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919"/>
    </mc:Choice>
    <mc:Fallback xmlns="">
      <p:transition spd="slow" advTm="55919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34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4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7|31.7|14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6.7|30.7"/>
</p:tagLst>
</file>

<file path=ppt/theme/theme1.xml><?xml version="1.0" encoding="utf-8"?>
<a:theme xmlns:a="http://schemas.openxmlformats.org/drawingml/2006/main" name="template">
  <a:themeElements>
    <a:clrScheme name="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000000"/>
      </a:accent4>
      <a:accent5>
        <a:srgbClr val="FFFFFF"/>
      </a:accent5>
      <a:accent6>
        <a:srgbClr val="E7E7E7"/>
      </a:accent6>
      <a:hlink>
        <a:srgbClr val="FFFFFF"/>
      </a:hlink>
      <a:folHlink>
        <a:srgbClr val="F8F8F8"/>
      </a:folHlink>
    </a:clrScheme>
    <a:fontScheme name="template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triangle" w="med" len="med"/>
        </a:ln>
        <a:effectLst/>
        <a:scene3d>
          <a:camera prst="legacyObliqueTopRight"/>
          <a:lightRig rig="legacyFlat3" dir="b"/>
        </a:scene3d>
        <a:sp3d extrusionH="4302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triangle" w="med" len="med"/>
        </a:ln>
        <a:effectLst/>
        <a:scene3d>
          <a:camera prst="legacyObliqueTopRight"/>
          <a:lightRig rig="legacyFlat3" dir="b"/>
        </a:scene3d>
        <a:sp3d extrusionH="4302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8">
        <a:dk1>
          <a:srgbClr val="000033"/>
        </a:dk1>
        <a:lt1>
          <a:srgbClr val="CCCCFF"/>
        </a:lt1>
        <a:dk2>
          <a:srgbClr val="000066"/>
        </a:dk2>
        <a:lt2>
          <a:srgbClr val="CCCCFF"/>
        </a:lt2>
        <a:accent1>
          <a:srgbClr val="CCCCFF"/>
        </a:accent1>
        <a:accent2>
          <a:srgbClr val="3333CC"/>
        </a:accent2>
        <a:accent3>
          <a:srgbClr val="AAAAB8"/>
        </a:accent3>
        <a:accent4>
          <a:srgbClr val="AEAEDA"/>
        </a:accent4>
        <a:accent5>
          <a:srgbClr val="E2E2FF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7564</TotalTime>
  <Words>664</Words>
  <Application>Microsoft Office PowerPoint</Application>
  <PresentationFormat>On-screen Show (4:3)</PresentationFormat>
  <Paragraphs>101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Tahoma</vt:lpstr>
      <vt:lpstr>Times New Roman</vt:lpstr>
      <vt:lpstr>Wingdings</vt:lpstr>
      <vt:lpstr>template</vt:lpstr>
      <vt:lpstr>PowerPoint Presentation</vt:lpstr>
      <vt:lpstr>NB note</vt:lpstr>
      <vt:lpstr>EBMV301 Exam – June/July 2026</vt:lpstr>
      <vt:lpstr>EBMV301 Exam – June/July 2026</vt:lpstr>
      <vt:lpstr>EBMV301 Final note 2026</vt:lpstr>
      <vt:lpstr>EBMV301 Final note 2026</vt:lpstr>
      <vt:lpstr>EBMV301 Exam – June/July 2026</vt:lpstr>
      <vt:lpstr>EBMV301 Exam – June/July 2026</vt:lpstr>
      <vt:lpstr>EBMV301 Exam – June/July 2026</vt:lpstr>
    </vt:vector>
  </TitlesOfParts>
  <Company>Etling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Long-Term Financial Planning and Growth</dc:title>
  <dc:creator>Preferred Customer</dc:creator>
  <cp:lastModifiedBy>Rootman, Chantal (Prof) (Summerstrand Campus South)</cp:lastModifiedBy>
  <cp:revision>539</cp:revision>
  <cp:lastPrinted>2019-05-20T09:09:49Z</cp:lastPrinted>
  <dcterms:created xsi:type="dcterms:W3CDTF">2002-03-01T13:05:23Z</dcterms:created>
  <dcterms:modified xsi:type="dcterms:W3CDTF">2026-05-16T13:38:21Z</dcterms:modified>
</cp:coreProperties>
</file>