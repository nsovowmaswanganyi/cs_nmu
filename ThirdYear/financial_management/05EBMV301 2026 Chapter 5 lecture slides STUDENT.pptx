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notesSlides/notesSlide34.xml" ContentType="application/vnd.openxmlformats-officedocument.presentationml.notesSlide+xml"/>
  <Override PartName="/ppt/tags/tag3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3648" r:id="rId1"/>
    <p:sldMasterId id="2147483664" r:id="rId2"/>
  </p:sldMasterIdLst>
  <p:notesMasterIdLst>
    <p:notesMasterId r:id="rId39"/>
  </p:notesMasterIdLst>
  <p:handoutMasterIdLst>
    <p:handoutMasterId r:id="rId40"/>
  </p:handoutMasterIdLst>
  <p:sldIdLst>
    <p:sldId id="283" r:id="rId3"/>
    <p:sldId id="291" r:id="rId4"/>
    <p:sldId id="259" r:id="rId5"/>
    <p:sldId id="394" r:id="rId6"/>
    <p:sldId id="383" r:id="rId7"/>
    <p:sldId id="341" r:id="rId8"/>
    <p:sldId id="366" r:id="rId9"/>
    <p:sldId id="367" r:id="rId10"/>
    <p:sldId id="368" r:id="rId11"/>
    <p:sldId id="369" r:id="rId12"/>
    <p:sldId id="371" r:id="rId13"/>
    <p:sldId id="372" r:id="rId14"/>
    <p:sldId id="384" r:id="rId15"/>
    <p:sldId id="385" r:id="rId16"/>
    <p:sldId id="373" r:id="rId17"/>
    <p:sldId id="374" r:id="rId18"/>
    <p:sldId id="396" r:id="rId19"/>
    <p:sldId id="395" r:id="rId20"/>
    <p:sldId id="378" r:id="rId21"/>
    <p:sldId id="397" r:id="rId22"/>
    <p:sldId id="380" r:id="rId23"/>
    <p:sldId id="381" r:id="rId24"/>
    <p:sldId id="382" r:id="rId25"/>
    <p:sldId id="398" r:id="rId26"/>
    <p:sldId id="399" r:id="rId27"/>
    <p:sldId id="388" r:id="rId28"/>
    <p:sldId id="403" r:id="rId29"/>
    <p:sldId id="404" r:id="rId30"/>
    <p:sldId id="401" r:id="rId31"/>
    <p:sldId id="400" r:id="rId32"/>
    <p:sldId id="405" r:id="rId33"/>
    <p:sldId id="407" r:id="rId34"/>
    <p:sldId id="408" r:id="rId35"/>
    <p:sldId id="393" r:id="rId36"/>
    <p:sldId id="370" r:id="rId37"/>
    <p:sldId id="335" r:id="rId38"/>
  </p:sldIdLst>
  <p:sldSz cx="9144000" cy="6858000" type="screen4x3"/>
  <p:notesSz cx="6858000" cy="9945688"/>
  <p:custDataLst>
    <p:tags r:id="rId41"/>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D69249"/>
    <a:srgbClr val="ADB3BF"/>
    <a:srgbClr val="D63A17"/>
    <a:srgbClr val="00677B"/>
    <a:srgbClr val="FDF1BB"/>
    <a:srgbClr val="FDF4C9"/>
    <a:srgbClr val="A2A871"/>
    <a:srgbClr val="9DA900"/>
    <a:srgbClr val="94A4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7" d="100"/>
          <a:sy n="87" d="100"/>
        </p:scale>
        <p:origin x="1238"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tman, Chantal (Prof) (Summerstrand Campus South)" userId="b3444f73-21d4-4d22-b260-75b64de2b6d6" providerId="ADAL" clId="{3CB0E58B-1B84-44B1-8447-C625CAF42998}"/>
    <pc:docChg chg="custSel modSld">
      <pc:chgData name="Rootman, Chantal (Prof) (Summerstrand Campus South)" userId="b3444f73-21d4-4d22-b260-75b64de2b6d6" providerId="ADAL" clId="{3CB0E58B-1B84-44B1-8447-C625CAF42998}" dt="2026-02-03T11:40:35.784" v="86" actId="20577"/>
      <pc:docMkLst>
        <pc:docMk/>
      </pc:docMkLst>
      <pc:sldChg chg="delSp mod">
        <pc:chgData name="Rootman, Chantal (Prof) (Summerstrand Campus South)" userId="b3444f73-21d4-4d22-b260-75b64de2b6d6" providerId="ADAL" clId="{3CB0E58B-1B84-44B1-8447-C625CAF42998}" dt="2026-02-03T11:39:06.469" v="0" actId="478"/>
        <pc:sldMkLst>
          <pc:docMk/>
          <pc:sldMk cId="1067134094" sldId="283"/>
        </pc:sldMkLst>
        <pc:picChg chg="del">
          <ac:chgData name="Rootman, Chantal (Prof) (Summerstrand Campus South)" userId="b3444f73-21d4-4d22-b260-75b64de2b6d6" providerId="ADAL" clId="{3CB0E58B-1B84-44B1-8447-C625CAF42998}" dt="2026-02-03T11:39:06.469" v="0" actId="478"/>
          <ac:picMkLst>
            <pc:docMk/>
            <pc:sldMk cId="1067134094" sldId="283"/>
            <ac:picMk id="4" creationId="{1022AE71-D7C8-51D0-8077-1B394481F51D}"/>
          </ac:picMkLst>
        </pc:picChg>
      </pc:sldChg>
      <pc:sldChg chg="delSp mod">
        <pc:chgData name="Rootman, Chantal (Prof) (Summerstrand Campus South)" userId="b3444f73-21d4-4d22-b260-75b64de2b6d6" providerId="ADAL" clId="{3CB0E58B-1B84-44B1-8447-C625CAF42998}" dt="2026-02-03T11:39:31.222" v="16" actId="478"/>
        <pc:sldMkLst>
          <pc:docMk/>
          <pc:sldMk cId="209281414" sldId="341"/>
        </pc:sldMkLst>
        <pc:picChg chg="del">
          <ac:chgData name="Rootman, Chantal (Prof) (Summerstrand Campus South)" userId="b3444f73-21d4-4d22-b260-75b64de2b6d6" providerId="ADAL" clId="{3CB0E58B-1B84-44B1-8447-C625CAF42998}" dt="2026-02-03T11:39:31.222" v="16" actId="478"/>
          <ac:picMkLst>
            <pc:docMk/>
            <pc:sldMk cId="209281414" sldId="341"/>
            <ac:picMk id="4" creationId="{F02862D7-C7C4-FDF4-45FE-D727A3E87DCC}"/>
          </ac:picMkLst>
        </pc:picChg>
      </pc:sldChg>
      <pc:sldChg chg="delSp mod">
        <pc:chgData name="Rootman, Chantal (Prof) (Summerstrand Campus South)" userId="b3444f73-21d4-4d22-b260-75b64de2b6d6" providerId="ADAL" clId="{3CB0E58B-1B84-44B1-8447-C625CAF42998}" dt="2026-02-03T11:39:35.210" v="17" actId="478"/>
        <pc:sldMkLst>
          <pc:docMk/>
          <pc:sldMk cId="588498342" sldId="367"/>
        </pc:sldMkLst>
        <pc:picChg chg="del">
          <ac:chgData name="Rootman, Chantal (Prof) (Summerstrand Campus South)" userId="b3444f73-21d4-4d22-b260-75b64de2b6d6" providerId="ADAL" clId="{3CB0E58B-1B84-44B1-8447-C625CAF42998}" dt="2026-02-03T11:39:35.210" v="17" actId="478"/>
          <ac:picMkLst>
            <pc:docMk/>
            <pc:sldMk cId="588498342" sldId="367"/>
            <ac:picMk id="4" creationId="{3C353F7B-5E17-0EF5-EE17-D0375D89223E}"/>
          </ac:picMkLst>
        </pc:picChg>
      </pc:sldChg>
      <pc:sldChg chg="modSp modAnim">
        <pc:chgData name="Rootman, Chantal (Prof) (Summerstrand Campus South)" userId="b3444f73-21d4-4d22-b260-75b64de2b6d6" providerId="ADAL" clId="{3CB0E58B-1B84-44B1-8447-C625CAF42998}" dt="2026-02-03T11:40:35.784" v="86" actId="20577"/>
        <pc:sldMkLst>
          <pc:docMk/>
          <pc:sldMk cId="2836939652" sldId="378"/>
        </pc:sldMkLst>
        <pc:spChg chg="mod">
          <ac:chgData name="Rootman, Chantal (Prof) (Summerstrand Campus South)" userId="b3444f73-21d4-4d22-b260-75b64de2b6d6" providerId="ADAL" clId="{3CB0E58B-1B84-44B1-8447-C625CAF42998}" dt="2026-02-03T11:40:35.784" v="86" actId="20577"/>
          <ac:spMkLst>
            <pc:docMk/>
            <pc:sldMk cId="2836939652" sldId="378"/>
            <ac:spMk id="15" creationId="{1C89DA4E-0B28-9337-7030-7DDB849221C0}"/>
          </ac:spMkLst>
        </pc:spChg>
      </pc:sldChg>
      <pc:sldChg chg="modSp mod">
        <pc:chgData name="Rootman, Chantal (Prof) (Summerstrand Campus South)" userId="b3444f73-21d4-4d22-b260-75b64de2b6d6" providerId="ADAL" clId="{3CB0E58B-1B84-44B1-8447-C625CAF42998}" dt="2026-02-03T11:40:02.593" v="61" actId="20577"/>
        <pc:sldMkLst>
          <pc:docMk/>
          <pc:sldMk cId="1099954283" sldId="384"/>
        </pc:sldMkLst>
        <pc:graphicFrameChg chg="modGraphic">
          <ac:chgData name="Rootman, Chantal (Prof) (Summerstrand Campus South)" userId="b3444f73-21d4-4d22-b260-75b64de2b6d6" providerId="ADAL" clId="{3CB0E58B-1B84-44B1-8447-C625CAF42998}" dt="2026-02-03T11:40:02.593" v="61" actId="20577"/>
          <ac:graphicFrameMkLst>
            <pc:docMk/>
            <pc:sldMk cId="1099954283" sldId="384"/>
            <ac:graphicFrameMk id="5" creationId="{566B6C57-5989-78D6-D6D9-AA98D7E4875C}"/>
          </ac:graphicFrameMkLst>
        </pc:graphicFrameChg>
      </pc:sldChg>
      <pc:sldChg chg="modSp mod">
        <pc:chgData name="Rootman, Chantal (Prof) (Summerstrand Campus South)" userId="b3444f73-21d4-4d22-b260-75b64de2b6d6" providerId="ADAL" clId="{3CB0E58B-1B84-44B1-8447-C625CAF42998}" dt="2026-02-03T11:39:27.063" v="15" actId="20577"/>
        <pc:sldMkLst>
          <pc:docMk/>
          <pc:sldMk cId="1969961942" sldId="394"/>
        </pc:sldMkLst>
        <pc:spChg chg="mod">
          <ac:chgData name="Rootman, Chantal (Prof) (Summerstrand Campus South)" userId="b3444f73-21d4-4d22-b260-75b64de2b6d6" providerId="ADAL" clId="{3CB0E58B-1B84-44B1-8447-C625CAF42998}" dt="2026-02-03T11:39:27.063" v="15" actId="20577"/>
          <ac:spMkLst>
            <pc:docMk/>
            <pc:sldMk cId="1969961942" sldId="394"/>
            <ac:spMk id="9221"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1" y="4724203"/>
            <a:ext cx="5029200" cy="4475559"/>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42860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5026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594908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98721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100699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51271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851455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811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248678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874562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1379965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4883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528226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D14DA-6973-9E7B-7C78-B2FB2C1F19F4}"/>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C1A2B5C-02BA-AE32-0CC8-30BB74EA1DA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E311B2E-D484-B92D-C056-67A9C2312564}"/>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83583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F5042-C7C8-E9C6-EBB8-A12024CF99C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94F44A97-8DA5-BA1A-6EAB-09579185ED48}"/>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C14DC4D-5AD3-3954-340A-CD79D07C343D}"/>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31177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8986999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3E344-EA7D-D72F-65B1-9F346E920F7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4C2C1BF-48EB-7E1F-BD71-022BA28712DB}"/>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5C64A4F-8916-04A8-0F40-A718C143BCDE}"/>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489359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614347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4996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4727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B17F4-F5FF-11E1-9B37-4B4A65649E8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08CF94B-4925-E39B-C52A-E11AF91D486B}"/>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6275F7F-51C6-0D0A-AA6C-7264656A03DF}"/>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0253850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96BB3-74CB-588A-FDAC-3C14C7F4814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B5547E0-52CD-168E-2AF3-C780D460C840}"/>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206E1C9-6051-C737-A758-AD691D325F7B}"/>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822936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1350134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2553-EE38-0CE4-C7BB-C3756654E5F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25166B0-E690-944A-20B4-4F65ABAA0270}"/>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E9A8C2A7-ADCB-2469-760D-44626CC09514}"/>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68572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AE95C-E495-17C4-C190-626D1474BBD5}"/>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2AF806B-E6D1-665D-AC66-28EAD1B56544}"/>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E1FDC2B-7E65-A6BA-7AA2-2A7C256F58E3}"/>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113347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8F5F7-1694-2FC3-3D53-033D90F0DF6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3059D1A-5357-81CB-9FEE-F8E6F95B9634}"/>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DE784CBA-6A55-17D0-C2C5-629387855BE5}"/>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9205911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8C1C5-1632-2530-D4FC-7E02E51B59A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F96DACE3-B1E8-E35B-669F-20B3A2D16F21}"/>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9092CAB-0C42-4FE7-B213-6C97FF023A36}"/>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434064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53A29-86A7-690E-AC2F-C397B0923E9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F2479DA-9AAE-42A1-D373-557EBF8D78DE}"/>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174BBC0-D3B0-21BD-00A6-E4493F25707C}"/>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9474641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45103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30745-2A6F-B502-392E-2EC1904CD12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EF11915-90F7-9C5E-F21D-6D0F5D19CA49}"/>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0373F90-7A67-F92D-9674-D7902278DD4D}"/>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7082845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200048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494833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8698"/>
            <a:fld id="{73303AEE-F764-0E46-AFB6-085D8FECA2EE}" type="slidenum">
              <a:rPr lang="en-US">
                <a:solidFill>
                  <a:srgbClr val="000000"/>
                </a:solidFill>
              </a:rPr>
              <a:pPr defTabSz="918698"/>
              <a:t>36</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2/3/2026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2/3/2026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2/3/2026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2/3/2026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2/3/2026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2/3/2026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2/3/2026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2/3/2026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466312" y="2286000"/>
            <a:ext cx="3124200" cy="15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Business and financial planning</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5</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a:t>
            </a:r>
          </a:p>
          <a:p>
            <a:pPr lvl="0" algn="ctr" defTabSz="912813" eaLnBrk="1" hangingPunct="1"/>
            <a:r>
              <a:rPr lang="en-GB" sz="2000" b="1" dirty="0">
                <a:solidFill>
                  <a:srgbClr val="28287A"/>
                </a:solidFill>
                <a:latin typeface="+mn-lt"/>
                <a:ea typeface="+mn-ea"/>
                <a:cs typeface="Arial" charset="0"/>
              </a:rPr>
              <a:t>Dr Watson, Ms E Kobese </a:t>
            </a:r>
            <a:r>
              <a:rPr kumimoji="0" lang="en-GB" sz="2000" b="1" i="0" u="none" strike="noStrike" kern="1200" cap="none" spc="0" normalizeH="0" baseline="0" noProof="0" dirty="0">
                <a:ln>
                  <a:noFill/>
                </a:ln>
                <a:solidFill>
                  <a:srgbClr val="28287A"/>
                </a:solidFill>
                <a:effectLst/>
                <a:uLnTx/>
                <a:uFillTx/>
                <a:latin typeface="+mn-lt"/>
                <a:ea typeface="+mn-ea"/>
                <a:cs typeface="Arial" charset="0"/>
              </a:rPr>
              <a:t>&amp; Ms N Maliwa</a:t>
            </a:r>
          </a:p>
        </p:txBody>
      </p:sp>
    </p:spTree>
    <p:extLst>
      <p:ext uri="{BB962C8B-B14F-4D97-AF65-F5344CB8AC3E}">
        <p14:creationId xmlns:p14="http://schemas.microsoft.com/office/powerpoint/2010/main" val="1067134094"/>
      </p:ext>
    </p:extLst>
  </p:cSld>
  <p:clrMapOvr>
    <a:masterClrMapping/>
  </p:clrMapOvr>
  <mc:AlternateContent xmlns:mc="http://schemas.openxmlformats.org/markup-compatibility/2006" xmlns:p14="http://schemas.microsoft.com/office/powerpoint/2010/main">
    <mc:Choice Requires="p14">
      <p:transition spd="slow" p14:dur="2000" advTm="76269"/>
    </mc:Choice>
    <mc:Fallback xmlns="">
      <p:transition spd="slow" advTm="76269"/>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5</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tabLst>
                <a:tab pos="431800" algn="l"/>
              </a:tabLst>
            </a:pPr>
            <a:r>
              <a:rPr lang="en-ZA" sz="2400" dirty="0">
                <a:effectLst/>
                <a:ea typeface="Times New Roman" panose="02020603050405020304" pitchFamily="18" charset="0"/>
              </a:rPr>
              <a:t>link strategy, risk identification and assessment to financial planning</a:t>
            </a:r>
          </a:p>
          <a:p>
            <a:pPr marL="342900" lvl="0" indent="-342900" algn="just">
              <a:buFont typeface="Symbol" panose="05050102010706020507" pitchFamily="18" charset="2"/>
              <a:buChar char=""/>
              <a:tabLst>
                <a:tab pos="431800" algn="l"/>
              </a:tabLst>
            </a:pPr>
            <a:r>
              <a:rPr lang="en-ZA" sz="2400" dirty="0">
                <a:effectLst/>
                <a:ea typeface="Times New Roman" panose="02020603050405020304" pitchFamily="18" charset="0"/>
              </a:rPr>
              <a:t>compile a budgeted statement of financial performance</a:t>
            </a:r>
          </a:p>
          <a:p>
            <a:pPr marL="342900" lvl="0" indent="-342900" algn="just">
              <a:buFont typeface="Symbol" panose="05050102010706020507" pitchFamily="18" charset="2"/>
              <a:buChar char=""/>
              <a:tabLst>
                <a:tab pos="431800" algn="l"/>
              </a:tabLst>
            </a:pPr>
            <a:r>
              <a:rPr lang="en-ZA" sz="2400" dirty="0">
                <a:effectLst/>
                <a:ea typeface="Times New Roman" panose="02020603050405020304" pitchFamily="18" charset="0"/>
              </a:rPr>
              <a:t>compile a budgeted statement of financia</a:t>
            </a:r>
            <a:r>
              <a:rPr lang="en-ZA" sz="2400" dirty="0">
                <a:ea typeface="Times New Roman" panose="02020603050405020304" pitchFamily="18" charset="0"/>
              </a:rPr>
              <a:t>l position</a:t>
            </a:r>
            <a:endParaRPr lang="en-ZA" sz="2400" dirty="0">
              <a:effectLst/>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ea typeface="Times New Roman" panose="02020603050405020304" pitchFamily="18" charset="0"/>
              </a:rPr>
              <a:t>evaluate a budgeted statement of financia</a:t>
            </a:r>
            <a:r>
              <a:rPr lang="en-ZA" sz="2400" dirty="0">
                <a:ea typeface="Times New Roman" panose="02020603050405020304" pitchFamily="18" charset="0"/>
              </a:rPr>
              <a:t>l performance and a budgeted statement of financial position</a:t>
            </a:r>
            <a:endParaRPr lang="en-ZA" sz="2400" dirty="0">
              <a:effectLst/>
              <a:ea typeface="Times New Roman" panose="02020603050405020304" pitchFamily="18" charset="0"/>
            </a:endParaRPr>
          </a:p>
          <a:p>
            <a:pPr marL="342900" lvl="0" indent="-342900" algn="just">
              <a:buFont typeface="Symbol" panose="05050102010706020507" pitchFamily="18" charset="2"/>
              <a:buChar char=""/>
              <a:tabLst>
                <a:tab pos="431800" algn="l"/>
              </a:tabLst>
            </a:pPr>
            <a:r>
              <a:rPr lang="en-ZA" sz="2400" dirty="0">
                <a:effectLst/>
                <a:ea typeface="Times New Roman" panose="02020603050405020304" pitchFamily="18" charset="0"/>
              </a:rPr>
              <a:t>apply the principles of budgeting</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mc:AlternateContent xmlns:mc="http://schemas.openxmlformats.org/markup-compatibility/2006" xmlns:p14="http://schemas.microsoft.com/office/powerpoint/2010/main">
    <mc:Choice Requires="p14">
      <p:transition spd="slow" p14:dur="2000" advTm="73523"/>
    </mc:Choice>
    <mc:Fallback xmlns="">
      <p:transition spd="slow" advTm="73523"/>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Examples of firms’ LT fin planning </a:t>
            </a:r>
          </a:p>
        </p:txBody>
      </p:sp>
      <p:sp>
        <p:nvSpPr>
          <p:cNvPr id="9221" name="Rectangle 5"/>
          <p:cNvSpPr>
            <a:spLocks noGrp="1" noChangeArrowheads="1"/>
          </p:cNvSpPr>
          <p:nvPr>
            <p:ph idx="1"/>
          </p:nvPr>
        </p:nvSpPr>
        <p:spPr>
          <a:xfrm>
            <a:off x="259976" y="990600"/>
            <a:ext cx="8655424" cy="5791200"/>
          </a:xfrm>
        </p:spPr>
        <p:txBody>
          <a:bodyPr/>
          <a:lstStyle/>
          <a:p>
            <a:pPr marL="0" indent="0" algn="ctr">
              <a:lnSpc>
                <a:spcPct val="105000"/>
              </a:lnSpc>
              <a:buSzPct val="100000"/>
              <a:buNone/>
            </a:pPr>
            <a:r>
              <a:rPr lang="en-US" sz="2600" dirty="0">
                <a:solidFill>
                  <a:srgbClr val="FF0000"/>
                </a:solidFill>
              </a:rPr>
              <a:t>Proper Prior Planning Prevents Poor Performance</a:t>
            </a:r>
          </a:p>
          <a:p>
            <a:pPr marL="0" indent="0" algn="ctr">
              <a:lnSpc>
                <a:spcPct val="100000"/>
              </a:lnSpc>
              <a:spcBef>
                <a:spcPts val="0"/>
              </a:spcBef>
              <a:buSzPct val="100000"/>
              <a:buNone/>
            </a:pPr>
            <a:endParaRPr lang="en-US" sz="1000" dirty="0">
              <a:solidFill>
                <a:srgbClr val="FF0000"/>
              </a:solidFill>
            </a:endParaRPr>
          </a:p>
          <a:p>
            <a:pPr algn="just">
              <a:lnSpc>
                <a:spcPct val="100000"/>
              </a:lnSpc>
              <a:spcBef>
                <a:spcPts val="0"/>
              </a:spcBef>
              <a:buSzPct val="100000"/>
              <a:buFont typeface="Arial" panose="020B0604020202020204" pitchFamily="34" charset="0"/>
              <a:buChar char="•"/>
            </a:pPr>
            <a:r>
              <a:rPr lang="en-US" sz="2400" dirty="0"/>
              <a:t>Eskom </a:t>
            </a:r>
            <a:r>
              <a:rPr lang="en-US" sz="2400" dirty="0" err="1"/>
              <a:t>Eskom</a:t>
            </a:r>
            <a:r>
              <a:rPr lang="en-US" sz="2400" dirty="0"/>
              <a:t> plans R320bn infrastructure upgrade </a:t>
            </a:r>
            <a:r>
              <a:rPr lang="en-US" sz="1000" dirty="0"/>
              <a:t>Source: https://dailynews.co.za/business/2025-09-30-eskom-plans-r320bn-infrastructure-overhaul-as-it-returns-to-profitability/</a:t>
            </a:r>
            <a:endParaRPr lang="en-US" sz="2600" dirty="0"/>
          </a:p>
          <a:p>
            <a:pPr algn="just">
              <a:lnSpc>
                <a:spcPct val="100000"/>
              </a:lnSpc>
              <a:spcBef>
                <a:spcPts val="0"/>
              </a:spcBef>
              <a:buSzPct val="100000"/>
              <a:buFont typeface="Arial" panose="020B0604020202020204" pitchFamily="34" charset="0"/>
              <a:buChar char="•"/>
            </a:pPr>
            <a:r>
              <a:rPr lang="en-US" sz="2400" dirty="0"/>
              <a:t>NMU invested 3 quarters of a billion Rand in campus infrastructure, e.g. residences, transportation hub, Ocean Sciences, etc. </a:t>
            </a:r>
            <a:r>
              <a:rPr lang="en-US" sz="1000" dirty="0"/>
              <a:t>Source: https://www.mandela.ac.za/About-us/Infrastructure-Projects</a:t>
            </a:r>
          </a:p>
          <a:p>
            <a:pPr algn="just">
              <a:lnSpc>
                <a:spcPct val="100000"/>
              </a:lnSpc>
              <a:spcBef>
                <a:spcPts val="0"/>
              </a:spcBef>
              <a:buSzPct val="100000"/>
              <a:buFont typeface="Arial" panose="020B0604020202020204" pitchFamily="34" charset="0"/>
              <a:buChar char="•"/>
            </a:pPr>
            <a:r>
              <a:rPr lang="en-US" sz="2400" dirty="0"/>
              <a:t>Mr Price rapidly expands its store base, adding over 60 stores; SA economic growth outlook for 2026 improving </a:t>
            </a:r>
            <a:r>
              <a:rPr lang="en-US" sz="1000" dirty="0">
                <a:solidFill>
                  <a:prstClr val="black"/>
                </a:solidFill>
              </a:rPr>
              <a:t>Source: https://businesstech.co.za/news/business/849055/major-retailer-opening-new-stores-across-south-africa-2/</a:t>
            </a:r>
            <a:endParaRPr lang="en-US" sz="2600" dirty="0"/>
          </a:p>
          <a:p>
            <a:pPr algn="just">
              <a:lnSpc>
                <a:spcPct val="100000"/>
              </a:lnSpc>
              <a:spcBef>
                <a:spcPts val="0"/>
              </a:spcBef>
              <a:buSzPct val="100000"/>
              <a:buFont typeface="Arial" panose="020B0604020202020204" pitchFamily="34" charset="0"/>
              <a:buChar char="•"/>
            </a:pPr>
            <a:r>
              <a:rPr lang="en-US" sz="2400" dirty="0"/>
              <a:t>BAIC @ </a:t>
            </a:r>
            <a:r>
              <a:rPr lang="en-US" sz="2400" dirty="0" err="1"/>
              <a:t>Coega</a:t>
            </a:r>
            <a:r>
              <a:rPr lang="en-US" sz="2400" dirty="0"/>
              <a:t>: R11 billion investment has made the BAIC SA assembly plant one of the most significant automotive developments in the country in the past four decades… </a:t>
            </a:r>
            <a:r>
              <a:rPr lang="en-US" sz="1000" dirty="0"/>
              <a:t>Source: https://www.group1baic.co.za/blog/baic-expansion-in-gqeberha-a-welcome-boost-for-sas-automotive-growth/</a:t>
            </a:r>
            <a:endParaRPr lang="en-US" sz="1600" dirty="0"/>
          </a:p>
          <a:p>
            <a:pPr algn="just">
              <a:lnSpc>
                <a:spcPct val="100000"/>
              </a:lnSpc>
              <a:spcBef>
                <a:spcPts val="0"/>
              </a:spcBef>
              <a:buSzPct val="100000"/>
              <a:buFont typeface="Arial" panose="020B0604020202020204" pitchFamily="34" charset="0"/>
              <a:buChar char="•"/>
            </a:pPr>
            <a:endParaRPr lang="en-US" sz="1400" dirty="0"/>
          </a:p>
          <a:p>
            <a:pPr algn="just">
              <a:lnSpc>
                <a:spcPct val="100000"/>
              </a:lnSpc>
              <a:spcBef>
                <a:spcPts val="0"/>
              </a:spcBef>
              <a:buSzPct val="100000"/>
              <a:buFont typeface="Arial" panose="020B0604020202020204" pitchFamily="34" charset="0"/>
              <a:buChar char="•"/>
            </a:pPr>
            <a:r>
              <a:rPr lang="en-US" sz="2600" dirty="0"/>
              <a:t>Need to do LT planning for this: Capital needed? Source from where? How will fin performance and position then look like?</a:t>
            </a:r>
          </a:p>
          <a:p>
            <a:pPr>
              <a:lnSpc>
                <a:spcPct val="105000"/>
              </a:lnSpc>
              <a:buSzPct val="100000"/>
              <a:buFont typeface="Arial" panose="020B0604020202020204" pitchFamily="34" charset="0"/>
              <a:buChar char="•"/>
            </a:pPr>
            <a:endParaRPr lang="en-US" dirty="0">
              <a:solidFill>
                <a:srgbClr val="FF0000"/>
              </a:solidFill>
            </a:endParaRP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7" end="7"/>
                                            </p:txEl>
                                          </p:spTgt>
                                        </p:tgtEl>
                                        <p:attrNameLst>
                                          <p:attrName>style.visibility</p:attrName>
                                        </p:attrNameLst>
                                      </p:cBhvr>
                                      <p:to>
                                        <p:strVal val="visible"/>
                                      </p:to>
                                    </p:set>
                                    <p:anim calcmode="lin" valueType="num">
                                      <p:cBhvr additive="base">
                                        <p:cTn id="7" dur="500" fill="hold"/>
                                        <p:tgtEl>
                                          <p:spTgt spid="9221">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627993"/>
          </a:xfrm>
        </p:spPr>
        <p:txBody>
          <a:bodyPr/>
          <a:lstStyle/>
          <a:p>
            <a:r>
              <a:rPr lang="en-US" dirty="0">
                <a:solidFill>
                  <a:schemeClr val="tx2"/>
                </a:solidFill>
              </a:rPr>
              <a:t>Examples of firms’ LT fin planning (cont.)</a:t>
            </a:r>
          </a:p>
        </p:txBody>
      </p:sp>
      <p:sp>
        <p:nvSpPr>
          <p:cNvPr id="9221" name="Rectangle 5"/>
          <p:cNvSpPr>
            <a:spLocks noGrp="1" noChangeArrowheads="1"/>
          </p:cNvSpPr>
          <p:nvPr>
            <p:ph idx="1"/>
          </p:nvPr>
        </p:nvSpPr>
        <p:spPr>
          <a:xfrm>
            <a:off x="244288" y="495300"/>
            <a:ext cx="8655424" cy="6286500"/>
          </a:xfrm>
        </p:spPr>
        <p:txBody>
          <a:bodyPr/>
          <a:lstStyle/>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endParaRPr lang="en-US" sz="2200" dirty="0"/>
          </a:p>
          <a:p>
            <a:pPr marL="0" indent="0" algn="just">
              <a:lnSpc>
                <a:spcPct val="100000"/>
              </a:lnSpc>
              <a:spcBef>
                <a:spcPts val="0"/>
              </a:spcBef>
              <a:buSzPct val="100000"/>
              <a:buNone/>
            </a:pPr>
            <a:r>
              <a:rPr lang="en-US" sz="2200" dirty="0"/>
              <a:t>. </a:t>
            </a:r>
            <a:r>
              <a:rPr lang="en-US" sz="1000" dirty="0"/>
              <a:t>Source: https://www.autoforum.co.za/View-News-Article.aspx?News=faw-trucks-southern-africa-record-breaking-sales-strategic-growth-in-2024-25-54-20</a:t>
            </a:r>
          </a:p>
          <a:p>
            <a:pPr marL="0" indent="0">
              <a:lnSpc>
                <a:spcPct val="100000"/>
              </a:lnSpc>
              <a:spcBef>
                <a:spcPts val="0"/>
              </a:spcBef>
              <a:buSzPct val="100000"/>
              <a:buNone/>
            </a:pPr>
            <a:endParaRPr lang="en-US" sz="200" dirty="0"/>
          </a:p>
          <a:p>
            <a:pPr marL="0" indent="0">
              <a:lnSpc>
                <a:spcPct val="100000"/>
              </a:lnSpc>
              <a:spcBef>
                <a:spcPts val="0"/>
              </a:spcBef>
              <a:buSzPct val="100000"/>
              <a:buNone/>
            </a:pPr>
            <a:r>
              <a:rPr lang="en-US" sz="2400" i="1" dirty="0"/>
              <a:t>All of this shows immediate and LT financial implications </a:t>
            </a:r>
            <a:r>
              <a:rPr lang="en-US" sz="2400" i="1" dirty="0" err="1"/>
              <a:t>ito</a:t>
            </a:r>
            <a:r>
              <a:rPr lang="en-US" sz="2400" i="1" dirty="0"/>
              <a:t> sales, costs, etc. So how will the fin plans (statements) of the future look like?</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Tree>
    <p:custDataLst>
      <p:tags r:id="rId1"/>
    </p:custDataLst>
    <p:extLst>
      <p:ext uri="{BB962C8B-B14F-4D97-AF65-F5344CB8AC3E}">
        <p14:creationId xmlns:p14="http://schemas.microsoft.com/office/powerpoint/2010/main" val="1969961942"/>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791200"/>
          </a:xfrm>
        </p:spPr>
        <p:txBody>
          <a:bodyPr/>
          <a:lstStyle/>
          <a:p>
            <a:pPr>
              <a:lnSpc>
                <a:spcPct val="105000"/>
              </a:lnSpc>
              <a:buSzPct val="100000"/>
              <a:buFont typeface="Arial" panose="020B0604020202020204" pitchFamily="34" charset="0"/>
              <a:buChar char="•"/>
            </a:pPr>
            <a:r>
              <a:rPr lang="en-US" sz="2500" dirty="0"/>
              <a:t>Business and financial planning NB to ensure LT sustainability </a:t>
            </a:r>
          </a:p>
          <a:p>
            <a:pPr>
              <a:lnSpc>
                <a:spcPct val="105000"/>
              </a:lnSpc>
              <a:buSzPct val="100000"/>
              <a:buFont typeface="Arial" panose="020B0604020202020204" pitchFamily="34" charset="0"/>
              <a:buChar char="•"/>
            </a:pPr>
            <a:r>
              <a:rPr lang="en-US" sz="2500" dirty="0"/>
              <a:t>Latest (past, historic) fin statements and fin ratios indicate fin position and performance during the past fin period… BUT… for fin planning purposes the firm needs to look ahead, to the future </a:t>
            </a:r>
          </a:p>
          <a:p>
            <a:pPr>
              <a:lnSpc>
                <a:spcPct val="105000"/>
              </a:lnSpc>
              <a:buSzPct val="100000"/>
              <a:buFont typeface="Arial" panose="020B0604020202020204" pitchFamily="34" charset="0"/>
              <a:buChar char="•"/>
            </a:pPr>
            <a:r>
              <a:rPr lang="en-US" sz="2500" dirty="0"/>
              <a:t>How do you predict, forecast the future? </a:t>
            </a:r>
          </a:p>
          <a:p>
            <a:pPr>
              <a:lnSpc>
                <a:spcPct val="105000"/>
              </a:lnSpc>
              <a:buSzPct val="100000"/>
              <a:buFont typeface="Arial" panose="020B0604020202020204" pitchFamily="34" charset="0"/>
              <a:buChar char="•"/>
            </a:pPr>
            <a:r>
              <a:rPr lang="en-US" sz="2500" dirty="0"/>
              <a:t>Future plans should reveal new investments </a:t>
            </a:r>
            <a:r>
              <a:rPr lang="en-US" sz="2500" dirty="0">
                <a:highlight>
                  <a:srgbClr val="FFFF00"/>
                </a:highlight>
              </a:rPr>
              <a:t>(capital budgeting) </a:t>
            </a:r>
            <a:r>
              <a:rPr lang="en-US" sz="2500" dirty="0"/>
              <a:t>required to grow the firm AND how these will be financed </a:t>
            </a:r>
            <a:r>
              <a:rPr lang="en-US" sz="2500" dirty="0">
                <a:highlight>
                  <a:srgbClr val="00FF00"/>
                </a:highlight>
              </a:rPr>
              <a:t>(capital structuring)</a:t>
            </a:r>
            <a:r>
              <a:rPr lang="en-US" sz="2500" dirty="0"/>
              <a:t> i.e. equity vs debt</a:t>
            </a:r>
          </a:p>
          <a:p>
            <a:pPr>
              <a:lnSpc>
                <a:spcPct val="105000"/>
              </a:lnSpc>
              <a:buSzPct val="100000"/>
              <a:buFont typeface="Arial" panose="020B0604020202020204" pitchFamily="34" charset="0"/>
              <a:buChar char="•"/>
            </a:pPr>
            <a:r>
              <a:rPr lang="en-US" sz="2500" dirty="0"/>
              <a:t>Will also help to see liquidity needs </a:t>
            </a:r>
            <a:r>
              <a:rPr lang="en-US" sz="2500" dirty="0">
                <a:highlight>
                  <a:srgbClr val="00FFFF"/>
                </a:highlight>
              </a:rPr>
              <a:t>(working capital) </a:t>
            </a:r>
            <a:r>
              <a:rPr lang="en-US" sz="2500" dirty="0"/>
              <a:t>and view plans on returns to owners </a:t>
            </a:r>
            <a:r>
              <a:rPr lang="en-US" sz="2500" dirty="0">
                <a:highlight>
                  <a:srgbClr val="ADB3BF"/>
                </a:highlight>
              </a:rPr>
              <a:t>(dividend policy)</a:t>
            </a:r>
          </a:p>
          <a:p>
            <a:pPr>
              <a:lnSpc>
                <a:spcPct val="105000"/>
              </a:lnSpc>
              <a:buSzPct val="100000"/>
              <a:buFont typeface="Arial" panose="020B0604020202020204" pitchFamily="34" charset="0"/>
              <a:buChar char="•"/>
            </a:pPr>
            <a:r>
              <a:rPr lang="en-US" sz="2500" dirty="0"/>
              <a:t>Start with sales estimation…</a:t>
            </a: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Tree>
    <p:custDataLst>
      <p:tags r:id="rId1"/>
    </p:custDataLst>
    <p:extLst>
      <p:ext uri="{BB962C8B-B14F-4D97-AF65-F5344CB8AC3E}">
        <p14:creationId xmlns:p14="http://schemas.microsoft.com/office/powerpoint/2010/main" val="89563937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0" y="10510"/>
            <a:ext cx="9144000" cy="1143000"/>
          </a:xfrm>
        </p:spPr>
        <p:txBody>
          <a:bodyPr/>
          <a:lstStyle/>
          <a:p>
            <a:r>
              <a:rPr lang="en-US" dirty="0">
                <a:solidFill>
                  <a:schemeClr val="tx2"/>
                </a:solidFill>
              </a:rPr>
              <a:t>Formulating strategies, objectives and goals</a:t>
            </a:r>
          </a:p>
        </p:txBody>
      </p:sp>
      <p:sp>
        <p:nvSpPr>
          <p:cNvPr id="9221" name="Rectangle 5"/>
          <p:cNvSpPr>
            <a:spLocks noGrp="1" noChangeArrowheads="1"/>
          </p:cNvSpPr>
          <p:nvPr>
            <p:ph idx="1"/>
          </p:nvPr>
        </p:nvSpPr>
        <p:spPr>
          <a:xfrm>
            <a:off x="259976" y="990600"/>
            <a:ext cx="8655424" cy="5791200"/>
          </a:xfrm>
        </p:spPr>
        <p:txBody>
          <a:bodyPr/>
          <a:lstStyle/>
          <a:p>
            <a:pPr>
              <a:lnSpc>
                <a:spcPct val="105000"/>
              </a:lnSpc>
              <a:buSzPct val="100000"/>
              <a:buFont typeface="Arial" panose="020B0604020202020204" pitchFamily="34" charset="0"/>
              <a:buChar char="•"/>
            </a:pPr>
            <a:r>
              <a:rPr lang="en-US" dirty="0"/>
              <a:t>Business strategy </a:t>
            </a:r>
          </a:p>
          <a:p>
            <a:pPr marL="0" indent="0">
              <a:lnSpc>
                <a:spcPct val="105000"/>
              </a:lnSpc>
              <a:buSzPct val="100000"/>
              <a:buNone/>
            </a:pPr>
            <a:r>
              <a:rPr lang="en-US" dirty="0"/>
              <a:t>Remember Ch 1…</a:t>
            </a:r>
          </a:p>
          <a:p>
            <a:pPr>
              <a:lnSpc>
                <a:spcPct val="105000"/>
              </a:lnSpc>
              <a:buSzPct val="100000"/>
              <a:buFont typeface="Arial" panose="020B0604020202020204" pitchFamily="34" charset="0"/>
              <a:buChar char="•"/>
            </a:pPr>
            <a:r>
              <a:rPr lang="en-US" dirty="0"/>
              <a:t>Vision, mission</a:t>
            </a:r>
          </a:p>
          <a:p>
            <a:pPr>
              <a:lnSpc>
                <a:spcPct val="105000"/>
              </a:lnSpc>
              <a:buSzPct val="100000"/>
              <a:buFont typeface="Arial" panose="020B0604020202020204" pitchFamily="34" charset="0"/>
              <a:buChar char="•"/>
            </a:pPr>
            <a:r>
              <a:rPr lang="en-US" dirty="0" err="1"/>
              <a:t>Organisational</a:t>
            </a:r>
            <a:r>
              <a:rPr lang="en-US" dirty="0"/>
              <a:t> culture</a:t>
            </a:r>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endParaRPr lang="en-US" sz="1800" dirty="0"/>
          </a:p>
          <a:p>
            <a:pPr marL="457200" lvl="1" indent="0">
              <a:lnSpc>
                <a:spcPct val="105000"/>
              </a:lnSpc>
              <a:buSzPct val="100000"/>
              <a:buNone/>
            </a:pPr>
            <a:r>
              <a:rPr lang="fr-FR" sz="800" dirty="0"/>
              <a:t>Source: https://www.bing.com/images/search?view=detailV2&amp;ccid=1Hd90km2&amp;id=24613EFC5FBB4CC305E6B71698FACF35F7393FBB&amp;thid=OIP.1Hd90km2ZMBdvUebSns2vQHaHh&amp;mediaurl=https%3a%2f%2fi2.wp.com%2fwww.business-to-you.com%2fwp-content%2fuploads%2f2019%2f09%2fSWOT-Analysis.png%3fw%3d1387%26ssl%3d1&amp;cdnurl=https%3a%2f%2fth.bing.com%2fth%2fid%2fR.d4777dd249b664c05dbd479b4a7b36bd%3frik%3duz859zXP%252bpgWtw%26pid%3dImgRaw%26r%3d0&amp;exph=1408&amp;expw=1387&amp;q=swot+analysis&amp;simid=608050426391117134&amp;FORM=IRPRST&amp;ck=45AA4B27786CEB9B7A1ADAA27866B471&amp;selectedIndex=0&amp;itb=1&amp;ajaxhist=0&amp;ajaxserp=0</a:t>
            </a:r>
            <a:endParaRPr lang="en-US" sz="800" dirty="0"/>
          </a:p>
          <a:p>
            <a:pPr marL="457200" lvl="1" indent="0">
              <a:lnSpc>
                <a:spcPct val="105000"/>
              </a:lnSpc>
              <a:buSzPct val="100000"/>
              <a:buNone/>
            </a:pPr>
            <a:endParaRPr lang="en-US" dirty="0"/>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Tree>
    <p:custDataLst>
      <p:tags r:id="rId1"/>
    </p:custDataLst>
    <p:extLst>
      <p:ext uri="{BB962C8B-B14F-4D97-AF65-F5344CB8AC3E}">
        <p14:creationId xmlns:p14="http://schemas.microsoft.com/office/powerpoint/2010/main" val="209281414"/>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0" y="10510"/>
            <a:ext cx="9144000" cy="1143000"/>
          </a:xfrm>
        </p:spPr>
        <p:txBody>
          <a:bodyPr/>
          <a:lstStyle/>
          <a:p>
            <a:r>
              <a:rPr lang="en-US" dirty="0">
                <a:solidFill>
                  <a:schemeClr val="tx2"/>
                </a:solidFill>
              </a:rPr>
              <a:t>Formulating strategies, objectives and goals</a:t>
            </a:r>
          </a:p>
        </p:txBody>
      </p:sp>
      <p:sp>
        <p:nvSpPr>
          <p:cNvPr id="9221" name="Rectangle 5"/>
          <p:cNvSpPr>
            <a:spLocks noGrp="1" noChangeArrowheads="1"/>
          </p:cNvSpPr>
          <p:nvPr>
            <p:ph idx="1"/>
          </p:nvPr>
        </p:nvSpPr>
        <p:spPr>
          <a:xfrm>
            <a:off x="259976" y="990600"/>
            <a:ext cx="8655424" cy="5791200"/>
          </a:xfrm>
        </p:spPr>
        <p:txBody>
          <a:bodyPr/>
          <a:lstStyle/>
          <a:p>
            <a:pPr>
              <a:lnSpc>
                <a:spcPct val="105000"/>
              </a:lnSpc>
              <a:buSzPct val="100000"/>
              <a:buFont typeface="Arial" panose="020B0604020202020204" pitchFamily="34" charset="0"/>
              <a:buChar char="•"/>
            </a:pPr>
            <a:r>
              <a:rPr lang="en-US" dirty="0"/>
              <a:t>Corporate strategy </a:t>
            </a:r>
          </a:p>
          <a:p>
            <a:pPr lvl="1">
              <a:lnSpc>
                <a:spcPct val="105000"/>
              </a:lnSpc>
              <a:buSzPct val="100000"/>
              <a:buFont typeface="Wingdings" panose="05000000000000000000" pitchFamily="2" charset="2"/>
              <a:buChar char="§"/>
            </a:pPr>
            <a:r>
              <a:rPr lang="en-US" b="1" dirty="0">
                <a:solidFill>
                  <a:schemeClr val="accent2">
                    <a:lumMod val="75000"/>
                  </a:schemeClr>
                </a:solidFill>
              </a:rPr>
              <a:t>Cost leadership (CL)</a:t>
            </a:r>
          </a:p>
          <a:p>
            <a:pPr marL="457200" lvl="1" indent="0">
              <a:lnSpc>
                <a:spcPct val="105000"/>
              </a:lnSpc>
              <a:buSzPct val="100000"/>
              <a:buNone/>
            </a:pPr>
            <a:r>
              <a:rPr lang="en-US" sz="2400" dirty="0"/>
              <a:t>Cater to broad market, buys at     cost and sells at   possible SP</a:t>
            </a:r>
          </a:p>
          <a:p>
            <a:pPr marL="457200" lvl="1" indent="0">
              <a:lnSpc>
                <a:spcPct val="105000"/>
              </a:lnSpc>
              <a:buSzPct val="100000"/>
              <a:buNone/>
            </a:pPr>
            <a:r>
              <a:rPr lang="en-US" sz="2400" dirty="0"/>
              <a:t>Consumers cost-conscious/price-sensitive</a:t>
            </a:r>
          </a:p>
          <a:p>
            <a:pPr marL="457200" lvl="1" indent="0">
              <a:lnSpc>
                <a:spcPct val="105000"/>
              </a:lnSpc>
              <a:buSzPct val="100000"/>
              <a:buNone/>
            </a:pPr>
            <a:r>
              <a:rPr lang="en-US" sz="2400" dirty="0"/>
              <a:t>Must do at lower cost than competitors, economies of scale, high equipment investment</a:t>
            </a:r>
          </a:p>
          <a:p>
            <a:pPr lvl="1">
              <a:lnSpc>
                <a:spcPct val="105000"/>
              </a:lnSpc>
              <a:buSzPct val="100000"/>
              <a:buFont typeface="Wingdings" panose="05000000000000000000" pitchFamily="2" charset="2"/>
              <a:buChar char="§"/>
            </a:pPr>
            <a:r>
              <a:rPr lang="en-US" b="1" dirty="0">
                <a:solidFill>
                  <a:srgbClr val="00B050"/>
                </a:solidFill>
              </a:rPr>
              <a:t>Differentiation (D)</a:t>
            </a:r>
          </a:p>
          <a:p>
            <a:pPr marL="457200" lvl="1" indent="0">
              <a:lnSpc>
                <a:spcPct val="105000"/>
              </a:lnSpc>
              <a:buSzPct val="100000"/>
              <a:buNone/>
            </a:pPr>
            <a:r>
              <a:rPr lang="en-US" sz="2400" dirty="0"/>
              <a:t>Different pr/s than competitors, unique features and qualities; Charge higher price</a:t>
            </a:r>
          </a:p>
          <a:p>
            <a:pPr lvl="1">
              <a:lnSpc>
                <a:spcPct val="105000"/>
              </a:lnSpc>
              <a:buSzPct val="100000"/>
              <a:buFont typeface="Wingdings" panose="05000000000000000000" pitchFamily="2" charset="2"/>
              <a:buChar char="§"/>
            </a:pPr>
            <a:r>
              <a:rPr lang="en-US" b="1" dirty="0">
                <a:solidFill>
                  <a:srgbClr val="00677B"/>
                </a:solidFill>
              </a:rPr>
              <a:t>Focus</a:t>
            </a:r>
          </a:p>
          <a:p>
            <a:pPr marL="457200" lvl="1" indent="0">
              <a:lnSpc>
                <a:spcPct val="105000"/>
              </a:lnSpc>
              <a:buSzPct val="100000"/>
              <a:buNone/>
            </a:pPr>
            <a:r>
              <a:rPr lang="en-US" sz="2400" dirty="0"/>
              <a:t>Either CL or D, but aimed at specific market(s)/niche</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
        <p:nvSpPr>
          <p:cNvPr id="2" name="Arrow: Down 1">
            <a:extLst>
              <a:ext uri="{FF2B5EF4-FFF2-40B4-BE49-F238E27FC236}">
                <a16:creationId xmlns:a16="http://schemas.microsoft.com/office/drawing/2014/main" id="{BCC2B80B-D466-B0FD-66B6-A81517A62EEA}"/>
              </a:ext>
            </a:extLst>
          </p:cNvPr>
          <p:cNvSpPr/>
          <p:nvPr/>
        </p:nvSpPr>
        <p:spPr bwMode="auto">
          <a:xfrm>
            <a:off x="5029200" y="1981200"/>
            <a:ext cx="381000" cy="609600"/>
          </a:xfrm>
          <a:prstGeom prst="downArrow">
            <a:avLst/>
          </a:prstGeom>
          <a:solidFill>
            <a:srgbClr val="D63A1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6" name="Arrow: Down 5">
            <a:extLst>
              <a:ext uri="{FF2B5EF4-FFF2-40B4-BE49-F238E27FC236}">
                <a16:creationId xmlns:a16="http://schemas.microsoft.com/office/drawing/2014/main" id="{8CDB4BD2-1834-E472-384F-E8AA1B5A3C60}"/>
              </a:ext>
            </a:extLst>
          </p:cNvPr>
          <p:cNvSpPr/>
          <p:nvPr/>
        </p:nvSpPr>
        <p:spPr bwMode="auto">
          <a:xfrm>
            <a:off x="7696200" y="1981200"/>
            <a:ext cx="381000" cy="609600"/>
          </a:xfrm>
          <a:prstGeom prst="downArrow">
            <a:avLst/>
          </a:prstGeom>
          <a:solidFill>
            <a:srgbClr val="D63A1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79554715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903890"/>
          </a:xfrm>
        </p:spPr>
        <p:txBody>
          <a:bodyPr/>
          <a:lstStyle/>
          <a:p>
            <a:r>
              <a:rPr lang="en-US" dirty="0">
                <a:solidFill>
                  <a:schemeClr val="tx2"/>
                </a:solidFill>
              </a:rPr>
              <a:t>Risk identification and assessment</a:t>
            </a:r>
          </a:p>
        </p:txBody>
      </p:sp>
      <p:sp>
        <p:nvSpPr>
          <p:cNvPr id="9221" name="Rectangle 5"/>
          <p:cNvSpPr>
            <a:spLocks noGrp="1" noChangeArrowheads="1"/>
          </p:cNvSpPr>
          <p:nvPr>
            <p:ph idx="1"/>
          </p:nvPr>
        </p:nvSpPr>
        <p:spPr>
          <a:xfrm>
            <a:off x="76200" y="762000"/>
            <a:ext cx="8991600" cy="6019800"/>
          </a:xfrm>
        </p:spPr>
        <p:txBody>
          <a:bodyPr/>
          <a:lstStyle/>
          <a:p>
            <a:pPr>
              <a:lnSpc>
                <a:spcPct val="105000"/>
              </a:lnSpc>
              <a:buSzPct val="100000"/>
              <a:buFont typeface="Arial" panose="020B0604020202020204" pitchFamily="34" charset="0"/>
              <a:buChar char="•"/>
            </a:pPr>
            <a:r>
              <a:rPr lang="en-US" dirty="0"/>
              <a:t>Management reviewing firm’s objectives to identify risk, emanating internally and externally </a:t>
            </a:r>
          </a:p>
          <a:p>
            <a:pPr>
              <a:lnSpc>
                <a:spcPct val="105000"/>
              </a:lnSpc>
              <a:buSzPct val="100000"/>
              <a:buFont typeface="Arial" panose="020B0604020202020204" pitchFamily="34" charset="0"/>
              <a:buChar char="•"/>
            </a:pPr>
            <a:r>
              <a:rPr lang="en-US" dirty="0"/>
              <a:t>Risks are “grouped” (1 to 5 ratings) based on probability and severity </a:t>
            </a:r>
          </a:p>
          <a:p>
            <a:pPr marL="0" indent="0">
              <a:lnSpc>
                <a:spcPct val="105000"/>
              </a:lnSpc>
              <a:buSzPct val="100000"/>
              <a:buNone/>
            </a:pPr>
            <a:r>
              <a:rPr lang="en-US" dirty="0">
                <a:solidFill>
                  <a:schemeClr val="tx2"/>
                </a:solidFill>
              </a:rPr>
              <a:t>Figure 5.3</a:t>
            </a:r>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sz="4000" dirty="0"/>
          </a:p>
          <a:p>
            <a:pPr>
              <a:lnSpc>
                <a:spcPct val="105000"/>
              </a:lnSpc>
              <a:buSzPct val="100000"/>
              <a:buFont typeface="Arial" panose="020B0604020202020204" pitchFamily="34" charset="0"/>
              <a:buChar char="•"/>
            </a:pPr>
            <a:endParaRPr lang="en-US" sz="200" dirty="0"/>
          </a:p>
          <a:p>
            <a:pPr>
              <a:lnSpc>
                <a:spcPct val="105000"/>
              </a:lnSpc>
              <a:buSzPct val="100000"/>
              <a:buFont typeface="Arial" panose="020B0604020202020204" pitchFamily="34" charset="0"/>
              <a:buChar char="•"/>
            </a:pPr>
            <a:r>
              <a:rPr lang="en-US" dirty="0"/>
              <a:t>Will influence the </a:t>
            </a:r>
            <a:r>
              <a:rPr lang="en-US" b="1" dirty="0">
                <a:solidFill>
                  <a:srgbClr val="FF0000"/>
                </a:solidFill>
              </a:rPr>
              <a:t>budgeted (or pro forma) </a:t>
            </a:r>
            <a:r>
              <a:rPr lang="en-US" dirty="0"/>
              <a:t>statements of financial performance (</a:t>
            </a:r>
            <a:r>
              <a:rPr lang="en-US" dirty="0" err="1"/>
              <a:t>prev</a:t>
            </a:r>
            <a:r>
              <a:rPr lang="en-US" dirty="0"/>
              <a:t> IS or </a:t>
            </a:r>
            <a:r>
              <a:rPr lang="en-US" dirty="0" err="1"/>
              <a:t>st</a:t>
            </a:r>
            <a:r>
              <a:rPr lang="en-US" dirty="0"/>
              <a:t> of P/L), financial position (</a:t>
            </a:r>
            <a:r>
              <a:rPr lang="en-US" dirty="0" err="1"/>
              <a:t>prev</a:t>
            </a:r>
            <a:r>
              <a:rPr lang="en-US" dirty="0"/>
              <a:t> BS) and cash budget… </a:t>
            </a:r>
          </a:p>
          <a:p>
            <a:pPr lvl="1">
              <a:lnSpc>
                <a:spcPct val="105000"/>
              </a:lnSpc>
              <a:buSzPct val="100000"/>
              <a:buFont typeface="Wingdings" panose="05000000000000000000" pitchFamily="2" charset="2"/>
              <a:buChar char="§"/>
            </a:pPr>
            <a:r>
              <a:rPr lang="en-US" sz="2400" dirty="0"/>
              <a:t>So… we will set up </a:t>
            </a:r>
            <a:r>
              <a:rPr lang="en-US" sz="2400" dirty="0">
                <a:solidFill>
                  <a:srgbClr val="FF0000"/>
                </a:solidFill>
              </a:rPr>
              <a:t>“next year’s” fin statements </a:t>
            </a:r>
            <a:r>
              <a:rPr lang="en-US" sz="2400" dirty="0"/>
              <a:t>(as part of LT business and fin planning)</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a:solidFill>
                <a:schemeClr val="tx1"/>
              </a:solidFill>
            </a:endParaRPr>
          </a:p>
        </p:txBody>
      </p:sp>
    </p:spTree>
    <p:custDataLst>
      <p:tags r:id="rId1"/>
    </p:custDataLst>
    <p:extLst>
      <p:ext uri="{BB962C8B-B14F-4D97-AF65-F5344CB8AC3E}">
        <p14:creationId xmlns:p14="http://schemas.microsoft.com/office/powerpoint/2010/main" val="588498342"/>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Operational planning</a:t>
            </a:r>
          </a:p>
        </p:txBody>
      </p:sp>
      <p:sp>
        <p:nvSpPr>
          <p:cNvPr id="9221" name="Rectangle 5"/>
          <p:cNvSpPr>
            <a:spLocks noGrp="1" noChangeArrowheads="1"/>
          </p:cNvSpPr>
          <p:nvPr>
            <p:ph idx="1"/>
          </p:nvPr>
        </p:nvSpPr>
        <p:spPr>
          <a:xfrm>
            <a:off x="259976" y="990600"/>
            <a:ext cx="8655424" cy="5791200"/>
          </a:xfrm>
        </p:spPr>
        <p:txBody>
          <a:bodyPr/>
          <a:lstStyle/>
          <a:p>
            <a:pPr>
              <a:lnSpc>
                <a:spcPct val="105000"/>
              </a:lnSpc>
              <a:buSzPct val="100000"/>
              <a:buFont typeface="Arial" panose="020B0604020202020204" pitchFamily="34" charset="0"/>
              <a:buChar char="•"/>
            </a:pPr>
            <a:r>
              <a:rPr lang="en-US" dirty="0"/>
              <a:t>Starts with estimating the expected sales for the next year</a:t>
            </a:r>
          </a:p>
          <a:p>
            <a:pPr>
              <a:lnSpc>
                <a:spcPct val="105000"/>
              </a:lnSpc>
              <a:buSzPct val="100000"/>
              <a:buFont typeface="Arial" panose="020B0604020202020204" pitchFamily="34" charset="0"/>
              <a:buChar char="•"/>
            </a:pPr>
            <a:r>
              <a:rPr lang="en-US" dirty="0"/>
              <a:t>Marketing plays NB role</a:t>
            </a:r>
          </a:p>
          <a:p>
            <a:pPr>
              <a:lnSpc>
                <a:spcPct val="105000"/>
              </a:lnSpc>
              <a:buSzPct val="100000"/>
              <a:buFont typeface="Arial" panose="020B0604020202020204" pitchFamily="34" charset="0"/>
              <a:buChar char="•"/>
            </a:pPr>
            <a:r>
              <a:rPr lang="en-US" dirty="0"/>
              <a:t>Before doing the actual planning (budgeting), understand types of costs</a:t>
            </a:r>
          </a:p>
          <a:p>
            <a:pPr lvl="1">
              <a:lnSpc>
                <a:spcPct val="105000"/>
              </a:lnSpc>
              <a:buSzPct val="100000"/>
              <a:buFont typeface="Wingdings" panose="05000000000000000000" pitchFamily="2" charset="2"/>
              <a:buChar char="§"/>
            </a:pPr>
            <a:r>
              <a:rPr lang="en-US" sz="2400" dirty="0"/>
              <a:t>Fixed cost (FC) remains constant regardless of the number of units produced and sold, e.g. rent </a:t>
            </a:r>
          </a:p>
          <a:p>
            <a:pPr lvl="1">
              <a:lnSpc>
                <a:spcPct val="105000"/>
              </a:lnSpc>
              <a:buSzPct val="100000"/>
              <a:buFont typeface="Wingdings" panose="05000000000000000000" pitchFamily="2" charset="2"/>
              <a:buChar char="§"/>
            </a:pPr>
            <a:r>
              <a:rPr lang="en-US" sz="2400" dirty="0"/>
              <a:t>Can FC never increase or decrease? </a:t>
            </a:r>
          </a:p>
          <a:p>
            <a:pPr lvl="1">
              <a:lnSpc>
                <a:spcPct val="105000"/>
              </a:lnSpc>
              <a:buSzPct val="100000"/>
              <a:buFont typeface="Wingdings" panose="05000000000000000000" pitchFamily="2" charset="2"/>
              <a:buChar char="§"/>
            </a:pPr>
            <a:r>
              <a:rPr lang="en-US" sz="2400" dirty="0"/>
              <a:t>VC changes as the number of units manufactured and/or sold changes, e.g. packaging material      </a:t>
            </a:r>
          </a:p>
          <a:p>
            <a:pPr lvl="1">
              <a:lnSpc>
                <a:spcPct val="105000"/>
              </a:lnSpc>
              <a:buSzPct val="100000"/>
              <a:buFont typeface="Wingdings" panose="05000000000000000000" pitchFamily="2" charset="2"/>
              <a:buChar char="§"/>
            </a:pPr>
            <a:r>
              <a:rPr lang="en-US" sz="2400" dirty="0"/>
              <a:t>Semi-variable costs, e.g. maintenance costs</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cxnSp>
        <p:nvCxnSpPr>
          <p:cNvPr id="6" name="Straight Connector 5">
            <a:extLst>
              <a:ext uri="{FF2B5EF4-FFF2-40B4-BE49-F238E27FC236}">
                <a16:creationId xmlns:a16="http://schemas.microsoft.com/office/drawing/2014/main" id="{FE8BB221-632B-6BE8-EF32-26EC1D7A7451}"/>
              </a:ext>
            </a:extLst>
          </p:cNvPr>
          <p:cNvCxnSpPr/>
          <p:nvPr/>
        </p:nvCxnSpPr>
        <p:spPr bwMode="auto">
          <a:xfrm>
            <a:off x="7620000" y="4114800"/>
            <a:ext cx="1143000" cy="0"/>
          </a:xfrm>
          <a:prstGeom prst="line">
            <a:avLst/>
          </a:prstGeom>
          <a:solidFill>
            <a:schemeClr val="accent1"/>
          </a:solidFill>
          <a:ln w="31750" cap="flat" cmpd="sng" algn="ctr">
            <a:solidFill>
              <a:srgbClr val="FF0000"/>
            </a:solidFill>
            <a:prstDash val="solid"/>
            <a:round/>
            <a:headEnd type="none" w="med" len="med"/>
            <a:tailEnd type="none" w="med" len="med"/>
          </a:ln>
          <a:effectLst/>
        </p:spPr>
      </p:cxnSp>
      <p:cxnSp>
        <p:nvCxnSpPr>
          <p:cNvPr id="8" name="Connector: Curved 7">
            <a:extLst>
              <a:ext uri="{FF2B5EF4-FFF2-40B4-BE49-F238E27FC236}">
                <a16:creationId xmlns:a16="http://schemas.microsoft.com/office/drawing/2014/main" id="{513EF895-6DE9-F2D0-23CA-00CE824907B3}"/>
              </a:ext>
            </a:extLst>
          </p:cNvPr>
          <p:cNvCxnSpPr/>
          <p:nvPr/>
        </p:nvCxnSpPr>
        <p:spPr bwMode="auto">
          <a:xfrm flipV="1">
            <a:off x="6858000" y="5334000"/>
            <a:ext cx="762000" cy="228600"/>
          </a:xfrm>
          <a:prstGeom prst="curvedConnector3">
            <a:avLst/>
          </a:prstGeom>
          <a:solidFill>
            <a:schemeClr val="accent1"/>
          </a:solidFill>
          <a:ln w="31750" cap="flat" cmpd="sng" algn="ctr">
            <a:solidFill>
              <a:schemeClr val="accent6">
                <a:lumMod val="75000"/>
              </a:schemeClr>
            </a:solidFill>
            <a:prstDash val="solid"/>
            <a:round/>
            <a:headEnd type="none" w="med" len="med"/>
            <a:tailEnd type="none" w="med" len="med"/>
          </a:ln>
          <a:effectLst/>
        </p:spPr>
      </p:cxnSp>
      <p:cxnSp>
        <p:nvCxnSpPr>
          <p:cNvPr id="10" name="Connector: Curved 9">
            <a:extLst>
              <a:ext uri="{FF2B5EF4-FFF2-40B4-BE49-F238E27FC236}">
                <a16:creationId xmlns:a16="http://schemas.microsoft.com/office/drawing/2014/main" id="{BD4C5A28-5005-194B-B4FD-C4AC5C57523A}"/>
              </a:ext>
            </a:extLst>
          </p:cNvPr>
          <p:cNvCxnSpPr/>
          <p:nvPr/>
        </p:nvCxnSpPr>
        <p:spPr bwMode="auto">
          <a:xfrm>
            <a:off x="7620000" y="5334000"/>
            <a:ext cx="762000" cy="228600"/>
          </a:xfrm>
          <a:prstGeom prst="curvedConnector3">
            <a:avLst/>
          </a:prstGeom>
          <a:solidFill>
            <a:schemeClr val="accent1"/>
          </a:solidFill>
          <a:ln w="31750" cap="flat" cmpd="sng" algn="ctr">
            <a:solidFill>
              <a:schemeClr val="accent6">
                <a:lumMod val="75000"/>
              </a:schemeClr>
            </a:solidFill>
            <a:prstDash val="solid"/>
            <a:round/>
            <a:headEnd type="none" w="med" len="med"/>
            <a:tailEnd type="none" w="med" len="med"/>
          </a:ln>
          <a:effectLst/>
        </p:spPr>
      </p:cxnSp>
    </p:spTree>
    <p:custDataLst>
      <p:tags r:id="rId1"/>
    </p:custDataLst>
    <p:extLst>
      <p:ext uri="{BB962C8B-B14F-4D97-AF65-F5344CB8AC3E}">
        <p14:creationId xmlns:p14="http://schemas.microsoft.com/office/powerpoint/2010/main" val="1151220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5" end="5"/>
                                            </p:txEl>
                                          </p:spTgt>
                                        </p:tgtEl>
                                        <p:attrNameLst>
                                          <p:attrName>style.visibility</p:attrName>
                                        </p:attrNameLst>
                                      </p:cBhvr>
                                      <p:to>
                                        <p:strVal val="visible"/>
                                      </p:to>
                                    </p:set>
                                    <p:anim calcmode="lin" valueType="num">
                                      <p:cBhvr additive="base">
                                        <p:cTn id="7" dur="500" fill="hold"/>
                                        <p:tgtEl>
                                          <p:spTgt spid="922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xEl>
                                              <p:pRg st="6" end="6"/>
                                            </p:txEl>
                                          </p:spTgt>
                                        </p:tgtEl>
                                        <p:attrNameLst>
                                          <p:attrName>style.visibility</p:attrName>
                                        </p:attrNameLst>
                                      </p:cBhvr>
                                      <p:to>
                                        <p:strVal val="visible"/>
                                      </p:to>
                                    </p:set>
                                    <p:anim calcmode="lin" valueType="num">
                                      <p:cBhvr additive="base">
                                        <p:cTn id="11" dur="500" fill="hold"/>
                                        <p:tgtEl>
                                          <p:spTgt spid="922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Budgeting process and responsibility </a:t>
            </a:r>
            <a:r>
              <a:rPr lang="en-US" dirty="0" err="1">
                <a:solidFill>
                  <a:schemeClr val="tx2"/>
                </a:solidFill>
              </a:rPr>
              <a:t>centres</a:t>
            </a:r>
            <a:endParaRPr lang="en-US" dirty="0">
              <a:solidFill>
                <a:schemeClr val="tx2"/>
              </a:solidFill>
            </a:endParaRPr>
          </a:p>
        </p:txBody>
      </p:sp>
      <p:sp>
        <p:nvSpPr>
          <p:cNvPr id="9221" name="Rectangle 5"/>
          <p:cNvSpPr>
            <a:spLocks noGrp="1" noChangeArrowheads="1"/>
          </p:cNvSpPr>
          <p:nvPr>
            <p:ph idx="1"/>
          </p:nvPr>
        </p:nvSpPr>
        <p:spPr>
          <a:xfrm>
            <a:off x="259976" y="1066800"/>
            <a:ext cx="8655424" cy="5715000"/>
          </a:xfrm>
        </p:spPr>
        <p:txBody>
          <a:bodyPr/>
          <a:lstStyle/>
          <a:p>
            <a:pPr>
              <a:lnSpc>
                <a:spcPct val="105000"/>
              </a:lnSpc>
              <a:buSzPct val="100000"/>
              <a:buFont typeface="Arial" panose="020B0604020202020204" pitchFamily="34" charset="0"/>
              <a:buChar char="•"/>
            </a:pPr>
            <a:r>
              <a:rPr lang="en-US" dirty="0"/>
              <a:t>Only thing certain about the future…it is uncertain; no plan is perfect; therefore, no budget perfect</a:t>
            </a:r>
          </a:p>
          <a:p>
            <a:pPr>
              <a:lnSpc>
                <a:spcPct val="105000"/>
              </a:lnSpc>
              <a:buSzPct val="100000"/>
              <a:buFont typeface="Arial" panose="020B0604020202020204" pitchFamily="34" charset="0"/>
              <a:buChar char="•"/>
            </a:pPr>
            <a:r>
              <a:rPr lang="en-US" dirty="0"/>
              <a:t>Road map, benchmark for performance</a:t>
            </a:r>
          </a:p>
          <a:p>
            <a:pPr>
              <a:lnSpc>
                <a:spcPct val="105000"/>
              </a:lnSpc>
              <a:buSzPct val="100000"/>
              <a:buFont typeface="Arial" panose="020B0604020202020204" pitchFamily="34" charset="0"/>
              <a:buChar char="•"/>
            </a:pPr>
            <a:r>
              <a:rPr lang="en-US" dirty="0"/>
              <a:t>Starts with estimating the expected (projected) sales for the next year (planning period)</a:t>
            </a:r>
          </a:p>
          <a:p>
            <a:pPr>
              <a:lnSpc>
                <a:spcPct val="105000"/>
              </a:lnSpc>
              <a:buSzPct val="100000"/>
              <a:buFont typeface="Arial" panose="020B0604020202020204" pitchFamily="34" charset="0"/>
              <a:buChar char="•"/>
            </a:pPr>
            <a:r>
              <a:rPr lang="en-US" dirty="0"/>
              <a:t>Can’t just use last year’s figures; rather critically evaluate using SWOT analysis as well as risk identification and assessment</a:t>
            </a:r>
          </a:p>
          <a:p>
            <a:pPr>
              <a:lnSpc>
                <a:spcPct val="105000"/>
              </a:lnSpc>
              <a:buSzPct val="100000"/>
              <a:buFont typeface="Arial" panose="020B0604020202020204" pitchFamily="34" charset="0"/>
              <a:buChar char="•"/>
            </a:pPr>
            <a:r>
              <a:rPr lang="en-US" dirty="0"/>
              <a:t>Sales forecast will be influenced by growth expectations, also in GDP; the industry; expected changes in interest rate, inflation, exchange rate, employment levels, etc.</a:t>
            </a:r>
          </a:p>
          <a:p>
            <a:pPr>
              <a:lnSpc>
                <a:spcPct val="105000"/>
              </a:lnSpc>
              <a:buSzPct val="100000"/>
              <a:buFont typeface="Arial" panose="020B0604020202020204" pitchFamily="34" charset="0"/>
              <a:buChar char="•"/>
            </a:pPr>
            <a:endParaRPr lang="en-US" sz="24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2546624093"/>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Budgeting process and responsibility </a:t>
            </a:r>
            <a:r>
              <a:rPr lang="en-US" dirty="0" err="1">
                <a:solidFill>
                  <a:schemeClr val="tx2"/>
                </a:solidFill>
              </a:rPr>
              <a:t>centres</a:t>
            </a:r>
            <a:r>
              <a:rPr lang="en-US" dirty="0">
                <a:solidFill>
                  <a:schemeClr val="tx2"/>
                </a:solidFill>
              </a:rPr>
              <a:t> (cont.)</a:t>
            </a:r>
          </a:p>
        </p:txBody>
      </p:sp>
      <p:graphicFrame>
        <p:nvGraphicFramePr>
          <p:cNvPr id="2" name="Content Placeholder 1">
            <a:extLst>
              <a:ext uri="{FF2B5EF4-FFF2-40B4-BE49-F238E27FC236}">
                <a16:creationId xmlns:a16="http://schemas.microsoft.com/office/drawing/2014/main" id="{34657F75-5BE6-DA90-2D39-93A05D8EE10A}"/>
              </a:ext>
            </a:extLst>
          </p:cNvPr>
          <p:cNvGraphicFramePr>
            <a:graphicFrameLocks noGrp="1"/>
          </p:cNvGraphicFramePr>
          <p:nvPr>
            <p:ph idx="1"/>
            <p:extLst>
              <p:ext uri="{D42A27DB-BD31-4B8C-83A1-F6EECF244321}">
                <p14:modId xmlns:p14="http://schemas.microsoft.com/office/powerpoint/2010/main" val="3376808266"/>
              </p:ext>
            </p:extLst>
          </p:nvPr>
        </p:nvGraphicFramePr>
        <p:xfrm>
          <a:off x="685801" y="1209040"/>
          <a:ext cx="7772398" cy="5496560"/>
        </p:xfrm>
        <a:graphic>
          <a:graphicData uri="http://schemas.openxmlformats.org/drawingml/2006/table">
            <a:tbl>
              <a:tblPr firstRow="1" bandRow="1">
                <a:tableStyleId>{5C22544A-7EE6-4342-B048-85BDC9FD1C3A}</a:tableStyleId>
              </a:tblPr>
              <a:tblGrid>
                <a:gridCol w="3886199">
                  <a:extLst>
                    <a:ext uri="{9D8B030D-6E8A-4147-A177-3AD203B41FA5}">
                      <a16:colId xmlns:a16="http://schemas.microsoft.com/office/drawing/2014/main" val="2879278191"/>
                    </a:ext>
                  </a:extLst>
                </a:gridCol>
                <a:gridCol w="3886199">
                  <a:extLst>
                    <a:ext uri="{9D8B030D-6E8A-4147-A177-3AD203B41FA5}">
                      <a16:colId xmlns:a16="http://schemas.microsoft.com/office/drawing/2014/main" val="420852955"/>
                    </a:ext>
                  </a:extLst>
                </a:gridCol>
              </a:tblGrid>
              <a:tr h="389941">
                <a:tc>
                  <a:txBody>
                    <a:bodyPr/>
                    <a:lstStyle/>
                    <a:p>
                      <a:pPr algn="ctr"/>
                      <a:r>
                        <a:rPr lang="en-US" dirty="0">
                          <a:solidFill>
                            <a:schemeClr val="tx1"/>
                          </a:solidFill>
                        </a:rPr>
                        <a:t>Operating budgets</a:t>
                      </a:r>
                      <a:endParaRPr lang="en-ZA" dirty="0">
                        <a:solidFill>
                          <a:schemeClr val="tx1"/>
                        </a:solidFill>
                      </a:endParaRPr>
                    </a:p>
                  </a:txBody>
                  <a:tcPr/>
                </a:tc>
                <a:tc>
                  <a:txBody>
                    <a:bodyPr/>
                    <a:lstStyle/>
                    <a:p>
                      <a:pPr algn="ctr"/>
                      <a:r>
                        <a:rPr lang="en-US" dirty="0">
                          <a:solidFill>
                            <a:schemeClr val="tx1"/>
                          </a:solidFill>
                        </a:rPr>
                        <a:t>Financial budgets</a:t>
                      </a:r>
                      <a:endParaRPr lang="en-ZA" dirty="0">
                        <a:solidFill>
                          <a:schemeClr val="tx1"/>
                        </a:solidFill>
                      </a:endParaRPr>
                    </a:p>
                  </a:txBody>
                  <a:tcPr/>
                </a:tc>
                <a:extLst>
                  <a:ext uri="{0D108BD9-81ED-4DB2-BD59-A6C34878D82A}">
                    <a16:rowId xmlns:a16="http://schemas.microsoft.com/office/drawing/2014/main" val="116954413"/>
                  </a:ext>
                </a:extLst>
              </a:tr>
              <a:tr h="1826845">
                <a:tc>
                  <a:txBody>
                    <a:bodyPr/>
                    <a:lstStyle/>
                    <a:p>
                      <a:r>
                        <a:rPr lang="en-US" dirty="0"/>
                        <a:t>Cost budgets </a:t>
                      </a:r>
                    </a:p>
                    <a:p>
                      <a:pPr marL="342900" indent="-342900">
                        <a:buAutoNum type="arabicParenBoth"/>
                      </a:pPr>
                      <a:r>
                        <a:rPr lang="en-US" dirty="0"/>
                        <a:t>Manufacturing </a:t>
                      </a:r>
                    </a:p>
                    <a:p>
                      <a:pPr marL="0" indent="0">
                        <a:buNone/>
                      </a:pPr>
                      <a:r>
                        <a:rPr lang="en-US" dirty="0"/>
                        <a:t>Where units can be measured, describes material and </a:t>
                      </a:r>
                      <a:r>
                        <a:rPr lang="en-US" dirty="0" err="1"/>
                        <a:t>labour</a:t>
                      </a:r>
                      <a:r>
                        <a:rPr lang="en-US" dirty="0"/>
                        <a:t> costs</a:t>
                      </a:r>
                    </a:p>
                    <a:p>
                      <a:r>
                        <a:rPr lang="en-ZA" dirty="0"/>
                        <a:t>(2) Discretionary </a:t>
                      </a:r>
                    </a:p>
                    <a:p>
                      <a:r>
                        <a:rPr lang="en-ZA" dirty="0"/>
                        <a:t>e.g. for admin and research</a:t>
                      </a:r>
                    </a:p>
                  </a:txBody>
                  <a:tcPr/>
                </a:tc>
                <a:tc>
                  <a:txBody>
                    <a:bodyPr/>
                    <a:lstStyle/>
                    <a:p>
                      <a:r>
                        <a:rPr lang="en-US" dirty="0"/>
                        <a:t>Verify viability of plans</a:t>
                      </a:r>
                    </a:p>
                    <a:p>
                      <a:r>
                        <a:rPr lang="en-US" dirty="0"/>
                        <a:t>Reveal fin actions</a:t>
                      </a:r>
                    </a:p>
                    <a:p>
                      <a:r>
                        <a:rPr lang="en-US" dirty="0"/>
                        <a:t>Show how plans will affect future fin perf and position</a:t>
                      </a:r>
                      <a:endParaRPr lang="en-ZA" dirty="0"/>
                    </a:p>
                  </a:txBody>
                  <a:tcPr/>
                </a:tc>
                <a:extLst>
                  <a:ext uri="{0D108BD9-81ED-4DB2-BD59-A6C34878D82A}">
                    <a16:rowId xmlns:a16="http://schemas.microsoft.com/office/drawing/2014/main" val="3149710031"/>
                  </a:ext>
                </a:extLst>
              </a:tr>
              <a:tr h="1249946">
                <a:tc>
                  <a:txBody>
                    <a:bodyPr/>
                    <a:lstStyle/>
                    <a:p>
                      <a:r>
                        <a:rPr lang="en-US" dirty="0"/>
                        <a:t>Income budgets</a:t>
                      </a:r>
                    </a:p>
                    <a:p>
                      <a:r>
                        <a:rPr lang="en-US" dirty="0"/>
                        <a:t>To measure marketing and sales effectiveness</a:t>
                      </a:r>
                    </a:p>
                    <a:p>
                      <a:r>
                        <a:rPr lang="en-US" dirty="0"/>
                        <a:t># x SP</a:t>
                      </a:r>
                      <a:endParaRPr lang="en-ZA" dirty="0"/>
                    </a:p>
                  </a:txBody>
                  <a:tcPr/>
                </a:tc>
                <a:tc>
                  <a:txBody>
                    <a:bodyPr/>
                    <a:lstStyle/>
                    <a:p>
                      <a:r>
                        <a:rPr lang="en-US" dirty="0"/>
                        <a:t>Capital budget indicates expected future capital investment in physical facilities, e.g. buildings &amp; equipment</a:t>
                      </a:r>
                    </a:p>
                  </a:txBody>
                  <a:tcPr/>
                </a:tc>
                <a:extLst>
                  <a:ext uri="{0D108BD9-81ED-4DB2-BD59-A6C34878D82A}">
                    <a16:rowId xmlns:a16="http://schemas.microsoft.com/office/drawing/2014/main" val="651273141"/>
                  </a:ext>
                </a:extLst>
              </a:tr>
              <a:tr h="779882">
                <a:tc>
                  <a:txBody>
                    <a:bodyPr/>
                    <a:lstStyle/>
                    <a:p>
                      <a:r>
                        <a:rPr lang="en-US" dirty="0"/>
                        <a:t>Profit plan/budget</a:t>
                      </a:r>
                    </a:p>
                    <a:p>
                      <a:r>
                        <a:rPr lang="en-US" dirty="0"/>
                        <a:t>Combines cost and income budgets</a:t>
                      </a:r>
                      <a:endParaRPr lang="en-ZA" dirty="0"/>
                    </a:p>
                  </a:txBody>
                  <a:tcPr/>
                </a:tc>
                <a:tc>
                  <a:txBody>
                    <a:bodyPr/>
                    <a:lstStyle/>
                    <a:p>
                      <a:r>
                        <a:rPr lang="en-US" dirty="0"/>
                        <a:t>Cash budget helps to ensure liquidity: CFs in vs CFs out</a:t>
                      </a:r>
                    </a:p>
                  </a:txBody>
                  <a:tcPr/>
                </a:tc>
                <a:extLst>
                  <a:ext uri="{0D108BD9-81ED-4DB2-BD59-A6C34878D82A}">
                    <a16:rowId xmlns:a16="http://schemas.microsoft.com/office/drawing/2014/main" val="1221948968"/>
                  </a:ext>
                </a:extLst>
              </a:tr>
              <a:tr h="1249946">
                <a:tc gridSpan="2">
                  <a:txBody>
                    <a:bodyPr/>
                    <a:lstStyle/>
                    <a:p>
                      <a:r>
                        <a:rPr lang="en-US" dirty="0">
                          <a:highlight>
                            <a:srgbClr val="00FFFF"/>
                          </a:highlight>
                        </a:rPr>
                        <a:t>This is also the “sequence” of how LT business and financial planning will be done: forecast sales, work out expected costs, use the costs and income to calculate expected profit (end of budgeted </a:t>
                      </a:r>
                      <a:r>
                        <a:rPr lang="en-US" dirty="0" err="1">
                          <a:highlight>
                            <a:srgbClr val="00FFFF"/>
                          </a:highlight>
                        </a:rPr>
                        <a:t>st</a:t>
                      </a:r>
                      <a:r>
                        <a:rPr lang="en-US" dirty="0">
                          <a:highlight>
                            <a:srgbClr val="00FFFF"/>
                          </a:highlight>
                        </a:rPr>
                        <a:t> of fin perf); then move to </a:t>
                      </a:r>
                      <a:r>
                        <a:rPr lang="en-US" dirty="0" err="1">
                          <a:highlight>
                            <a:srgbClr val="00FFFF"/>
                          </a:highlight>
                        </a:rPr>
                        <a:t>st</a:t>
                      </a:r>
                      <a:r>
                        <a:rPr lang="en-US" dirty="0">
                          <a:highlight>
                            <a:srgbClr val="00FFFF"/>
                          </a:highlight>
                        </a:rPr>
                        <a:t> of fin position…and also forecast certain accounts here…</a:t>
                      </a:r>
                      <a:endParaRPr lang="en-ZA" dirty="0">
                        <a:highlight>
                          <a:srgbClr val="00FFFF"/>
                        </a:highlight>
                      </a:endParaRPr>
                    </a:p>
                  </a:txBody>
                  <a:tcPr/>
                </a:tc>
                <a:tc hMerge="1">
                  <a:txBody>
                    <a:bodyPr/>
                    <a:lstStyle/>
                    <a:p>
                      <a:endParaRPr lang="en-ZA" dirty="0"/>
                    </a:p>
                  </a:txBody>
                  <a:tcPr/>
                </a:tc>
                <a:extLst>
                  <a:ext uri="{0D108BD9-81ED-4DB2-BD59-A6C34878D82A}">
                    <a16:rowId xmlns:a16="http://schemas.microsoft.com/office/drawing/2014/main" val="3506780951"/>
                  </a:ext>
                </a:extLst>
              </a:tr>
            </a:tbl>
          </a:graphicData>
        </a:graphic>
      </p:graphicFrame>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11</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365289302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Let’s do LT financial planning… (cont.)</a:t>
            </a:r>
          </a:p>
        </p:txBody>
      </p:sp>
      <p:sp>
        <p:nvSpPr>
          <p:cNvPr id="9221" name="Rectangle 5"/>
          <p:cNvSpPr>
            <a:spLocks noGrp="1" noChangeArrowheads="1"/>
          </p:cNvSpPr>
          <p:nvPr>
            <p:ph idx="1"/>
          </p:nvPr>
        </p:nvSpPr>
        <p:spPr>
          <a:xfrm>
            <a:off x="315661" y="937846"/>
            <a:ext cx="8655424" cy="5791200"/>
          </a:xfrm>
        </p:spPr>
        <p:txBody>
          <a:bodyPr/>
          <a:lstStyle/>
          <a:p>
            <a:pPr>
              <a:lnSpc>
                <a:spcPct val="105000"/>
              </a:lnSpc>
              <a:buSzPct val="100000"/>
              <a:buFont typeface="Arial" panose="020B0604020202020204" pitchFamily="34" charset="0"/>
              <a:buChar char="•"/>
            </a:pPr>
            <a:r>
              <a:rPr lang="en-US" sz="2600" dirty="0"/>
              <a:t>Percentage of sales method</a:t>
            </a:r>
          </a:p>
          <a:p>
            <a:pPr>
              <a:lnSpc>
                <a:spcPct val="105000"/>
              </a:lnSpc>
              <a:buSzPct val="100000"/>
              <a:buFont typeface="Arial" panose="020B0604020202020204" pitchFamily="34" charset="0"/>
              <a:buChar char="•"/>
            </a:pPr>
            <a:r>
              <a:rPr lang="en-US" sz="2600" dirty="0"/>
              <a:t>Many cash flows depend directly on level of sales (often estimated using a growth rate increase/decrease in sales); E.g. costs, accounts receivable, accounts payable, assets</a:t>
            </a:r>
          </a:p>
          <a:p>
            <a:pPr lvl="1">
              <a:lnSpc>
                <a:spcPct val="105000"/>
              </a:lnSpc>
              <a:buSzPct val="100000"/>
              <a:buFont typeface="Arial" panose="020B0604020202020204" pitchFamily="34" charset="0"/>
              <a:buChar char="•"/>
            </a:pPr>
            <a:r>
              <a:rPr lang="en-US" sz="2600" dirty="0">
                <a:solidFill>
                  <a:srgbClr val="FF0000"/>
                </a:solidFill>
              </a:rPr>
              <a:t>THINK ABOUT IT…</a:t>
            </a:r>
          </a:p>
          <a:p>
            <a:pPr>
              <a:lnSpc>
                <a:spcPct val="105000"/>
              </a:lnSpc>
              <a:buSzPct val="100000"/>
              <a:buFont typeface="Arial" panose="020B0604020202020204" pitchFamily="34" charset="0"/>
              <a:buChar char="•"/>
            </a:pPr>
            <a:r>
              <a:rPr lang="en-US" sz="2600" dirty="0"/>
              <a:t>Motor industry: higher inflation, higher interest rates…lower/slower sales; brands negatively influenced? Did motor vehicle retailers adapt their sales forecasts?</a:t>
            </a:r>
          </a:p>
          <a:p>
            <a:pPr>
              <a:lnSpc>
                <a:spcPct val="105000"/>
              </a:lnSpc>
              <a:buSzPct val="100000"/>
              <a:buFont typeface="Arial" panose="020B0604020202020204" pitchFamily="34" charset="0"/>
              <a:buChar char="•"/>
            </a:pPr>
            <a:r>
              <a:rPr lang="en-US" sz="2600" dirty="0"/>
              <a:t>Certain accounts ONLY change with management decisions! E.g. dividends, equity, debt…</a:t>
            </a:r>
          </a:p>
          <a:p>
            <a:pPr lvl="1">
              <a:lnSpc>
                <a:spcPct val="105000"/>
              </a:lnSpc>
              <a:buSzPct val="100000"/>
              <a:buFont typeface="Arial" panose="020B0604020202020204" pitchFamily="34" charset="0"/>
              <a:buChar char="•"/>
            </a:pPr>
            <a:r>
              <a:rPr lang="en-US" sz="2600" dirty="0">
                <a:solidFill>
                  <a:srgbClr val="FF0000"/>
                </a:solidFill>
              </a:rPr>
              <a:t>THINK ABOUT IT…</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12</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3875449132"/>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3" end="3"/>
                                            </p:txEl>
                                          </p:spTgt>
                                        </p:tgtEl>
                                        <p:attrNameLst>
                                          <p:attrName>style.visibility</p:attrName>
                                        </p:attrNameLst>
                                      </p:cBhvr>
                                      <p:to>
                                        <p:strVal val="visible"/>
                                      </p:to>
                                    </p:set>
                                    <p:anim calcmode="lin" valueType="num">
                                      <p:cBhvr additive="base">
                                        <p:cTn id="7" dur="500" fill="hold"/>
                                        <p:tgtEl>
                                          <p:spTgt spid="922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1">
                                            <p:txEl>
                                              <p:pRg st="4" end="4"/>
                                            </p:txEl>
                                          </p:spTgt>
                                        </p:tgtEl>
                                        <p:attrNameLst>
                                          <p:attrName>style.visibility</p:attrName>
                                        </p:attrNameLst>
                                      </p:cBhvr>
                                      <p:to>
                                        <p:strVal val="visible"/>
                                      </p:to>
                                    </p:set>
                                    <p:anim calcmode="lin" valueType="num">
                                      <p:cBhvr additive="base">
                                        <p:cTn id="13" dur="500" fill="hold"/>
                                        <p:tgtEl>
                                          <p:spTgt spid="9221">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1">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221">
                                            <p:txEl>
                                              <p:pRg st="5" end="5"/>
                                            </p:txEl>
                                          </p:spTgt>
                                        </p:tgtEl>
                                        <p:attrNameLst>
                                          <p:attrName>style.visibility</p:attrName>
                                        </p:attrNameLst>
                                      </p:cBhvr>
                                      <p:to>
                                        <p:strVal val="visible"/>
                                      </p:to>
                                    </p:set>
                                    <p:anim calcmode="lin" valueType="num">
                                      <p:cBhvr additive="base">
                                        <p:cTn id="17" dur="500" fill="hold"/>
                                        <p:tgtEl>
                                          <p:spTgt spid="9221">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22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Let’s do LT financial planning… (cont.)</a:t>
            </a:r>
          </a:p>
        </p:txBody>
      </p:sp>
      <p:sp>
        <p:nvSpPr>
          <p:cNvPr id="9221" name="Rectangle 5"/>
          <p:cNvSpPr>
            <a:spLocks noGrp="1" noChangeArrowheads="1"/>
          </p:cNvSpPr>
          <p:nvPr>
            <p:ph idx="1"/>
          </p:nvPr>
        </p:nvSpPr>
        <p:spPr>
          <a:xfrm>
            <a:off x="315661" y="937846"/>
            <a:ext cx="8655424" cy="5791200"/>
          </a:xfrm>
        </p:spPr>
        <p:txBody>
          <a:bodyPr/>
          <a:lstStyle/>
          <a:p>
            <a:pPr>
              <a:lnSpc>
                <a:spcPct val="105000"/>
              </a:lnSpc>
              <a:buSzPct val="100000"/>
              <a:buFont typeface="Arial" panose="020B0604020202020204" pitchFamily="34" charset="0"/>
              <a:buChar char="•"/>
            </a:pPr>
            <a:r>
              <a:rPr lang="en-US" sz="2600" dirty="0"/>
              <a:t>Also take into account economic environment</a:t>
            </a:r>
          </a:p>
          <a:p>
            <a:pPr lvl="1">
              <a:lnSpc>
                <a:spcPct val="105000"/>
              </a:lnSpc>
              <a:buSzPct val="100000"/>
              <a:buFont typeface="Wingdings" panose="05000000000000000000" pitchFamily="2" charset="2"/>
              <a:buChar char="§"/>
            </a:pPr>
            <a:r>
              <a:rPr lang="en-US" sz="2600" dirty="0"/>
              <a:t>E.g. interest rates: SA outlook? </a:t>
            </a:r>
            <a:r>
              <a:rPr lang="en-US" sz="1400" dirty="0"/>
              <a:t>(below as at 3 Feb 26)</a:t>
            </a:r>
          </a:p>
          <a:p>
            <a:pPr lvl="1">
              <a:lnSpc>
                <a:spcPct val="105000"/>
              </a:lnSpc>
              <a:buSzPct val="100000"/>
              <a:buFont typeface="Wingdings" panose="05000000000000000000" pitchFamily="2" charset="2"/>
              <a:buChar char="§"/>
            </a:pPr>
            <a:r>
              <a:rPr lang="en-US" sz="2600" dirty="0"/>
              <a:t>High interest rates – people rethinking expansion projects, investors pessimistic vs lower interest rates expected…</a:t>
            </a:r>
          </a:p>
          <a:p>
            <a:pPr lvl="1">
              <a:lnSpc>
                <a:spcPct val="105000"/>
              </a:lnSpc>
              <a:buSzPct val="100000"/>
              <a:buFont typeface="Arial" panose="020B0604020202020204" pitchFamily="34" charset="0"/>
              <a:buChar char="•"/>
            </a:pPr>
            <a:endParaRPr lang="en-US" sz="2600" dirty="0"/>
          </a:p>
          <a:p>
            <a:pPr lvl="1">
              <a:lnSpc>
                <a:spcPct val="105000"/>
              </a:lnSpc>
              <a:buSzPct val="100000"/>
              <a:buFont typeface="Arial" panose="020B0604020202020204" pitchFamily="34" charset="0"/>
              <a:buChar char="•"/>
            </a:pPr>
            <a:endParaRPr lang="en-US" sz="2600" dirty="0"/>
          </a:p>
          <a:p>
            <a:pPr lvl="1">
              <a:lnSpc>
                <a:spcPct val="105000"/>
              </a:lnSpc>
              <a:buSzPct val="100000"/>
              <a:buFont typeface="Arial" panose="020B0604020202020204" pitchFamily="34" charset="0"/>
              <a:buChar char="•"/>
            </a:pPr>
            <a:endParaRPr lang="en-US" sz="2600" dirty="0"/>
          </a:p>
          <a:p>
            <a:pPr lvl="1">
              <a:lnSpc>
                <a:spcPct val="105000"/>
              </a:lnSpc>
              <a:buSzPct val="100000"/>
              <a:buFont typeface="Arial" panose="020B0604020202020204" pitchFamily="34" charset="0"/>
              <a:buChar char="•"/>
            </a:pPr>
            <a:endParaRPr lang="en-US" sz="2600" dirty="0"/>
          </a:p>
          <a:p>
            <a:pPr lvl="1">
              <a:lnSpc>
                <a:spcPct val="105000"/>
              </a:lnSpc>
              <a:buSzPct val="100000"/>
              <a:buFont typeface="Arial" panose="020B0604020202020204" pitchFamily="34" charset="0"/>
              <a:buChar char="•"/>
            </a:pPr>
            <a:endParaRPr lang="en-US" sz="2600" dirty="0"/>
          </a:p>
          <a:p>
            <a:pPr>
              <a:lnSpc>
                <a:spcPct val="105000"/>
              </a:lnSpc>
              <a:buSzPct val="100000"/>
              <a:buFont typeface="Arial" panose="020B0604020202020204" pitchFamily="34" charset="0"/>
              <a:buChar char="•"/>
            </a:pPr>
            <a:endParaRPr lang="en-US" sz="700" dirty="0"/>
          </a:p>
          <a:p>
            <a:pPr>
              <a:lnSpc>
                <a:spcPct val="105000"/>
              </a:lnSpc>
              <a:buSzPct val="100000"/>
              <a:buFont typeface="Arial" panose="020B0604020202020204" pitchFamily="34" charset="0"/>
              <a:buChar char="•"/>
            </a:pPr>
            <a:endParaRPr lang="en-US" sz="1200" dirty="0"/>
          </a:p>
          <a:p>
            <a:pPr>
              <a:lnSpc>
                <a:spcPct val="105000"/>
              </a:lnSpc>
              <a:buSzPct val="100000"/>
              <a:buFont typeface="Arial" panose="020B0604020202020204" pitchFamily="34" charset="0"/>
              <a:buChar char="•"/>
            </a:pPr>
            <a:endParaRPr lang="en-US" sz="800" dirty="0"/>
          </a:p>
          <a:p>
            <a:pPr>
              <a:lnSpc>
                <a:spcPct val="105000"/>
              </a:lnSpc>
              <a:buSzPct val="100000"/>
              <a:buFont typeface="Arial" panose="020B0604020202020204" pitchFamily="34" charset="0"/>
              <a:buChar char="•"/>
            </a:pPr>
            <a:r>
              <a:rPr lang="en-US" sz="2600" dirty="0"/>
              <a:t>Current dividend policy </a:t>
            </a:r>
          </a:p>
          <a:p>
            <a:pPr>
              <a:lnSpc>
                <a:spcPct val="105000"/>
              </a:lnSpc>
              <a:buSzPct val="100000"/>
              <a:buFont typeface="Arial" panose="020B0604020202020204" pitchFamily="34" charset="0"/>
              <a:buChar char="•"/>
            </a:pPr>
            <a:endParaRPr lang="en-US" sz="2600" dirty="0">
              <a:solidFill>
                <a:srgbClr val="FF0000"/>
              </a:solidFill>
            </a:endParaRP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5" name="Table 4">
            <a:extLst>
              <a:ext uri="{FF2B5EF4-FFF2-40B4-BE49-F238E27FC236}">
                <a16:creationId xmlns:a16="http://schemas.microsoft.com/office/drawing/2014/main" id="{566B6C57-5989-78D6-D6D9-AA98D7E4875C}"/>
              </a:ext>
            </a:extLst>
          </p:cNvPr>
          <p:cNvGraphicFramePr>
            <a:graphicFrameLocks noGrp="1"/>
          </p:cNvGraphicFramePr>
          <p:nvPr>
            <p:extLst>
              <p:ext uri="{D42A27DB-BD31-4B8C-83A1-F6EECF244321}">
                <p14:modId xmlns:p14="http://schemas.microsoft.com/office/powerpoint/2010/main" val="4134171839"/>
              </p:ext>
            </p:extLst>
          </p:nvPr>
        </p:nvGraphicFramePr>
        <p:xfrm>
          <a:off x="723900" y="3386438"/>
          <a:ext cx="7696200" cy="2599432"/>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1749928419"/>
                    </a:ext>
                  </a:extLst>
                </a:gridCol>
                <a:gridCol w="3657600">
                  <a:extLst>
                    <a:ext uri="{9D8B030D-6E8A-4147-A177-3AD203B41FA5}">
                      <a16:colId xmlns:a16="http://schemas.microsoft.com/office/drawing/2014/main" val="3257432890"/>
                    </a:ext>
                  </a:extLst>
                </a:gridCol>
              </a:tblGrid>
              <a:tr h="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Arial" pitchFamily="34" charset="0"/>
                          <a:cs typeface="Arial" pitchFamily="34" charset="0"/>
                        </a:rPr>
                        <a:t>Interest rate (repo rate)</a:t>
                      </a:r>
                      <a:endParaRPr kumimoji="0" lang="en-GB" sz="2400" b="0" i="0" u="none" strike="noStrike" cap="none" normalizeH="0" baseline="0" dirty="0">
                        <a:ln>
                          <a:noFill/>
                        </a:ln>
                        <a:solidFill>
                          <a:schemeClr val="tx1"/>
                        </a:solidFill>
                        <a:effectLst/>
                        <a:latin typeface="Arial" pitchFamily="34" charset="0"/>
                        <a:cs typeface="Arial" pitchFamily="34" charset="0"/>
                      </a:endParaRPr>
                    </a:p>
                  </a:txBody>
                  <a:tcPr marL="90000" marR="90000" marT="46799" marB="46799" anchor="ctr" horzOverflow="overflow">
                    <a:solidFill>
                      <a:srgbClr val="99CCFF"/>
                    </a:solidFill>
                  </a:tcPr>
                </a:tc>
                <a:tc>
                  <a:txBody>
                    <a:bodyPr/>
                    <a:lstStyle/>
                    <a:p>
                      <a:pPr algn="ct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3154673341"/>
                  </a:ext>
                </a:extLst>
              </a:tr>
              <a:tr h="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Arial" pitchFamily="34" charset="0"/>
                          <a:cs typeface="Arial" pitchFamily="34" charset="0"/>
                        </a:rPr>
                        <a:t>Interest rate (prime rate)</a:t>
                      </a:r>
                      <a:endParaRPr kumimoji="0" lang="en-GB" sz="2400" b="0" i="0" u="none" strike="noStrike" cap="none" normalizeH="0" baseline="0" dirty="0">
                        <a:ln>
                          <a:noFill/>
                        </a:ln>
                        <a:solidFill>
                          <a:schemeClr val="tx1"/>
                        </a:solidFill>
                        <a:effectLst/>
                        <a:latin typeface="Arial" pitchFamily="34" charset="0"/>
                        <a:cs typeface="Arial" pitchFamily="34" charset="0"/>
                      </a:endParaRPr>
                    </a:p>
                  </a:txBody>
                  <a:tcPr marL="90000" marR="90000" marT="46799" marB="46799" anchor="ctr" horzOverflow="overflow">
                    <a:solidFill>
                      <a:srgbClr val="99CCFF"/>
                    </a:solidFill>
                  </a:tcPr>
                </a:tc>
                <a:tc>
                  <a:txBody>
                    <a:bodyPr/>
                    <a:lstStyle/>
                    <a:p>
                      <a:pPr algn="ct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4157427168"/>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Arial" pitchFamily="34" charset="0"/>
                          <a:cs typeface="Arial" pitchFamily="34" charset="0"/>
                        </a:rPr>
                        <a:t>Exchange rate (R/Euro)</a:t>
                      </a:r>
                      <a:endParaRPr kumimoji="0" lang="en-GB" sz="2400" b="0" i="0" u="none" strike="noStrike" cap="none" normalizeH="0" baseline="0" dirty="0">
                        <a:ln>
                          <a:noFill/>
                        </a:ln>
                        <a:solidFill>
                          <a:schemeClr val="tx1"/>
                        </a:solidFill>
                        <a:effectLst/>
                        <a:latin typeface="Arial" pitchFamily="34" charset="0"/>
                        <a:cs typeface="Arial" pitchFamily="34" charset="0"/>
                      </a:endParaRPr>
                    </a:p>
                  </a:txBody>
                  <a:tcPr marL="90000" marR="90000" marT="46799" marB="46799" anchor="ctr" horzOverflow="overflow">
                    <a:solidFill>
                      <a:srgbClr val="99CCFF"/>
                    </a:solidFill>
                  </a:tcPr>
                </a:tc>
                <a:tc>
                  <a:txBody>
                    <a:bodyPr/>
                    <a:lstStyle/>
                    <a:p>
                      <a:pPr algn="ct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833545720"/>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Arial" pitchFamily="34" charset="0"/>
                          <a:cs typeface="Arial" pitchFamily="34" charset="0"/>
                        </a:rPr>
                        <a:t>Inflation (CPI)</a:t>
                      </a:r>
                      <a:endParaRPr kumimoji="0" lang="en-GB" sz="2400" b="0" i="0" u="none" strike="noStrike" cap="none" normalizeH="0" baseline="0" dirty="0">
                        <a:ln>
                          <a:noFill/>
                        </a:ln>
                        <a:solidFill>
                          <a:schemeClr val="tx1"/>
                        </a:solidFill>
                        <a:effectLst/>
                        <a:latin typeface="Arial" pitchFamily="34" charset="0"/>
                        <a:cs typeface="Arial" pitchFamily="34" charset="0"/>
                      </a:endParaRPr>
                    </a:p>
                  </a:txBody>
                  <a:tcPr marL="90000" marR="90000" marT="46799" marB="46799" anchor="ctr" horzOverflow="overflow">
                    <a:solidFill>
                      <a:srgbClr val="99CCFF"/>
                    </a:solidFill>
                  </a:tcPr>
                </a:tc>
                <a:tc>
                  <a:txBody>
                    <a:bodyPr/>
                    <a:lstStyle/>
                    <a:p>
                      <a:pPr algn="ct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1926819509"/>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Arial" pitchFamily="34" charset="0"/>
                          <a:cs typeface="Arial" pitchFamily="34" charset="0"/>
                        </a:rPr>
                        <a:t>GDP annual growth rate </a:t>
                      </a:r>
                      <a:endParaRPr kumimoji="0" lang="en-GB" sz="2400" b="0" i="0" u="none" strike="noStrike" cap="none" normalizeH="0" baseline="0" dirty="0">
                        <a:ln>
                          <a:noFill/>
                        </a:ln>
                        <a:solidFill>
                          <a:schemeClr val="tx1"/>
                        </a:solidFill>
                        <a:effectLst/>
                        <a:latin typeface="Arial" pitchFamily="34" charset="0"/>
                        <a:cs typeface="Arial" pitchFamily="34" charset="0"/>
                      </a:endParaRPr>
                    </a:p>
                  </a:txBody>
                  <a:tcPr marL="90000" marR="90000" marT="46799" marB="46799" anchor="ctr" horzOverflow="overflow">
                    <a:solidFill>
                      <a:srgbClr val="99CCFF"/>
                    </a:solidFill>
                  </a:tcPr>
                </a:tc>
                <a:tc>
                  <a:txBody>
                    <a:bodyPr/>
                    <a:lstStyle/>
                    <a:p>
                      <a:pPr algn="ctr"/>
                      <a:r>
                        <a:rPr kumimoji="0" lang="en-US" sz="2200" b="0" i="0" u="none" strike="noStrike" kern="1200" cap="none" normalizeH="0" baseline="0" dirty="0">
                          <a:ln>
                            <a:noFill/>
                          </a:ln>
                          <a:solidFill>
                            <a:schemeClr val="tx1"/>
                          </a:solidFill>
                          <a:effectLst/>
                          <a:latin typeface="Arial" pitchFamily="34" charset="0"/>
                          <a:ea typeface="+mn-ea"/>
                          <a:cs typeface="Arial" pitchFamily="34" charset="0"/>
                        </a:rPr>
                        <a:t>0.6% for 2024; growth expected 2025 = 1%</a:t>
                      </a:r>
                    </a:p>
                  </a:txBody>
                  <a:tcPr>
                    <a:solidFill>
                      <a:srgbClr val="99CCFF"/>
                    </a:solidFill>
                  </a:tcPr>
                </a:tc>
                <a:extLst>
                  <a:ext uri="{0D108BD9-81ED-4DB2-BD59-A6C34878D82A}">
                    <a16:rowId xmlns:a16="http://schemas.microsoft.com/office/drawing/2014/main" val="221808315"/>
                  </a:ext>
                </a:extLst>
              </a:tr>
            </a:tbl>
          </a:graphicData>
        </a:graphic>
      </p:graphicFrame>
    </p:spTree>
    <p:custDataLst>
      <p:tags r:id="rId1"/>
    </p:custDataLst>
    <p:extLst>
      <p:ext uri="{BB962C8B-B14F-4D97-AF65-F5344CB8AC3E}">
        <p14:creationId xmlns:p14="http://schemas.microsoft.com/office/powerpoint/2010/main" val="1099954283"/>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Let’s do LT financial planning… (cont.)</a:t>
            </a:r>
          </a:p>
        </p:txBody>
      </p:sp>
      <p:sp>
        <p:nvSpPr>
          <p:cNvPr id="9221" name="Rectangle 5"/>
          <p:cNvSpPr>
            <a:spLocks noGrp="1" noChangeArrowheads="1"/>
          </p:cNvSpPr>
          <p:nvPr>
            <p:ph idx="1"/>
          </p:nvPr>
        </p:nvSpPr>
        <p:spPr>
          <a:xfrm>
            <a:off x="315661" y="937846"/>
            <a:ext cx="8655424" cy="5791200"/>
          </a:xfrm>
        </p:spPr>
        <p:txBody>
          <a:bodyPr/>
          <a:lstStyle/>
          <a:p>
            <a:pPr>
              <a:lnSpc>
                <a:spcPct val="105000"/>
              </a:lnSpc>
              <a:buSzPct val="100000"/>
              <a:buFont typeface="Arial" panose="020B0604020202020204" pitchFamily="34" charset="0"/>
              <a:buChar char="•"/>
            </a:pPr>
            <a:r>
              <a:rPr lang="en-US" sz="2600" u="sng" dirty="0"/>
              <a:t>Once done </a:t>
            </a:r>
            <a:r>
              <a:rPr lang="en-US" sz="2600" dirty="0"/>
              <a:t>with the planning (budgeted/pro forma fin statements for the next year): decide on the </a:t>
            </a:r>
            <a:r>
              <a:rPr lang="en-US" sz="2600" dirty="0">
                <a:highlight>
                  <a:srgbClr val="FF0000"/>
                </a:highlight>
              </a:rPr>
              <a:t>possible source of capital</a:t>
            </a:r>
            <a:r>
              <a:rPr lang="en-US" sz="2600" dirty="0"/>
              <a:t> that can be used next year…</a:t>
            </a:r>
          </a:p>
          <a:p>
            <a:pPr>
              <a:lnSpc>
                <a:spcPct val="105000"/>
              </a:lnSpc>
              <a:buSzPct val="100000"/>
              <a:buFont typeface="Arial" panose="020B0604020202020204" pitchFamily="34" charset="0"/>
              <a:buChar char="•"/>
            </a:pPr>
            <a:r>
              <a:rPr lang="en-US" sz="2600" dirty="0"/>
              <a:t>What are the options?</a:t>
            </a:r>
          </a:p>
          <a:p>
            <a:pPr marL="457200" lvl="1" indent="0">
              <a:lnSpc>
                <a:spcPct val="105000"/>
              </a:lnSpc>
              <a:buSzPct val="100000"/>
              <a:buNone/>
            </a:pPr>
            <a:endParaRPr lang="en-US" sz="2600" dirty="0"/>
          </a:p>
          <a:p>
            <a:pPr>
              <a:lnSpc>
                <a:spcPct val="105000"/>
              </a:lnSpc>
              <a:buSzPct val="100000"/>
              <a:buFont typeface="Arial" panose="020B0604020202020204" pitchFamily="34" charset="0"/>
              <a:buChar char="•"/>
            </a:pPr>
            <a:endParaRPr lang="en-US" sz="2600" dirty="0">
              <a:solidFill>
                <a:srgbClr val="FF0000"/>
              </a:solidFill>
            </a:endParaRP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5" name="Table 4">
            <a:extLst>
              <a:ext uri="{FF2B5EF4-FFF2-40B4-BE49-F238E27FC236}">
                <a16:creationId xmlns:a16="http://schemas.microsoft.com/office/drawing/2014/main" id="{566B6C57-5989-78D6-D6D9-AA98D7E4875C}"/>
              </a:ext>
            </a:extLst>
          </p:cNvPr>
          <p:cNvGraphicFramePr>
            <a:graphicFrameLocks noGrp="1"/>
          </p:cNvGraphicFramePr>
          <p:nvPr>
            <p:extLst>
              <p:ext uri="{D42A27DB-BD31-4B8C-83A1-F6EECF244321}">
                <p14:modId xmlns:p14="http://schemas.microsoft.com/office/powerpoint/2010/main" val="3026037350"/>
              </p:ext>
            </p:extLst>
          </p:nvPr>
        </p:nvGraphicFramePr>
        <p:xfrm>
          <a:off x="495300" y="2743200"/>
          <a:ext cx="8153400" cy="3832982"/>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1749928419"/>
                    </a:ext>
                  </a:extLst>
                </a:gridCol>
                <a:gridCol w="4000500">
                  <a:extLst>
                    <a:ext uri="{9D8B030D-6E8A-4147-A177-3AD203B41FA5}">
                      <a16:colId xmlns:a16="http://schemas.microsoft.com/office/drawing/2014/main" val="3257432890"/>
                    </a:ext>
                  </a:extLst>
                </a:gridCol>
              </a:tblGrid>
              <a:tr h="31148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cs typeface="Arial" pitchFamily="34" charset="0"/>
                        </a:rPr>
                        <a:t>I</a:t>
                      </a:r>
                      <a:r>
                        <a:rPr kumimoji="0" lang="en-ZA" sz="2400" b="0" i="0" u="none" strike="noStrike" cap="none" normalizeH="0" baseline="0" dirty="0">
                          <a:ln>
                            <a:noFill/>
                          </a:ln>
                          <a:solidFill>
                            <a:schemeClr val="tx1"/>
                          </a:solidFill>
                          <a:effectLst/>
                          <a:latin typeface="Arial" pitchFamily="34" charset="0"/>
                          <a:cs typeface="Arial" pitchFamily="34" charset="0"/>
                        </a:rPr>
                        <a:t>f AFN is +; need &gt; has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ZA" sz="2400" b="0" i="0" u="none" strike="noStrike" cap="none" normalizeH="0" baseline="0" dirty="0">
                          <a:ln>
                            <a:noFill/>
                          </a:ln>
                          <a:solidFill>
                            <a:schemeClr val="tx1"/>
                          </a:solidFill>
                          <a:effectLst/>
                          <a:latin typeface="Arial" pitchFamily="34" charset="0"/>
                          <a:cs typeface="Arial" pitchFamily="34" charset="0"/>
                        </a:rPr>
                        <a:t>TA &gt; TE&amp;L</a:t>
                      </a:r>
                      <a:endParaRPr kumimoji="0" lang="en-GB" sz="2400" b="0" i="0" u="none" strike="noStrike" cap="none" normalizeH="0" baseline="0" dirty="0">
                        <a:ln>
                          <a:noFill/>
                        </a:ln>
                        <a:solidFill>
                          <a:schemeClr val="tx1"/>
                        </a:solidFill>
                        <a:effectLst/>
                        <a:latin typeface="Arial" pitchFamily="34" charset="0"/>
                        <a:cs typeface="Arial" pitchFamily="34" charset="0"/>
                      </a:endParaRPr>
                    </a:p>
                  </a:txBody>
                  <a:tcPr marL="90000" marR="90000" marT="46799" marB="46799" anchor="ctr" horzOverflow="overflow">
                    <a:solidFill>
                      <a:srgbClr val="99CC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If AFN is –; need &lt; has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TA &lt; TE&amp;L</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3154673341"/>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2400" b="0" i="0" u="none" strike="noStrike" cap="none" normalizeH="0" baseline="0" dirty="0">
                          <a:ln>
                            <a:noFill/>
                          </a:ln>
                          <a:solidFill>
                            <a:schemeClr val="tx1"/>
                          </a:solidFill>
                          <a:effectLst/>
                          <a:latin typeface="Arial" pitchFamily="34" charset="0"/>
                          <a:cs typeface="Arial" pitchFamily="34" charset="0"/>
                        </a:rPr>
                        <a:t>Increase ST debt</a:t>
                      </a:r>
                    </a:p>
                  </a:txBody>
                  <a:tcPr marL="90000" marR="90000" marT="46799" marB="46799" anchor="ctr" horzOverflow="overflow">
                    <a:solidFill>
                      <a:srgbClr val="99C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Decrease (pay) ST debt</a:t>
                      </a:r>
                    </a:p>
                  </a:txBody>
                  <a:tcPr>
                    <a:solidFill>
                      <a:srgbClr val="99CCFF"/>
                    </a:solidFill>
                  </a:tcPr>
                </a:tc>
                <a:extLst>
                  <a:ext uri="{0D108BD9-81ED-4DB2-BD59-A6C34878D82A}">
                    <a16:rowId xmlns:a16="http://schemas.microsoft.com/office/drawing/2014/main" val="4157427168"/>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2400" b="0" i="0" u="none" strike="noStrike" cap="none" normalizeH="0" baseline="0" dirty="0">
                          <a:ln>
                            <a:noFill/>
                          </a:ln>
                          <a:solidFill>
                            <a:schemeClr val="tx1"/>
                          </a:solidFill>
                          <a:effectLst/>
                          <a:latin typeface="Arial" pitchFamily="34" charset="0"/>
                          <a:cs typeface="Arial" pitchFamily="34" charset="0"/>
                        </a:rPr>
                        <a:t>Increase LT debt</a:t>
                      </a:r>
                    </a:p>
                  </a:txBody>
                  <a:tcPr marL="90000" marR="90000" marT="46799" marB="46799" anchor="ctr" horzOverflow="overflow">
                    <a:solidFill>
                      <a:srgbClr val="99C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Decrease (pay) LT debt</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833545720"/>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2400" b="0" i="0" u="none" strike="noStrike" cap="none" normalizeH="0" baseline="0" dirty="0">
                          <a:ln>
                            <a:noFill/>
                          </a:ln>
                          <a:solidFill>
                            <a:schemeClr val="tx1"/>
                          </a:solidFill>
                          <a:effectLst/>
                          <a:latin typeface="Arial" pitchFamily="34" charset="0"/>
                          <a:cs typeface="Arial" pitchFamily="34" charset="0"/>
                        </a:rPr>
                        <a:t>Increase share capital (issue/sell shares)</a:t>
                      </a:r>
                    </a:p>
                  </a:txBody>
                  <a:tcPr marL="90000" marR="90000" marT="46799" marB="46799" anchor="ctr" horzOverflow="overflow">
                    <a:solidFill>
                      <a:srgbClr val="99C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Decrease share capital (buy back shares)</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1926819509"/>
                  </a:ext>
                </a:extLst>
              </a:tr>
              <a:tr h="37084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2400" b="0" i="0" u="none" strike="noStrike" cap="none" normalizeH="0" baseline="0" dirty="0">
                          <a:ln>
                            <a:noFill/>
                          </a:ln>
                          <a:solidFill>
                            <a:schemeClr val="tx1"/>
                          </a:solidFill>
                          <a:effectLst/>
                          <a:latin typeface="Arial" pitchFamily="34" charset="0"/>
                          <a:cs typeface="Arial" pitchFamily="34" charset="0"/>
                        </a:rPr>
                        <a:t>Decrease dividend payouts to increase RE (a form of internal financing)</a:t>
                      </a:r>
                    </a:p>
                  </a:txBody>
                  <a:tcPr marL="90000" marR="90000" marT="46799" marB="46799" anchor="ctr" horzOverflow="overflow">
                    <a:solidFill>
                      <a:srgbClr val="99C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Arial" pitchFamily="34" charset="0"/>
                          <a:ea typeface="+mn-ea"/>
                          <a:cs typeface="Arial" pitchFamily="34" charset="0"/>
                        </a:rPr>
                        <a:t>Increase dividend payouts to decrease RE</a:t>
                      </a:r>
                      <a:endParaRPr kumimoji="0" lang="en-ZA" sz="2400" b="0" i="0" u="none" strike="noStrike" kern="1200" cap="none" normalizeH="0" baseline="0" dirty="0">
                        <a:ln>
                          <a:noFill/>
                        </a:ln>
                        <a:solidFill>
                          <a:schemeClr val="tx1"/>
                        </a:solidFill>
                        <a:effectLst/>
                        <a:latin typeface="Arial" pitchFamily="34" charset="0"/>
                        <a:ea typeface="+mn-ea"/>
                        <a:cs typeface="Arial" pitchFamily="34" charset="0"/>
                      </a:endParaRPr>
                    </a:p>
                  </a:txBody>
                  <a:tcPr>
                    <a:solidFill>
                      <a:srgbClr val="99CCFF"/>
                    </a:solidFill>
                  </a:tcPr>
                </a:tc>
                <a:extLst>
                  <a:ext uri="{0D108BD9-81ED-4DB2-BD59-A6C34878D82A}">
                    <a16:rowId xmlns:a16="http://schemas.microsoft.com/office/drawing/2014/main" val="221808315"/>
                  </a:ext>
                </a:extLst>
              </a:tr>
            </a:tbl>
          </a:graphicData>
        </a:graphic>
      </p:graphicFrame>
    </p:spTree>
    <p:custDataLst>
      <p:tags r:id="rId1"/>
    </p:custDataLst>
    <p:extLst>
      <p:ext uri="{BB962C8B-B14F-4D97-AF65-F5344CB8AC3E}">
        <p14:creationId xmlns:p14="http://schemas.microsoft.com/office/powerpoint/2010/main" val="912509506"/>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a:t>
            </a:r>
          </a:p>
        </p:txBody>
      </p:sp>
      <p:sp>
        <p:nvSpPr>
          <p:cNvPr id="9221" name="Rectangle 5"/>
          <p:cNvSpPr>
            <a:spLocks noGrp="1" noChangeArrowheads="1"/>
          </p:cNvSpPr>
          <p:nvPr>
            <p:ph idx="1"/>
          </p:nvPr>
        </p:nvSpPr>
        <p:spPr>
          <a:xfrm>
            <a:off x="244288" y="685800"/>
            <a:ext cx="8655424" cy="5791200"/>
          </a:xfrm>
        </p:spPr>
        <p:txBody>
          <a:bodyPr/>
          <a:lstStyle/>
          <a:p>
            <a:pPr marL="0" indent="0" algn="just">
              <a:lnSpc>
                <a:spcPct val="105000"/>
              </a:lnSpc>
              <a:buSzPct val="100000"/>
              <a:buNone/>
            </a:pPr>
            <a:r>
              <a:rPr lang="en-US" sz="2400" dirty="0"/>
              <a:t>Data Sonic Ltd uses the percentage of sales method as a financial planning model to perform long-term financial planning. Consider the firm’s current statement of financial performance and statement of financial position and use the additional information to perform a percentage of sales method analysis by answering the questions that follow.</a:t>
            </a:r>
          </a:p>
          <a:p>
            <a:pPr marL="0" indent="0">
              <a:lnSpc>
                <a:spcPct val="105000"/>
              </a:lnSpc>
              <a:buSzPct val="100000"/>
              <a:buNone/>
            </a:pPr>
            <a:endParaRPr lang="en-US" sz="24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5" name="Table 4">
            <a:extLst>
              <a:ext uri="{FF2B5EF4-FFF2-40B4-BE49-F238E27FC236}">
                <a16:creationId xmlns:a16="http://schemas.microsoft.com/office/drawing/2014/main" id="{B4597216-9683-3162-2008-32885B62BE3F}"/>
              </a:ext>
            </a:extLst>
          </p:cNvPr>
          <p:cNvGraphicFramePr>
            <a:graphicFrameLocks noGrp="1"/>
          </p:cNvGraphicFramePr>
          <p:nvPr>
            <p:extLst>
              <p:ext uri="{D42A27DB-BD31-4B8C-83A1-F6EECF244321}">
                <p14:modId xmlns:p14="http://schemas.microsoft.com/office/powerpoint/2010/main" val="3473195572"/>
              </p:ext>
            </p:extLst>
          </p:nvPr>
        </p:nvGraphicFramePr>
        <p:xfrm>
          <a:off x="1905000" y="4176618"/>
          <a:ext cx="5977992" cy="2597952"/>
        </p:xfrm>
        <a:graphic>
          <a:graphicData uri="http://schemas.openxmlformats.org/drawingml/2006/table">
            <a:tbl>
              <a:tblPr firstRow="1" firstCol="1" bandRow="1"/>
              <a:tblGrid>
                <a:gridCol w="3810000">
                  <a:extLst>
                    <a:ext uri="{9D8B030D-6E8A-4147-A177-3AD203B41FA5}">
                      <a16:colId xmlns:a16="http://schemas.microsoft.com/office/drawing/2014/main" val="1351493122"/>
                    </a:ext>
                  </a:extLst>
                </a:gridCol>
                <a:gridCol w="2167992">
                  <a:extLst>
                    <a:ext uri="{9D8B030D-6E8A-4147-A177-3AD203B41FA5}">
                      <a16:colId xmlns:a16="http://schemas.microsoft.com/office/drawing/2014/main" val="1172841656"/>
                    </a:ext>
                  </a:extLst>
                </a:gridCol>
              </a:tblGrid>
              <a:tr h="528908">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Sales</a:t>
                      </a:r>
                    </a:p>
                  </a:txBody>
                  <a:tcPr marL="68580" marR="68580" marT="0" marB="0" anchor="ctr">
                    <a:lnL>
                      <a:noFill/>
                    </a:lnL>
                    <a:lnR>
                      <a:noFill/>
                    </a:lnR>
                    <a:lnT>
                      <a:noFill/>
                    </a:lnT>
                    <a:lnB>
                      <a:noFill/>
                    </a:lnB>
                    <a:noFill/>
                  </a:tcPr>
                </a:tc>
                <a:tc>
                  <a:txBody>
                    <a:bodyPr/>
                    <a:lstStyle/>
                    <a:p>
                      <a:pPr algn="r"/>
                      <a:r>
                        <a:rPr lang="en-US" sz="2400" dirty="0">
                          <a:effectLst/>
                          <a:latin typeface="Arial" panose="020B0604020202020204" pitchFamily="34" charset="0"/>
                          <a:ea typeface="Times New Roman" panose="02020603050405020304" pitchFamily="18" charset="0"/>
                          <a:cs typeface="Arial" panose="020B0604020202020204" pitchFamily="34" charset="0"/>
                        </a:rPr>
                        <a:t>140 000</a:t>
                      </a: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2120621"/>
                  </a:ext>
                </a:extLst>
              </a:tr>
              <a:tr h="517261">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Costs of goods sold</a:t>
                      </a:r>
                    </a:p>
                  </a:txBody>
                  <a:tcPr marL="68580" marR="68580" marT="0" marB="0" anchor="ctr">
                    <a:lnL>
                      <a:noFill/>
                    </a:lnL>
                    <a:lnR>
                      <a:noFill/>
                    </a:lnR>
                    <a:lnT>
                      <a:noFill/>
                    </a:lnT>
                    <a:lnB>
                      <a:noFill/>
                    </a:lnB>
                    <a:noFill/>
                  </a:tcPr>
                </a:tc>
                <a:tc>
                  <a:txBody>
                    <a:bodyPr/>
                    <a:lstStyle/>
                    <a:p>
                      <a:pPr algn="r"/>
                      <a:r>
                        <a:rPr lang="en-US" sz="2400" dirty="0">
                          <a:effectLst/>
                          <a:latin typeface="Arial" panose="020B0604020202020204" pitchFamily="34" charset="0"/>
                          <a:ea typeface="Times New Roman" panose="02020603050405020304" pitchFamily="18" charset="0"/>
                          <a:cs typeface="Arial" panose="020B0604020202020204" pitchFamily="34" charset="0"/>
                        </a:rPr>
                        <a:t>9</a:t>
                      </a:r>
                      <a:r>
                        <a:rPr lang="en-ZA" sz="2400" dirty="0">
                          <a:effectLst/>
                          <a:latin typeface="Arial" panose="020B0604020202020204" pitchFamily="34" charset="0"/>
                          <a:ea typeface="Times New Roman" panose="02020603050405020304" pitchFamily="18" charset="0"/>
                          <a:cs typeface="Arial" panose="020B0604020202020204" pitchFamily="34" charset="0"/>
                        </a:rPr>
                        <a:t>0 000</a:t>
                      </a: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001374"/>
                  </a:ext>
                </a:extLst>
              </a:tr>
              <a:tr h="517261">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Earnings before tax</a:t>
                      </a:r>
                    </a:p>
                  </a:txBody>
                  <a:tcPr marL="68580" marR="68580" marT="0" marB="0" anchor="ctr">
                    <a:lnL>
                      <a:noFill/>
                    </a:lnL>
                    <a:lnR>
                      <a:noFill/>
                    </a:lnR>
                    <a:lnT>
                      <a:noFill/>
                    </a:lnT>
                    <a:lnB>
                      <a:noFill/>
                    </a:lnB>
                    <a:noFill/>
                  </a:tcPr>
                </a:tc>
                <a:tc>
                  <a:txBody>
                    <a:bodyPr/>
                    <a:lstStyle/>
                    <a:p>
                      <a:pPr algn="r"/>
                      <a:r>
                        <a:rPr lang="en-ZA" sz="2400" dirty="0">
                          <a:effectLst/>
                          <a:latin typeface="Arial" panose="020B0604020202020204" pitchFamily="34" charset="0"/>
                          <a:ea typeface="Times New Roman" panose="02020603050405020304" pitchFamily="18" charset="0"/>
                          <a:cs typeface="Arial" panose="020B0604020202020204" pitchFamily="34" charset="0"/>
                        </a:rPr>
                        <a:t> 50 000</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12301319"/>
                  </a:ext>
                </a:extLst>
              </a:tr>
              <a:tr h="517261">
                <a:tc>
                  <a:txBody>
                    <a:bodyPr/>
                    <a:lstStyle/>
                    <a:p>
                      <a:r>
                        <a:rPr lang="en-ZA" sz="2400">
                          <a:effectLst/>
                          <a:latin typeface="Arial" panose="020B0604020202020204" pitchFamily="34" charset="0"/>
                          <a:ea typeface="Times New Roman" panose="02020603050405020304" pitchFamily="18" charset="0"/>
                          <a:cs typeface="Arial" panose="020B0604020202020204" pitchFamily="34" charset="0"/>
                        </a:rPr>
                        <a:t>Taxes (27%)</a:t>
                      </a:r>
                    </a:p>
                  </a:txBody>
                  <a:tcPr marL="68580" marR="68580" marT="0" marB="0" anchor="ctr">
                    <a:lnL>
                      <a:noFill/>
                    </a:lnL>
                    <a:lnR>
                      <a:noFill/>
                    </a:lnR>
                    <a:lnT>
                      <a:noFill/>
                    </a:lnT>
                    <a:lnB>
                      <a:noFill/>
                    </a:lnB>
                    <a:noFill/>
                  </a:tcPr>
                </a:tc>
                <a:tc>
                  <a:txBody>
                    <a:bodyPr/>
                    <a:lstStyle/>
                    <a:p>
                      <a:pPr algn="r"/>
                      <a:r>
                        <a:rPr lang="en-ZA" sz="2400" dirty="0">
                          <a:effectLst/>
                          <a:latin typeface="Arial" panose="020B0604020202020204" pitchFamily="34" charset="0"/>
                          <a:ea typeface="Times New Roman" panose="02020603050405020304" pitchFamily="18" charset="0"/>
                          <a:cs typeface="Arial" panose="020B0604020202020204" pitchFamily="34" charset="0"/>
                        </a:rPr>
                        <a:t>13 500</a:t>
                      </a: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7070215"/>
                  </a:ext>
                </a:extLst>
              </a:tr>
              <a:tr h="517261">
                <a:tc>
                  <a:txBody>
                    <a:bodyPr/>
                    <a:lstStyle/>
                    <a:p>
                      <a:r>
                        <a:rPr lang="en-ZA" sz="2400" b="1">
                          <a:effectLst/>
                          <a:latin typeface="Arial" panose="020B0604020202020204" pitchFamily="34" charset="0"/>
                          <a:ea typeface="Times New Roman" panose="02020603050405020304" pitchFamily="18" charset="0"/>
                          <a:cs typeface="Arial" panose="020B0604020202020204" pitchFamily="34" charset="0"/>
                        </a:rPr>
                        <a:t>EARNINGS AFTER TAX</a:t>
                      </a:r>
                      <a:endParaRPr lang="en-ZA"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a:noFill/>
                    </a:lnB>
                    <a:noFill/>
                  </a:tcPr>
                </a:tc>
                <a:tc>
                  <a:txBody>
                    <a:bodyPr/>
                    <a:lstStyle/>
                    <a:p>
                      <a:pPr algn="r"/>
                      <a:r>
                        <a:rPr lang="en-ZA" sz="2400" b="1" dirty="0">
                          <a:effectLst/>
                          <a:latin typeface="Arial" panose="020B0604020202020204" pitchFamily="34" charset="0"/>
                          <a:ea typeface="Times New Roman" panose="02020603050405020304" pitchFamily="18" charset="0"/>
                          <a:cs typeface="Arial" panose="020B0604020202020204" pitchFamily="34" charset="0"/>
                        </a:rPr>
                        <a:t>36 500</a:t>
                      </a: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extLst>
                  <a:ext uri="{0D108BD9-81ED-4DB2-BD59-A6C34878D82A}">
                    <a16:rowId xmlns:a16="http://schemas.microsoft.com/office/drawing/2014/main" val="2599445961"/>
                  </a:ext>
                </a:extLst>
              </a:tr>
            </a:tbl>
          </a:graphicData>
        </a:graphic>
      </p:graphicFrame>
      <p:sp>
        <p:nvSpPr>
          <p:cNvPr id="7" name="Rectangle 2">
            <a:extLst>
              <a:ext uri="{FF2B5EF4-FFF2-40B4-BE49-F238E27FC236}">
                <a16:creationId xmlns:a16="http://schemas.microsoft.com/office/drawing/2014/main" id="{38C04619-17E4-8265-4535-DE88E4A26E41}"/>
              </a:ext>
            </a:extLst>
          </p:cNvPr>
          <p:cNvSpPr>
            <a:spLocks noChangeArrowheads="1"/>
          </p:cNvSpPr>
          <p:nvPr/>
        </p:nvSpPr>
        <p:spPr bwMode="auto">
          <a:xfrm>
            <a:off x="152400" y="3165929"/>
            <a:ext cx="88392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ZA" altLang="en-US" sz="2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STATEMENT OF FINANCIAL PERFORMANCE OF DATA SONIC LTD FOR THE YEAR ENDED </a:t>
            </a:r>
            <a:r>
              <a:rPr lang="en-ZA" altLang="en-US" sz="2200" b="1" dirty="0">
                <a:latin typeface="Arial" panose="020B0604020202020204" pitchFamily="34" charset="0"/>
                <a:ea typeface="Times New Roman" panose="02020603050405020304" pitchFamily="18" charset="0"/>
                <a:cs typeface="Arial" panose="020B0604020202020204" pitchFamily="34" charset="0"/>
              </a:rPr>
              <a:t>28 FEBRUARY</a:t>
            </a:r>
            <a:r>
              <a:rPr kumimoji="0" lang="en-ZA" altLang="en-US" sz="2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2026 </a:t>
            </a:r>
            <a:endParaRPr kumimoji="0" lang="en-ZA" altLang="en-US" sz="2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ZA" altLang="en-US" sz="2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cap="none" normalizeH="0" baseline="0" dirty="0">
              <a:ln>
                <a:noFill/>
              </a:ln>
              <a:solidFill>
                <a:schemeClr val="tx1"/>
              </a:solidFill>
              <a:effectLst/>
            </a:endParaRPr>
          </a:p>
        </p:txBody>
      </p:sp>
    </p:spTree>
    <p:custDataLst>
      <p:tags r:id="rId1"/>
    </p:custDataLst>
    <p:extLst>
      <p:ext uri="{BB962C8B-B14F-4D97-AF65-F5344CB8AC3E}">
        <p14:creationId xmlns:p14="http://schemas.microsoft.com/office/powerpoint/2010/main" val="331307231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664B6A03-5E23-8935-700C-7530D262DCFA}"/>
              </a:ext>
            </a:extLst>
          </p:cNvPr>
          <p:cNvGraphicFramePr>
            <a:graphicFrameLocks noGrp="1"/>
          </p:cNvGraphicFramePr>
          <p:nvPr>
            <p:extLst>
              <p:ext uri="{D42A27DB-BD31-4B8C-83A1-F6EECF244321}">
                <p14:modId xmlns:p14="http://schemas.microsoft.com/office/powerpoint/2010/main" val="4214366095"/>
              </p:ext>
            </p:extLst>
          </p:nvPr>
        </p:nvGraphicFramePr>
        <p:xfrm>
          <a:off x="76200" y="1907500"/>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2</a:t>
                      </a:r>
                      <a:r>
                        <a:rPr lang="en-ZA" sz="1600" dirty="0">
                          <a:effectLst/>
                          <a:latin typeface="Arial" panose="020B0604020202020204" pitchFamily="34" charset="0"/>
                          <a:ea typeface="Times New Roman" panose="02020603050405020304" pitchFamily="18" charset="0"/>
                          <a:cs typeface="Arial" panose="020B0604020202020204" pitchFamily="34" charset="0"/>
                        </a:rPr>
                        <a:t>10 000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75 500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5</a:t>
                      </a:r>
                      <a:r>
                        <a:rPr lang="en-ZA" sz="1600" b="0" dirty="0">
                          <a:effectLst/>
                          <a:latin typeface="Arial" panose="020B0604020202020204" pitchFamily="34" charset="0"/>
                          <a:ea typeface="Times New Roman" panose="02020603050405020304" pitchFamily="18" charset="0"/>
                          <a:cs typeface="Arial" panose="020B0604020202020204" pitchFamily="34" charset="0"/>
                        </a:rPr>
                        <a:t>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18 500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433513" algn="l"/>
                        </a:tabLst>
                      </a:pPr>
                      <a:r>
                        <a:rPr lang="en-ZA" sz="1600" dirty="0">
                          <a:effectLst/>
                          <a:latin typeface="Arial" panose="020B0604020202020204" pitchFamily="34" charset="0"/>
                          <a:ea typeface="Times New Roman" panose="02020603050405020304" pitchFamily="18" charset="0"/>
                          <a:cs typeface="Arial" panose="020B0604020202020204" pitchFamily="34" charset="0"/>
                        </a:rPr>
                        <a:t>   </a:t>
                      </a:r>
                      <a:r>
                        <a:rPr lang="en-ZA" sz="1600" kern="12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144 000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ZA" sz="1600" b="1" dirty="0">
                          <a:effectLst/>
                          <a:latin typeface="Arial" panose="020B0604020202020204" pitchFamily="34" charset="0"/>
                          <a:ea typeface="Times New Roman" panose="02020603050405020304" pitchFamily="18" charset="0"/>
                          <a:cs typeface="Arial" panose="020B0604020202020204" pitchFamily="34" charset="0"/>
                        </a:rPr>
                        <a:t>354 000</a:t>
                      </a:r>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FE17361F-A9AF-2498-4DCD-330BD1C2E801}"/>
              </a:ext>
            </a:extLst>
          </p:cNvPr>
          <p:cNvSpPr>
            <a:spLocks noChangeArrowheads="1"/>
          </p:cNvSpPr>
          <p:nvPr/>
        </p:nvSpPr>
        <p:spPr bwMode="auto">
          <a:xfrm>
            <a:off x="422530" y="960060"/>
            <a:ext cx="8298939"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ZA" altLang="en-US" sz="2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STATEMENT OF FINANCIAL POSITION OF DATA SONIC LTD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ZA" altLang="en-US" sz="2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AS AT 28 FEBRUARY 2026 (R IN MILLIONS)</a:t>
            </a:r>
            <a:endParaRPr kumimoji="0" lang="en-ZA" altLang="en-US" sz="2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ZA"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937BE428-6A76-0355-35B4-87FFF0D1675F}"/>
              </a:ext>
            </a:extLst>
          </p:cNvPr>
          <p:cNvGraphicFramePr>
            <a:graphicFrameLocks noGrp="1"/>
          </p:cNvGraphicFramePr>
          <p:nvPr>
            <p:extLst>
              <p:ext uri="{D42A27DB-BD31-4B8C-83A1-F6EECF244321}">
                <p14:modId xmlns:p14="http://schemas.microsoft.com/office/powerpoint/2010/main" val="4060251175"/>
              </p:ext>
            </p:extLst>
          </p:nvPr>
        </p:nvGraphicFramePr>
        <p:xfrm>
          <a:off x="4438649" y="1907500"/>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ZA" sz="1600" b="0" dirty="0">
                          <a:effectLst/>
                          <a:latin typeface="Arial" panose="020B0604020202020204" pitchFamily="34" charset="0"/>
                          <a:ea typeface="Times New Roman" panose="02020603050405020304" pitchFamily="18" charset="0"/>
                          <a:cs typeface="Arial" panose="020B0604020202020204" pitchFamily="34" charset="0"/>
                        </a:rPr>
                        <a:t>90 000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a:t>
                      </a:r>
                      <a:r>
                        <a:rPr lang="en-ZA" sz="1600" dirty="0">
                          <a:effectLst/>
                          <a:latin typeface="Arial" panose="020B0604020202020204" pitchFamily="34" charset="0"/>
                          <a:ea typeface="Times New Roman" panose="02020603050405020304" pitchFamily="18" charset="0"/>
                          <a:cs typeface="Arial" panose="020B0604020202020204" pitchFamily="34" charset="0"/>
                        </a:rPr>
                        <a:t>20 000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 210 000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155700" algn="l"/>
                        </a:tabLst>
                      </a:pPr>
                      <a:r>
                        <a:rPr lang="en-ZA" sz="1600" dirty="0">
                          <a:effectLst/>
                          <a:latin typeface="Arial" panose="020B0604020202020204" pitchFamily="34" charset="0"/>
                          <a:ea typeface="Times New Roman" panose="02020603050405020304" pitchFamily="18" charset="0"/>
                          <a:cs typeface="Arial" panose="020B0604020202020204" pitchFamily="34" charset="0"/>
                        </a:rPr>
                        <a:t>100 000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r"/>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7550" algn="l"/>
                        </a:tabLst>
                      </a:pPr>
                      <a:r>
                        <a:rPr lang="en-ZA" sz="1600" b="0" dirty="0">
                          <a:effectLst/>
                          <a:latin typeface="Arial" panose="020B0604020202020204" pitchFamily="34" charset="0"/>
                          <a:ea typeface="Times New Roman" panose="02020603050405020304" pitchFamily="18" charset="0"/>
                          <a:cs typeface="Arial" panose="020B0604020202020204" pitchFamily="34" charset="0"/>
                        </a:rPr>
                        <a:t>40 000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a:t>
                      </a:r>
                      <a:r>
                        <a:rPr lang="en-ZA" sz="1600" dirty="0">
                          <a:effectLst/>
                          <a:latin typeface="Arial" panose="020B0604020202020204" pitchFamily="34" charset="0"/>
                          <a:ea typeface="Times New Roman" panose="02020603050405020304" pitchFamily="18" charset="0"/>
                          <a:cs typeface="Arial" panose="020B0604020202020204" pitchFamily="34" charset="0"/>
                        </a:rPr>
                        <a:t>4 000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r">
                        <a:tabLst>
                          <a:tab pos="711200" algn="l"/>
                        </a:tabLst>
                      </a:pPr>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1200" algn="l"/>
                        </a:tabLst>
                      </a:pPr>
                      <a:r>
                        <a:rPr lang="en-ZA" sz="1600" dirty="0">
                          <a:effectLst/>
                          <a:latin typeface="Arial" panose="020B0604020202020204" pitchFamily="34" charset="0"/>
                          <a:ea typeface="Times New Roman" panose="02020603050405020304" pitchFamily="18" charset="0"/>
                          <a:cs typeface="Arial" panose="020B0604020202020204" pitchFamily="34" charset="0"/>
                        </a:rPr>
                        <a:t> </a:t>
                      </a:r>
                      <a:r>
                        <a:rPr lang="en-ZA" sz="1600" b="1" dirty="0">
                          <a:effectLst/>
                          <a:latin typeface="Arial" panose="020B0604020202020204" pitchFamily="34" charset="0"/>
                          <a:ea typeface="Times New Roman" panose="02020603050405020304" pitchFamily="18" charset="0"/>
                          <a:cs typeface="Arial" panose="020B0604020202020204" pitchFamily="34" charset="0"/>
                        </a:rPr>
                        <a:t>354 000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12" name="TextBox 11">
            <a:extLst>
              <a:ext uri="{FF2B5EF4-FFF2-40B4-BE49-F238E27FC236}">
                <a16:creationId xmlns:a16="http://schemas.microsoft.com/office/drawing/2014/main" id="{BC31495E-6862-E3CF-478F-D6CCE9891F76}"/>
              </a:ext>
            </a:extLst>
          </p:cNvPr>
          <p:cNvSpPr txBox="1"/>
          <p:nvPr/>
        </p:nvSpPr>
        <p:spPr>
          <a:xfrm>
            <a:off x="76200" y="101619"/>
            <a:ext cx="8730763" cy="646331"/>
          </a:xfrm>
          <a:prstGeom prst="rect">
            <a:avLst/>
          </a:prstGeom>
          <a:noFill/>
        </p:spPr>
        <p:txBody>
          <a:bodyPr wrap="square">
            <a:spAutoFit/>
          </a:bodyPr>
          <a:lstStyle/>
          <a:p>
            <a:r>
              <a:rPr kumimoji="0" lang="en-US" sz="3600" b="0" i="0" u="none" strike="noStrike" kern="0" cap="none" spc="0" normalizeH="0" baseline="0" noProof="0" dirty="0">
                <a:ln>
                  <a:noFill/>
                </a:ln>
                <a:solidFill>
                  <a:srgbClr val="1F497D"/>
                </a:solidFill>
                <a:effectLst/>
                <a:uLnTx/>
                <a:uFillTx/>
                <a:latin typeface="Tahoma"/>
                <a:ea typeface="ＭＳ Ｐゴシック"/>
              </a:rPr>
              <a:t>Example: LT financial planning…(cont.)</a:t>
            </a:r>
            <a:endParaRPr lang="en-ZA" dirty="0"/>
          </a:p>
        </p:txBody>
      </p:sp>
    </p:spTree>
    <p:custDataLst>
      <p:tags r:id="rId1"/>
    </p:custDataLst>
    <p:extLst>
      <p:ext uri="{BB962C8B-B14F-4D97-AF65-F5344CB8AC3E}">
        <p14:creationId xmlns:p14="http://schemas.microsoft.com/office/powerpoint/2010/main" val="269355058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A29872-7817-9BCB-DB01-C441C89DF07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304303D-08DC-3BED-0530-CF7FCFEE7F6B}"/>
              </a:ext>
            </a:extLst>
          </p:cNvPr>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 (cont.)</a:t>
            </a:r>
          </a:p>
        </p:txBody>
      </p:sp>
      <p:sp>
        <p:nvSpPr>
          <p:cNvPr id="9221" name="Rectangle 5">
            <a:extLst>
              <a:ext uri="{FF2B5EF4-FFF2-40B4-BE49-F238E27FC236}">
                <a16:creationId xmlns:a16="http://schemas.microsoft.com/office/drawing/2014/main" id="{12562824-6845-A915-6176-D421FDF80082}"/>
              </a:ext>
            </a:extLst>
          </p:cNvPr>
          <p:cNvSpPr>
            <a:spLocks noGrp="1" noChangeArrowheads="1"/>
          </p:cNvSpPr>
          <p:nvPr>
            <p:ph idx="1"/>
          </p:nvPr>
        </p:nvSpPr>
        <p:spPr>
          <a:xfrm>
            <a:off x="244288" y="685800"/>
            <a:ext cx="8655424" cy="5791200"/>
          </a:xfrm>
        </p:spPr>
        <p:txBody>
          <a:bodyPr/>
          <a:lstStyle/>
          <a:p>
            <a:pPr marL="0" indent="0" algn="just">
              <a:lnSpc>
                <a:spcPct val="100000"/>
              </a:lnSpc>
              <a:spcBef>
                <a:spcPts val="0"/>
              </a:spcBef>
              <a:buSzPct val="100000"/>
              <a:buNone/>
            </a:pPr>
            <a:r>
              <a:rPr lang="en-US" sz="2000" b="1" dirty="0">
                <a:latin typeface="Arial" panose="020B0604020202020204" pitchFamily="34" charset="0"/>
                <a:cs typeface="Arial" panose="020B0604020202020204" pitchFamily="34" charset="0"/>
              </a:rPr>
              <a:t>Additional information:</a:t>
            </a:r>
          </a:p>
          <a:p>
            <a:pPr algn="just">
              <a:lnSpc>
                <a:spcPct val="100000"/>
              </a:lnSpc>
              <a:spcBef>
                <a:spcPts val="0"/>
              </a:spcBef>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Due to the boom in the use of technology, especially by Baby Boomers and Gen Zs, the firm has projected a 10% </a:t>
            </a:r>
            <a:r>
              <a:rPr lang="en-US" sz="2000" b="1" u="sng" dirty="0">
                <a:latin typeface="Arial" panose="020B0604020202020204" pitchFamily="34" charset="0"/>
                <a:cs typeface="Arial" panose="020B0604020202020204" pitchFamily="34" charset="0"/>
              </a:rPr>
              <a:t>increase</a:t>
            </a:r>
            <a:r>
              <a:rPr lang="en-US" sz="2000" dirty="0">
                <a:latin typeface="Arial" panose="020B0604020202020204" pitchFamily="34" charset="0"/>
                <a:cs typeface="Arial" panose="020B0604020202020204" pitchFamily="34" charset="0"/>
              </a:rPr>
              <a:t> in sales for the coming year. </a:t>
            </a:r>
          </a:p>
          <a:p>
            <a:pPr algn="just">
              <a:lnSpc>
                <a:spcPct val="100000"/>
              </a:lnSpc>
              <a:spcBef>
                <a:spcPts val="0"/>
              </a:spcBef>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The firm has also predicted that costs, assets and accounts payable are proportional to sales. Equity, long-term and short-term debt are not proportional to sales. </a:t>
            </a:r>
          </a:p>
          <a:p>
            <a:pPr algn="just">
              <a:lnSpc>
                <a:spcPct val="100000"/>
              </a:lnSpc>
              <a:spcBef>
                <a:spcPts val="0"/>
              </a:spcBef>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The tax rate will remain constant. </a:t>
            </a:r>
          </a:p>
          <a:p>
            <a:pPr algn="just">
              <a:lnSpc>
                <a:spcPct val="100000"/>
              </a:lnSpc>
              <a:spcBef>
                <a:spcPts val="0"/>
              </a:spcBef>
              <a:buSzPct val="100000"/>
              <a:buFont typeface="Arial" panose="020B0604020202020204" pitchFamily="34" charset="0"/>
              <a:buChar char="•"/>
            </a:pPr>
            <a:r>
              <a:rPr lang="en-US" sz="2000" dirty="0">
                <a:latin typeface="Arial" panose="020B0604020202020204" pitchFamily="34" charset="0"/>
                <a:cs typeface="Arial" panose="020B0604020202020204" pitchFamily="34" charset="0"/>
              </a:rPr>
              <a:t>The firm has a 70% dividend pay-out ratio that remains constant.</a:t>
            </a:r>
          </a:p>
          <a:p>
            <a:pPr marL="0" indent="0">
              <a:lnSpc>
                <a:spcPct val="105000"/>
              </a:lnSpc>
              <a:buSzPct val="100000"/>
              <a:buNone/>
            </a:pPr>
            <a:endParaRPr lang="en-US" sz="2400" dirty="0"/>
          </a:p>
        </p:txBody>
      </p:sp>
      <p:sp>
        <p:nvSpPr>
          <p:cNvPr id="3" name="Slide Number Placeholder 2">
            <a:extLst>
              <a:ext uri="{FF2B5EF4-FFF2-40B4-BE49-F238E27FC236}">
                <a16:creationId xmlns:a16="http://schemas.microsoft.com/office/drawing/2014/main" id="{21D78184-8CA1-BE4E-9B41-E033B70B1C87}"/>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5" name="Table 4">
            <a:extLst>
              <a:ext uri="{FF2B5EF4-FFF2-40B4-BE49-F238E27FC236}">
                <a16:creationId xmlns:a16="http://schemas.microsoft.com/office/drawing/2014/main" id="{244CAB53-EFBA-31A4-44EC-AB000056EC5F}"/>
              </a:ext>
            </a:extLst>
          </p:cNvPr>
          <p:cNvGraphicFramePr>
            <a:graphicFrameLocks noGrp="1"/>
          </p:cNvGraphicFramePr>
          <p:nvPr>
            <p:extLst>
              <p:ext uri="{D42A27DB-BD31-4B8C-83A1-F6EECF244321}">
                <p14:modId xmlns:p14="http://schemas.microsoft.com/office/powerpoint/2010/main" val="1990899247"/>
              </p:ext>
            </p:extLst>
          </p:nvPr>
        </p:nvGraphicFramePr>
        <p:xfrm>
          <a:off x="1905000" y="4399085"/>
          <a:ext cx="5749392" cy="2354968"/>
        </p:xfrm>
        <a:graphic>
          <a:graphicData uri="http://schemas.openxmlformats.org/drawingml/2006/table">
            <a:tbl>
              <a:tblPr firstRow="1" firstCol="1" bandRow="1"/>
              <a:tblGrid>
                <a:gridCol w="3609758">
                  <a:extLst>
                    <a:ext uri="{9D8B030D-6E8A-4147-A177-3AD203B41FA5}">
                      <a16:colId xmlns:a16="http://schemas.microsoft.com/office/drawing/2014/main" val="1351493122"/>
                    </a:ext>
                  </a:extLst>
                </a:gridCol>
                <a:gridCol w="2139634">
                  <a:extLst>
                    <a:ext uri="{9D8B030D-6E8A-4147-A177-3AD203B41FA5}">
                      <a16:colId xmlns:a16="http://schemas.microsoft.com/office/drawing/2014/main" val="1172841656"/>
                    </a:ext>
                  </a:extLst>
                </a:gridCol>
              </a:tblGrid>
              <a:tr h="479440">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Sales </a:t>
                      </a:r>
                    </a:p>
                  </a:txBody>
                  <a:tcPr marL="68580" marR="68580" marT="0" marB="0" anchor="ctr">
                    <a:lnL>
                      <a:noFill/>
                    </a:lnL>
                    <a:lnR>
                      <a:noFill/>
                    </a:lnR>
                    <a:lnT>
                      <a:noFill/>
                    </a:lnT>
                    <a:lnB>
                      <a:noFill/>
                    </a:lnB>
                    <a:noFill/>
                  </a:tcPr>
                </a:tc>
                <a:tc>
                  <a:txBody>
                    <a:bodyPr/>
                    <a:lstStyle/>
                    <a:p>
                      <a:pPr algn="ct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2120621"/>
                  </a:ext>
                </a:extLst>
              </a:tr>
              <a:tr h="468882">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Costs of goods sold</a:t>
                      </a:r>
                    </a:p>
                  </a:txBody>
                  <a:tcPr marL="68580" marR="68580" marT="0" marB="0" anchor="ctr">
                    <a:lnL>
                      <a:noFill/>
                    </a:lnL>
                    <a:lnR>
                      <a:noFill/>
                    </a:lnR>
                    <a:lnT>
                      <a:noFill/>
                    </a:lnT>
                    <a:lnB>
                      <a:noFill/>
                    </a:lnB>
                    <a:noFill/>
                  </a:tcPr>
                </a:tc>
                <a:tc>
                  <a:txBody>
                    <a:bodyPr/>
                    <a:lstStyle/>
                    <a:p>
                      <a:pPr algn="ct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001374"/>
                  </a:ext>
                </a:extLst>
              </a:tr>
              <a:tr h="468882">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Earnings before tax</a:t>
                      </a:r>
                    </a:p>
                  </a:txBody>
                  <a:tcPr marL="68580" marR="68580" marT="0" marB="0" anchor="ctr">
                    <a:lnL>
                      <a:noFill/>
                    </a:lnL>
                    <a:lnR>
                      <a:noFill/>
                    </a:lnR>
                    <a:lnT>
                      <a:noFill/>
                    </a:lnT>
                    <a:lnB>
                      <a:noFill/>
                    </a:lnB>
                    <a:noFill/>
                  </a:tcPr>
                </a:tc>
                <a:tc>
                  <a:txBody>
                    <a:bodyPr/>
                    <a:lstStyle/>
                    <a:p>
                      <a:pPr algn="ct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12301319"/>
                  </a:ext>
                </a:extLst>
              </a:tr>
              <a:tr h="468882">
                <a:tc>
                  <a:txBody>
                    <a:bodyPr/>
                    <a:lstStyle/>
                    <a:p>
                      <a:r>
                        <a:rPr lang="en-ZA" sz="2400">
                          <a:effectLst/>
                          <a:latin typeface="Arial" panose="020B0604020202020204" pitchFamily="34" charset="0"/>
                          <a:ea typeface="Times New Roman" panose="02020603050405020304" pitchFamily="18" charset="0"/>
                          <a:cs typeface="Arial" panose="020B0604020202020204" pitchFamily="34" charset="0"/>
                        </a:rPr>
                        <a:t>Taxes (27%)</a:t>
                      </a:r>
                    </a:p>
                  </a:txBody>
                  <a:tcPr marL="68580" marR="68580" marT="0" marB="0" anchor="ctr">
                    <a:lnL>
                      <a:noFill/>
                    </a:lnL>
                    <a:lnR>
                      <a:noFill/>
                    </a:lnR>
                    <a:lnT>
                      <a:noFill/>
                    </a:lnT>
                    <a:lnB>
                      <a:noFill/>
                    </a:lnB>
                    <a:noFill/>
                  </a:tcPr>
                </a:tc>
                <a:tc>
                  <a:txBody>
                    <a:bodyPr/>
                    <a:lstStyle/>
                    <a:p>
                      <a:pPr algn="ct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7070215"/>
                  </a:ext>
                </a:extLst>
              </a:tr>
              <a:tr h="468882">
                <a:tc>
                  <a:txBody>
                    <a:bodyPr/>
                    <a:lstStyle/>
                    <a:p>
                      <a:r>
                        <a:rPr lang="en-ZA" sz="2400" b="1">
                          <a:effectLst/>
                          <a:latin typeface="Arial" panose="020B0604020202020204" pitchFamily="34" charset="0"/>
                          <a:ea typeface="Times New Roman" panose="02020603050405020304" pitchFamily="18" charset="0"/>
                          <a:cs typeface="Arial" panose="020B0604020202020204" pitchFamily="34" charset="0"/>
                        </a:rPr>
                        <a:t>EARNINGS AFTER TAX</a:t>
                      </a:r>
                      <a:endParaRPr lang="en-ZA"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a:noFill/>
                    </a:lnB>
                    <a:noFill/>
                  </a:tcPr>
                </a:tc>
                <a:tc>
                  <a:txBody>
                    <a:bodyPr/>
                    <a:lstStyle/>
                    <a:p>
                      <a:pPr algn="ct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extLst>
                  <a:ext uri="{0D108BD9-81ED-4DB2-BD59-A6C34878D82A}">
                    <a16:rowId xmlns:a16="http://schemas.microsoft.com/office/drawing/2014/main" val="2599445961"/>
                  </a:ext>
                </a:extLst>
              </a:tr>
            </a:tbl>
          </a:graphicData>
        </a:graphic>
      </p:graphicFrame>
      <p:sp>
        <p:nvSpPr>
          <p:cNvPr id="7" name="Rectangle 2">
            <a:extLst>
              <a:ext uri="{FF2B5EF4-FFF2-40B4-BE49-F238E27FC236}">
                <a16:creationId xmlns:a16="http://schemas.microsoft.com/office/drawing/2014/main" id="{843BE2ED-0E37-8425-F560-248DBD0CAB86}"/>
              </a:ext>
            </a:extLst>
          </p:cNvPr>
          <p:cNvSpPr>
            <a:spLocks noChangeArrowheads="1"/>
          </p:cNvSpPr>
          <p:nvPr/>
        </p:nvSpPr>
        <p:spPr bwMode="auto">
          <a:xfrm>
            <a:off x="282388" y="3598985"/>
            <a:ext cx="8839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ZA" altLang="en-US" sz="2000" b="1" i="1" dirty="0">
                <a:solidFill>
                  <a:prstClr val="black"/>
                </a:solidFill>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PERFORMANCE OF DATA SONIC LTD FOR THE YEAR ENDED 28 FEBRUARY 202</a:t>
            </a:r>
            <a:r>
              <a:rPr lang="en-ZA" altLang="en-US" sz="2000" b="1" noProof="0" dirty="0">
                <a:solidFill>
                  <a:prstClr val="black"/>
                </a:solidFill>
                <a:latin typeface="Arial" panose="020B0604020202020204" pitchFamily="34" charset="0"/>
                <a:ea typeface="Times New Roman" panose="02020603050405020304" pitchFamily="18" charset="0"/>
                <a:cs typeface="Arial" panose="020B0604020202020204" pitchFamily="34" charset="0"/>
              </a:rPr>
              <a:t>7</a:t>
            </a: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1307175735"/>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9237C7-487F-ACA3-291F-65C52054889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5D5EF8-8E9E-B74A-A61A-4D852F959D41}"/>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DA76F23E-67D3-ABF3-E719-6B7E4257510B}"/>
              </a:ext>
            </a:extLst>
          </p:cNvPr>
          <p:cNvGraphicFramePr>
            <a:graphicFrameLocks noGrp="1"/>
          </p:cNvGraphicFramePr>
          <p:nvPr>
            <p:extLst>
              <p:ext uri="{D42A27DB-BD31-4B8C-83A1-F6EECF244321}">
                <p14:modId xmlns:p14="http://schemas.microsoft.com/office/powerpoint/2010/main" val="1118455388"/>
              </p:ext>
            </p:extLst>
          </p:nvPr>
        </p:nvGraphicFramePr>
        <p:xfrm>
          <a:off x="76200" y="1907500"/>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DF467FC2-B457-AE8E-8DFA-A3F8DD65A634}"/>
              </a:ext>
            </a:extLst>
          </p:cNvPr>
          <p:cNvSpPr>
            <a:spLocks noChangeArrowheads="1"/>
          </p:cNvSpPr>
          <p:nvPr/>
        </p:nvSpPr>
        <p:spPr bwMode="auto">
          <a:xfrm>
            <a:off x="-5600" y="767716"/>
            <a:ext cx="915519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1"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POSITION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OF DATA SONIC LTD AS AT 28 FEBRUARY 2027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charset="-128"/>
            </a:endParaRPr>
          </a:p>
        </p:txBody>
      </p:sp>
      <p:graphicFrame>
        <p:nvGraphicFramePr>
          <p:cNvPr id="6" name="Table 5">
            <a:extLst>
              <a:ext uri="{FF2B5EF4-FFF2-40B4-BE49-F238E27FC236}">
                <a16:creationId xmlns:a16="http://schemas.microsoft.com/office/drawing/2014/main" id="{B319D273-B02F-FCBD-188D-F8CDA8C532A7}"/>
              </a:ext>
            </a:extLst>
          </p:cNvPr>
          <p:cNvGraphicFramePr>
            <a:graphicFrameLocks noGrp="1"/>
          </p:cNvGraphicFramePr>
          <p:nvPr>
            <p:extLst>
              <p:ext uri="{D42A27DB-BD31-4B8C-83A1-F6EECF244321}">
                <p14:modId xmlns:p14="http://schemas.microsoft.com/office/powerpoint/2010/main" val="2848224612"/>
              </p:ext>
            </p:extLst>
          </p:nvPr>
        </p:nvGraphicFramePr>
        <p:xfrm>
          <a:off x="4438649" y="1907500"/>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tabLst>
                          <a:tab pos="11557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tabLst>
                          <a:tab pos="717550" algn="l"/>
                        </a:tabLst>
                      </a:pP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ct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ct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12" name="TextBox 11">
            <a:extLst>
              <a:ext uri="{FF2B5EF4-FFF2-40B4-BE49-F238E27FC236}">
                <a16:creationId xmlns:a16="http://schemas.microsoft.com/office/drawing/2014/main" id="{9AC9364B-2DEF-8F2C-7872-9EF14BB9B412}"/>
              </a:ext>
            </a:extLst>
          </p:cNvPr>
          <p:cNvSpPr txBox="1"/>
          <p:nvPr/>
        </p:nvSpPr>
        <p:spPr>
          <a:xfrm>
            <a:off x="76200" y="101619"/>
            <a:ext cx="873076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Example: LT financial planning…(cont.)</a:t>
            </a:r>
            <a:endParaRPr kumimoji="0" lang="en-ZA" sz="28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470885499"/>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 (cont.)</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19</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8" name="Oval 7">
            <a:extLst>
              <a:ext uri="{FF2B5EF4-FFF2-40B4-BE49-F238E27FC236}">
                <a16:creationId xmlns:a16="http://schemas.microsoft.com/office/drawing/2014/main" id="{505D6420-FD1F-903D-B2A8-6303AF60F357}"/>
              </a:ext>
            </a:extLst>
          </p:cNvPr>
          <p:cNvSpPr/>
          <p:nvPr/>
        </p:nvSpPr>
        <p:spPr bwMode="auto">
          <a:xfrm>
            <a:off x="22365" y="604616"/>
            <a:ext cx="2389550" cy="12192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FF0000"/>
                </a:solidFill>
                <a:effectLst/>
                <a:latin typeface="Arial" charset="0"/>
                <a:ea typeface="ＭＳ Ｐゴシック" pitchFamily="1" charset="-128"/>
              </a:rPr>
              <a:t>Change sales</a:t>
            </a:r>
            <a:endParaRPr kumimoji="0" lang="en-ZA" sz="2800" b="0" i="0" u="none" strike="noStrike" cap="none" normalizeH="0" baseline="0" dirty="0">
              <a:ln>
                <a:noFill/>
              </a:ln>
              <a:solidFill>
                <a:srgbClr val="FF0000"/>
              </a:solidFill>
              <a:effectLst/>
              <a:latin typeface="Arial" charset="0"/>
              <a:ea typeface="ＭＳ Ｐゴシック" pitchFamily="1" charset="-128"/>
            </a:endParaRPr>
          </a:p>
        </p:txBody>
      </p:sp>
      <p:sp>
        <p:nvSpPr>
          <p:cNvPr id="11" name="Oval 10">
            <a:extLst>
              <a:ext uri="{FF2B5EF4-FFF2-40B4-BE49-F238E27FC236}">
                <a16:creationId xmlns:a16="http://schemas.microsoft.com/office/drawing/2014/main" id="{79A19F99-5962-5EC2-1C5B-4A648001B60B}"/>
              </a:ext>
            </a:extLst>
          </p:cNvPr>
          <p:cNvSpPr/>
          <p:nvPr/>
        </p:nvSpPr>
        <p:spPr bwMode="auto">
          <a:xfrm>
            <a:off x="2189283" y="1214216"/>
            <a:ext cx="2438400" cy="1171025"/>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FF0000"/>
                </a:solidFill>
                <a:effectLst/>
                <a:latin typeface="Arial" charset="0"/>
                <a:ea typeface="ＭＳ Ｐゴシック" pitchFamily="1" charset="-128"/>
              </a:rPr>
              <a:t>Change costs</a:t>
            </a:r>
            <a:endParaRPr kumimoji="0" lang="en-ZA" sz="2800" b="0" i="0" u="none" strike="noStrike" cap="none" normalizeH="0" baseline="0" dirty="0">
              <a:ln>
                <a:noFill/>
              </a:ln>
              <a:solidFill>
                <a:srgbClr val="FF0000"/>
              </a:solidFill>
              <a:effectLst/>
              <a:latin typeface="Arial" charset="0"/>
              <a:ea typeface="ＭＳ Ｐゴシック" pitchFamily="1" charset="-128"/>
            </a:endParaRPr>
          </a:p>
        </p:txBody>
      </p:sp>
      <p:sp>
        <p:nvSpPr>
          <p:cNvPr id="12" name="Oval 11">
            <a:extLst>
              <a:ext uri="{FF2B5EF4-FFF2-40B4-BE49-F238E27FC236}">
                <a16:creationId xmlns:a16="http://schemas.microsoft.com/office/drawing/2014/main" id="{7DE77385-6D51-7B9D-E9A8-4255BA543FD8}"/>
              </a:ext>
            </a:extLst>
          </p:cNvPr>
          <p:cNvSpPr/>
          <p:nvPr/>
        </p:nvSpPr>
        <p:spPr bwMode="auto">
          <a:xfrm>
            <a:off x="4448908" y="1673660"/>
            <a:ext cx="2713892" cy="1291752"/>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600" dirty="0">
                <a:solidFill>
                  <a:srgbClr val="FF0000"/>
                </a:solidFill>
                <a:ea typeface="ＭＳ Ｐゴシック" pitchFamily="1" charset="-128"/>
              </a:rPr>
              <a:t>Do rest of </a:t>
            </a:r>
            <a:r>
              <a:rPr lang="en-US" sz="2600" dirty="0" err="1">
                <a:solidFill>
                  <a:srgbClr val="FF0000"/>
                </a:solidFill>
                <a:ea typeface="ＭＳ Ｐゴシック" pitchFamily="1" charset="-128"/>
              </a:rPr>
              <a:t>st</a:t>
            </a:r>
            <a:r>
              <a:rPr lang="en-US" sz="2600" dirty="0">
                <a:solidFill>
                  <a:srgbClr val="FF0000"/>
                </a:solidFill>
                <a:ea typeface="ＭＳ Ｐゴシック" pitchFamily="1" charset="-128"/>
              </a:rPr>
              <a:t> of fin perf</a:t>
            </a:r>
            <a:endParaRPr kumimoji="0" lang="en-ZA" sz="2600" b="0" i="0" u="none" strike="noStrike" cap="none" normalizeH="0" baseline="0" dirty="0">
              <a:ln>
                <a:noFill/>
              </a:ln>
              <a:solidFill>
                <a:srgbClr val="FF0000"/>
              </a:solidFill>
              <a:effectLst/>
              <a:latin typeface="Arial" charset="0"/>
              <a:ea typeface="ＭＳ Ｐゴシック" pitchFamily="1" charset="-128"/>
            </a:endParaRPr>
          </a:p>
        </p:txBody>
      </p:sp>
      <p:sp>
        <p:nvSpPr>
          <p:cNvPr id="13" name="Star: 5 Points 12">
            <a:extLst>
              <a:ext uri="{FF2B5EF4-FFF2-40B4-BE49-F238E27FC236}">
                <a16:creationId xmlns:a16="http://schemas.microsoft.com/office/drawing/2014/main" id="{CCB9CE96-00B0-F80A-5245-37CA3C4F260A}"/>
              </a:ext>
            </a:extLst>
          </p:cNvPr>
          <p:cNvSpPr/>
          <p:nvPr/>
        </p:nvSpPr>
        <p:spPr bwMode="auto">
          <a:xfrm>
            <a:off x="7543800" y="5257800"/>
            <a:ext cx="381000" cy="457200"/>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5" name="Rectangle 5">
            <a:extLst>
              <a:ext uri="{FF2B5EF4-FFF2-40B4-BE49-F238E27FC236}">
                <a16:creationId xmlns:a16="http://schemas.microsoft.com/office/drawing/2014/main" id="{1C89DA4E-0B28-9337-7030-7DDB849221C0}"/>
              </a:ext>
            </a:extLst>
          </p:cNvPr>
          <p:cNvSpPr>
            <a:spLocks noGrp="1" noChangeArrowheads="1"/>
          </p:cNvSpPr>
          <p:nvPr>
            <p:ph idx="1"/>
          </p:nvPr>
        </p:nvSpPr>
        <p:spPr>
          <a:xfrm>
            <a:off x="7711" y="5715000"/>
            <a:ext cx="9122498" cy="1219200"/>
          </a:xfrm>
        </p:spPr>
        <p:txBody>
          <a:bodyPr/>
          <a:lstStyle/>
          <a:p>
            <a:pPr marL="0" indent="0">
              <a:lnSpc>
                <a:spcPct val="100000"/>
              </a:lnSpc>
              <a:spcBef>
                <a:spcPts val="0"/>
              </a:spcBef>
              <a:buSzPct val="100000"/>
              <a:buNone/>
            </a:pPr>
            <a:r>
              <a:rPr lang="en-US" sz="2400" dirty="0"/>
              <a:t>How much will go to next (planning) year’s Retained earnings? </a:t>
            </a:r>
          </a:p>
          <a:p>
            <a:pPr marL="0" indent="0">
              <a:lnSpc>
                <a:spcPct val="100000"/>
              </a:lnSpc>
              <a:spcBef>
                <a:spcPts val="0"/>
              </a:spcBef>
              <a:buSzPct val="100000"/>
              <a:buNone/>
            </a:pPr>
            <a:r>
              <a:rPr lang="en-US" sz="2400" dirty="0"/>
              <a:t>In this e.g.: 70% div and 30% RE…         0.3 x 40 150 = R………..         </a:t>
            </a:r>
            <a:r>
              <a:rPr lang="en-US" sz="2400" b="1" dirty="0">
                <a:solidFill>
                  <a:srgbClr val="FFC000"/>
                </a:solidFill>
              </a:rPr>
              <a:t>REMEMBER to add it to next year’s RE!</a:t>
            </a:r>
          </a:p>
          <a:p>
            <a:pPr marL="0" indent="0">
              <a:lnSpc>
                <a:spcPct val="105000"/>
              </a:lnSpc>
              <a:buSzPct val="100000"/>
              <a:buNone/>
            </a:pPr>
            <a:endParaRPr lang="en-US" sz="2400" dirty="0"/>
          </a:p>
          <a:p>
            <a:pPr marL="0" indent="0">
              <a:lnSpc>
                <a:spcPct val="105000"/>
              </a:lnSpc>
              <a:buSzPct val="100000"/>
              <a:buNone/>
            </a:pPr>
            <a:endParaRPr lang="en-US" sz="2400" dirty="0"/>
          </a:p>
        </p:txBody>
      </p:sp>
      <p:sp>
        <p:nvSpPr>
          <p:cNvPr id="2" name="Rectangle 2">
            <a:extLst>
              <a:ext uri="{FF2B5EF4-FFF2-40B4-BE49-F238E27FC236}">
                <a16:creationId xmlns:a16="http://schemas.microsoft.com/office/drawing/2014/main" id="{9BA1823C-0DF5-E292-F28B-4EC273563CE5}"/>
              </a:ext>
            </a:extLst>
          </p:cNvPr>
          <p:cNvSpPr>
            <a:spLocks noChangeArrowheads="1"/>
          </p:cNvSpPr>
          <p:nvPr/>
        </p:nvSpPr>
        <p:spPr bwMode="auto">
          <a:xfrm>
            <a:off x="208083" y="2930137"/>
            <a:ext cx="8839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ZA" altLang="en-US" sz="2000" b="1" i="1" dirty="0">
                <a:solidFill>
                  <a:prstClr val="black"/>
                </a:solidFill>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PERFORMANCE OF DATA SONIC LTD FOR THE YEAR ENDED 28 FEBRUARY 202</a:t>
            </a:r>
            <a:r>
              <a:rPr lang="en-ZA" altLang="en-US" sz="2000" b="1" noProof="0" dirty="0">
                <a:solidFill>
                  <a:prstClr val="black"/>
                </a:solidFill>
                <a:latin typeface="Arial" panose="020B0604020202020204" pitchFamily="34" charset="0"/>
                <a:ea typeface="Times New Roman" panose="02020603050405020304" pitchFamily="18" charset="0"/>
                <a:cs typeface="Arial" panose="020B0604020202020204" pitchFamily="34" charset="0"/>
              </a:rPr>
              <a:t>7</a:t>
            </a: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 </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p:txBody>
      </p:sp>
      <p:graphicFrame>
        <p:nvGraphicFramePr>
          <p:cNvPr id="4" name="Table 3">
            <a:extLst>
              <a:ext uri="{FF2B5EF4-FFF2-40B4-BE49-F238E27FC236}">
                <a16:creationId xmlns:a16="http://schemas.microsoft.com/office/drawing/2014/main" id="{AE8B7DC1-6B35-2ED9-040C-14C985C34708}"/>
              </a:ext>
            </a:extLst>
          </p:cNvPr>
          <p:cNvGraphicFramePr>
            <a:graphicFrameLocks noGrp="1"/>
          </p:cNvGraphicFramePr>
          <p:nvPr>
            <p:extLst>
              <p:ext uri="{D42A27DB-BD31-4B8C-83A1-F6EECF244321}">
                <p14:modId xmlns:p14="http://schemas.microsoft.com/office/powerpoint/2010/main" val="3486494974"/>
              </p:ext>
            </p:extLst>
          </p:nvPr>
        </p:nvGraphicFramePr>
        <p:xfrm>
          <a:off x="1772836" y="3884220"/>
          <a:ext cx="5715000" cy="1820969"/>
        </p:xfrm>
        <a:graphic>
          <a:graphicData uri="http://schemas.openxmlformats.org/drawingml/2006/table">
            <a:tbl>
              <a:tblPr firstRow="1" firstCol="1" bandRow="1"/>
              <a:tblGrid>
                <a:gridCol w="3588165">
                  <a:extLst>
                    <a:ext uri="{9D8B030D-6E8A-4147-A177-3AD203B41FA5}">
                      <a16:colId xmlns:a16="http://schemas.microsoft.com/office/drawing/2014/main" val="1351493122"/>
                    </a:ext>
                  </a:extLst>
                </a:gridCol>
                <a:gridCol w="2126835">
                  <a:extLst>
                    <a:ext uri="{9D8B030D-6E8A-4147-A177-3AD203B41FA5}">
                      <a16:colId xmlns:a16="http://schemas.microsoft.com/office/drawing/2014/main" val="1172841656"/>
                    </a:ext>
                  </a:extLst>
                </a:gridCol>
              </a:tblGrid>
              <a:tr h="370725">
                <a:tc>
                  <a:txBody>
                    <a:bodyPr/>
                    <a:lstStyle/>
                    <a:p>
                      <a:r>
                        <a:rPr lang="en-ZA" sz="2200" dirty="0">
                          <a:effectLst/>
                          <a:latin typeface="Arial" panose="020B0604020202020204" pitchFamily="34" charset="0"/>
                          <a:ea typeface="Times New Roman" panose="02020603050405020304" pitchFamily="18" charset="0"/>
                          <a:cs typeface="Arial" panose="020B0604020202020204" pitchFamily="34" charset="0"/>
                        </a:rPr>
                        <a:t>Sales </a:t>
                      </a:r>
                    </a:p>
                  </a:txBody>
                  <a:tcPr marL="68580" marR="68580" marT="0" marB="0" anchor="ctr">
                    <a:lnL>
                      <a:noFill/>
                    </a:lnL>
                    <a:lnR>
                      <a:noFill/>
                    </a:lnR>
                    <a:lnT>
                      <a:noFill/>
                    </a:lnT>
                    <a:lnB>
                      <a:noFill/>
                    </a:lnB>
                    <a:noFill/>
                  </a:tcPr>
                </a:tc>
                <a:tc>
                  <a:txBody>
                    <a:bodyPr/>
                    <a:lstStyle/>
                    <a:p>
                      <a:pPr algn="r"/>
                      <a:r>
                        <a:rPr lang="en-US" sz="2200" dirty="0">
                          <a:effectLst/>
                          <a:latin typeface="Arial" panose="020B0604020202020204" pitchFamily="34" charset="0"/>
                          <a:ea typeface="Times New Roman" panose="02020603050405020304" pitchFamily="18" charset="0"/>
                          <a:cs typeface="Arial" panose="020B0604020202020204" pitchFamily="34" charset="0"/>
                        </a:rPr>
                        <a:t>154 000</a:t>
                      </a:r>
                      <a:endParaRPr lang="en-ZA" sz="2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2120621"/>
                  </a:ext>
                </a:extLst>
              </a:tr>
              <a:tr h="362561">
                <a:tc>
                  <a:txBody>
                    <a:bodyPr/>
                    <a:lstStyle/>
                    <a:p>
                      <a:r>
                        <a:rPr lang="en-ZA" sz="2200" dirty="0">
                          <a:effectLst/>
                          <a:latin typeface="Arial" panose="020B0604020202020204" pitchFamily="34" charset="0"/>
                          <a:ea typeface="Times New Roman" panose="02020603050405020304" pitchFamily="18" charset="0"/>
                          <a:cs typeface="Arial" panose="020B0604020202020204" pitchFamily="34" charset="0"/>
                        </a:rPr>
                        <a:t>Costs of goods sold</a:t>
                      </a:r>
                    </a:p>
                  </a:txBody>
                  <a:tcPr marL="68580" marR="68580" marT="0" marB="0" anchor="ctr">
                    <a:lnL>
                      <a:noFill/>
                    </a:lnL>
                    <a:lnR>
                      <a:noFill/>
                    </a:lnR>
                    <a:lnT>
                      <a:noFill/>
                    </a:lnT>
                    <a:lnB>
                      <a:noFill/>
                    </a:lnB>
                    <a:noFill/>
                  </a:tcPr>
                </a:tc>
                <a:tc>
                  <a:txBody>
                    <a:bodyPr/>
                    <a:lstStyle/>
                    <a:p>
                      <a:pPr algn="r"/>
                      <a:r>
                        <a:rPr lang="en-US" sz="2200" dirty="0">
                          <a:effectLst/>
                          <a:latin typeface="Arial" panose="020B0604020202020204" pitchFamily="34" charset="0"/>
                          <a:ea typeface="Times New Roman" panose="02020603050405020304" pitchFamily="18" charset="0"/>
                          <a:cs typeface="Arial" panose="020B0604020202020204" pitchFamily="34" charset="0"/>
                        </a:rPr>
                        <a:t>99 000</a:t>
                      </a:r>
                      <a:endParaRPr lang="en-ZA" sz="2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001374"/>
                  </a:ext>
                </a:extLst>
              </a:tr>
              <a:tr h="362561">
                <a:tc>
                  <a:txBody>
                    <a:bodyPr/>
                    <a:lstStyle/>
                    <a:p>
                      <a:r>
                        <a:rPr lang="en-ZA" sz="2200" dirty="0">
                          <a:effectLst/>
                          <a:latin typeface="Arial" panose="020B0604020202020204" pitchFamily="34" charset="0"/>
                          <a:ea typeface="Times New Roman" panose="02020603050405020304" pitchFamily="18" charset="0"/>
                          <a:cs typeface="Arial" panose="020B0604020202020204" pitchFamily="34" charset="0"/>
                        </a:rPr>
                        <a:t>Earnings before tax</a:t>
                      </a:r>
                    </a:p>
                  </a:txBody>
                  <a:tcPr marL="68580" marR="68580" marT="0" marB="0" anchor="ctr">
                    <a:lnL>
                      <a:noFill/>
                    </a:lnL>
                    <a:lnR>
                      <a:noFill/>
                    </a:lnR>
                    <a:lnT>
                      <a:noFill/>
                    </a:lnT>
                    <a:lnB>
                      <a:noFill/>
                    </a:lnB>
                    <a:noFill/>
                  </a:tcPr>
                </a:tc>
                <a:tc>
                  <a:txBody>
                    <a:bodyPr/>
                    <a:lstStyle/>
                    <a:p>
                      <a:pPr algn="r"/>
                      <a:r>
                        <a:rPr lang="en-US" sz="2200" dirty="0">
                          <a:effectLst/>
                          <a:latin typeface="Arial" panose="020B0604020202020204" pitchFamily="34" charset="0"/>
                          <a:ea typeface="Times New Roman" panose="02020603050405020304" pitchFamily="18" charset="0"/>
                          <a:cs typeface="Arial" panose="020B0604020202020204" pitchFamily="34" charset="0"/>
                        </a:rPr>
                        <a:t>55 000</a:t>
                      </a:r>
                      <a:endParaRPr lang="en-ZA" sz="2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12301319"/>
                  </a:ext>
                </a:extLst>
              </a:tr>
              <a:tr h="362561">
                <a:tc>
                  <a:txBody>
                    <a:bodyPr/>
                    <a:lstStyle/>
                    <a:p>
                      <a:r>
                        <a:rPr lang="en-ZA" sz="2200">
                          <a:effectLst/>
                          <a:latin typeface="Arial" panose="020B0604020202020204" pitchFamily="34" charset="0"/>
                          <a:ea typeface="Times New Roman" panose="02020603050405020304" pitchFamily="18" charset="0"/>
                          <a:cs typeface="Arial" panose="020B0604020202020204" pitchFamily="34" charset="0"/>
                        </a:rPr>
                        <a:t>Taxes (27%)</a:t>
                      </a:r>
                    </a:p>
                  </a:txBody>
                  <a:tcPr marL="68580" marR="68580" marT="0" marB="0" anchor="ctr">
                    <a:lnL>
                      <a:noFill/>
                    </a:lnL>
                    <a:lnR>
                      <a:noFill/>
                    </a:lnR>
                    <a:lnT>
                      <a:noFill/>
                    </a:lnT>
                    <a:lnB>
                      <a:noFill/>
                    </a:lnB>
                    <a:noFill/>
                  </a:tcPr>
                </a:tc>
                <a:tc>
                  <a:txBody>
                    <a:bodyPr/>
                    <a:lstStyle/>
                    <a:p>
                      <a:pPr algn="r"/>
                      <a:r>
                        <a:rPr lang="en-US" sz="2200" dirty="0">
                          <a:effectLst/>
                          <a:latin typeface="Arial" panose="020B0604020202020204" pitchFamily="34" charset="0"/>
                          <a:ea typeface="Times New Roman" panose="02020603050405020304" pitchFamily="18" charset="0"/>
                          <a:cs typeface="Arial" panose="020B0604020202020204" pitchFamily="34" charset="0"/>
                        </a:rPr>
                        <a:t>14 850</a:t>
                      </a:r>
                      <a:endParaRPr lang="en-ZA" sz="2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7070215"/>
                  </a:ext>
                </a:extLst>
              </a:tr>
              <a:tr h="362561">
                <a:tc>
                  <a:txBody>
                    <a:bodyPr/>
                    <a:lstStyle/>
                    <a:p>
                      <a:r>
                        <a:rPr lang="en-ZA" sz="2200" b="1">
                          <a:effectLst/>
                          <a:latin typeface="Arial" panose="020B0604020202020204" pitchFamily="34" charset="0"/>
                          <a:ea typeface="Times New Roman" panose="02020603050405020304" pitchFamily="18" charset="0"/>
                          <a:cs typeface="Arial" panose="020B0604020202020204" pitchFamily="34" charset="0"/>
                        </a:rPr>
                        <a:t>EARNINGS AFTER TAX</a:t>
                      </a:r>
                      <a:endParaRPr lang="en-ZA" sz="2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a:noFill/>
                    </a:lnB>
                    <a:noFill/>
                  </a:tcPr>
                </a:tc>
                <a:tc>
                  <a:txBody>
                    <a:bodyPr/>
                    <a:lstStyle/>
                    <a:p>
                      <a:pPr algn="r"/>
                      <a:r>
                        <a:rPr lang="en-US" sz="2200" b="1" dirty="0">
                          <a:effectLst/>
                          <a:latin typeface="Arial" panose="020B0604020202020204" pitchFamily="34" charset="0"/>
                          <a:ea typeface="Times New Roman" panose="02020603050405020304" pitchFamily="18" charset="0"/>
                          <a:cs typeface="Arial" panose="020B0604020202020204" pitchFamily="34" charset="0"/>
                        </a:rPr>
                        <a:t>40 150</a:t>
                      </a:r>
                      <a:endParaRPr lang="en-ZA" sz="2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extLst>
                  <a:ext uri="{0D108BD9-81ED-4DB2-BD59-A6C34878D82A}">
                    <a16:rowId xmlns:a16="http://schemas.microsoft.com/office/drawing/2014/main" val="2599445961"/>
                  </a:ext>
                </a:extLst>
              </a:tr>
            </a:tbl>
          </a:graphicData>
        </a:graphic>
      </p:graphicFrame>
    </p:spTree>
    <p:custDataLst>
      <p:tags r:id="rId1"/>
    </p:custDataLst>
    <p:extLst>
      <p:ext uri="{BB962C8B-B14F-4D97-AF65-F5344CB8AC3E}">
        <p14:creationId xmlns:p14="http://schemas.microsoft.com/office/powerpoint/2010/main" val="2836939652"/>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 calcmode="lin" valueType="num">
                                      <p:cBhvr additive="base">
                                        <p:cTn id="41"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0E73B6-E85F-0879-C49F-7081A5914BC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A59AC7-7887-F15F-822C-6AEEA12DB875}"/>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20</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31C34075-35A9-00A6-C906-06114182D221}"/>
              </a:ext>
            </a:extLst>
          </p:cNvPr>
          <p:cNvGraphicFramePr>
            <a:graphicFrameLocks noGrp="1"/>
          </p:cNvGraphicFramePr>
          <p:nvPr>
            <p:extLst>
              <p:ext uri="{D42A27DB-BD31-4B8C-83A1-F6EECF244321}">
                <p14:modId xmlns:p14="http://schemas.microsoft.com/office/powerpoint/2010/main" val="1401038043"/>
              </p:ext>
            </p:extLst>
          </p:nvPr>
        </p:nvGraphicFramePr>
        <p:xfrm>
          <a:off x="67408" y="2805763"/>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231 000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   83 050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   55 000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   20 350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 158 400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 </a:t>
                      </a:r>
                      <a:r>
                        <a:rPr lang="en-US" sz="1600" b="1" dirty="0">
                          <a:effectLst/>
                          <a:latin typeface="Arial" panose="020B0604020202020204" pitchFamily="34" charset="0"/>
                          <a:ea typeface="Times New Roman" panose="02020603050405020304" pitchFamily="18" charset="0"/>
                          <a:cs typeface="Arial" panose="020B0604020202020204" pitchFamily="34" charset="0"/>
                        </a:rPr>
                        <a:t>389 400</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CA96A90C-8C05-C10E-7F18-BECAB4DC5EB1}"/>
              </a:ext>
            </a:extLst>
          </p:cNvPr>
          <p:cNvSpPr>
            <a:spLocks noChangeArrowheads="1"/>
          </p:cNvSpPr>
          <p:nvPr/>
        </p:nvSpPr>
        <p:spPr bwMode="auto">
          <a:xfrm>
            <a:off x="-5600" y="1733155"/>
            <a:ext cx="915519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1"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POSITION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OF DATA SONIC LTD AS AT 28 FEBRUARY 2027</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charset="-128"/>
            </a:endParaRPr>
          </a:p>
        </p:txBody>
      </p:sp>
      <p:graphicFrame>
        <p:nvGraphicFramePr>
          <p:cNvPr id="6" name="Table 5">
            <a:extLst>
              <a:ext uri="{FF2B5EF4-FFF2-40B4-BE49-F238E27FC236}">
                <a16:creationId xmlns:a16="http://schemas.microsoft.com/office/drawing/2014/main" id="{8AF8BF4A-8E53-0C39-09C5-11E41CD094EE}"/>
              </a:ext>
            </a:extLst>
          </p:cNvPr>
          <p:cNvGraphicFramePr>
            <a:graphicFrameLocks noGrp="1"/>
          </p:cNvGraphicFramePr>
          <p:nvPr>
            <p:extLst>
              <p:ext uri="{D42A27DB-BD31-4B8C-83A1-F6EECF244321}">
                <p14:modId xmlns:p14="http://schemas.microsoft.com/office/powerpoint/2010/main" val="2602653097"/>
              </p:ext>
            </p:extLst>
          </p:nvPr>
        </p:nvGraphicFramePr>
        <p:xfrm>
          <a:off x="4334608" y="2805763"/>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90 000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132 045</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222 045</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155700" algn="l"/>
                        </a:tabLst>
                      </a:pPr>
                      <a:r>
                        <a:rPr lang="en-US" sz="1600" dirty="0">
                          <a:effectLst/>
                          <a:latin typeface="Arial" panose="020B0604020202020204" pitchFamily="34" charset="0"/>
                          <a:ea typeface="Times New Roman" panose="02020603050405020304" pitchFamily="18" charset="0"/>
                          <a:cs typeface="Arial" panose="020B0604020202020204" pitchFamily="34" charset="0"/>
                        </a:rPr>
                        <a:t>100 000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7550" algn="l"/>
                        </a:tabLst>
                      </a:pPr>
                      <a:r>
                        <a:rPr lang="en-US" sz="1600" b="0" dirty="0">
                          <a:effectLst/>
                          <a:latin typeface="Arial" panose="020B0604020202020204" pitchFamily="34" charset="0"/>
                          <a:ea typeface="Times New Roman" panose="02020603050405020304" pitchFamily="18" charset="0"/>
                          <a:cs typeface="Arial" panose="020B0604020202020204" pitchFamily="34" charset="0"/>
                        </a:rPr>
                        <a:t>44 000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48 000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1200" algn="l"/>
                        </a:tabLst>
                      </a:pPr>
                      <a:r>
                        <a:rPr lang="en-US" sz="1600" b="1" dirty="0">
                          <a:effectLst/>
                          <a:latin typeface="Arial" panose="020B0604020202020204" pitchFamily="34" charset="0"/>
                          <a:ea typeface="Times New Roman" panose="02020603050405020304" pitchFamily="18" charset="0"/>
                          <a:cs typeface="Arial" panose="020B0604020202020204" pitchFamily="34" charset="0"/>
                        </a:rPr>
                        <a:t>370 045</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5" name="Oval 4">
            <a:extLst>
              <a:ext uri="{FF2B5EF4-FFF2-40B4-BE49-F238E27FC236}">
                <a16:creationId xmlns:a16="http://schemas.microsoft.com/office/drawing/2014/main" id="{B5631211-7A4E-B075-63A2-F9F364F2494E}"/>
              </a:ext>
            </a:extLst>
          </p:cNvPr>
          <p:cNvSpPr/>
          <p:nvPr/>
        </p:nvSpPr>
        <p:spPr bwMode="auto">
          <a:xfrm>
            <a:off x="76200" y="84034"/>
            <a:ext cx="2389550" cy="12192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FF0000"/>
                </a:solidFill>
                <a:effectLst/>
                <a:latin typeface="Arial" charset="0"/>
                <a:ea typeface="ＭＳ Ｐゴシック" pitchFamily="1" charset="-128"/>
              </a:rPr>
              <a:t>Change assets</a:t>
            </a:r>
            <a:endParaRPr kumimoji="0" lang="en-ZA" sz="2800" b="0" i="0" u="none" strike="noStrike" cap="none" normalizeH="0" baseline="0" dirty="0">
              <a:ln>
                <a:noFill/>
              </a:ln>
              <a:solidFill>
                <a:srgbClr val="FF0000"/>
              </a:solidFill>
              <a:effectLst/>
              <a:latin typeface="Arial" charset="0"/>
              <a:ea typeface="ＭＳ Ｐゴシック" pitchFamily="1" charset="-128"/>
            </a:endParaRPr>
          </a:p>
        </p:txBody>
      </p:sp>
      <p:sp>
        <p:nvSpPr>
          <p:cNvPr id="11" name="Oval 10">
            <a:extLst>
              <a:ext uri="{FF2B5EF4-FFF2-40B4-BE49-F238E27FC236}">
                <a16:creationId xmlns:a16="http://schemas.microsoft.com/office/drawing/2014/main" id="{9297280E-28A1-3BAF-78CC-05FCADE3508C}"/>
              </a:ext>
            </a:extLst>
          </p:cNvPr>
          <p:cNvSpPr/>
          <p:nvPr/>
        </p:nvSpPr>
        <p:spPr bwMode="auto">
          <a:xfrm>
            <a:off x="3733800" y="21353"/>
            <a:ext cx="2389550" cy="12192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FF0000"/>
                </a:solidFill>
                <a:effectLst/>
                <a:latin typeface="Arial" charset="0"/>
                <a:ea typeface="ＭＳ Ｐゴシック" pitchFamily="1" charset="-128"/>
              </a:rPr>
              <a:t>Change RE</a:t>
            </a:r>
            <a:endParaRPr kumimoji="0" lang="en-ZA" sz="2800" b="0" i="0" u="none" strike="noStrike" cap="none" normalizeH="0" baseline="0" dirty="0">
              <a:ln>
                <a:noFill/>
              </a:ln>
              <a:solidFill>
                <a:srgbClr val="FF0000"/>
              </a:solidFill>
              <a:effectLst/>
              <a:latin typeface="Arial" charset="0"/>
              <a:ea typeface="ＭＳ Ｐゴシック" pitchFamily="1" charset="-128"/>
            </a:endParaRPr>
          </a:p>
        </p:txBody>
      </p:sp>
      <p:sp>
        <p:nvSpPr>
          <p:cNvPr id="8" name="Oval 7">
            <a:extLst>
              <a:ext uri="{FF2B5EF4-FFF2-40B4-BE49-F238E27FC236}">
                <a16:creationId xmlns:a16="http://schemas.microsoft.com/office/drawing/2014/main" id="{BBF17364-2F6C-DCC5-81C0-D9C165280DD4}"/>
              </a:ext>
            </a:extLst>
          </p:cNvPr>
          <p:cNvSpPr/>
          <p:nvPr/>
        </p:nvSpPr>
        <p:spPr bwMode="auto">
          <a:xfrm>
            <a:off x="6019800" y="374759"/>
            <a:ext cx="3048000" cy="1358396"/>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600" b="0" i="0" u="none" strike="noStrike" cap="none" normalizeH="0" baseline="0" dirty="0">
                <a:ln>
                  <a:noFill/>
                </a:ln>
                <a:solidFill>
                  <a:srgbClr val="FF0000"/>
                </a:solidFill>
                <a:effectLst/>
                <a:latin typeface="Arial" charset="0"/>
                <a:ea typeface="ＭＳ Ｐゴシック" pitchFamily="1" charset="-128"/>
              </a:rPr>
              <a:t>Do rest of </a:t>
            </a:r>
            <a:r>
              <a:rPr kumimoji="0" lang="en-US" sz="2600" b="0" i="0" u="none" strike="noStrike" cap="none" normalizeH="0" baseline="0" dirty="0" err="1">
                <a:ln>
                  <a:noFill/>
                </a:ln>
                <a:solidFill>
                  <a:srgbClr val="FF0000"/>
                </a:solidFill>
                <a:effectLst/>
                <a:latin typeface="Arial" charset="0"/>
                <a:ea typeface="ＭＳ Ｐゴシック" pitchFamily="1" charset="-128"/>
              </a:rPr>
              <a:t>st</a:t>
            </a:r>
            <a:r>
              <a:rPr kumimoji="0" lang="en-US" sz="2600" b="0" i="0" u="none" strike="noStrike" cap="none" normalizeH="0" baseline="0" dirty="0">
                <a:ln>
                  <a:noFill/>
                </a:ln>
                <a:solidFill>
                  <a:srgbClr val="FF0000"/>
                </a:solidFill>
                <a:effectLst/>
                <a:latin typeface="Arial" charset="0"/>
                <a:ea typeface="ＭＳ Ｐゴシック" pitchFamily="1" charset="-128"/>
              </a:rPr>
              <a:t> of fin position</a:t>
            </a:r>
            <a:endParaRPr kumimoji="0" lang="en-ZA" sz="2600" b="0" i="0" u="none" strike="noStrike" cap="none" normalizeH="0" baseline="0" dirty="0">
              <a:ln>
                <a:noFill/>
              </a:ln>
              <a:solidFill>
                <a:srgbClr val="FF0000"/>
              </a:solidFill>
              <a:effectLst/>
              <a:latin typeface="Arial" charset="0"/>
              <a:ea typeface="ＭＳ Ｐゴシック" pitchFamily="1" charset="-128"/>
            </a:endParaRPr>
          </a:p>
        </p:txBody>
      </p:sp>
      <p:sp>
        <p:nvSpPr>
          <p:cNvPr id="14" name="Oval 13">
            <a:extLst>
              <a:ext uri="{FF2B5EF4-FFF2-40B4-BE49-F238E27FC236}">
                <a16:creationId xmlns:a16="http://schemas.microsoft.com/office/drawing/2014/main" id="{A73016F4-8177-7E3C-A374-DAD8B92194B7}"/>
              </a:ext>
            </a:extLst>
          </p:cNvPr>
          <p:cNvSpPr/>
          <p:nvPr/>
        </p:nvSpPr>
        <p:spPr bwMode="auto">
          <a:xfrm>
            <a:off x="838200" y="5630966"/>
            <a:ext cx="3005767" cy="11430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2500" dirty="0">
                <a:solidFill>
                  <a:srgbClr val="FF0000"/>
                </a:solidFill>
                <a:ea typeface="ＭＳ Ｐゴシック" pitchFamily="1" charset="-128"/>
              </a:rPr>
              <a:t>Compare sides for AFN</a:t>
            </a:r>
            <a:endParaRPr kumimoji="0" lang="en-ZA" sz="2500" b="0" i="0" u="none" strike="noStrike" cap="none" normalizeH="0" baseline="0" dirty="0">
              <a:ln>
                <a:noFill/>
              </a:ln>
              <a:solidFill>
                <a:srgbClr val="FF0000"/>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4249625940"/>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11" grpId="0" animBg="1"/>
      <p:bldP spid="8"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 (cont.)</a:t>
            </a:r>
          </a:p>
        </p:txBody>
      </p:sp>
      <p:sp>
        <p:nvSpPr>
          <p:cNvPr id="9221" name="Rectangle 5"/>
          <p:cNvSpPr>
            <a:spLocks noGrp="1" noChangeArrowheads="1"/>
          </p:cNvSpPr>
          <p:nvPr>
            <p:ph idx="1"/>
          </p:nvPr>
        </p:nvSpPr>
        <p:spPr>
          <a:xfrm>
            <a:off x="244288" y="685800"/>
            <a:ext cx="8655424" cy="5776546"/>
          </a:xfrm>
        </p:spPr>
        <p:txBody>
          <a:bodyPr/>
          <a:lstStyle/>
          <a:p>
            <a:pPr marL="0" indent="0">
              <a:lnSpc>
                <a:spcPct val="100000"/>
              </a:lnSpc>
              <a:spcBef>
                <a:spcPts val="0"/>
              </a:spcBef>
              <a:buSzPct val="100000"/>
              <a:buNone/>
            </a:pPr>
            <a:r>
              <a:rPr lang="en-US" dirty="0"/>
              <a:t>        	</a:t>
            </a:r>
            <a:r>
              <a:rPr lang="en-US" sz="2400" dirty="0"/>
              <a:t>Budgeted/Pro forma Retained profit (RE):</a:t>
            </a:r>
          </a:p>
          <a:p>
            <a:pPr marL="0" indent="0">
              <a:lnSpc>
                <a:spcPct val="100000"/>
              </a:lnSpc>
              <a:spcBef>
                <a:spcPts val="0"/>
              </a:spcBef>
              <a:buSzPct val="100000"/>
              <a:buNone/>
            </a:pPr>
            <a:r>
              <a:rPr lang="en-US" sz="2400" dirty="0"/>
              <a:t>	RE of 2026 + RE to occur in pro forma year of 2027</a:t>
            </a:r>
          </a:p>
          <a:p>
            <a:pPr marL="0" indent="0">
              <a:lnSpc>
                <a:spcPct val="100000"/>
              </a:lnSpc>
              <a:spcBef>
                <a:spcPts val="0"/>
              </a:spcBef>
              <a:buSzPct val="100000"/>
              <a:buNone/>
            </a:pPr>
            <a:r>
              <a:rPr lang="en-US" sz="2400" dirty="0"/>
              <a:t>	= 120 000 + (0.3 x 40 150)</a:t>
            </a:r>
          </a:p>
          <a:p>
            <a:pPr marL="0" indent="0">
              <a:lnSpc>
                <a:spcPct val="100000"/>
              </a:lnSpc>
              <a:spcBef>
                <a:spcPts val="0"/>
              </a:spcBef>
              <a:buSzPct val="100000"/>
              <a:buNone/>
            </a:pPr>
            <a:r>
              <a:rPr lang="en-US" sz="2400" dirty="0"/>
              <a:t>	= 120 000 + 12 045</a:t>
            </a:r>
          </a:p>
          <a:p>
            <a:pPr marL="0" indent="0">
              <a:lnSpc>
                <a:spcPct val="100000"/>
              </a:lnSpc>
              <a:spcBef>
                <a:spcPts val="0"/>
              </a:spcBef>
              <a:buSzPct val="100000"/>
              <a:buNone/>
            </a:pPr>
            <a:r>
              <a:rPr lang="en-US" sz="2400" dirty="0"/>
              <a:t>	= R132 045</a:t>
            </a:r>
          </a:p>
          <a:p>
            <a:pPr>
              <a:lnSpc>
                <a:spcPct val="105000"/>
              </a:lnSpc>
              <a:buSzPct val="100000"/>
              <a:buFont typeface="Arial" panose="020B0604020202020204" pitchFamily="34" charset="0"/>
              <a:buChar char="•"/>
            </a:pPr>
            <a:endParaRPr lang="en-US" sz="1050" dirty="0"/>
          </a:p>
          <a:p>
            <a:pPr>
              <a:lnSpc>
                <a:spcPct val="100000"/>
              </a:lnSpc>
              <a:spcBef>
                <a:spcPts val="0"/>
              </a:spcBef>
              <a:buSzPct val="100000"/>
              <a:buFont typeface="Arial" panose="020B0604020202020204" pitchFamily="34" charset="0"/>
              <a:buChar char="•"/>
            </a:pPr>
            <a:r>
              <a:rPr lang="en-US" dirty="0"/>
              <a:t>What is the firm’s Additional Funds Needed (AFN) for the next year (in this case 2027)? </a:t>
            </a:r>
          </a:p>
          <a:p>
            <a:pPr>
              <a:lnSpc>
                <a:spcPct val="100000"/>
              </a:lnSpc>
              <a:spcBef>
                <a:spcPts val="0"/>
              </a:spcBef>
              <a:buSzPct val="100000"/>
              <a:buFont typeface="Arial" panose="020B0604020202020204" pitchFamily="34" charset="0"/>
              <a:buChar char="•"/>
            </a:pPr>
            <a:r>
              <a:rPr lang="en-US" dirty="0"/>
              <a:t>Difference between the 2 sides of the </a:t>
            </a:r>
            <a:r>
              <a:rPr lang="en-US" dirty="0" err="1"/>
              <a:t>st</a:t>
            </a:r>
            <a:r>
              <a:rPr lang="en-US" dirty="0"/>
              <a:t> of fin position…It does (and should) NOT balance! </a:t>
            </a:r>
            <a:r>
              <a:rPr lang="en-US" dirty="0">
                <a:sym typeface="Wingdings" panose="05000000000000000000" pitchFamily="2" charset="2"/>
              </a:rPr>
              <a:t></a:t>
            </a:r>
          </a:p>
          <a:p>
            <a:pPr>
              <a:lnSpc>
                <a:spcPct val="100000"/>
              </a:lnSpc>
              <a:spcBef>
                <a:spcPts val="0"/>
              </a:spcBef>
              <a:buSzPct val="100000"/>
              <a:buFont typeface="Arial" panose="020B0604020202020204" pitchFamily="34" charset="0"/>
              <a:buChar char="•"/>
            </a:pPr>
            <a:r>
              <a:rPr lang="en-US" dirty="0">
                <a:sym typeface="Wingdings" panose="05000000000000000000" pitchFamily="2" charset="2"/>
              </a:rPr>
              <a:t>Next year’s TA (what firm </a:t>
            </a:r>
            <a:r>
              <a:rPr lang="en-US" dirty="0">
                <a:highlight>
                  <a:srgbClr val="FFFF00"/>
                </a:highlight>
                <a:sym typeface="Wingdings" panose="05000000000000000000" pitchFamily="2" charset="2"/>
              </a:rPr>
              <a:t>needs</a:t>
            </a:r>
            <a:r>
              <a:rPr lang="en-US" dirty="0">
                <a:sym typeface="Wingdings" panose="05000000000000000000" pitchFamily="2" charset="2"/>
              </a:rPr>
              <a:t>) vs next year’s TE&amp;L (what firm </a:t>
            </a:r>
            <a:r>
              <a:rPr lang="en-US" dirty="0">
                <a:highlight>
                  <a:srgbClr val="00FF00"/>
                </a:highlight>
                <a:sym typeface="Wingdings" panose="05000000000000000000" pitchFamily="2" charset="2"/>
              </a:rPr>
              <a:t>has</a:t>
            </a:r>
            <a:r>
              <a:rPr lang="en-US" dirty="0">
                <a:sym typeface="Wingdings" panose="05000000000000000000" pitchFamily="2" charset="2"/>
              </a:rPr>
              <a:t>) </a:t>
            </a:r>
            <a:endParaRPr lang="en-US" dirty="0"/>
          </a:p>
          <a:p>
            <a:pPr marL="0" indent="0">
              <a:lnSpc>
                <a:spcPct val="105000"/>
              </a:lnSpc>
              <a:buSzPct val="100000"/>
              <a:buNone/>
            </a:pPr>
            <a:endParaRPr lang="en-US" sz="2400" dirty="0"/>
          </a:p>
          <a:p>
            <a:pPr marL="0" indent="0">
              <a:lnSpc>
                <a:spcPct val="105000"/>
              </a:lnSpc>
              <a:buSzPct val="100000"/>
              <a:buNone/>
            </a:pPr>
            <a:endParaRPr lang="en-US" sz="24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21</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4" name="Picture 3">
            <a:extLst>
              <a:ext uri="{FF2B5EF4-FFF2-40B4-BE49-F238E27FC236}">
                <a16:creationId xmlns:a16="http://schemas.microsoft.com/office/drawing/2014/main" id="{D69CAC75-7FEF-731E-6B26-52573948A7BD}"/>
              </a:ext>
            </a:extLst>
          </p:cNvPr>
          <p:cNvPicPr>
            <a:picLocks noChangeAspect="1"/>
          </p:cNvPicPr>
          <p:nvPr/>
        </p:nvPicPr>
        <p:blipFill>
          <a:blip r:embed="rId4"/>
          <a:stretch>
            <a:fillRect/>
          </a:stretch>
        </p:blipFill>
        <p:spPr>
          <a:xfrm>
            <a:off x="533400" y="5538771"/>
            <a:ext cx="7848600" cy="1143765"/>
          </a:xfrm>
          <a:prstGeom prst="rect">
            <a:avLst/>
          </a:prstGeom>
        </p:spPr>
      </p:pic>
      <p:sp>
        <p:nvSpPr>
          <p:cNvPr id="7" name="Star: 5 Points 6">
            <a:extLst>
              <a:ext uri="{FF2B5EF4-FFF2-40B4-BE49-F238E27FC236}">
                <a16:creationId xmlns:a16="http://schemas.microsoft.com/office/drawing/2014/main" id="{B5084B55-A4AB-16DC-ABEE-CD15D7A468DB}"/>
              </a:ext>
            </a:extLst>
          </p:cNvPr>
          <p:cNvSpPr/>
          <p:nvPr/>
        </p:nvSpPr>
        <p:spPr bwMode="auto">
          <a:xfrm>
            <a:off x="533400" y="693516"/>
            <a:ext cx="533400" cy="667574"/>
          </a:xfrm>
          <a:prstGeom prst="star5">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1117719057"/>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6" end="6"/>
                                            </p:txEl>
                                          </p:spTgt>
                                        </p:tgtEl>
                                        <p:attrNameLst>
                                          <p:attrName>style.visibility</p:attrName>
                                        </p:attrNameLst>
                                      </p:cBhvr>
                                      <p:to>
                                        <p:strVal val="visible"/>
                                      </p:to>
                                    </p:set>
                                    <p:anim calcmode="lin" valueType="num">
                                      <p:cBhvr additive="base">
                                        <p:cTn id="7" dur="500" fill="hold"/>
                                        <p:tgtEl>
                                          <p:spTgt spid="9221">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xEl>
                                              <p:pRg st="7" end="7"/>
                                            </p:txEl>
                                          </p:spTgt>
                                        </p:tgtEl>
                                        <p:attrNameLst>
                                          <p:attrName>style.visibility</p:attrName>
                                        </p:attrNameLst>
                                      </p:cBhvr>
                                      <p:to>
                                        <p:strVal val="visible"/>
                                      </p:to>
                                    </p:set>
                                    <p:anim calcmode="lin" valueType="num">
                                      <p:cBhvr additive="base">
                                        <p:cTn id="11" dur="500" fill="hold"/>
                                        <p:tgtEl>
                                          <p:spTgt spid="9221">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1">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221">
                                            <p:txEl>
                                              <p:pRg st="8" end="8"/>
                                            </p:txEl>
                                          </p:spTgt>
                                        </p:tgtEl>
                                        <p:attrNameLst>
                                          <p:attrName>style.visibility</p:attrName>
                                        </p:attrNameLst>
                                      </p:cBhvr>
                                      <p:to>
                                        <p:strVal val="visible"/>
                                      </p:to>
                                    </p:set>
                                    <p:anim calcmode="lin" valueType="num">
                                      <p:cBhvr additive="base">
                                        <p:cTn id="15" dur="500" fill="hold"/>
                                        <p:tgtEl>
                                          <p:spTgt spid="9221">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2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 (cont.)</a:t>
            </a:r>
          </a:p>
        </p:txBody>
      </p:sp>
      <p:sp>
        <p:nvSpPr>
          <p:cNvPr id="9221" name="Rectangle 5"/>
          <p:cNvSpPr>
            <a:spLocks noGrp="1" noChangeArrowheads="1"/>
          </p:cNvSpPr>
          <p:nvPr>
            <p:ph idx="1"/>
          </p:nvPr>
        </p:nvSpPr>
        <p:spPr>
          <a:xfrm>
            <a:off x="244288" y="838200"/>
            <a:ext cx="8655424" cy="5624146"/>
          </a:xfrm>
        </p:spPr>
        <p:txBody>
          <a:bodyPr/>
          <a:lstStyle/>
          <a:p>
            <a:pPr>
              <a:lnSpc>
                <a:spcPct val="105000"/>
              </a:lnSpc>
              <a:buSzPct val="100000"/>
              <a:buFont typeface="Arial" panose="020B0604020202020204" pitchFamily="34" charset="0"/>
              <a:buChar char="•"/>
            </a:pPr>
            <a:r>
              <a:rPr lang="en-US" dirty="0"/>
              <a:t>What can the firm do to make the 2 sides balance…thus, to improve the financial planning for next year? </a:t>
            </a:r>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dirty="0"/>
          </a:p>
          <a:p>
            <a:pPr>
              <a:lnSpc>
                <a:spcPct val="105000"/>
              </a:lnSpc>
              <a:buSzPct val="100000"/>
              <a:buFont typeface="Arial" panose="020B0604020202020204" pitchFamily="34" charset="0"/>
              <a:buChar char="•"/>
            </a:pPr>
            <a:endParaRPr lang="en-US" sz="1800" dirty="0"/>
          </a:p>
          <a:p>
            <a:pPr>
              <a:lnSpc>
                <a:spcPct val="105000"/>
              </a:lnSpc>
              <a:buSzPct val="100000"/>
              <a:buFont typeface="Arial" panose="020B0604020202020204" pitchFamily="34" charset="0"/>
              <a:buChar char="•"/>
            </a:pPr>
            <a:r>
              <a:rPr lang="en-US" dirty="0"/>
              <a:t>Make sure you see it will (in this e.g.) increase the TE&amp;L side, because currently this firm’s TA &gt; TE&amp;L for next year; “need” &gt; “has”</a:t>
            </a:r>
          </a:p>
          <a:p>
            <a:pPr>
              <a:lnSpc>
                <a:spcPct val="105000"/>
              </a:lnSpc>
              <a:buSzPct val="100000"/>
              <a:buFont typeface="Arial" panose="020B0604020202020204" pitchFamily="34" charset="0"/>
              <a:buChar char="•"/>
            </a:pPr>
            <a:r>
              <a:rPr lang="en-US" dirty="0"/>
              <a:t>It can be the other way around…</a:t>
            </a:r>
          </a:p>
          <a:p>
            <a:pPr marL="0" indent="0">
              <a:lnSpc>
                <a:spcPct val="105000"/>
              </a:lnSpc>
              <a:buSzPct val="100000"/>
              <a:buNone/>
            </a:pPr>
            <a:endParaRPr lang="en-US" sz="2400" dirty="0"/>
          </a:p>
          <a:p>
            <a:pPr marL="0" indent="0">
              <a:lnSpc>
                <a:spcPct val="105000"/>
              </a:lnSpc>
              <a:buSzPct val="100000"/>
              <a:buNone/>
            </a:pPr>
            <a:endParaRPr lang="en-US" sz="24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22</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pic>
        <p:nvPicPr>
          <p:cNvPr id="5" name="Picture 4">
            <a:extLst>
              <a:ext uri="{FF2B5EF4-FFF2-40B4-BE49-F238E27FC236}">
                <a16:creationId xmlns:a16="http://schemas.microsoft.com/office/drawing/2014/main" id="{0A438C42-5415-5DB7-F68B-DF0C9994D550}"/>
              </a:ext>
            </a:extLst>
          </p:cNvPr>
          <p:cNvPicPr>
            <a:picLocks noChangeAspect="1"/>
          </p:cNvPicPr>
          <p:nvPr/>
        </p:nvPicPr>
        <p:blipFill>
          <a:blip r:embed="rId4"/>
          <a:stretch>
            <a:fillRect/>
          </a:stretch>
        </p:blipFill>
        <p:spPr>
          <a:xfrm>
            <a:off x="152400" y="2510602"/>
            <a:ext cx="8839200" cy="1316477"/>
          </a:xfrm>
          <a:prstGeom prst="rect">
            <a:avLst/>
          </a:prstGeom>
        </p:spPr>
      </p:pic>
    </p:spTree>
    <p:custDataLst>
      <p:tags r:id="rId1"/>
    </p:custDataLst>
    <p:extLst>
      <p:ext uri="{BB962C8B-B14F-4D97-AF65-F5344CB8AC3E}">
        <p14:creationId xmlns:p14="http://schemas.microsoft.com/office/powerpoint/2010/main" val="401232124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1">
                                            <p:txEl>
                                              <p:pRg st="5" end="5"/>
                                            </p:txEl>
                                          </p:spTgt>
                                        </p:tgtEl>
                                        <p:attrNameLst>
                                          <p:attrName>style.visibility</p:attrName>
                                        </p:attrNameLst>
                                      </p:cBhvr>
                                      <p:to>
                                        <p:strVal val="visible"/>
                                      </p:to>
                                    </p:set>
                                    <p:anim calcmode="lin" valueType="num">
                                      <p:cBhvr additive="base">
                                        <p:cTn id="13" dur="500" fill="hold"/>
                                        <p:tgtEl>
                                          <p:spTgt spid="9221">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1">
                                            <p:txEl>
                                              <p:pRg st="6" end="6"/>
                                            </p:txEl>
                                          </p:spTgt>
                                        </p:tgtEl>
                                        <p:attrNameLst>
                                          <p:attrName>style.visibility</p:attrName>
                                        </p:attrNameLst>
                                      </p:cBhvr>
                                      <p:to>
                                        <p:strVal val="visible"/>
                                      </p:to>
                                    </p:set>
                                    <p:anim calcmode="lin" valueType="num">
                                      <p:cBhvr additive="base">
                                        <p:cTn id="19" dur="500" fill="hold"/>
                                        <p:tgtEl>
                                          <p:spTgt spid="922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A few notes: LT financial planning… </a:t>
            </a:r>
          </a:p>
        </p:txBody>
      </p:sp>
      <p:sp>
        <p:nvSpPr>
          <p:cNvPr id="9221" name="Rectangle 5"/>
          <p:cNvSpPr>
            <a:spLocks noGrp="1" noChangeArrowheads="1"/>
          </p:cNvSpPr>
          <p:nvPr>
            <p:ph idx="1"/>
          </p:nvPr>
        </p:nvSpPr>
        <p:spPr>
          <a:xfrm>
            <a:off x="114300" y="668215"/>
            <a:ext cx="8915400" cy="5958254"/>
          </a:xfrm>
        </p:spPr>
        <p:txBody>
          <a:bodyPr/>
          <a:lstStyle/>
          <a:p>
            <a:pPr>
              <a:lnSpc>
                <a:spcPct val="105000"/>
              </a:lnSpc>
              <a:buSzPct val="100000"/>
              <a:buFont typeface="Arial" panose="020B0604020202020204" pitchFamily="34" charset="0"/>
              <a:buChar char="•"/>
            </a:pPr>
            <a:r>
              <a:rPr lang="en-US" sz="2200" dirty="0"/>
              <a:t>The change in sales can be an </a:t>
            </a:r>
            <a:r>
              <a:rPr lang="en-US" sz="2200" dirty="0">
                <a:highlight>
                  <a:srgbClr val="99CCFF"/>
                </a:highlight>
              </a:rPr>
              <a:t>increase or a decrease</a:t>
            </a:r>
            <a:r>
              <a:rPr lang="en-US" sz="2200" dirty="0"/>
              <a:t>; other accounts will then vary in the same direction</a:t>
            </a:r>
          </a:p>
          <a:p>
            <a:pPr>
              <a:lnSpc>
                <a:spcPct val="105000"/>
              </a:lnSpc>
              <a:buSzPct val="100000"/>
              <a:buFont typeface="Arial" panose="020B0604020202020204" pitchFamily="34" charset="0"/>
              <a:buChar char="•"/>
            </a:pPr>
            <a:r>
              <a:rPr lang="en-US" sz="2200" dirty="0"/>
              <a:t>Retained earnings = Retained profits</a:t>
            </a:r>
          </a:p>
          <a:p>
            <a:pPr>
              <a:lnSpc>
                <a:spcPct val="105000"/>
              </a:lnSpc>
              <a:buSzPct val="100000"/>
              <a:buFont typeface="Arial" panose="020B0604020202020204" pitchFamily="34" charset="0"/>
              <a:buChar char="•"/>
            </a:pPr>
            <a:r>
              <a:rPr lang="en-US" sz="2200" dirty="0"/>
              <a:t>The dividend vs RE ratio can be </a:t>
            </a:r>
            <a:r>
              <a:rPr lang="en-US" sz="2200" dirty="0">
                <a:highlight>
                  <a:srgbClr val="99CCFF"/>
                </a:highlight>
              </a:rPr>
              <a:t>given</a:t>
            </a:r>
            <a:r>
              <a:rPr lang="en-US" sz="2200" dirty="0"/>
              <a:t> in Rands or %</a:t>
            </a:r>
          </a:p>
          <a:p>
            <a:pPr>
              <a:lnSpc>
                <a:spcPct val="105000"/>
              </a:lnSpc>
              <a:buSzPct val="100000"/>
              <a:buFont typeface="Arial" panose="020B0604020202020204" pitchFamily="34" charset="0"/>
              <a:buChar char="•"/>
            </a:pPr>
            <a:r>
              <a:rPr lang="en-US" sz="2200" dirty="0"/>
              <a:t>You might need to </a:t>
            </a:r>
            <a:r>
              <a:rPr lang="en-US" sz="2200" dirty="0">
                <a:highlight>
                  <a:srgbClr val="99CCFF"/>
                </a:highlight>
              </a:rPr>
              <a:t>calculate</a:t>
            </a:r>
            <a:r>
              <a:rPr lang="en-US" sz="2200" dirty="0"/>
              <a:t> the dividend vs RE ratio from the previous/current year’s </a:t>
            </a:r>
            <a:r>
              <a:rPr lang="en-US" sz="2200" dirty="0" err="1"/>
              <a:t>st</a:t>
            </a:r>
            <a:r>
              <a:rPr lang="en-US" sz="2200" dirty="0"/>
              <a:t> of fin performance</a:t>
            </a:r>
          </a:p>
          <a:p>
            <a:pPr>
              <a:lnSpc>
                <a:spcPct val="105000"/>
              </a:lnSpc>
              <a:buSzPct val="100000"/>
              <a:buFont typeface="Arial" panose="020B0604020202020204" pitchFamily="34" charset="0"/>
              <a:buChar char="•"/>
            </a:pPr>
            <a:r>
              <a:rPr lang="en-US" sz="2200" dirty="0"/>
              <a:t>Dividend payout or RE are </a:t>
            </a:r>
            <a:r>
              <a:rPr lang="en-US" sz="2200" dirty="0">
                <a:highlight>
                  <a:srgbClr val="99CCFF"/>
                </a:highlight>
              </a:rPr>
              <a:t>the only 2 things </a:t>
            </a:r>
            <a:r>
              <a:rPr lang="en-US" sz="2200" dirty="0"/>
              <a:t>a firm can do with its Earnings after tax. If dividend payout = 40%, then RE/retention ratio = 60%; if dividend payout = 70%, then RE/retention ratio = 30%; etc. Thus, the 2 %s will equal 100%</a:t>
            </a:r>
          </a:p>
          <a:p>
            <a:pPr>
              <a:lnSpc>
                <a:spcPct val="105000"/>
              </a:lnSpc>
              <a:buSzPct val="100000"/>
              <a:buFont typeface="Arial" panose="020B0604020202020204" pitchFamily="34" charset="0"/>
              <a:buChar char="•"/>
            </a:pPr>
            <a:r>
              <a:rPr lang="en-US" sz="2200" dirty="0">
                <a:highlight>
                  <a:srgbClr val="99CCFF"/>
                </a:highlight>
              </a:rPr>
              <a:t>AFN can be + or – ; this determines the possible capital sources</a:t>
            </a:r>
            <a:r>
              <a:rPr lang="en-US" sz="2200" dirty="0"/>
              <a:t> (options to make the </a:t>
            </a:r>
            <a:r>
              <a:rPr lang="en-US" sz="2200" dirty="0" err="1"/>
              <a:t>st</a:t>
            </a:r>
            <a:r>
              <a:rPr lang="en-US" sz="2200" dirty="0"/>
              <a:t> of fin pos balance, as per a </a:t>
            </a:r>
            <a:r>
              <a:rPr lang="en-US" sz="2200" dirty="0" err="1"/>
              <a:t>prev</a:t>
            </a:r>
            <a:r>
              <a:rPr lang="en-US" sz="2200" dirty="0"/>
              <a:t> slide)</a:t>
            </a:r>
          </a:p>
          <a:p>
            <a:pPr>
              <a:lnSpc>
                <a:spcPct val="105000"/>
              </a:lnSpc>
              <a:buSzPct val="100000"/>
              <a:buFont typeface="Arial" panose="020B0604020202020204" pitchFamily="34" charset="0"/>
              <a:buChar char="•"/>
            </a:pPr>
            <a:r>
              <a:rPr lang="en-US" sz="2200" dirty="0"/>
              <a:t>Can also ask </a:t>
            </a:r>
            <a:r>
              <a:rPr lang="en-US" sz="2200" dirty="0">
                <a:highlight>
                  <a:srgbClr val="99CCFF"/>
                </a:highlight>
              </a:rPr>
              <a:t>related questions</a:t>
            </a:r>
            <a:r>
              <a:rPr lang="en-US" sz="2200" dirty="0"/>
              <a:t>, e.g. what will next year’s dividend amount be?</a:t>
            </a:r>
          </a:p>
          <a:p>
            <a:pPr>
              <a:lnSpc>
                <a:spcPct val="105000"/>
              </a:lnSpc>
              <a:buSzPct val="100000"/>
              <a:buFont typeface="Arial" panose="020B0604020202020204" pitchFamily="34" charset="0"/>
              <a:buChar char="•"/>
            </a:pPr>
            <a:r>
              <a:rPr lang="en-US" sz="2200" dirty="0"/>
              <a:t>In reality a few rotations are done (we will only ask it once)</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6A89F504-FA63-35CA-557F-188EB1CE0635}"/>
              </a:ext>
            </a:extLst>
          </p:cNvPr>
          <p:cNvSpPr/>
          <p:nvPr/>
        </p:nvSpPr>
        <p:spPr bwMode="auto">
          <a:xfrm>
            <a:off x="6934200" y="990600"/>
            <a:ext cx="2209800" cy="1371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450" dirty="0">
                <a:solidFill>
                  <a:srgbClr val="FF0000"/>
                </a:solidFill>
                <a:ea typeface="ＭＳ Ｐゴシック" pitchFamily="1" charset="-128"/>
              </a:rPr>
              <a:t>E.g. If estimate 10% decrease next year: then new sales would be R126 000</a:t>
            </a:r>
            <a:endParaRPr kumimoji="0" lang="en-ZA" sz="1450" b="0" i="0" u="none" strike="noStrike" cap="none" normalizeH="0" baseline="0" dirty="0">
              <a:ln>
                <a:noFill/>
              </a:ln>
              <a:solidFill>
                <a:srgbClr val="FF0000"/>
              </a:solidFill>
              <a:effectLst/>
              <a:ea typeface="ＭＳ Ｐゴシック" pitchFamily="1" charset="-128"/>
            </a:endParaRPr>
          </a:p>
        </p:txBody>
      </p:sp>
    </p:spTree>
    <p:custDataLst>
      <p:tags r:id="rId1"/>
    </p:custDataLst>
    <p:extLst>
      <p:ext uri="{BB962C8B-B14F-4D97-AF65-F5344CB8AC3E}">
        <p14:creationId xmlns:p14="http://schemas.microsoft.com/office/powerpoint/2010/main" val="835376599"/>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B449D7-B6C4-DABF-A459-D6A5CA7AC80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98C2A48-0113-33FF-A97F-C7A48AAC8576}"/>
              </a:ext>
            </a:extLst>
          </p:cNvPr>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 (cont.)</a:t>
            </a:r>
          </a:p>
        </p:txBody>
      </p:sp>
      <p:sp>
        <p:nvSpPr>
          <p:cNvPr id="9221" name="Rectangle 5">
            <a:extLst>
              <a:ext uri="{FF2B5EF4-FFF2-40B4-BE49-F238E27FC236}">
                <a16:creationId xmlns:a16="http://schemas.microsoft.com/office/drawing/2014/main" id="{9A4E1AC0-2104-C966-B482-9386757FE8F5}"/>
              </a:ext>
            </a:extLst>
          </p:cNvPr>
          <p:cNvSpPr>
            <a:spLocks noGrp="1" noChangeArrowheads="1"/>
          </p:cNvSpPr>
          <p:nvPr>
            <p:ph idx="1"/>
          </p:nvPr>
        </p:nvSpPr>
        <p:spPr>
          <a:xfrm>
            <a:off x="244288" y="685800"/>
            <a:ext cx="8655424" cy="5791200"/>
          </a:xfrm>
        </p:spPr>
        <p:txBody>
          <a:bodyPr/>
          <a:lstStyle/>
          <a:p>
            <a:pPr marL="342900" marR="0" lvl="0" indent="-342900" algn="l" defTabSz="914400" rtl="0" eaLnBrk="0" fontAlgn="base" latinLnBrk="0" hangingPunct="0">
              <a:lnSpc>
                <a:spcPct val="105000"/>
              </a:lnSpc>
              <a:spcBef>
                <a:spcPct val="20000"/>
              </a:spcBef>
              <a:spcAft>
                <a:spcPct val="0"/>
              </a:spcAft>
              <a:buClr>
                <a:srgbClr val="1F497D"/>
              </a:buClr>
              <a:buSzPct val="100000"/>
              <a:buFont typeface="Arial" panose="020B0604020202020204" pitchFamily="34" charset="0"/>
              <a:buChar char="•"/>
              <a:tabLst/>
              <a:defRPr/>
            </a:pPr>
            <a:r>
              <a:rPr kumimoji="0" lang="en-US" sz="2400" b="0" i="0" u="none" strike="noStrike" kern="0" cap="none" spc="0" normalizeH="0" baseline="0" noProof="0" dirty="0">
                <a:ln>
                  <a:noFill/>
                </a:ln>
                <a:solidFill>
                  <a:prstClr val="black"/>
                </a:solidFill>
                <a:effectLst/>
                <a:uLnTx/>
                <a:uFillTx/>
                <a:latin typeface="Tahoma"/>
                <a:ea typeface="ＭＳ Ｐゴシック"/>
              </a:rPr>
              <a:t>It’s a </a:t>
            </a:r>
            <a:r>
              <a:rPr kumimoji="0" lang="en-US" sz="2400" b="0" i="0" u="sng" strike="noStrike" kern="0" cap="none" spc="0" normalizeH="0" baseline="0" noProof="0" dirty="0">
                <a:ln>
                  <a:noFill/>
                </a:ln>
                <a:solidFill>
                  <a:prstClr val="black"/>
                </a:solidFill>
                <a:effectLst/>
                <a:uLnTx/>
                <a:uFillTx/>
                <a:latin typeface="Tahoma"/>
                <a:ea typeface="ＭＳ Ｐゴシック"/>
              </a:rPr>
              <a:t>different story</a:t>
            </a:r>
            <a:r>
              <a:rPr kumimoji="0" lang="en-US" sz="2400" b="0" i="0" u="none" strike="noStrike" kern="0" cap="none" spc="0" normalizeH="0" baseline="0" noProof="0" dirty="0">
                <a:ln>
                  <a:noFill/>
                </a:ln>
                <a:solidFill>
                  <a:prstClr val="black"/>
                </a:solidFill>
                <a:effectLst/>
                <a:uLnTx/>
                <a:uFillTx/>
                <a:latin typeface="Tahoma"/>
                <a:ea typeface="ＭＳ Ｐゴシック"/>
              </a:rPr>
              <a:t> (slightly) if the firm is NOT operating at full capacity (so not making “good”/enough use of its available assets) OR if the firm wants to keep its debt/equity ratio constant…</a:t>
            </a:r>
          </a:p>
          <a:p>
            <a:pPr marL="342900" marR="0" lvl="0" indent="-342900" algn="l" defTabSz="914400" rtl="0" eaLnBrk="0" fontAlgn="base" latinLnBrk="0" hangingPunct="0">
              <a:lnSpc>
                <a:spcPct val="105000"/>
              </a:lnSpc>
              <a:spcBef>
                <a:spcPct val="20000"/>
              </a:spcBef>
              <a:spcAft>
                <a:spcPct val="0"/>
              </a:spcAft>
              <a:buClr>
                <a:srgbClr val="1F497D"/>
              </a:buClr>
              <a:buSzPct val="100000"/>
              <a:buFont typeface="Arial" panose="020B0604020202020204" pitchFamily="34" charset="0"/>
              <a:buChar char="•"/>
              <a:tabLst/>
              <a:defRPr/>
            </a:pPr>
            <a:endParaRPr kumimoji="0" lang="en-US" sz="7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5000"/>
              </a:lnSpc>
              <a:spcBef>
                <a:spcPct val="20000"/>
              </a:spcBef>
              <a:spcAft>
                <a:spcPct val="0"/>
              </a:spcAft>
              <a:buClr>
                <a:srgbClr val="1F497D"/>
              </a:buClr>
              <a:buSzPct val="100000"/>
              <a:buFont typeface="Wingdings" charset="2"/>
              <a:buNone/>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Here are the 2026 financial statements Spring-Clean Ltd. </a:t>
            </a:r>
            <a:r>
              <a:rPr kumimoji="0" lang="en-US" sz="2400" b="0" i="0" u="none" strike="noStrike" kern="0" cap="none" spc="0" normalizeH="0" baseline="0" noProof="0" dirty="0">
                <a:ln>
                  <a:noFill/>
                </a:ln>
                <a:solidFill>
                  <a:prstClr val="black"/>
                </a:solidFill>
                <a:effectLst/>
                <a:uLnTx/>
                <a:uFillTx/>
                <a:latin typeface="Tahoma"/>
                <a:ea typeface="ＭＳ Ｐゴシック"/>
              </a:rPr>
              <a:t> </a:t>
            </a:r>
          </a:p>
        </p:txBody>
      </p:sp>
      <p:sp>
        <p:nvSpPr>
          <p:cNvPr id="3" name="Slide Number Placeholder 2">
            <a:extLst>
              <a:ext uri="{FF2B5EF4-FFF2-40B4-BE49-F238E27FC236}">
                <a16:creationId xmlns:a16="http://schemas.microsoft.com/office/drawing/2014/main" id="{19F9242D-6842-F21B-EB48-642F4EED1B3F}"/>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5" name="Table 4">
            <a:extLst>
              <a:ext uri="{FF2B5EF4-FFF2-40B4-BE49-F238E27FC236}">
                <a16:creationId xmlns:a16="http://schemas.microsoft.com/office/drawing/2014/main" id="{1470C3B5-59BA-0BD2-5D78-4904C04A6E9F}"/>
              </a:ext>
            </a:extLst>
          </p:cNvPr>
          <p:cNvGraphicFramePr>
            <a:graphicFrameLocks noGrp="1"/>
          </p:cNvGraphicFramePr>
          <p:nvPr>
            <p:extLst>
              <p:ext uri="{D42A27DB-BD31-4B8C-83A1-F6EECF244321}">
                <p14:modId xmlns:p14="http://schemas.microsoft.com/office/powerpoint/2010/main" val="3812847747"/>
              </p:ext>
            </p:extLst>
          </p:nvPr>
        </p:nvGraphicFramePr>
        <p:xfrm>
          <a:off x="1905000" y="4344536"/>
          <a:ext cx="5749392" cy="2354968"/>
        </p:xfrm>
        <a:graphic>
          <a:graphicData uri="http://schemas.openxmlformats.org/drawingml/2006/table">
            <a:tbl>
              <a:tblPr firstRow="1" firstCol="1" bandRow="1"/>
              <a:tblGrid>
                <a:gridCol w="3609758">
                  <a:extLst>
                    <a:ext uri="{9D8B030D-6E8A-4147-A177-3AD203B41FA5}">
                      <a16:colId xmlns:a16="http://schemas.microsoft.com/office/drawing/2014/main" val="1351493122"/>
                    </a:ext>
                  </a:extLst>
                </a:gridCol>
                <a:gridCol w="2139634">
                  <a:extLst>
                    <a:ext uri="{9D8B030D-6E8A-4147-A177-3AD203B41FA5}">
                      <a16:colId xmlns:a16="http://schemas.microsoft.com/office/drawing/2014/main" val="1172841656"/>
                    </a:ext>
                  </a:extLst>
                </a:gridCol>
              </a:tblGrid>
              <a:tr h="479440">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Sales </a:t>
                      </a:r>
                    </a:p>
                  </a:txBody>
                  <a:tcPr marL="68580" marR="68580" marT="0" marB="0" anchor="ctr">
                    <a:lnL>
                      <a:noFill/>
                    </a:lnL>
                    <a:lnR>
                      <a:noFill/>
                    </a:lnR>
                    <a:lnT>
                      <a:noFill/>
                    </a:lnT>
                    <a:lnB>
                      <a:noFill/>
                    </a:lnB>
                    <a:noFill/>
                  </a:tcPr>
                </a:tc>
                <a:tc>
                  <a:txBody>
                    <a:bodyPr/>
                    <a:lstStyle/>
                    <a:p>
                      <a:pPr algn="r"/>
                      <a:r>
                        <a:rPr lang="en-US" sz="2400" dirty="0">
                          <a:effectLst/>
                          <a:latin typeface="Arial" panose="020B0604020202020204" pitchFamily="34" charset="0"/>
                          <a:ea typeface="Times New Roman" panose="02020603050405020304" pitchFamily="18" charset="0"/>
                          <a:cs typeface="Arial" panose="020B0604020202020204" pitchFamily="34" charset="0"/>
                        </a:rPr>
                        <a:t>130 000</a:t>
                      </a: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2120621"/>
                  </a:ext>
                </a:extLst>
              </a:tr>
              <a:tr h="468882">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Costs of goods sold</a:t>
                      </a:r>
                    </a:p>
                  </a:txBody>
                  <a:tcPr marL="68580" marR="68580" marT="0" marB="0" anchor="ctr">
                    <a:lnL>
                      <a:noFill/>
                    </a:lnL>
                    <a:lnR>
                      <a:noFill/>
                    </a:lnR>
                    <a:lnT>
                      <a:noFill/>
                    </a:lnT>
                    <a:lnB>
                      <a:noFill/>
                    </a:lnB>
                    <a:noFill/>
                  </a:tcPr>
                </a:tc>
                <a:tc>
                  <a:txBody>
                    <a:bodyPr/>
                    <a:lstStyle/>
                    <a:p>
                      <a:pPr algn="r"/>
                      <a:r>
                        <a:rPr lang="en-US" sz="2400" dirty="0">
                          <a:effectLst/>
                          <a:latin typeface="Arial" panose="020B0604020202020204" pitchFamily="34" charset="0"/>
                          <a:ea typeface="Times New Roman" panose="02020603050405020304" pitchFamily="18" charset="0"/>
                          <a:cs typeface="Arial" panose="020B0604020202020204" pitchFamily="34" charset="0"/>
                        </a:rPr>
                        <a:t>85 000</a:t>
                      </a: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001374"/>
                  </a:ext>
                </a:extLst>
              </a:tr>
              <a:tr h="468882">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Earnings before tax</a:t>
                      </a:r>
                    </a:p>
                  </a:txBody>
                  <a:tcPr marL="68580" marR="68580" marT="0" marB="0" anchor="ctr">
                    <a:lnL>
                      <a:noFill/>
                    </a:lnL>
                    <a:lnR>
                      <a:noFill/>
                    </a:lnR>
                    <a:lnT>
                      <a:noFill/>
                    </a:lnT>
                    <a:lnB>
                      <a:noFill/>
                    </a:lnB>
                    <a:noFill/>
                  </a:tcPr>
                </a:tc>
                <a:tc>
                  <a:txBody>
                    <a:bodyPr/>
                    <a:lstStyle/>
                    <a:p>
                      <a:pPr algn="r"/>
                      <a:r>
                        <a:rPr lang="en-US" sz="2400" dirty="0">
                          <a:effectLst/>
                          <a:latin typeface="Arial" panose="020B0604020202020204" pitchFamily="34" charset="0"/>
                          <a:ea typeface="Times New Roman" panose="02020603050405020304" pitchFamily="18" charset="0"/>
                          <a:cs typeface="Arial" panose="020B0604020202020204" pitchFamily="34" charset="0"/>
                        </a:rPr>
                        <a:t>45 000</a:t>
                      </a: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12301319"/>
                  </a:ext>
                </a:extLst>
              </a:tr>
              <a:tr h="468882">
                <a:tc>
                  <a:txBody>
                    <a:bodyPr/>
                    <a:lstStyle/>
                    <a:p>
                      <a:r>
                        <a:rPr lang="en-ZA" sz="2400">
                          <a:effectLst/>
                          <a:latin typeface="Arial" panose="020B0604020202020204" pitchFamily="34" charset="0"/>
                          <a:ea typeface="Times New Roman" panose="02020603050405020304" pitchFamily="18" charset="0"/>
                          <a:cs typeface="Arial" panose="020B0604020202020204" pitchFamily="34" charset="0"/>
                        </a:rPr>
                        <a:t>Taxes (27%)</a:t>
                      </a:r>
                    </a:p>
                  </a:txBody>
                  <a:tcPr marL="68580" marR="68580" marT="0" marB="0" anchor="ctr">
                    <a:lnL>
                      <a:noFill/>
                    </a:lnL>
                    <a:lnR>
                      <a:noFill/>
                    </a:lnR>
                    <a:lnT>
                      <a:noFill/>
                    </a:lnT>
                    <a:lnB>
                      <a:noFill/>
                    </a:lnB>
                    <a:noFill/>
                  </a:tcPr>
                </a:tc>
                <a:tc>
                  <a:txBody>
                    <a:bodyPr/>
                    <a:lstStyle/>
                    <a:p>
                      <a:pPr algn="r"/>
                      <a:r>
                        <a:rPr lang="en-US" sz="2400" dirty="0">
                          <a:effectLst/>
                          <a:latin typeface="Arial" panose="020B0604020202020204" pitchFamily="34" charset="0"/>
                          <a:ea typeface="Times New Roman" panose="02020603050405020304" pitchFamily="18" charset="0"/>
                          <a:cs typeface="Arial" panose="020B0604020202020204" pitchFamily="34" charset="0"/>
                        </a:rPr>
                        <a:t>12 150</a:t>
                      </a: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7070215"/>
                  </a:ext>
                </a:extLst>
              </a:tr>
              <a:tr h="468882">
                <a:tc>
                  <a:txBody>
                    <a:bodyPr/>
                    <a:lstStyle/>
                    <a:p>
                      <a:r>
                        <a:rPr lang="en-ZA" sz="2400" b="1">
                          <a:effectLst/>
                          <a:latin typeface="Arial" panose="020B0604020202020204" pitchFamily="34" charset="0"/>
                          <a:ea typeface="Times New Roman" panose="02020603050405020304" pitchFamily="18" charset="0"/>
                          <a:cs typeface="Arial" panose="020B0604020202020204" pitchFamily="34" charset="0"/>
                        </a:rPr>
                        <a:t>EARNINGS AFTER TAX</a:t>
                      </a:r>
                      <a:endParaRPr lang="en-ZA"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a:noFill/>
                    </a:lnB>
                    <a:noFill/>
                  </a:tcPr>
                </a:tc>
                <a:tc>
                  <a:txBody>
                    <a:bodyPr/>
                    <a:lstStyle/>
                    <a:p>
                      <a:pPr algn="r"/>
                      <a:r>
                        <a:rPr lang="en-US" sz="2400" b="1" dirty="0">
                          <a:effectLst/>
                          <a:latin typeface="Arial" panose="020B0604020202020204" pitchFamily="34" charset="0"/>
                          <a:ea typeface="Times New Roman" panose="02020603050405020304" pitchFamily="18" charset="0"/>
                          <a:cs typeface="Arial" panose="020B0604020202020204" pitchFamily="34" charset="0"/>
                        </a:rPr>
                        <a:t>32 850</a:t>
                      </a:r>
                      <a:endParaRPr lang="en-ZA" sz="2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extLst>
                  <a:ext uri="{0D108BD9-81ED-4DB2-BD59-A6C34878D82A}">
                    <a16:rowId xmlns:a16="http://schemas.microsoft.com/office/drawing/2014/main" val="2599445961"/>
                  </a:ext>
                </a:extLst>
              </a:tr>
            </a:tbl>
          </a:graphicData>
        </a:graphic>
      </p:graphicFrame>
      <p:sp>
        <p:nvSpPr>
          <p:cNvPr id="7" name="Rectangle 2">
            <a:extLst>
              <a:ext uri="{FF2B5EF4-FFF2-40B4-BE49-F238E27FC236}">
                <a16:creationId xmlns:a16="http://schemas.microsoft.com/office/drawing/2014/main" id="{41F0B84B-B32A-21D5-2C3B-03C4B2E4EF3B}"/>
              </a:ext>
            </a:extLst>
          </p:cNvPr>
          <p:cNvSpPr>
            <a:spLocks noChangeArrowheads="1"/>
          </p:cNvSpPr>
          <p:nvPr/>
        </p:nvSpPr>
        <p:spPr bwMode="auto">
          <a:xfrm>
            <a:off x="192024" y="3203275"/>
            <a:ext cx="8839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PERFORMANCE OF SPRING-CLEAN LTD FOR THE YEAR ENDED 28 FEBRUARY 2026 </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630427062"/>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A09219D-E915-059B-568F-B508DE33C1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7C6408-AF22-8554-4A0E-EA61E84B6982}"/>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C229DE5D-B749-C8CD-A58A-94B20F27A150}"/>
              </a:ext>
            </a:extLst>
          </p:cNvPr>
          <p:cNvGraphicFramePr>
            <a:graphicFrameLocks noGrp="1"/>
          </p:cNvGraphicFramePr>
          <p:nvPr>
            <p:extLst>
              <p:ext uri="{D42A27DB-BD31-4B8C-83A1-F6EECF244321}">
                <p14:modId xmlns:p14="http://schemas.microsoft.com/office/powerpoint/2010/main" val="2766661466"/>
              </p:ext>
            </p:extLst>
          </p:nvPr>
        </p:nvGraphicFramePr>
        <p:xfrm>
          <a:off x="76200" y="1907500"/>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170 000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60 000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35 000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12 500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107 500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149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1" dirty="0">
                          <a:effectLst/>
                          <a:latin typeface="Arial" panose="020B0604020202020204" pitchFamily="34" charset="0"/>
                          <a:ea typeface="Times New Roman" panose="02020603050405020304" pitchFamily="18" charset="0"/>
                          <a:cs typeface="Arial" panose="020B0604020202020204" pitchFamily="34" charset="0"/>
                        </a:rPr>
                        <a:t>277 500</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8D2AD6CA-7347-31BE-4723-4F75DE9481AF}"/>
              </a:ext>
            </a:extLst>
          </p:cNvPr>
          <p:cNvSpPr>
            <a:spLocks noChangeArrowheads="1"/>
          </p:cNvSpPr>
          <p:nvPr/>
        </p:nvSpPr>
        <p:spPr bwMode="auto">
          <a:xfrm>
            <a:off x="1061168" y="767716"/>
            <a:ext cx="702166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POSITION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OF SPRING-CLEAN AS AT 28 FEBRUARY 2026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charset="-128"/>
            </a:endParaRPr>
          </a:p>
        </p:txBody>
      </p:sp>
      <p:graphicFrame>
        <p:nvGraphicFramePr>
          <p:cNvPr id="6" name="Table 5">
            <a:extLst>
              <a:ext uri="{FF2B5EF4-FFF2-40B4-BE49-F238E27FC236}">
                <a16:creationId xmlns:a16="http://schemas.microsoft.com/office/drawing/2014/main" id="{566574A4-7291-75B1-7FCE-5AE47C73CBE9}"/>
              </a:ext>
            </a:extLst>
          </p:cNvPr>
          <p:cNvGraphicFramePr>
            <a:graphicFrameLocks noGrp="1"/>
          </p:cNvGraphicFramePr>
          <p:nvPr>
            <p:extLst>
              <p:ext uri="{D42A27DB-BD31-4B8C-83A1-F6EECF244321}">
                <p14:modId xmlns:p14="http://schemas.microsoft.com/office/powerpoint/2010/main" val="1457731614"/>
              </p:ext>
            </p:extLst>
          </p:nvPr>
        </p:nvGraphicFramePr>
        <p:xfrm>
          <a:off x="4438649" y="1907500"/>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152 000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30 000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182 000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155700" algn="l"/>
                        </a:tabLst>
                      </a:pPr>
                      <a:r>
                        <a:rPr lang="en-US" sz="1600" dirty="0">
                          <a:effectLst/>
                          <a:latin typeface="Arial" panose="020B0604020202020204" pitchFamily="34" charset="0"/>
                          <a:ea typeface="Times New Roman" panose="02020603050405020304" pitchFamily="18" charset="0"/>
                          <a:cs typeface="Arial" panose="020B0604020202020204" pitchFamily="34" charset="0"/>
                        </a:rPr>
                        <a:t>50 000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5 500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7550" algn="l"/>
                        </a:tabLst>
                      </a:pPr>
                      <a:r>
                        <a:rPr lang="en-US" sz="1600" b="0" dirty="0">
                          <a:effectLst/>
                          <a:latin typeface="Arial" panose="020B0604020202020204" pitchFamily="34" charset="0"/>
                          <a:ea typeface="Times New Roman" panose="02020603050405020304" pitchFamily="18" charset="0"/>
                          <a:cs typeface="Arial" panose="020B0604020202020204" pitchFamily="34" charset="0"/>
                        </a:rPr>
                        <a:t>40 000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45 500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1200" algn="l"/>
                        </a:tabLst>
                      </a:pPr>
                      <a:r>
                        <a:rPr lang="en-US" sz="1600" b="1" dirty="0">
                          <a:effectLst/>
                          <a:latin typeface="Arial" panose="020B0604020202020204" pitchFamily="34" charset="0"/>
                          <a:ea typeface="Times New Roman" panose="02020603050405020304" pitchFamily="18" charset="0"/>
                          <a:cs typeface="Arial" panose="020B0604020202020204" pitchFamily="34" charset="0"/>
                        </a:rPr>
                        <a:t>277 500</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12" name="TextBox 11">
            <a:extLst>
              <a:ext uri="{FF2B5EF4-FFF2-40B4-BE49-F238E27FC236}">
                <a16:creationId xmlns:a16="http://schemas.microsoft.com/office/drawing/2014/main" id="{915B4CE5-93F4-0E09-6498-46C29452F198}"/>
              </a:ext>
            </a:extLst>
          </p:cNvPr>
          <p:cNvSpPr txBox="1"/>
          <p:nvPr/>
        </p:nvSpPr>
        <p:spPr>
          <a:xfrm>
            <a:off x="76200" y="101619"/>
            <a:ext cx="873076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Example: LT financial planning…(cont.)</a:t>
            </a:r>
            <a:endParaRPr kumimoji="0" lang="en-ZA" sz="28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133956011"/>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Other cases: LT financial planning…(cont.) </a:t>
            </a:r>
          </a:p>
        </p:txBody>
      </p:sp>
      <p:sp>
        <p:nvSpPr>
          <p:cNvPr id="9221" name="Rectangle 5"/>
          <p:cNvSpPr>
            <a:spLocks noGrp="1" noChangeArrowheads="1"/>
          </p:cNvSpPr>
          <p:nvPr>
            <p:ph idx="1"/>
          </p:nvPr>
        </p:nvSpPr>
        <p:spPr>
          <a:xfrm>
            <a:off x="152400" y="685800"/>
            <a:ext cx="8915400" cy="6019800"/>
          </a:xfrm>
        </p:spPr>
        <p:txBody>
          <a:bodyPr/>
          <a:lstStyle/>
          <a:p>
            <a:pPr>
              <a:lnSpc>
                <a:spcPct val="105000"/>
              </a:lnSpc>
              <a:buSzPct val="100000"/>
              <a:buFont typeface="Arial" panose="020B0604020202020204" pitchFamily="34" charset="0"/>
              <a:buChar char="•"/>
            </a:pPr>
            <a:r>
              <a:rPr lang="en-US" sz="2400" dirty="0"/>
              <a:t>IN YOUR OWN TIME: </a:t>
            </a:r>
            <a:r>
              <a:rPr lang="en-US" sz="2400" u="sng" dirty="0"/>
              <a:t>See if you can perform a percentage of sales method</a:t>
            </a:r>
            <a:r>
              <a:rPr lang="en-US" sz="2400" dirty="0"/>
              <a:t>…</a:t>
            </a:r>
          </a:p>
          <a:p>
            <a:pPr>
              <a:lnSpc>
                <a:spcPct val="105000"/>
              </a:lnSpc>
              <a:buSzPct val="100000"/>
              <a:buFont typeface="Arial" panose="020B0604020202020204" pitchFamily="34" charset="0"/>
              <a:buChar char="•"/>
            </a:pPr>
            <a:endParaRPr lang="en-US" sz="2400" dirty="0"/>
          </a:p>
          <a:p>
            <a:pPr marL="0" indent="0" algn="just">
              <a:lnSpc>
                <a:spcPct val="100000"/>
              </a:lnSpc>
              <a:spcBef>
                <a:spcPts val="0"/>
              </a:spcBef>
              <a:buNone/>
            </a:pPr>
            <a:r>
              <a:rPr lang="en-ZA" sz="2400" b="1" dirty="0">
                <a:ea typeface="Times New Roman" panose="02020603050405020304" pitchFamily="18" charset="0"/>
              </a:rPr>
              <a:t>I</a:t>
            </a:r>
            <a:r>
              <a:rPr lang="en-ZA" sz="2400" b="1" dirty="0">
                <a:effectLst/>
                <a:ea typeface="Times New Roman" panose="02020603050405020304" pitchFamily="18" charset="0"/>
              </a:rPr>
              <a:t>nformation: </a:t>
            </a:r>
            <a:endParaRPr lang="en-ZA" sz="2400" dirty="0">
              <a:effectLst/>
              <a:ea typeface="Times New Roman" panose="02020603050405020304" pitchFamily="18" charset="0"/>
            </a:endParaRPr>
          </a:p>
          <a:p>
            <a:pPr marL="342900" lvl="0" indent="-342900" algn="just">
              <a:lnSpc>
                <a:spcPct val="100000"/>
              </a:lnSpc>
              <a:spcBef>
                <a:spcPts val="0"/>
              </a:spcBef>
              <a:buFont typeface="Symbol" panose="05050102010706020507" pitchFamily="18" charset="2"/>
              <a:buChar char=""/>
            </a:pPr>
            <a:r>
              <a:rPr lang="en-ZA" sz="2400" dirty="0">
                <a:effectLst/>
                <a:ea typeface="Times New Roman" panose="02020603050405020304" pitchFamily="18" charset="0"/>
              </a:rPr>
              <a:t>Due to the firm’s cleaning products being in high demand because of fears for new pandemics, the firm has projected a 10% increase in sales for the coming year.  </a:t>
            </a:r>
          </a:p>
          <a:p>
            <a:pPr marL="342900" lvl="0" indent="-342900" algn="just">
              <a:lnSpc>
                <a:spcPct val="100000"/>
              </a:lnSpc>
              <a:spcBef>
                <a:spcPts val="0"/>
              </a:spcBef>
              <a:buFont typeface="Symbol" panose="05050102010706020507" pitchFamily="18" charset="2"/>
              <a:buChar char=""/>
              <a:tabLst>
                <a:tab pos="270510" algn="l"/>
              </a:tabLst>
            </a:pPr>
            <a:r>
              <a:rPr lang="en-ZA" sz="2400" dirty="0">
                <a:effectLst/>
                <a:ea typeface="Times New Roman" panose="02020603050405020304" pitchFamily="18" charset="0"/>
              </a:rPr>
              <a:t>The firm has also predicted that costs, assets and accounts payable are proportional to sales. </a:t>
            </a:r>
          </a:p>
          <a:p>
            <a:pPr marL="342900" lvl="0" indent="-342900" algn="just">
              <a:lnSpc>
                <a:spcPct val="100000"/>
              </a:lnSpc>
              <a:spcBef>
                <a:spcPts val="0"/>
              </a:spcBef>
              <a:buFont typeface="Symbol" panose="05050102010706020507" pitchFamily="18" charset="2"/>
              <a:buChar char=""/>
            </a:pPr>
            <a:r>
              <a:rPr lang="en-ZA" sz="2400" dirty="0">
                <a:effectLst/>
                <a:ea typeface="Times New Roman" panose="02020603050405020304" pitchFamily="18" charset="0"/>
              </a:rPr>
              <a:t>Equity, long-term and short-term debt are not proportional to sales. </a:t>
            </a:r>
          </a:p>
          <a:p>
            <a:pPr marL="342900" lvl="0" indent="-342900" algn="just">
              <a:lnSpc>
                <a:spcPct val="100000"/>
              </a:lnSpc>
              <a:spcBef>
                <a:spcPts val="0"/>
              </a:spcBef>
              <a:buFont typeface="Symbol" panose="05050102010706020507" pitchFamily="18" charset="2"/>
              <a:buChar char=""/>
            </a:pPr>
            <a:r>
              <a:rPr lang="en-ZA" sz="2400" dirty="0">
                <a:effectLst/>
                <a:ea typeface="Times New Roman" panose="02020603050405020304" pitchFamily="18" charset="0"/>
              </a:rPr>
              <a:t>The tax rate will remain constant.</a:t>
            </a:r>
          </a:p>
          <a:p>
            <a:pPr marL="342900" lvl="0" indent="-342900" algn="just">
              <a:lnSpc>
                <a:spcPct val="100000"/>
              </a:lnSpc>
              <a:spcBef>
                <a:spcPts val="0"/>
              </a:spcBef>
              <a:buFont typeface="Symbol" panose="05050102010706020507" pitchFamily="18" charset="2"/>
              <a:buChar char=""/>
            </a:pPr>
            <a:r>
              <a:rPr lang="en-ZA" sz="2400" dirty="0">
                <a:effectLst/>
                <a:ea typeface="Times New Roman" panose="02020603050405020304" pitchFamily="18" charset="0"/>
              </a:rPr>
              <a:t>The firm has a </a:t>
            </a:r>
            <a:r>
              <a:rPr lang="en-ZA" sz="2400" dirty="0">
                <a:ea typeface="Times New Roman" panose="02020603050405020304" pitchFamily="18" charset="0"/>
              </a:rPr>
              <a:t>40</a:t>
            </a:r>
            <a:r>
              <a:rPr lang="en-ZA" sz="2400" dirty="0">
                <a:effectLst/>
                <a:ea typeface="Times New Roman" panose="02020603050405020304" pitchFamily="18" charset="0"/>
              </a:rPr>
              <a:t>% retention ratio.</a:t>
            </a:r>
          </a:p>
          <a:p>
            <a:pPr>
              <a:lnSpc>
                <a:spcPct val="105000"/>
              </a:lnSpc>
              <a:buSzPct val="100000"/>
              <a:buFont typeface="Arial" panose="020B0604020202020204" pitchFamily="34" charset="0"/>
              <a:buChar char="•"/>
            </a:pPr>
            <a:endParaRPr lang="en-US" sz="2400" dirty="0"/>
          </a:p>
          <a:p>
            <a:pPr>
              <a:lnSpc>
                <a:spcPct val="105000"/>
              </a:lnSpc>
              <a:buSzPct val="100000"/>
              <a:buFont typeface="Arial" panose="020B0604020202020204" pitchFamily="34" charset="0"/>
              <a:buChar char="•"/>
            </a:pPr>
            <a:endParaRPr lang="en-US" sz="5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2" name="Oval 1">
            <a:extLst>
              <a:ext uri="{FF2B5EF4-FFF2-40B4-BE49-F238E27FC236}">
                <a16:creationId xmlns:a16="http://schemas.microsoft.com/office/drawing/2014/main" id="{531CC3B1-5921-284B-9F4C-0E7F39983A69}"/>
              </a:ext>
            </a:extLst>
          </p:cNvPr>
          <p:cNvSpPr/>
          <p:nvPr/>
        </p:nvSpPr>
        <p:spPr bwMode="auto">
          <a:xfrm>
            <a:off x="5732585" y="5334000"/>
            <a:ext cx="3200400" cy="1371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450" dirty="0">
                <a:solidFill>
                  <a:srgbClr val="FF0000"/>
                </a:solidFill>
                <a:ea typeface="ＭＳ Ｐゴシック" pitchFamily="1" charset="-128"/>
              </a:rPr>
              <a:t>Remember to check what is given…retention ratio OR dividend pay-out ratio…</a:t>
            </a:r>
            <a:endParaRPr kumimoji="0" lang="en-ZA" sz="1450" b="0" i="0" u="none" strike="noStrike" cap="none" normalizeH="0" baseline="0" dirty="0">
              <a:ln>
                <a:noFill/>
              </a:ln>
              <a:solidFill>
                <a:srgbClr val="FF0000"/>
              </a:solidFill>
              <a:effectLst/>
              <a:ea typeface="ＭＳ Ｐゴシック" pitchFamily="1" charset="-128"/>
            </a:endParaRPr>
          </a:p>
        </p:txBody>
      </p:sp>
    </p:spTree>
    <p:custDataLst>
      <p:tags r:id="rId1"/>
    </p:custDataLst>
    <p:extLst>
      <p:ext uri="{BB962C8B-B14F-4D97-AF65-F5344CB8AC3E}">
        <p14:creationId xmlns:p14="http://schemas.microsoft.com/office/powerpoint/2010/main" val="4023156146"/>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CD8803-C3DE-628C-1749-8CC7D8CC747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4119AD2-E338-3738-D93A-15013380FFDD}"/>
              </a:ext>
            </a:extLst>
          </p:cNvPr>
          <p:cNvSpPr>
            <a:spLocks noGrp="1" noChangeArrowheads="1"/>
          </p:cNvSpPr>
          <p:nvPr>
            <p:ph type="title"/>
          </p:nvPr>
        </p:nvSpPr>
        <p:spPr>
          <a:xfrm>
            <a:off x="152400" y="10510"/>
            <a:ext cx="8839200" cy="675290"/>
          </a:xfrm>
        </p:spPr>
        <p:txBody>
          <a:bodyPr/>
          <a:lstStyle/>
          <a:p>
            <a:r>
              <a:rPr lang="en-US" dirty="0">
                <a:solidFill>
                  <a:schemeClr val="tx2"/>
                </a:solidFill>
              </a:rPr>
              <a:t>Example: LT financial planning… (cont.)</a:t>
            </a:r>
          </a:p>
        </p:txBody>
      </p:sp>
      <p:sp>
        <p:nvSpPr>
          <p:cNvPr id="3" name="Slide Number Placeholder 2">
            <a:extLst>
              <a:ext uri="{FF2B5EF4-FFF2-40B4-BE49-F238E27FC236}">
                <a16:creationId xmlns:a16="http://schemas.microsoft.com/office/drawing/2014/main" id="{CF68B2AC-6C7C-1069-7756-317DC3CC21FB}"/>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5" name="Table 4">
            <a:extLst>
              <a:ext uri="{FF2B5EF4-FFF2-40B4-BE49-F238E27FC236}">
                <a16:creationId xmlns:a16="http://schemas.microsoft.com/office/drawing/2014/main" id="{90086072-4789-D0AA-2159-0BA02A021BC7}"/>
              </a:ext>
            </a:extLst>
          </p:cNvPr>
          <p:cNvGraphicFramePr>
            <a:graphicFrameLocks noGrp="1"/>
          </p:cNvGraphicFramePr>
          <p:nvPr>
            <p:extLst>
              <p:ext uri="{D42A27DB-BD31-4B8C-83A1-F6EECF244321}">
                <p14:modId xmlns:p14="http://schemas.microsoft.com/office/powerpoint/2010/main" val="1459647957"/>
              </p:ext>
            </p:extLst>
          </p:nvPr>
        </p:nvGraphicFramePr>
        <p:xfrm>
          <a:off x="1697304" y="2175497"/>
          <a:ext cx="5749392" cy="2354968"/>
        </p:xfrm>
        <a:graphic>
          <a:graphicData uri="http://schemas.openxmlformats.org/drawingml/2006/table">
            <a:tbl>
              <a:tblPr firstRow="1" firstCol="1" bandRow="1"/>
              <a:tblGrid>
                <a:gridCol w="3609758">
                  <a:extLst>
                    <a:ext uri="{9D8B030D-6E8A-4147-A177-3AD203B41FA5}">
                      <a16:colId xmlns:a16="http://schemas.microsoft.com/office/drawing/2014/main" val="1351493122"/>
                    </a:ext>
                  </a:extLst>
                </a:gridCol>
                <a:gridCol w="2139634">
                  <a:extLst>
                    <a:ext uri="{9D8B030D-6E8A-4147-A177-3AD203B41FA5}">
                      <a16:colId xmlns:a16="http://schemas.microsoft.com/office/drawing/2014/main" val="1172841656"/>
                    </a:ext>
                  </a:extLst>
                </a:gridCol>
              </a:tblGrid>
              <a:tr h="479440">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Sales </a:t>
                      </a:r>
                    </a:p>
                  </a:txBody>
                  <a:tcPr marL="68580" marR="68580" marT="0" marB="0" anchor="ctr">
                    <a:lnL>
                      <a:noFill/>
                    </a:lnL>
                    <a:lnR>
                      <a:noFill/>
                    </a:lnR>
                    <a:lnT>
                      <a:noFill/>
                    </a:lnT>
                    <a:lnB>
                      <a:noFill/>
                    </a:lnB>
                    <a:noFill/>
                  </a:tcPr>
                </a:tc>
                <a:tc>
                  <a:txBody>
                    <a:bodyPr/>
                    <a:lstStyle/>
                    <a:p>
                      <a:pPr algn="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1392120621"/>
                  </a:ext>
                </a:extLst>
              </a:tr>
              <a:tr h="468882">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Costs of goods sold</a:t>
                      </a:r>
                    </a:p>
                  </a:txBody>
                  <a:tcPr marL="68580" marR="68580" marT="0" marB="0" anchor="ctr">
                    <a:lnL>
                      <a:noFill/>
                    </a:lnL>
                    <a:lnR>
                      <a:noFill/>
                    </a:lnR>
                    <a:lnT>
                      <a:noFill/>
                    </a:lnT>
                    <a:lnB>
                      <a:noFill/>
                    </a:lnB>
                    <a:noFill/>
                  </a:tcPr>
                </a:tc>
                <a:tc>
                  <a:txBody>
                    <a:bodyPr/>
                    <a:lstStyle/>
                    <a:p>
                      <a:pPr algn="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001374"/>
                  </a:ext>
                </a:extLst>
              </a:tr>
              <a:tr h="468882">
                <a:tc>
                  <a:txBody>
                    <a:bodyPr/>
                    <a:lstStyle/>
                    <a:p>
                      <a:r>
                        <a:rPr lang="en-ZA" sz="2400" dirty="0">
                          <a:effectLst/>
                          <a:latin typeface="Arial" panose="020B0604020202020204" pitchFamily="34" charset="0"/>
                          <a:ea typeface="Times New Roman" panose="02020603050405020304" pitchFamily="18" charset="0"/>
                          <a:cs typeface="Arial" panose="020B0604020202020204" pitchFamily="34" charset="0"/>
                        </a:rPr>
                        <a:t>Earnings before tax</a:t>
                      </a:r>
                    </a:p>
                  </a:txBody>
                  <a:tcPr marL="68580" marR="68580" marT="0" marB="0" anchor="ctr">
                    <a:lnL>
                      <a:noFill/>
                    </a:lnL>
                    <a:lnR>
                      <a:noFill/>
                    </a:lnR>
                    <a:lnT>
                      <a:noFill/>
                    </a:lnT>
                    <a:lnB>
                      <a:noFill/>
                    </a:lnB>
                    <a:noFill/>
                  </a:tcPr>
                </a:tc>
                <a:tc>
                  <a:txBody>
                    <a:bodyPr/>
                    <a:lstStyle/>
                    <a:p>
                      <a:pPr algn="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dash"/>
                      <a:round/>
                      <a:headEnd type="none" w="med" len="med"/>
                      <a:tailEnd type="none" w="med" len="med"/>
                    </a:lnB>
                    <a:noFill/>
                  </a:tcPr>
                </a:tc>
                <a:extLst>
                  <a:ext uri="{0D108BD9-81ED-4DB2-BD59-A6C34878D82A}">
                    <a16:rowId xmlns:a16="http://schemas.microsoft.com/office/drawing/2014/main" val="2412301319"/>
                  </a:ext>
                </a:extLst>
              </a:tr>
              <a:tr h="468882">
                <a:tc>
                  <a:txBody>
                    <a:bodyPr/>
                    <a:lstStyle/>
                    <a:p>
                      <a:r>
                        <a:rPr lang="en-ZA" sz="2400">
                          <a:effectLst/>
                          <a:latin typeface="Arial" panose="020B0604020202020204" pitchFamily="34" charset="0"/>
                          <a:ea typeface="Times New Roman" panose="02020603050405020304" pitchFamily="18" charset="0"/>
                          <a:cs typeface="Arial" panose="020B0604020202020204" pitchFamily="34" charset="0"/>
                        </a:rPr>
                        <a:t>Taxes (27%)</a:t>
                      </a:r>
                    </a:p>
                  </a:txBody>
                  <a:tcPr marL="68580" marR="68580" marT="0" marB="0" anchor="ctr">
                    <a:lnL>
                      <a:noFill/>
                    </a:lnL>
                    <a:lnR>
                      <a:noFill/>
                    </a:lnR>
                    <a:lnT>
                      <a:noFill/>
                    </a:lnT>
                    <a:lnB>
                      <a:noFill/>
                    </a:lnB>
                    <a:noFill/>
                  </a:tcPr>
                </a:tc>
                <a:tc>
                  <a:txBody>
                    <a:bodyPr/>
                    <a:lstStyle/>
                    <a:p>
                      <a:pPr algn="r"/>
                      <a:endParaRPr lang="en-ZA"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7070215"/>
                  </a:ext>
                </a:extLst>
              </a:tr>
              <a:tr h="468882">
                <a:tc>
                  <a:txBody>
                    <a:bodyPr/>
                    <a:lstStyle/>
                    <a:p>
                      <a:r>
                        <a:rPr lang="en-ZA" sz="2400" b="1">
                          <a:effectLst/>
                          <a:latin typeface="Arial" panose="020B0604020202020204" pitchFamily="34" charset="0"/>
                          <a:ea typeface="Times New Roman" panose="02020603050405020304" pitchFamily="18" charset="0"/>
                          <a:cs typeface="Arial" panose="020B0604020202020204" pitchFamily="34" charset="0"/>
                        </a:rPr>
                        <a:t>EARNINGS AFTER TAX</a:t>
                      </a:r>
                      <a:endParaRPr lang="en-ZA"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a:noFill/>
                    </a:lnT>
                    <a:lnB>
                      <a:noFill/>
                    </a:lnB>
                    <a:noFill/>
                  </a:tcPr>
                </a:tc>
                <a:tc>
                  <a:txBody>
                    <a:bodyPr/>
                    <a:lstStyle/>
                    <a:p>
                      <a:pPr algn="r"/>
                      <a:endParaRPr lang="en-ZA" sz="2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9050" cap="flat" cmpd="dbl" algn="ctr">
                      <a:solidFill>
                        <a:srgbClr val="000000"/>
                      </a:solidFill>
                      <a:prstDash val="solid"/>
                      <a:round/>
                      <a:headEnd type="none" w="med" len="med"/>
                      <a:tailEnd type="none" w="med" len="med"/>
                    </a:lnB>
                    <a:noFill/>
                  </a:tcPr>
                </a:tc>
                <a:extLst>
                  <a:ext uri="{0D108BD9-81ED-4DB2-BD59-A6C34878D82A}">
                    <a16:rowId xmlns:a16="http://schemas.microsoft.com/office/drawing/2014/main" val="2599445961"/>
                  </a:ext>
                </a:extLst>
              </a:tr>
            </a:tbl>
          </a:graphicData>
        </a:graphic>
      </p:graphicFrame>
      <p:sp>
        <p:nvSpPr>
          <p:cNvPr id="7" name="Rectangle 2">
            <a:extLst>
              <a:ext uri="{FF2B5EF4-FFF2-40B4-BE49-F238E27FC236}">
                <a16:creationId xmlns:a16="http://schemas.microsoft.com/office/drawing/2014/main" id="{D66B7B1E-93D9-9F6F-DFA8-98CEED7958BD}"/>
              </a:ext>
            </a:extLst>
          </p:cNvPr>
          <p:cNvSpPr>
            <a:spLocks noChangeArrowheads="1"/>
          </p:cNvSpPr>
          <p:nvPr/>
        </p:nvSpPr>
        <p:spPr bwMode="auto">
          <a:xfrm>
            <a:off x="152400" y="922817"/>
            <a:ext cx="8839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ZA" altLang="en-US" sz="2000" b="1" i="1" dirty="0">
                <a:solidFill>
                  <a:prstClr val="black"/>
                </a:solidFill>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PERFORMANCE OF SPRING-CLEAN LTD FOR THE YEAR ENDED 28 FEBRUARY 2027 </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0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0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3015268144"/>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987D222-E487-E3B9-658D-F0C81D06E03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7D896C4-DA77-8411-D7DE-423DEA2325D9}"/>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C644E99A-C0AC-D2C5-CECA-1504B7635590}"/>
              </a:ext>
            </a:extLst>
          </p:cNvPr>
          <p:cNvGraphicFramePr>
            <a:graphicFrameLocks noGrp="1"/>
          </p:cNvGraphicFramePr>
          <p:nvPr>
            <p:extLst>
              <p:ext uri="{D42A27DB-BD31-4B8C-83A1-F6EECF244321}">
                <p14:modId xmlns:p14="http://schemas.microsoft.com/office/powerpoint/2010/main" val="1234968059"/>
              </p:ext>
            </p:extLst>
          </p:nvPr>
        </p:nvGraphicFramePr>
        <p:xfrm>
          <a:off x="76200" y="2172477"/>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149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BA81BFA6-EC49-5F18-8789-C16220CC49C6}"/>
              </a:ext>
            </a:extLst>
          </p:cNvPr>
          <p:cNvSpPr>
            <a:spLocks noChangeArrowheads="1"/>
          </p:cNvSpPr>
          <p:nvPr/>
        </p:nvSpPr>
        <p:spPr bwMode="auto">
          <a:xfrm>
            <a:off x="159830" y="930675"/>
            <a:ext cx="882434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1"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POSITION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OF SPRING-CLEAN AS AT 28 FEBRUARY 2027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charset="-128"/>
            </a:endParaRPr>
          </a:p>
        </p:txBody>
      </p:sp>
      <p:graphicFrame>
        <p:nvGraphicFramePr>
          <p:cNvPr id="6" name="Table 5">
            <a:extLst>
              <a:ext uri="{FF2B5EF4-FFF2-40B4-BE49-F238E27FC236}">
                <a16:creationId xmlns:a16="http://schemas.microsoft.com/office/drawing/2014/main" id="{FD439AD2-3223-F391-BC44-69B1383070D3}"/>
              </a:ext>
            </a:extLst>
          </p:cNvPr>
          <p:cNvGraphicFramePr>
            <a:graphicFrameLocks noGrp="1"/>
          </p:cNvGraphicFramePr>
          <p:nvPr>
            <p:extLst>
              <p:ext uri="{D42A27DB-BD31-4B8C-83A1-F6EECF244321}">
                <p14:modId xmlns:p14="http://schemas.microsoft.com/office/powerpoint/2010/main" val="27070659"/>
              </p:ext>
            </p:extLst>
          </p:nvPr>
        </p:nvGraphicFramePr>
        <p:xfrm>
          <a:off x="4438650" y="2172477"/>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1557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7550" algn="l"/>
                        </a:tabLst>
                      </a:pP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1200" algn="l"/>
                        </a:tabLst>
                      </a:pP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12" name="TextBox 11">
            <a:extLst>
              <a:ext uri="{FF2B5EF4-FFF2-40B4-BE49-F238E27FC236}">
                <a16:creationId xmlns:a16="http://schemas.microsoft.com/office/drawing/2014/main" id="{9705C4D9-805F-6318-003B-F365918D9DAE}"/>
              </a:ext>
            </a:extLst>
          </p:cNvPr>
          <p:cNvSpPr txBox="1"/>
          <p:nvPr/>
        </p:nvSpPr>
        <p:spPr>
          <a:xfrm>
            <a:off x="76200" y="101619"/>
            <a:ext cx="873076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Example: LT financial planning…(cont.)</a:t>
            </a:r>
            <a:endParaRPr kumimoji="0" lang="en-ZA" sz="2800" b="0" i="0" u="none" strike="noStrike" kern="1200" cap="none" spc="0" normalizeH="0" baseline="0" noProof="0" dirty="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148908403"/>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94A10-6865-2A95-5F08-A70F52E6B3B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4D69A2E-161A-D79D-5EAC-0C282CF94688}"/>
              </a:ext>
            </a:extLst>
          </p:cNvPr>
          <p:cNvSpPr>
            <a:spLocks noGrp="1" noChangeArrowheads="1"/>
          </p:cNvSpPr>
          <p:nvPr>
            <p:ph type="title"/>
          </p:nvPr>
        </p:nvSpPr>
        <p:spPr>
          <a:xfrm>
            <a:off x="152400" y="10510"/>
            <a:ext cx="8839200" cy="675290"/>
          </a:xfrm>
        </p:spPr>
        <p:txBody>
          <a:bodyPr/>
          <a:lstStyle/>
          <a:p>
            <a:r>
              <a:rPr lang="en-US" dirty="0">
                <a:solidFill>
                  <a:schemeClr val="tx2"/>
                </a:solidFill>
              </a:rPr>
              <a:t>Other cases: LT financial planning…(cont.) </a:t>
            </a:r>
          </a:p>
        </p:txBody>
      </p:sp>
      <p:sp>
        <p:nvSpPr>
          <p:cNvPr id="9221" name="Rectangle 5">
            <a:extLst>
              <a:ext uri="{FF2B5EF4-FFF2-40B4-BE49-F238E27FC236}">
                <a16:creationId xmlns:a16="http://schemas.microsoft.com/office/drawing/2014/main" id="{75A9D464-D7F8-DE66-0CBB-DC39C89B6A71}"/>
              </a:ext>
            </a:extLst>
          </p:cNvPr>
          <p:cNvSpPr>
            <a:spLocks noGrp="1" noChangeArrowheads="1"/>
          </p:cNvSpPr>
          <p:nvPr>
            <p:ph idx="1"/>
          </p:nvPr>
        </p:nvSpPr>
        <p:spPr>
          <a:xfrm>
            <a:off x="152400" y="685800"/>
            <a:ext cx="8915400" cy="6019800"/>
          </a:xfrm>
        </p:spPr>
        <p:txBody>
          <a:bodyPr/>
          <a:lstStyle/>
          <a:p>
            <a:pPr>
              <a:lnSpc>
                <a:spcPct val="105000"/>
              </a:lnSpc>
              <a:buSzPct val="100000"/>
              <a:buFont typeface="Arial" panose="020B0604020202020204" pitchFamily="34" charset="0"/>
              <a:buChar char="•"/>
            </a:pPr>
            <a:r>
              <a:rPr lang="en-US" sz="2400" u="sng" dirty="0"/>
              <a:t>See if you can perform a percentage of sales method</a:t>
            </a:r>
            <a:r>
              <a:rPr lang="en-US" sz="2400" dirty="0"/>
              <a:t>…</a:t>
            </a:r>
          </a:p>
          <a:p>
            <a:pPr lvl="1">
              <a:lnSpc>
                <a:spcPct val="105000"/>
              </a:lnSpc>
              <a:buSzPct val="100000"/>
              <a:buFont typeface="Arial" panose="020B0604020202020204" pitchFamily="34" charset="0"/>
              <a:buChar char="•"/>
            </a:pPr>
            <a:r>
              <a:rPr lang="en-US" sz="2400" dirty="0"/>
              <a:t>Your next year RE should increase with R14 454 </a:t>
            </a:r>
          </a:p>
          <a:p>
            <a:pPr lvl="1">
              <a:lnSpc>
                <a:spcPct val="105000"/>
              </a:lnSpc>
              <a:buSzPct val="100000"/>
              <a:buFont typeface="Arial" panose="020B0604020202020204" pitchFamily="34" charset="0"/>
              <a:buChar char="•"/>
            </a:pPr>
            <a:r>
              <a:rPr lang="en-US" sz="2400" dirty="0"/>
              <a:t>Your </a:t>
            </a:r>
            <a:r>
              <a:rPr lang="en-US" sz="2400" dirty="0">
                <a:highlight>
                  <a:srgbClr val="99CCFF"/>
                </a:highlight>
              </a:rPr>
              <a:t>AFN answer should be R9 296 </a:t>
            </a:r>
          </a:p>
          <a:p>
            <a:pPr lvl="1">
              <a:lnSpc>
                <a:spcPct val="105000"/>
              </a:lnSpc>
              <a:buSzPct val="100000"/>
              <a:buFont typeface="Arial" panose="020B0604020202020204" pitchFamily="34" charset="0"/>
              <a:buChar char="•"/>
            </a:pPr>
            <a:r>
              <a:rPr lang="en-US" sz="2400" b="1" dirty="0">
                <a:solidFill>
                  <a:schemeClr val="accent6">
                    <a:lumMod val="75000"/>
                  </a:schemeClr>
                </a:solidFill>
              </a:rPr>
              <a:t>CHECK!</a:t>
            </a:r>
          </a:p>
          <a:p>
            <a:pPr>
              <a:lnSpc>
                <a:spcPct val="105000"/>
              </a:lnSpc>
              <a:buSzPct val="100000"/>
              <a:buFont typeface="Arial" panose="020B0604020202020204" pitchFamily="34" charset="0"/>
              <a:buChar char="•"/>
            </a:pPr>
            <a:endParaRPr lang="en-US" sz="500" dirty="0"/>
          </a:p>
        </p:txBody>
      </p:sp>
      <p:sp>
        <p:nvSpPr>
          <p:cNvPr id="3" name="Slide Number Placeholder 2">
            <a:extLst>
              <a:ext uri="{FF2B5EF4-FFF2-40B4-BE49-F238E27FC236}">
                <a16:creationId xmlns:a16="http://schemas.microsoft.com/office/drawing/2014/main" id="{B6F1F595-E2DD-4B50-BD6E-83B0EC8BCEC4}"/>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26521385"/>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97A5D-F5A7-7C77-664E-A5C2AC0475A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51FA3802-27A1-35DA-7284-6912161B9790}"/>
              </a:ext>
            </a:extLst>
          </p:cNvPr>
          <p:cNvSpPr>
            <a:spLocks noGrp="1" noChangeArrowheads="1"/>
          </p:cNvSpPr>
          <p:nvPr>
            <p:ph type="title"/>
          </p:nvPr>
        </p:nvSpPr>
        <p:spPr>
          <a:xfrm>
            <a:off x="152400" y="10510"/>
            <a:ext cx="8839200" cy="675290"/>
          </a:xfrm>
        </p:spPr>
        <p:txBody>
          <a:bodyPr/>
          <a:lstStyle/>
          <a:p>
            <a:r>
              <a:rPr lang="en-US" dirty="0">
                <a:solidFill>
                  <a:schemeClr val="tx2"/>
                </a:solidFill>
              </a:rPr>
              <a:t>Other cases: LT financial planning…(cont.) </a:t>
            </a:r>
          </a:p>
        </p:txBody>
      </p:sp>
      <p:sp>
        <p:nvSpPr>
          <p:cNvPr id="9221" name="Rectangle 5">
            <a:extLst>
              <a:ext uri="{FF2B5EF4-FFF2-40B4-BE49-F238E27FC236}">
                <a16:creationId xmlns:a16="http://schemas.microsoft.com/office/drawing/2014/main" id="{1FA307DA-1F52-95CC-69C0-9CEE5E7B323C}"/>
              </a:ext>
            </a:extLst>
          </p:cNvPr>
          <p:cNvSpPr>
            <a:spLocks noGrp="1" noChangeArrowheads="1"/>
          </p:cNvSpPr>
          <p:nvPr>
            <p:ph idx="1"/>
          </p:nvPr>
        </p:nvSpPr>
        <p:spPr>
          <a:xfrm>
            <a:off x="152400" y="685800"/>
            <a:ext cx="8915400" cy="6019800"/>
          </a:xfrm>
        </p:spPr>
        <p:txBody>
          <a:bodyPr/>
          <a:lstStyle/>
          <a:p>
            <a:pPr marL="0" indent="0">
              <a:lnSpc>
                <a:spcPct val="100000"/>
              </a:lnSpc>
              <a:spcBef>
                <a:spcPts val="0"/>
              </a:spcBef>
              <a:buSzPct val="100000"/>
              <a:buNone/>
            </a:pPr>
            <a:r>
              <a:rPr lang="en-US" sz="2400" dirty="0">
                <a:solidFill>
                  <a:srgbClr val="FF0000"/>
                </a:solidFill>
              </a:rPr>
              <a:t>Now… let’s look at other cases. Spring-Clean with this situation:</a:t>
            </a:r>
          </a:p>
          <a:p>
            <a:pPr marL="457200" indent="-457200">
              <a:lnSpc>
                <a:spcPct val="100000"/>
              </a:lnSpc>
              <a:spcBef>
                <a:spcPts val="0"/>
              </a:spcBef>
              <a:buSzPct val="100000"/>
              <a:buAutoNum type="alphaLcParenBoth"/>
            </a:pPr>
            <a:r>
              <a:rPr lang="en-US" sz="2400" dirty="0"/>
              <a:t>Suppose the firm is </a:t>
            </a:r>
            <a:r>
              <a:rPr lang="en-US" sz="2400" u="sng" dirty="0"/>
              <a:t>operating at only 50% capacity</a:t>
            </a:r>
            <a:r>
              <a:rPr lang="en-US" sz="2400" dirty="0"/>
              <a:t>. What will the AFN be? (Use four decimals during your calculations)</a:t>
            </a:r>
          </a:p>
          <a:p>
            <a:pPr marL="0" indent="0">
              <a:lnSpc>
                <a:spcPct val="100000"/>
              </a:lnSpc>
              <a:spcBef>
                <a:spcPts val="0"/>
              </a:spcBef>
              <a:buSzPct val="100000"/>
              <a:buNone/>
            </a:pPr>
            <a:endParaRPr lang="en-US" sz="1600" dirty="0"/>
          </a:p>
          <a:p>
            <a:pPr marL="0" indent="0">
              <a:lnSpc>
                <a:spcPct val="100000"/>
              </a:lnSpc>
              <a:spcBef>
                <a:spcPts val="0"/>
              </a:spcBef>
              <a:buSzPct val="100000"/>
              <a:buNone/>
            </a:pPr>
            <a:r>
              <a:rPr lang="en-US" sz="2400" dirty="0"/>
              <a:t>Full capacity sales = current sales / capacity percentage </a:t>
            </a:r>
          </a:p>
          <a:p>
            <a:pPr marL="0" indent="0">
              <a:lnSpc>
                <a:spcPct val="100000"/>
              </a:lnSpc>
              <a:spcBef>
                <a:spcPts val="0"/>
              </a:spcBef>
              <a:buSzPct val="100000"/>
              <a:buNone/>
            </a:pPr>
            <a:r>
              <a:rPr lang="en-US" sz="2400" dirty="0"/>
              <a:t>= 130 000 / 0.50</a:t>
            </a:r>
          </a:p>
          <a:p>
            <a:pPr marL="0" indent="0">
              <a:lnSpc>
                <a:spcPct val="100000"/>
              </a:lnSpc>
              <a:spcBef>
                <a:spcPts val="0"/>
              </a:spcBef>
              <a:buSzPct val="100000"/>
              <a:buNone/>
            </a:pPr>
            <a:r>
              <a:rPr lang="en-US" sz="2400" dirty="0"/>
              <a:t>= R260 000</a:t>
            </a:r>
          </a:p>
          <a:p>
            <a:pPr marL="0" indent="0">
              <a:lnSpc>
                <a:spcPct val="100000"/>
              </a:lnSpc>
              <a:spcBef>
                <a:spcPts val="0"/>
              </a:spcBef>
              <a:buSzPct val="100000"/>
              <a:buNone/>
            </a:pPr>
            <a:r>
              <a:rPr lang="en-US" sz="2400" dirty="0"/>
              <a:t>But…the projected sales figure for next year is only R143 000…</a:t>
            </a:r>
          </a:p>
          <a:p>
            <a:pPr marL="0" indent="0">
              <a:lnSpc>
                <a:spcPct val="100000"/>
              </a:lnSpc>
              <a:spcBef>
                <a:spcPts val="0"/>
              </a:spcBef>
              <a:buSzPct val="100000"/>
              <a:buNone/>
            </a:pPr>
            <a:r>
              <a:rPr lang="en-US" sz="2400" dirty="0"/>
              <a:t>So…no new NC assets needed!</a:t>
            </a:r>
          </a:p>
          <a:p>
            <a:pPr marL="0" indent="0">
              <a:lnSpc>
                <a:spcPct val="100000"/>
              </a:lnSpc>
              <a:spcBef>
                <a:spcPts val="0"/>
              </a:spcBef>
              <a:buSzPct val="100000"/>
              <a:buNone/>
            </a:pPr>
            <a:endParaRPr lang="en-US" sz="1600" dirty="0"/>
          </a:p>
          <a:p>
            <a:pPr marL="0" indent="0">
              <a:lnSpc>
                <a:spcPct val="100000"/>
              </a:lnSpc>
              <a:spcBef>
                <a:spcPts val="0"/>
              </a:spcBef>
              <a:buSzPct val="100000"/>
              <a:buNone/>
            </a:pPr>
            <a:r>
              <a:rPr lang="en-US" sz="2400" dirty="0"/>
              <a:t>Non-current asset </a:t>
            </a:r>
            <a:r>
              <a:rPr lang="en-US" sz="2400" dirty="0" err="1"/>
              <a:t>utilisation</a:t>
            </a:r>
            <a:r>
              <a:rPr lang="en-US" sz="2400" dirty="0"/>
              <a:t> at full capacity = NC assets / full capacity sales = 170 000 / 260 000 = 0.6538</a:t>
            </a:r>
          </a:p>
          <a:p>
            <a:pPr marL="0" indent="0">
              <a:lnSpc>
                <a:spcPct val="100000"/>
              </a:lnSpc>
              <a:spcBef>
                <a:spcPts val="0"/>
              </a:spcBef>
              <a:buSzPct val="100000"/>
              <a:buNone/>
            </a:pPr>
            <a:endParaRPr lang="en-US" sz="1600" dirty="0"/>
          </a:p>
          <a:p>
            <a:pPr marL="0" indent="0">
              <a:lnSpc>
                <a:spcPct val="100000"/>
              </a:lnSpc>
              <a:spcBef>
                <a:spcPts val="0"/>
              </a:spcBef>
              <a:buSzPct val="100000"/>
              <a:buNone/>
            </a:pPr>
            <a:r>
              <a:rPr lang="en-US" sz="2400" dirty="0"/>
              <a:t>So, what should NC assets actually be in </a:t>
            </a:r>
            <a:r>
              <a:rPr lang="en-US" sz="2400" i="1" dirty="0"/>
              <a:t>budgeted/pro forma </a:t>
            </a:r>
            <a:r>
              <a:rPr lang="en-US" sz="2400" dirty="0"/>
              <a:t>for next year?</a:t>
            </a:r>
          </a:p>
          <a:p>
            <a:pPr marL="0" indent="0">
              <a:lnSpc>
                <a:spcPct val="100000"/>
              </a:lnSpc>
              <a:spcBef>
                <a:spcPts val="0"/>
              </a:spcBef>
              <a:buSzPct val="100000"/>
              <a:buNone/>
            </a:pPr>
            <a:r>
              <a:rPr lang="en-US" sz="2400" dirty="0"/>
              <a:t>Total NC assets 	= NC asset </a:t>
            </a:r>
            <a:r>
              <a:rPr lang="en-US" sz="2400" dirty="0" err="1"/>
              <a:t>utilisation</a:t>
            </a:r>
            <a:r>
              <a:rPr lang="en-US" sz="2400" dirty="0"/>
              <a:t> x forecasted sales</a:t>
            </a:r>
          </a:p>
          <a:p>
            <a:pPr marL="0" indent="0">
              <a:lnSpc>
                <a:spcPct val="100000"/>
              </a:lnSpc>
              <a:spcBef>
                <a:spcPts val="0"/>
              </a:spcBef>
              <a:buSzPct val="100000"/>
              <a:buNone/>
            </a:pPr>
            <a:r>
              <a:rPr lang="en-US" sz="2400" dirty="0"/>
              <a:t>			= 0.6538 x 143 000 = R93 493.40</a:t>
            </a:r>
          </a:p>
        </p:txBody>
      </p:sp>
      <p:sp>
        <p:nvSpPr>
          <p:cNvPr id="3" name="Slide Number Placeholder 2">
            <a:extLst>
              <a:ext uri="{FF2B5EF4-FFF2-40B4-BE49-F238E27FC236}">
                <a16:creationId xmlns:a16="http://schemas.microsoft.com/office/drawing/2014/main" id="{B988AB52-5B32-29A6-9725-1CF4BE0B38BC}"/>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845556838"/>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3" end="3"/>
                                            </p:txEl>
                                          </p:spTgt>
                                        </p:tgtEl>
                                        <p:attrNameLst>
                                          <p:attrName>style.visibility</p:attrName>
                                        </p:attrNameLst>
                                      </p:cBhvr>
                                      <p:to>
                                        <p:strVal val="visible"/>
                                      </p:to>
                                    </p:set>
                                    <p:anim calcmode="lin" valueType="num">
                                      <p:cBhvr additive="base">
                                        <p:cTn id="7" dur="500" fill="hold"/>
                                        <p:tgtEl>
                                          <p:spTgt spid="922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xEl>
                                              <p:pRg st="4" end="4"/>
                                            </p:txEl>
                                          </p:spTgt>
                                        </p:tgtEl>
                                        <p:attrNameLst>
                                          <p:attrName>style.visibility</p:attrName>
                                        </p:attrNameLst>
                                      </p:cBhvr>
                                      <p:to>
                                        <p:strVal val="visible"/>
                                      </p:to>
                                    </p:set>
                                    <p:anim calcmode="lin" valueType="num">
                                      <p:cBhvr additive="base">
                                        <p:cTn id="11" dur="500" fill="hold"/>
                                        <p:tgtEl>
                                          <p:spTgt spid="922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2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221">
                                            <p:txEl>
                                              <p:pRg st="5" end="5"/>
                                            </p:txEl>
                                          </p:spTgt>
                                        </p:tgtEl>
                                        <p:attrNameLst>
                                          <p:attrName>style.visibility</p:attrName>
                                        </p:attrNameLst>
                                      </p:cBhvr>
                                      <p:to>
                                        <p:strVal val="visible"/>
                                      </p:to>
                                    </p:set>
                                    <p:anim calcmode="lin" valueType="num">
                                      <p:cBhvr additive="base">
                                        <p:cTn id="15" dur="500" fill="hold"/>
                                        <p:tgtEl>
                                          <p:spTgt spid="9221">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21">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221">
                                            <p:txEl>
                                              <p:pRg st="6" end="6"/>
                                            </p:txEl>
                                          </p:spTgt>
                                        </p:tgtEl>
                                        <p:attrNameLst>
                                          <p:attrName>style.visibility</p:attrName>
                                        </p:attrNameLst>
                                      </p:cBhvr>
                                      <p:to>
                                        <p:strVal val="visible"/>
                                      </p:to>
                                    </p:set>
                                    <p:anim calcmode="lin" valueType="num">
                                      <p:cBhvr additive="base">
                                        <p:cTn id="19" dur="500" fill="hold"/>
                                        <p:tgtEl>
                                          <p:spTgt spid="922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21">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221">
                                            <p:txEl>
                                              <p:pRg st="7" end="7"/>
                                            </p:txEl>
                                          </p:spTgt>
                                        </p:tgtEl>
                                        <p:attrNameLst>
                                          <p:attrName>style.visibility</p:attrName>
                                        </p:attrNameLst>
                                      </p:cBhvr>
                                      <p:to>
                                        <p:strVal val="visible"/>
                                      </p:to>
                                    </p:set>
                                    <p:anim calcmode="lin" valueType="num">
                                      <p:cBhvr additive="base">
                                        <p:cTn id="23" dur="500" fill="hold"/>
                                        <p:tgtEl>
                                          <p:spTgt spid="9221">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2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221">
                                            <p:txEl>
                                              <p:pRg st="9" end="9"/>
                                            </p:txEl>
                                          </p:spTgt>
                                        </p:tgtEl>
                                        <p:attrNameLst>
                                          <p:attrName>style.visibility</p:attrName>
                                        </p:attrNameLst>
                                      </p:cBhvr>
                                      <p:to>
                                        <p:strVal val="visible"/>
                                      </p:to>
                                    </p:set>
                                    <p:anim calcmode="lin" valueType="num">
                                      <p:cBhvr additive="base">
                                        <p:cTn id="29" dur="500" fill="hold"/>
                                        <p:tgtEl>
                                          <p:spTgt spid="9221">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22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9221">
                                            <p:txEl>
                                              <p:pRg st="11" end="11"/>
                                            </p:txEl>
                                          </p:spTgt>
                                        </p:tgtEl>
                                        <p:attrNameLst>
                                          <p:attrName>style.visibility</p:attrName>
                                        </p:attrNameLst>
                                      </p:cBhvr>
                                      <p:to>
                                        <p:strVal val="visible"/>
                                      </p:to>
                                    </p:set>
                                    <p:anim calcmode="lin" valueType="num">
                                      <p:cBhvr additive="base">
                                        <p:cTn id="35" dur="500" fill="hold"/>
                                        <p:tgtEl>
                                          <p:spTgt spid="9221">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221">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221">
                                            <p:txEl>
                                              <p:pRg st="12" end="12"/>
                                            </p:txEl>
                                          </p:spTgt>
                                        </p:tgtEl>
                                        <p:attrNameLst>
                                          <p:attrName>style.visibility</p:attrName>
                                        </p:attrNameLst>
                                      </p:cBhvr>
                                      <p:to>
                                        <p:strVal val="visible"/>
                                      </p:to>
                                    </p:set>
                                    <p:anim calcmode="lin" valueType="num">
                                      <p:cBhvr additive="base">
                                        <p:cTn id="39" dur="500" fill="hold"/>
                                        <p:tgtEl>
                                          <p:spTgt spid="9221">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221">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221">
                                            <p:txEl>
                                              <p:pRg st="13" end="13"/>
                                            </p:txEl>
                                          </p:spTgt>
                                        </p:tgtEl>
                                        <p:attrNameLst>
                                          <p:attrName>style.visibility</p:attrName>
                                        </p:attrNameLst>
                                      </p:cBhvr>
                                      <p:to>
                                        <p:strVal val="visible"/>
                                      </p:to>
                                    </p:set>
                                    <p:anim calcmode="lin" valueType="num">
                                      <p:cBhvr additive="base">
                                        <p:cTn id="43" dur="500" fill="hold"/>
                                        <p:tgtEl>
                                          <p:spTgt spid="9221">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22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4F3A2C-E1EF-FDBC-4706-171B8130D7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6E7EB1-3A66-2AD0-135D-E94D3D3FBA55}"/>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58B69808-7101-4960-8CFF-F1420DA8B5DB}"/>
              </a:ext>
            </a:extLst>
          </p:cNvPr>
          <p:cNvGraphicFramePr>
            <a:graphicFrameLocks noGrp="1"/>
          </p:cNvGraphicFramePr>
          <p:nvPr>
            <p:extLst>
              <p:ext uri="{D42A27DB-BD31-4B8C-83A1-F6EECF244321}">
                <p14:modId xmlns:p14="http://schemas.microsoft.com/office/powerpoint/2010/main" val="2324007934"/>
              </p:ext>
            </p:extLst>
          </p:nvPr>
        </p:nvGraphicFramePr>
        <p:xfrm>
          <a:off x="76200" y="1981200"/>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93 493</a:t>
                      </a:r>
                      <a:endParaRPr lang="en-ZA" sz="1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66 000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38 500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13 750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118 250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149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1" dirty="0">
                          <a:effectLst/>
                          <a:latin typeface="Arial" panose="020B0604020202020204" pitchFamily="34" charset="0"/>
                          <a:ea typeface="Times New Roman" panose="02020603050405020304" pitchFamily="18" charset="0"/>
                          <a:cs typeface="Arial" panose="020B0604020202020204" pitchFamily="34" charset="0"/>
                        </a:rPr>
                        <a:t>211 743</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905EB9D1-2A3B-A4C6-6802-5EC6A3570BB7}"/>
              </a:ext>
            </a:extLst>
          </p:cNvPr>
          <p:cNvSpPr>
            <a:spLocks noChangeArrowheads="1"/>
          </p:cNvSpPr>
          <p:nvPr/>
        </p:nvSpPr>
        <p:spPr bwMode="auto">
          <a:xfrm>
            <a:off x="159830" y="930675"/>
            <a:ext cx="882434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1"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POSITION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OF SPRING-CLEAN AS AT 28 FEBRUARY 2027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charset="-128"/>
            </a:endParaRPr>
          </a:p>
        </p:txBody>
      </p:sp>
      <p:graphicFrame>
        <p:nvGraphicFramePr>
          <p:cNvPr id="6" name="Table 5">
            <a:extLst>
              <a:ext uri="{FF2B5EF4-FFF2-40B4-BE49-F238E27FC236}">
                <a16:creationId xmlns:a16="http://schemas.microsoft.com/office/drawing/2014/main" id="{8231C027-820F-C5B9-CB2A-BFF1FDF06E2A}"/>
              </a:ext>
            </a:extLst>
          </p:cNvPr>
          <p:cNvGraphicFramePr>
            <a:graphicFrameLocks noGrp="1"/>
          </p:cNvGraphicFramePr>
          <p:nvPr>
            <p:extLst>
              <p:ext uri="{D42A27DB-BD31-4B8C-83A1-F6EECF244321}">
                <p14:modId xmlns:p14="http://schemas.microsoft.com/office/powerpoint/2010/main" val="1638402988"/>
              </p:ext>
            </p:extLst>
          </p:nvPr>
        </p:nvGraphicFramePr>
        <p:xfrm>
          <a:off x="4438650" y="2023216"/>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152 000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44 454</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196 454</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155700" algn="l"/>
                        </a:tabLst>
                      </a:pPr>
                      <a:r>
                        <a:rPr lang="en-US" sz="1600" dirty="0">
                          <a:effectLst/>
                          <a:latin typeface="Arial" panose="020B0604020202020204" pitchFamily="34" charset="0"/>
                          <a:ea typeface="Times New Roman" panose="02020603050405020304" pitchFamily="18" charset="0"/>
                          <a:cs typeface="Arial" panose="020B0604020202020204" pitchFamily="34" charset="0"/>
                        </a:rPr>
                        <a:t>50 000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5 500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7550" algn="l"/>
                        </a:tabLst>
                      </a:pPr>
                      <a:r>
                        <a:rPr lang="en-US" sz="1600" b="0" dirty="0">
                          <a:effectLst/>
                          <a:latin typeface="Arial" panose="020B0604020202020204" pitchFamily="34" charset="0"/>
                          <a:ea typeface="Times New Roman" panose="02020603050405020304" pitchFamily="18" charset="0"/>
                          <a:cs typeface="Arial" panose="020B0604020202020204" pitchFamily="34" charset="0"/>
                        </a:rPr>
                        <a:t>44 000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49 500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1200" algn="l"/>
                        </a:tabLst>
                      </a:pPr>
                      <a:r>
                        <a:rPr lang="en-US" sz="1600" b="1" dirty="0">
                          <a:effectLst/>
                          <a:latin typeface="Arial" panose="020B0604020202020204" pitchFamily="34" charset="0"/>
                          <a:ea typeface="Times New Roman" panose="02020603050405020304" pitchFamily="18" charset="0"/>
                          <a:cs typeface="Arial" panose="020B0604020202020204" pitchFamily="34" charset="0"/>
                        </a:rPr>
                        <a:t>295 954</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12" name="TextBox 11">
            <a:extLst>
              <a:ext uri="{FF2B5EF4-FFF2-40B4-BE49-F238E27FC236}">
                <a16:creationId xmlns:a16="http://schemas.microsoft.com/office/drawing/2014/main" id="{4F6A8528-42B1-A7EA-55E0-0C6A17ADF1C5}"/>
              </a:ext>
            </a:extLst>
          </p:cNvPr>
          <p:cNvSpPr txBox="1"/>
          <p:nvPr/>
        </p:nvSpPr>
        <p:spPr>
          <a:xfrm>
            <a:off x="76200" y="101619"/>
            <a:ext cx="873076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Example: LT financial planning…(cont.)</a:t>
            </a:r>
            <a:endParaRPr kumimoji="0" lang="en-ZA" sz="2800" b="0" i="0" u="none" strike="noStrike" kern="1200" cap="none" spc="0" normalizeH="0" baseline="0" noProof="0" dirty="0">
              <a:ln>
                <a:noFill/>
              </a:ln>
              <a:solidFill>
                <a:prstClr val="black"/>
              </a:solidFill>
              <a:effectLst/>
              <a:uLnTx/>
              <a:uFillTx/>
              <a:latin typeface="Arial" charset="0"/>
              <a:ea typeface="ＭＳ Ｐゴシック" charset="-128"/>
            </a:endParaRPr>
          </a:p>
        </p:txBody>
      </p:sp>
      <p:sp>
        <p:nvSpPr>
          <p:cNvPr id="5" name="TextBox 4">
            <a:extLst>
              <a:ext uri="{FF2B5EF4-FFF2-40B4-BE49-F238E27FC236}">
                <a16:creationId xmlns:a16="http://schemas.microsoft.com/office/drawing/2014/main" id="{9EC4AB55-5FEA-52A9-1ACB-CD80E6B452EA}"/>
              </a:ext>
            </a:extLst>
          </p:cNvPr>
          <p:cNvSpPr txBox="1"/>
          <p:nvPr/>
        </p:nvSpPr>
        <p:spPr>
          <a:xfrm>
            <a:off x="131152" y="5657671"/>
            <a:ext cx="8502163" cy="1200329"/>
          </a:xfrm>
          <a:prstGeom prst="rect">
            <a:avLst/>
          </a:prstGeom>
          <a:noFill/>
        </p:spPr>
        <p:txBody>
          <a:bodyPr wrap="square" rtlCol="0">
            <a:spAutoFit/>
          </a:bodyPr>
          <a:lstStyle/>
          <a:p>
            <a:r>
              <a:rPr lang="en-US" sz="2400" dirty="0"/>
              <a:t>            </a:t>
            </a:r>
            <a:r>
              <a:rPr lang="en-US" sz="2400" dirty="0">
                <a:highlight>
                  <a:srgbClr val="FFFF00"/>
                </a:highlight>
              </a:rPr>
              <a:t>“need”</a:t>
            </a:r>
            <a:r>
              <a:rPr lang="en-US" sz="2400" dirty="0"/>
              <a:t>				</a:t>
            </a:r>
            <a:r>
              <a:rPr lang="en-US" sz="2400" dirty="0">
                <a:highlight>
                  <a:srgbClr val="00FF00"/>
                </a:highlight>
              </a:rPr>
              <a:t>“has”</a:t>
            </a:r>
          </a:p>
          <a:p>
            <a:r>
              <a:rPr lang="en-US" sz="2400" dirty="0">
                <a:highlight>
                  <a:srgbClr val="99CCFF"/>
                </a:highlight>
              </a:rPr>
              <a:t>AFN = TA – TE&amp;L = 211 743 – 295 954 = -R84 211</a:t>
            </a:r>
          </a:p>
          <a:p>
            <a:r>
              <a:rPr lang="en-US" sz="2400" dirty="0"/>
              <a:t>BIG DIFFERENCE… (see slide 29)</a:t>
            </a:r>
            <a:endParaRPr lang="en-ZA" sz="2400" dirty="0"/>
          </a:p>
        </p:txBody>
      </p:sp>
      <p:sp>
        <p:nvSpPr>
          <p:cNvPr id="7" name="Oval 6">
            <a:extLst>
              <a:ext uri="{FF2B5EF4-FFF2-40B4-BE49-F238E27FC236}">
                <a16:creationId xmlns:a16="http://schemas.microsoft.com/office/drawing/2014/main" id="{9E91EB92-F542-0A41-1AEF-BB6CD4830381}"/>
              </a:ext>
            </a:extLst>
          </p:cNvPr>
          <p:cNvSpPr/>
          <p:nvPr/>
        </p:nvSpPr>
        <p:spPr bwMode="auto">
          <a:xfrm>
            <a:off x="7162800" y="5828873"/>
            <a:ext cx="1905000" cy="978317"/>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a:lstStyle>
          <a:p>
            <a:pPr marL="0" marR="0" indent="0" algn="ctr" defTabSz="914400" rtl="0" eaLnBrk="0" fontAlgn="base" latinLnBrk="0" hangingPunct="0">
              <a:lnSpc>
                <a:spcPct val="100000"/>
              </a:lnSpc>
              <a:spcBef>
                <a:spcPct val="0"/>
              </a:spcBef>
              <a:spcAft>
                <a:spcPct val="0"/>
              </a:spcAft>
              <a:buClrTx/>
              <a:buSzTx/>
              <a:buFontTx/>
              <a:buNone/>
              <a:tabLst/>
            </a:pPr>
            <a:r>
              <a:rPr lang="en-US" sz="1600" dirty="0">
                <a:solidFill>
                  <a:srgbClr val="FF0000"/>
                </a:solidFill>
                <a:ea typeface="ＭＳ Ｐゴシック" pitchFamily="1" charset="-128"/>
              </a:rPr>
              <a:t>Now slide 22 options will reverse…</a:t>
            </a:r>
            <a:endParaRPr kumimoji="0" lang="en-ZA" sz="1600" b="0" i="0" u="none" strike="noStrike" cap="none" normalizeH="0" baseline="0" dirty="0">
              <a:ln>
                <a:noFill/>
              </a:ln>
              <a:solidFill>
                <a:srgbClr val="FF0000"/>
              </a:solidFill>
              <a:effectLst/>
              <a:ea typeface="ＭＳ Ｐゴシック" pitchFamily="1" charset="-128"/>
            </a:endParaRPr>
          </a:p>
        </p:txBody>
      </p:sp>
    </p:spTree>
    <p:custDataLst>
      <p:tags r:id="rId1"/>
    </p:custDataLst>
    <p:extLst>
      <p:ext uri="{BB962C8B-B14F-4D97-AF65-F5344CB8AC3E}">
        <p14:creationId xmlns:p14="http://schemas.microsoft.com/office/powerpoint/2010/main" val="3812004306"/>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Other cases: LT financial planning…(cont.) </a:t>
            </a:r>
          </a:p>
        </p:txBody>
      </p:sp>
      <p:sp>
        <p:nvSpPr>
          <p:cNvPr id="9221" name="Rectangle 5"/>
          <p:cNvSpPr>
            <a:spLocks noGrp="1" noChangeArrowheads="1"/>
          </p:cNvSpPr>
          <p:nvPr>
            <p:ph idx="1"/>
          </p:nvPr>
        </p:nvSpPr>
        <p:spPr>
          <a:xfrm>
            <a:off x="152400" y="838200"/>
            <a:ext cx="8915400" cy="5867400"/>
          </a:xfrm>
        </p:spPr>
        <p:txBody>
          <a:bodyPr/>
          <a:lstStyle/>
          <a:p>
            <a:pPr marL="0" indent="0">
              <a:lnSpc>
                <a:spcPct val="105000"/>
              </a:lnSpc>
              <a:buSzPct val="100000"/>
              <a:buNone/>
            </a:pPr>
            <a:r>
              <a:rPr lang="en-US" sz="2400" dirty="0">
                <a:solidFill>
                  <a:srgbClr val="FF0000"/>
                </a:solidFill>
              </a:rPr>
              <a:t>Now… let’s look at other cases. Spring-Clean with this situation:</a:t>
            </a:r>
          </a:p>
          <a:p>
            <a:pPr marL="0" indent="0">
              <a:lnSpc>
                <a:spcPct val="105000"/>
              </a:lnSpc>
              <a:buSzPct val="100000"/>
              <a:buNone/>
            </a:pPr>
            <a:r>
              <a:rPr lang="en-US" sz="2400" dirty="0">
                <a:solidFill>
                  <a:srgbClr val="FF0000"/>
                </a:solidFill>
              </a:rPr>
              <a:t>(Go back to original situation and figures)</a:t>
            </a:r>
          </a:p>
          <a:p>
            <a:pPr marL="0" indent="0">
              <a:lnSpc>
                <a:spcPct val="105000"/>
              </a:lnSpc>
              <a:buSzPct val="100000"/>
              <a:buNone/>
            </a:pPr>
            <a:r>
              <a:rPr lang="en-US" sz="2400" dirty="0"/>
              <a:t>(b) Suppose the firm wishes to </a:t>
            </a:r>
            <a:r>
              <a:rPr lang="en-US" sz="2400" u="sng" dirty="0"/>
              <a:t>keep its debt/equity ratio constant</a:t>
            </a:r>
            <a:r>
              <a:rPr lang="en-US" sz="2400" dirty="0"/>
              <a:t>. (When doing the calculations, (1) use four decimals to further use the D/E ratio and (2) round the new total debt figure to the nearest full number before you continue with the </a:t>
            </a:r>
            <a:r>
              <a:rPr lang="en-US" sz="2400" i="1" dirty="0"/>
              <a:t>budgeted/pro forma </a:t>
            </a:r>
            <a:r>
              <a:rPr lang="en-US" sz="2400" dirty="0"/>
              <a:t>statement of financial position of the next year). </a:t>
            </a:r>
          </a:p>
          <a:p>
            <a:pPr marL="0" indent="0">
              <a:lnSpc>
                <a:spcPct val="105000"/>
              </a:lnSpc>
              <a:buSzPct val="100000"/>
              <a:buNone/>
            </a:pPr>
            <a:endParaRPr lang="en-US" sz="1200" dirty="0"/>
          </a:p>
          <a:p>
            <a:pPr marL="0" indent="0">
              <a:lnSpc>
                <a:spcPct val="105000"/>
              </a:lnSpc>
              <a:buSzPct val="100000"/>
              <a:buNone/>
            </a:pPr>
            <a:r>
              <a:rPr lang="en-US" sz="2400" dirty="0"/>
              <a:t>D/E = Total debt / Total equity = 95 500 / 182 000 = 0.5247</a:t>
            </a:r>
          </a:p>
          <a:p>
            <a:pPr marL="0" indent="0">
              <a:lnSpc>
                <a:spcPct val="105000"/>
              </a:lnSpc>
              <a:buSzPct val="100000"/>
              <a:buNone/>
            </a:pPr>
            <a:endParaRPr lang="en-US" sz="1200" dirty="0"/>
          </a:p>
          <a:p>
            <a:pPr marL="0" marR="0" lvl="0" indent="0" algn="l" defTabSz="914400" rtl="0" eaLnBrk="0" fontAlgn="base" latinLnBrk="0" hangingPunct="0">
              <a:lnSpc>
                <a:spcPct val="100000"/>
              </a:lnSpc>
              <a:spcBef>
                <a:spcPts val="0"/>
              </a:spcBef>
              <a:spcAft>
                <a:spcPct val="0"/>
              </a:spcAft>
              <a:buClr>
                <a:srgbClr val="1F497D"/>
              </a:buClr>
              <a:buSzPct val="100000"/>
              <a:buFont typeface="Wingdings" charset="2"/>
              <a:buNone/>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So, what should Total debt actually be in </a:t>
            </a:r>
            <a:r>
              <a:rPr kumimoji="0" lang="en-US" sz="2200" b="0" i="1" u="none" strike="noStrike" kern="0" cap="none" spc="0" normalizeH="0" baseline="0" noProof="0" dirty="0">
                <a:ln>
                  <a:noFill/>
                </a:ln>
                <a:solidFill>
                  <a:prstClr val="black"/>
                </a:solidFill>
                <a:effectLst/>
                <a:uLnTx/>
                <a:uFillTx/>
                <a:latin typeface="Tahoma"/>
                <a:ea typeface="ＭＳ Ｐゴシック"/>
              </a:rPr>
              <a:t>budgeted/pro forma </a:t>
            </a:r>
            <a:r>
              <a:rPr kumimoji="0" lang="en-US" sz="2200" b="0" i="0" u="none" strike="noStrike" kern="0" cap="none" spc="0" normalizeH="0" baseline="0" noProof="0" dirty="0">
                <a:ln>
                  <a:noFill/>
                </a:ln>
                <a:solidFill>
                  <a:prstClr val="black"/>
                </a:solidFill>
                <a:effectLst/>
                <a:uLnTx/>
                <a:uFillTx/>
                <a:latin typeface="Tahoma"/>
                <a:ea typeface="ＭＳ Ｐゴシック"/>
              </a:rPr>
              <a:t>for next year?</a:t>
            </a:r>
          </a:p>
          <a:p>
            <a:pPr marL="0" marR="0" lvl="0" indent="0" algn="l" defTabSz="914400" rtl="0" eaLnBrk="0" fontAlgn="base" latinLnBrk="0" hangingPunct="0">
              <a:lnSpc>
                <a:spcPct val="100000"/>
              </a:lnSpc>
              <a:spcBef>
                <a:spcPts val="0"/>
              </a:spcBef>
              <a:spcAft>
                <a:spcPct val="0"/>
              </a:spcAft>
              <a:buClr>
                <a:srgbClr val="1F497D"/>
              </a:buClr>
              <a:buSzPct val="100000"/>
              <a:buFont typeface="Wingdings" charset="2"/>
              <a:buNone/>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Total debt = D/E x New equity = 0.5247 x </a:t>
            </a:r>
            <a:r>
              <a:rPr lang="en-US" sz="2200" dirty="0">
                <a:solidFill>
                  <a:prstClr val="black"/>
                </a:solidFill>
                <a:latin typeface="Tahoma"/>
                <a:ea typeface="ＭＳ Ｐゴシック"/>
              </a:rPr>
              <a:t>196 454</a:t>
            </a:r>
            <a:r>
              <a:rPr kumimoji="0" lang="en-US" sz="2200" b="0" i="0" u="none" strike="noStrike" kern="0" cap="none" spc="0" normalizeH="0" baseline="0" noProof="0" dirty="0">
                <a:ln>
                  <a:noFill/>
                </a:ln>
                <a:solidFill>
                  <a:prstClr val="black"/>
                </a:solidFill>
                <a:effectLst/>
                <a:uLnTx/>
                <a:uFillTx/>
                <a:latin typeface="Tahoma"/>
                <a:ea typeface="ＭＳ Ｐゴシック"/>
              </a:rPr>
              <a:t> = R103</a:t>
            </a:r>
            <a:r>
              <a:rPr kumimoji="0" lang="en-US" sz="2200" b="0" i="0" u="none" strike="noStrike" kern="0" cap="none" spc="0" normalizeH="0" noProof="0" dirty="0">
                <a:ln>
                  <a:noFill/>
                </a:ln>
                <a:solidFill>
                  <a:prstClr val="black"/>
                </a:solidFill>
                <a:effectLst/>
                <a:uLnTx/>
                <a:uFillTx/>
                <a:latin typeface="Tahoma"/>
                <a:ea typeface="ＭＳ Ｐゴシック"/>
              </a:rPr>
              <a:t> 079.41</a:t>
            </a:r>
          </a:p>
          <a:p>
            <a:pPr marL="0" marR="0" lvl="0" indent="0" algn="l" defTabSz="914400" rtl="0" eaLnBrk="0" fontAlgn="base" latinLnBrk="0" hangingPunct="0">
              <a:lnSpc>
                <a:spcPct val="100000"/>
              </a:lnSpc>
              <a:spcBef>
                <a:spcPts val="0"/>
              </a:spcBef>
              <a:spcAft>
                <a:spcPct val="0"/>
              </a:spcAft>
              <a:buClr>
                <a:srgbClr val="1F497D"/>
              </a:buClr>
              <a:buSzPct val="100000"/>
              <a:buFont typeface="Wingdings" charset="2"/>
              <a:buNone/>
              <a:tabLst/>
              <a:defRPr/>
            </a:pPr>
            <a:r>
              <a:rPr lang="en-US" sz="2200" baseline="0" dirty="0">
                <a:solidFill>
                  <a:prstClr val="black"/>
                </a:solidFill>
                <a:latin typeface="Tahoma"/>
                <a:ea typeface="ＭＳ Ｐゴシック"/>
              </a:rPr>
              <a:t>Subtract the AP which we account</a:t>
            </a:r>
            <a:r>
              <a:rPr lang="en-US" sz="2200" dirty="0">
                <a:solidFill>
                  <a:prstClr val="black"/>
                </a:solidFill>
                <a:latin typeface="Tahoma"/>
                <a:ea typeface="ＭＳ Ｐゴシック"/>
              </a:rPr>
              <a:t> for, for next year of 44 000</a:t>
            </a:r>
          </a:p>
          <a:p>
            <a:pPr marL="0" marR="0" lvl="0" indent="0" algn="l" defTabSz="914400" rtl="0" eaLnBrk="0" fontAlgn="base" latinLnBrk="0" hangingPunct="0">
              <a:lnSpc>
                <a:spcPct val="100000"/>
              </a:lnSpc>
              <a:spcBef>
                <a:spcPts val="0"/>
              </a:spcBef>
              <a:spcAft>
                <a:spcPct val="0"/>
              </a:spcAft>
              <a:buClr>
                <a:srgbClr val="1F497D"/>
              </a:buClr>
              <a:buSzPct val="100000"/>
              <a:buFont typeface="Wingdings" charset="2"/>
              <a:buNone/>
              <a:tabLst/>
              <a:defRPr/>
            </a:pPr>
            <a:r>
              <a:rPr kumimoji="0" lang="en-US" sz="2200" b="0" i="0" u="none" strike="noStrike" kern="0" cap="none" spc="0" normalizeH="0" baseline="0" noProof="0" dirty="0">
                <a:ln>
                  <a:noFill/>
                </a:ln>
                <a:solidFill>
                  <a:prstClr val="black"/>
                </a:solidFill>
                <a:effectLst/>
                <a:uLnTx/>
                <a:uFillTx/>
                <a:latin typeface="Tahoma"/>
                <a:ea typeface="ＭＳ Ｐゴシック"/>
              </a:rPr>
              <a:t>103</a:t>
            </a:r>
            <a:r>
              <a:rPr kumimoji="0" lang="en-US" sz="2200" b="0" i="0" u="none" strike="noStrike" kern="0" cap="none" spc="0" normalizeH="0" noProof="0" dirty="0">
                <a:ln>
                  <a:noFill/>
                </a:ln>
                <a:solidFill>
                  <a:prstClr val="black"/>
                </a:solidFill>
                <a:effectLst/>
                <a:uLnTx/>
                <a:uFillTx/>
                <a:latin typeface="Tahoma"/>
                <a:ea typeface="ＭＳ Ｐゴシック"/>
              </a:rPr>
              <a:t> 079 – 44 000 = R59 079      </a:t>
            </a:r>
            <a:r>
              <a:rPr kumimoji="0" lang="en-US" sz="2000" b="0" i="0" u="none" strike="noStrike" kern="0" cap="none" spc="0" normalizeH="0" noProof="0" dirty="0">
                <a:ln>
                  <a:noFill/>
                </a:ln>
                <a:solidFill>
                  <a:prstClr val="black"/>
                </a:solidFill>
                <a:effectLst/>
                <a:uLnTx/>
                <a:uFillTx/>
                <a:latin typeface="Tahoma"/>
                <a:ea typeface="ＭＳ Ｐゴシック"/>
              </a:rPr>
              <a:t>(this is then LT and ST debt, borrowed)</a:t>
            </a:r>
            <a:endParaRPr kumimoji="0" lang="en-US" sz="2000" b="0" i="0" u="none" strike="noStrike" kern="0" cap="none" spc="0" normalizeH="0" baseline="0" noProof="0" dirty="0">
              <a:ln>
                <a:noFill/>
              </a:ln>
              <a:solidFill>
                <a:prstClr val="black"/>
              </a:solidFill>
              <a:effectLst/>
              <a:uLnTx/>
              <a:uFillTx/>
              <a:latin typeface="Tahoma"/>
              <a:ea typeface="ＭＳ Ｐゴシック"/>
            </a:endParaRPr>
          </a:p>
          <a:p>
            <a:pPr marL="0" indent="0">
              <a:lnSpc>
                <a:spcPct val="105000"/>
              </a:lnSpc>
              <a:buSzPct val="100000"/>
              <a:buNone/>
            </a:pPr>
            <a:endParaRPr lang="en-US" sz="2400" dirty="0"/>
          </a:p>
          <a:p>
            <a:pPr marL="0" indent="0">
              <a:lnSpc>
                <a:spcPct val="105000"/>
              </a:lnSpc>
              <a:buSzPct val="100000"/>
              <a:buNone/>
            </a:pPr>
            <a:endParaRPr lang="en-US" sz="2400" dirty="0"/>
          </a:p>
          <a:p>
            <a:pPr marL="0" indent="0">
              <a:lnSpc>
                <a:spcPct val="105000"/>
              </a:lnSpc>
              <a:buSzPct val="100000"/>
              <a:buNone/>
            </a:pPr>
            <a:endParaRPr lang="en-US" sz="24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3291179602"/>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xEl>
                                              <p:pRg st="4" end="4"/>
                                            </p:txEl>
                                          </p:spTgt>
                                        </p:tgtEl>
                                        <p:attrNameLst>
                                          <p:attrName>style.visibility</p:attrName>
                                        </p:attrNameLst>
                                      </p:cBhvr>
                                      <p:to>
                                        <p:strVal val="visible"/>
                                      </p:to>
                                    </p:set>
                                    <p:anim calcmode="lin" valueType="num">
                                      <p:cBhvr additive="base">
                                        <p:cTn id="7" dur="500" fill="hold"/>
                                        <p:tgtEl>
                                          <p:spTgt spid="922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1">
                                            <p:txEl>
                                              <p:pRg st="6" end="6"/>
                                            </p:txEl>
                                          </p:spTgt>
                                        </p:tgtEl>
                                        <p:attrNameLst>
                                          <p:attrName>style.visibility</p:attrName>
                                        </p:attrNameLst>
                                      </p:cBhvr>
                                      <p:to>
                                        <p:strVal val="visible"/>
                                      </p:to>
                                    </p:set>
                                    <p:anim calcmode="lin" valueType="num">
                                      <p:cBhvr additive="base">
                                        <p:cTn id="13" dur="500" fill="hold"/>
                                        <p:tgtEl>
                                          <p:spTgt spid="9221">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1">
                                            <p:txEl>
                                              <p:pRg st="6" end="6"/>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221">
                                            <p:txEl>
                                              <p:pRg st="7" end="7"/>
                                            </p:txEl>
                                          </p:spTgt>
                                        </p:tgtEl>
                                        <p:attrNameLst>
                                          <p:attrName>style.visibility</p:attrName>
                                        </p:attrNameLst>
                                      </p:cBhvr>
                                      <p:to>
                                        <p:strVal val="visible"/>
                                      </p:to>
                                    </p:set>
                                    <p:anim calcmode="lin" valueType="num">
                                      <p:cBhvr additive="base">
                                        <p:cTn id="17" dur="500" fill="hold"/>
                                        <p:tgtEl>
                                          <p:spTgt spid="9221">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221">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221">
                                            <p:txEl>
                                              <p:pRg st="8" end="8"/>
                                            </p:txEl>
                                          </p:spTgt>
                                        </p:tgtEl>
                                        <p:attrNameLst>
                                          <p:attrName>style.visibility</p:attrName>
                                        </p:attrNameLst>
                                      </p:cBhvr>
                                      <p:to>
                                        <p:strVal val="visible"/>
                                      </p:to>
                                    </p:set>
                                    <p:anim calcmode="lin" valueType="num">
                                      <p:cBhvr additive="base">
                                        <p:cTn id="21" dur="500" fill="hold"/>
                                        <p:tgtEl>
                                          <p:spTgt spid="9221">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221">
                                            <p:txEl>
                                              <p:pRg st="8" end="8"/>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221">
                                            <p:txEl>
                                              <p:pRg st="9" end="9"/>
                                            </p:txEl>
                                          </p:spTgt>
                                        </p:tgtEl>
                                        <p:attrNameLst>
                                          <p:attrName>style.visibility</p:attrName>
                                        </p:attrNameLst>
                                      </p:cBhvr>
                                      <p:to>
                                        <p:strVal val="visible"/>
                                      </p:to>
                                    </p:set>
                                    <p:anim calcmode="lin" valueType="num">
                                      <p:cBhvr additive="base">
                                        <p:cTn id="25" dur="500" fill="hold"/>
                                        <p:tgtEl>
                                          <p:spTgt spid="9221">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2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C610F3-6E8B-ABD5-20C0-766C642A84D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6B0E13-F89A-9EF2-DE4C-CAA4F3C0843A}"/>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graphicFrame>
        <p:nvGraphicFramePr>
          <p:cNvPr id="2" name="Table 1">
            <a:extLst>
              <a:ext uri="{FF2B5EF4-FFF2-40B4-BE49-F238E27FC236}">
                <a16:creationId xmlns:a16="http://schemas.microsoft.com/office/drawing/2014/main" id="{4DDE1653-D396-A9C1-91A0-B05C791556AB}"/>
              </a:ext>
            </a:extLst>
          </p:cNvPr>
          <p:cNvGraphicFramePr>
            <a:graphicFrameLocks noGrp="1"/>
          </p:cNvGraphicFramePr>
          <p:nvPr/>
        </p:nvGraphicFramePr>
        <p:xfrm>
          <a:off x="76200" y="1981200"/>
          <a:ext cx="4267200" cy="2682240"/>
        </p:xfrm>
        <a:graphic>
          <a:graphicData uri="http://schemas.openxmlformats.org/drawingml/2006/table">
            <a:tbl>
              <a:tblPr firstRow="1" firstCol="1" lastRow="1" lastCol="1" bandRow="1" bandCol="1"/>
              <a:tblGrid>
                <a:gridCol w="2698376">
                  <a:extLst>
                    <a:ext uri="{9D8B030D-6E8A-4147-A177-3AD203B41FA5}">
                      <a16:colId xmlns:a16="http://schemas.microsoft.com/office/drawing/2014/main" val="899817507"/>
                    </a:ext>
                  </a:extLst>
                </a:gridCol>
                <a:gridCol w="1568824">
                  <a:extLst>
                    <a:ext uri="{9D8B030D-6E8A-4147-A177-3AD203B41FA5}">
                      <a16:colId xmlns:a16="http://schemas.microsoft.com/office/drawing/2014/main" val="1505272290"/>
                    </a:ext>
                  </a:extLst>
                </a:gridCol>
              </a:tblGrid>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extLst>
                  <a:ext uri="{0D108BD9-81ED-4DB2-BD59-A6C34878D82A}">
                    <a16:rowId xmlns:a16="http://schemas.microsoft.com/office/drawing/2014/main" val="3545374867"/>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assets</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443819"/>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Net non-current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187 000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09055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assets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5224874"/>
                  </a:ext>
                </a:extLst>
              </a:tr>
              <a:tr h="218869">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Inventory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66 000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8847059"/>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        Accounts receivable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38 500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34441"/>
                  </a:ext>
                </a:extLst>
              </a:tr>
              <a:tr h="215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Cash</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13 750</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0499015"/>
                  </a:ext>
                </a:extLst>
              </a:tr>
              <a:tr h="215900">
                <a:tc>
                  <a:txBody>
                    <a:bodyPr/>
                    <a:lstStyle/>
                    <a:p>
                      <a:pPr algn="just"/>
                      <a:r>
                        <a:rPr lang="en-ZA" sz="1600">
                          <a:effectLst/>
                          <a:latin typeface="Arial" panose="020B0604020202020204" pitchFamily="34" charset="0"/>
                          <a:ea typeface="Times New Roman" panose="02020603050405020304" pitchFamily="18" charset="0"/>
                          <a:cs typeface="Arial" panose="020B0604020202020204" pitchFamily="34" charset="0"/>
                        </a:rPr>
                        <a:t>Total current assets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118 250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708160"/>
                  </a:ext>
                </a:extLst>
              </a:tr>
              <a:tr h="149900">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0494547"/>
                  </a:ext>
                </a:extLst>
              </a:tr>
              <a:tr h="215900">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ASSETS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1" dirty="0">
                          <a:effectLst/>
                          <a:latin typeface="Arial" panose="020B0604020202020204" pitchFamily="34" charset="0"/>
                          <a:ea typeface="Times New Roman" panose="02020603050405020304" pitchFamily="18" charset="0"/>
                          <a:cs typeface="Arial" panose="020B0604020202020204" pitchFamily="34" charset="0"/>
                        </a:rPr>
                        <a:t>305 250</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809461"/>
                  </a:ext>
                </a:extLst>
              </a:tr>
            </a:tbl>
          </a:graphicData>
        </a:graphic>
      </p:graphicFrame>
      <p:sp>
        <p:nvSpPr>
          <p:cNvPr id="4" name="Rectangle 1">
            <a:extLst>
              <a:ext uri="{FF2B5EF4-FFF2-40B4-BE49-F238E27FC236}">
                <a16:creationId xmlns:a16="http://schemas.microsoft.com/office/drawing/2014/main" id="{50D051D9-0F8D-B584-BBF6-2BE1EF2DE8A5}"/>
              </a:ext>
            </a:extLst>
          </p:cNvPr>
          <p:cNvSpPr>
            <a:spLocks noChangeArrowheads="1"/>
          </p:cNvSpPr>
          <p:nvPr/>
        </p:nvSpPr>
        <p:spPr bwMode="auto">
          <a:xfrm>
            <a:off x="159830" y="930675"/>
            <a:ext cx="882434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1"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BUDGETED/PRO FORMA </a:t>
            </a: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STATEMENT OF FINANCIAL POSITION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OF SPRING-CLEAN AS AT 28 FEBRUARY 2027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ZA" altLang="en-US" sz="2200" b="1" i="0" u="none" strike="noStrike" kern="1200" cap="none" spc="0" normalizeH="0" baseline="0" noProof="0" dirty="0">
                <a:ln>
                  <a:noFill/>
                </a:ln>
                <a:solidFill>
                  <a:prstClr val="black"/>
                </a:solidFill>
                <a:effectLst/>
                <a:uLnTx/>
                <a:uFillTx/>
                <a:latin typeface="Arial" panose="020B0604020202020204" pitchFamily="34" charset="0"/>
                <a:ea typeface="Times New Roman" panose="02020603050405020304" pitchFamily="18" charset="0"/>
                <a:cs typeface="Arial" panose="020B0604020202020204" pitchFamily="34" charset="0"/>
              </a:rPr>
              <a:t>(R IN MILLIONS)</a:t>
            </a:r>
            <a:endParaRPr kumimoji="0" lang="en-ZA" altLang="en-US" sz="2200" b="0" i="0" u="none" strike="noStrike" kern="1200" cap="none" spc="0" normalizeH="0" baseline="0" noProof="0" dirty="0">
              <a:ln>
                <a:noFill/>
              </a:ln>
              <a:solidFill>
                <a:prstClr val="black"/>
              </a:solidFill>
              <a:effectLst/>
              <a:uLnTx/>
              <a:uFillTx/>
              <a:latin typeface="Arial" charset="0"/>
              <a:ea typeface="ＭＳ Ｐゴシック" charset="-128"/>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charset="-128"/>
            </a:endParaRPr>
          </a:p>
        </p:txBody>
      </p:sp>
      <p:graphicFrame>
        <p:nvGraphicFramePr>
          <p:cNvPr id="6" name="Table 5">
            <a:extLst>
              <a:ext uri="{FF2B5EF4-FFF2-40B4-BE49-F238E27FC236}">
                <a16:creationId xmlns:a16="http://schemas.microsoft.com/office/drawing/2014/main" id="{D72EB4C5-1D9D-2BB8-F6DC-5A8D3A1A7738}"/>
              </a:ext>
            </a:extLst>
          </p:cNvPr>
          <p:cNvGraphicFramePr>
            <a:graphicFrameLocks noGrp="1"/>
          </p:cNvGraphicFramePr>
          <p:nvPr>
            <p:extLst>
              <p:ext uri="{D42A27DB-BD31-4B8C-83A1-F6EECF244321}">
                <p14:modId xmlns:p14="http://schemas.microsoft.com/office/powerpoint/2010/main" val="2760238392"/>
              </p:ext>
            </p:extLst>
          </p:nvPr>
        </p:nvGraphicFramePr>
        <p:xfrm>
          <a:off x="4438650" y="2023216"/>
          <a:ext cx="4629150" cy="3754848"/>
        </p:xfrm>
        <a:graphic>
          <a:graphicData uri="http://schemas.openxmlformats.org/drawingml/2006/table">
            <a:tbl>
              <a:tblPr firstRow="1" firstCol="1" lastRow="1" lastCol="1" bandRow="1" bandCol="1"/>
              <a:tblGrid>
                <a:gridCol w="3333750">
                  <a:extLst>
                    <a:ext uri="{9D8B030D-6E8A-4147-A177-3AD203B41FA5}">
                      <a16:colId xmlns:a16="http://schemas.microsoft.com/office/drawing/2014/main" val="2946732715"/>
                    </a:ext>
                  </a:extLst>
                </a:gridCol>
                <a:gridCol w="1295400">
                  <a:extLst>
                    <a:ext uri="{9D8B030D-6E8A-4147-A177-3AD203B41FA5}">
                      <a16:colId xmlns:a16="http://schemas.microsoft.com/office/drawing/2014/main" val="3928791965"/>
                    </a:ext>
                  </a:extLst>
                </a:gridCol>
              </a:tblGrid>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extLst>
                  <a:ext uri="{0D108BD9-81ED-4DB2-BD59-A6C34878D82A}">
                    <a16:rowId xmlns:a16="http://schemas.microsoft.com/office/drawing/2014/main" val="209240407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Owner’s equity</a:t>
                      </a:r>
                    </a:p>
                  </a:txBody>
                  <a:tcPr marL="68580" marR="68580" marT="0" marB="0">
                    <a:lnL>
                      <a:noFill/>
                    </a:lnL>
                    <a:lnR>
                      <a:noFill/>
                    </a:lnR>
                    <a:lnT>
                      <a:noFill/>
                    </a:lnT>
                    <a:lnB>
                      <a:noFill/>
                    </a:lnB>
                    <a:noFill/>
                  </a:tcPr>
                </a:tc>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1558651"/>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Ordinary share capital</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b="0" dirty="0">
                          <a:effectLst/>
                          <a:latin typeface="Arial" panose="020B0604020202020204" pitchFamily="34" charset="0"/>
                          <a:ea typeface="Times New Roman" panose="02020603050405020304" pitchFamily="18" charset="0"/>
                          <a:cs typeface="Arial" panose="020B0604020202020204" pitchFamily="34" charset="0"/>
                        </a:rPr>
                        <a:t>152 000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9779505"/>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Retained profit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44 454</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1104210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equity</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r>
                        <a:rPr lang="en-US" sz="1600" dirty="0">
                          <a:effectLst/>
                          <a:latin typeface="Arial" panose="020B0604020202020204" pitchFamily="34" charset="0"/>
                          <a:ea typeface="Times New Roman" panose="02020603050405020304" pitchFamily="18" charset="0"/>
                          <a:cs typeface="Arial" panose="020B0604020202020204" pitchFamily="34" charset="0"/>
                        </a:rPr>
                        <a:t>196 454</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9467141"/>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Non-current liabilities</a:t>
                      </a:r>
                    </a:p>
                  </a:txBody>
                  <a:tcPr marL="68580" marR="68580" marT="0" marB="0">
                    <a:lnL>
                      <a:noFill/>
                    </a:lnL>
                    <a:lnR>
                      <a:noFill/>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1478243"/>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Long-term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1155700" algn="l"/>
                        </a:tabLst>
                      </a:pPr>
                      <a:r>
                        <a:rPr lang="en-US" sz="1600"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2631716"/>
                  </a:ext>
                </a:extLst>
              </a:tr>
              <a:tr h="462544">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t>
                      </a:r>
                    </a:p>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Current liabilities</a:t>
                      </a:r>
                    </a:p>
                  </a:txBody>
                  <a:tcPr marL="68580" marR="68580" marT="0" marB="0">
                    <a:lnL>
                      <a:noFill/>
                    </a:lnL>
                    <a:lnR>
                      <a:noFill/>
                    </a:lnR>
                    <a:lnT>
                      <a:noFill/>
                    </a:lnT>
                    <a:lnB>
                      <a:noFill/>
                    </a:lnB>
                    <a:noFill/>
                  </a:tcPr>
                </a:tc>
                <a:tc>
                  <a:txBody>
                    <a:bodyPr/>
                    <a:lstStyle/>
                    <a:p>
                      <a:pPr algn="r"/>
                      <a:r>
                        <a:rPr lang="en-US" sz="1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59 079</a:t>
                      </a:r>
                      <a:endParaRPr lang="en-ZA" sz="16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9714749"/>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Short-term debt</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7785248"/>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        Accounts payable</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7550" algn="l"/>
                        </a:tabLst>
                      </a:pPr>
                      <a:r>
                        <a:rPr lang="en-US" sz="1600" b="0" dirty="0">
                          <a:effectLst/>
                          <a:latin typeface="Arial" panose="020B0604020202020204" pitchFamily="34" charset="0"/>
                          <a:ea typeface="Times New Roman" panose="02020603050405020304" pitchFamily="18" charset="0"/>
                          <a:cs typeface="Arial" panose="020B0604020202020204" pitchFamily="34" charset="0"/>
                        </a:rPr>
                        <a:t>44 000</a:t>
                      </a:r>
                      <a:endParaRPr lang="en-ZA"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3379796"/>
                  </a:ext>
                </a:extLst>
              </a:tr>
              <a:tr h="231272">
                <a:tc>
                  <a:txBody>
                    <a:bodyPr/>
                    <a:lstStyle/>
                    <a:p>
                      <a:pPr algn="just"/>
                      <a:r>
                        <a:rPr lang="en-ZA" sz="1600" dirty="0">
                          <a:effectLst/>
                          <a:latin typeface="Arial" panose="020B0604020202020204" pitchFamily="34" charset="0"/>
                          <a:ea typeface="Times New Roman" panose="02020603050405020304" pitchFamily="18" charset="0"/>
                          <a:cs typeface="Arial" panose="020B0604020202020204" pitchFamily="34" charset="0"/>
                        </a:rPr>
                        <a:t>Total current liabilities</a:t>
                      </a: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0080505"/>
                  </a:ext>
                </a:extLst>
              </a:tr>
              <a:tr h="231272">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 </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a:noFill/>
                    </a:lnT>
                    <a:lnB>
                      <a:noFill/>
                    </a:lnB>
                    <a:noFill/>
                  </a:tcPr>
                </a:tc>
                <a:tc>
                  <a:txBody>
                    <a:bodyPr/>
                    <a:lstStyle/>
                    <a:p>
                      <a:pPr algn="r">
                        <a:tabLst>
                          <a:tab pos="711200" algn="l"/>
                        </a:tabLst>
                      </a:pP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789436"/>
                  </a:ext>
                </a:extLst>
              </a:tr>
              <a:tr h="341088">
                <a:tc>
                  <a:txBody>
                    <a:bodyPr/>
                    <a:lstStyle/>
                    <a:p>
                      <a:pPr algn="just"/>
                      <a:r>
                        <a:rPr lang="en-ZA" sz="1600" b="1" dirty="0">
                          <a:effectLst/>
                          <a:latin typeface="Arial" panose="020B0604020202020204" pitchFamily="34" charset="0"/>
                          <a:ea typeface="Times New Roman" panose="02020603050405020304" pitchFamily="18" charset="0"/>
                          <a:cs typeface="Arial" panose="020B0604020202020204" pitchFamily="34" charset="0"/>
                        </a:rPr>
                        <a:t>TOTAL EQUITY AND LIABILITIES</a:t>
                      </a:r>
                      <a:endParaRPr lang="en-ZA"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a:txBody>
                    <a:bodyPr/>
                    <a:lstStyle/>
                    <a:p>
                      <a:pPr algn="r">
                        <a:tabLst>
                          <a:tab pos="711200" algn="l"/>
                        </a:tabLst>
                      </a:pPr>
                      <a:r>
                        <a:rPr lang="en-US" sz="1600" b="1" dirty="0">
                          <a:effectLst/>
                          <a:latin typeface="Arial" panose="020B0604020202020204" pitchFamily="34" charset="0"/>
                          <a:ea typeface="Times New Roman" panose="02020603050405020304" pitchFamily="18" charset="0"/>
                          <a:cs typeface="Arial" panose="020B0604020202020204" pitchFamily="34" charset="0"/>
                        </a:rPr>
                        <a:t>299 533</a:t>
                      </a:r>
                      <a:endParaRPr lang="en-ZA"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9173695"/>
                  </a:ext>
                </a:extLst>
              </a:tr>
            </a:tbl>
          </a:graphicData>
        </a:graphic>
      </p:graphicFrame>
      <p:sp>
        <p:nvSpPr>
          <p:cNvPr id="12" name="TextBox 11">
            <a:extLst>
              <a:ext uri="{FF2B5EF4-FFF2-40B4-BE49-F238E27FC236}">
                <a16:creationId xmlns:a16="http://schemas.microsoft.com/office/drawing/2014/main" id="{F47659D6-7CF6-C13E-1068-895B98DC4450}"/>
              </a:ext>
            </a:extLst>
          </p:cNvPr>
          <p:cNvSpPr txBox="1"/>
          <p:nvPr/>
        </p:nvSpPr>
        <p:spPr>
          <a:xfrm>
            <a:off x="76200" y="101619"/>
            <a:ext cx="873076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Example: LT financial planning…(cont.)</a:t>
            </a:r>
            <a:endParaRPr kumimoji="0" lang="en-ZA" sz="2800" b="0" i="0" u="none" strike="noStrike" kern="1200" cap="none" spc="0" normalizeH="0" baseline="0" noProof="0" dirty="0">
              <a:ln>
                <a:noFill/>
              </a:ln>
              <a:solidFill>
                <a:prstClr val="black"/>
              </a:solidFill>
              <a:effectLst/>
              <a:uLnTx/>
              <a:uFillTx/>
              <a:latin typeface="Arial" charset="0"/>
              <a:ea typeface="ＭＳ Ｐゴシック" charset="-128"/>
            </a:endParaRPr>
          </a:p>
        </p:txBody>
      </p:sp>
      <p:sp>
        <p:nvSpPr>
          <p:cNvPr id="5" name="TextBox 4">
            <a:extLst>
              <a:ext uri="{FF2B5EF4-FFF2-40B4-BE49-F238E27FC236}">
                <a16:creationId xmlns:a16="http://schemas.microsoft.com/office/drawing/2014/main" id="{2B9F98EC-9719-57F8-0939-500023CEE5DB}"/>
              </a:ext>
            </a:extLst>
          </p:cNvPr>
          <p:cNvSpPr txBox="1"/>
          <p:nvPr/>
        </p:nvSpPr>
        <p:spPr>
          <a:xfrm>
            <a:off x="92318" y="5646830"/>
            <a:ext cx="8502163" cy="120032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charset="0"/>
                <a:ea typeface="ＭＳ Ｐゴシック" charset="-128"/>
              </a:rPr>
              <a:t>            </a:t>
            </a:r>
            <a:r>
              <a:rPr kumimoji="0" lang="en-US" sz="2400" b="0" i="0" u="none" strike="noStrike" kern="1200" cap="none" spc="0" normalizeH="0" baseline="0" noProof="0" dirty="0">
                <a:ln>
                  <a:noFill/>
                </a:ln>
                <a:solidFill>
                  <a:prstClr val="black"/>
                </a:solidFill>
                <a:effectLst/>
                <a:highlight>
                  <a:srgbClr val="FFFF00"/>
                </a:highlight>
                <a:uLnTx/>
                <a:uFillTx/>
                <a:latin typeface="Arial" charset="0"/>
                <a:ea typeface="ＭＳ Ｐゴシック" charset="-128"/>
              </a:rPr>
              <a:t>“need”</a:t>
            </a:r>
            <a:r>
              <a:rPr kumimoji="0" lang="en-US" sz="2400" b="0" i="0" u="none" strike="noStrike" kern="1200" cap="none" spc="0" normalizeH="0" baseline="0" noProof="0" dirty="0">
                <a:ln>
                  <a:noFill/>
                </a:ln>
                <a:solidFill>
                  <a:prstClr val="black"/>
                </a:solidFill>
                <a:effectLst/>
                <a:uLnTx/>
                <a:uFillTx/>
                <a:latin typeface="Arial" charset="0"/>
                <a:ea typeface="ＭＳ Ｐゴシック" charset="-128"/>
              </a:rPr>
              <a:t>				</a:t>
            </a:r>
            <a:r>
              <a:rPr kumimoji="0" lang="en-US" sz="2400" b="0" i="0" u="none" strike="noStrike" kern="1200" cap="none" spc="0" normalizeH="0" baseline="0" noProof="0" dirty="0">
                <a:ln>
                  <a:noFill/>
                </a:ln>
                <a:solidFill>
                  <a:prstClr val="black"/>
                </a:solidFill>
                <a:effectLst/>
                <a:highlight>
                  <a:srgbClr val="00FF00"/>
                </a:highlight>
                <a:uLnTx/>
                <a:uFillTx/>
                <a:latin typeface="Arial" charset="0"/>
                <a:ea typeface="ＭＳ Ｐゴシック" charset="-128"/>
              </a:rPr>
              <a:t>“has”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highlight>
                  <a:srgbClr val="99CCFF"/>
                </a:highlight>
                <a:uLnTx/>
                <a:uFillTx/>
                <a:latin typeface="Arial" charset="0"/>
                <a:ea typeface="ＭＳ Ｐゴシック" charset="-128"/>
              </a:rPr>
              <a:t>AFN = TA – TE&amp;L = 305 250 – </a:t>
            </a:r>
            <a:r>
              <a:rPr lang="en-US" sz="2400" dirty="0">
                <a:solidFill>
                  <a:prstClr val="black"/>
                </a:solidFill>
                <a:highlight>
                  <a:srgbClr val="99CCFF"/>
                </a:highlight>
              </a:rPr>
              <a:t>299</a:t>
            </a:r>
            <a:r>
              <a:rPr kumimoji="0" lang="en-US" sz="2400" b="0" i="0" u="none" strike="noStrike" kern="1200" cap="none" spc="0" normalizeH="0" baseline="0" noProof="0" dirty="0">
                <a:ln>
                  <a:noFill/>
                </a:ln>
                <a:solidFill>
                  <a:prstClr val="black"/>
                </a:solidFill>
                <a:effectLst/>
                <a:highlight>
                  <a:srgbClr val="99CCFF"/>
                </a:highlight>
                <a:uLnTx/>
                <a:uFillTx/>
                <a:latin typeface="Arial" charset="0"/>
                <a:ea typeface="ＭＳ Ｐゴシック" charset="-128"/>
              </a:rPr>
              <a:t> 533 = R5 717</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charset="0"/>
                <a:ea typeface="ＭＳ Ｐゴシック" charset="-128"/>
              </a:rPr>
              <a:t>BIG DIFFERENCE… (see slides 29 &amp; 31)</a:t>
            </a:r>
            <a:endParaRPr kumimoji="0" lang="en-ZA" sz="2400" b="0" i="0" u="none" strike="noStrike" kern="1200" cap="none" spc="0" normalizeH="0" baseline="0" noProof="0" dirty="0">
              <a:ln>
                <a:noFill/>
              </a:ln>
              <a:solidFill>
                <a:prstClr val="black"/>
              </a:solidFill>
              <a:effectLst/>
              <a:uLnTx/>
              <a:uFillTx/>
              <a:latin typeface="Arial" charset="0"/>
              <a:ea typeface="ＭＳ Ｐゴシック" charset="-128"/>
            </a:endParaRPr>
          </a:p>
        </p:txBody>
      </p:sp>
      <p:sp>
        <p:nvSpPr>
          <p:cNvPr id="7" name="Right Brace 6">
            <a:extLst>
              <a:ext uri="{FF2B5EF4-FFF2-40B4-BE49-F238E27FC236}">
                <a16:creationId xmlns:a16="http://schemas.microsoft.com/office/drawing/2014/main" id="{781C2AD8-5B76-F66A-6FBE-05D563B96CBE}"/>
              </a:ext>
            </a:extLst>
          </p:cNvPr>
          <p:cNvSpPr/>
          <p:nvPr/>
        </p:nvSpPr>
        <p:spPr bwMode="auto">
          <a:xfrm>
            <a:off x="6587585" y="3478766"/>
            <a:ext cx="152400" cy="1200329"/>
          </a:xfrm>
          <a:prstGeom prst="rightBrac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ZA" sz="2800" b="0" i="0" u="none" strike="noStrike" kern="1200" cap="none" spc="0" normalizeH="0" baseline="0" noProof="0">
              <a:ln>
                <a:noFill/>
              </a:ln>
              <a:solidFill>
                <a:prstClr val="black"/>
              </a:solidFill>
              <a:effectLst/>
              <a:uLnTx/>
              <a:uFillTx/>
              <a:latin typeface="Arial" charset="0"/>
              <a:ea typeface="ＭＳ Ｐゴシック" pitchFamily="1" charset="-128"/>
            </a:endParaRPr>
          </a:p>
        </p:txBody>
      </p:sp>
      <p:cxnSp>
        <p:nvCxnSpPr>
          <p:cNvPr id="9" name="Straight Arrow Connector 8">
            <a:extLst>
              <a:ext uri="{FF2B5EF4-FFF2-40B4-BE49-F238E27FC236}">
                <a16:creationId xmlns:a16="http://schemas.microsoft.com/office/drawing/2014/main" id="{A1EFD98C-BC3E-D8E9-D0B0-C7C9F5FAB4F9}"/>
              </a:ext>
            </a:extLst>
          </p:cNvPr>
          <p:cNvCxnSpPr/>
          <p:nvPr/>
        </p:nvCxnSpPr>
        <p:spPr bwMode="auto">
          <a:xfrm>
            <a:off x="6934200" y="4078930"/>
            <a:ext cx="1181100"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1887479674"/>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675290"/>
          </a:xfrm>
        </p:spPr>
        <p:txBody>
          <a:bodyPr/>
          <a:lstStyle/>
          <a:p>
            <a:r>
              <a:rPr lang="en-US" dirty="0">
                <a:solidFill>
                  <a:schemeClr val="tx2"/>
                </a:solidFill>
              </a:rPr>
              <a:t>Other cases: LT financial planning…(cont.) </a:t>
            </a:r>
          </a:p>
        </p:txBody>
      </p:sp>
      <p:sp>
        <p:nvSpPr>
          <p:cNvPr id="9221" name="Rectangle 5"/>
          <p:cNvSpPr>
            <a:spLocks noGrp="1" noChangeArrowheads="1"/>
          </p:cNvSpPr>
          <p:nvPr>
            <p:ph idx="1"/>
          </p:nvPr>
        </p:nvSpPr>
        <p:spPr>
          <a:xfrm>
            <a:off x="152400" y="747346"/>
            <a:ext cx="8915400" cy="5958254"/>
          </a:xfrm>
        </p:spPr>
        <p:txBody>
          <a:bodyPr/>
          <a:lstStyle/>
          <a:p>
            <a:pPr>
              <a:lnSpc>
                <a:spcPct val="105000"/>
              </a:lnSpc>
              <a:buSzPct val="100000"/>
              <a:buFont typeface="Arial" panose="020B0604020202020204" pitchFamily="34" charset="0"/>
              <a:buChar char="•"/>
            </a:pPr>
            <a:r>
              <a:rPr lang="en-US" sz="2200" dirty="0"/>
              <a:t>Look at how the AFN is drastically different based on the different cases (situational differences)</a:t>
            </a:r>
          </a:p>
          <a:p>
            <a:pPr>
              <a:lnSpc>
                <a:spcPct val="105000"/>
              </a:lnSpc>
              <a:buSzPct val="100000"/>
              <a:buFont typeface="Arial" panose="020B0604020202020204" pitchFamily="34" charset="0"/>
              <a:buChar char="•"/>
            </a:pPr>
            <a:r>
              <a:rPr lang="en-US" sz="2200" dirty="0"/>
              <a:t>That is why careful LT bus &amp; fin planning are critical to firms! </a:t>
            </a:r>
          </a:p>
          <a:p>
            <a:pPr>
              <a:lnSpc>
                <a:spcPct val="105000"/>
              </a:lnSpc>
              <a:buSzPct val="100000"/>
              <a:buFont typeface="Arial" panose="020B0604020202020204" pitchFamily="34" charset="0"/>
              <a:buChar char="•"/>
            </a:pPr>
            <a:r>
              <a:rPr lang="en-US" sz="2200" dirty="0"/>
              <a:t>It makes a BIG different to your financial plans…(how you invest/spend as well as source/structure capital)…</a:t>
            </a:r>
          </a:p>
          <a:p>
            <a:pPr>
              <a:lnSpc>
                <a:spcPct val="105000"/>
              </a:lnSpc>
              <a:buSzPct val="100000"/>
              <a:buFont typeface="Arial" panose="020B0604020202020204" pitchFamily="34" charset="0"/>
              <a:buChar char="•"/>
            </a:pPr>
            <a:r>
              <a:rPr lang="en-US" sz="2200" dirty="0"/>
              <a:t>Thus, it influences the firm’s financial performance and position over the LT, and ultimately a firm’s sustainability and success </a:t>
            </a:r>
          </a:p>
          <a:p>
            <a:pPr>
              <a:lnSpc>
                <a:spcPct val="105000"/>
              </a:lnSpc>
              <a:buSzPct val="100000"/>
              <a:buFont typeface="Arial" panose="020B0604020202020204" pitchFamily="34" charset="0"/>
              <a:buChar char="•"/>
            </a:pPr>
            <a:endParaRPr lang="en-US" sz="2200"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939141564"/>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152400" y="10510"/>
            <a:ext cx="8839200" cy="1143000"/>
          </a:xfrm>
        </p:spPr>
        <p:txBody>
          <a:bodyPr/>
          <a:lstStyle/>
          <a:p>
            <a:r>
              <a:rPr lang="en-US" dirty="0">
                <a:solidFill>
                  <a:schemeClr val="tx2"/>
                </a:solidFill>
              </a:rPr>
              <a:t>Principles of budgeting</a:t>
            </a:r>
          </a:p>
        </p:txBody>
      </p:sp>
      <p:sp>
        <p:nvSpPr>
          <p:cNvPr id="9221" name="Rectangle 5"/>
          <p:cNvSpPr>
            <a:spLocks noGrp="1" noChangeArrowheads="1"/>
          </p:cNvSpPr>
          <p:nvPr>
            <p:ph idx="1"/>
          </p:nvPr>
        </p:nvSpPr>
        <p:spPr>
          <a:xfrm>
            <a:off x="259976" y="1066800"/>
            <a:ext cx="8655424" cy="5715000"/>
          </a:xfrm>
        </p:spPr>
        <p:txBody>
          <a:bodyPr/>
          <a:lstStyle/>
          <a:p>
            <a:pPr>
              <a:lnSpc>
                <a:spcPct val="105000"/>
              </a:lnSpc>
              <a:buSzPct val="100000"/>
              <a:buFont typeface="Arial" panose="020B0604020202020204" pitchFamily="34" charset="0"/>
              <a:buChar char="•"/>
            </a:pPr>
            <a:r>
              <a:rPr lang="en-US" dirty="0"/>
              <a:t>Management involvement</a:t>
            </a:r>
          </a:p>
          <a:p>
            <a:pPr>
              <a:lnSpc>
                <a:spcPct val="105000"/>
              </a:lnSpc>
              <a:buSzPct val="100000"/>
              <a:buFont typeface="Arial" panose="020B0604020202020204" pitchFamily="34" charset="0"/>
              <a:buChar char="•"/>
            </a:pPr>
            <a:r>
              <a:rPr lang="en-US" dirty="0"/>
              <a:t>Adaptability</a:t>
            </a:r>
          </a:p>
          <a:p>
            <a:pPr>
              <a:lnSpc>
                <a:spcPct val="105000"/>
              </a:lnSpc>
              <a:buSzPct val="100000"/>
              <a:buFont typeface="Arial" panose="020B0604020202020204" pitchFamily="34" charset="0"/>
              <a:buChar char="•"/>
            </a:pPr>
            <a:r>
              <a:rPr lang="en-US" dirty="0"/>
              <a:t>Accountability according to responsibility</a:t>
            </a:r>
          </a:p>
          <a:p>
            <a:pPr>
              <a:lnSpc>
                <a:spcPct val="105000"/>
              </a:lnSpc>
              <a:buSzPct val="100000"/>
              <a:buFont typeface="Arial" panose="020B0604020202020204" pitchFamily="34" charset="0"/>
              <a:buChar char="•"/>
            </a:pPr>
            <a:r>
              <a:rPr lang="en-US" dirty="0"/>
              <a:t>Effective communication</a:t>
            </a:r>
          </a:p>
          <a:p>
            <a:pPr>
              <a:lnSpc>
                <a:spcPct val="105000"/>
              </a:lnSpc>
              <a:buSzPct val="100000"/>
              <a:buFont typeface="Arial" panose="020B0604020202020204" pitchFamily="34" charset="0"/>
              <a:buChar char="•"/>
            </a:pPr>
            <a:r>
              <a:rPr lang="en-US" dirty="0"/>
              <a:t>Realistic expectations</a:t>
            </a:r>
          </a:p>
          <a:p>
            <a:pPr>
              <a:lnSpc>
                <a:spcPct val="105000"/>
              </a:lnSpc>
              <a:buSzPct val="100000"/>
              <a:buFont typeface="Arial" panose="020B0604020202020204" pitchFamily="34" charset="0"/>
              <a:buChar char="•"/>
            </a:pPr>
            <a:r>
              <a:rPr lang="en-US" dirty="0"/>
              <a:t>Acknowledgement</a:t>
            </a:r>
          </a:p>
          <a:p>
            <a:pPr>
              <a:lnSpc>
                <a:spcPct val="105000"/>
              </a:lnSpc>
              <a:buSzPct val="100000"/>
              <a:buFont typeface="Arial" panose="020B0604020202020204" pitchFamily="34" charset="0"/>
              <a:buChar char="•"/>
            </a:pPr>
            <a:r>
              <a:rPr lang="en-US" dirty="0"/>
              <a:t>Follow up and feedback </a:t>
            </a:r>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2582575806"/>
      </p:ext>
    </p:extLst>
  </p:cSld>
  <p:clrMapOvr>
    <a:masterClrMapping/>
  </p:clrMapOvr>
  <mc:AlternateContent xmlns:mc="http://schemas.openxmlformats.org/markup-compatibility/2006" xmlns:p14="http://schemas.microsoft.com/office/powerpoint/2010/main">
    <mc:Choice Requires="p14">
      <p:transition spd="slow" p14:dur="2000" advTm="76669"/>
    </mc:Choice>
    <mc:Fallback xmlns="">
      <p:transition spd="slow" advTm="76669"/>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36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599" y="-28903"/>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Preparation for next session</a:t>
            </a:r>
          </a:p>
        </p:txBody>
      </p:sp>
      <p:sp>
        <p:nvSpPr>
          <p:cNvPr id="19" name="Rectangle 7"/>
          <p:cNvSpPr txBox="1">
            <a:spLocks noChangeArrowheads="1"/>
          </p:cNvSpPr>
          <p:nvPr/>
        </p:nvSpPr>
        <p:spPr>
          <a:xfrm>
            <a:off x="304799" y="977464"/>
            <a:ext cx="8601501" cy="5728136"/>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a:t>
            </a:r>
            <a:r>
              <a:rPr lang="en-US" sz="2800" dirty="0">
                <a:solidFill>
                  <a:prstClr val="black"/>
                </a:solidFill>
                <a:latin typeface="Tahoma"/>
                <a:ea typeface="ＭＳ Ｐゴシック"/>
              </a:rPr>
              <a:t>5</a:t>
            </a:r>
            <a:endParaRPr kumimoji="0" lang="en-US" sz="2800" b="0" i="0" u="none" strike="noStrike" kern="1200" cap="none" spc="0" normalizeH="0" baseline="0" noProof="0" dirty="0">
              <a:ln>
                <a:noFill/>
              </a:ln>
              <a:solidFill>
                <a:prstClr val="black"/>
              </a:solidFill>
              <a:effectLst/>
              <a:uLnTx/>
              <a:uFillTx/>
              <a:latin typeface="Tahoma"/>
              <a:ea typeface="ＭＳ Ｐゴシック"/>
            </a:endParaRP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6</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lang="en-US" sz="2800" kern="0" dirty="0">
                <a:solidFill>
                  <a:srgbClr val="FF0000"/>
                </a:solidFill>
                <a:latin typeface="Tahoma"/>
                <a:ea typeface="ＭＳ Ｐゴシック"/>
              </a:rPr>
              <a:t>Reminder: Tut A opens 4 March on FUNDA; due on Funda 11 March (formative assessment; no re-assessments) </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srgbClr val="FF0000"/>
                </a:solidFill>
                <a:effectLst/>
                <a:uLnTx/>
                <a:uFillTx/>
                <a:latin typeface="Tahoma"/>
                <a:ea typeface="ＭＳ Ｐゴシック"/>
              </a:rPr>
              <a:t>Assignment opened on 23 Feb…due on 25 March (formative assessment; no re-assessments) </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transition advTm="56488"/>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ags/tag27.xml><?xml version="1.0" encoding="utf-8"?>
<p:tagLst xmlns:a="http://schemas.openxmlformats.org/drawingml/2006/main" xmlns:r="http://schemas.openxmlformats.org/officeDocument/2006/relationships" xmlns:p="http://schemas.openxmlformats.org/presentationml/2006/main">
  <p:tag name="TIMING" val="|41.1|7.7|19|3.7"/>
</p:tagLst>
</file>

<file path=ppt/tags/tag28.xml><?xml version="1.0" encoding="utf-8"?>
<p:tagLst xmlns:a="http://schemas.openxmlformats.org/drawingml/2006/main" xmlns:r="http://schemas.openxmlformats.org/officeDocument/2006/relationships" xmlns:p="http://schemas.openxmlformats.org/presentationml/2006/main">
  <p:tag name="TIMING" val="|41.1|7.7|19|3.7"/>
</p:tagLst>
</file>

<file path=ppt/tags/tag29.xml><?xml version="1.0" encoding="utf-8"?>
<p:tagLst xmlns:a="http://schemas.openxmlformats.org/drawingml/2006/main" xmlns:r="http://schemas.openxmlformats.org/officeDocument/2006/relationships" xmlns:p="http://schemas.openxmlformats.org/presentationml/2006/main">
  <p:tag name="TIMING" val="|41.1|7.7|19|3.7"/>
</p:tagLst>
</file>

<file path=ppt/tags/tag30.xml><?xml version="1.0" encoding="utf-8"?>
<p:tagLst xmlns:a="http://schemas.openxmlformats.org/drawingml/2006/main" xmlns:r="http://schemas.openxmlformats.org/officeDocument/2006/relationships" xmlns:p="http://schemas.openxmlformats.org/presentationml/2006/main">
  <p:tag name="TIMING" val="|41.1|7.7|19|3.7"/>
</p:tagLst>
</file>

<file path=ppt/tags/tag31.xml><?xml version="1.0" encoding="utf-8"?>
<p:tagLst xmlns:a="http://schemas.openxmlformats.org/drawingml/2006/main" xmlns:r="http://schemas.openxmlformats.org/officeDocument/2006/relationships" xmlns:p="http://schemas.openxmlformats.org/presentationml/2006/main">
  <p:tag name="TIMING" val="|41.1|7.7|19|3.7"/>
</p:tagLst>
</file>

<file path=ppt/tags/tag32.xml><?xml version="1.0" encoding="utf-8"?>
<p:tagLst xmlns:a="http://schemas.openxmlformats.org/drawingml/2006/main" xmlns:r="http://schemas.openxmlformats.org/officeDocument/2006/relationships" xmlns:p="http://schemas.openxmlformats.org/presentationml/2006/main">
  <p:tag name="TIMING" val="|41.1|7.7|19|3.7"/>
</p:tagLst>
</file>

<file path=ppt/tags/tag33.xml><?xml version="1.0" encoding="utf-8"?>
<p:tagLst xmlns:a="http://schemas.openxmlformats.org/drawingml/2006/main" xmlns:r="http://schemas.openxmlformats.org/officeDocument/2006/relationships" xmlns:p="http://schemas.openxmlformats.org/presentationml/2006/main">
  <p:tag name="TIMING" val="|41.1|7.7|19|3.7"/>
</p:tagLst>
</file>

<file path=ppt/tags/tag34.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3393</TotalTime>
  <Words>3915</Words>
  <Application>Microsoft Office PowerPoint</Application>
  <PresentationFormat>On-screen Show (4:3)</PresentationFormat>
  <Paragraphs>675</Paragraphs>
  <Slides>36</Slides>
  <Notes>36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36</vt:i4>
      </vt:variant>
    </vt:vector>
  </HeadingPairs>
  <TitlesOfParts>
    <vt:vector size="46" baseType="lpstr">
      <vt:lpstr>ＭＳ Ｐゴシック</vt:lpstr>
      <vt:lpstr>Arial</vt:lpstr>
      <vt:lpstr>Symbol</vt:lpstr>
      <vt:lpstr>Tahoma</vt:lpstr>
      <vt:lpstr>Times</vt:lpstr>
      <vt:lpstr>Times New Roman</vt:lpstr>
      <vt:lpstr>Wingdings</vt:lpstr>
      <vt:lpstr>Wingdings 2</vt:lpstr>
      <vt:lpstr>Blank Presentation</vt:lpstr>
      <vt:lpstr>1_Blank Presentation</vt:lpstr>
      <vt:lpstr>PowerPoint Presentation</vt:lpstr>
      <vt:lpstr>Learning outcomes: Chapter 5</vt:lpstr>
      <vt:lpstr>Examples of firms’ LT fin planning </vt:lpstr>
      <vt:lpstr>Examples of firms’ LT fin planning (cont.)</vt:lpstr>
      <vt:lpstr>Introduction</vt:lpstr>
      <vt:lpstr>Formulating strategies, objectives and goals</vt:lpstr>
      <vt:lpstr>Formulating strategies, objectives and goals</vt:lpstr>
      <vt:lpstr>Risk identification and assessment</vt:lpstr>
      <vt:lpstr>Operational planning</vt:lpstr>
      <vt:lpstr>Budgeting process and responsibility centres</vt:lpstr>
      <vt:lpstr>Budgeting process and responsibility centres (cont.)</vt:lpstr>
      <vt:lpstr>Let’s do LT financial planning… (cont.)</vt:lpstr>
      <vt:lpstr>Let’s do LT financial planning… (cont.)</vt:lpstr>
      <vt:lpstr>Let’s do LT financial planning… (cont.)</vt:lpstr>
      <vt:lpstr>Example: LT financial planning…</vt:lpstr>
      <vt:lpstr>PowerPoint Presentation</vt:lpstr>
      <vt:lpstr>Example: LT financial planning… (cont.)</vt:lpstr>
      <vt:lpstr>PowerPoint Presentation</vt:lpstr>
      <vt:lpstr>Example: LT financial planning… (cont.)</vt:lpstr>
      <vt:lpstr>PowerPoint Presentation</vt:lpstr>
      <vt:lpstr>Example: LT financial planning… (cont.)</vt:lpstr>
      <vt:lpstr>Example: LT financial planning… (cont.)</vt:lpstr>
      <vt:lpstr>A few notes: LT financial planning… </vt:lpstr>
      <vt:lpstr>Example: LT financial planning… (cont.)</vt:lpstr>
      <vt:lpstr>PowerPoint Presentation</vt:lpstr>
      <vt:lpstr>Other cases: LT financial planning…(cont.) </vt:lpstr>
      <vt:lpstr>Example: LT financial planning… (cont.)</vt:lpstr>
      <vt:lpstr>PowerPoint Presentation</vt:lpstr>
      <vt:lpstr>Other cases: LT financial planning…(cont.) </vt:lpstr>
      <vt:lpstr>Other cases: LT financial planning…(cont.) </vt:lpstr>
      <vt:lpstr>PowerPoint Presentation</vt:lpstr>
      <vt:lpstr>Other cases: LT financial planning…(cont.) </vt:lpstr>
      <vt:lpstr>PowerPoint Presentation</vt:lpstr>
      <vt:lpstr>Other cases: LT financial planning…(cont.) </vt:lpstr>
      <vt:lpstr>Principles of budgeting</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Rootman, Chantal (Prof) (Summerstrand Campus South)</cp:lastModifiedBy>
  <cp:revision>356</cp:revision>
  <cp:lastPrinted>2022-02-09T10:40:55Z</cp:lastPrinted>
  <dcterms:created xsi:type="dcterms:W3CDTF">2010-03-21T13:43:06Z</dcterms:created>
  <dcterms:modified xsi:type="dcterms:W3CDTF">2026-02-03T11:41:20Z</dcterms:modified>
</cp:coreProperties>
</file>