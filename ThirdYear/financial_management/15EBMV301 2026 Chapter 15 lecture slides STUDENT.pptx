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4" r:id="rId2"/>
    <p:sldMasterId id="2147483677" r:id="rId3"/>
  </p:sldMasterIdLst>
  <p:notesMasterIdLst>
    <p:notesMasterId r:id="rId46"/>
  </p:notesMasterIdLst>
  <p:handoutMasterIdLst>
    <p:handoutMasterId r:id="rId47"/>
  </p:handoutMasterIdLst>
  <p:sldIdLst>
    <p:sldId id="283" r:id="rId4"/>
    <p:sldId id="291" r:id="rId5"/>
    <p:sldId id="383" r:id="rId6"/>
    <p:sldId id="471" r:id="rId7"/>
    <p:sldId id="426" r:id="rId8"/>
    <p:sldId id="425" r:id="rId9"/>
    <p:sldId id="424" r:id="rId10"/>
    <p:sldId id="427" r:id="rId11"/>
    <p:sldId id="473" r:id="rId12"/>
    <p:sldId id="429" r:id="rId13"/>
    <p:sldId id="431" r:id="rId14"/>
    <p:sldId id="432" r:id="rId15"/>
    <p:sldId id="452" r:id="rId16"/>
    <p:sldId id="416" r:id="rId17"/>
    <p:sldId id="400" r:id="rId18"/>
    <p:sldId id="405" r:id="rId19"/>
    <p:sldId id="406" r:id="rId20"/>
    <p:sldId id="407" r:id="rId21"/>
    <p:sldId id="409" r:id="rId22"/>
    <p:sldId id="401" r:id="rId23"/>
    <p:sldId id="402" r:id="rId24"/>
    <p:sldId id="469" r:id="rId25"/>
    <p:sldId id="410" r:id="rId26"/>
    <p:sldId id="470" r:id="rId27"/>
    <p:sldId id="412" r:id="rId28"/>
    <p:sldId id="413" r:id="rId29"/>
    <p:sldId id="414" r:id="rId30"/>
    <p:sldId id="418" r:id="rId31"/>
    <p:sldId id="419" r:id="rId32"/>
    <p:sldId id="460" r:id="rId33"/>
    <p:sldId id="459" r:id="rId34"/>
    <p:sldId id="462" r:id="rId35"/>
    <p:sldId id="447" r:id="rId36"/>
    <p:sldId id="448" r:id="rId37"/>
    <p:sldId id="449" r:id="rId38"/>
    <p:sldId id="450" r:id="rId39"/>
    <p:sldId id="463" r:id="rId40"/>
    <p:sldId id="464" r:id="rId41"/>
    <p:sldId id="467" r:id="rId42"/>
    <p:sldId id="468" r:id="rId43"/>
    <p:sldId id="472" r:id="rId44"/>
    <p:sldId id="335" r:id="rId45"/>
  </p:sldIdLst>
  <p:sldSz cx="9144000" cy="6858000" type="screen4x3"/>
  <p:notesSz cx="6858000" cy="9945688"/>
  <p:custDataLst>
    <p:tags r:id="rId48"/>
  </p:custDataLst>
  <p:defaultTextStyle>
    <a:defPPr>
      <a:defRPr lang="en-US"/>
    </a:defPPr>
    <a:lvl1pPr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1pPr>
    <a:lvl2pPr marL="4572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2pPr>
    <a:lvl3pPr marL="9144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3pPr>
    <a:lvl4pPr marL="13716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4pPr>
    <a:lvl5pPr marL="18288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8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8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8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8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 Plessis, Darius" initials="dPD" lastIdx="2" clrIdx="0"/>
  <p:cmAuthor id="2" name="Wepener van der Walt" initials="WvdW"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00677B"/>
    <a:srgbClr val="D69249"/>
    <a:srgbClr val="ADB3BF"/>
    <a:srgbClr val="D63A17"/>
    <a:srgbClr val="FDF1BB"/>
    <a:srgbClr val="FDF4C9"/>
    <a:srgbClr val="A2A871"/>
    <a:srgbClr val="9DA900"/>
    <a:srgbClr val="94A4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7" d="100"/>
          <a:sy n="87" d="100"/>
        </p:scale>
        <p:origin x="1238"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handoutMaster" Target="handoutMasters/handoutMaster1.xml"/><Relationship Id="rId50"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ags" Target="tags/tag1.xml"/><Relationship Id="rId8" Type="http://schemas.openxmlformats.org/officeDocument/2006/relationships/slide" Target="slides/slide5.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otman, Chantal (Prof) (Summerstrand Campus South)" userId="b3444f73-21d4-4d22-b260-75b64de2b6d6" providerId="ADAL" clId="{683B97D2-D222-4874-A2CE-930238222A77}"/>
    <pc:docChg chg="custSel modSld">
      <pc:chgData name="Rootman, Chantal (Prof) (Summerstrand Campus South)" userId="b3444f73-21d4-4d22-b260-75b64de2b6d6" providerId="ADAL" clId="{683B97D2-D222-4874-A2CE-930238222A77}" dt="2026-02-27T10:25:13.160" v="8" actId="478"/>
      <pc:docMkLst>
        <pc:docMk/>
      </pc:docMkLst>
      <pc:sldChg chg="delSp mod">
        <pc:chgData name="Rootman, Chantal (Prof) (Summerstrand Campus South)" userId="b3444f73-21d4-4d22-b260-75b64de2b6d6" providerId="ADAL" clId="{683B97D2-D222-4874-A2CE-930238222A77}" dt="2026-02-27T10:25:00.917" v="0" actId="478"/>
        <pc:sldMkLst>
          <pc:docMk/>
          <pc:sldMk cId="1067134094" sldId="283"/>
        </pc:sldMkLst>
        <pc:picChg chg="del">
          <ac:chgData name="Rootman, Chantal (Prof) (Summerstrand Campus South)" userId="b3444f73-21d4-4d22-b260-75b64de2b6d6" providerId="ADAL" clId="{683B97D2-D222-4874-A2CE-930238222A77}" dt="2026-02-27T10:25:00.917" v="0" actId="478"/>
          <ac:picMkLst>
            <pc:docMk/>
            <pc:sldMk cId="1067134094" sldId="283"/>
            <ac:picMk id="4" creationId="{1022AE71-D7C8-51D0-8077-1B394481F51D}"/>
          </ac:picMkLst>
        </pc:picChg>
      </pc:sldChg>
      <pc:sldChg chg="delSp mod">
        <pc:chgData name="Rootman, Chantal (Prof) (Summerstrand Campus South)" userId="b3444f73-21d4-4d22-b260-75b64de2b6d6" providerId="ADAL" clId="{683B97D2-D222-4874-A2CE-930238222A77}" dt="2026-02-27T10:25:13.160" v="8" actId="478"/>
        <pc:sldMkLst>
          <pc:docMk/>
          <pc:sldMk cId="1683039770" sldId="472"/>
        </pc:sldMkLst>
        <pc:picChg chg="del">
          <ac:chgData name="Rootman, Chantal (Prof) (Summerstrand Campus South)" userId="b3444f73-21d4-4d22-b260-75b64de2b6d6" providerId="ADAL" clId="{683B97D2-D222-4874-A2CE-930238222A77}" dt="2026-02-27T10:25:13.160" v="8" actId="478"/>
          <ac:picMkLst>
            <pc:docMk/>
            <pc:sldMk cId="1683039770" sldId="472"/>
            <ac:picMk id="3" creationId="{8312E5F8-D108-FDE0-51BC-1716D85FF493}"/>
          </ac:picMkLst>
        </pc:picChg>
      </pc:sldChg>
      <pc:sldChg chg="delSp mod">
        <pc:chgData name="Rootman, Chantal (Prof) (Summerstrand Campus South)" userId="b3444f73-21d4-4d22-b260-75b64de2b6d6" providerId="ADAL" clId="{683B97D2-D222-4874-A2CE-930238222A77}" dt="2026-02-27T10:25:08.845" v="7" actId="478"/>
        <pc:sldMkLst>
          <pc:docMk/>
          <pc:sldMk cId="482108459" sldId="473"/>
        </pc:sldMkLst>
        <pc:picChg chg="del">
          <ac:chgData name="Rootman, Chantal (Prof) (Summerstrand Campus South)" userId="b3444f73-21d4-4d22-b260-75b64de2b6d6" providerId="ADAL" clId="{683B97D2-D222-4874-A2CE-930238222A77}" dt="2026-02-27T10:25:08.845" v="7" actId="478"/>
          <ac:picMkLst>
            <pc:docMk/>
            <pc:sldMk cId="482108459" sldId="473"/>
            <ac:picMk id="4" creationId="{DA34CB40-6E38-A6BB-497D-91876D0A429D}"/>
          </ac:picMkLst>
        </pc:picChg>
        <pc:picChg chg="del">
          <ac:chgData name="Rootman, Chantal (Prof) (Summerstrand Campus South)" userId="b3444f73-21d4-4d22-b260-75b64de2b6d6" providerId="ADAL" clId="{683B97D2-D222-4874-A2CE-930238222A77}" dt="2026-02-27T10:25:07.555" v="5" actId="478"/>
          <ac:picMkLst>
            <pc:docMk/>
            <pc:sldMk cId="482108459" sldId="473"/>
            <ac:picMk id="7" creationId="{A4CB806B-83A6-09A8-A7B1-2661A51A3A79}"/>
          </ac:picMkLst>
        </pc:picChg>
        <pc:picChg chg="del">
          <ac:chgData name="Rootman, Chantal (Prof) (Summerstrand Campus South)" userId="b3444f73-21d4-4d22-b260-75b64de2b6d6" providerId="ADAL" clId="{683B97D2-D222-4874-A2CE-930238222A77}" dt="2026-02-27T10:25:06.297" v="3" actId="478"/>
          <ac:picMkLst>
            <pc:docMk/>
            <pc:sldMk cId="482108459" sldId="473"/>
            <ac:picMk id="10" creationId="{7D152DAF-05CC-985D-27B5-01174AC3439E}"/>
          </ac:picMkLst>
        </pc:picChg>
        <pc:picChg chg="del">
          <ac:chgData name="Rootman, Chantal (Prof) (Summerstrand Campus South)" userId="b3444f73-21d4-4d22-b260-75b64de2b6d6" providerId="ADAL" clId="{683B97D2-D222-4874-A2CE-930238222A77}" dt="2026-02-27T10:25:08.201" v="6" actId="478"/>
          <ac:picMkLst>
            <pc:docMk/>
            <pc:sldMk cId="482108459" sldId="473"/>
            <ac:picMk id="11" creationId="{E4B18785-36AE-C147-3D5A-7100C69B884E}"/>
          </ac:picMkLst>
        </pc:picChg>
        <pc:picChg chg="del">
          <ac:chgData name="Rootman, Chantal (Prof) (Summerstrand Campus South)" userId="b3444f73-21d4-4d22-b260-75b64de2b6d6" providerId="ADAL" clId="{683B97D2-D222-4874-A2CE-930238222A77}" dt="2026-02-27T10:25:04.754" v="1" actId="478"/>
          <ac:picMkLst>
            <pc:docMk/>
            <pc:sldMk cId="482108459" sldId="473"/>
            <ac:picMk id="13" creationId="{303E1641-7E6F-6D4F-3AC7-48FD0000305E}"/>
          </ac:picMkLst>
        </pc:picChg>
        <pc:picChg chg="del">
          <ac:chgData name="Rootman, Chantal (Prof) (Summerstrand Campus South)" userId="b3444f73-21d4-4d22-b260-75b64de2b6d6" providerId="ADAL" clId="{683B97D2-D222-4874-A2CE-930238222A77}" dt="2026-02-27T10:25:06.911" v="4" actId="478"/>
          <ac:picMkLst>
            <pc:docMk/>
            <pc:sldMk cId="482108459" sldId="473"/>
            <ac:picMk id="15" creationId="{62F3B52B-6DDA-7334-7037-770FC955E1AB}"/>
          </ac:picMkLst>
        </pc:picChg>
        <pc:picChg chg="del">
          <ac:chgData name="Rootman, Chantal (Prof) (Summerstrand Campus South)" userId="b3444f73-21d4-4d22-b260-75b64de2b6d6" providerId="ADAL" clId="{683B97D2-D222-4874-A2CE-930238222A77}" dt="2026-02-27T10:25:05.637" v="2" actId="478"/>
          <ac:picMkLst>
            <pc:docMk/>
            <pc:sldMk cId="482108459" sldId="473"/>
            <ac:picMk id="17" creationId="{151F805E-517E-17F2-AA14-ECB69EE7C08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3" name="Rectangle 3"/>
          <p:cNvSpPr>
            <a:spLocks noGrp="1" noChangeArrowheads="1"/>
          </p:cNvSpPr>
          <p:nvPr>
            <p:ph type="dt" sz="quarter" idx="1"/>
          </p:nvPr>
        </p:nvSpPr>
        <p:spPr bwMode="auto">
          <a:xfrm>
            <a:off x="3886201"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61444" name="Rectangle 4"/>
          <p:cNvSpPr>
            <a:spLocks noGrp="1" noChangeArrowheads="1"/>
          </p:cNvSpPr>
          <p:nvPr>
            <p:ph type="ftr" sz="quarter" idx="2"/>
          </p:nvPr>
        </p:nvSpPr>
        <p:spPr bwMode="auto">
          <a:xfrm>
            <a:off x="0"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5" name="Rectangle 5"/>
          <p:cNvSpPr>
            <a:spLocks noGrp="1" noChangeArrowheads="1"/>
          </p:cNvSpPr>
          <p:nvPr>
            <p:ph type="sldNum" sz="quarter" idx="3"/>
          </p:nvPr>
        </p:nvSpPr>
        <p:spPr bwMode="auto">
          <a:xfrm>
            <a:off x="3886201"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lgn="r">
              <a:defRPr sz="1200"/>
            </a:lvl1pPr>
          </a:lstStyle>
          <a:p>
            <a:pPr>
              <a:defRPr/>
            </a:pPr>
            <a:fld id="{E1903A18-4839-8D4F-8ABB-4D063655F5E0}" type="slidenum">
              <a:rPr lang="en-US"/>
              <a:pPr>
                <a:defRPr/>
              </a:pPr>
              <a:t>‹#›</a:t>
            </a:fld>
            <a:endParaRPr lang="en-US"/>
          </a:p>
        </p:txBody>
      </p:sp>
    </p:spTree>
    <p:extLst>
      <p:ext uri="{BB962C8B-B14F-4D97-AF65-F5344CB8AC3E}">
        <p14:creationId xmlns:p14="http://schemas.microsoft.com/office/powerpoint/2010/main" val="88640864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5" name="Rectangle 3"/>
          <p:cNvSpPr>
            <a:spLocks noGrp="1" noChangeArrowheads="1"/>
          </p:cNvSpPr>
          <p:nvPr>
            <p:ph type="dt" idx="1"/>
          </p:nvPr>
        </p:nvSpPr>
        <p:spPr bwMode="auto">
          <a:xfrm>
            <a:off x="3886201"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942975" y="746125"/>
            <a:ext cx="4972050" cy="3729038"/>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14401" y="4724203"/>
            <a:ext cx="5029200" cy="4475559"/>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9" name="Rectangle 7"/>
          <p:cNvSpPr>
            <a:spLocks noGrp="1" noChangeArrowheads="1"/>
          </p:cNvSpPr>
          <p:nvPr>
            <p:ph type="sldNum" sz="quarter" idx="5"/>
          </p:nvPr>
        </p:nvSpPr>
        <p:spPr bwMode="auto">
          <a:xfrm>
            <a:off x="3886201"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lgn="r">
              <a:defRPr sz="1200"/>
            </a:lvl1pPr>
          </a:lstStyle>
          <a:p>
            <a:pPr>
              <a:defRPr/>
            </a:pPr>
            <a:fld id="{200996E8-5341-8848-B47C-0F512A8E3D8F}" type="slidenum">
              <a:rPr lang="en-US"/>
              <a:pPr>
                <a:defRPr/>
              </a:pPr>
              <a:t>‹#›</a:t>
            </a:fld>
            <a:endParaRPr lang="en-US"/>
          </a:p>
        </p:txBody>
      </p:sp>
    </p:spTree>
    <p:extLst>
      <p:ext uri="{BB962C8B-B14F-4D97-AF65-F5344CB8AC3E}">
        <p14:creationId xmlns:p14="http://schemas.microsoft.com/office/powerpoint/2010/main" val="339793353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105442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16782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35026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175290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1111243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700814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787336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955483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BBAC4-7326-051D-6780-595A5BC66CA5}"/>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1ADF50E-D829-63F5-7255-6C77838C61D1}"/>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580BEDC5-203F-C618-E2DB-65633AE8A6C8}"/>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715188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210955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800">
                <a:solidFill>
                  <a:schemeClr val="tx1"/>
                </a:solidFill>
                <a:latin typeface="Times New Roman" panose="02020603050405020304" pitchFamily="18" charset="0"/>
              </a:defRPr>
            </a:lvl1pPr>
            <a:lvl2pPr marL="742950" indent="-285750">
              <a:defRPr sz="3800">
                <a:solidFill>
                  <a:schemeClr val="tx1"/>
                </a:solidFill>
                <a:latin typeface="Times New Roman" panose="02020603050405020304" pitchFamily="18" charset="0"/>
              </a:defRPr>
            </a:lvl2pPr>
            <a:lvl3pPr marL="1143000" indent="-228600">
              <a:defRPr sz="3800">
                <a:solidFill>
                  <a:schemeClr val="tx1"/>
                </a:solidFill>
                <a:latin typeface="Times New Roman" panose="02020603050405020304" pitchFamily="18" charset="0"/>
              </a:defRPr>
            </a:lvl3pPr>
            <a:lvl4pPr marL="1600200" indent="-228600">
              <a:defRPr sz="3800">
                <a:solidFill>
                  <a:schemeClr val="tx1"/>
                </a:solidFill>
                <a:latin typeface="Times New Roman" panose="02020603050405020304" pitchFamily="18" charset="0"/>
              </a:defRPr>
            </a:lvl4pPr>
            <a:lvl5pPr marL="2057400" indent="-228600">
              <a:defRPr sz="3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8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B723F65-3145-4465-A09E-53618B32087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128"/>
              <a:cs typeface="+mn-cs"/>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ZA" altLang="en-US">
              <a:latin typeface="Arial" panose="020B0604020202020204" pitchFamily="34" charset="0"/>
            </a:endParaRPr>
          </a:p>
        </p:txBody>
      </p:sp>
    </p:spTree>
    <p:extLst>
      <p:ext uri="{BB962C8B-B14F-4D97-AF65-F5344CB8AC3E}">
        <p14:creationId xmlns:p14="http://schemas.microsoft.com/office/powerpoint/2010/main" val="3386114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800">
                <a:solidFill>
                  <a:schemeClr val="tx1"/>
                </a:solidFill>
                <a:latin typeface="Times New Roman" panose="02020603050405020304" pitchFamily="18" charset="0"/>
              </a:defRPr>
            </a:lvl1pPr>
            <a:lvl2pPr marL="742950" indent="-285750">
              <a:defRPr sz="3800">
                <a:solidFill>
                  <a:schemeClr val="tx1"/>
                </a:solidFill>
                <a:latin typeface="Times New Roman" panose="02020603050405020304" pitchFamily="18" charset="0"/>
              </a:defRPr>
            </a:lvl2pPr>
            <a:lvl3pPr marL="1143000" indent="-228600">
              <a:defRPr sz="3800">
                <a:solidFill>
                  <a:schemeClr val="tx1"/>
                </a:solidFill>
                <a:latin typeface="Times New Roman" panose="02020603050405020304" pitchFamily="18" charset="0"/>
              </a:defRPr>
            </a:lvl3pPr>
            <a:lvl4pPr marL="1600200" indent="-228600">
              <a:defRPr sz="3800">
                <a:solidFill>
                  <a:schemeClr val="tx1"/>
                </a:solidFill>
                <a:latin typeface="Times New Roman" panose="02020603050405020304" pitchFamily="18" charset="0"/>
              </a:defRPr>
            </a:lvl4pPr>
            <a:lvl5pPr marL="2057400" indent="-228600">
              <a:defRPr sz="3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8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288F47D-77DC-4AA4-A0C7-C88FDFCDCDD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128"/>
              <a:cs typeface="+mn-cs"/>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ZA" altLang="en-US">
              <a:latin typeface="Arial" panose="020B0604020202020204" pitchFamily="34" charset="0"/>
            </a:endParaRPr>
          </a:p>
        </p:txBody>
      </p:sp>
    </p:spTree>
    <p:extLst>
      <p:ext uri="{BB962C8B-B14F-4D97-AF65-F5344CB8AC3E}">
        <p14:creationId xmlns:p14="http://schemas.microsoft.com/office/powerpoint/2010/main" val="2374750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800">
                <a:solidFill>
                  <a:schemeClr val="tx1"/>
                </a:solidFill>
                <a:latin typeface="Times New Roman" panose="02020603050405020304" pitchFamily="18" charset="0"/>
              </a:defRPr>
            </a:lvl1pPr>
            <a:lvl2pPr marL="742950" indent="-285750">
              <a:defRPr sz="3800">
                <a:solidFill>
                  <a:schemeClr val="tx1"/>
                </a:solidFill>
                <a:latin typeface="Times New Roman" panose="02020603050405020304" pitchFamily="18" charset="0"/>
              </a:defRPr>
            </a:lvl2pPr>
            <a:lvl3pPr marL="1143000" indent="-228600">
              <a:defRPr sz="3800">
                <a:solidFill>
                  <a:schemeClr val="tx1"/>
                </a:solidFill>
                <a:latin typeface="Times New Roman" panose="02020603050405020304" pitchFamily="18" charset="0"/>
              </a:defRPr>
            </a:lvl3pPr>
            <a:lvl4pPr marL="1600200" indent="-228600">
              <a:defRPr sz="3800">
                <a:solidFill>
                  <a:schemeClr val="tx1"/>
                </a:solidFill>
                <a:latin typeface="Times New Roman" panose="02020603050405020304" pitchFamily="18" charset="0"/>
              </a:defRPr>
            </a:lvl4pPr>
            <a:lvl5pPr marL="2057400" indent="-228600">
              <a:defRPr sz="3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8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B22F019-B1C4-4277-A30C-6E2ED463C772}"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128"/>
              <a:cs typeface="+mn-cs"/>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ZA" altLang="en-US">
              <a:latin typeface="Arial" panose="020B0604020202020204" pitchFamily="34" charset="0"/>
            </a:endParaRPr>
          </a:p>
        </p:txBody>
      </p:sp>
    </p:spTree>
    <p:extLst>
      <p:ext uri="{BB962C8B-B14F-4D97-AF65-F5344CB8AC3E}">
        <p14:creationId xmlns:p14="http://schemas.microsoft.com/office/powerpoint/2010/main" val="712391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800">
                <a:solidFill>
                  <a:schemeClr val="tx1"/>
                </a:solidFill>
                <a:latin typeface="Times New Roman" panose="02020603050405020304" pitchFamily="18" charset="0"/>
              </a:defRPr>
            </a:lvl1pPr>
            <a:lvl2pPr marL="742950" indent="-285750">
              <a:defRPr sz="3800">
                <a:solidFill>
                  <a:schemeClr val="tx1"/>
                </a:solidFill>
                <a:latin typeface="Times New Roman" panose="02020603050405020304" pitchFamily="18" charset="0"/>
              </a:defRPr>
            </a:lvl2pPr>
            <a:lvl3pPr marL="1143000" indent="-228600">
              <a:defRPr sz="3800">
                <a:solidFill>
                  <a:schemeClr val="tx1"/>
                </a:solidFill>
                <a:latin typeface="Times New Roman" panose="02020603050405020304" pitchFamily="18" charset="0"/>
              </a:defRPr>
            </a:lvl3pPr>
            <a:lvl4pPr marL="1600200" indent="-228600">
              <a:defRPr sz="3800">
                <a:solidFill>
                  <a:schemeClr val="tx1"/>
                </a:solidFill>
                <a:latin typeface="Times New Roman" panose="02020603050405020304" pitchFamily="18" charset="0"/>
              </a:defRPr>
            </a:lvl4pPr>
            <a:lvl5pPr marL="2057400" indent="-228600">
              <a:defRPr sz="3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8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8F1B2E9-A12B-4A2A-B9E1-81631987E647}"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128"/>
              <a:cs typeface="+mn-cs"/>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ZA" altLang="en-US">
              <a:latin typeface="Arial" panose="020B0604020202020204" pitchFamily="34" charset="0"/>
            </a:endParaRPr>
          </a:p>
        </p:txBody>
      </p:sp>
    </p:spTree>
    <p:extLst>
      <p:ext uri="{BB962C8B-B14F-4D97-AF65-F5344CB8AC3E}">
        <p14:creationId xmlns:p14="http://schemas.microsoft.com/office/powerpoint/2010/main" val="26401149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800">
                <a:solidFill>
                  <a:schemeClr val="tx1"/>
                </a:solidFill>
                <a:latin typeface="Times New Roman" panose="02020603050405020304" pitchFamily="18" charset="0"/>
              </a:defRPr>
            </a:lvl1pPr>
            <a:lvl2pPr marL="742950" indent="-285750">
              <a:defRPr sz="3800">
                <a:solidFill>
                  <a:schemeClr val="tx1"/>
                </a:solidFill>
                <a:latin typeface="Times New Roman" panose="02020603050405020304" pitchFamily="18" charset="0"/>
              </a:defRPr>
            </a:lvl2pPr>
            <a:lvl3pPr marL="1143000" indent="-228600">
              <a:defRPr sz="3800">
                <a:solidFill>
                  <a:schemeClr val="tx1"/>
                </a:solidFill>
                <a:latin typeface="Times New Roman" panose="02020603050405020304" pitchFamily="18" charset="0"/>
              </a:defRPr>
            </a:lvl3pPr>
            <a:lvl4pPr marL="1600200" indent="-228600">
              <a:defRPr sz="3800">
                <a:solidFill>
                  <a:schemeClr val="tx1"/>
                </a:solidFill>
                <a:latin typeface="Times New Roman" panose="02020603050405020304" pitchFamily="18" charset="0"/>
              </a:defRPr>
            </a:lvl4pPr>
            <a:lvl5pPr marL="2057400" indent="-228600">
              <a:defRPr sz="3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8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8F1B2E9-A12B-4A2A-B9E1-81631987E647}"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128"/>
              <a:cs typeface="+mn-cs"/>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ZA" altLang="en-US">
              <a:latin typeface="Arial" panose="020B0604020202020204" pitchFamily="34" charset="0"/>
            </a:endParaRPr>
          </a:p>
        </p:txBody>
      </p:sp>
    </p:spTree>
    <p:extLst>
      <p:ext uri="{BB962C8B-B14F-4D97-AF65-F5344CB8AC3E}">
        <p14:creationId xmlns:p14="http://schemas.microsoft.com/office/powerpoint/2010/main" val="3172534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800">
                <a:solidFill>
                  <a:schemeClr val="tx1"/>
                </a:solidFill>
                <a:latin typeface="Times New Roman" panose="02020603050405020304" pitchFamily="18" charset="0"/>
              </a:defRPr>
            </a:lvl1pPr>
            <a:lvl2pPr marL="742950" indent="-285750">
              <a:defRPr sz="3800">
                <a:solidFill>
                  <a:schemeClr val="tx1"/>
                </a:solidFill>
                <a:latin typeface="Times New Roman" panose="02020603050405020304" pitchFamily="18" charset="0"/>
              </a:defRPr>
            </a:lvl2pPr>
            <a:lvl3pPr marL="1143000" indent="-228600">
              <a:defRPr sz="3800">
                <a:solidFill>
                  <a:schemeClr val="tx1"/>
                </a:solidFill>
                <a:latin typeface="Times New Roman" panose="02020603050405020304" pitchFamily="18" charset="0"/>
              </a:defRPr>
            </a:lvl3pPr>
            <a:lvl4pPr marL="1600200" indent="-228600">
              <a:defRPr sz="3800">
                <a:solidFill>
                  <a:schemeClr val="tx1"/>
                </a:solidFill>
                <a:latin typeface="Times New Roman" panose="02020603050405020304" pitchFamily="18" charset="0"/>
              </a:defRPr>
            </a:lvl4pPr>
            <a:lvl5pPr marL="2057400" indent="-228600">
              <a:defRPr sz="3800">
                <a:solidFill>
                  <a:schemeClr val="tx1"/>
                </a:solidFill>
                <a:latin typeface="Times New Roman" panose="02020603050405020304" pitchFamily="18" charset="0"/>
              </a:defRPr>
            </a:lvl5pPr>
            <a:lvl6pPr marL="2514600" indent="-228600" eaLnBrk="0" fontAlgn="base" hangingPunct="0">
              <a:spcBef>
                <a:spcPct val="0"/>
              </a:spcBef>
              <a:spcAft>
                <a:spcPct val="0"/>
              </a:spcAft>
              <a:defRPr sz="3800">
                <a:solidFill>
                  <a:schemeClr val="tx1"/>
                </a:solidFill>
                <a:latin typeface="Times New Roman" panose="02020603050405020304" pitchFamily="18" charset="0"/>
              </a:defRPr>
            </a:lvl6pPr>
            <a:lvl7pPr marL="2971800" indent="-228600" eaLnBrk="0" fontAlgn="base" hangingPunct="0">
              <a:spcBef>
                <a:spcPct val="0"/>
              </a:spcBef>
              <a:spcAft>
                <a:spcPct val="0"/>
              </a:spcAft>
              <a:defRPr sz="3800">
                <a:solidFill>
                  <a:schemeClr val="tx1"/>
                </a:solidFill>
                <a:latin typeface="Times New Roman" panose="02020603050405020304" pitchFamily="18" charset="0"/>
              </a:defRPr>
            </a:lvl7pPr>
            <a:lvl8pPr marL="3429000" indent="-228600" eaLnBrk="0" fontAlgn="base" hangingPunct="0">
              <a:spcBef>
                <a:spcPct val="0"/>
              </a:spcBef>
              <a:spcAft>
                <a:spcPct val="0"/>
              </a:spcAft>
              <a:defRPr sz="3800">
                <a:solidFill>
                  <a:schemeClr val="tx1"/>
                </a:solidFill>
                <a:latin typeface="Times New Roman" panose="02020603050405020304" pitchFamily="18" charset="0"/>
              </a:defRPr>
            </a:lvl8pPr>
            <a:lvl9pPr marL="3886200" indent="-228600" eaLnBrk="0" fontAlgn="base" hangingPunct="0">
              <a:spcBef>
                <a:spcPct val="0"/>
              </a:spcBef>
              <a:spcAft>
                <a:spcPct val="0"/>
              </a:spcAft>
              <a:defRPr sz="38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1703F44-76A3-47D3-A0A6-D848333232D6}"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128"/>
              <a:cs typeface="+mn-cs"/>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ZA" altLang="en-US">
              <a:latin typeface="Arial" panose="020B0604020202020204" pitchFamily="34" charset="0"/>
            </a:endParaRPr>
          </a:p>
        </p:txBody>
      </p:sp>
    </p:spTree>
    <p:extLst>
      <p:ext uri="{BB962C8B-B14F-4D97-AF65-F5344CB8AC3E}">
        <p14:creationId xmlns:p14="http://schemas.microsoft.com/office/powerpoint/2010/main" val="39575618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defTabSz="918698"/>
            <a:fld id="{73303AEE-F764-0E46-AFB6-085D8FECA2EE}" type="slidenum">
              <a:rPr lang="en-US">
                <a:solidFill>
                  <a:srgbClr val="000000"/>
                </a:solidFill>
              </a:rPr>
              <a:pPr defTabSz="918698"/>
              <a:t>42</a:t>
            </a:fld>
            <a:endParaRPr lang="en-US">
              <a:solidFill>
                <a:srgbClr val="000000"/>
              </a:solidFill>
            </a:endParaRPr>
          </a:p>
        </p:txBody>
      </p:sp>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803971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304800"/>
            <a:ext cx="7772400" cy="1470025"/>
          </a:xfrm>
        </p:spPr>
        <p:txBody>
          <a:bodyPr/>
          <a:lstStyle>
            <a:lvl1pPr>
              <a:defRPr b="0" cap="none" spc="0">
                <a:ln>
                  <a:noFill/>
                </a:ln>
                <a:solidFill>
                  <a:schemeClr val="tx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E7E0EE7-581C-F445-BDC6-E24C5F5F02F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46C6F65-9470-3143-AA4D-A7FCF6DFB4B2}" type="slidenum">
              <a:rPr lang="en-US" smtClean="0"/>
              <a:pPr>
                <a:defRPr/>
              </a:pPr>
              <a:t>‹#›</a:t>
            </a:fld>
            <a:endParaRPr lang="en-US"/>
          </a:p>
        </p:txBody>
      </p:sp>
    </p:spTree>
    <p:extLst>
      <p:ext uri="{BB962C8B-B14F-4D97-AF65-F5344CB8AC3E}">
        <p14:creationId xmlns:p14="http://schemas.microsoft.com/office/powerpoint/2010/main" val="671926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228600"/>
            <a:ext cx="7772400" cy="1470025"/>
          </a:xfrm>
        </p:spPr>
        <p:txBody>
          <a:bodyPr/>
          <a:lstStyle>
            <a:lvl1pPr>
              <a:defRPr>
                <a:effectLst>
                  <a:outerShdw blurRad="50800" dist="38100" dir="2700000" algn="tl" rotWithShape="0">
                    <a:prstClr val="black">
                      <a:alpha val="40000"/>
                    </a:prstClr>
                  </a:outerShdw>
                </a:effectLst>
              </a:defRPr>
            </a:lvl1pPr>
          </a:lstStyle>
          <a:p>
            <a:r>
              <a:rPr lang="en-US" dirty="0"/>
              <a:t>Click to edit Master title style</a:t>
            </a:r>
          </a:p>
        </p:txBody>
      </p:sp>
      <p:sp>
        <p:nvSpPr>
          <p:cNvPr id="4" name="Rectangle 4"/>
          <p:cNvSpPr>
            <a:spLocks noGrp="1" noChangeArrowheads="1"/>
          </p:cNvSpPr>
          <p:nvPr>
            <p:ph type="dt" sz="half" idx="10"/>
          </p:nvPr>
        </p:nvSpPr>
        <p:spPr>
          <a:ln/>
        </p:spPr>
        <p:txBody>
          <a:bodyPr/>
          <a:lstStyle>
            <a:lvl1pPr>
              <a:defRPr/>
            </a:lvl1pPr>
          </a:lstStyle>
          <a:p>
            <a:pPr>
              <a:defRPr/>
            </a:pPr>
            <a:fld id="{93DC5801-AA14-4D1A-A09C-9A7B708D243D}" type="datetime1">
              <a:rPr lang="en-US" smtClean="0"/>
              <a:t>2/27/2026</a:t>
            </a:fld>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extLst>
      <p:ext uri="{BB962C8B-B14F-4D97-AF65-F5344CB8AC3E}">
        <p14:creationId xmlns:p14="http://schemas.microsoft.com/office/powerpoint/2010/main" val="3688130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lvl1pPr>
              <a:defRPr sz="2800"/>
            </a:lvl1pPr>
            <a:lvl2pPr>
              <a:defRPr sz="24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6"/>
          <p:cNvSpPr>
            <a:spLocks noGrp="1" noChangeArrowheads="1"/>
          </p:cNvSpPr>
          <p:nvPr>
            <p:ph type="sldNum" sz="quarter" idx="12"/>
          </p:nvPr>
        </p:nvSpPr>
        <p:spPr>
          <a:ln/>
        </p:spPr>
        <p:txBody>
          <a:bodyPr/>
          <a:lstStyle>
            <a:lvl1pPr>
              <a:defRPr>
                <a:solidFill>
                  <a:schemeClr val="tx1"/>
                </a:solidFill>
              </a:defRPr>
            </a:lvl1pPr>
          </a:lstStyle>
          <a:p>
            <a:pPr>
              <a:defRPr/>
            </a:pPr>
            <a:fld id="{EE7E0EE7-581C-F445-BDC6-E24C5F5F02F8}" type="slidenum">
              <a:rPr lang="en-US" smtClean="0"/>
              <a:pPr>
                <a:defRPr/>
              </a:pPr>
              <a:t>‹#›</a:t>
            </a:fld>
            <a:endParaRPr lang="en-US"/>
          </a:p>
        </p:txBody>
      </p:sp>
    </p:spTree>
    <p:extLst>
      <p:ext uri="{BB962C8B-B14F-4D97-AF65-F5344CB8AC3E}">
        <p14:creationId xmlns:p14="http://schemas.microsoft.com/office/powerpoint/2010/main" val="1780694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1065C6B5-DD21-4288-8561-AE356B15015C}" type="datetime1">
              <a:rPr lang="en-US" smtClean="0"/>
              <a:t>2/27/2026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extLst>
      <p:ext uri="{BB962C8B-B14F-4D97-AF65-F5344CB8AC3E}">
        <p14:creationId xmlns:p14="http://schemas.microsoft.com/office/powerpoint/2010/main" val="3512363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C1559354-B95F-440D-8860-EF55DC073CE5}" type="datetime1">
              <a:rPr lang="en-US" smtClean="0"/>
              <a:t>2/27/2026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extLst>
      <p:ext uri="{BB962C8B-B14F-4D97-AF65-F5344CB8AC3E}">
        <p14:creationId xmlns:p14="http://schemas.microsoft.com/office/powerpoint/2010/main" val="3186493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77E4B58B-DB37-4B77-A33E-10DE74417EED}" type="datetime1">
              <a:rPr lang="en-US" smtClean="0"/>
              <a:t>2/27/2026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extLst>
      <p:ext uri="{BB962C8B-B14F-4D97-AF65-F5344CB8AC3E}">
        <p14:creationId xmlns:p14="http://schemas.microsoft.com/office/powerpoint/2010/main" val="38543016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7102792B-6D6E-426B-AC0C-C6FEF743363F}" type="datetime1">
              <a:rPr lang="en-US" smtClean="0"/>
              <a:t>2/27/2026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extLst>
      <p:ext uri="{BB962C8B-B14F-4D97-AF65-F5344CB8AC3E}">
        <p14:creationId xmlns:p14="http://schemas.microsoft.com/office/powerpoint/2010/main" val="3916782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1DEDE5F5-1C57-47D5-852C-555C0AFFE31C}" type="datetime1">
              <a:rPr lang="en-US" smtClean="0"/>
              <a:t>2/27/2026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extLst>
      <p:ext uri="{BB962C8B-B14F-4D97-AF65-F5344CB8AC3E}">
        <p14:creationId xmlns:p14="http://schemas.microsoft.com/office/powerpoint/2010/main" val="2694368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3EA1D04-25F2-4213-979E-6BF08363A9FC}" type="datetime1">
              <a:rPr lang="en-US" smtClean="0"/>
              <a:t>2/27/2026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extLst>
      <p:ext uri="{BB962C8B-B14F-4D97-AF65-F5344CB8AC3E}">
        <p14:creationId xmlns:p14="http://schemas.microsoft.com/office/powerpoint/2010/main" val="3186155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E6F2C86-7BFE-466F-80DB-F7397FFB5C35}" type="datetime1">
              <a:rPr lang="en-US" smtClean="0"/>
              <a:t>2/27/2026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extLst>
      <p:ext uri="{BB962C8B-B14F-4D97-AF65-F5344CB8AC3E}">
        <p14:creationId xmlns:p14="http://schemas.microsoft.com/office/powerpoint/2010/main" val="32160238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8ED52624-D27F-4068-A9A7-8BF922128060}" type="datetime1">
              <a:rPr lang="en-US" smtClean="0"/>
              <a:t>2/27/2026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extLst>
      <p:ext uri="{BB962C8B-B14F-4D97-AF65-F5344CB8AC3E}">
        <p14:creationId xmlns:p14="http://schemas.microsoft.com/office/powerpoint/2010/main" val="22052441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A4293FD7-5D95-4EB5-9D95-C3616D7FED50}" type="datetime1">
              <a:rPr lang="en-US" smtClean="0"/>
              <a:t>2/27/2026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extLst>
      <p:ext uri="{BB962C8B-B14F-4D97-AF65-F5344CB8AC3E}">
        <p14:creationId xmlns:p14="http://schemas.microsoft.com/office/powerpoint/2010/main" val="18739602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Slide Number Placeholder 7"/>
          <p:cNvSpPr>
            <a:spLocks noGrp="1"/>
          </p:cNvSpPr>
          <p:nvPr>
            <p:ph type="sldNum" sz="quarter" idx="10"/>
          </p:nvPr>
        </p:nvSpPr>
        <p:spPr/>
        <p:txBody>
          <a:bodyPr/>
          <a:lstStyle>
            <a:lvl1pPr>
              <a:defRPr/>
            </a:lvl1pPr>
          </a:lstStyle>
          <a:p>
            <a:pPr>
              <a:defRPr/>
            </a:pPr>
            <a:fld id="{97D32DAC-1C69-402C-AC50-7D9759DFBFB6}" type="slidenum">
              <a:rPr lang="en-GB"/>
              <a:pPr>
                <a:defRPr/>
              </a:pPr>
              <a:t>‹#›</a:t>
            </a:fld>
            <a:endParaRPr lang="en-GB" dirty="0"/>
          </a:p>
        </p:txBody>
      </p:sp>
    </p:spTree>
    <p:extLst>
      <p:ext uri="{BB962C8B-B14F-4D97-AF65-F5344CB8AC3E}">
        <p14:creationId xmlns:p14="http://schemas.microsoft.com/office/powerpoint/2010/main" val="3149810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Z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ZA"/>
          </a:p>
        </p:txBody>
      </p:sp>
      <p:sp>
        <p:nvSpPr>
          <p:cNvPr id="4" name="Rectangle 4"/>
          <p:cNvSpPr>
            <a:spLocks noGrp="1" noChangeArrowheads="1"/>
          </p:cNvSpPr>
          <p:nvPr>
            <p:ph type="sldNum" sz="quarter" idx="10"/>
          </p:nvPr>
        </p:nvSpPr>
        <p:spPr/>
        <p:txBody>
          <a:bodyPr/>
          <a:lstStyle>
            <a:lvl1pPr>
              <a:defRPr/>
            </a:lvl1pPr>
          </a:lstStyle>
          <a:p>
            <a:pPr>
              <a:defRPr/>
            </a:pPr>
            <a:fld id="{8A1E04A2-0886-4C51-95AB-95E45F99C2C2}" type="slidenum">
              <a:rPr lang="en-ZA" altLang="en-US"/>
              <a:pPr>
                <a:defRPr/>
              </a:pPr>
              <a:t>‹#›</a:t>
            </a:fld>
            <a:endParaRPr lang="en-ZA" altLang="en-US"/>
          </a:p>
        </p:txBody>
      </p:sp>
    </p:spTree>
    <p:extLst>
      <p:ext uri="{BB962C8B-B14F-4D97-AF65-F5344CB8AC3E}">
        <p14:creationId xmlns:p14="http://schemas.microsoft.com/office/powerpoint/2010/main" val="36021969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Rectangle 4"/>
          <p:cNvSpPr>
            <a:spLocks noGrp="1" noChangeArrowheads="1"/>
          </p:cNvSpPr>
          <p:nvPr>
            <p:ph type="sldNum" sz="quarter" idx="10"/>
          </p:nvPr>
        </p:nvSpPr>
        <p:spPr/>
        <p:txBody>
          <a:bodyPr/>
          <a:lstStyle>
            <a:lvl1pPr>
              <a:defRPr/>
            </a:lvl1pPr>
          </a:lstStyle>
          <a:p>
            <a:pPr>
              <a:defRPr/>
            </a:pPr>
            <a:fld id="{3DEAABED-6F16-4B77-9711-ACDBC7079BF3}" type="slidenum">
              <a:rPr lang="en-ZA" altLang="en-US"/>
              <a:pPr>
                <a:defRPr/>
              </a:pPr>
              <a:t>‹#›</a:t>
            </a:fld>
            <a:endParaRPr lang="en-ZA" altLang="en-US"/>
          </a:p>
        </p:txBody>
      </p:sp>
    </p:spTree>
    <p:extLst>
      <p:ext uri="{BB962C8B-B14F-4D97-AF65-F5344CB8AC3E}">
        <p14:creationId xmlns:p14="http://schemas.microsoft.com/office/powerpoint/2010/main" val="26043090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Z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sldNum" sz="quarter" idx="10"/>
          </p:nvPr>
        </p:nvSpPr>
        <p:spPr/>
        <p:txBody>
          <a:bodyPr/>
          <a:lstStyle>
            <a:lvl1pPr>
              <a:defRPr/>
            </a:lvl1pPr>
          </a:lstStyle>
          <a:p>
            <a:pPr>
              <a:defRPr/>
            </a:pPr>
            <a:fld id="{0FF91C1F-FFBA-4199-B863-544289B811C6}" type="slidenum">
              <a:rPr lang="en-ZA" altLang="en-US"/>
              <a:pPr>
                <a:defRPr/>
              </a:pPr>
              <a:t>‹#›</a:t>
            </a:fld>
            <a:endParaRPr lang="en-ZA" altLang="en-US"/>
          </a:p>
        </p:txBody>
      </p:sp>
    </p:spTree>
    <p:extLst>
      <p:ext uri="{BB962C8B-B14F-4D97-AF65-F5344CB8AC3E}">
        <p14:creationId xmlns:p14="http://schemas.microsoft.com/office/powerpoint/2010/main" val="24493289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685800" y="1676400"/>
            <a:ext cx="39243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4762500" y="1676400"/>
            <a:ext cx="39243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Slide Number Placeholder 4"/>
          <p:cNvSpPr>
            <a:spLocks noGrp="1" noChangeArrowheads="1"/>
          </p:cNvSpPr>
          <p:nvPr>
            <p:ph type="sldNum" sz="quarter" idx="10"/>
          </p:nvPr>
        </p:nvSpPr>
        <p:spPr/>
        <p:txBody>
          <a:bodyPr/>
          <a:lstStyle>
            <a:lvl1pPr>
              <a:defRPr/>
            </a:lvl1pPr>
          </a:lstStyle>
          <a:p>
            <a:pPr>
              <a:defRPr/>
            </a:pPr>
            <a:fld id="{8189F683-EEB7-4713-A50B-30DF7BE4033E}" type="slidenum">
              <a:rPr lang="en-ZA" altLang="en-US"/>
              <a:pPr>
                <a:defRPr/>
              </a:pPr>
              <a:t>‹#›</a:t>
            </a:fld>
            <a:endParaRPr lang="en-ZA" altLang="en-US"/>
          </a:p>
        </p:txBody>
      </p:sp>
    </p:spTree>
    <p:extLst>
      <p:ext uri="{BB962C8B-B14F-4D97-AF65-F5344CB8AC3E}">
        <p14:creationId xmlns:p14="http://schemas.microsoft.com/office/powerpoint/2010/main" val="42847079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Z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Rectangle 4"/>
          <p:cNvSpPr>
            <a:spLocks noGrp="1" noChangeArrowheads="1"/>
          </p:cNvSpPr>
          <p:nvPr>
            <p:ph type="sldNum" sz="quarter" idx="10"/>
          </p:nvPr>
        </p:nvSpPr>
        <p:spPr/>
        <p:txBody>
          <a:bodyPr/>
          <a:lstStyle>
            <a:lvl1pPr>
              <a:defRPr/>
            </a:lvl1pPr>
          </a:lstStyle>
          <a:p>
            <a:pPr>
              <a:defRPr/>
            </a:pPr>
            <a:fld id="{89945FAF-4A9C-4CBC-8E82-C9D7719982B2}" type="slidenum">
              <a:rPr lang="en-ZA" altLang="en-US"/>
              <a:pPr>
                <a:defRPr/>
              </a:pPr>
              <a:t>‹#›</a:t>
            </a:fld>
            <a:endParaRPr lang="en-ZA" altLang="en-US"/>
          </a:p>
        </p:txBody>
      </p:sp>
    </p:spTree>
    <p:extLst>
      <p:ext uri="{BB962C8B-B14F-4D97-AF65-F5344CB8AC3E}">
        <p14:creationId xmlns:p14="http://schemas.microsoft.com/office/powerpoint/2010/main" val="7114483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Rectangle 4"/>
          <p:cNvSpPr>
            <a:spLocks noGrp="1" noChangeArrowheads="1"/>
          </p:cNvSpPr>
          <p:nvPr>
            <p:ph type="sldNum" sz="quarter" idx="10"/>
          </p:nvPr>
        </p:nvSpPr>
        <p:spPr/>
        <p:txBody>
          <a:bodyPr/>
          <a:lstStyle>
            <a:lvl1pPr>
              <a:defRPr/>
            </a:lvl1pPr>
          </a:lstStyle>
          <a:p>
            <a:pPr>
              <a:defRPr/>
            </a:pPr>
            <a:fld id="{8CB6F950-A1F4-4F2D-B94D-D759ECEA1B4A}" type="slidenum">
              <a:rPr lang="en-ZA" altLang="en-US"/>
              <a:pPr>
                <a:defRPr/>
              </a:pPr>
              <a:t>‹#›</a:t>
            </a:fld>
            <a:endParaRPr lang="en-ZA" altLang="en-US"/>
          </a:p>
        </p:txBody>
      </p:sp>
    </p:spTree>
    <p:extLst>
      <p:ext uri="{BB962C8B-B14F-4D97-AF65-F5344CB8AC3E}">
        <p14:creationId xmlns:p14="http://schemas.microsoft.com/office/powerpoint/2010/main" val="753211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p:txBody>
          <a:bodyPr/>
          <a:lstStyle>
            <a:lvl1pPr>
              <a:defRPr/>
            </a:lvl1pPr>
          </a:lstStyle>
          <a:p>
            <a:pPr>
              <a:defRPr/>
            </a:pPr>
            <a:fld id="{8A04383B-E969-4A71-ACCC-8F5CFAEE8EEB}" type="slidenum">
              <a:rPr lang="en-ZA" altLang="en-US"/>
              <a:pPr>
                <a:defRPr/>
              </a:pPr>
              <a:t>‹#›</a:t>
            </a:fld>
            <a:endParaRPr lang="en-ZA" altLang="en-US"/>
          </a:p>
        </p:txBody>
      </p:sp>
    </p:spTree>
    <p:extLst>
      <p:ext uri="{BB962C8B-B14F-4D97-AF65-F5344CB8AC3E}">
        <p14:creationId xmlns:p14="http://schemas.microsoft.com/office/powerpoint/2010/main" val="35907770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Z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p:txBody>
          <a:bodyPr/>
          <a:lstStyle>
            <a:lvl1pPr>
              <a:defRPr/>
            </a:lvl1pPr>
          </a:lstStyle>
          <a:p>
            <a:pPr>
              <a:defRPr/>
            </a:pPr>
            <a:fld id="{EB966556-AB11-4A86-BD3E-E2C1DB4029FB}" type="slidenum">
              <a:rPr lang="en-ZA" altLang="en-US"/>
              <a:pPr>
                <a:defRPr/>
              </a:pPr>
              <a:t>‹#›</a:t>
            </a:fld>
            <a:endParaRPr lang="en-ZA" altLang="en-US"/>
          </a:p>
        </p:txBody>
      </p:sp>
    </p:spTree>
    <p:extLst>
      <p:ext uri="{BB962C8B-B14F-4D97-AF65-F5344CB8AC3E}">
        <p14:creationId xmlns:p14="http://schemas.microsoft.com/office/powerpoint/2010/main" val="5231772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Z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Z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p:txBody>
          <a:bodyPr/>
          <a:lstStyle>
            <a:lvl1pPr>
              <a:defRPr/>
            </a:lvl1pPr>
          </a:lstStyle>
          <a:p>
            <a:pPr>
              <a:defRPr/>
            </a:pPr>
            <a:fld id="{010F99B1-9886-4675-8FDA-019E921A5A5C}" type="slidenum">
              <a:rPr lang="en-ZA" altLang="en-US"/>
              <a:pPr>
                <a:defRPr/>
              </a:pPr>
              <a:t>‹#›</a:t>
            </a:fld>
            <a:endParaRPr lang="en-ZA" altLang="en-US"/>
          </a:p>
        </p:txBody>
      </p:sp>
    </p:spTree>
    <p:extLst>
      <p:ext uri="{BB962C8B-B14F-4D97-AF65-F5344CB8AC3E}">
        <p14:creationId xmlns:p14="http://schemas.microsoft.com/office/powerpoint/2010/main" val="38922211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Rectangle 4"/>
          <p:cNvSpPr>
            <a:spLocks noGrp="1" noChangeArrowheads="1"/>
          </p:cNvSpPr>
          <p:nvPr>
            <p:ph type="sldNum" sz="quarter" idx="10"/>
          </p:nvPr>
        </p:nvSpPr>
        <p:spPr/>
        <p:txBody>
          <a:bodyPr/>
          <a:lstStyle>
            <a:lvl1pPr>
              <a:defRPr/>
            </a:lvl1pPr>
          </a:lstStyle>
          <a:p>
            <a:pPr>
              <a:defRPr/>
            </a:pPr>
            <a:fld id="{8B2C689E-9540-4225-A7C9-25125CDEB492}" type="slidenum">
              <a:rPr lang="en-ZA" altLang="en-US"/>
              <a:pPr>
                <a:defRPr/>
              </a:pPr>
              <a:t>‹#›</a:t>
            </a:fld>
            <a:endParaRPr lang="en-ZA" altLang="en-US"/>
          </a:p>
        </p:txBody>
      </p:sp>
    </p:spTree>
    <p:extLst>
      <p:ext uri="{BB962C8B-B14F-4D97-AF65-F5344CB8AC3E}">
        <p14:creationId xmlns:p14="http://schemas.microsoft.com/office/powerpoint/2010/main" val="37165172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228600"/>
            <a:ext cx="2000250" cy="6172200"/>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685800" y="228600"/>
            <a:ext cx="5848350"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Rectangle 4"/>
          <p:cNvSpPr>
            <a:spLocks noGrp="1" noChangeArrowheads="1"/>
          </p:cNvSpPr>
          <p:nvPr>
            <p:ph type="sldNum" sz="quarter" idx="10"/>
          </p:nvPr>
        </p:nvSpPr>
        <p:spPr/>
        <p:txBody>
          <a:bodyPr/>
          <a:lstStyle>
            <a:lvl1pPr>
              <a:defRPr/>
            </a:lvl1pPr>
          </a:lstStyle>
          <a:p>
            <a:pPr>
              <a:defRPr/>
            </a:pPr>
            <a:fld id="{AC6B9972-3295-4A5D-B9BC-41C3B1E87698}" type="slidenum">
              <a:rPr lang="en-ZA" altLang="en-US"/>
              <a:pPr>
                <a:defRPr/>
              </a:pPr>
              <a:t>‹#›</a:t>
            </a:fld>
            <a:endParaRPr lang="en-ZA" altLang="en-US"/>
          </a:p>
        </p:txBody>
      </p:sp>
    </p:spTree>
    <p:extLst>
      <p:ext uri="{BB962C8B-B14F-4D97-AF65-F5344CB8AC3E}">
        <p14:creationId xmlns:p14="http://schemas.microsoft.com/office/powerpoint/2010/main" val="34064509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t>Click to edit Master title style</a:t>
            </a:r>
            <a:endParaRPr lang="en-ZA"/>
          </a:p>
        </p:txBody>
      </p:sp>
      <p:sp>
        <p:nvSpPr>
          <p:cNvPr id="3" name="Text Placeholder 2"/>
          <p:cNvSpPr>
            <a:spLocks noGrp="1"/>
          </p:cNvSpPr>
          <p:nvPr>
            <p:ph type="body" sz="half" idx="1"/>
          </p:nvPr>
        </p:nvSpPr>
        <p:spPr>
          <a:xfrm>
            <a:off x="685800" y="1676400"/>
            <a:ext cx="39243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4762500" y="1676400"/>
            <a:ext cx="39243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Slide Number Placeholder 4"/>
          <p:cNvSpPr>
            <a:spLocks noGrp="1" noChangeArrowheads="1"/>
          </p:cNvSpPr>
          <p:nvPr>
            <p:ph type="sldNum" sz="quarter" idx="10"/>
          </p:nvPr>
        </p:nvSpPr>
        <p:spPr/>
        <p:txBody>
          <a:bodyPr/>
          <a:lstStyle>
            <a:lvl1pPr>
              <a:defRPr/>
            </a:lvl1pPr>
          </a:lstStyle>
          <a:p>
            <a:pPr>
              <a:defRPr/>
            </a:pPr>
            <a:fld id="{2D63A82F-C868-4B9C-805C-0CFE69B60EB5}" type="slidenum">
              <a:rPr lang="en-ZA" altLang="en-US"/>
              <a:pPr>
                <a:defRPr/>
              </a:pPr>
              <a:t>‹#›</a:t>
            </a:fld>
            <a:endParaRPr lang="en-ZA" altLang="en-US"/>
          </a:p>
        </p:txBody>
      </p:sp>
    </p:spTree>
    <p:extLst>
      <p:ext uri="{BB962C8B-B14F-4D97-AF65-F5344CB8AC3E}">
        <p14:creationId xmlns:p14="http://schemas.microsoft.com/office/powerpoint/2010/main" val="3556823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fld id="{CA1720AD-FDE0-49DA-9374-2B2FC9527FE1}" type="datetime1">
              <a:rPr lang="en-US" smtClean="0"/>
              <a:t>2/27/2026</a:t>
            </a:fld>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extLst>
      <p:ext uri="{BB962C8B-B14F-4D97-AF65-F5344CB8AC3E}">
        <p14:creationId xmlns:p14="http://schemas.microsoft.com/office/powerpoint/2010/main" val="53281377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ZA" altLang="en-US"/>
              <a:t>Click to edit master title style</a:t>
            </a:r>
          </a:p>
        </p:txBody>
      </p:sp>
      <p:sp>
        <p:nvSpPr>
          <p:cNvPr id="1027" name="Rectangle 3"/>
          <p:cNvSpPr>
            <a:spLocks noGrp="1" noChangeArrowheads="1"/>
          </p:cNvSpPr>
          <p:nvPr>
            <p:ph type="body" idx="1"/>
          </p:nvPr>
        </p:nvSpPr>
        <p:spPr bwMode="auto">
          <a:xfrm>
            <a:off x="685800" y="16764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ZA" altLang="en-US"/>
              <a:t>Click to edit Master text styles</a:t>
            </a:r>
          </a:p>
          <a:p>
            <a:pPr lvl="1"/>
            <a:r>
              <a:rPr lang="en-ZA" altLang="en-US"/>
              <a:t>Second level</a:t>
            </a:r>
          </a:p>
          <a:p>
            <a:pPr lvl="2"/>
            <a:r>
              <a:rPr lang="en-ZA" altLang="en-US"/>
              <a:t>Third level</a:t>
            </a:r>
          </a:p>
          <a:p>
            <a:pPr lvl="3"/>
            <a:r>
              <a:rPr lang="en-ZA" altLang="en-US"/>
              <a:t>Fourth level</a:t>
            </a:r>
          </a:p>
          <a:p>
            <a:pPr lvl="4"/>
            <a:r>
              <a:rPr lang="en-ZA" altLang="en-US"/>
              <a:t>Fifth level</a:t>
            </a:r>
          </a:p>
        </p:txBody>
      </p:sp>
      <p:sp>
        <p:nvSpPr>
          <p:cNvPr id="45060" name="Rectangle 4"/>
          <p:cNvSpPr>
            <a:spLocks noGrp="1" noChangeArrowheads="1"/>
          </p:cNvSpPr>
          <p:nvPr>
            <p:ph type="sldNum" sz="quarter" idx="4"/>
          </p:nvPr>
        </p:nvSpPr>
        <p:spPr bwMode="auto">
          <a:xfrm>
            <a:off x="3352800" y="6324600"/>
            <a:ext cx="22860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2EC0C210-C190-4F27-820E-930075D5037D}" type="slidenum">
              <a:rPr lang="en-ZA" altLang="en-US"/>
              <a:pPr>
                <a:defRPr/>
              </a:pPr>
              <a:t>‹#›</a:t>
            </a:fld>
            <a:endParaRPr lang="en-ZA" altLang="en-US"/>
          </a:p>
        </p:txBody>
      </p:sp>
      <p:pic>
        <p:nvPicPr>
          <p:cNvPr id="1029" name="Picture 5" descr="logo_tp"/>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200" y="6400800"/>
            <a:ext cx="12954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p:cNvSpPr>
            <a:spLocks noChangeArrowheads="1"/>
          </p:cNvSpPr>
          <p:nvPr/>
        </p:nvSpPr>
        <p:spPr bwMode="auto">
          <a:xfrm>
            <a:off x="7315200" y="6478588"/>
            <a:ext cx="1828800" cy="22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defRPr sz="3800">
                <a:solidFill>
                  <a:schemeClr val="tx1"/>
                </a:solidFill>
                <a:latin typeface="Times New Roman" panose="02020603050405020304" pitchFamily="18" charset="0"/>
              </a:defRPr>
            </a:lvl1pPr>
            <a:lvl2pPr marL="742950" indent="-285750">
              <a:defRPr sz="3800">
                <a:solidFill>
                  <a:schemeClr val="tx1"/>
                </a:solidFill>
                <a:latin typeface="Times New Roman" panose="02020603050405020304" pitchFamily="18" charset="0"/>
              </a:defRPr>
            </a:lvl2pPr>
            <a:lvl3pPr marL="1143000" indent="-228600">
              <a:defRPr sz="3800">
                <a:solidFill>
                  <a:schemeClr val="tx1"/>
                </a:solidFill>
                <a:latin typeface="Times New Roman" panose="02020603050405020304" pitchFamily="18" charset="0"/>
              </a:defRPr>
            </a:lvl3pPr>
            <a:lvl4pPr marL="1600200" indent="-228600">
              <a:defRPr sz="3800">
                <a:solidFill>
                  <a:schemeClr val="tx1"/>
                </a:solidFill>
                <a:latin typeface="Times New Roman" panose="02020603050405020304" pitchFamily="18" charset="0"/>
              </a:defRPr>
            </a:lvl4pPr>
            <a:lvl5pPr marL="2057400" indent="-228600">
              <a:defRPr sz="38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38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38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38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3800">
                <a:solidFill>
                  <a:schemeClr val="tx1"/>
                </a:solidFill>
                <a:latin typeface="Times New Roman" panose="02020603050405020304" pitchFamily="18" charset="0"/>
              </a:defRPr>
            </a:lvl9pPr>
          </a:lstStyle>
          <a:p>
            <a:pPr algn="r">
              <a:buFontTx/>
              <a:buChar char="©"/>
              <a:defRPr/>
            </a:pPr>
            <a:r>
              <a:rPr lang="en-ZA" altLang="en-US" sz="1200" b="1" i="1">
                <a:latin typeface="Book Antiqua" panose="02040602050305030304" pitchFamily="18" charset="0"/>
              </a:rPr>
              <a:t>The McGraw-Hill Companies, 2004</a:t>
            </a:r>
          </a:p>
        </p:txBody>
      </p:sp>
    </p:spTree>
    <p:extLst>
      <p:ext uri="{BB962C8B-B14F-4D97-AF65-F5344CB8AC3E}">
        <p14:creationId xmlns:p14="http://schemas.microsoft.com/office/powerpoint/2010/main" val="152234870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Lst>
  <p:hf hdr="0" ftr="0" dt="0"/>
  <p:txStyles>
    <p:titleStyle>
      <a:lvl1pPr algn="ctr" rtl="0" eaLnBrk="0" fontAlgn="base" hangingPunct="0">
        <a:spcBef>
          <a:spcPct val="0"/>
        </a:spcBef>
        <a:spcAft>
          <a:spcPct val="0"/>
        </a:spcAft>
        <a:defRPr sz="3800">
          <a:solidFill>
            <a:srgbClr val="0000FF"/>
          </a:solidFill>
          <a:latin typeface="+mj-lt"/>
          <a:ea typeface="+mj-ea"/>
          <a:cs typeface="+mj-cs"/>
        </a:defRPr>
      </a:lvl1pPr>
      <a:lvl2pPr algn="ctr" rtl="0" eaLnBrk="0" fontAlgn="base" hangingPunct="0">
        <a:spcBef>
          <a:spcPct val="0"/>
        </a:spcBef>
        <a:spcAft>
          <a:spcPct val="0"/>
        </a:spcAft>
        <a:defRPr sz="3800">
          <a:solidFill>
            <a:srgbClr val="0000FF"/>
          </a:solidFill>
          <a:latin typeface="Tahoma" pitchFamily="34" charset="0"/>
        </a:defRPr>
      </a:lvl2pPr>
      <a:lvl3pPr algn="ctr" rtl="0" eaLnBrk="0" fontAlgn="base" hangingPunct="0">
        <a:spcBef>
          <a:spcPct val="0"/>
        </a:spcBef>
        <a:spcAft>
          <a:spcPct val="0"/>
        </a:spcAft>
        <a:defRPr sz="3800">
          <a:solidFill>
            <a:srgbClr val="0000FF"/>
          </a:solidFill>
          <a:latin typeface="Tahoma" pitchFamily="34" charset="0"/>
        </a:defRPr>
      </a:lvl3pPr>
      <a:lvl4pPr algn="ctr" rtl="0" eaLnBrk="0" fontAlgn="base" hangingPunct="0">
        <a:spcBef>
          <a:spcPct val="0"/>
        </a:spcBef>
        <a:spcAft>
          <a:spcPct val="0"/>
        </a:spcAft>
        <a:defRPr sz="3800">
          <a:solidFill>
            <a:srgbClr val="0000FF"/>
          </a:solidFill>
          <a:latin typeface="Tahoma" pitchFamily="34" charset="0"/>
        </a:defRPr>
      </a:lvl4pPr>
      <a:lvl5pPr algn="ctr" rtl="0" eaLnBrk="0" fontAlgn="base" hangingPunct="0">
        <a:spcBef>
          <a:spcPct val="0"/>
        </a:spcBef>
        <a:spcAft>
          <a:spcPct val="0"/>
        </a:spcAft>
        <a:defRPr sz="3800">
          <a:solidFill>
            <a:srgbClr val="0000FF"/>
          </a:solidFill>
          <a:latin typeface="Tahoma" pitchFamily="34" charset="0"/>
        </a:defRPr>
      </a:lvl5pPr>
      <a:lvl6pPr marL="457200" algn="ctr" rtl="0" eaLnBrk="0" fontAlgn="base" hangingPunct="0">
        <a:spcBef>
          <a:spcPct val="0"/>
        </a:spcBef>
        <a:spcAft>
          <a:spcPct val="0"/>
        </a:spcAft>
        <a:defRPr sz="3800">
          <a:solidFill>
            <a:srgbClr val="0000FF"/>
          </a:solidFill>
          <a:latin typeface="Tahoma" pitchFamily="34" charset="0"/>
        </a:defRPr>
      </a:lvl6pPr>
      <a:lvl7pPr marL="914400" algn="ctr" rtl="0" eaLnBrk="0" fontAlgn="base" hangingPunct="0">
        <a:spcBef>
          <a:spcPct val="0"/>
        </a:spcBef>
        <a:spcAft>
          <a:spcPct val="0"/>
        </a:spcAft>
        <a:defRPr sz="3800">
          <a:solidFill>
            <a:srgbClr val="0000FF"/>
          </a:solidFill>
          <a:latin typeface="Tahoma" pitchFamily="34" charset="0"/>
        </a:defRPr>
      </a:lvl7pPr>
      <a:lvl8pPr marL="1371600" algn="ctr" rtl="0" eaLnBrk="0" fontAlgn="base" hangingPunct="0">
        <a:spcBef>
          <a:spcPct val="0"/>
        </a:spcBef>
        <a:spcAft>
          <a:spcPct val="0"/>
        </a:spcAft>
        <a:defRPr sz="3800">
          <a:solidFill>
            <a:srgbClr val="0000FF"/>
          </a:solidFill>
          <a:latin typeface="Tahoma" pitchFamily="34" charset="0"/>
        </a:defRPr>
      </a:lvl8pPr>
      <a:lvl9pPr marL="1828800" algn="ctr" rtl="0" eaLnBrk="0" fontAlgn="base" hangingPunct="0">
        <a:spcBef>
          <a:spcPct val="0"/>
        </a:spcBef>
        <a:spcAft>
          <a:spcPct val="0"/>
        </a:spcAft>
        <a:defRPr sz="3800">
          <a:solidFill>
            <a:srgbClr val="0000FF"/>
          </a:solidFill>
          <a:latin typeface="Tahoma" pitchFamily="34"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5466312" y="2286000"/>
            <a:ext cx="3124200" cy="1074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spAutoFit/>
          </a:bodyPr>
          <a:lstStyle/>
          <a:p>
            <a:pPr lvl="0" algn="ctr" defTabSz="912813" eaLnBrk="1" hangingPunct="1">
              <a:spcBef>
                <a:spcPct val="50000"/>
              </a:spcBef>
              <a:defRPr/>
            </a:pPr>
            <a:r>
              <a:rPr lang="en-ZA" sz="3200" b="1" dirty="0">
                <a:solidFill>
                  <a:srgbClr val="28287A"/>
                </a:solidFill>
                <a:latin typeface="Tahoma" panose="020B0604030504040204" pitchFamily="34" charset="0"/>
                <a:ea typeface="Tahoma" panose="020B0604030504040204" pitchFamily="34" charset="0"/>
                <a:cs typeface="Tahoma" panose="020B0604030504040204" pitchFamily="34" charset="0"/>
              </a:rPr>
              <a:t>The cost of capital</a:t>
            </a:r>
            <a:endParaRPr lang="en-GB" sz="3200" b="1" dirty="0">
              <a:solidFill>
                <a:srgbClr val="28287A"/>
              </a:solidFill>
              <a:latin typeface="Tahoma" panose="020B0604030504040204" pitchFamily="34" charset="0"/>
              <a:ea typeface="Tahoma" panose="020B0604030504040204" pitchFamily="34" charset="0"/>
              <a:cs typeface="Tahoma" panose="020B0604030504040204" pitchFamily="34" charset="0"/>
            </a:endParaRPr>
          </a:p>
        </p:txBody>
      </p:sp>
      <p:sp>
        <p:nvSpPr>
          <p:cNvPr id="4099" name="Rectangle 4"/>
          <p:cNvSpPr>
            <a:spLocks noChangeArrowheads="1"/>
          </p:cNvSpPr>
          <p:nvPr/>
        </p:nvSpPr>
        <p:spPr bwMode="auto">
          <a:xfrm>
            <a:off x="4339457" y="101304"/>
            <a:ext cx="5113283" cy="1132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nchor="ct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GB" sz="4000" b="1" i="0" u="none" strike="noStrike" kern="1200" cap="none" spc="0" normalizeH="0" baseline="0" noProof="0" dirty="0">
                <a:ln>
                  <a:noFill/>
                </a:ln>
                <a:solidFill>
                  <a:srgbClr val="28287A"/>
                </a:solidFill>
                <a:effectLst/>
                <a:uLnTx/>
                <a:uFillTx/>
                <a:latin typeface="+mn-lt"/>
                <a:ea typeface="+mn-ea"/>
                <a:cs typeface="Arial" charset="0"/>
              </a:rPr>
              <a:t>Chapter 15</a:t>
            </a:r>
          </a:p>
        </p:txBody>
      </p:sp>
      <p:sp>
        <p:nvSpPr>
          <p:cNvPr id="4101" name="Rectangle 6"/>
          <p:cNvSpPr>
            <a:spLocks noChangeArrowheads="1"/>
          </p:cNvSpPr>
          <p:nvPr/>
        </p:nvSpPr>
        <p:spPr bwMode="auto">
          <a:xfrm>
            <a:off x="4742050" y="5387788"/>
            <a:ext cx="4424362" cy="10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lvl="0" algn="ctr" defTabSz="912813" eaLnBrk="1" hangingPunct="1"/>
            <a:r>
              <a:rPr lang="en-GB" sz="2000" b="1" dirty="0">
                <a:solidFill>
                  <a:srgbClr val="28287A"/>
                </a:solidFill>
                <a:latin typeface="+mn-lt"/>
                <a:ea typeface="+mn-ea"/>
                <a:cs typeface="Arial" charset="0"/>
              </a:rPr>
              <a:t>Slides by Prof C Rootman, </a:t>
            </a:r>
          </a:p>
          <a:p>
            <a:pPr lvl="0" algn="ctr" defTabSz="912813" eaLnBrk="1" hangingPunct="1"/>
            <a:r>
              <a:rPr lang="en-GB" sz="2000" b="1" dirty="0">
                <a:solidFill>
                  <a:srgbClr val="28287A"/>
                </a:solidFill>
                <a:latin typeface="+mn-lt"/>
                <a:ea typeface="+mn-ea"/>
                <a:cs typeface="Arial" charset="0"/>
              </a:rPr>
              <a:t>Dr S Watson, Ms E Kobese </a:t>
            </a:r>
          </a:p>
          <a:p>
            <a:pPr lvl="0" algn="ctr" defTabSz="912813" eaLnBrk="1" hangingPunct="1"/>
            <a:r>
              <a:rPr kumimoji="0" lang="en-GB" sz="2000" b="1" i="0" u="none" strike="noStrike" kern="1200" cap="none" spc="0" normalizeH="0" baseline="0" noProof="0" dirty="0">
                <a:ln>
                  <a:noFill/>
                </a:ln>
                <a:solidFill>
                  <a:srgbClr val="28287A"/>
                </a:solidFill>
                <a:effectLst/>
                <a:uLnTx/>
                <a:uFillTx/>
                <a:latin typeface="+mn-lt"/>
                <a:ea typeface="+mn-ea"/>
                <a:cs typeface="Arial" charset="0"/>
              </a:rPr>
              <a:t>&amp; Ms N Maliwa</a:t>
            </a:r>
          </a:p>
        </p:txBody>
      </p:sp>
    </p:spTree>
    <p:extLst>
      <p:ext uri="{BB962C8B-B14F-4D97-AF65-F5344CB8AC3E}">
        <p14:creationId xmlns:p14="http://schemas.microsoft.com/office/powerpoint/2010/main" val="1067134094"/>
      </p:ext>
    </p:extLst>
  </p:cSld>
  <p:clrMapOvr>
    <a:masterClrMapping/>
  </p:clrMapOvr>
  <mc:AlternateContent xmlns:mc="http://schemas.openxmlformats.org/markup-compatibility/2006" xmlns:p14="http://schemas.microsoft.com/office/powerpoint/2010/main">
    <mc:Choice Requires="p14">
      <p:transition spd="slow" p14:dur="2000" advTm="76269"/>
    </mc:Choice>
    <mc:Fallback xmlns="">
      <p:transition spd="slow" advTm="76269"/>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9" name="Rectangle 1031"/>
          <p:cNvSpPr>
            <a:spLocks noGrp="1" noChangeArrowheads="1"/>
          </p:cNvSpPr>
          <p:nvPr>
            <p:ph type="title"/>
          </p:nvPr>
        </p:nvSpPr>
        <p:spPr>
          <a:xfrm>
            <a:off x="190500" y="76200"/>
            <a:ext cx="8763000" cy="685800"/>
          </a:xfrm>
        </p:spPr>
        <p:txBody>
          <a:bodyPr/>
          <a:lstStyle/>
          <a:p>
            <a:r>
              <a:rPr lang="en-US" i="1" dirty="0">
                <a:latin typeface="Tahoma" panose="020B0604030504040204" pitchFamily="34" charset="0"/>
                <a:ea typeface="Tahoma" panose="020B0604030504040204" pitchFamily="34" charset="0"/>
                <a:cs typeface="Tahoma" panose="020B0604030504040204" pitchFamily="34" charset="0"/>
              </a:rPr>
              <a:t>Learning outcomes: Chapter 15</a:t>
            </a:r>
            <a:endParaRPr lang="en-US" sz="2800" dirty="0">
              <a:solidFill>
                <a:schemeClr val="tx2"/>
              </a:solidFill>
              <a:latin typeface="+mn-lt"/>
            </a:endParaRPr>
          </a:p>
        </p:txBody>
      </p:sp>
      <p:sp>
        <p:nvSpPr>
          <p:cNvPr id="59400" name="Rectangle 1032"/>
          <p:cNvSpPr>
            <a:spLocks noGrp="1" noChangeArrowheads="1"/>
          </p:cNvSpPr>
          <p:nvPr>
            <p:ph idx="1"/>
          </p:nvPr>
        </p:nvSpPr>
        <p:spPr>
          <a:xfrm>
            <a:off x="217394" y="914400"/>
            <a:ext cx="8762999" cy="5791200"/>
          </a:xfrm>
        </p:spPr>
        <p:txBody>
          <a:bodyPr/>
          <a:lstStyle/>
          <a:p>
            <a:pPr marL="342900" lvl="0" indent="-342900" algn="just">
              <a:buFont typeface="Symbol" panose="05050102010706020507" pitchFamily="18" charset="2"/>
              <a:buChar char=""/>
              <a:tabLst>
                <a:tab pos="431800" algn="l"/>
              </a:tabLst>
            </a:pPr>
            <a:r>
              <a:rPr lang="en-ZA" sz="2400" dirty="0">
                <a:effectLst/>
                <a:latin typeface="Arial" panose="020B0604020202020204" pitchFamily="34" charset="0"/>
                <a:ea typeface="Times New Roman" panose="02020603050405020304" pitchFamily="18" charset="0"/>
              </a:rPr>
              <a:t>apply an accurately calculate the cost of long-term debt</a:t>
            </a:r>
            <a:endParaRPr lang="en-ZA" sz="24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tabLst>
                <a:tab pos="431800" algn="l"/>
              </a:tabLst>
            </a:pPr>
            <a:r>
              <a:rPr lang="en-ZA" sz="2400" dirty="0">
                <a:effectLst/>
                <a:latin typeface="Arial" panose="020B0604020202020204" pitchFamily="34" charset="0"/>
                <a:ea typeface="Times New Roman" panose="02020603050405020304" pitchFamily="18" charset="0"/>
              </a:rPr>
              <a:t>accurately calculate the cost of preference shares</a:t>
            </a:r>
            <a:endParaRPr lang="en-ZA" sz="24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tabLst>
                <a:tab pos="431800" algn="l"/>
              </a:tabLst>
            </a:pPr>
            <a:r>
              <a:rPr lang="en-ZA" sz="2400" dirty="0">
                <a:effectLst/>
                <a:latin typeface="Arial" panose="020B0604020202020204" pitchFamily="34" charset="0"/>
                <a:ea typeface="Times New Roman" panose="02020603050405020304" pitchFamily="18" charset="0"/>
              </a:rPr>
              <a:t>accurately calculate the cost of ordinary shares</a:t>
            </a:r>
            <a:endParaRPr lang="en-ZA" sz="24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tabLst>
                <a:tab pos="431800" algn="l"/>
              </a:tabLst>
            </a:pPr>
            <a:r>
              <a:rPr lang="en-ZA" sz="2400" dirty="0">
                <a:effectLst/>
                <a:latin typeface="Arial" panose="020B0604020202020204" pitchFamily="34" charset="0"/>
                <a:ea typeface="Times New Roman" panose="02020603050405020304" pitchFamily="18" charset="0"/>
              </a:rPr>
              <a:t>accurately calculate the weighted average cost of capital (WACC)</a:t>
            </a:r>
            <a:endParaRPr lang="en-ZA" sz="24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tabLst>
                <a:tab pos="431800" algn="l"/>
              </a:tabLst>
            </a:pPr>
            <a:r>
              <a:rPr lang="en-ZA" sz="2400" dirty="0">
                <a:latin typeface="Arial" panose="020B0604020202020204" pitchFamily="34" charset="0"/>
                <a:ea typeface="Times New Roman" panose="02020603050405020304" pitchFamily="18" charset="0"/>
              </a:rPr>
              <a:t>use </a:t>
            </a:r>
            <a:r>
              <a:rPr lang="en-US" sz="2400" dirty="0">
                <a:latin typeface="Arial" panose="020B0604020202020204" pitchFamily="34" charset="0"/>
                <a:ea typeface="Times New Roman" panose="02020603050405020304" pitchFamily="18" charset="0"/>
              </a:rPr>
              <a:t>cost of capital for the purpose of investment decisions</a:t>
            </a:r>
            <a:r>
              <a:rPr lang="en-ZA" sz="2400" dirty="0">
                <a:effectLst/>
                <a:ea typeface="Times New Roman" panose="02020603050405020304" pitchFamily="18" charset="0"/>
              </a:rPr>
              <a:t>.</a:t>
            </a: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a:t>
            </a:fld>
            <a:endParaRPr lang="en-US">
              <a:solidFill>
                <a:schemeClr val="tx1"/>
              </a:solidFill>
            </a:endParaRPr>
          </a:p>
        </p:txBody>
      </p:sp>
    </p:spTree>
    <p:extLst>
      <p:ext uri="{BB962C8B-B14F-4D97-AF65-F5344CB8AC3E}">
        <p14:creationId xmlns:p14="http://schemas.microsoft.com/office/powerpoint/2010/main" val="327236273"/>
      </p:ext>
    </p:extLst>
  </p:cSld>
  <p:clrMapOvr>
    <a:masterClrMapping/>
  </p:clrMapOvr>
  <mc:AlternateContent xmlns:mc="http://schemas.openxmlformats.org/markup-compatibility/2006" xmlns:p14="http://schemas.microsoft.com/office/powerpoint/2010/main">
    <mc:Choice Requires="p14">
      <p:transition spd="slow" p14:dur="2000" advTm="73523"/>
    </mc:Choice>
    <mc:Fallback xmlns="">
      <p:transition spd="slow" advTm="73523"/>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Introduction</a:t>
            </a:r>
          </a:p>
        </p:txBody>
      </p:sp>
      <p:sp>
        <p:nvSpPr>
          <p:cNvPr id="9221" name="Rectangle 5"/>
          <p:cNvSpPr>
            <a:spLocks noGrp="1" noChangeArrowheads="1"/>
          </p:cNvSpPr>
          <p:nvPr>
            <p:ph idx="1"/>
          </p:nvPr>
        </p:nvSpPr>
        <p:spPr>
          <a:xfrm>
            <a:off x="259976" y="990600"/>
            <a:ext cx="8655424" cy="5791200"/>
          </a:xfrm>
        </p:spPr>
        <p:txBody>
          <a:bodyPr/>
          <a:lstStyle/>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lang="en-US" sz="2400" dirty="0">
                <a:latin typeface="+mj-lt"/>
              </a:rPr>
              <a:t>Wealth is created (remember Ch 1 SHW) by embarking on investment opportunities that realise returns that are at least equal to (preferably higher than) those required by investors</a:t>
            </a:r>
          </a:p>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lang="en-US" sz="2400" dirty="0">
                <a:latin typeface="+mj-lt"/>
              </a:rPr>
              <a:t>Remember Ch 13: Investment can only add value if its return &gt; the required rate of return (RRR) </a:t>
            </a:r>
          </a:p>
          <a:p>
            <a:pPr lvl="1" indent="-342900" algn="just">
              <a:lnSpc>
                <a:spcPct val="100000"/>
              </a:lnSpc>
              <a:spcBef>
                <a:spcPts val="0"/>
              </a:spcBef>
              <a:spcAft>
                <a:spcPts val="0"/>
              </a:spcAft>
              <a:buClr>
                <a:srgbClr val="1F497D"/>
              </a:buClr>
              <a:buSzPct val="100000"/>
              <a:buFont typeface="Wingdings" panose="05000000000000000000" pitchFamily="2" charset="2"/>
              <a:buChar char="§"/>
              <a:defRPr/>
            </a:pPr>
            <a:r>
              <a:rPr lang="en-US" sz="2400" b="1" dirty="0">
                <a:solidFill>
                  <a:srgbClr val="C00000"/>
                </a:solidFill>
                <a:latin typeface="+mj-lt"/>
              </a:rPr>
              <a:t>RRR</a:t>
            </a:r>
            <a:r>
              <a:rPr lang="en-US" sz="2400" dirty="0">
                <a:latin typeface="+mj-lt"/>
              </a:rPr>
              <a:t> same as </a:t>
            </a:r>
            <a:r>
              <a:rPr lang="en-US" sz="2400" b="1" dirty="0">
                <a:solidFill>
                  <a:srgbClr val="C00000"/>
                </a:solidFill>
                <a:latin typeface="+mj-lt"/>
              </a:rPr>
              <a:t>discount rate </a:t>
            </a:r>
            <a:r>
              <a:rPr lang="en-US" sz="2400" dirty="0">
                <a:latin typeface="+mj-lt"/>
              </a:rPr>
              <a:t>and </a:t>
            </a:r>
            <a:r>
              <a:rPr lang="en-US" sz="2400" b="1" dirty="0">
                <a:solidFill>
                  <a:srgbClr val="C00000"/>
                </a:solidFill>
                <a:latin typeface="+mj-lt"/>
              </a:rPr>
              <a:t>k </a:t>
            </a:r>
            <a:r>
              <a:rPr lang="en-US" sz="2400" dirty="0">
                <a:latin typeface="+mj-lt"/>
              </a:rPr>
              <a:t>or</a:t>
            </a:r>
            <a:r>
              <a:rPr lang="en-US" sz="2400" b="1" dirty="0">
                <a:solidFill>
                  <a:srgbClr val="C00000"/>
                </a:solidFill>
                <a:latin typeface="+mj-lt"/>
              </a:rPr>
              <a:t> r</a:t>
            </a:r>
          </a:p>
          <a:p>
            <a:pPr lvl="1" indent="-342900" algn="just">
              <a:lnSpc>
                <a:spcPct val="100000"/>
              </a:lnSpc>
              <a:spcBef>
                <a:spcPts val="0"/>
              </a:spcBef>
              <a:spcAft>
                <a:spcPts val="0"/>
              </a:spcAft>
              <a:buClr>
                <a:srgbClr val="1F497D"/>
              </a:buClr>
              <a:buSzPct val="100000"/>
              <a:buFont typeface="Wingdings" panose="05000000000000000000" pitchFamily="2" charset="2"/>
              <a:buChar char="§"/>
              <a:defRPr/>
            </a:pPr>
            <a:r>
              <a:rPr lang="en-US" sz="2400" dirty="0">
                <a:latin typeface="+mj-lt"/>
              </a:rPr>
              <a:t>How do we know the discount rate to use…? (in previous chapters it was given; in THIS chapter it is all about CALCULATING it! </a:t>
            </a:r>
            <a:r>
              <a:rPr lang="en-US" sz="2400" dirty="0">
                <a:latin typeface="+mj-lt"/>
                <a:sym typeface="Wingdings" panose="05000000000000000000" pitchFamily="2" charset="2"/>
              </a:rPr>
              <a:t>)</a:t>
            </a:r>
            <a:endParaRPr lang="en-US" sz="2400" dirty="0">
              <a:latin typeface="+mj-lt"/>
            </a:endParaRPr>
          </a:p>
          <a:p>
            <a:pPr lvl="1" indent="-342900" algn="just">
              <a:lnSpc>
                <a:spcPct val="100000"/>
              </a:lnSpc>
              <a:spcBef>
                <a:spcPts val="0"/>
              </a:spcBef>
              <a:spcAft>
                <a:spcPts val="0"/>
              </a:spcAft>
              <a:buClr>
                <a:srgbClr val="1F497D"/>
              </a:buClr>
              <a:buSzPct val="100000"/>
              <a:buFont typeface="Wingdings" panose="05000000000000000000" pitchFamily="2" charset="2"/>
              <a:buChar char="§"/>
              <a:defRPr/>
            </a:pPr>
            <a:endParaRPr kumimoji="0" lang="en-US" sz="2400" b="0" i="0" u="none" strike="noStrike" kern="0" cap="none" spc="0" normalizeH="0" baseline="0" noProof="0" dirty="0">
              <a:ln>
                <a:noFill/>
              </a:ln>
              <a:solidFill>
                <a:prstClr val="black"/>
              </a:solidFill>
              <a:effectLst/>
              <a:uLnTx/>
              <a:uFillTx/>
              <a:latin typeface="+mj-lt"/>
              <a:ea typeface="ＭＳ Ｐゴシック"/>
            </a:endParaRPr>
          </a:p>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a:rPr>
              <a:t>If investors are the shareholders who provide a</a:t>
            </a:r>
            <a:r>
              <a:rPr lang="en-US" sz="2400" dirty="0">
                <a:solidFill>
                  <a:prstClr val="black"/>
                </a:solidFill>
                <a:latin typeface="+mj-lt"/>
                <a:ea typeface="ＭＳ Ｐゴシック"/>
              </a:rPr>
              <a:t> firm with funding, the rate of return required by shareholders is that firm’s cost of capital… (the same applies to debtholders…)</a:t>
            </a:r>
          </a:p>
          <a:p>
            <a:pPr lvl="1" indent="-342900" algn="just">
              <a:lnSpc>
                <a:spcPct val="100000"/>
              </a:lnSpc>
              <a:spcBef>
                <a:spcPts val="0"/>
              </a:spcBef>
              <a:spcAft>
                <a:spcPts val="0"/>
              </a:spcAft>
              <a:buClr>
                <a:srgbClr val="1F497D"/>
              </a:buClr>
              <a:buSzPct val="100000"/>
              <a:buFont typeface="Arial" panose="020B0604020202020204" pitchFamily="34" charset="0"/>
              <a:buChar char="•"/>
              <a:defRPr/>
            </a:pPr>
            <a:r>
              <a:rPr kumimoji="0" lang="en-US" sz="2400" b="0" i="0" u="none" strike="noStrike" kern="0" cap="none" spc="0" normalizeH="0" baseline="0" noProof="0" dirty="0">
                <a:ln>
                  <a:noFill/>
                </a:ln>
                <a:solidFill>
                  <a:prstClr val="black"/>
                </a:solidFill>
                <a:effectLst/>
                <a:uLnTx/>
                <a:uFillTx/>
                <a:latin typeface="+mj-lt"/>
                <a:ea typeface="ＭＳ Ｐゴシック"/>
              </a:rPr>
              <a:t>Two sides of the coin </a:t>
            </a:r>
            <a:r>
              <a:rPr kumimoji="0" lang="en-US" sz="2400" b="1" i="0" u="none" strike="noStrike" kern="0" cap="none" spc="0" normalizeH="0" baseline="0" noProof="0" dirty="0">
                <a:ln>
                  <a:noFill/>
                </a:ln>
                <a:solidFill>
                  <a:srgbClr val="C00000"/>
                </a:solidFill>
                <a:effectLst/>
                <a:uLnTx/>
                <a:uFillTx/>
                <a:latin typeface="+mj-lt"/>
                <a:ea typeface="ＭＳ Ｐゴシック"/>
              </a:rPr>
              <a:t> </a:t>
            </a: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a:t>
            </a:fld>
            <a:endParaRPr lang="en-US">
              <a:solidFill>
                <a:schemeClr val="tx1"/>
              </a:solidFill>
            </a:endParaRPr>
          </a:p>
        </p:txBody>
      </p:sp>
    </p:spTree>
    <p:custDataLst>
      <p:tags r:id="rId1"/>
    </p:custDataLst>
    <p:extLst>
      <p:ext uri="{BB962C8B-B14F-4D97-AF65-F5344CB8AC3E}">
        <p14:creationId xmlns:p14="http://schemas.microsoft.com/office/powerpoint/2010/main" val="895639371"/>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Introduction (cont.)</a:t>
            </a:r>
          </a:p>
        </p:txBody>
      </p:sp>
      <p:sp>
        <p:nvSpPr>
          <p:cNvPr id="9221" name="Rectangle 5"/>
          <p:cNvSpPr>
            <a:spLocks noGrp="1" noChangeArrowheads="1"/>
          </p:cNvSpPr>
          <p:nvPr>
            <p:ph idx="1"/>
          </p:nvPr>
        </p:nvSpPr>
        <p:spPr>
          <a:xfrm>
            <a:off x="259976" y="1066800"/>
            <a:ext cx="8655424" cy="5715000"/>
          </a:xfrm>
        </p:spPr>
        <p:txBody>
          <a:bodyPr/>
          <a:lstStyle/>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lang="en-US" sz="2400" dirty="0">
                <a:latin typeface="+mj-lt"/>
              </a:rPr>
              <a:t>Shareholders want a return…dividend yield and capital gains</a:t>
            </a:r>
          </a:p>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endParaRPr lang="en-US" sz="2400" dirty="0">
              <a:latin typeface="+mj-lt"/>
            </a:endParaRPr>
          </a:p>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lang="en-US" sz="2400" dirty="0">
                <a:latin typeface="+mj-lt"/>
              </a:rPr>
              <a:t>Debtholders want a return…interest and the capital paid at maturity…</a:t>
            </a:r>
          </a:p>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endParaRPr lang="en-US" sz="2400" dirty="0">
              <a:latin typeface="+mj-lt"/>
            </a:endParaRPr>
          </a:p>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lang="en-US" sz="2400" b="1" dirty="0">
                <a:latin typeface="+mj-lt"/>
              </a:rPr>
              <a:t>Those returns they require…are costs to the firm…</a:t>
            </a:r>
          </a:p>
          <a:p>
            <a:pPr lvl="1" indent="-342900" algn="just">
              <a:lnSpc>
                <a:spcPct val="100000"/>
              </a:lnSpc>
              <a:spcBef>
                <a:spcPts val="0"/>
              </a:spcBef>
              <a:spcAft>
                <a:spcPts val="0"/>
              </a:spcAft>
              <a:buClr>
                <a:srgbClr val="1F497D"/>
              </a:buClr>
              <a:buSzPct val="100000"/>
              <a:buFont typeface="Wingdings" panose="05000000000000000000" pitchFamily="2" charset="2"/>
              <a:buChar char="§"/>
              <a:defRPr/>
            </a:pPr>
            <a:endParaRPr kumimoji="0" lang="en-US" sz="2400" b="0" i="0" u="none" strike="noStrike" kern="0" cap="none" spc="0" normalizeH="0" baseline="0" noProof="0" dirty="0">
              <a:ln>
                <a:noFill/>
              </a:ln>
              <a:solidFill>
                <a:prstClr val="black"/>
              </a:solidFill>
              <a:effectLst/>
              <a:uLnTx/>
              <a:uFillTx/>
              <a:latin typeface="+mj-lt"/>
              <a:ea typeface="ＭＳ Ｐゴシック"/>
            </a:endParaRP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a:t>
            </a:fld>
            <a:endParaRPr lang="en-US">
              <a:solidFill>
                <a:schemeClr val="tx1"/>
              </a:solidFill>
            </a:endParaRPr>
          </a:p>
        </p:txBody>
      </p:sp>
    </p:spTree>
    <p:custDataLst>
      <p:tags r:id="rId1"/>
    </p:custDataLst>
    <p:extLst>
      <p:ext uri="{BB962C8B-B14F-4D97-AF65-F5344CB8AC3E}">
        <p14:creationId xmlns:p14="http://schemas.microsoft.com/office/powerpoint/2010/main" val="3340582918"/>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Introduction (cont.)</a:t>
            </a:r>
          </a:p>
        </p:txBody>
      </p:sp>
      <p:sp>
        <p:nvSpPr>
          <p:cNvPr id="9221" name="Rectangle 5"/>
          <p:cNvSpPr>
            <a:spLocks noGrp="1" noChangeArrowheads="1"/>
          </p:cNvSpPr>
          <p:nvPr>
            <p:ph idx="1"/>
          </p:nvPr>
        </p:nvSpPr>
        <p:spPr>
          <a:xfrm>
            <a:off x="259976" y="990600"/>
            <a:ext cx="8655424" cy="5791200"/>
          </a:xfrm>
        </p:spPr>
        <p:txBody>
          <a:bodyPr/>
          <a:lstStyle/>
          <a:p>
            <a:pPr marL="342900" marR="0" lvl="0" indent="-342900" algn="just" defTabSz="914400" rtl="0" eaLnBrk="0" fontAlgn="base" latinLnBrk="0" hangingPunct="0">
              <a:lnSpc>
                <a:spcPct val="100000"/>
              </a:lnSpc>
              <a:spcBef>
                <a:spcPct val="20000"/>
              </a:spcBef>
              <a:spcAft>
                <a:spcPct val="0"/>
              </a:spcAft>
              <a:buClr>
                <a:srgbClr val="002060"/>
              </a:buClr>
              <a:buSzPct val="75000"/>
              <a:buFont typeface="Arial" panose="020B0604020202020204" pitchFamily="34" charset="0"/>
              <a:buChar char="•"/>
              <a:tabLst/>
              <a:defRPr/>
            </a:pPr>
            <a:r>
              <a:rPr kumimoji="0" lang="en-ZA" altLang="en-US" sz="2400" b="0" i="0" u="none" strike="noStrike" kern="0" cap="none" spc="0" normalizeH="0" baseline="0" noProof="0" dirty="0">
                <a:ln>
                  <a:noFill/>
                </a:ln>
                <a:solidFill>
                  <a:srgbClr val="000000"/>
                </a:solidFill>
                <a:effectLst/>
                <a:uLnTx/>
                <a:uFillTx/>
                <a:latin typeface="Tahoma"/>
                <a:ea typeface="+mn-ea"/>
                <a:cs typeface="+mn-cs"/>
              </a:rPr>
              <a:t>Ch 6: explored relationship between the expected return on an investment and its systematic risk from an </a:t>
            </a:r>
            <a:r>
              <a:rPr kumimoji="0" lang="en-ZA" altLang="en-US" sz="2400" b="1" i="0" u="none" strike="noStrike" kern="0" cap="none" spc="0" normalizeH="0" baseline="0" noProof="0" dirty="0">
                <a:ln>
                  <a:noFill/>
                </a:ln>
                <a:solidFill>
                  <a:srgbClr val="C00000"/>
                </a:solidFill>
                <a:effectLst/>
                <a:uLnTx/>
                <a:uFillTx/>
                <a:latin typeface="Tahoma"/>
                <a:ea typeface="+mn-ea"/>
                <a:cs typeface="+mn-cs"/>
              </a:rPr>
              <a:t>investor’s (shareholder’s) viewpoint</a:t>
            </a:r>
          </a:p>
          <a:p>
            <a:pPr marL="342900" marR="0" lvl="0" indent="-342900" algn="just" defTabSz="914400" rtl="0" eaLnBrk="0" fontAlgn="base" latinLnBrk="0" hangingPunct="0">
              <a:lnSpc>
                <a:spcPct val="100000"/>
              </a:lnSpc>
              <a:spcBef>
                <a:spcPct val="20000"/>
              </a:spcBef>
              <a:spcAft>
                <a:spcPct val="0"/>
              </a:spcAft>
              <a:buClr>
                <a:srgbClr val="002060"/>
              </a:buClr>
              <a:buSzPct val="75000"/>
              <a:buFont typeface="Arial" panose="020B0604020202020204" pitchFamily="34" charset="0"/>
              <a:buChar char="•"/>
              <a:tabLst/>
              <a:defRPr/>
            </a:pPr>
            <a:endParaRPr kumimoji="0" lang="en-ZA" altLang="en-US" sz="1000" b="1" i="0" u="none" strike="noStrike" kern="0" cap="none" spc="0" normalizeH="0" baseline="0" noProof="0" dirty="0">
              <a:ln>
                <a:noFill/>
              </a:ln>
              <a:solidFill>
                <a:srgbClr val="FF3300"/>
              </a:solidFill>
              <a:effectLst/>
              <a:uLnTx/>
              <a:uFillTx/>
              <a:latin typeface="Tahoma"/>
              <a:ea typeface="+mn-ea"/>
              <a:cs typeface="+mn-cs"/>
            </a:endParaRPr>
          </a:p>
          <a:p>
            <a:pPr marL="342900" marR="0" lvl="0" indent="-342900" algn="just" defTabSz="914400" rtl="0" eaLnBrk="0" fontAlgn="base" latinLnBrk="0" hangingPunct="0">
              <a:lnSpc>
                <a:spcPct val="100000"/>
              </a:lnSpc>
              <a:spcBef>
                <a:spcPct val="20000"/>
              </a:spcBef>
              <a:spcAft>
                <a:spcPct val="0"/>
              </a:spcAft>
              <a:buClr>
                <a:srgbClr val="002060"/>
              </a:buClr>
              <a:buSzPct val="75000"/>
              <a:buFont typeface="Arial" panose="020B0604020202020204" pitchFamily="34" charset="0"/>
              <a:buChar char="•"/>
              <a:tabLst/>
              <a:defRPr/>
            </a:pPr>
            <a:r>
              <a:rPr kumimoji="0" lang="en-ZA" altLang="en-US" sz="2400" b="0" i="0" u="none" strike="noStrike" kern="0" cap="none" spc="0" normalizeH="0" baseline="0" noProof="0" dirty="0">
                <a:ln>
                  <a:noFill/>
                </a:ln>
                <a:solidFill>
                  <a:srgbClr val="000000"/>
                </a:solidFill>
                <a:effectLst/>
                <a:uLnTx/>
                <a:uFillTx/>
                <a:latin typeface="Tahoma"/>
                <a:ea typeface="+mn-ea"/>
                <a:cs typeface="+mn-cs"/>
              </a:rPr>
              <a:t>The return an investor receives on a security is the cost of that security to the company that issued it…</a:t>
            </a:r>
          </a:p>
          <a:p>
            <a:pPr marL="742950" marR="0" lvl="1" indent="-285750" algn="just" defTabSz="914400" rtl="0" eaLnBrk="0" fontAlgn="base" latinLnBrk="0" hangingPunct="0">
              <a:lnSpc>
                <a:spcPct val="100000"/>
              </a:lnSpc>
              <a:spcBef>
                <a:spcPct val="20000"/>
              </a:spcBef>
              <a:spcAft>
                <a:spcPct val="0"/>
              </a:spcAft>
              <a:buClr>
                <a:srgbClr val="002060"/>
              </a:buClr>
              <a:buSzPct val="75000"/>
              <a:buFont typeface="Arial" panose="020B0604020202020204" pitchFamily="34" charset="0"/>
              <a:buChar char="•"/>
              <a:tabLst/>
              <a:defRPr/>
            </a:pPr>
            <a:r>
              <a:rPr kumimoji="0" lang="en-ZA" altLang="en-US" sz="2400" b="0" i="0" u="none" strike="noStrike" kern="0" cap="none" spc="0" normalizeH="0" baseline="0" noProof="0" dirty="0">
                <a:ln>
                  <a:noFill/>
                </a:ln>
                <a:solidFill>
                  <a:srgbClr val="000000"/>
                </a:solidFill>
                <a:effectLst/>
                <a:uLnTx/>
                <a:uFillTx/>
                <a:latin typeface="Tahoma"/>
              </a:rPr>
              <a:t>Two sides of the same coin…</a:t>
            </a:r>
          </a:p>
          <a:p>
            <a:pPr marL="342900" marR="0" lvl="0" indent="-342900" algn="just" defTabSz="914400" rtl="0" eaLnBrk="0" fontAlgn="base" latinLnBrk="0" hangingPunct="0">
              <a:lnSpc>
                <a:spcPct val="100000"/>
              </a:lnSpc>
              <a:spcBef>
                <a:spcPct val="20000"/>
              </a:spcBef>
              <a:spcAft>
                <a:spcPct val="0"/>
              </a:spcAft>
              <a:buClr>
                <a:srgbClr val="002060"/>
              </a:buClr>
              <a:buSzPct val="75000"/>
              <a:buFont typeface="Arial" panose="020B0604020202020204" pitchFamily="34" charset="0"/>
              <a:buChar char="•"/>
              <a:tabLst/>
              <a:defRPr/>
            </a:pPr>
            <a:endParaRPr kumimoji="0" lang="en-ZA" altLang="en-US" sz="105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just" defTabSz="914400" rtl="0" eaLnBrk="0" fontAlgn="base" latinLnBrk="0" hangingPunct="0">
              <a:lnSpc>
                <a:spcPct val="100000"/>
              </a:lnSpc>
              <a:spcBef>
                <a:spcPct val="20000"/>
              </a:spcBef>
              <a:spcAft>
                <a:spcPct val="0"/>
              </a:spcAft>
              <a:buClr>
                <a:srgbClr val="002060"/>
              </a:buClr>
              <a:buSzPct val="75000"/>
              <a:buFont typeface="Arial" panose="020B0604020202020204" pitchFamily="34" charset="0"/>
              <a:buChar char="•"/>
              <a:tabLst/>
              <a:defRPr/>
            </a:pPr>
            <a:r>
              <a:rPr kumimoji="0" lang="en-ZA" altLang="en-US" sz="2400" b="0" i="0" u="none" strike="noStrike" kern="0" cap="none" spc="0" normalizeH="0" baseline="0" noProof="0" dirty="0">
                <a:ln>
                  <a:noFill/>
                </a:ln>
                <a:solidFill>
                  <a:srgbClr val="000000"/>
                </a:solidFill>
                <a:effectLst/>
                <a:uLnTx/>
                <a:uFillTx/>
                <a:latin typeface="Tahoma"/>
                <a:ea typeface="+mn-ea"/>
                <a:cs typeface="+mn-cs"/>
              </a:rPr>
              <a:t>Ch 15: how returns and investments appear from the </a:t>
            </a:r>
            <a:r>
              <a:rPr kumimoji="0" lang="en-ZA" altLang="en-US" sz="2400" b="1" i="0" u="none" strike="noStrike" kern="0" cap="none" spc="0" normalizeH="0" baseline="0" noProof="0" dirty="0">
                <a:ln>
                  <a:noFill/>
                </a:ln>
                <a:solidFill>
                  <a:srgbClr val="C00000"/>
                </a:solidFill>
                <a:effectLst/>
                <a:uLnTx/>
                <a:uFillTx/>
                <a:latin typeface="Tahoma"/>
                <a:ea typeface="+mn-ea"/>
                <a:cs typeface="+mn-cs"/>
              </a:rPr>
              <a:t>viewpoint of the companies that issue them…</a:t>
            </a:r>
          </a:p>
          <a:p>
            <a:pPr marL="342900" marR="0" lvl="0" indent="-342900" algn="just" defTabSz="914400" rtl="0" eaLnBrk="0" fontAlgn="base" latinLnBrk="0" hangingPunct="0">
              <a:lnSpc>
                <a:spcPct val="100000"/>
              </a:lnSpc>
              <a:spcBef>
                <a:spcPct val="20000"/>
              </a:spcBef>
              <a:spcAft>
                <a:spcPct val="0"/>
              </a:spcAft>
              <a:buClr>
                <a:srgbClr val="002060"/>
              </a:buClr>
              <a:buSzPct val="75000"/>
              <a:buFont typeface="Arial" panose="020B0604020202020204" pitchFamily="34" charset="0"/>
              <a:buChar char="•"/>
              <a:tabLst/>
              <a:defRPr/>
            </a:pPr>
            <a:endParaRPr kumimoji="0" lang="en-ZA" altLang="en-US" sz="1200" b="1" i="0" u="none" strike="noStrike" kern="0" cap="none" spc="0" normalizeH="0" baseline="0" noProof="0" dirty="0">
              <a:ln>
                <a:noFill/>
              </a:ln>
              <a:solidFill>
                <a:srgbClr val="C00000"/>
              </a:solidFill>
              <a:effectLst/>
              <a:uLnTx/>
              <a:uFillTx/>
              <a:latin typeface="Tahoma"/>
              <a:ea typeface="+mn-ea"/>
              <a:cs typeface="+mn-cs"/>
            </a:endParaRPr>
          </a:p>
          <a:p>
            <a:pPr marL="342900" marR="0" lvl="0" indent="-342900" algn="just" defTabSz="914400" rtl="0" eaLnBrk="0" fontAlgn="base" latinLnBrk="0" hangingPunct="0">
              <a:lnSpc>
                <a:spcPct val="100000"/>
              </a:lnSpc>
              <a:spcBef>
                <a:spcPct val="20000"/>
              </a:spcBef>
              <a:spcAft>
                <a:spcPct val="0"/>
              </a:spcAft>
              <a:buClr>
                <a:srgbClr val="002060"/>
              </a:buClr>
              <a:buSzPct val="75000"/>
              <a:buFont typeface="Arial" panose="020B0604020202020204" pitchFamily="34" charset="0"/>
              <a:buChar char="•"/>
              <a:tabLst/>
              <a:defRPr/>
            </a:pPr>
            <a:r>
              <a:rPr kumimoji="0" lang="en-ZA" altLang="en-US" sz="2400" b="0" i="0" u="none" strike="noStrike" kern="0" cap="none" spc="0" normalizeH="0" baseline="0" noProof="0" dirty="0">
                <a:ln>
                  <a:noFill/>
                </a:ln>
                <a:solidFill>
                  <a:srgbClr val="000000"/>
                </a:solidFill>
                <a:effectLst/>
                <a:uLnTx/>
                <a:uFillTx/>
                <a:latin typeface="Tahoma"/>
                <a:ea typeface="+mn-ea"/>
                <a:cs typeface="+mn-cs"/>
              </a:rPr>
              <a:t>Return the investors require = cost for the firm</a:t>
            </a:r>
          </a:p>
          <a:p>
            <a:pPr lvl="1" indent="-342900" algn="just">
              <a:lnSpc>
                <a:spcPct val="100000"/>
              </a:lnSpc>
              <a:buClr>
                <a:srgbClr val="002060"/>
              </a:buClr>
              <a:buFont typeface="Wingdings" panose="05000000000000000000" pitchFamily="2" charset="2"/>
              <a:buChar char="§"/>
              <a:defRPr/>
            </a:pPr>
            <a:r>
              <a:rPr kumimoji="0" lang="en-ZA" altLang="en-US" sz="2400" b="1" i="0" u="none" strike="noStrike" kern="0" cap="none" spc="0" normalizeH="0" baseline="0" noProof="0" dirty="0">
                <a:ln>
                  <a:noFill/>
                </a:ln>
                <a:effectLst/>
                <a:highlight>
                  <a:srgbClr val="99CCFF"/>
                </a:highlight>
                <a:uLnTx/>
                <a:uFillTx/>
                <a:latin typeface="Tahoma"/>
                <a:ea typeface="+mn-ea"/>
                <a:cs typeface="+mn-cs"/>
              </a:rPr>
              <a:t>Required return = appropriate discount rate = cost of capital</a:t>
            </a:r>
          </a:p>
          <a:p>
            <a:pPr marL="342900" marR="0" lvl="0" indent="-342900" algn="just" defTabSz="914400" rtl="0" eaLnBrk="0" fontAlgn="base" latinLnBrk="0" hangingPunct="0">
              <a:lnSpc>
                <a:spcPct val="100000"/>
              </a:lnSpc>
              <a:spcBef>
                <a:spcPct val="20000"/>
              </a:spcBef>
              <a:spcAft>
                <a:spcPct val="0"/>
              </a:spcAft>
              <a:buClr>
                <a:srgbClr val="002060"/>
              </a:buClr>
              <a:buSzPct val="75000"/>
              <a:buFont typeface="Arial" panose="020B0604020202020204" pitchFamily="34" charset="0"/>
              <a:buChar char="•"/>
              <a:tabLst/>
              <a:defRPr/>
            </a:pPr>
            <a:endParaRPr kumimoji="0" lang="en-GB" altLang="en-US" sz="2400" b="0" i="0" u="none" strike="noStrike" kern="0" cap="none" spc="0" normalizeH="0" baseline="0" noProof="0" dirty="0">
              <a:ln>
                <a:noFill/>
              </a:ln>
              <a:effectLst/>
              <a:uLnTx/>
              <a:uFillTx/>
              <a:latin typeface="Tahoma"/>
              <a:ea typeface="+mn-ea"/>
              <a:cs typeface="+mn-cs"/>
            </a:endParaRPr>
          </a:p>
          <a:p>
            <a:pPr marL="0" marR="0" lvl="0" indent="0" algn="just" defTabSz="914400" rtl="0" eaLnBrk="0" fontAlgn="base" latinLnBrk="0" hangingPunct="0">
              <a:lnSpc>
                <a:spcPct val="100000"/>
              </a:lnSpc>
              <a:spcBef>
                <a:spcPts val="0"/>
              </a:spcBef>
              <a:spcAft>
                <a:spcPts val="0"/>
              </a:spcAft>
              <a:buClr>
                <a:srgbClr val="1F497D"/>
              </a:buClr>
              <a:buSzPct val="100000"/>
              <a:buNone/>
              <a:tabLst/>
              <a:defRPr/>
            </a:pPr>
            <a:endParaRPr lang="en-US"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165683339"/>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Introduction (cont.)</a:t>
            </a:r>
          </a:p>
        </p:txBody>
      </p:sp>
      <p:sp>
        <p:nvSpPr>
          <p:cNvPr id="9221" name="Rectangle 5"/>
          <p:cNvSpPr>
            <a:spLocks noGrp="1" noChangeArrowheads="1"/>
          </p:cNvSpPr>
          <p:nvPr>
            <p:ph idx="1"/>
          </p:nvPr>
        </p:nvSpPr>
        <p:spPr>
          <a:xfrm>
            <a:off x="259976" y="990600"/>
            <a:ext cx="8655424" cy="5791200"/>
          </a:xfrm>
        </p:spPr>
        <p:txBody>
          <a:bodyPr/>
          <a:lstStyle/>
          <a:p>
            <a:pPr marL="342900" marR="0" lvl="0" indent="-342900" algn="just" defTabSz="914400" rtl="0" eaLnBrk="0" fontAlgn="base" latinLnBrk="0" hangingPunct="0">
              <a:lnSpc>
                <a:spcPct val="100000"/>
              </a:lnSpc>
              <a:spcBef>
                <a:spcPct val="20000"/>
              </a:spcBef>
              <a:spcAft>
                <a:spcPct val="0"/>
              </a:spcAft>
              <a:buClr>
                <a:srgbClr val="002060"/>
              </a:buClr>
              <a:buSzTx/>
              <a:buFont typeface="Arial" panose="020B0604020202020204" pitchFamily="34" charset="0"/>
              <a:buChar char="•"/>
              <a:tabLst/>
              <a:defRPr/>
            </a:pPr>
            <a:r>
              <a:rPr kumimoji="0" lang="en-ZA" altLang="en-US" sz="2400" b="0" i="0" u="none" strike="noStrike" kern="0" cap="none" spc="0" normalizeH="0" baseline="0" noProof="0" dirty="0">
                <a:ln>
                  <a:noFill/>
                </a:ln>
                <a:solidFill>
                  <a:srgbClr val="000000"/>
                </a:solidFill>
                <a:effectLst/>
                <a:uLnTx/>
                <a:uFillTx/>
                <a:latin typeface="Tahoma"/>
                <a:ea typeface="+mn-ea"/>
                <a:cs typeface="+mn-cs"/>
              </a:rPr>
              <a:t>Ch 6: Discussion of risk and return…the correct discount rate depends on the riskiness of the project</a:t>
            </a:r>
          </a:p>
          <a:p>
            <a:pPr marR="0" lvl="1" algn="just" defTabSz="914400" rtl="0" eaLnBrk="0" fontAlgn="base" latinLnBrk="0" hangingPunct="0">
              <a:lnSpc>
                <a:spcPct val="100000"/>
              </a:lnSpc>
              <a:spcBef>
                <a:spcPct val="20000"/>
              </a:spcBef>
              <a:spcAft>
                <a:spcPct val="0"/>
              </a:spcAft>
              <a:buClr>
                <a:srgbClr val="002060"/>
              </a:buClr>
              <a:buSzTx/>
              <a:buFont typeface="Wingdings" panose="05000000000000000000" pitchFamily="2" charset="2"/>
              <a:buChar char="§"/>
              <a:tabLst/>
              <a:defRPr/>
            </a:pPr>
            <a:r>
              <a:rPr lang="en-ZA" altLang="en-US" sz="2400" dirty="0">
                <a:solidFill>
                  <a:srgbClr val="000000"/>
                </a:solidFill>
                <a:latin typeface="Tahoma"/>
              </a:rPr>
              <a:t>From Ch 13 we know </a:t>
            </a:r>
            <a:r>
              <a:rPr kumimoji="0" lang="en-ZA" altLang="en-US" sz="2400" b="0" i="0" u="none" strike="noStrike" kern="0" cap="none" spc="0" normalizeH="0" baseline="0" noProof="0" dirty="0">
                <a:ln>
                  <a:noFill/>
                </a:ln>
                <a:solidFill>
                  <a:srgbClr val="000000"/>
                </a:solidFill>
                <a:effectLst/>
                <a:uLnTx/>
                <a:uFillTx/>
                <a:latin typeface="Tahoma"/>
              </a:rPr>
              <a:t>NPV &gt; 0 only if the new project’s internal rate of return (IRR) exceeds what the financial markets offer on investments of similar risks</a:t>
            </a:r>
          </a:p>
          <a:p>
            <a:pPr marR="0" lvl="1" algn="just" defTabSz="914400" rtl="0" eaLnBrk="0" fontAlgn="base" latinLnBrk="0" hangingPunct="0">
              <a:lnSpc>
                <a:spcPct val="100000"/>
              </a:lnSpc>
              <a:spcBef>
                <a:spcPct val="20000"/>
              </a:spcBef>
              <a:spcAft>
                <a:spcPct val="0"/>
              </a:spcAft>
              <a:buClr>
                <a:srgbClr val="002060"/>
              </a:buClr>
              <a:buSzTx/>
              <a:buFont typeface="Wingdings" panose="05000000000000000000" pitchFamily="2" charset="2"/>
              <a:buChar char="§"/>
              <a:tabLst/>
              <a:defRPr/>
            </a:pPr>
            <a:r>
              <a:rPr kumimoji="0" lang="en-ZA" altLang="en-US" sz="2400" b="0" i="0" u="none" strike="noStrike" kern="0" cap="none" spc="0" normalizeH="0" baseline="0" noProof="0" dirty="0">
                <a:ln>
                  <a:noFill/>
                </a:ln>
                <a:solidFill>
                  <a:srgbClr val="000000"/>
                </a:solidFill>
                <a:effectLst/>
                <a:uLnTx/>
                <a:uFillTx/>
                <a:latin typeface="Tahoma"/>
              </a:rPr>
              <a:t>minimum required rate of return is thus = </a:t>
            </a:r>
            <a:r>
              <a:rPr kumimoji="0" lang="en-ZA" altLang="en-US" sz="2400" b="1" i="0" u="none" strike="noStrike" kern="0" cap="none" spc="0" normalizeH="0" baseline="0" noProof="0" dirty="0">
                <a:ln>
                  <a:noFill/>
                </a:ln>
                <a:solidFill>
                  <a:srgbClr val="C00000"/>
                </a:solidFill>
                <a:effectLst/>
                <a:uLnTx/>
                <a:uFillTx/>
                <a:latin typeface="Tahoma"/>
              </a:rPr>
              <a:t>cost of capital</a:t>
            </a:r>
            <a:r>
              <a:rPr kumimoji="0" lang="en-ZA" altLang="en-US" sz="2400" b="0" i="0" u="none" strike="noStrike" kern="0" cap="none" spc="0" normalizeH="0" baseline="0" noProof="0" dirty="0">
                <a:ln>
                  <a:noFill/>
                </a:ln>
                <a:solidFill>
                  <a:srgbClr val="000000"/>
                </a:solidFill>
                <a:effectLst/>
                <a:uLnTx/>
                <a:uFillTx/>
                <a:latin typeface="Tahoma"/>
              </a:rPr>
              <a:t> associated with the project</a:t>
            </a:r>
          </a:p>
          <a:p>
            <a:pPr marR="0" lvl="1" algn="just" defTabSz="914400" rtl="0" eaLnBrk="0" fontAlgn="base" latinLnBrk="0" hangingPunct="0">
              <a:lnSpc>
                <a:spcPct val="100000"/>
              </a:lnSpc>
              <a:spcBef>
                <a:spcPts val="0"/>
              </a:spcBef>
              <a:spcAft>
                <a:spcPct val="0"/>
              </a:spcAft>
              <a:buClr>
                <a:srgbClr val="002060"/>
              </a:buClr>
              <a:buSzTx/>
              <a:buFont typeface="Wingdings" panose="05000000000000000000" pitchFamily="2" charset="2"/>
              <a:buChar char="§"/>
              <a:tabLst/>
              <a:defRPr/>
            </a:pPr>
            <a:r>
              <a:rPr kumimoji="0" lang="en-ZA" altLang="en-US" sz="2400" b="0" i="0" u="none" strike="noStrike" kern="0" cap="none" spc="0" normalizeH="0" baseline="0" noProof="0" dirty="0">
                <a:ln>
                  <a:noFill/>
                </a:ln>
                <a:solidFill>
                  <a:srgbClr val="000000"/>
                </a:solidFill>
                <a:effectLst/>
                <a:uLnTx/>
                <a:uFillTx/>
                <a:latin typeface="Tahoma"/>
              </a:rPr>
              <a:t>Thus, to make the right decision, examine what the capital markets offer and use the information to arrive at an estimate of the project’s cost of capital; as in </a:t>
            </a:r>
            <a:r>
              <a:rPr kumimoji="0" lang="en-ZA" altLang="en-US" sz="2400" b="1" i="0" u="none" strike="noStrike" kern="0" cap="none" spc="0" normalizeH="0" baseline="0" noProof="0" dirty="0">
                <a:ln>
                  <a:noFill/>
                </a:ln>
                <a:solidFill>
                  <a:srgbClr val="C00000"/>
                </a:solidFill>
                <a:effectLst/>
                <a:uLnTx/>
                <a:uFillTx/>
                <a:latin typeface="Tahoma"/>
              </a:rPr>
              <a:t>Ch 15</a:t>
            </a:r>
          </a:p>
          <a:p>
            <a:pPr marL="0" marR="0" lvl="0" indent="0" algn="just" defTabSz="914400" rtl="0" eaLnBrk="0" fontAlgn="base" latinLnBrk="0" hangingPunct="0">
              <a:lnSpc>
                <a:spcPct val="100000"/>
              </a:lnSpc>
              <a:spcBef>
                <a:spcPts val="0"/>
              </a:spcBef>
              <a:spcAft>
                <a:spcPts val="0"/>
              </a:spcAft>
              <a:buClr>
                <a:srgbClr val="1F497D"/>
              </a:buClr>
              <a:buSzPct val="100000"/>
              <a:buNone/>
              <a:tabLst/>
              <a:defRPr/>
            </a:pPr>
            <a:endParaRPr lang="en-US" dirty="0"/>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6</a:t>
            </a:fld>
            <a:endParaRPr lang="en-US">
              <a:solidFill>
                <a:schemeClr val="tx1"/>
              </a:solidFill>
            </a:endParaRPr>
          </a:p>
        </p:txBody>
      </p:sp>
    </p:spTree>
    <p:custDataLst>
      <p:tags r:id="rId1"/>
    </p:custDataLst>
    <p:extLst>
      <p:ext uri="{BB962C8B-B14F-4D97-AF65-F5344CB8AC3E}">
        <p14:creationId xmlns:p14="http://schemas.microsoft.com/office/powerpoint/2010/main" val="2497615897"/>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Introduction (cont.)</a:t>
            </a:r>
          </a:p>
        </p:txBody>
      </p:sp>
      <p:sp>
        <p:nvSpPr>
          <p:cNvPr id="9221" name="Rectangle 5"/>
          <p:cNvSpPr>
            <a:spLocks noGrp="1" noChangeArrowheads="1"/>
          </p:cNvSpPr>
          <p:nvPr>
            <p:ph idx="1"/>
          </p:nvPr>
        </p:nvSpPr>
        <p:spPr>
          <a:xfrm>
            <a:off x="259976" y="990600"/>
            <a:ext cx="8655424" cy="5791200"/>
          </a:xfrm>
        </p:spPr>
        <p:txBody>
          <a:bodyPr/>
          <a:lstStyle/>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kumimoji="0" lang="en-US" altLang="en-US" sz="2400" i="0" u="none" strike="noStrike" kern="0" cap="none" spc="0" normalizeH="0" baseline="0" noProof="0" dirty="0">
                <a:ln>
                  <a:noFill/>
                </a:ln>
                <a:solidFill>
                  <a:prstClr val="black"/>
                </a:solidFill>
                <a:effectLst/>
                <a:uLnTx/>
                <a:uFillTx/>
                <a:latin typeface="+mj-lt"/>
                <a:ea typeface="Tahoma" panose="020B0604030504040204" pitchFamily="34" charset="0"/>
                <a:cs typeface="Tahoma" panose="020B0604030504040204" pitchFamily="34" charset="0"/>
                <a:sym typeface="Symbol" panose="05050102010706020507" pitchFamily="18" charset="2"/>
              </a:rPr>
              <a:t>Capital structure of  </a:t>
            </a:r>
            <a:r>
              <a:rPr lang="en-US" altLang="en-US" sz="2400" dirty="0">
                <a:solidFill>
                  <a:prstClr val="black"/>
                </a:solidFill>
                <a:latin typeface="+mj-lt"/>
                <a:ea typeface="Tahoma" panose="020B0604030504040204" pitchFamily="34" charset="0"/>
                <a:cs typeface="Tahoma" panose="020B0604030504040204" pitchFamily="34" charset="0"/>
                <a:sym typeface="Symbol" panose="05050102010706020507" pitchFamily="18" charset="2"/>
              </a:rPr>
              <a:t>a firm dictates the amount and sources of finance for the funding (can raise capital in variety of forms/components)</a:t>
            </a:r>
          </a:p>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kumimoji="0" lang="en-US" altLang="en-US" sz="2400" i="0" u="none" strike="noStrike" kern="0" cap="none" spc="0" normalizeH="0" baseline="0" noProof="0" dirty="0">
                <a:ln>
                  <a:noFill/>
                </a:ln>
                <a:solidFill>
                  <a:prstClr val="black"/>
                </a:solidFill>
                <a:effectLst/>
                <a:uLnTx/>
                <a:uFillTx/>
                <a:latin typeface="+mj-lt"/>
                <a:ea typeface="Tahoma" panose="020B0604030504040204" pitchFamily="34" charset="0"/>
                <a:cs typeface="Tahoma" panose="020B0604030504040204" pitchFamily="34" charset="0"/>
                <a:sym typeface="Symbol" panose="05050102010706020507" pitchFamily="18" charset="2"/>
              </a:rPr>
              <a:t>Each type of capital source has its own component cost</a:t>
            </a:r>
          </a:p>
          <a:p>
            <a:pPr marL="0" marR="0" lvl="0" indent="0" algn="just" defTabSz="914400" rtl="0" eaLnBrk="0" fontAlgn="base" latinLnBrk="0" hangingPunct="0">
              <a:lnSpc>
                <a:spcPct val="100000"/>
              </a:lnSpc>
              <a:spcBef>
                <a:spcPts val="0"/>
              </a:spcBef>
              <a:spcAft>
                <a:spcPts val="0"/>
              </a:spcAft>
              <a:buClr>
                <a:srgbClr val="1F497D"/>
              </a:buClr>
              <a:buSzPct val="100000"/>
              <a:buNone/>
              <a:tabLst/>
              <a:defRPr/>
            </a:pPr>
            <a:endParaRPr kumimoji="0" lang="en-US" altLang="en-US" sz="2400" i="0" u="none" strike="noStrike" kern="0" cap="none" spc="0" normalizeH="0" baseline="0" noProof="0" dirty="0">
              <a:ln>
                <a:noFill/>
              </a:ln>
              <a:solidFill>
                <a:prstClr val="black"/>
              </a:solidFill>
              <a:effectLst/>
              <a:uLnTx/>
              <a:uFillTx/>
              <a:latin typeface="+mj-lt"/>
              <a:ea typeface="Tahoma" panose="020B0604030504040204" pitchFamily="34" charset="0"/>
              <a:cs typeface="Tahoma" panose="020B0604030504040204" pitchFamily="34" charset="0"/>
              <a:sym typeface="Symbol" panose="05050102010706020507" pitchFamily="18" charset="2"/>
            </a:endParaRPr>
          </a:p>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kumimoji="0" lang="en-US" altLang="en-US" sz="2400" u="none" strike="noStrike" kern="0" cap="none" spc="0" normalizeH="0" baseline="0" noProof="0" dirty="0">
                <a:ln>
                  <a:noFill/>
                </a:ln>
                <a:solidFill>
                  <a:prstClr val="black"/>
                </a:solidFill>
                <a:effectLst/>
                <a:uLnTx/>
                <a:uFillTx/>
                <a:latin typeface="+mj-lt"/>
                <a:ea typeface="Tahoma" panose="020B0604030504040204" pitchFamily="34" charset="0"/>
                <a:cs typeface="Tahoma" panose="020B0604030504040204" pitchFamily="34" charset="0"/>
                <a:sym typeface="Symbol" panose="05050102010706020507" pitchFamily="18" charset="2"/>
              </a:rPr>
              <a:t>By weighting the component costs of each source of funding by its proportion in the capital structure, we may obtain the cost of capital to the firm  </a:t>
            </a:r>
            <a:r>
              <a:rPr lang="en-US" altLang="en-US" sz="2400" dirty="0">
                <a:solidFill>
                  <a:prstClr val="black"/>
                </a:solidFill>
                <a:latin typeface="+mj-lt"/>
                <a:ea typeface="Tahoma" panose="020B0604030504040204" pitchFamily="34" charset="0"/>
                <a:cs typeface="Tahoma" panose="020B0604030504040204" pitchFamily="34" charset="0"/>
                <a:sym typeface="Symbol" panose="05050102010706020507" pitchFamily="18" charset="2"/>
              </a:rPr>
              <a:t>the RRR or discount rate to use</a:t>
            </a:r>
          </a:p>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lang="en-US" sz="2400" dirty="0">
                <a:solidFill>
                  <a:prstClr val="black"/>
                </a:solidFill>
                <a:latin typeface="+mj-lt"/>
                <a:ea typeface="Tahoma" panose="020B0604030504040204" pitchFamily="34" charset="0"/>
                <a:cs typeface="Tahoma" panose="020B0604030504040204" pitchFamily="34" charset="0"/>
                <a:sym typeface="Symbol" panose="05050102010706020507" pitchFamily="18" charset="2"/>
              </a:rPr>
              <a:t>We calculate the after-tax cost of funds to the firm </a:t>
            </a:r>
          </a:p>
          <a:p>
            <a:pPr lvl="1" indent="-342900" algn="just">
              <a:lnSpc>
                <a:spcPct val="100000"/>
              </a:lnSpc>
              <a:spcBef>
                <a:spcPts val="0"/>
              </a:spcBef>
              <a:spcAft>
                <a:spcPts val="0"/>
              </a:spcAft>
              <a:buClr>
                <a:srgbClr val="1F497D"/>
              </a:buClr>
              <a:buSzPct val="100000"/>
              <a:buFont typeface="Wingdings" panose="05000000000000000000" pitchFamily="2" charset="2"/>
              <a:buChar char="§"/>
              <a:defRPr/>
            </a:pPr>
            <a:r>
              <a:rPr lang="en-US" sz="2400" dirty="0">
                <a:solidFill>
                  <a:prstClr val="black"/>
                </a:solidFill>
                <a:latin typeface="+mj-lt"/>
                <a:ea typeface="Tahoma" panose="020B0604030504040204" pitchFamily="34" charset="0"/>
                <a:cs typeface="Tahoma" panose="020B0604030504040204" pitchFamily="34" charset="0"/>
                <a:sym typeface="Symbol" panose="05050102010706020507" pitchFamily="18" charset="2"/>
              </a:rPr>
              <a:t>Vital when calculating cost of debt because interest paid on debt is an expense that enables a firm to pay less tax as a result of lower taxable profit)</a:t>
            </a:r>
          </a:p>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lang="en-US" sz="2400" dirty="0">
                <a:solidFill>
                  <a:prstClr val="black"/>
                </a:solidFill>
                <a:latin typeface="+mj-lt"/>
                <a:ea typeface="Tahoma" panose="020B0604030504040204" pitchFamily="34" charset="0"/>
                <a:cs typeface="Tahoma" panose="020B0604030504040204" pitchFamily="34" charset="0"/>
                <a:sym typeface="Symbol" panose="05050102010706020507" pitchFamily="18" charset="2"/>
              </a:rPr>
              <a:t>Known as the </a:t>
            </a:r>
            <a:r>
              <a:rPr lang="en-US" sz="2400" b="1" dirty="0">
                <a:solidFill>
                  <a:srgbClr val="C00000"/>
                </a:solidFill>
                <a:latin typeface="+mj-lt"/>
                <a:ea typeface="Tahoma" panose="020B0604030504040204" pitchFamily="34" charset="0"/>
                <a:cs typeface="Tahoma" panose="020B0604030504040204" pitchFamily="34" charset="0"/>
                <a:sym typeface="Symbol" panose="05050102010706020507" pitchFamily="18" charset="2"/>
              </a:rPr>
              <a:t>weighted average cost of capital (WACC)</a:t>
            </a:r>
            <a:endParaRPr lang="en-US" b="1" dirty="0">
              <a:solidFill>
                <a:srgbClr val="C00000"/>
              </a:solidFill>
            </a:endParaRP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7</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918781726"/>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Introduction (cont.)</a:t>
            </a:r>
          </a:p>
        </p:txBody>
      </p:sp>
      <p:sp>
        <p:nvSpPr>
          <p:cNvPr id="9221" name="Rectangle 5"/>
          <p:cNvSpPr>
            <a:spLocks noGrp="1" noChangeArrowheads="1"/>
          </p:cNvSpPr>
          <p:nvPr>
            <p:ph idx="1"/>
          </p:nvPr>
        </p:nvSpPr>
        <p:spPr>
          <a:xfrm>
            <a:off x="259976" y="881555"/>
            <a:ext cx="8655424" cy="5867400"/>
          </a:xfrm>
        </p:spPr>
        <p:txBody>
          <a:bodyPr/>
          <a:lstStyle/>
          <a:p>
            <a:pPr marL="0" indent="0" algn="just">
              <a:lnSpc>
                <a:spcPct val="100000"/>
              </a:lnSpc>
              <a:spcBef>
                <a:spcPts val="0"/>
              </a:spcBef>
              <a:spcAft>
                <a:spcPts val="0"/>
              </a:spcAft>
              <a:buNone/>
              <a:tabLst>
                <a:tab pos="457200" algn="l"/>
              </a:tabLst>
            </a:pPr>
            <a:r>
              <a:rPr lang="en-US" sz="2400" b="1" dirty="0">
                <a:solidFill>
                  <a:srgbClr val="C00000"/>
                </a:solidFill>
                <a:effectLst/>
                <a:latin typeface="+mj-lt"/>
                <a:ea typeface="Times New Roman" panose="02020603050405020304" pitchFamily="18" charset="0"/>
                <a:cs typeface="Times New Roman" panose="02020603050405020304" pitchFamily="18" charset="0"/>
              </a:rPr>
              <a:t>WACC</a:t>
            </a:r>
          </a:p>
          <a:p>
            <a:pPr marL="0" indent="0" algn="just">
              <a:lnSpc>
                <a:spcPct val="100000"/>
              </a:lnSpc>
              <a:spcBef>
                <a:spcPts val="0"/>
              </a:spcBef>
              <a:spcAft>
                <a:spcPts val="0"/>
              </a:spcAft>
              <a:buNone/>
              <a:tabLst>
                <a:tab pos="457200" algn="l"/>
              </a:tabLst>
            </a:pPr>
            <a:r>
              <a:rPr lang="en-US" sz="2400" dirty="0">
                <a:effectLst/>
                <a:latin typeface="+mj-lt"/>
                <a:ea typeface="Times New Roman" panose="02020603050405020304" pitchFamily="18" charset="0"/>
                <a:cs typeface="Times New Roman" panose="02020603050405020304" pitchFamily="18" charset="0"/>
              </a:rPr>
              <a:t> </a:t>
            </a:r>
            <a:endParaRPr lang="en-US" sz="1800" dirty="0">
              <a:effectLst/>
              <a:latin typeface="+mj-lt"/>
              <a:ea typeface="Times New Roman" panose="02020603050405020304" pitchFamily="18" charset="0"/>
              <a:cs typeface="Times New Roman" panose="02020603050405020304" pitchFamily="18" charset="0"/>
            </a:endParaRPr>
          </a:p>
          <a:p>
            <a:pPr marL="0" indent="0" algn="just">
              <a:lnSpc>
                <a:spcPct val="100000"/>
              </a:lnSpc>
              <a:spcBef>
                <a:spcPts val="0"/>
              </a:spcBef>
              <a:spcAft>
                <a:spcPts val="0"/>
              </a:spcAft>
              <a:buNone/>
              <a:tabLst>
                <a:tab pos="457200" algn="l"/>
              </a:tabLst>
            </a:pPr>
            <a:r>
              <a:rPr lang="en-US" sz="2400" dirty="0">
                <a:effectLst/>
                <a:latin typeface="+mj-lt"/>
                <a:ea typeface="Times New Roman" panose="02020603050405020304" pitchFamily="18" charset="0"/>
                <a:cs typeface="Times New Roman" panose="02020603050405020304" pitchFamily="18" charset="0"/>
              </a:rPr>
              <a:t>Need </a:t>
            </a:r>
            <a:r>
              <a:rPr lang="en-US" sz="2400" dirty="0">
                <a:effectLst/>
                <a:highlight>
                  <a:srgbClr val="00FF00"/>
                </a:highlight>
                <a:latin typeface="+mj-lt"/>
                <a:ea typeface="Times New Roman" panose="02020603050405020304" pitchFamily="18" charset="0"/>
                <a:cs typeface="Times New Roman" panose="02020603050405020304" pitchFamily="18" charset="0"/>
              </a:rPr>
              <a:t>weight or %</a:t>
            </a:r>
            <a:r>
              <a:rPr lang="en-US" sz="2400" dirty="0">
                <a:effectLst/>
                <a:latin typeface="+mj-lt"/>
                <a:ea typeface="Times New Roman" panose="02020603050405020304" pitchFamily="18" charset="0"/>
                <a:cs typeface="Times New Roman" panose="02020603050405020304" pitchFamily="18" charset="0"/>
              </a:rPr>
              <a:t> of each of the different capital sources</a:t>
            </a:r>
          </a:p>
          <a:p>
            <a:pPr marL="0" indent="0" algn="just">
              <a:lnSpc>
                <a:spcPct val="100000"/>
              </a:lnSpc>
              <a:spcBef>
                <a:spcPts val="0"/>
              </a:spcBef>
              <a:spcAft>
                <a:spcPts val="0"/>
              </a:spcAft>
              <a:buNone/>
              <a:tabLst>
                <a:tab pos="457200" algn="l"/>
              </a:tabLst>
            </a:pPr>
            <a:r>
              <a:rPr lang="en-US" sz="2400" dirty="0">
                <a:latin typeface="+mj-lt"/>
                <a:ea typeface="Times New Roman" panose="02020603050405020304" pitchFamily="18" charset="0"/>
                <a:cs typeface="Times New Roman" panose="02020603050405020304" pitchFamily="18" charset="0"/>
              </a:rPr>
              <a:t>Need </a:t>
            </a:r>
            <a:r>
              <a:rPr lang="en-US" sz="2400" dirty="0">
                <a:highlight>
                  <a:srgbClr val="00FFFF"/>
                </a:highlight>
                <a:latin typeface="+mj-lt"/>
                <a:ea typeface="Times New Roman" panose="02020603050405020304" pitchFamily="18" charset="0"/>
                <a:cs typeface="Times New Roman" panose="02020603050405020304" pitchFamily="18" charset="0"/>
              </a:rPr>
              <a:t>costs</a:t>
            </a:r>
            <a:r>
              <a:rPr lang="en-US" sz="2400" dirty="0">
                <a:latin typeface="+mj-lt"/>
                <a:ea typeface="Times New Roman" panose="02020603050405020304" pitchFamily="18" charset="0"/>
                <a:cs typeface="Times New Roman" panose="02020603050405020304" pitchFamily="18" charset="0"/>
              </a:rPr>
              <a:t> of each of the different capital sources</a:t>
            </a:r>
          </a:p>
          <a:p>
            <a:pPr marL="0" indent="0" algn="just">
              <a:lnSpc>
                <a:spcPct val="100000"/>
              </a:lnSpc>
              <a:spcBef>
                <a:spcPts val="0"/>
              </a:spcBef>
              <a:spcAft>
                <a:spcPts val="0"/>
              </a:spcAft>
              <a:buNone/>
              <a:tabLst>
                <a:tab pos="457200" algn="l"/>
              </a:tabLst>
            </a:pPr>
            <a:r>
              <a:rPr lang="en-US" sz="2400" dirty="0">
                <a:effectLst/>
                <a:latin typeface="+mj-lt"/>
                <a:ea typeface="Times New Roman" panose="02020603050405020304" pitchFamily="18" charset="0"/>
                <a:cs typeface="Times New Roman" panose="02020603050405020304" pitchFamily="18" charset="0"/>
              </a:rPr>
              <a:t> 	</a:t>
            </a:r>
            <a:endParaRPr lang="en-US" sz="1800" dirty="0">
              <a:effectLst/>
              <a:latin typeface="+mj-lt"/>
              <a:ea typeface="Times New Roman" panose="02020603050405020304" pitchFamily="18" charset="0"/>
              <a:cs typeface="Times New Roman" panose="02020603050405020304" pitchFamily="18" charset="0"/>
            </a:endParaRPr>
          </a:p>
          <a:p>
            <a:pPr marL="0" indent="0" algn="just">
              <a:lnSpc>
                <a:spcPct val="100000"/>
              </a:lnSpc>
              <a:spcBef>
                <a:spcPts val="0"/>
              </a:spcBef>
              <a:spcAft>
                <a:spcPts val="0"/>
              </a:spcAft>
              <a:buNone/>
              <a:tabLst>
                <a:tab pos="457200" algn="l"/>
              </a:tabLst>
            </a:pPr>
            <a:r>
              <a:rPr lang="en-US" sz="2400" dirty="0">
                <a:effectLst/>
                <a:latin typeface="+mj-lt"/>
                <a:ea typeface="Times New Roman" panose="02020603050405020304" pitchFamily="18" charset="0"/>
                <a:cs typeface="Times New Roman" panose="02020603050405020304" pitchFamily="18" charset="0"/>
              </a:rPr>
              <a:t>= Sum of [weight of EACH capital source x cost of EACH capital source]</a:t>
            </a:r>
          </a:p>
          <a:p>
            <a:pPr marL="0" indent="0" algn="just">
              <a:lnSpc>
                <a:spcPct val="100000"/>
              </a:lnSpc>
              <a:spcBef>
                <a:spcPts val="0"/>
              </a:spcBef>
              <a:spcAft>
                <a:spcPts val="0"/>
              </a:spcAft>
              <a:buNone/>
              <a:tabLst>
                <a:tab pos="457200" algn="l"/>
              </a:tabLst>
            </a:pPr>
            <a:endParaRPr lang="en-ZA" sz="1600" dirty="0">
              <a:effectLst/>
              <a:latin typeface="+mj-lt"/>
              <a:ea typeface="Calibri" panose="020F0502020204030204" pitchFamily="34" charset="0"/>
              <a:cs typeface="Times New Roman" panose="02020603050405020304" pitchFamily="18" charset="0"/>
            </a:endParaRPr>
          </a:p>
          <a:p>
            <a:pPr marL="0" indent="0" algn="just">
              <a:lnSpc>
                <a:spcPct val="100000"/>
              </a:lnSpc>
              <a:spcBef>
                <a:spcPts val="0"/>
              </a:spcBef>
              <a:spcAft>
                <a:spcPts val="0"/>
              </a:spcAft>
              <a:buNone/>
              <a:tabLst>
                <a:tab pos="457200" algn="l"/>
              </a:tabLst>
            </a:pPr>
            <a:r>
              <a:rPr lang="en-US" sz="2400" dirty="0">
                <a:effectLst/>
                <a:latin typeface="+mj-lt"/>
                <a:ea typeface="Times New Roman" panose="02020603050405020304" pitchFamily="18" charset="0"/>
                <a:cs typeface="Times New Roman" panose="02020603050405020304" pitchFamily="18" charset="0"/>
              </a:rPr>
              <a:t>OR</a:t>
            </a:r>
          </a:p>
          <a:p>
            <a:pPr marL="0" indent="0" algn="just">
              <a:lnSpc>
                <a:spcPct val="100000"/>
              </a:lnSpc>
              <a:spcBef>
                <a:spcPts val="0"/>
              </a:spcBef>
              <a:spcAft>
                <a:spcPts val="0"/>
              </a:spcAft>
              <a:buNone/>
              <a:tabLst>
                <a:tab pos="457200" algn="l"/>
              </a:tabLst>
            </a:pPr>
            <a:endParaRPr lang="en-US" sz="1800" dirty="0">
              <a:effectLst/>
              <a:latin typeface="+mj-lt"/>
              <a:ea typeface="Times New Roman" panose="02020603050405020304" pitchFamily="18" charset="0"/>
              <a:cs typeface="Times New Roman" panose="02020603050405020304" pitchFamily="18" charset="0"/>
            </a:endParaRPr>
          </a:p>
          <a:p>
            <a:pPr marL="0" indent="0" algn="just">
              <a:lnSpc>
                <a:spcPct val="100000"/>
              </a:lnSpc>
              <a:spcBef>
                <a:spcPts val="0"/>
              </a:spcBef>
              <a:spcAft>
                <a:spcPts val="0"/>
              </a:spcAft>
              <a:buNone/>
              <a:tabLst>
                <a:tab pos="457200" algn="l"/>
              </a:tabLst>
            </a:pPr>
            <a:r>
              <a:rPr lang="en-US" sz="2400" dirty="0">
                <a:latin typeface="+mj-lt"/>
                <a:ea typeface="Calibri" panose="020F0502020204030204" pitchFamily="34" charset="0"/>
                <a:cs typeface="Times New Roman" panose="02020603050405020304" pitchFamily="18" charset="0"/>
              </a:rPr>
              <a:t>= [weight of debt x after-tax cost of debt] + </a:t>
            </a:r>
            <a:r>
              <a:rPr kumimoji="0" lang="en-US" sz="2400" b="0" i="0" u="none" strike="noStrike" kern="0" cap="none" spc="0" normalizeH="0" baseline="0" noProof="0" dirty="0">
                <a:ln>
                  <a:noFill/>
                </a:ln>
                <a:solidFill>
                  <a:prstClr val="black"/>
                </a:solidFill>
                <a:effectLst/>
                <a:uLnTx/>
                <a:uFillTx/>
                <a:latin typeface="+mj-lt"/>
                <a:ea typeface="Calibri" panose="020F0502020204030204" pitchFamily="34" charset="0"/>
                <a:cs typeface="Times New Roman" panose="02020603050405020304" pitchFamily="18" charset="0"/>
              </a:rPr>
              <a:t>[weight of preference shares x cost of preference shares] + [weight of ordinary shares x cost of ordinary shares] </a:t>
            </a:r>
          </a:p>
          <a:p>
            <a:pPr marL="0" indent="0" algn="just">
              <a:lnSpc>
                <a:spcPct val="100000"/>
              </a:lnSpc>
              <a:spcBef>
                <a:spcPts val="0"/>
              </a:spcBef>
              <a:spcAft>
                <a:spcPts val="0"/>
              </a:spcAft>
              <a:buNone/>
              <a:tabLst>
                <a:tab pos="457200" algn="l"/>
              </a:tabLst>
            </a:pPr>
            <a:r>
              <a:rPr lang="en-US" sz="2400" dirty="0">
                <a:solidFill>
                  <a:prstClr val="black"/>
                </a:solidFill>
                <a:latin typeface="+mj-lt"/>
                <a:ea typeface="Calibri" panose="020F0502020204030204" pitchFamily="34" charset="0"/>
                <a:cs typeface="Times New Roman" panose="02020603050405020304" pitchFamily="18" charset="0"/>
              </a:rPr>
              <a:t>OR</a:t>
            </a:r>
          </a:p>
          <a:p>
            <a:pPr marL="0" indent="0" algn="just">
              <a:lnSpc>
                <a:spcPct val="100000"/>
              </a:lnSpc>
              <a:spcBef>
                <a:spcPts val="0"/>
              </a:spcBef>
              <a:spcAft>
                <a:spcPts val="0"/>
              </a:spcAft>
              <a:buNone/>
              <a:tabLst>
                <a:tab pos="457200" algn="l"/>
              </a:tabLst>
            </a:pPr>
            <a:endParaRPr lang="en-ZA" sz="2000" dirty="0">
              <a:effectLst/>
              <a:latin typeface="+mj-lt"/>
              <a:ea typeface="Calibri" panose="020F0502020204030204" pitchFamily="34" charset="0"/>
              <a:cs typeface="Times New Roman" panose="02020603050405020304" pitchFamily="18" charset="0"/>
            </a:endParaRPr>
          </a:p>
          <a:p>
            <a:pPr marL="0" indent="0">
              <a:lnSpc>
                <a:spcPct val="100000"/>
              </a:lnSpc>
              <a:spcBef>
                <a:spcPts val="0"/>
              </a:spcBef>
              <a:spcAft>
                <a:spcPts val="0"/>
              </a:spcAft>
              <a:buNone/>
            </a:pPr>
            <a:r>
              <a:rPr lang="en-US" sz="2400" dirty="0">
                <a:effectLst/>
                <a:latin typeface="+mj-lt"/>
                <a:ea typeface="Times New Roman" panose="02020603050405020304" pitchFamily="18" charset="0"/>
              </a:rPr>
              <a:t>= </a:t>
            </a:r>
            <a:r>
              <a:rPr lang="en-US" sz="2400" b="1" dirty="0">
                <a:effectLst/>
                <a:latin typeface="+mj-lt"/>
                <a:ea typeface="Times New Roman" panose="02020603050405020304" pitchFamily="18" charset="0"/>
              </a:rPr>
              <a:t>[</a:t>
            </a:r>
            <a:r>
              <a:rPr lang="en-US" sz="2400" b="1" dirty="0">
                <a:effectLst/>
                <a:highlight>
                  <a:srgbClr val="00FF00"/>
                </a:highlight>
                <a:latin typeface="+mj-lt"/>
                <a:ea typeface="Times New Roman" panose="02020603050405020304" pitchFamily="18" charset="0"/>
              </a:rPr>
              <a:t>(D/V) </a:t>
            </a:r>
            <a:r>
              <a:rPr lang="en-US" sz="2400" b="1" dirty="0">
                <a:effectLst/>
                <a:latin typeface="+mj-lt"/>
                <a:ea typeface="Times New Roman" panose="02020603050405020304" pitchFamily="18" charset="0"/>
              </a:rPr>
              <a:t>x </a:t>
            </a:r>
            <a:r>
              <a:rPr lang="en-ZA" sz="2400" b="1" dirty="0">
                <a:effectLst/>
                <a:highlight>
                  <a:srgbClr val="00FFFF"/>
                </a:highlight>
                <a:latin typeface="+mj-lt"/>
                <a:ea typeface="Times New Roman" panose="02020603050405020304" pitchFamily="18" charset="0"/>
              </a:rPr>
              <a:t>k</a:t>
            </a:r>
            <a:r>
              <a:rPr lang="en-ZA" sz="2400" b="1" i="1" baseline="-25000" dirty="0">
                <a:effectLst/>
                <a:highlight>
                  <a:srgbClr val="00FFFF"/>
                </a:highlight>
                <a:latin typeface="+mj-lt"/>
                <a:ea typeface="Times New Roman" panose="02020603050405020304" pitchFamily="18" charset="0"/>
              </a:rPr>
              <a:t>i</a:t>
            </a:r>
            <a:r>
              <a:rPr lang="en-US" sz="2400" b="1" dirty="0">
                <a:effectLst/>
                <a:latin typeface="+mj-lt"/>
                <a:ea typeface="Times New Roman" panose="02020603050405020304" pitchFamily="18" charset="0"/>
              </a:rPr>
              <a:t>] + [</a:t>
            </a:r>
            <a:r>
              <a:rPr lang="en-US" sz="2400" b="1" dirty="0">
                <a:effectLst/>
                <a:highlight>
                  <a:srgbClr val="00FF00"/>
                </a:highlight>
                <a:latin typeface="+mj-lt"/>
                <a:ea typeface="Times New Roman" panose="02020603050405020304" pitchFamily="18" charset="0"/>
              </a:rPr>
              <a:t>(P/V) </a:t>
            </a:r>
            <a:r>
              <a:rPr lang="en-US" sz="2400" b="1" dirty="0">
                <a:effectLst/>
                <a:latin typeface="+mj-lt"/>
                <a:ea typeface="Times New Roman" panose="02020603050405020304" pitchFamily="18" charset="0"/>
              </a:rPr>
              <a:t>x </a:t>
            </a:r>
            <a:r>
              <a:rPr lang="en-US" sz="2400" b="1" dirty="0" err="1">
                <a:effectLst/>
                <a:highlight>
                  <a:srgbClr val="00FFFF"/>
                </a:highlight>
                <a:latin typeface="+mj-lt"/>
                <a:ea typeface="Times New Roman" panose="02020603050405020304" pitchFamily="18" charset="0"/>
              </a:rPr>
              <a:t>k</a:t>
            </a:r>
            <a:r>
              <a:rPr lang="en-US" sz="2400" b="1" baseline="-25000" dirty="0" err="1">
                <a:effectLst/>
                <a:highlight>
                  <a:srgbClr val="00FFFF"/>
                </a:highlight>
                <a:latin typeface="+mj-lt"/>
                <a:ea typeface="Times New Roman" panose="02020603050405020304" pitchFamily="18" charset="0"/>
              </a:rPr>
              <a:t>p</a:t>
            </a:r>
            <a:r>
              <a:rPr lang="en-US" sz="2400" b="1" dirty="0">
                <a:effectLst/>
                <a:latin typeface="+mj-lt"/>
                <a:ea typeface="Times New Roman" panose="02020603050405020304" pitchFamily="18" charset="0"/>
              </a:rPr>
              <a:t>] + [</a:t>
            </a:r>
            <a:r>
              <a:rPr lang="en-US" sz="2400" b="1" dirty="0">
                <a:effectLst/>
                <a:highlight>
                  <a:srgbClr val="00FF00"/>
                </a:highlight>
                <a:latin typeface="+mj-lt"/>
                <a:ea typeface="Times New Roman" panose="02020603050405020304" pitchFamily="18" charset="0"/>
              </a:rPr>
              <a:t>(E/V) </a:t>
            </a:r>
            <a:r>
              <a:rPr lang="en-US" sz="2400" b="1" dirty="0">
                <a:effectLst/>
                <a:latin typeface="+mj-lt"/>
                <a:ea typeface="Times New Roman" panose="02020603050405020304" pitchFamily="18" charset="0"/>
              </a:rPr>
              <a:t>x </a:t>
            </a:r>
            <a:r>
              <a:rPr lang="en-US" sz="2400" b="1" dirty="0" err="1">
                <a:effectLst/>
                <a:highlight>
                  <a:srgbClr val="00FFFF"/>
                </a:highlight>
                <a:latin typeface="+mj-lt"/>
                <a:ea typeface="Times New Roman" panose="02020603050405020304" pitchFamily="18" charset="0"/>
              </a:rPr>
              <a:t>k</a:t>
            </a:r>
            <a:r>
              <a:rPr lang="en-US" sz="2400" b="1" baseline="-25000" dirty="0" err="1">
                <a:effectLst/>
                <a:highlight>
                  <a:srgbClr val="00FFFF"/>
                </a:highlight>
                <a:latin typeface="+mj-lt"/>
                <a:ea typeface="Times New Roman" panose="02020603050405020304" pitchFamily="18" charset="0"/>
              </a:rPr>
              <a:t>n</a:t>
            </a:r>
            <a:r>
              <a:rPr lang="en-US" sz="2400" b="1" dirty="0">
                <a:effectLst/>
                <a:latin typeface="+mj-lt"/>
                <a:ea typeface="Times New Roman" panose="02020603050405020304" pitchFamily="18" charset="0"/>
              </a:rPr>
              <a:t>]</a:t>
            </a:r>
            <a:r>
              <a:rPr lang="en-US" sz="2400" dirty="0">
                <a:effectLst/>
                <a:latin typeface="+mj-lt"/>
                <a:ea typeface="Times New Roman" panose="02020603050405020304" pitchFamily="18" charset="0"/>
              </a:rPr>
              <a:t>	</a:t>
            </a:r>
            <a:endParaRPr lang="en-US" dirty="0">
              <a:latin typeface="+mj-lt"/>
            </a:endParaRP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3992147046"/>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AAC872F-E778-3EED-3035-C444300B96BF}"/>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63A790A-0617-1728-6E33-76F51BD53008}"/>
              </a:ext>
            </a:extLst>
          </p:cNvPr>
          <p:cNvSpPr>
            <a:spLocks noGrp="1" noChangeArrowheads="1"/>
          </p:cNvSpPr>
          <p:nvPr>
            <p:ph type="title"/>
          </p:nvPr>
        </p:nvSpPr>
        <p:spPr>
          <a:xfrm>
            <a:off x="228600" y="10510"/>
            <a:ext cx="8763000" cy="735688"/>
          </a:xfrm>
        </p:spPr>
        <p:txBody>
          <a:bodyPr/>
          <a:lstStyle/>
          <a:p>
            <a:r>
              <a:rPr lang="en-US" dirty="0">
                <a:solidFill>
                  <a:schemeClr val="tx2"/>
                </a:solidFill>
              </a:rPr>
              <a:t>Examples of firms using WACC </a:t>
            </a:r>
          </a:p>
        </p:txBody>
      </p:sp>
      <p:sp>
        <p:nvSpPr>
          <p:cNvPr id="9221" name="Rectangle 5">
            <a:extLst>
              <a:ext uri="{FF2B5EF4-FFF2-40B4-BE49-F238E27FC236}">
                <a16:creationId xmlns:a16="http://schemas.microsoft.com/office/drawing/2014/main" id="{B5FEB937-358C-AD32-3C36-FAF69E7BAA9E}"/>
              </a:ext>
            </a:extLst>
          </p:cNvPr>
          <p:cNvSpPr>
            <a:spLocks noGrp="1" noChangeArrowheads="1"/>
          </p:cNvSpPr>
          <p:nvPr>
            <p:ph idx="1"/>
          </p:nvPr>
        </p:nvSpPr>
        <p:spPr>
          <a:xfrm>
            <a:off x="228599" y="5843151"/>
            <a:ext cx="8839201" cy="577673"/>
          </a:xfrm>
        </p:spPr>
        <p:txBody>
          <a:bodyPr/>
          <a:lstStyle/>
          <a:p>
            <a:pPr marL="0" marR="0" lvl="0" indent="0" algn="just" defTabSz="914400" rtl="0" eaLnBrk="0" fontAlgn="base" latinLnBrk="0" hangingPunct="0">
              <a:lnSpc>
                <a:spcPct val="90000"/>
              </a:lnSpc>
              <a:spcBef>
                <a:spcPct val="20000"/>
              </a:spcBef>
              <a:spcAft>
                <a:spcPct val="0"/>
              </a:spcAft>
              <a:buClr>
                <a:srgbClr val="1F497D"/>
              </a:buClr>
              <a:buSzPct val="75000"/>
              <a:buFont typeface="Wingdings" charset="2"/>
              <a:buNone/>
              <a:tabLst/>
              <a:defRPr/>
            </a:pPr>
            <a:r>
              <a:rPr kumimoji="0" lang="en-US" sz="1000" b="0" i="0" u="none" strike="noStrike" kern="0" cap="none" spc="0" normalizeH="0" baseline="0" noProof="0" dirty="0">
                <a:ln>
                  <a:noFill/>
                </a:ln>
                <a:solidFill>
                  <a:prstClr val="black"/>
                </a:solidFill>
                <a:effectLst/>
                <a:uLnTx/>
                <a:uFillTx/>
                <a:latin typeface="Tahoma"/>
                <a:ea typeface="ＭＳ Ｐゴシック"/>
              </a:rPr>
              <a:t>Source: </a:t>
            </a:r>
          </a:p>
          <a:p>
            <a:pPr marL="0" marR="0" lvl="0" indent="0" algn="just" defTabSz="914400" rtl="0" eaLnBrk="0" fontAlgn="base" latinLnBrk="0" hangingPunct="0">
              <a:lnSpc>
                <a:spcPct val="90000"/>
              </a:lnSpc>
              <a:spcBef>
                <a:spcPct val="20000"/>
              </a:spcBef>
              <a:spcAft>
                <a:spcPct val="0"/>
              </a:spcAft>
              <a:buClr>
                <a:srgbClr val="1F497D"/>
              </a:buClr>
              <a:buSzPct val="75000"/>
              <a:buFont typeface="Wingdings" charset="2"/>
              <a:buNone/>
              <a:tabLst/>
              <a:defRPr/>
            </a:pPr>
            <a:r>
              <a:rPr kumimoji="0" lang="en-US" sz="1000" b="0" i="0" u="none" strike="noStrike" kern="0" cap="none" spc="0" normalizeH="0" baseline="0" noProof="0" dirty="0">
                <a:ln>
                  <a:noFill/>
                </a:ln>
                <a:solidFill>
                  <a:prstClr val="black"/>
                </a:solidFill>
                <a:effectLst/>
                <a:uLnTx/>
                <a:uFillTx/>
                <a:latin typeface="Tahoma"/>
                <a:ea typeface="ＭＳ Ｐゴシック"/>
              </a:rPr>
              <a:t>https://picknpayinvestor.co.za/pdf/annual-report/2025/integrated-annual-report-2025-singles.pdf; </a:t>
            </a:r>
          </a:p>
          <a:p>
            <a:pPr marL="0" marR="0" lvl="0" indent="0" algn="just" defTabSz="914400" rtl="0" eaLnBrk="0" fontAlgn="base" latinLnBrk="0" hangingPunct="0">
              <a:lnSpc>
                <a:spcPct val="90000"/>
              </a:lnSpc>
              <a:spcBef>
                <a:spcPct val="20000"/>
              </a:spcBef>
              <a:spcAft>
                <a:spcPct val="0"/>
              </a:spcAft>
              <a:buClr>
                <a:srgbClr val="1F497D"/>
              </a:buClr>
              <a:buSzPct val="75000"/>
              <a:buFont typeface="Wingdings" charset="2"/>
              <a:buNone/>
              <a:tabLst/>
              <a:defRPr/>
            </a:pPr>
            <a:r>
              <a:rPr kumimoji="0" lang="en-US" sz="1000" b="0" i="0" u="none" strike="noStrike" kern="0" cap="none" spc="0" normalizeH="0" baseline="0" noProof="0" dirty="0">
                <a:ln>
                  <a:noFill/>
                </a:ln>
                <a:solidFill>
                  <a:prstClr val="black"/>
                </a:solidFill>
                <a:effectLst/>
                <a:uLnTx/>
                <a:uFillTx/>
                <a:latin typeface="Tahoma"/>
                <a:ea typeface="ＭＳ Ｐゴシック"/>
              </a:rPr>
              <a:t>https://www.shopriteholdings.co.za/shareholders-investors.html#report</a:t>
            </a:r>
          </a:p>
        </p:txBody>
      </p:sp>
      <p:sp>
        <p:nvSpPr>
          <p:cNvPr id="3" name="Slide Number Placeholder 2">
            <a:extLst>
              <a:ext uri="{FF2B5EF4-FFF2-40B4-BE49-F238E27FC236}">
                <a16:creationId xmlns:a16="http://schemas.microsoft.com/office/drawing/2014/main" id="{F2033217-3CEB-F56E-8A65-C1CE0EA31A19}"/>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9</a:t>
            </a:fld>
            <a:endParaRPr kumimoji="0" lang="en-US" sz="1400" b="0" i="0" u="none" strike="noStrike" kern="1200" cap="none" spc="0" normalizeH="0" baseline="0" noProof="0" dirty="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482108459"/>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1"/>
            <a:ext cx="8763000" cy="751490"/>
          </a:xfrm>
        </p:spPr>
        <p:txBody>
          <a:bodyPr/>
          <a:lstStyle/>
          <a:p>
            <a:r>
              <a:rPr lang="en-US" dirty="0">
                <a:solidFill>
                  <a:schemeClr val="tx2"/>
                </a:solidFill>
              </a:rPr>
              <a:t>Financing weights</a:t>
            </a:r>
          </a:p>
        </p:txBody>
      </p:sp>
      <p:sp>
        <p:nvSpPr>
          <p:cNvPr id="9221" name="Rectangle 5"/>
          <p:cNvSpPr>
            <a:spLocks noGrp="1" noChangeArrowheads="1"/>
          </p:cNvSpPr>
          <p:nvPr>
            <p:ph idx="1"/>
          </p:nvPr>
        </p:nvSpPr>
        <p:spPr>
          <a:xfrm>
            <a:off x="244288" y="609600"/>
            <a:ext cx="8655424" cy="5791200"/>
          </a:xfrm>
        </p:spPr>
        <p:txBody>
          <a:bodyPr/>
          <a:lstStyle/>
          <a:p>
            <a:pPr marL="342900" marR="0" lvl="0" indent="-342900" algn="just" defTabSz="914400" rtl="0" eaLnBrk="0" fontAlgn="base" latinLnBrk="0" hangingPunct="0">
              <a:lnSpc>
                <a:spcPct val="100000"/>
              </a:lnSpc>
              <a:spcBef>
                <a:spcPts val="0"/>
              </a:spcBef>
              <a:spcAft>
                <a:spcPct val="0"/>
              </a:spcAft>
              <a:buClr>
                <a:srgbClr val="002060"/>
              </a:buClr>
              <a:buSzTx/>
              <a:buFont typeface="Arial" panose="020B0604020202020204" pitchFamily="34" charset="0"/>
              <a:buChar char="•"/>
              <a:tabLst/>
              <a:defRPr/>
            </a:pPr>
            <a:r>
              <a:rPr kumimoji="0" lang="en-ZA" altLang="en-US" sz="2400" b="0" i="0" u="none" strike="noStrike" kern="0" cap="none" spc="0" normalizeH="0" baseline="0" noProof="0" dirty="0">
                <a:ln>
                  <a:noFill/>
                </a:ln>
                <a:solidFill>
                  <a:srgbClr val="000000"/>
                </a:solidFill>
                <a:effectLst/>
                <a:uLnTx/>
                <a:uFillTx/>
                <a:latin typeface="Tahoma"/>
                <a:ea typeface="+mn-ea"/>
                <a:cs typeface="+mn-cs"/>
              </a:rPr>
              <a:t>Mixture of debt and equity: a firm’s capital structure</a:t>
            </a:r>
          </a:p>
          <a:p>
            <a:pPr marR="0" lvl="1" algn="just" defTabSz="914400" rtl="0" eaLnBrk="0" fontAlgn="base" latinLnBrk="0" hangingPunct="0">
              <a:lnSpc>
                <a:spcPct val="100000"/>
              </a:lnSpc>
              <a:spcBef>
                <a:spcPts val="0"/>
              </a:spcBef>
              <a:spcAft>
                <a:spcPct val="0"/>
              </a:spcAft>
              <a:buClr>
                <a:srgbClr val="002060"/>
              </a:buClr>
              <a:buSzTx/>
              <a:buFont typeface="Wingdings" panose="05000000000000000000" pitchFamily="2" charset="2"/>
              <a:buChar char="§"/>
              <a:tabLst/>
              <a:defRPr/>
            </a:pPr>
            <a:r>
              <a:rPr kumimoji="0" lang="en-ZA" altLang="en-US" sz="2400" b="0" i="0" u="none" strike="noStrike" kern="0" cap="none" spc="0" normalizeH="0" baseline="0" noProof="0" dirty="0">
                <a:ln>
                  <a:noFill/>
                </a:ln>
                <a:solidFill>
                  <a:srgbClr val="000000"/>
                </a:solidFill>
                <a:effectLst/>
                <a:uLnTx/>
                <a:uFillTx/>
                <a:latin typeface="Tahoma"/>
              </a:rPr>
              <a:t>Managerial variable</a:t>
            </a:r>
          </a:p>
          <a:p>
            <a:pPr marR="0" lvl="1" algn="just" defTabSz="914400" rtl="0" eaLnBrk="0" fontAlgn="base" latinLnBrk="0" hangingPunct="0">
              <a:lnSpc>
                <a:spcPct val="100000"/>
              </a:lnSpc>
              <a:spcBef>
                <a:spcPts val="0"/>
              </a:spcBef>
              <a:spcAft>
                <a:spcPct val="0"/>
              </a:spcAft>
              <a:buClr>
                <a:srgbClr val="002060"/>
              </a:buClr>
              <a:buSzTx/>
              <a:buFont typeface="Wingdings" panose="05000000000000000000" pitchFamily="2" charset="2"/>
              <a:buChar char="§"/>
              <a:tabLst/>
              <a:defRPr/>
            </a:pPr>
            <a:r>
              <a:rPr kumimoji="0" lang="en-ZA" altLang="en-US" sz="2400" b="0" i="0" u="none" strike="noStrike" kern="0" cap="none" spc="0" normalizeH="0" baseline="0" noProof="0" dirty="0">
                <a:ln>
                  <a:noFill/>
                </a:ln>
                <a:solidFill>
                  <a:srgbClr val="000000"/>
                </a:solidFill>
                <a:effectLst/>
                <a:uLnTx/>
                <a:uFillTx/>
                <a:latin typeface="Tahoma"/>
              </a:rPr>
              <a:t>Ch 15: assume firm has a fixed debt/equity (D/E) ratio that it maintains (target capital structure) </a:t>
            </a:r>
          </a:p>
          <a:p>
            <a:pPr marR="0" lvl="2" algn="just" defTabSz="914400" rtl="0" eaLnBrk="0" fontAlgn="base" latinLnBrk="0" hangingPunct="0">
              <a:lnSpc>
                <a:spcPct val="100000"/>
              </a:lnSpc>
              <a:spcBef>
                <a:spcPts val="0"/>
              </a:spcBef>
              <a:spcAft>
                <a:spcPct val="0"/>
              </a:spcAft>
              <a:buClr>
                <a:srgbClr val="002060"/>
              </a:buClr>
              <a:buSzTx/>
              <a:buFont typeface="Wingdings" panose="05000000000000000000" pitchFamily="2" charset="2"/>
              <a:buChar char="§"/>
              <a:tabLst/>
              <a:defRPr/>
            </a:pPr>
            <a:r>
              <a:rPr kumimoji="0" lang="en-ZA" altLang="en-US" b="0" i="0" u="none" strike="noStrike" kern="0" cap="none" spc="0" normalizeH="0" baseline="0" noProof="0" dirty="0">
                <a:ln>
                  <a:noFill/>
                </a:ln>
                <a:solidFill>
                  <a:srgbClr val="000000"/>
                </a:solidFill>
                <a:effectLst/>
                <a:uLnTx/>
                <a:uFillTx/>
                <a:latin typeface="Tahoma"/>
              </a:rPr>
              <a:t>We’ll return to this topic in Ch 16</a:t>
            </a:r>
          </a:p>
          <a:p>
            <a:pPr marR="0" lvl="1" algn="just" defTabSz="914400" rtl="0" eaLnBrk="0" fontAlgn="base" latinLnBrk="0" hangingPunct="0">
              <a:lnSpc>
                <a:spcPct val="100000"/>
              </a:lnSpc>
              <a:spcBef>
                <a:spcPts val="0"/>
              </a:spcBef>
              <a:spcAft>
                <a:spcPct val="0"/>
              </a:spcAft>
              <a:buClr>
                <a:srgbClr val="002060"/>
              </a:buClr>
              <a:buSzTx/>
              <a:buFont typeface="Wingdings" panose="05000000000000000000" pitchFamily="2" charset="2"/>
              <a:buChar char="§"/>
              <a:tabLst/>
              <a:defRPr/>
            </a:pPr>
            <a:r>
              <a:rPr kumimoji="0" lang="en-ZA" altLang="en-US" sz="2400" b="0" i="0" u="none" strike="noStrike" kern="0" cap="none" spc="0" normalizeH="0" baseline="0" noProof="0" dirty="0">
                <a:ln>
                  <a:noFill/>
                </a:ln>
                <a:solidFill>
                  <a:srgbClr val="000000"/>
                </a:solidFill>
                <a:effectLst/>
                <a:uLnTx/>
                <a:uFillTx/>
                <a:latin typeface="Tahoma"/>
              </a:rPr>
              <a:t>Remember: D/E ratio calculations in Ch 4…</a:t>
            </a:r>
          </a:p>
          <a:p>
            <a:pPr marR="0" lvl="1" algn="l" defTabSz="914400" rtl="0" eaLnBrk="0" fontAlgn="base" latinLnBrk="0" hangingPunct="0">
              <a:lnSpc>
                <a:spcPct val="100000"/>
              </a:lnSpc>
              <a:spcBef>
                <a:spcPts val="0"/>
              </a:spcBef>
              <a:spcAft>
                <a:spcPct val="0"/>
              </a:spcAft>
              <a:buClr>
                <a:srgbClr val="002060"/>
              </a:buClr>
              <a:buSzTx/>
              <a:buFont typeface="Wingdings" panose="05000000000000000000" pitchFamily="2" charset="2"/>
              <a:buChar char="§"/>
              <a:tabLst/>
              <a:defRPr/>
            </a:pPr>
            <a:r>
              <a:rPr kumimoji="0" lang="en-US" altLang="en-US" sz="2400" b="0" i="0" u="none" strike="noStrike" kern="0" cap="none" spc="0" normalizeH="0" baseline="0" noProof="0" dirty="0">
                <a:ln>
                  <a:noFill/>
                </a:ln>
                <a:solidFill>
                  <a:srgbClr val="000000"/>
                </a:solidFill>
                <a:effectLst/>
                <a:uLnTx/>
                <a:uFillTx/>
                <a:latin typeface="Tahoma"/>
              </a:rPr>
              <a:t>Debt/Equity ratio = TD / TE</a:t>
            </a:r>
          </a:p>
          <a:p>
            <a:pPr marL="342900" marR="0" lvl="0" indent="-342900" algn="just" defTabSz="914400" rtl="0" eaLnBrk="0" fontAlgn="base" latinLnBrk="0" hangingPunct="0">
              <a:lnSpc>
                <a:spcPct val="100000"/>
              </a:lnSpc>
              <a:spcBef>
                <a:spcPts val="0"/>
              </a:spcBef>
              <a:spcAft>
                <a:spcPct val="0"/>
              </a:spcAft>
              <a:buClr>
                <a:srgbClr val="002060"/>
              </a:buClr>
              <a:buSzTx/>
              <a:buFont typeface="Arial" panose="020B0604020202020204" pitchFamily="34" charset="0"/>
              <a:buChar char="•"/>
              <a:tabLst/>
              <a:defRPr/>
            </a:pPr>
            <a:r>
              <a:rPr kumimoji="0" lang="en-ZA" altLang="en-US" sz="2400" b="0" i="0" u="none" strike="noStrike" kern="0" cap="none" spc="0" normalizeH="0" baseline="0" noProof="0" dirty="0">
                <a:ln>
                  <a:noFill/>
                </a:ln>
                <a:solidFill>
                  <a:srgbClr val="000000"/>
                </a:solidFill>
                <a:effectLst/>
                <a:uLnTx/>
                <a:uFillTx/>
                <a:latin typeface="Tahoma"/>
                <a:ea typeface="+mn-ea"/>
                <a:cs typeface="+mn-cs"/>
              </a:rPr>
              <a:t>Firm’s overall cost of capital will reflect the required return on the firm’s assets as a whole</a:t>
            </a:r>
          </a:p>
          <a:p>
            <a:pPr marL="342900" marR="0" lvl="0" indent="-342900" algn="just" defTabSz="914400" rtl="0" eaLnBrk="0" fontAlgn="base" latinLnBrk="0" hangingPunct="0">
              <a:lnSpc>
                <a:spcPct val="100000"/>
              </a:lnSpc>
              <a:spcBef>
                <a:spcPts val="0"/>
              </a:spcBef>
              <a:spcAft>
                <a:spcPct val="0"/>
              </a:spcAft>
              <a:buClr>
                <a:srgbClr val="002060"/>
              </a:buClr>
              <a:buSzTx/>
              <a:buFont typeface="Arial" panose="020B0604020202020204" pitchFamily="34" charset="0"/>
              <a:buChar char="•"/>
              <a:tabLst/>
              <a:defRPr/>
            </a:pPr>
            <a:endParaRPr kumimoji="0" lang="en-ZA" altLang="en-US"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just" defTabSz="914400" rtl="0" eaLnBrk="0" fontAlgn="base" latinLnBrk="0" hangingPunct="0">
              <a:lnSpc>
                <a:spcPct val="100000"/>
              </a:lnSpc>
              <a:spcBef>
                <a:spcPts val="0"/>
              </a:spcBef>
              <a:spcAft>
                <a:spcPct val="0"/>
              </a:spcAft>
              <a:buClr>
                <a:srgbClr val="002060"/>
              </a:buClr>
              <a:buSzTx/>
              <a:buFont typeface="Arial" panose="020B0604020202020204" pitchFamily="34" charset="0"/>
              <a:buChar char="•"/>
              <a:tabLst/>
              <a:defRPr/>
            </a:pPr>
            <a:r>
              <a:rPr kumimoji="0" lang="en-ZA" altLang="en-US" sz="2400" b="0" i="0" u="none" strike="noStrike" kern="0" cap="none" spc="0" normalizeH="0" baseline="0" noProof="0" dirty="0">
                <a:ln>
                  <a:noFill/>
                </a:ln>
                <a:solidFill>
                  <a:srgbClr val="000000"/>
                </a:solidFill>
                <a:effectLst/>
                <a:uLnTx/>
                <a:uFillTx/>
                <a:latin typeface="Tahoma"/>
                <a:ea typeface="+mn-ea"/>
                <a:cs typeface="+mn-cs"/>
              </a:rPr>
              <a:t>Firm uses both debt and equity – overall cost of capital will be a mixture of the returns needed </a:t>
            </a:r>
          </a:p>
          <a:p>
            <a:pPr marL="0" marR="0" lvl="0" indent="0" algn="just" defTabSz="914400" rtl="0" eaLnBrk="0" fontAlgn="base" latinLnBrk="0" hangingPunct="0">
              <a:lnSpc>
                <a:spcPct val="100000"/>
              </a:lnSpc>
              <a:spcBef>
                <a:spcPts val="0"/>
              </a:spcBef>
              <a:spcAft>
                <a:spcPct val="0"/>
              </a:spcAft>
              <a:buClr>
                <a:srgbClr val="002060"/>
              </a:buClr>
              <a:buSzTx/>
              <a:buFontTx/>
              <a:buNone/>
              <a:tabLst/>
              <a:defRPr/>
            </a:pPr>
            <a:r>
              <a:rPr kumimoji="0" lang="en-ZA" altLang="en-US" sz="2400" b="0" i="0" u="none" strike="noStrike" kern="0" cap="none" spc="0" normalizeH="0" baseline="0" noProof="0" dirty="0">
                <a:ln>
                  <a:noFill/>
                </a:ln>
                <a:solidFill>
                  <a:srgbClr val="000000"/>
                </a:solidFill>
                <a:effectLst/>
                <a:uLnTx/>
                <a:uFillTx/>
                <a:latin typeface="Tahoma"/>
                <a:ea typeface="+mn-ea"/>
                <a:cs typeface="+mn-cs"/>
              </a:rPr>
              <a:t>    to compensate both its </a:t>
            </a:r>
            <a:r>
              <a:rPr kumimoji="0" lang="en-ZA" altLang="en-US" sz="2400" b="1" i="0" u="none" strike="noStrike" kern="0" cap="none" spc="0" normalizeH="0" baseline="0" noProof="0" dirty="0">
                <a:ln>
                  <a:noFill/>
                </a:ln>
                <a:solidFill>
                  <a:srgbClr val="C00000"/>
                </a:solidFill>
                <a:effectLst/>
                <a:uLnTx/>
                <a:uFillTx/>
                <a:latin typeface="Tahoma"/>
                <a:ea typeface="+mn-ea"/>
                <a:cs typeface="+mn-cs"/>
              </a:rPr>
              <a:t>lenders</a:t>
            </a:r>
            <a:r>
              <a:rPr kumimoji="0" lang="en-ZA" altLang="en-US" sz="2400" b="0" i="0" u="none" strike="noStrike" kern="0" cap="none" spc="0" normalizeH="0" baseline="0" noProof="0" dirty="0">
                <a:ln>
                  <a:noFill/>
                </a:ln>
                <a:solidFill>
                  <a:srgbClr val="000000"/>
                </a:solidFill>
                <a:effectLst/>
                <a:uLnTx/>
                <a:uFillTx/>
                <a:latin typeface="Tahoma"/>
                <a:ea typeface="+mn-ea"/>
                <a:cs typeface="+mn-cs"/>
              </a:rPr>
              <a:t> and its </a:t>
            </a:r>
            <a:r>
              <a:rPr kumimoji="0" lang="en-ZA" altLang="en-US" sz="2400" b="1" i="0" u="none" strike="noStrike" kern="0" cap="none" spc="0" normalizeH="0" baseline="0" noProof="0" dirty="0">
                <a:ln>
                  <a:noFill/>
                </a:ln>
                <a:solidFill>
                  <a:srgbClr val="C00000"/>
                </a:solidFill>
                <a:effectLst/>
                <a:uLnTx/>
                <a:uFillTx/>
                <a:latin typeface="Tahoma"/>
                <a:ea typeface="+mn-ea"/>
                <a:cs typeface="+mn-cs"/>
              </a:rPr>
              <a:t>shareholders</a:t>
            </a:r>
          </a:p>
          <a:p>
            <a:pPr marR="0" lvl="1" algn="just" defTabSz="914400" rtl="0" eaLnBrk="0" fontAlgn="base" latinLnBrk="0" hangingPunct="0">
              <a:lnSpc>
                <a:spcPct val="100000"/>
              </a:lnSpc>
              <a:spcBef>
                <a:spcPts val="0"/>
              </a:spcBef>
              <a:spcAft>
                <a:spcPct val="0"/>
              </a:spcAft>
              <a:buClr>
                <a:srgbClr val="002060"/>
              </a:buClr>
              <a:buSzTx/>
              <a:buFont typeface="Wingdings" panose="05000000000000000000" pitchFamily="2" charset="2"/>
              <a:buChar char="§"/>
              <a:tabLst/>
              <a:defRPr/>
            </a:pPr>
            <a:r>
              <a:rPr kumimoji="0" lang="en-ZA" altLang="en-US" sz="2400" b="0" i="0" u="none" strike="noStrike" kern="0" cap="none" spc="0" normalizeH="0" baseline="0" noProof="0" dirty="0">
                <a:ln>
                  <a:noFill/>
                </a:ln>
                <a:solidFill>
                  <a:srgbClr val="000000"/>
                </a:solidFill>
                <a:effectLst/>
                <a:uLnTx/>
                <a:uFillTx/>
                <a:latin typeface="Tahoma"/>
              </a:rPr>
              <a:t>Cost of capital will reflect both its </a:t>
            </a:r>
            <a:r>
              <a:rPr kumimoji="0" lang="en-ZA" altLang="en-US" sz="2400" b="1" i="0" u="none" strike="noStrike" kern="0" cap="none" spc="0" normalizeH="0" baseline="0" noProof="0" dirty="0">
                <a:ln>
                  <a:noFill/>
                </a:ln>
                <a:solidFill>
                  <a:srgbClr val="C00000"/>
                </a:solidFill>
                <a:effectLst/>
                <a:uLnTx/>
                <a:uFillTx/>
                <a:latin typeface="Tahoma"/>
              </a:rPr>
              <a:t>cost of debt</a:t>
            </a:r>
            <a:r>
              <a:rPr kumimoji="0" lang="en-ZA" altLang="en-US" sz="2400" b="0" i="0" u="none" strike="noStrike" kern="0" cap="none" spc="0" normalizeH="0" baseline="0" noProof="0" dirty="0">
                <a:ln>
                  <a:noFill/>
                </a:ln>
                <a:solidFill>
                  <a:srgbClr val="C00000"/>
                </a:solidFill>
                <a:effectLst/>
                <a:uLnTx/>
                <a:uFillTx/>
                <a:latin typeface="Tahoma"/>
              </a:rPr>
              <a:t> </a:t>
            </a:r>
            <a:r>
              <a:rPr kumimoji="0" lang="en-ZA" altLang="en-US" sz="2400" b="0" i="0" u="none" strike="noStrike" kern="0" cap="none" spc="0" normalizeH="0" baseline="0" noProof="0" dirty="0">
                <a:ln>
                  <a:noFill/>
                </a:ln>
                <a:solidFill>
                  <a:srgbClr val="000000"/>
                </a:solidFill>
                <a:effectLst/>
                <a:uLnTx/>
                <a:uFillTx/>
                <a:latin typeface="Tahoma"/>
              </a:rPr>
              <a:t>capital and its </a:t>
            </a:r>
            <a:r>
              <a:rPr kumimoji="0" lang="en-ZA" altLang="en-US" sz="2400" b="1" i="0" u="none" strike="noStrike" kern="0" cap="none" spc="0" normalizeH="0" baseline="0" noProof="0" dirty="0">
                <a:ln>
                  <a:noFill/>
                </a:ln>
                <a:solidFill>
                  <a:srgbClr val="C00000"/>
                </a:solidFill>
                <a:effectLst/>
                <a:uLnTx/>
                <a:uFillTx/>
                <a:latin typeface="Tahoma"/>
              </a:rPr>
              <a:t>cost of equity</a:t>
            </a:r>
            <a:r>
              <a:rPr kumimoji="0" lang="en-ZA" altLang="en-US" sz="2400" b="0" i="0" u="none" strike="noStrike" kern="0" cap="none" spc="0" normalizeH="0" baseline="0" noProof="0" dirty="0">
                <a:ln>
                  <a:noFill/>
                </a:ln>
                <a:solidFill>
                  <a:srgbClr val="C00000"/>
                </a:solidFill>
                <a:effectLst/>
                <a:uLnTx/>
                <a:uFillTx/>
                <a:latin typeface="Tahoma"/>
              </a:rPr>
              <a:t> (preference </a:t>
            </a:r>
            <a:r>
              <a:rPr lang="en-ZA" altLang="en-US" sz="2400" dirty="0">
                <a:solidFill>
                  <a:srgbClr val="C00000"/>
                </a:solidFill>
                <a:latin typeface="Tahoma"/>
              </a:rPr>
              <a:t>and ordinary shares separately) </a:t>
            </a:r>
            <a:r>
              <a:rPr kumimoji="0" lang="en-ZA" altLang="en-US" sz="2400" b="0" i="0" u="none" strike="noStrike" kern="0" cap="none" spc="0" normalizeH="0" baseline="0" noProof="0" dirty="0">
                <a:ln>
                  <a:noFill/>
                </a:ln>
                <a:solidFill>
                  <a:srgbClr val="000000"/>
                </a:solidFill>
                <a:effectLst/>
                <a:uLnTx/>
                <a:uFillTx/>
                <a:latin typeface="Tahoma"/>
              </a:rPr>
              <a:t>capital</a:t>
            </a:r>
            <a:endParaRPr kumimoji="0" lang="en-GB" altLang="en-US" sz="2400" b="0" i="0" u="none" strike="noStrike" kern="0" cap="none" spc="0" normalizeH="0" baseline="0" noProof="0" dirty="0">
              <a:ln>
                <a:noFill/>
              </a:ln>
              <a:solidFill>
                <a:srgbClr val="000000"/>
              </a:solidFill>
              <a:effectLst/>
              <a:uLnTx/>
              <a:uFillTx/>
              <a:latin typeface="Tahoma"/>
            </a:endParaRPr>
          </a:p>
          <a:p>
            <a:pPr>
              <a:lnSpc>
                <a:spcPct val="105000"/>
              </a:lnSpc>
              <a:buSzPct val="100000"/>
              <a:buFont typeface="Arial" panose="020B0604020202020204" pitchFamily="34" charset="0"/>
              <a:buChar char="•"/>
            </a:pPr>
            <a:endParaRPr lang="en-US" dirty="0"/>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10</a:t>
            </a:fld>
            <a:endParaRPr lang="en-US">
              <a:solidFill>
                <a:schemeClr val="tx1"/>
              </a:solidFill>
            </a:endParaRPr>
          </a:p>
        </p:txBody>
      </p:sp>
    </p:spTree>
    <p:custDataLst>
      <p:tags r:id="rId1"/>
    </p:custDataLst>
    <p:extLst>
      <p:ext uri="{BB962C8B-B14F-4D97-AF65-F5344CB8AC3E}">
        <p14:creationId xmlns:p14="http://schemas.microsoft.com/office/powerpoint/2010/main" val="2001353610"/>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61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C7DCD64-7DB8-4377-9713-C6F94F019DA7}"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11</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11619" name="Rectangle 2"/>
          <p:cNvSpPr>
            <a:spLocks noGrp="1" noChangeArrowheads="1"/>
          </p:cNvSpPr>
          <p:nvPr>
            <p:ph type="title"/>
          </p:nvPr>
        </p:nvSpPr>
        <p:spPr>
          <a:xfrm>
            <a:off x="304800" y="9525"/>
            <a:ext cx="8839199" cy="1143000"/>
          </a:xfrm>
        </p:spPr>
        <p:txBody>
          <a:bodyPr/>
          <a:lstStyle/>
          <a:p>
            <a:pPr algn="l"/>
            <a:r>
              <a:rPr kumimoji="0" lang="en-US" sz="3600" b="0" i="0" u="none" strike="noStrike" kern="0" cap="none" spc="0" normalizeH="0" baseline="0" noProof="0" dirty="0">
                <a:ln>
                  <a:noFill/>
                </a:ln>
                <a:solidFill>
                  <a:srgbClr val="1F497D"/>
                </a:solidFill>
                <a:effectLst/>
                <a:uLnTx/>
                <a:uFillTx/>
                <a:latin typeface="Tahoma"/>
                <a:ea typeface="ＭＳ Ｐゴシック"/>
              </a:rPr>
              <a:t>Financing weights (cont.)</a:t>
            </a:r>
            <a:endParaRPr lang="en-US" altLang="en-US" sz="3600" dirty="0">
              <a:solidFill>
                <a:srgbClr val="002060"/>
              </a:solidFill>
            </a:endParaRPr>
          </a:p>
        </p:txBody>
      </p:sp>
      <p:sp>
        <p:nvSpPr>
          <p:cNvPr id="68611" name="Rectangle 3"/>
          <p:cNvSpPr>
            <a:spLocks noGrp="1" noChangeArrowheads="1"/>
          </p:cNvSpPr>
          <p:nvPr>
            <p:ph type="body" idx="1"/>
          </p:nvPr>
        </p:nvSpPr>
        <p:spPr>
          <a:xfrm>
            <a:off x="228600" y="1066800"/>
            <a:ext cx="8686800" cy="5257800"/>
          </a:xfrm>
        </p:spPr>
        <p:txBody>
          <a:bodyPr/>
          <a:lstStyle/>
          <a:p>
            <a:pPr>
              <a:buFont typeface="Arial" panose="020B0604020202020204" pitchFamily="34" charset="0"/>
              <a:buChar char="•"/>
            </a:pPr>
            <a:r>
              <a:rPr kumimoji="0" lang="en-US" altLang="en-US" sz="2400" b="0" i="0" u="none" strike="noStrike" kern="0" cap="none" spc="0" normalizeH="0" baseline="0" noProof="0" dirty="0">
                <a:ln>
                  <a:noFill/>
                </a:ln>
                <a:solidFill>
                  <a:srgbClr val="000000"/>
                </a:solidFill>
                <a:effectLst/>
                <a:uLnTx/>
                <a:uFillTx/>
                <a:latin typeface="Tahoma"/>
                <a:ea typeface="+mn-ea"/>
                <a:cs typeface="+mn-cs"/>
              </a:rPr>
              <a:t>Same info as in TB, just in a different sequence</a:t>
            </a:r>
          </a:p>
          <a:p>
            <a:pPr marL="0" lvl="0" indent="0">
              <a:buNone/>
            </a:pPr>
            <a:endParaRPr lang="en-ZA" altLang="en-US" sz="1800" b="1" dirty="0">
              <a:solidFill>
                <a:srgbClr val="C00000"/>
              </a:solidFill>
            </a:endParaRPr>
          </a:p>
          <a:p>
            <a:pPr marL="0" lvl="0" indent="0">
              <a:buNone/>
            </a:pP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rPr>
              <a:t>    WACC =</a:t>
            </a:r>
            <a:r>
              <a:rPr kumimoji="0" lang="en-US" sz="2400" b="0" i="0" u="none" strike="noStrike" kern="0" cap="none" spc="0" normalizeH="0" baseline="0" noProof="0" dirty="0">
                <a:ln>
                  <a:noFill/>
                </a:ln>
                <a:solidFill>
                  <a:prstClr val="black"/>
                </a:solidFill>
                <a:effectLst/>
                <a:uLnTx/>
                <a:uFillTx/>
                <a:latin typeface="Tahoma"/>
                <a:ea typeface="Times New Roman" panose="02020603050405020304" pitchFamily="18" charset="0"/>
              </a:rPr>
              <a:t>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rPr>
              <a:t>[</a:t>
            </a:r>
            <a:r>
              <a:rPr kumimoji="0" lang="en-US" sz="2400" b="1" i="0" u="none" strike="noStrike" kern="0" cap="none" spc="0" normalizeH="0" baseline="0" noProof="0" dirty="0">
                <a:ln>
                  <a:noFill/>
                </a:ln>
                <a:solidFill>
                  <a:prstClr val="black"/>
                </a:solidFill>
                <a:effectLst/>
                <a:highlight>
                  <a:srgbClr val="00FF00"/>
                </a:highlight>
                <a:uLnTx/>
                <a:uFillTx/>
                <a:latin typeface="Tahoma"/>
                <a:ea typeface="Times New Roman" panose="02020603050405020304" pitchFamily="18" charset="0"/>
              </a:rPr>
              <a:t>(D/V)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rPr>
              <a:t>x </a:t>
            </a:r>
            <a:r>
              <a:rPr kumimoji="0" lang="en-ZA" sz="2400" b="1" i="0" u="none" strike="noStrike" kern="0" cap="none" spc="0" normalizeH="0" baseline="0" noProof="0" dirty="0">
                <a:ln>
                  <a:noFill/>
                </a:ln>
                <a:solidFill>
                  <a:prstClr val="black"/>
                </a:solidFill>
                <a:effectLst/>
                <a:highlight>
                  <a:srgbClr val="00FFFF"/>
                </a:highlight>
                <a:uLnTx/>
                <a:uFillTx/>
                <a:latin typeface="Tahoma"/>
                <a:ea typeface="Times New Roman" panose="02020603050405020304" pitchFamily="18" charset="0"/>
              </a:rPr>
              <a:t>k</a:t>
            </a:r>
            <a:r>
              <a:rPr kumimoji="0" lang="en-ZA" sz="2400" b="1" i="1" u="none" strike="noStrike" kern="0" cap="none" spc="0" normalizeH="0" baseline="-25000" noProof="0" dirty="0">
                <a:ln>
                  <a:noFill/>
                </a:ln>
                <a:solidFill>
                  <a:prstClr val="black"/>
                </a:solidFill>
                <a:effectLst/>
                <a:highlight>
                  <a:srgbClr val="00FFFF"/>
                </a:highlight>
                <a:uLnTx/>
                <a:uFillTx/>
                <a:latin typeface="Tahoma"/>
                <a:ea typeface="Times New Roman" panose="02020603050405020304" pitchFamily="18" charset="0"/>
              </a:rPr>
              <a:t>i</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rPr>
              <a:t>] + [</a:t>
            </a:r>
            <a:r>
              <a:rPr kumimoji="0" lang="en-US" sz="2400" b="1" i="0" u="none" strike="noStrike" kern="0" cap="none" spc="0" normalizeH="0" baseline="0" noProof="0" dirty="0">
                <a:ln>
                  <a:noFill/>
                </a:ln>
                <a:solidFill>
                  <a:prstClr val="black"/>
                </a:solidFill>
                <a:effectLst/>
                <a:highlight>
                  <a:srgbClr val="00FF00"/>
                </a:highlight>
                <a:uLnTx/>
                <a:uFillTx/>
                <a:latin typeface="Tahoma"/>
                <a:ea typeface="Times New Roman" panose="02020603050405020304" pitchFamily="18" charset="0"/>
              </a:rPr>
              <a:t>(P/V)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rPr>
              <a:t>x </a:t>
            </a:r>
            <a:r>
              <a:rPr kumimoji="0" lang="en-US" sz="2400" b="1" i="0" u="none" strike="noStrike" kern="0" cap="none" spc="0" normalizeH="0" baseline="0" noProof="0" dirty="0" err="1">
                <a:ln>
                  <a:noFill/>
                </a:ln>
                <a:solidFill>
                  <a:prstClr val="black"/>
                </a:solidFill>
                <a:effectLst/>
                <a:highlight>
                  <a:srgbClr val="00FFFF"/>
                </a:highlight>
                <a:uLnTx/>
                <a:uFillTx/>
                <a:latin typeface="Tahoma"/>
                <a:ea typeface="Times New Roman" panose="02020603050405020304" pitchFamily="18" charset="0"/>
              </a:rPr>
              <a:t>k</a:t>
            </a:r>
            <a:r>
              <a:rPr kumimoji="0" lang="en-US" sz="2400" b="1" i="0" u="none" strike="noStrike" kern="0" cap="none" spc="0" normalizeH="0" baseline="-25000" noProof="0" dirty="0" err="1">
                <a:ln>
                  <a:noFill/>
                </a:ln>
                <a:solidFill>
                  <a:prstClr val="black"/>
                </a:solidFill>
                <a:effectLst/>
                <a:highlight>
                  <a:srgbClr val="00FFFF"/>
                </a:highlight>
                <a:uLnTx/>
                <a:uFillTx/>
                <a:latin typeface="Tahoma"/>
                <a:ea typeface="Times New Roman" panose="02020603050405020304" pitchFamily="18" charset="0"/>
              </a:rPr>
              <a:t>p</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rPr>
              <a:t>] + [</a:t>
            </a:r>
            <a:r>
              <a:rPr kumimoji="0" lang="en-US" sz="2400" b="1" i="0" u="none" strike="noStrike" kern="0" cap="none" spc="0" normalizeH="0" baseline="0" noProof="0" dirty="0">
                <a:ln>
                  <a:noFill/>
                </a:ln>
                <a:solidFill>
                  <a:prstClr val="black"/>
                </a:solidFill>
                <a:effectLst/>
                <a:highlight>
                  <a:srgbClr val="00FF00"/>
                </a:highlight>
                <a:uLnTx/>
                <a:uFillTx/>
                <a:latin typeface="Tahoma"/>
                <a:ea typeface="Times New Roman" panose="02020603050405020304" pitchFamily="18" charset="0"/>
              </a:rPr>
              <a:t>(E/V)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rPr>
              <a:t>x </a:t>
            </a:r>
            <a:r>
              <a:rPr kumimoji="0" lang="en-US" sz="2400" b="1" i="0" u="none" strike="noStrike" kern="0" cap="none" spc="0" normalizeH="0" baseline="0" noProof="0" dirty="0" err="1">
                <a:ln>
                  <a:noFill/>
                </a:ln>
                <a:solidFill>
                  <a:prstClr val="black"/>
                </a:solidFill>
                <a:effectLst/>
                <a:highlight>
                  <a:srgbClr val="00FFFF"/>
                </a:highlight>
                <a:uLnTx/>
                <a:uFillTx/>
                <a:latin typeface="Tahoma"/>
                <a:ea typeface="Times New Roman" panose="02020603050405020304" pitchFamily="18" charset="0"/>
              </a:rPr>
              <a:t>k</a:t>
            </a:r>
            <a:r>
              <a:rPr kumimoji="0" lang="en-US" sz="2400" b="1" i="0" u="none" strike="noStrike" kern="0" cap="none" spc="0" normalizeH="0" baseline="-25000" noProof="0" dirty="0" err="1">
                <a:ln>
                  <a:noFill/>
                </a:ln>
                <a:solidFill>
                  <a:prstClr val="black"/>
                </a:solidFill>
                <a:effectLst/>
                <a:highlight>
                  <a:srgbClr val="00FFFF"/>
                </a:highlight>
                <a:uLnTx/>
                <a:uFillTx/>
                <a:latin typeface="Tahoma"/>
                <a:ea typeface="Times New Roman" panose="02020603050405020304" pitchFamily="18" charset="0"/>
              </a:rPr>
              <a:t>n</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rPr>
              <a:t>]</a:t>
            </a:r>
          </a:p>
          <a:p>
            <a:pPr marL="0" lvl="0" indent="0">
              <a:buNone/>
            </a:pPr>
            <a:endParaRPr lang="en-US" altLang="en-US" sz="2400" dirty="0"/>
          </a:p>
          <a:p>
            <a:pPr algn="just">
              <a:buClr>
                <a:srgbClr val="002060"/>
              </a:buClr>
              <a:buFont typeface="Arial" panose="020B0604020202020204" pitchFamily="34" charset="0"/>
              <a:buChar char="•"/>
            </a:pPr>
            <a:r>
              <a:rPr lang="en-US" altLang="en-US" sz="2400" dirty="0"/>
              <a:t>First, we need to find the capital structure </a:t>
            </a:r>
            <a:r>
              <a:rPr lang="en-US" altLang="en-US" sz="2400" dirty="0">
                <a:highlight>
                  <a:srgbClr val="00FF00"/>
                </a:highlight>
              </a:rPr>
              <a:t>weights</a:t>
            </a:r>
          </a:p>
          <a:p>
            <a:pPr lvl="1" algn="just">
              <a:buClr>
                <a:srgbClr val="002060"/>
              </a:buClr>
              <a:buFont typeface="Arial" panose="020B0604020202020204" pitchFamily="34" charset="0"/>
              <a:buChar char="•"/>
            </a:pPr>
            <a:r>
              <a:rPr lang="en-US" altLang="en-US" dirty="0"/>
              <a:t>The </a:t>
            </a:r>
            <a:r>
              <a:rPr lang="en-US" altLang="en-US" dirty="0">
                <a:highlight>
                  <a:srgbClr val="00FF00"/>
                </a:highlight>
              </a:rPr>
              <a:t>%</a:t>
            </a:r>
            <a:r>
              <a:rPr lang="en-US" altLang="en-US" dirty="0"/>
              <a:t> of each capital source</a:t>
            </a:r>
          </a:p>
          <a:p>
            <a:pPr lvl="1" algn="just">
              <a:buClr>
                <a:srgbClr val="002060"/>
              </a:buClr>
              <a:buFont typeface="Arial" panose="020B0604020202020204" pitchFamily="34" charset="0"/>
              <a:buChar char="•"/>
            </a:pPr>
            <a:endParaRPr lang="en-US" altLang="en-US" dirty="0"/>
          </a:p>
          <a:p>
            <a:pPr marL="342900" marR="0" lvl="0" indent="-342900" algn="just" defTabSz="914400" rtl="0" eaLnBrk="0" fontAlgn="base" latinLnBrk="0" hangingPunct="0">
              <a:lnSpc>
                <a:spcPct val="100000"/>
              </a:lnSpc>
              <a:spcBef>
                <a:spcPct val="20000"/>
              </a:spcBef>
              <a:spcAft>
                <a:spcPct val="0"/>
              </a:spcAft>
              <a:buClr>
                <a:srgbClr val="002060"/>
              </a:buClr>
              <a:buSzTx/>
              <a:buFont typeface="Arial" panose="020B0604020202020204" pitchFamily="34" charset="0"/>
              <a:buChar char="•"/>
              <a:tabLst/>
              <a:defRPr/>
            </a:pPr>
            <a:r>
              <a:rPr kumimoji="0" lang="en-US" altLang="en-US" sz="2400" b="1" i="0" u="none" strike="noStrike" kern="0" cap="none" spc="0" normalizeH="0" baseline="0" noProof="0" dirty="0" err="1">
                <a:ln>
                  <a:noFill/>
                </a:ln>
                <a:solidFill>
                  <a:srgbClr val="C00000"/>
                </a:solidFill>
                <a:effectLst/>
                <a:uLnTx/>
                <a:uFillTx/>
                <a:latin typeface="Tahoma"/>
                <a:ea typeface="+mn-ea"/>
                <a:cs typeface="+mn-cs"/>
              </a:rPr>
              <a:t>MV</a:t>
            </a:r>
            <a:r>
              <a:rPr kumimoji="0" lang="en-US" altLang="en-US" sz="2400" b="1" i="0" u="none" strike="noStrike" kern="0" cap="none" spc="0" normalizeH="0" baseline="-25000" noProof="0" dirty="0" err="1">
                <a:ln>
                  <a:noFill/>
                </a:ln>
                <a:solidFill>
                  <a:srgbClr val="C00000"/>
                </a:solidFill>
                <a:effectLst/>
                <a:uLnTx/>
                <a:uFillTx/>
                <a:latin typeface="Tahoma"/>
                <a:ea typeface="+mn-ea"/>
                <a:cs typeface="+mn-cs"/>
              </a:rPr>
              <a:t>d</a:t>
            </a:r>
            <a:r>
              <a:rPr kumimoji="0" lang="en-US" altLang="en-US" sz="2400" b="0" i="0" u="none" strike="noStrike" kern="0" cap="none" spc="0" normalizeH="0" baseline="0" noProof="0" dirty="0">
                <a:ln>
                  <a:noFill/>
                </a:ln>
                <a:solidFill>
                  <a:srgbClr val="000000"/>
                </a:solidFill>
                <a:effectLst/>
                <a:uLnTx/>
                <a:uFillTx/>
                <a:latin typeface="Tahoma"/>
                <a:ea typeface="+mn-ea"/>
                <a:cs typeface="+mn-cs"/>
              </a:rPr>
              <a:t> = the market value of the firm’s </a:t>
            </a:r>
            <a:r>
              <a:rPr kumimoji="0" lang="en-US" altLang="en-US" sz="2400" b="1" i="0" u="none" strike="noStrike" kern="0" cap="none" spc="0" normalizeH="0" baseline="0" noProof="0" dirty="0">
                <a:ln>
                  <a:noFill/>
                </a:ln>
                <a:solidFill>
                  <a:srgbClr val="C00000"/>
                </a:solidFill>
                <a:effectLst/>
                <a:uLnTx/>
                <a:uFillTx/>
                <a:latin typeface="Tahoma"/>
                <a:ea typeface="+mn-ea"/>
                <a:cs typeface="+mn-cs"/>
              </a:rPr>
              <a:t>debt</a:t>
            </a:r>
            <a:r>
              <a:rPr kumimoji="0" lang="en-US" altLang="en-US" sz="2400" b="0" i="0" u="none" strike="noStrike" kern="0" cap="none" spc="0" normalizeH="0" baseline="0" noProof="0" dirty="0">
                <a:ln>
                  <a:noFill/>
                </a:ln>
                <a:solidFill>
                  <a:srgbClr val="000000"/>
                </a:solidFill>
                <a:effectLst/>
                <a:uLnTx/>
                <a:uFillTx/>
                <a:latin typeface="Tahoma"/>
                <a:ea typeface="+mn-ea"/>
                <a:cs typeface="+mn-cs"/>
              </a:rPr>
              <a:t> capital (D)</a:t>
            </a:r>
          </a:p>
          <a:p>
            <a:pPr marL="742950" marR="0" lvl="1" indent="-285750" algn="just" defTabSz="914400" rtl="0" eaLnBrk="0" fontAlgn="base" latinLnBrk="0" hangingPunct="0">
              <a:lnSpc>
                <a:spcPct val="100000"/>
              </a:lnSpc>
              <a:spcBef>
                <a:spcPct val="20000"/>
              </a:spcBef>
              <a:spcAft>
                <a:spcPct val="0"/>
              </a:spcAft>
              <a:buClr>
                <a:srgbClr val="002060"/>
              </a:buClr>
              <a:buSzTx/>
              <a:buFont typeface="Arial" panose="020B0604020202020204" pitchFamily="34" charset="0"/>
              <a:buChar char="•"/>
              <a:tabLst/>
              <a:defRPr/>
            </a:pPr>
            <a:r>
              <a:rPr kumimoji="0" lang="en-US" altLang="en-US" sz="2400" b="0" i="0" u="none" strike="noStrike" kern="0" cap="none" spc="0" normalizeH="0" baseline="0" noProof="0" dirty="0" err="1">
                <a:ln>
                  <a:noFill/>
                </a:ln>
                <a:solidFill>
                  <a:srgbClr val="000000"/>
                </a:solidFill>
                <a:effectLst/>
                <a:uLnTx/>
                <a:uFillTx/>
                <a:latin typeface="Tahoma"/>
              </a:rPr>
              <a:t>MV</a:t>
            </a:r>
            <a:r>
              <a:rPr kumimoji="0" lang="en-US" altLang="en-US" sz="2400" b="0" i="0" u="none" strike="noStrike" kern="0" cap="none" spc="0" normalizeH="0" baseline="-25000" noProof="0" dirty="0" err="1">
                <a:ln>
                  <a:noFill/>
                </a:ln>
                <a:solidFill>
                  <a:srgbClr val="000000"/>
                </a:solidFill>
                <a:effectLst/>
                <a:uLnTx/>
                <a:uFillTx/>
                <a:latin typeface="Tahoma"/>
              </a:rPr>
              <a:t>d</a:t>
            </a:r>
            <a:r>
              <a:rPr kumimoji="0" lang="en-US" altLang="en-US" sz="2400" b="0" i="0" u="none" strike="noStrike" kern="0" cap="none" spc="0" normalizeH="0" baseline="0" noProof="0" dirty="0">
                <a:ln>
                  <a:noFill/>
                </a:ln>
                <a:solidFill>
                  <a:srgbClr val="000000"/>
                </a:solidFill>
                <a:effectLst/>
                <a:uLnTx/>
                <a:uFillTx/>
                <a:latin typeface="Tahoma"/>
              </a:rPr>
              <a:t> = number of bonds in issue x market price (PV) of a single bond </a:t>
            </a:r>
          </a:p>
          <a:p>
            <a:pPr algn="just">
              <a:buClr>
                <a:srgbClr val="002060"/>
              </a:buClr>
              <a:buFont typeface="Arial" panose="020B0604020202020204" pitchFamily="34" charset="0"/>
              <a:buChar char="•"/>
            </a:pPr>
            <a:endParaRPr lang="en-US" altLang="en-US" sz="2400" b="1" dirty="0">
              <a:solidFill>
                <a:srgbClr val="C00000"/>
              </a:solidFill>
            </a:endParaRPr>
          </a:p>
          <a:p>
            <a:pPr algn="just"/>
            <a:endParaRPr lang="en-US" altLang="en-US" sz="2400" dirty="0"/>
          </a:p>
          <a:p>
            <a:pPr algn="just"/>
            <a:endParaRPr lang="en-US" altLang="en-US" dirty="0"/>
          </a:p>
        </p:txBody>
      </p:sp>
    </p:spTree>
    <p:extLst>
      <p:ext uri="{BB962C8B-B14F-4D97-AF65-F5344CB8AC3E}">
        <p14:creationId xmlns:p14="http://schemas.microsoft.com/office/powerpoint/2010/main" val="1588777065"/>
      </p:ext>
    </p:extLst>
  </p:cSld>
  <p:clrMapOvr>
    <a:masterClrMapping/>
  </p:clrMapOvr>
  <mc:AlternateContent xmlns:mc="http://schemas.openxmlformats.org/markup-compatibility/2006" xmlns:p14="http://schemas.microsoft.com/office/powerpoint/2010/main">
    <mc:Choice Requires="p14">
      <p:transition spd="slow" p14:dur="2000" advTm="85514"/>
    </mc:Choice>
    <mc:Fallback xmlns="">
      <p:transition spd="slow" advTm="85514"/>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3611845-A37C-4DF2-BED1-16F8EBAF6FF4}"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12643" name="Rectangle 2"/>
          <p:cNvSpPr>
            <a:spLocks noGrp="1" noChangeArrowheads="1"/>
          </p:cNvSpPr>
          <p:nvPr>
            <p:ph type="title"/>
          </p:nvPr>
        </p:nvSpPr>
        <p:spPr>
          <a:xfrm>
            <a:off x="304800" y="228600"/>
            <a:ext cx="8686800" cy="914400"/>
          </a:xfrm>
        </p:spPr>
        <p:txBody>
          <a:bodyPr/>
          <a:lstStyle/>
          <a:p>
            <a:pPr algn="l"/>
            <a:r>
              <a:rPr kumimoji="0" lang="en-US" sz="3600" b="0" i="0" u="none" strike="noStrike" kern="0" cap="none" spc="0" normalizeH="0" baseline="0" noProof="0" dirty="0">
                <a:ln>
                  <a:noFill/>
                </a:ln>
                <a:solidFill>
                  <a:srgbClr val="1F497D"/>
                </a:solidFill>
                <a:effectLst/>
                <a:uLnTx/>
                <a:uFillTx/>
                <a:latin typeface="Tahoma"/>
                <a:ea typeface="ＭＳ Ｐゴシック"/>
                <a:cs typeface="+mj-cs"/>
              </a:rPr>
              <a:t>Financing weights (cont.)</a:t>
            </a:r>
            <a:endParaRPr lang="en-US" altLang="en-US" dirty="0">
              <a:solidFill>
                <a:srgbClr val="000099"/>
              </a:solidFill>
            </a:endParaRPr>
          </a:p>
        </p:txBody>
      </p:sp>
      <p:sp>
        <p:nvSpPr>
          <p:cNvPr id="27651" name="Rectangle 3"/>
          <p:cNvSpPr>
            <a:spLocks noGrp="1" noChangeArrowheads="1"/>
          </p:cNvSpPr>
          <p:nvPr>
            <p:ph type="body" idx="1"/>
          </p:nvPr>
        </p:nvSpPr>
        <p:spPr>
          <a:xfrm>
            <a:off x="304800" y="1295400"/>
            <a:ext cx="8458200" cy="5334000"/>
          </a:xfrm>
        </p:spPr>
        <p:txBody>
          <a:bodyPr/>
          <a:lstStyle/>
          <a:p>
            <a:pPr lvl="0" algn="just">
              <a:buClr>
                <a:srgbClr val="002060"/>
              </a:buClr>
              <a:buFont typeface="Arial" panose="020B0604020202020204" pitchFamily="34" charset="0"/>
              <a:buChar char="•"/>
            </a:pPr>
            <a:r>
              <a:rPr lang="en-US" altLang="en-US" sz="2400" b="1" dirty="0" err="1">
                <a:solidFill>
                  <a:srgbClr val="C00000"/>
                </a:solidFill>
              </a:rPr>
              <a:t>MV</a:t>
            </a:r>
            <a:r>
              <a:rPr lang="en-US" altLang="en-US" sz="2400" b="1" baseline="-25000" dirty="0" err="1">
                <a:solidFill>
                  <a:srgbClr val="C00000"/>
                </a:solidFill>
              </a:rPr>
              <a:t>p</a:t>
            </a:r>
            <a:r>
              <a:rPr lang="en-US" altLang="en-US" sz="2400" dirty="0">
                <a:solidFill>
                  <a:srgbClr val="000000"/>
                </a:solidFill>
              </a:rPr>
              <a:t> = the market value of the firm’s equity capital (</a:t>
            </a:r>
            <a:r>
              <a:rPr lang="en-US" altLang="en-US" sz="2400" b="1" dirty="0">
                <a:solidFill>
                  <a:srgbClr val="C00000"/>
                </a:solidFill>
              </a:rPr>
              <a:t>preference</a:t>
            </a:r>
            <a:r>
              <a:rPr lang="en-US" altLang="en-US" sz="2400" dirty="0">
                <a:solidFill>
                  <a:srgbClr val="000000"/>
                </a:solidFill>
              </a:rPr>
              <a:t> shares) (P)</a:t>
            </a:r>
          </a:p>
          <a:p>
            <a:pPr lvl="1" algn="just">
              <a:buClr>
                <a:srgbClr val="002060"/>
              </a:buClr>
              <a:buFont typeface="Arial" panose="020B0604020202020204" pitchFamily="34" charset="0"/>
              <a:buChar char="•"/>
            </a:pPr>
            <a:r>
              <a:rPr lang="en-US" altLang="en-US" dirty="0" err="1">
                <a:solidFill>
                  <a:srgbClr val="000000"/>
                </a:solidFill>
              </a:rPr>
              <a:t>MV</a:t>
            </a:r>
            <a:r>
              <a:rPr lang="en-US" altLang="en-US" baseline="-25000" dirty="0" err="1">
                <a:solidFill>
                  <a:srgbClr val="000000"/>
                </a:solidFill>
              </a:rPr>
              <a:t>p</a:t>
            </a:r>
            <a:r>
              <a:rPr lang="en-US" altLang="en-US" dirty="0">
                <a:solidFill>
                  <a:srgbClr val="000000"/>
                </a:solidFill>
              </a:rPr>
              <a:t> = number of issued shares x current price per share (P</a:t>
            </a:r>
            <a:r>
              <a:rPr lang="en-US" altLang="en-US" baseline="-25000" dirty="0">
                <a:solidFill>
                  <a:srgbClr val="000000"/>
                </a:solidFill>
              </a:rPr>
              <a:t>0</a:t>
            </a:r>
            <a:r>
              <a:rPr lang="en-US" altLang="en-US" dirty="0">
                <a:solidFill>
                  <a:srgbClr val="000000"/>
                </a:solidFill>
              </a:rPr>
              <a:t>)</a:t>
            </a:r>
          </a:p>
          <a:p>
            <a:pPr lvl="1" algn="just">
              <a:buClr>
                <a:srgbClr val="002060"/>
              </a:buClr>
              <a:buFont typeface="Arial" panose="020B0604020202020204" pitchFamily="34" charset="0"/>
              <a:buChar char="•"/>
            </a:pPr>
            <a:endParaRPr lang="en-US" altLang="en-US" dirty="0">
              <a:solidFill>
                <a:srgbClr val="000000"/>
              </a:solidFill>
            </a:endParaRPr>
          </a:p>
          <a:p>
            <a:pPr marL="342900" marR="0" lvl="0" indent="-342900" algn="just" defTabSz="914400" rtl="0" eaLnBrk="0" fontAlgn="base" latinLnBrk="0" hangingPunct="0">
              <a:lnSpc>
                <a:spcPct val="100000"/>
              </a:lnSpc>
              <a:spcBef>
                <a:spcPct val="20000"/>
              </a:spcBef>
              <a:spcAft>
                <a:spcPct val="0"/>
              </a:spcAft>
              <a:buClr>
                <a:srgbClr val="002060"/>
              </a:buClr>
              <a:buSzTx/>
              <a:buFont typeface="Arial" panose="020B0604020202020204" pitchFamily="34" charset="0"/>
              <a:buChar char="•"/>
              <a:tabLst/>
              <a:defRPr/>
            </a:pPr>
            <a:r>
              <a:rPr kumimoji="0" lang="en-US" altLang="en-US" sz="2400" b="1" i="0" u="none" strike="noStrike" kern="0" cap="none" spc="0" normalizeH="0" baseline="0" noProof="0" dirty="0">
                <a:ln>
                  <a:noFill/>
                </a:ln>
                <a:solidFill>
                  <a:srgbClr val="C00000"/>
                </a:solidFill>
                <a:effectLst/>
                <a:uLnTx/>
                <a:uFillTx/>
                <a:latin typeface="Tahoma"/>
                <a:ea typeface="+mn-ea"/>
                <a:cs typeface="+mn-cs"/>
              </a:rPr>
              <a:t>MV</a:t>
            </a:r>
            <a:r>
              <a:rPr kumimoji="0" lang="en-US" altLang="en-US" sz="2400" b="1" i="0" u="none" strike="noStrike" kern="0" cap="none" spc="0" normalizeH="0" baseline="-25000" noProof="0" dirty="0">
                <a:ln>
                  <a:noFill/>
                </a:ln>
                <a:solidFill>
                  <a:srgbClr val="C00000"/>
                </a:solidFill>
                <a:effectLst/>
                <a:uLnTx/>
                <a:uFillTx/>
                <a:latin typeface="Tahoma"/>
                <a:ea typeface="+mn-ea"/>
                <a:cs typeface="+mn-cs"/>
              </a:rPr>
              <a:t>s</a:t>
            </a:r>
            <a:r>
              <a:rPr kumimoji="0" lang="en-US" altLang="en-US" sz="2400" b="0" i="0" u="none" strike="noStrike" kern="0" cap="none" spc="0" normalizeH="0" baseline="0" noProof="0" dirty="0">
                <a:ln>
                  <a:noFill/>
                </a:ln>
                <a:solidFill>
                  <a:srgbClr val="000000"/>
                </a:solidFill>
                <a:effectLst/>
                <a:uLnTx/>
                <a:uFillTx/>
                <a:latin typeface="Tahoma"/>
                <a:ea typeface="+mn-ea"/>
                <a:cs typeface="+mn-cs"/>
              </a:rPr>
              <a:t> or </a:t>
            </a:r>
            <a:r>
              <a:rPr kumimoji="0" lang="en-US" altLang="en-US" sz="2400" b="1" i="0" u="none" strike="noStrike" kern="0" cap="none" spc="0" normalizeH="0" baseline="0" noProof="0" dirty="0" err="1">
                <a:ln>
                  <a:noFill/>
                </a:ln>
                <a:solidFill>
                  <a:srgbClr val="C00000"/>
                </a:solidFill>
                <a:effectLst/>
                <a:uLnTx/>
                <a:uFillTx/>
                <a:latin typeface="Tahoma"/>
                <a:ea typeface="+mn-ea"/>
                <a:cs typeface="+mn-cs"/>
              </a:rPr>
              <a:t>MV</a:t>
            </a:r>
            <a:r>
              <a:rPr kumimoji="0" lang="en-US" altLang="en-US" sz="2400" b="1" i="0" u="none" strike="noStrike" kern="0" cap="none" spc="0" normalizeH="0" baseline="-25000" noProof="0" dirty="0" err="1">
                <a:ln>
                  <a:noFill/>
                </a:ln>
                <a:solidFill>
                  <a:srgbClr val="C00000"/>
                </a:solidFill>
                <a:effectLst/>
                <a:uLnTx/>
                <a:uFillTx/>
                <a:latin typeface="Tahoma"/>
                <a:ea typeface="+mn-ea"/>
                <a:cs typeface="+mn-cs"/>
              </a:rPr>
              <a:t>n</a:t>
            </a:r>
            <a:r>
              <a:rPr kumimoji="0" lang="en-US" altLang="en-US" sz="2400" b="0" i="0" u="none" strike="noStrike" kern="0" cap="none" spc="0" normalizeH="0" baseline="0" noProof="0" dirty="0">
                <a:ln>
                  <a:noFill/>
                </a:ln>
                <a:solidFill>
                  <a:srgbClr val="000000"/>
                </a:solidFill>
                <a:effectLst/>
                <a:uLnTx/>
                <a:uFillTx/>
                <a:latin typeface="Tahoma"/>
                <a:ea typeface="+mn-ea"/>
                <a:cs typeface="+mn-cs"/>
              </a:rPr>
              <a:t>= the market value of the firm’s equity capital (</a:t>
            </a:r>
            <a:r>
              <a:rPr kumimoji="0" lang="en-US" altLang="en-US" sz="2400" b="1" i="0" u="none" strike="noStrike" kern="0" cap="none" spc="0" normalizeH="0" baseline="0" noProof="0" dirty="0">
                <a:ln>
                  <a:noFill/>
                </a:ln>
                <a:solidFill>
                  <a:srgbClr val="C00000"/>
                </a:solidFill>
                <a:effectLst/>
                <a:uLnTx/>
                <a:uFillTx/>
                <a:latin typeface="Tahoma"/>
                <a:ea typeface="+mn-ea"/>
                <a:cs typeface="+mn-cs"/>
              </a:rPr>
              <a:t>ordinary</a:t>
            </a:r>
            <a:r>
              <a:rPr kumimoji="0" lang="en-US" altLang="en-US" sz="2400" b="0" i="0" u="none" strike="noStrike" kern="0" cap="none" spc="0" normalizeH="0" baseline="0" noProof="0" dirty="0">
                <a:ln>
                  <a:noFill/>
                </a:ln>
                <a:solidFill>
                  <a:srgbClr val="000000"/>
                </a:solidFill>
                <a:effectLst/>
                <a:uLnTx/>
                <a:uFillTx/>
                <a:latin typeface="Tahoma"/>
                <a:ea typeface="+mn-ea"/>
                <a:cs typeface="+mn-cs"/>
              </a:rPr>
              <a:t> shares) (E)</a:t>
            </a:r>
          </a:p>
          <a:p>
            <a:pPr marL="742950" marR="0" lvl="1" indent="-285750" algn="just" defTabSz="914400" rtl="0" eaLnBrk="0" fontAlgn="base" latinLnBrk="0" hangingPunct="0">
              <a:lnSpc>
                <a:spcPct val="100000"/>
              </a:lnSpc>
              <a:spcBef>
                <a:spcPct val="20000"/>
              </a:spcBef>
              <a:spcAft>
                <a:spcPct val="0"/>
              </a:spcAft>
              <a:buClr>
                <a:srgbClr val="002060"/>
              </a:buClr>
              <a:buSzTx/>
              <a:buFont typeface="Arial" panose="020B0604020202020204" pitchFamily="34" charset="0"/>
              <a:buChar char="•"/>
              <a:tabLst/>
              <a:defRPr/>
            </a:pPr>
            <a:r>
              <a:rPr kumimoji="0" lang="en-US" altLang="en-US" sz="2400" b="0" i="0" u="none" strike="noStrike" kern="0" cap="none" spc="0" normalizeH="0" baseline="0" noProof="0" dirty="0">
                <a:ln>
                  <a:noFill/>
                </a:ln>
                <a:solidFill>
                  <a:srgbClr val="000000"/>
                </a:solidFill>
                <a:effectLst/>
                <a:uLnTx/>
                <a:uFillTx/>
                <a:latin typeface="Tahoma"/>
              </a:rPr>
              <a:t>MV</a:t>
            </a:r>
            <a:r>
              <a:rPr kumimoji="0" lang="en-US" altLang="en-US" sz="2400" b="0" i="0" u="none" strike="noStrike" kern="0" cap="none" spc="0" normalizeH="0" baseline="-25000" noProof="0" dirty="0">
                <a:ln>
                  <a:noFill/>
                </a:ln>
                <a:solidFill>
                  <a:srgbClr val="000000"/>
                </a:solidFill>
                <a:effectLst/>
                <a:uLnTx/>
                <a:uFillTx/>
                <a:latin typeface="Tahoma"/>
              </a:rPr>
              <a:t>s</a:t>
            </a:r>
            <a:r>
              <a:rPr kumimoji="0" lang="en-US" altLang="en-US" sz="2400" b="0" i="0" u="none" strike="noStrike" kern="0" cap="none" spc="0" normalizeH="0" baseline="0" noProof="0" dirty="0">
                <a:ln>
                  <a:noFill/>
                </a:ln>
                <a:solidFill>
                  <a:srgbClr val="000000"/>
                </a:solidFill>
                <a:effectLst/>
                <a:uLnTx/>
                <a:uFillTx/>
                <a:latin typeface="Tahoma"/>
              </a:rPr>
              <a:t> = number of issued shares x current price per share (P</a:t>
            </a:r>
            <a:r>
              <a:rPr kumimoji="0" lang="en-US" altLang="en-US" sz="2400" b="0" i="0" u="none" strike="noStrike" kern="0" cap="none" spc="0" normalizeH="0" baseline="-25000" noProof="0" dirty="0">
                <a:ln>
                  <a:noFill/>
                </a:ln>
                <a:solidFill>
                  <a:srgbClr val="000000"/>
                </a:solidFill>
                <a:effectLst/>
                <a:uLnTx/>
                <a:uFillTx/>
                <a:latin typeface="Tahoma"/>
              </a:rPr>
              <a:t>0</a:t>
            </a:r>
            <a:r>
              <a:rPr kumimoji="0" lang="en-US" altLang="en-US" sz="2400" b="0" i="0" u="none" strike="noStrike" kern="0" cap="none" spc="0" normalizeH="0" baseline="0" noProof="0" dirty="0">
                <a:ln>
                  <a:noFill/>
                </a:ln>
                <a:solidFill>
                  <a:srgbClr val="000000"/>
                </a:solidFill>
                <a:effectLst/>
                <a:uLnTx/>
                <a:uFillTx/>
                <a:latin typeface="Tahoma"/>
              </a:rPr>
              <a:t>)</a:t>
            </a:r>
          </a:p>
          <a:p>
            <a:pPr marL="0" indent="0" algn="just">
              <a:buClr>
                <a:srgbClr val="002060"/>
              </a:buClr>
              <a:buNone/>
              <a:defRPr/>
            </a:pPr>
            <a:endParaRPr lang="en-US" altLang="en-US" sz="1800" dirty="0"/>
          </a:p>
          <a:p>
            <a:pPr marL="0" indent="0" algn="just">
              <a:buClr>
                <a:srgbClr val="002060"/>
              </a:buClr>
              <a:buNone/>
              <a:defRPr/>
            </a:pPr>
            <a:r>
              <a:rPr lang="en-US" altLang="en-US" sz="2400" dirty="0"/>
              <a:t>Note: Remember, these 3 weights (or even 2 of them if a firm uses debt and ordinary share capital only) could be GIVEN</a:t>
            </a:r>
          </a:p>
          <a:p>
            <a:pPr marL="342900" marR="0" lvl="0" indent="-342900" algn="just" defTabSz="914400" rtl="0" eaLnBrk="0" fontAlgn="base" latinLnBrk="0" hangingPunct="0">
              <a:lnSpc>
                <a:spcPct val="100000"/>
              </a:lnSpc>
              <a:spcBef>
                <a:spcPct val="20000"/>
              </a:spcBef>
              <a:spcAft>
                <a:spcPct val="0"/>
              </a:spcAft>
              <a:buClr>
                <a:srgbClr val="002060"/>
              </a:buClr>
              <a:buSzTx/>
              <a:buFont typeface="Arial" panose="020B0604020202020204" pitchFamily="34" charset="0"/>
              <a:buChar char="•"/>
              <a:tabLst/>
              <a:defRPr/>
            </a:pPr>
            <a:endParaRPr kumimoji="0" lang="en-US" altLang="en-US" sz="2400" b="1" i="0" u="none" strike="noStrike" kern="0" cap="none" spc="0" normalizeH="0" baseline="0" noProof="0" dirty="0">
              <a:ln>
                <a:noFill/>
              </a:ln>
              <a:solidFill>
                <a:srgbClr val="C00000"/>
              </a:solidFill>
              <a:effectLst/>
              <a:uLnTx/>
              <a:uFillTx/>
              <a:latin typeface="Tahoma"/>
              <a:ea typeface="+mn-ea"/>
              <a:cs typeface="+mn-cs"/>
            </a:endParaRPr>
          </a:p>
          <a:p>
            <a:pPr lvl="1" algn="just">
              <a:buClr>
                <a:srgbClr val="002060"/>
              </a:buClr>
              <a:buFont typeface="Arial" panose="020B0604020202020204" pitchFamily="34" charset="0"/>
              <a:buChar char="•"/>
            </a:pPr>
            <a:endParaRPr lang="en-US" altLang="en-US" dirty="0"/>
          </a:p>
        </p:txBody>
      </p:sp>
    </p:spTree>
    <p:extLst>
      <p:ext uri="{BB962C8B-B14F-4D97-AF65-F5344CB8AC3E}">
        <p14:creationId xmlns:p14="http://schemas.microsoft.com/office/powerpoint/2010/main" val="2766990539"/>
      </p:ext>
    </p:extLst>
  </p:cSld>
  <p:clrMapOvr>
    <a:masterClrMapping/>
  </p:clrMapOvr>
  <mc:AlternateContent xmlns:mc="http://schemas.openxmlformats.org/markup-compatibility/2006" xmlns:p14="http://schemas.microsoft.com/office/powerpoint/2010/main">
    <mc:Choice Requires="p14">
      <p:transition spd="slow" p14:dur="2000" advTm="40369"/>
    </mc:Choice>
    <mc:Fallback xmlns="">
      <p:transition spd="slow" advTm="40369"/>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3611845-A37C-4DF2-BED1-16F8EBAF6FF4}"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12643" name="Rectangle 2"/>
          <p:cNvSpPr>
            <a:spLocks noGrp="1" noChangeArrowheads="1"/>
          </p:cNvSpPr>
          <p:nvPr>
            <p:ph type="title"/>
          </p:nvPr>
        </p:nvSpPr>
        <p:spPr>
          <a:xfrm>
            <a:off x="152400" y="152400"/>
            <a:ext cx="8763000" cy="934914"/>
          </a:xfrm>
        </p:spPr>
        <p:txBody>
          <a:bodyPr/>
          <a:lstStyle/>
          <a:p>
            <a:pPr algn="l"/>
            <a:r>
              <a:rPr lang="en-US" altLang="en-US" dirty="0">
                <a:solidFill>
                  <a:srgbClr val="000099"/>
                </a:solidFill>
              </a:rPr>
              <a:t> </a:t>
            </a:r>
            <a:r>
              <a:rPr kumimoji="0" lang="en-US" sz="3600" b="0" i="0" u="none" strike="noStrike" kern="0" cap="none" spc="0" normalizeH="0" baseline="0" noProof="0" dirty="0">
                <a:ln>
                  <a:noFill/>
                </a:ln>
                <a:solidFill>
                  <a:srgbClr val="1F497D"/>
                </a:solidFill>
                <a:effectLst/>
                <a:uLnTx/>
                <a:uFillTx/>
                <a:latin typeface="Tahoma"/>
                <a:ea typeface="ＭＳ Ｐゴシック"/>
                <a:cs typeface="+mj-cs"/>
              </a:rPr>
              <a:t>Financing weights (cont.)</a:t>
            </a:r>
            <a:endParaRPr lang="en-US" altLang="en-US" dirty="0">
              <a:solidFill>
                <a:srgbClr val="000099"/>
              </a:solidFill>
            </a:endParaRPr>
          </a:p>
        </p:txBody>
      </p:sp>
      <p:sp>
        <p:nvSpPr>
          <p:cNvPr id="27651" name="Rectangle 3"/>
          <p:cNvSpPr>
            <a:spLocks noGrp="1" noChangeArrowheads="1"/>
          </p:cNvSpPr>
          <p:nvPr>
            <p:ph type="body" idx="1"/>
          </p:nvPr>
        </p:nvSpPr>
        <p:spPr>
          <a:xfrm>
            <a:off x="304800" y="973015"/>
            <a:ext cx="8458200" cy="5542085"/>
          </a:xfrm>
        </p:spPr>
        <p:txBody>
          <a:bodyPr/>
          <a:lstStyle/>
          <a:p>
            <a:pPr algn="just">
              <a:buClr>
                <a:srgbClr val="002060"/>
              </a:buClr>
              <a:buFont typeface="Arial" panose="020B0604020202020204" pitchFamily="34" charset="0"/>
              <a:buChar char="•"/>
            </a:pPr>
            <a:r>
              <a:rPr lang="en-US" altLang="en-US" sz="2400" dirty="0"/>
              <a:t>Find the </a:t>
            </a:r>
            <a:r>
              <a:rPr lang="en-US" altLang="en-US" sz="2400" b="1" dirty="0">
                <a:solidFill>
                  <a:srgbClr val="C00000"/>
                </a:solidFill>
              </a:rPr>
              <a:t>combined (total) market value</a:t>
            </a:r>
            <a:r>
              <a:rPr lang="en-US" altLang="en-US" sz="2400" dirty="0">
                <a:solidFill>
                  <a:srgbClr val="C00000"/>
                </a:solidFill>
              </a:rPr>
              <a:t> </a:t>
            </a:r>
            <a:r>
              <a:rPr lang="en-US" altLang="en-US" sz="2400" dirty="0"/>
              <a:t>of all the equity (preference and ordinary shares) and debt (V)</a:t>
            </a:r>
          </a:p>
          <a:p>
            <a:pPr algn="just">
              <a:buClr>
                <a:srgbClr val="002060"/>
              </a:buClr>
              <a:buFont typeface="Arial" panose="020B0604020202020204" pitchFamily="34" charset="0"/>
              <a:buChar char="•"/>
            </a:pPr>
            <a:r>
              <a:rPr lang="en-US" altLang="en-US" sz="2400" dirty="0"/>
              <a:t>Then calculate the % of the total capital represented by the different capital sources (both equity sources and debt):</a:t>
            </a:r>
          </a:p>
          <a:p>
            <a:pPr lvl="1" algn="just">
              <a:buClr>
                <a:srgbClr val="002060"/>
              </a:buClr>
              <a:buFont typeface="Wingdings" panose="05000000000000000000" pitchFamily="2" charset="2"/>
              <a:buChar char="§"/>
            </a:pPr>
            <a:r>
              <a:rPr lang="en-US" altLang="en-US" dirty="0"/>
              <a:t>D/V to get debt %; E/V to get ordinary shares %; P/V to get preference shares %</a:t>
            </a:r>
          </a:p>
          <a:p>
            <a:pPr lvl="1" algn="just">
              <a:buClr>
                <a:srgbClr val="002060"/>
              </a:buClr>
              <a:buFont typeface="Wingdings" panose="05000000000000000000" pitchFamily="2" charset="2"/>
              <a:buChar char="§"/>
            </a:pPr>
            <a:r>
              <a:rPr lang="en-US" altLang="en-US" dirty="0"/>
              <a:t>D/V + P/V + E/V</a:t>
            </a:r>
            <a:r>
              <a:rPr lang="en-US" altLang="en-US" b="1" dirty="0">
                <a:solidFill>
                  <a:srgbClr val="C00000"/>
                </a:solidFill>
              </a:rPr>
              <a:t> = 100%</a:t>
            </a:r>
          </a:p>
          <a:p>
            <a:pPr lvl="1" algn="just">
              <a:buClr>
                <a:srgbClr val="002060"/>
              </a:buClr>
              <a:buFont typeface="Wingdings" panose="05000000000000000000" pitchFamily="2" charset="2"/>
              <a:buChar char="§"/>
            </a:pPr>
            <a:r>
              <a:rPr lang="en-US" altLang="en-US" dirty="0"/>
              <a:t>The %’s are called the capital structure weights</a:t>
            </a:r>
          </a:p>
          <a:p>
            <a:pPr lvl="1" algn="just">
              <a:buClr>
                <a:srgbClr val="002060"/>
              </a:buClr>
              <a:buFont typeface="Arial" panose="020B0604020202020204" pitchFamily="34" charset="0"/>
              <a:buChar char="•"/>
            </a:pPr>
            <a:endParaRPr lang="en-US" altLang="en-US" sz="1200" dirty="0"/>
          </a:p>
          <a:p>
            <a:pPr marL="360363" lvl="1" indent="-360363" algn="just">
              <a:buClr>
                <a:srgbClr val="002060"/>
              </a:buClr>
              <a:buFont typeface="Arial" panose="020B0604020202020204" pitchFamily="34" charset="0"/>
              <a:buChar char="•"/>
            </a:pPr>
            <a:r>
              <a:rPr lang="en-US" altLang="en-US" dirty="0"/>
              <a:t>Note: if D/V = 30% and P/V = 40%, then E/V must be 30%, etc.</a:t>
            </a:r>
          </a:p>
          <a:p>
            <a:pPr marL="360363" lvl="1" indent="-360363" algn="just">
              <a:buClr>
                <a:srgbClr val="002060"/>
              </a:buClr>
              <a:buFont typeface="Arial" panose="020B0604020202020204" pitchFamily="34" charset="0"/>
              <a:buChar char="•"/>
            </a:pPr>
            <a:r>
              <a:rPr lang="en-US" altLang="en-US" dirty="0"/>
              <a:t>Note: Let’s say a firm has no preference share capital and D/V = 60%, then E/V must be 40%, etc.</a:t>
            </a:r>
          </a:p>
          <a:p>
            <a:pPr lvl="1" algn="just">
              <a:buClr>
                <a:srgbClr val="002060"/>
              </a:buClr>
              <a:buFont typeface="Arial" panose="020B0604020202020204" pitchFamily="34" charset="0"/>
              <a:buChar char="•"/>
            </a:pPr>
            <a:endParaRPr lang="en-US" altLang="en-US" dirty="0"/>
          </a:p>
        </p:txBody>
      </p:sp>
    </p:spTree>
    <p:extLst>
      <p:ext uri="{BB962C8B-B14F-4D97-AF65-F5344CB8AC3E}">
        <p14:creationId xmlns:p14="http://schemas.microsoft.com/office/powerpoint/2010/main" val="4086143653"/>
      </p:ext>
    </p:extLst>
  </p:cSld>
  <p:clrMapOvr>
    <a:masterClrMapping/>
  </p:clrMapOvr>
  <mc:AlternateContent xmlns:mc="http://schemas.openxmlformats.org/markup-compatibility/2006" xmlns:p14="http://schemas.microsoft.com/office/powerpoint/2010/main">
    <mc:Choice Requires="p14">
      <p:transition spd="slow" p14:dur="2000" advTm="19377"/>
    </mc:Choice>
    <mc:Fallback xmlns="">
      <p:transition spd="slow" advTm="19377"/>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61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C7DCD64-7DB8-4377-9713-C6F94F019DA7}"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11619" name="Rectangle 2"/>
          <p:cNvSpPr>
            <a:spLocks noGrp="1" noChangeArrowheads="1"/>
          </p:cNvSpPr>
          <p:nvPr>
            <p:ph type="title"/>
          </p:nvPr>
        </p:nvSpPr>
        <p:spPr>
          <a:xfrm>
            <a:off x="304800" y="9525"/>
            <a:ext cx="8839199" cy="1143000"/>
          </a:xfrm>
        </p:spPr>
        <p:txBody>
          <a:bodyPr/>
          <a:lstStyle/>
          <a:p>
            <a:pPr algn="l"/>
            <a:r>
              <a:rPr kumimoji="0" lang="en-US" sz="3600" b="0" i="0" u="none" strike="noStrike" kern="0" cap="none" spc="0" normalizeH="0" baseline="0" noProof="0" dirty="0">
                <a:ln>
                  <a:noFill/>
                </a:ln>
                <a:solidFill>
                  <a:srgbClr val="1F497D"/>
                </a:solidFill>
                <a:effectLst/>
                <a:uLnTx/>
                <a:uFillTx/>
                <a:latin typeface="Tahoma"/>
                <a:ea typeface="ＭＳ Ｐゴシック"/>
                <a:cs typeface="+mj-cs"/>
              </a:rPr>
              <a:t>Component costs</a:t>
            </a:r>
            <a:endParaRPr lang="en-US" altLang="en-US" sz="3600" dirty="0">
              <a:solidFill>
                <a:srgbClr val="002060"/>
              </a:solidFill>
            </a:endParaRPr>
          </a:p>
        </p:txBody>
      </p:sp>
      <p:sp>
        <p:nvSpPr>
          <p:cNvPr id="68611" name="Rectangle 3"/>
          <p:cNvSpPr>
            <a:spLocks noGrp="1" noChangeArrowheads="1"/>
          </p:cNvSpPr>
          <p:nvPr>
            <p:ph type="body" idx="1"/>
          </p:nvPr>
        </p:nvSpPr>
        <p:spPr>
          <a:xfrm>
            <a:off x="228600" y="1066800"/>
            <a:ext cx="8686800" cy="5257800"/>
          </a:xfrm>
        </p:spPr>
        <p: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lang="en-ZA" altLang="en-US" sz="2400" b="1" dirty="0"/>
              <a:t>   WACC =</a:t>
            </a:r>
            <a:r>
              <a:rPr kumimoji="0" lang="en-US" sz="2400" b="0" i="0" u="none" strike="noStrike" kern="0" cap="none" spc="0" normalizeH="0" baseline="0" noProof="0" dirty="0">
                <a:ln>
                  <a:noFill/>
                </a:ln>
                <a:effectLst/>
                <a:uLnTx/>
                <a:uFillTx/>
                <a:latin typeface="Tahoma"/>
                <a:ea typeface="Times New Roman" panose="02020603050405020304" pitchFamily="18" charset="0"/>
                <a:cs typeface="+mn-cs"/>
              </a:rPr>
              <a:t> </a:t>
            </a:r>
            <a:r>
              <a:rPr kumimoji="0" lang="en-US" sz="2400" b="1" i="0" u="none" strike="noStrike" kern="0" cap="none" spc="0" normalizeH="0" baseline="0" noProof="0" dirty="0">
                <a:ln>
                  <a:noFill/>
                </a:ln>
                <a:effectLst/>
                <a:uLnTx/>
                <a:uFillTx/>
                <a:latin typeface="Tahoma"/>
                <a:ea typeface="Times New Roman" panose="02020603050405020304" pitchFamily="18" charset="0"/>
                <a:cs typeface="+mn-cs"/>
              </a:rPr>
              <a:t>[</a:t>
            </a:r>
            <a:r>
              <a:rPr kumimoji="0" lang="en-US" sz="2400" b="1" i="0" u="none" strike="noStrike" kern="0" cap="none" spc="0" normalizeH="0" baseline="0" noProof="0" dirty="0">
                <a:ln>
                  <a:noFill/>
                </a:ln>
                <a:effectLst/>
                <a:highlight>
                  <a:srgbClr val="00FF00"/>
                </a:highlight>
                <a:uLnTx/>
                <a:uFillTx/>
                <a:latin typeface="Tahoma"/>
                <a:ea typeface="Times New Roman" panose="02020603050405020304" pitchFamily="18" charset="0"/>
                <a:cs typeface="+mn-cs"/>
              </a:rPr>
              <a:t>(</a:t>
            </a:r>
            <a:r>
              <a:rPr kumimoji="0" lang="en-US" sz="2400" b="1" i="0" u="none" strike="noStrike" kern="0" cap="none" spc="0" normalizeH="0" baseline="0" noProof="0" dirty="0">
                <a:ln>
                  <a:noFill/>
                </a:ln>
                <a:solidFill>
                  <a:prstClr val="black"/>
                </a:solidFill>
                <a:effectLst/>
                <a:highlight>
                  <a:srgbClr val="00FF00"/>
                </a:highlight>
                <a:uLnTx/>
                <a:uFillTx/>
                <a:latin typeface="Tahoma"/>
                <a:ea typeface="Times New Roman" panose="02020603050405020304" pitchFamily="18" charset="0"/>
                <a:cs typeface="+mn-cs"/>
              </a:rPr>
              <a:t>D/V)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x </a:t>
            </a:r>
            <a:r>
              <a:rPr kumimoji="0" lang="en-ZA" sz="2400" b="1" i="0" u="none" strike="noStrike" kern="0" cap="none" spc="0" normalizeH="0" baseline="0" noProof="0" dirty="0">
                <a:ln>
                  <a:noFill/>
                </a:ln>
                <a:solidFill>
                  <a:prstClr val="black"/>
                </a:solidFill>
                <a:effectLst/>
                <a:highlight>
                  <a:srgbClr val="00FFFF"/>
                </a:highlight>
                <a:uLnTx/>
                <a:uFillTx/>
                <a:latin typeface="Tahoma"/>
                <a:ea typeface="Times New Roman" panose="02020603050405020304" pitchFamily="18" charset="0"/>
                <a:cs typeface="+mn-cs"/>
              </a:rPr>
              <a:t>k</a:t>
            </a:r>
            <a:r>
              <a:rPr kumimoji="0" lang="en-ZA" sz="2400" b="1" i="1" u="none" strike="noStrike" kern="0" cap="none" spc="0" normalizeH="0" baseline="-25000" noProof="0" dirty="0">
                <a:ln>
                  <a:noFill/>
                </a:ln>
                <a:solidFill>
                  <a:prstClr val="black"/>
                </a:solidFill>
                <a:effectLst/>
                <a:highlight>
                  <a:srgbClr val="00FFFF"/>
                </a:highlight>
                <a:uLnTx/>
                <a:uFillTx/>
                <a:latin typeface="Tahoma"/>
                <a:ea typeface="Times New Roman" panose="02020603050405020304" pitchFamily="18" charset="0"/>
                <a:cs typeface="+mn-cs"/>
              </a:rPr>
              <a:t>i</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 + [</a:t>
            </a:r>
            <a:r>
              <a:rPr kumimoji="0" lang="en-US" sz="2400" b="1" i="0" u="none" strike="noStrike" kern="0" cap="none" spc="0" normalizeH="0" baseline="0" noProof="0" dirty="0">
                <a:ln>
                  <a:noFill/>
                </a:ln>
                <a:solidFill>
                  <a:prstClr val="black"/>
                </a:solidFill>
                <a:effectLst/>
                <a:highlight>
                  <a:srgbClr val="00FF00"/>
                </a:highlight>
                <a:uLnTx/>
                <a:uFillTx/>
                <a:latin typeface="Tahoma"/>
                <a:ea typeface="Times New Roman" panose="02020603050405020304" pitchFamily="18" charset="0"/>
                <a:cs typeface="+mn-cs"/>
              </a:rPr>
              <a:t>(P/V)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x </a:t>
            </a:r>
            <a:r>
              <a:rPr kumimoji="0" lang="en-US" sz="2400" b="1" i="0" u="none" strike="noStrike" kern="0" cap="none" spc="0" normalizeH="0" baseline="0" noProof="0" dirty="0" err="1">
                <a:ln>
                  <a:noFill/>
                </a:ln>
                <a:solidFill>
                  <a:prstClr val="black"/>
                </a:solidFill>
                <a:effectLst/>
                <a:highlight>
                  <a:srgbClr val="00FFFF"/>
                </a:highlight>
                <a:uLnTx/>
                <a:uFillTx/>
                <a:latin typeface="Tahoma"/>
                <a:ea typeface="Times New Roman" panose="02020603050405020304" pitchFamily="18" charset="0"/>
                <a:cs typeface="+mn-cs"/>
              </a:rPr>
              <a:t>k</a:t>
            </a:r>
            <a:r>
              <a:rPr kumimoji="0" lang="en-US" sz="2400" b="1" i="0" u="none" strike="noStrike" kern="0" cap="none" spc="0" normalizeH="0" baseline="-25000" noProof="0" dirty="0" err="1">
                <a:ln>
                  <a:noFill/>
                </a:ln>
                <a:solidFill>
                  <a:prstClr val="black"/>
                </a:solidFill>
                <a:effectLst/>
                <a:highlight>
                  <a:srgbClr val="00FFFF"/>
                </a:highlight>
                <a:uLnTx/>
                <a:uFillTx/>
                <a:latin typeface="Tahoma"/>
                <a:ea typeface="Times New Roman" panose="02020603050405020304" pitchFamily="18" charset="0"/>
                <a:cs typeface="+mn-cs"/>
              </a:rPr>
              <a:t>p</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 + [</a:t>
            </a:r>
            <a:r>
              <a:rPr kumimoji="0" lang="en-US" sz="2400" b="1" i="0" u="none" strike="noStrike" kern="0" cap="none" spc="0" normalizeH="0" baseline="0" noProof="0" dirty="0">
                <a:ln>
                  <a:noFill/>
                </a:ln>
                <a:solidFill>
                  <a:prstClr val="black"/>
                </a:solidFill>
                <a:effectLst/>
                <a:highlight>
                  <a:srgbClr val="00FF00"/>
                </a:highlight>
                <a:uLnTx/>
                <a:uFillTx/>
                <a:latin typeface="Tahoma"/>
                <a:ea typeface="Times New Roman" panose="02020603050405020304" pitchFamily="18" charset="0"/>
                <a:cs typeface="+mn-cs"/>
              </a:rPr>
              <a:t>(E/V)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x </a:t>
            </a:r>
            <a:r>
              <a:rPr kumimoji="0" lang="en-US" sz="2400" b="1" i="0" u="none" strike="noStrike" kern="0" cap="none" spc="0" normalizeH="0" baseline="0" noProof="0" dirty="0" err="1">
                <a:ln>
                  <a:noFill/>
                </a:ln>
                <a:solidFill>
                  <a:prstClr val="black"/>
                </a:solidFill>
                <a:effectLst/>
                <a:highlight>
                  <a:srgbClr val="00FFFF"/>
                </a:highlight>
                <a:uLnTx/>
                <a:uFillTx/>
                <a:latin typeface="Tahoma"/>
                <a:ea typeface="Times New Roman" panose="02020603050405020304" pitchFamily="18" charset="0"/>
                <a:cs typeface="+mn-cs"/>
              </a:rPr>
              <a:t>k</a:t>
            </a:r>
            <a:r>
              <a:rPr kumimoji="0" lang="en-US" sz="2400" b="1" i="0" u="none" strike="noStrike" kern="0" cap="none" spc="0" normalizeH="0" baseline="-25000" noProof="0" dirty="0" err="1">
                <a:ln>
                  <a:noFill/>
                </a:ln>
                <a:solidFill>
                  <a:prstClr val="black"/>
                </a:solidFill>
                <a:effectLst/>
                <a:highlight>
                  <a:srgbClr val="00FFFF"/>
                </a:highlight>
                <a:uLnTx/>
                <a:uFillTx/>
                <a:latin typeface="Tahoma"/>
                <a:ea typeface="Times New Roman" panose="02020603050405020304" pitchFamily="18" charset="0"/>
                <a:cs typeface="+mn-cs"/>
              </a:rPr>
              <a:t>n</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a:t>
            </a:r>
          </a:p>
          <a:p>
            <a:pPr algn="just">
              <a:buClr>
                <a:srgbClr val="002060"/>
              </a:buClr>
              <a:buFont typeface="Arial" panose="020B0604020202020204" pitchFamily="34" charset="0"/>
              <a:buChar char="•"/>
            </a:pPr>
            <a:endParaRPr lang="en-US" altLang="en-US" sz="2400" dirty="0"/>
          </a:p>
          <a:p>
            <a:pPr algn="just">
              <a:buClr>
                <a:srgbClr val="002060"/>
              </a:buClr>
              <a:buFont typeface="Arial" panose="020B0604020202020204" pitchFamily="34" charset="0"/>
              <a:buChar char="•"/>
            </a:pPr>
            <a:r>
              <a:rPr lang="en-US" altLang="en-US" sz="2400" dirty="0"/>
              <a:t>We now know the weights of the capital sources (or capital structure)</a:t>
            </a:r>
          </a:p>
          <a:p>
            <a:pPr lvl="1" algn="just">
              <a:buClr>
                <a:srgbClr val="002060"/>
              </a:buClr>
              <a:buFont typeface="Arial" panose="020B0604020202020204" pitchFamily="34" charset="0"/>
              <a:buChar char="•"/>
            </a:pPr>
            <a:r>
              <a:rPr lang="en-US" altLang="en-US" dirty="0"/>
              <a:t>The % of each capital source</a:t>
            </a:r>
          </a:p>
          <a:p>
            <a:pPr lvl="1" algn="just">
              <a:buClr>
                <a:srgbClr val="002060"/>
              </a:buClr>
              <a:buFont typeface="Arial" panose="020B0604020202020204" pitchFamily="34" charset="0"/>
              <a:buChar char="•"/>
            </a:pPr>
            <a:endParaRPr lang="en-US" altLang="en-US" dirty="0"/>
          </a:p>
          <a:p>
            <a:pPr algn="just">
              <a:buClr>
                <a:srgbClr val="002060"/>
              </a:buClr>
              <a:buFont typeface="Arial" panose="020B0604020202020204" pitchFamily="34" charset="0"/>
              <a:buChar char="•"/>
            </a:pPr>
            <a:r>
              <a:rPr lang="en-US" altLang="en-US" sz="2400" dirty="0"/>
              <a:t>Now we need to calculate the different capital sources’ </a:t>
            </a:r>
            <a:r>
              <a:rPr lang="en-US" altLang="en-US" sz="2400" dirty="0">
                <a:highlight>
                  <a:srgbClr val="00FFFF"/>
                </a:highlight>
              </a:rPr>
              <a:t>costs</a:t>
            </a:r>
            <a:r>
              <a:rPr lang="en-US" altLang="en-US" sz="2400" dirty="0"/>
              <a:t> </a:t>
            </a:r>
          </a:p>
          <a:p>
            <a:pPr lvl="1" algn="just">
              <a:buClr>
                <a:srgbClr val="002060"/>
              </a:buClr>
              <a:buFont typeface="Wingdings" panose="05000000000000000000" pitchFamily="2" charset="2"/>
              <a:buChar char="§"/>
            </a:pPr>
            <a:r>
              <a:rPr lang="en-US" altLang="en-US" dirty="0"/>
              <a:t>Let’s start with the cost of ordinary shares (most “difficult” one)</a:t>
            </a:r>
          </a:p>
          <a:p>
            <a:pPr algn="just">
              <a:buClr>
                <a:srgbClr val="002060"/>
              </a:buClr>
              <a:buFont typeface="Wingdings" panose="05000000000000000000" pitchFamily="2" charset="2"/>
              <a:buChar char="§"/>
            </a:pPr>
            <a:endParaRPr lang="en-US" altLang="en-US" sz="2400" dirty="0"/>
          </a:p>
          <a:p>
            <a:pPr marL="0" indent="0" algn="just">
              <a:buClr>
                <a:srgbClr val="002060"/>
              </a:buClr>
              <a:buNone/>
            </a:pPr>
            <a:r>
              <a:rPr lang="en-US" altLang="en-US" sz="2400" dirty="0"/>
              <a:t>[Thereafter we can combine the info to calculate the WACC] </a:t>
            </a:r>
          </a:p>
          <a:p>
            <a:pPr algn="just"/>
            <a:endParaRPr lang="en-US" altLang="en-US" dirty="0"/>
          </a:p>
        </p:txBody>
      </p:sp>
    </p:spTree>
    <p:extLst>
      <p:ext uri="{BB962C8B-B14F-4D97-AF65-F5344CB8AC3E}">
        <p14:creationId xmlns:p14="http://schemas.microsoft.com/office/powerpoint/2010/main" val="2374387754"/>
      </p:ext>
    </p:extLst>
  </p:cSld>
  <p:clrMapOvr>
    <a:masterClrMapping/>
  </p:clrMapOvr>
  <mc:AlternateContent xmlns:mc="http://schemas.openxmlformats.org/markup-compatibility/2006" xmlns:p14="http://schemas.microsoft.com/office/powerpoint/2010/main">
    <mc:Choice Requires="p14">
      <p:transition spd="slow" p14:dur="2000" advTm="85514"/>
    </mc:Choice>
    <mc:Fallback xmlns="">
      <p:transition spd="slow" advTm="85514"/>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1192D3D-B0D3-49CC-ADB0-5C6F4A4A6655}"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15</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90115" name="Rectangle 2"/>
          <p:cNvSpPr>
            <a:spLocks noGrp="1" noChangeArrowheads="1"/>
          </p:cNvSpPr>
          <p:nvPr>
            <p:ph type="title"/>
          </p:nvPr>
        </p:nvSpPr>
        <p:spPr>
          <a:xfrm>
            <a:off x="228600" y="16042"/>
            <a:ext cx="8915400" cy="826569"/>
          </a:xfrm>
        </p:spPr>
        <p:txBody>
          <a:bodyPr/>
          <a:lstStyle/>
          <a:p>
            <a:pPr algn="l"/>
            <a:r>
              <a:rPr lang="en-US" sz="3600" dirty="0">
                <a:solidFill>
                  <a:srgbClr val="1F497D"/>
                </a:solidFill>
                <a:latin typeface="Tahoma"/>
                <a:ea typeface="ＭＳ Ｐゴシック"/>
              </a:rPr>
              <a:t>Component costs: Ordinary shares</a:t>
            </a:r>
            <a:endParaRPr lang="en-US" altLang="en-US" sz="3600" dirty="0">
              <a:solidFill>
                <a:srgbClr val="000099"/>
              </a:solidFill>
            </a:endParaRPr>
          </a:p>
        </p:txBody>
      </p:sp>
      <p:sp>
        <p:nvSpPr>
          <p:cNvPr id="53251" name="Rectangle 3"/>
          <p:cNvSpPr>
            <a:spLocks noGrp="1" noChangeArrowheads="1"/>
          </p:cNvSpPr>
          <p:nvPr>
            <p:ph type="body" idx="1"/>
          </p:nvPr>
        </p:nvSpPr>
        <p:spPr>
          <a:xfrm>
            <a:off x="152400" y="842612"/>
            <a:ext cx="8763000" cy="5715000"/>
          </a:xfrm>
        </p:spPr>
        <p:txBody>
          <a:bodyPr/>
          <a:lstStyle/>
          <a:p>
            <a:pPr>
              <a:spcBef>
                <a:spcPts val="0"/>
              </a:spcBef>
              <a:buClr>
                <a:srgbClr val="002060"/>
              </a:buClr>
              <a:buFont typeface="Arial" panose="020B0604020202020204" pitchFamily="34" charset="0"/>
              <a:buChar char="•"/>
            </a:pPr>
            <a:r>
              <a:rPr lang="en-ZA" altLang="en-US" sz="2400" dirty="0"/>
              <a:t>Cost of equity </a:t>
            </a:r>
          </a:p>
          <a:p>
            <a:pPr lvl="1">
              <a:spcBef>
                <a:spcPts val="0"/>
              </a:spcBef>
              <a:buClr>
                <a:srgbClr val="002060"/>
              </a:buClr>
              <a:buFont typeface="Wingdings" panose="05000000000000000000" pitchFamily="2" charset="2"/>
              <a:buChar char="§"/>
            </a:pPr>
            <a:r>
              <a:rPr lang="en-ZA" altLang="en-US" dirty="0"/>
              <a:t>We combine cost of ordinary shares, cost of retained earnings and cost of newly issued shares. We consider flotation costs later (which is admin/issue costs applicable when a firm issues new ordinary shares. Therefore, you can </a:t>
            </a:r>
            <a:r>
              <a:rPr lang="en-ZA" altLang="en-US" b="1" dirty="0"/>
              <a:t>use </a:t>
            </a:r>
            <a:r>
              <a:rPr lang="en-ZA" altLang="en-US" b="1" dirty="0" err="1"/>
              <a:t>k</a:t>
            </a:r>
            <a:r>
              <a:rPr lang="en-ZA" altLang="en-US" b="1" baseline="-25000" dirty="0" err="1"/>
              <a:t>s</a:t>
            </a:r>
            <a:r>
              <a:rPr lang="en-ZA" altLang="en-US" b="1" dirty="0"/>
              <a:t> or </a:t>
            </a:r>
            <a:r>
              <a:rPr lang="en-ZA" altLang="en-US" b="1" dirty="0" err="1"/>
              <a:t>k</a:t>
            </a:r>
            <a:r>
              <a:rPr lang="en-ZA" altLang="en-US" b="1" baseline="-25000" dirty="0" err="1"/>
              <a:t>n</a:t>
            </a:r>
            <a:r>
              <a:rPr lang="en-ZA" altLang="en-US" dirty="0"/>
              <a:t> to denote cost of ordinary shares</a:t>
            </a:r>
            <a:endParaRPr lang="en-ZA" altLang="en-US" baseline="-25000" dirty="0"/>
          </a:p>
          <a:p>
            <a:pPr>
              <a:spcBef>
                <a:spcPts val="0"/>
              </a:spcBef>
              <a:buClr>
                <a:srgbClr val="002060"/>
              </a:buClr>
              <a:buFont typeface="Arial" panose="020B0604020202020204" pitchFamily="34" charset="0"/>
              <a:buChar char="•"/>
            </a:pPr>
            <a:endParaRPr lang="en-ZA" altLang="en-US" sz="1400" dirty="0"/>
          </a:p>
          <a:p>
            <a:pPr>
              <a:spcBef>
                <a:spcPts val="0"/>
              </a:spcBef>
              <a:buClr>
                <a:srgbClr val="002060"/>
              </a:buClr>
              <a:buFont typeface="Arial" panose="020B0604020202020204" pitchFamily="34" charset="0"/>
              <a:buChar char="•"/>
            </a:pPr>
            <a:r>
              <a:rPr lang="en-ZA" altLang="en-US" sz="2400" dirty="0"/>
              <a:t>What is the firm’s overall cost of equity (</a:t>
            </a:r>
            <a:r>
              <a:rPr lang="en-ZA" altLang="en-US" sz="2400" dirty="0" err="1"/>
              <a:t>k</a:t>
            </a:r>
            <a:r>
              <a:rPr lang="en-ZA" altLang="en-US" sz="2400" baseline="-25000" dirty="0" err="1"/>
              <a:t>s</a:t>
            </a:r>
            <a:r>
              <a:rPr lang="en-ZA" altLang="en-US" sz="2400" baseline="-25000" dirty="0"/>
              <a:t> </a:t>
            </a:r>
            <a:r>
              <a:rPr lang="en-ZA" altLang="en-US" sz="2400" dirty="0"/>
              <a:t>or </a:t>
            </a:r>
            <a:r>
              <a:rPr lang="en-ZA" altLang="en-US" sz="2400" dirty="0" err="1"/>
              <a:t>k</a:t>
            </a:r>
            <a:r>
              <a:rPr lang="en-ZA" altLang="en-US" sz="2400" baseline="-25000" dirty="0" err="1"/>
              <a:t>n</a:t>
            </a:r>
            <a:r>
              <a:rPr lang="en-ZA" altLang="en-US" sz="2400" dirty="0"/>
              <a:t>)?</a:t>
            </a:r>
          </a:p>
          <a:p>
            <a:pPr lvl="1">
              <a:spcBef>
                <a:spcPts val="0"/>
              </a:spcBef>
              <a:buClr>
                <a:srgbClr val="002060"/>
              </a:buClr>
              <a:buFont typeface="Wingdings" panose="05000000000000000000" pitchFamily="2" charset="2"/>
              <a:buChar char="§"/>
            </a:pPr>
            <a:r>
              <a:rPr lang="en-ZA" altLang="en-US" dirty="0"/>
              <a:t>Difficult to answer…no way of directly observing the return that the firm’s equity </a:t>
            </a:r>
            <a:r>
              <a:rPr lang="en-ZA" altLang="en-US" b="1" dirty="0">
                <a:solidFill>
                  <a:srgbClr val="C00000"/>
                </a:solidFill>
              </a:rPr>
              <a:t>investors</a:t>
            </a:r>
            <a:r>
              <a:rPr lang="en-ZA" altLang="en-US" dirty="0"/>
              <a:t> </a:t>
            </a:r>
            <a:r>
              <a:rPr lang="en-ZA" altLang="en-US" b="1" dirty="0">
                <a:solidFill>
                  <a:srgbClr val="C00000"/>
                </a:solidFill>
              </a:rPr>
              <a:t>(shareholders)</a:t>
            </a:r>
            <a:r>
              <a:rPr lang="en-ZA" altLang="en-US" dirty="0">
                <a:solidFill>
                  <a:srgbClr val="C00000"/>
                </a:solidFill>
              </a:rPr>
              <a:t> </a:t>
            </a:r>
            <a:r>
              <a:rPr lang="en-ZA" altLang="en-US" dirty="0"/>
              <a:t>require on their investment</a:t>
            </a:r>
          </a:p>
          <a:p>
            <a:pPr lvl="1">
              <a:spcBef>
                <a:spcPts val="0"/>
              </a:spcBef>
              <a:buClr>
                <a:srgbClr val="002060"/>
              </a:buClr>
              <a:buFont typeface="Arial" panose="020B0604020202020204" pitchFamily="34" charset="0"/>
              <a:buChar char="•"/>
            </a:pPr>
            <a:endParaRPr lang="en-ZA" altLang="en-US" sz="1400" dirty="0"/>
          </a:p>
          <a:p>
            <a:pPr marL="360363" lvl="1" indent="-360363">
              <a:spcBef>
                <a:spcPts val="0"/>
              </a:spcBef>
              <a:buClr>
                <a:srgbClr val="002060"/>
              </a:buClr>
              <a:buFont typeface="Arial" panose="020B0604020202020204" pitchFamily="34" charset="0"/>
              <a:buChar char="•"/>
            </a:pPr>
            <a:r>
              <a:rPr lang="en-ZA" altLang="en-US" dirty="0"/>
              <a:t>Two approaches to estimate it: </a:t>
            </a:r>
          </a:p>
          <a:p>
            <a:pPr marL="790575" marR="0" lvl="2" indent="-342900" algn="l" defTabSz="914400" rtl="0" eaLnBrk="0" fontAlgn="base" latinLnBrk="0" hangingPunct="0">
              <a:lnSpc>
                <a:spcPct val="100000"/>
              </a:lnSpc>
              <a:spcBef>
                <a:spcPts val="0"/>
              </a:spcBef>
              <a:spcAft>
                <a:spcPct val="0"/>
              </a:spcAft>
              <a:buClr>
                <a:srgbClr val="002060"/>
              </a:buClr>
              <a:buSzTx/>
              <a:buFont typeface="Wingdings" panose="05000000000000000000" pitchFamily="2" charset="2"/>
              <a:buChar char="§"/>
              <a:tabLst/>
              <a:defRPr/>
            </a:pPr>
            <a:r>
              <a:rPr kumimoji="0" lang="en-ZA" altLang="en-US" sz="2400" b="0" i="0" u="none" strike="noStrike" kern="0" cap="none" spc="0" normalizeH="0" baseline="0" noProof="0" dirty="0">
                <a:ln>
                  <a:noFill/>
                </a:ln>
                <a:solidFill>
                  <a:srgbClr val="000000"/>
                </a:solidFill>
                <a:effectLst/>
                <a:uLnTx/>
                <a:uFillTx/>
                <a:latin typeface="Tahoma"/>
              </a:rPr>
              <a:t>security market line (SML) or capital asset pricing model (CAPM) as in Ch 6</a:t>
            </a:r>
          </a:p>
          <a:p>
            <a:pPr marL="790575" lvl="2" indent="-342900">
              <a:spcBef>
                <a:spcPts val="0"/>
              </a:spcBef>
              <a:buClr>
                <a:srgbClr val="002060"/>
              </a:buClr>
              <a:buFont typeface="Wingdings" panose="05000000000000000000" pitchFamily="2" charset="2"/>
              <a:buChar char="§"/>
            </a:pPr>
            <a:r>
              <a:rPr lang="en-ZA" altLang="en-US" sz="2400" dirty="0"/>
              <a:t>dividend growth model as in Ch 8</a:t>
            </a:r>
          </a:p>
          <a:p>
            <a:pPr marL="914400" lvl="1" indent="-457200">
              <a:buFontTx/>
              <a:buNone/>
            </a:pPr>
            <a:endParaRPr lang="en-ZA" altLang="en-US" dirty="0"/>
          </a:p>
        </p:txBody>
      </p:sp>
    </p:spTree>
    <p:extLst>
      <p:ext uri="{BB962C8B-B14F-4D97-AF65-F5344CB8AC3E}">
        <p14:creationId xmlns:p14="http://schemas.microsoft.com/office/powerpoint/2010/main" val="2951979672"/>
      </p:ext>
    </p:extLst>
  </p:cSld>
  <p:clrMapOvr>
    <a:masterClrMapping/>
  </p:clrMapOvr>
  <mc:AlternateContent xmlns:mc="http://schemas.openxmlformats.org/markup-compatibility/2006" xmlns:p14="http://schemas.microsoft.com/office/powerpoint/2010/main">
    <mc:Choice Requires="p14">
      <p:transition spd="slow" p14:dur="2000" advTm="99919"/>
    </mc:Choice>
    <mc:Fallback xmlns="">
      <p:transition spd="slow" advTm="99919"/>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830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E54E38D-816E-4B20-88DA-596E99F9C9C0}"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98307" name="Rectangle 2"/>
          <p:cNvSpPr>
            <a:spLocks noGrp="1" noChangeArrowheads="1"/>
          </p:cNvSpPr>
          <p:nvPr>
            <p:ph type="title"/>
          </p:nvPr>
        </p:nvSpPr>
        <p:spPr>
          <a:xfrm>
            <a:off x="228600" y="0"/>
            <a:ext cx="8686800" cy="1143000"/>
          </a:xfrm>
        </p:spPr>
        <p:txBody>
          <a:bodyPr/>
          <a:lstStyle/>
          <a:p>
            <a:pPr algn="l"/>
            <a:r>
              <a:rPr kumimoji="0" lang="en-US" sz="3600" b="0" i="0" u="none" strike="noStrike" kern="0" cap="none" spc="0" normalizeH="0" baseline="0" noProof="0" dirty="0">
                <a:ln>
                  <a:noFill/>
                </a:ln>
                <a:solidFill>
                  <a:srgbClr val="1F497D"/>
                </a:solidFill>
                <a:effectLst/>
                <a:uLnTx/>
                <a:uFillTx/>
                <a:latin typeface="Tahoma"/>
                <a:ea typeface="ＭＳ Ｐゴシック"/>
                <a:cs typeface="+mj-cs"/>
              </a:rPr>
              <a:t>Component costs: Ordinary shares (cont.)</a:t>
            </a:r>
            <a:endParaRPr lang="en-US" altLang="en-US" sz="3600" dirty="0">
              <a:solidFill>
                <a:srgbClr val="000099"/>
              </a:solidFill>
            </a:endParaRPr>
          </a:p>
        </p:txBody>
      </p:sp>
      <p:sp>
        <p:nvSpPr>
          <p:cNvPr id="98308" name="Rectangle 3"/>
          <p:cNvSpPr>
            <a:spLocks noGrp="1" noChangeArrowheads="1"/>
          </p:cNvSpPr>
          <p:nvPr>
            <p:ph type="body" idx="1"/>
          </p:nvPr>
        </p:nvSpPr>
        <p:spPr>
          <a:xfrm>
            <a:off x="304800" y="1371600"/>
            <a:ext cx="8610600" cy="5257800"/>
          </a:xfrm>
        </p:spPr>
        <p:txBody>
          <a:bodyPr/>
          <a:lstStyle/>
          <a:p>
            <a:pPr algn="just">
              <a:buClr>
                <a:srgbClr val="002060"/>
              </a:buClr>
              <a:buFont typeface="Arial" panose="020B0604020202020204" pitchFamily="34" charset="0"/>
              <a:buChar char="•"/>
            </a:pPr>
            <a:r>
              <a:rPr lang="en-ZA" altLang="en-US" sz="2400" dirty="0"/>
              <a:t>Security market line (</a:t>
            </a:r>
            <a:r>
              <a:rPr lang="en-ZA" altLang="en-US" sz="2400" dirty="0" err="1"/>
              <a:t>SML</a:t>
            </a:r>
            <a:r>
              <a:rPr lang="en-ZA" altLang="en-US" sz="2400" dirty="0"/>
              <a:t>) (quick recap)</a:t>
            </a:r>
          </a:p>
          <a:p>
            <a:pPr lvl="1" algn="just">
              <a:buClr>
                <a:srgbClr val="002060"/>
              </a:buClr>
              <a:buFont typeface="Arial" panose="020B0604020202020204" pitchFamily="34" charset="0"/>
              <a:buChar char="•"/>
            </a:pPr>
            <a:r>
              <a:rPr lang="en-US" altLang="en-US" dirty="0"/>
              <a:t>Required / expected return on a risky investment depends on:</a:t>
            </a:r>
          </a:p>
          <a:p>
            <a:pPr lvl="2" algn="just">
              <a:buClr>
                <a:srgbClr val="002060"/>
              </a:buClr>
              <a:buFont typeface="Arial" panose="020B0604020202020204" pitchFamily="34" charset="0"/>
              <a:buChar char="•"/>
            </a:pPr>
            <a:r>
              <a:rPr lang="en-US" altLang="en-US" sz="2400" dirty="0"/>
              <a:t>Risk-free rate 			</a:t>
            </a:r>
            <a:r>
              <a:rPr lang="en-US" altLang="en-US" sz="2400" b="1" dirty="0">
                <a:solidFill>
                  <a:srgbClr val="C00000"/>
                </a:solidFill>
              </a:rPr>
              <a:t>R</a:t>
            </a:r>
            <a:r>
              <a:rPr lang="en-US" altLang="en-US" sz="2400" b="1" baseline="-25000" dirty="0">
                <a:solidFill>
                  <a:srgbClr val="C00000"/>
                </a:solidFill>
              </a:rPr>
              <a:t>f</a:t>
            </a:r>
          </a:p>
          <a:p>
            <a:pPr lvl="2" algn="just">
              <a:buClr>
                <a:srgbClr val="002060"/>
              </a:buClr>
              <a:buFont typeface="Arial" panose="020B0604020202020204" pitchFamily="34" charset="0"/>
              <a:buChar char="•"/>
            </a:pPr>
            <a:r>
              <a:rPr lang="en-US" altLang="en-US" sz="2400" dirty="0"/>
              <a:t>Market risk premium 		</a:t>
            </a:r>
            <a:r>
              <a:rPr lang="en-US" altLang="en-US" sz="2400" b="1" dirty="0">
                <a:solidFill>
                  <a:srgbClr val="C00000"/>
                </a:solidFill>
              </a:rPr>
              <a:t>k</a:t>
            </a:r>
            <a:r>
              <a:rPr lang="en-US" altLang="en-US" sz="2400" b="1" baseline="-25000" dirty="0">
                <a:solidFill>
                  <a:srgbClr val="C00000"/>
                </a:solidFill>
              </a:rPr>
              <a:t>m</a:t>
            </a:r>
            <a:r>
              <a:rPr lang="en-US" altLang="en-US" sz="2400" b="1" dirty="0">
                <a:solidFill>
                  <a:srgbClr val="C00000"/>
                </a:solidFill>
              </a:rPr>
              <a:t> – R</a:t>
            </a:r>
            <a:r>
              <a:rPr lang="en-US" altLang="en-US" sz="2400" b="1" baseline="-25000" dirty="0">
                <a:solidFill>
                  <a:srgbClr val="C00000"/>
                </a:solidFill>
              </a:rPr>
              <a:t>f</a:t>
            </a:r>
          </a:p>
          <a:p>
            <a:pPr lvl="2" algn="just">
              <a:buClr>
                <a:srgbClr val="002060"/>
              </a:buClr>
              <a:buFont typeface="Arial" panose="020B0604020202020204" pitchFamily="34" charset="0"/>
              <a:buChar char="•"/>
            </a:pPr>
            <a:r>
              <a:rPr lang="en-US" altLang="en-US" sz="2400" dirty="0"/>
              <a:t>Systematic risk of the asset 	</a:t>
            </a:r>
            <a:r>
              <a:rPr lang="en-US" altLang="en-US" sz="2400" b="1" dirty="0">
                <a:solidFill>
                  <a:srgbClr val="C00000"/>
                </a:solidFill>
                <a:sym typeface="Symbol" panose="05050102010706020507" pitchFamily="18" charset="2"/>
              </a:rPr>
              <a:t></a:t>
            </a:r>
            <a:endParaRPr lang="en-US" altLang="en-US" sz="2400" b="1" dirty="0">
              <a:solidFill>
                <a:srgbClr val="C00000"/>
              </a:solidFill>
            </a:endParaRPr>
          </a:p>
          <a:p>
            <a:pPr lvl="2" algn="just">
              <a:buClr>
                <a:srgbClr val="002060"/>
              </a:buClr>
              <a:buFont typeface="Arial" panose="020B0604020202020204" pitchFamily="34" charset="0"/>
              <a:buChar char="•"/>
            </a:pPr>
            <a:endParaRPr lang="en-US" altLang="en-US" sz="2400" b="1" dirty="0">
              <a:solidFill>
                <a:srgbClr val="FF3300"/>
              </a:solidFill>
            </a:endParaRPr>
          </a:p>
          <a:p>
            <a:pPr algn="just">
              <a:buClr>
                <a:srgbClr val="002060"/>
              </a:buClr>
              <a:buFont typeface="Arial" panose="020B0604020202020204" pitchFamily="34" charset="0"/>
              <a:buChar char="•"/>
            </a:pPr>
            <a:r>
              <a:rPr lang="en-ZA" altLang="en-US" sz="2400" dirty="0"/>
              <a:t>Using the </a:t>
            </a:r>
            <a:r>
              <a:rPr lang="en-ZA" altLang="en-US" sz="2400" dirty="0" err="1"/>
              <a:t>SML</a:t>
            </a:r>
            <a:r>
              <a:rPr lang="en-ZA" altLang="en-US" sz="2400" dirty="0"/>
              <a:t>:</a:t>
            </a:r>
          </a:p>
          <a:p>
            <a:pPr marL="0" lvl="0" indent="0">
              <a:spcBef>
                <a:spcPts val="0"/>
              </a:spcBef>
              <a:spcAft>
                <a:spcPts val="600"/>
              </a:spcAft>
              <a:buSzPct val="100000"/>
              <a:buNone/>
            </a:pPr>
            <a:r>
              <a:rPr lang="en-US" sz="2400" kern="1200" dirty="0">
                <a:solidFill>
                  <a:prstClr val="black"/>
                </a:solidFill>
                <a:latin typeface="Arial" charset="0"/>
                <a:ea typeface="ＭＳ Ｐゴシック" charset="-128"/>
              </a:rPr>
              <a:t>    </a:t>
            </a:r>
            <a:r>
              <a:rPr lang="en-US" sz="2400" b="1" kern="1200" dirty="0">
                <a:solidFill>
                  <a:srgbClr val="C00000"/>
                </a:solidFill>
                <a:latin typeface="Arial" charset="0"/>
                <a:ea typeface="ＭＳ Ｐゴシック" charset="-128"/>
              </a:rPr>
              <a:t>k</a:t>
            </a:r>
            <a:r>
              <a:rPr kumimoji="0" lang="en-US" sz="2400" b="1" i="0" u="none" strike="noStrike" kern="1200" cap="none" spc="0" normalizeH="0" baseline="-25000" noProof="0" dirty="0">
                <a:ln>
                  <a:noFill/>
                </a:ln>
                <a:solidFill>
                  <a:srgbClr val="C00000"/>
                </a:solidFill>
                <a:effectLst/>
                <a:uLnTx/>
                <a:uFillTx/>
                <a:latin typeface="Arial" charset="0"/>
                <a:ea typeface="ＭＳ Ｐゴシック" charset="-128"/>
                <a:cs typeface="+mn-cs"/>
              </a:rPr>
              <a:t>s </a:t>
            </a:r>
            <a:r>
              <a:rPr lang="en-US" sz="2400" b="1" kern="1200" dirty="0">
                <a:solidFill>
                  <a:srgbClr val="C00000"/>
                </a:solidFill>
                <a:latin typeface="Arial" charset="0"/>
                <a:ea typeface="ＭＳ Ｐゴシック" charset="-128"/>
              </a:rPr>
              <a:t>	  =	R</a:t>
            </a:r>
            <a:r>
              <a:rPr lang="en-US" sz="2400" b="1" kern="1200" baseline="-25000" dirty="0">
                <a:solidFill>
                  <a:srgbClr val="C00000"/>
                </a:solidFill>
                <a:latin typeface="Arial" charset="0"/>
                <a:ea typeface="ＭＳ Ｐゴシック" charset="-128"/>
              </a:rPr>
              <a:t>f</a:t>
            </a:r>
            <a:r>
              <a:rPr lang="en-US" sz="2400" b="1" kern="1200" dirty="0">
                <a:solidFill>
                  <a:srgbClr val="C00000"/>
                </a:solidFill>
                <a:latin typeface="Arial" charset="0"/>
                <a:ea typeface="ＭＳ Ｐゴシック" charset="-128"/>
              </a:rPr>
              <a:t> + </a:t>
            </a:r>
            <a:r>
              <a:rPr lang="el-GR" sz="2400" b="1" kern="1200" dirty="0">
                <a:solidFill>
                  <a:srgbClr val="C00000"/>
                </a:solidFill>
                <a:latin typeface="Arial" charset="0"/>
                <a:ea typeface="ＭＳ Ｐゴシック" charset="-128"/>
              </a:rPr>
              <a:t>β</a:t>
            </a:r>
            <a:r>
              <a:rPr lang="en-US" sz="2400" b="1" kern="1200" dirty="0">
                <a:solidFill>
                  <a:srgbClr val="C00000"/>
                </a:solidFill>
                <a:latin typeface="Arial" charset="0"/>
                <a:ea typeface="ＭＳ Ｐゴシック" charset="-128"/>
              </a:rPr>
              <a:t>(k</a:t>
            </a:r>
            <a:r>
              <a:rPr lang="en-US" sz="2400" b="1" kern="1200" baseline="-25000" dirty="0">
                <a:solidFill>
                  <a:srgbClr val="C00000"/>
                </a:solidFill>
                <a:latin typeface="Arial" charset="0"/>
                <a:ea typeface="ＭＳ Ｐゴシック" charset="-128"/>
              </a:rPr>
              <a:t>m</a:t>
            </a:r>
            <a:r>
              <a:rPr lang="en-US" sz="2400" b="1" kern="1200" dirty="0">
                <a:solidFill>
                  <a:srgbClr val="C00000"/>
                </a:solidFill>
                <a:latin typeface="Arial" charset="0"/>
                <a:ea typeface="ＭＳ Ｐゴシック" charset="-128"/>
              </a:rPr>
              <a:t> – R</a:t>
            </a:r>
            <a:r>
              <a:rPr lang="en-US" sz="2400" b="1" kern="1200" baseline="-25000" dirty="0">
                <a:solidFill>
                  <a:srgbClr val="C00000"/>
                </a:solidFill>
                <a:latin typeface="Arial" charset="0"/>
                <a:ea typeface="ＭＳ Ｐゴシック" charset="-128"/>
              </a:rPr>
              <a:t>f</a:t>
            </a:r>
            <a:r>
              <a:rPr lang="en-US" sz="2400" b="1" kern="1200" dirty="0">
                <a:solidFill>
                  <a:srgbClr val="C00000"/>
                </a:solidFill>
                <a:latin typeface="Arial" charset="0"/>
                <a:ea typeface="ＭＳ Ｐゴシック" charset="-128"/>
              </a:rPr>
              <a:t>)</a:t>
            </a:r>
          </a:p>
        </p:txBody>
      </p:sp>
    </p:spTree>
    <p:extLst>
      <p:ext uri="{BB962C8B-B14F-4D97-AF65-F5344CB8AC3E}">
        <p14:creationId xmlns:p14="http://schemas.microsoft.com/office/powerpoint/2010/main" val="2858979640"/>
      </p:ext>
    </p:extLst>
  </p:cSld>
  <p:clrMapOvr>
    <a:masterClrMapping/>
  </p:clrMapOvr>
  <mc:AlternateContent xmlns:mc="http://schemas.openxmlformats.org/markup-compatibility/2006" xmlns:p14="http://schemas.microsoft.com/office/powerpoint/2010/main">
    <mc:Choice Requires="p14">
      <p:transition spd="slow" p14:dur="2000" advTm="72729"/>
    </mc:Choice>
    <mc:Fallback xmlns="">
      <p:transition spd="slow" advTm="72729"/>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035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690EDAC-3DBE-402C-8B37-685AA6D32E32}"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00355" name="Rectangle 2"/>
          <p:cNvSpPr>
            <a:spLocks noGrp="1" noChangeArrowheads="1"/>
          </p:cNvSpPr>
          <p:nvPr>
            <p:ph type="title"/>
          </p:nvPr>
        </p:nvSpPr>
        <p:spPr>
          <a:xfrm>
            <a:off x="304800" y="0"/>
            <a:ext cx="8839200" cy="1143000"/>
          </a:xfrm>
        </p:spPr>
        <p:txBody>
          <a:bodyPr/>
          <a:lstStyle/>
          <a:p>
            <a:pPr algn="l"/>
            <a:r>
              <a:rPr kumimoji="0" lang="en-US" sz="3600" b="0" i="0" u="none" strike="noStrike" kern="0" cap="none" spc="0" normalizeH="0" baseline="0" noProof="0" dirty="0">
                <a:ln>
                  <a:noFill/>
                </a:ln>
                <a:solidFill>
                  <a:srgbClr val="1F497D"/>
                </a:solidFill>
                <a:effectLst/>
                <a:uLnTx/>
                <a:uFillTx/>
                <a:latin typeface="Tahoma"/>
                <a:ea typeface="ＭＳ Ｐゴシック"/>
                <a:cs typeface="+mj-cs"/>
              </a:rPr>
              <a:t>Component costs: Ordinary shares (cont.)</a:t>
            </a:r>
            <a:endParaRPr lang="en-GB" altLang="en-US" sz="3600" dirty="0">
              <a:solidFill>
                <a:srgbClr val="000099"/>
              </a:solidFill>
            </a:endParaRPr>
          </a:p>
        </p:txBody>
      </p:sp>
      <p:sp>
        <p:nvSpPr>
          <p:cNvPr id="100356" name="Rectangle 3"/>
          <p:cNvSpPr>
            <a:spLocks noGrp="1" noChangeArrowheads="1"/>
          </p:cNvSpPr>
          <p:nvPr>
            <p:ph type="body" idx="1"/>
          </p:nvPr>
        </p:nvSpPr>
        <p:spPr>
          <a:xfrm>
            <a:off x="152400" y="1154631"/>
            <a:ext cx="8382000" cy="5360469"/>
          </a:xfrm>
        </p:spPr>
        <p:txBody>
          <a:bodyPr/>
          <a:lstStyle/>
          <a:p>
            <a:pPr lvl="1" algn="just">
              <a:buClr>
                <a:srgbClr val="002060"/>
              </a:buClr>
              <a:buFont typeface="Arial" panose="020B0604020202020204" pitchFamily="34" charset="0"/>
              <a:buChar char="•"/>
            </a:pPr>
            <a:r>
              <a:rPr lang="en-US" altLang="en-US" dirty="0"/>
              <a:t>Example using </a:t>
            </a:r>
            <a:r>
              <a:rPr lang="en-US" altLang="en-US" dirty="0" err="1"/>
              <a:t>SML</a:t>
            </a:r>
            <a:endParaRPr lang="en-US" altLang="en-US" dirty="0"/>
          </a:p>
          <a:p>
            <a:pPr lvl="1" algn="just">
              <a:buClr>
                <a:srgbClr val="002060"/>
              </a:buClr>
              <a:buFont typeface="Arial" panose="020B0604020202020204" pitchFamily="34" charset="0"/>
              <a:buChar char="•"/>
            </a:pPr>
            <a:endParaRPr lang="en-US" altLang="en-US" dirty="0"/>
          </a:p>
          <a:p>
            <a:pPr lvl="1" algn="just">
              <a:buClr>
                <a:srgbClr val="002060"/>
              </a:buClr>
              <a:buFont typeface="Arial" panose="020B0604020202020204" pitchFamily="34" charset="0"/>
              <a:buChar char="•"/>
            </a:pPr>
            <a:r>
              <a:rPr lang="en-US" altLang="en-US" dirty="0"/>
              <a:t>Estimate a Platinum company’s cost of equity, </a:t>
            </a:r>
            <a:r>
              <a:rPr lang="en-US" altLang="en-US" dirty="0" err="1"/>
              <a:t>k</a:t>
            </a:r>
            <a:r>
              <a:rPr lang="en-US" altLang="en-US" baseline="-25000" dirty="0" err="1"/>
              <a:t>s</a:t>
            </a:r>
            <a:r>
              <a:rPr lang="en-US" altLang="en-US" dirty="0"/>
              <a:t>, using the following information:</a:t>
            </a:r>
          </a:p>
          <a:p>
            <a:pPr lvl="1" algn="just">
              <a:buClr>
                <a:srgbClr val="002060"/>
              </a:buClr>
              <a:buFont typeface="Arial" panose="020B0604020202020204" pitchFamily="34" charset="0"/>
              <a:buChar char="•"/>
            </a:pPr>
            <a:r>
              <a:rPr lang="en-US" altLang="en-US" b="1" dirty="0"/>
              <a:t>Market risk premium</a:t>
            </a:r>
            <a:r>
              <a:rPr lang="en-US" altLang="en-US" dirty="0"/>
              <a:t> (the returns earned on average in the market above the risk-free rate, based on large ordinary shares) = 8.5%   </a:t>
            </a:r>
          </a:p>
          <a:p>
            <a:pPr marL="457200" lvl="1" indent="0" algn="just">
              <a:buClr>
                <a:srgbClr val="002060"/>
              </a:buClr>
              <a:buNone/>
            </a:pPr>
            <a:r>
              <a:rPr lang="en-US" altLang="en-US" dirty="0"/>
              <a:t>	…inside the brackets…</a:t>
            </a:r>
          </a:p>
          <a:p>
            <a:pPr marL="457200" lvl="1" indent="0" algn="just">
              <a:buClr>
                <a:srgbClr val="002060"/>
              </a:buClr>
              <a:buNone/>
            </a:pPr>
            <a:endParaRPr lang="en-US" altLang="en-US" dirty="0"/>
          </a:p>
          <a:p>
            <a:pPr lvl="1" algn="just">
              <a:buClr>
                <a:srgbClr val="002060"/>
              </a:buClr>
              <a:buFont typeface="Arial" panose="020B0604020202020204" pitchFamily="34" charset="0"/>
              <a:buChar char="•"/>
            </a:pPr>
            <a:r>
              <a:rPr lang="en-US" altLang="en-US" dirty="0"/>
              <a:t>Assume SA Treasury bills paying 8.6%</a:t>
            </a:r>
          </a:p>
          <a:p>
            <a:pPr lvl="1" algn="just">
              <a:buClr>
                <a:srgbClr val="002060"/>
              </a:buClr>
              <a:buFont typeface="Arial" panose="020B0604020202020204" pitchFamily="34" charset="0"/>
              <a:buChar char="•"/>
            </a:pPr>
            <a:r>
              <a:rPr lang="en-US" altLang="en-US" dirty="0"/>
              <a:t>Platinum company’s Beta (</a:t>
            </a:r>
            <a:r>
              <a:rPr lang="en-US" altLang="en-US" dirty="0">
                <a:sym typeface="Symbol" panose="05050102010706020507" pitchFamily="18" charset="2"/>
              </a:rPr>
              <a:t>)</a:t>
            </a:r>
            <a:r>
              <a:rPr lang="en-GB" altLang="en-US" dirty="0"/>
              <a:t> </a:t>
            </a:r>
            <a:r>
              <a:rPr lang="en-US" altLang="en-US" dirty="0"/>
              <a:t>= 1.63</a:t>
            </a:r>
          </a:p>
          <a:p>
            <a:pPr lvl="1" algn="just">
              <a:buFontTx/>
              <a:buChar char="•"/>
            </a:pPr>
            <a:endParaRPr lang="en-US" altLang="en-US" dirty="0"/>
          </a:p>
        </p:txBody>
      </p:sp>
    </p:spTree>
    <p:extLst>
      <p:ext uri="{BB962C8B-B14F-4D97-AF65-F5344CB8AC3E}">
        <p14:creationId xmlns:p14="http://schemas.microsoft.com/office/powerpoint/2010/main" val="23433323"/>
      </p:ext>
    </p:extLst>
  </p:cSld>
  <p:clrMapOvr>
    <a:masterClrMapping/>
  </p:clrMapOvr>
  <mc:AlternateContent xmlns:mc="http://schemas.openxmlformats.org/markup-compatibility/2006" xmlns:p14="http://schemas.microsoft.com/office/powerpoint/2010/main">
    <mc:Choice Requires="p14">
      <p:transition spd="slow" p14:dur="2000" advTm="46939"/>
    </mc:Choice>
    <mc:Fallback xmlns="">
      <p:transition spd="slow" advTm="46939"/>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1378" name="Slide Number Placeholder 4"/>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476D8258-79D4-42D4-8D18-05957B8EAD46}"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18</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01379" name="Rectangle 2"/>
          <p:cNvSpPr>
            <a:spLocks noGrp="1" noChangeArrowheads="1"/>
          </p:cNvSpPr>
          <p:nvPr>
            <p:ph type="title"/>
          </p:nvPr>
        </p:nvSpPr>
        <p:spPr>
          <a:xfrm>
            <a:off x="304800" y="0"/>
            <a:ext cx="8686800" cy="1143000"/>
          </a:xfrm>
        </p:spPr>
        <p:txBody>
          <a:bodyPr/>
          <a:lstStyle/>
          <a:p>
            <a:pPr algn="l"/>
            <a:r>
              <a:rPr kumimoji="0" lang="en-US" sz="3600" b="0" i="0" u="none" strike="noStrike" kern="0" cap="none" spc="0" normalizeH="0" baseline="0" noProof="0" dirty="0">
                <a:ln>
                  <a:noFill/>
                </a:ln>
                <a:solidFill>
                  <a:srgbClr val="1F497D"/>
                </a:solidFill>
                <a:effectLst/>
                <a:uLnTx/>
                <a:uFillTx/>
                <a:latin typeface="Tahoma"/>
                <a:ea typeface="ＭＳ Ｐゴシック"/>
                <a:cs typeface="+mj-cs"/>
              </a:rPr>
              <a:t>Component costs: Ordinary shares (cont.)</a:t>
            </a:r>
            <a:endParaRPr lang="en-GB" altLang="en-US" sz="3600" dirty="0">
              <a:solidFill>
                <a:srgbClr val="000099"/>
              </a:solidFill>
            </a:endParaRPr>
          </a:p>
        </p:txBody>
      </p:sp>
      <p:sp>
        <p:nvSpPr>
          <p:cNvPr id="101380" name="Rectangle 3"/>
          <p:cNvSpPr>
            <a:spLocks noGrp="1" noChangeArrowheads="1"/>
          </p:cNvSpPr>
          <p:nvPr>
            <p:ph type="body" sz="half" idx="1"/>
          </p:nvPr>
        </p:nvSpPr>
        <p:spPr>
          <a:xfrm>
            <a:off x="685800" y="1143000"/>
            <a:ext cx="7848600" cy="1371600"/>
          </a:xfrm>
        </p:spPr>
        <p:txBody>
          <a:bodyPr/>
          <a:lstStyle/>
          <a:p>
            <a:pPr marL="0" indent="0" algn="just">
              <a:buNone/>
            </a:pPr>
            <a:r>
              <a:rPr kumimoji="0" lang="en-US" sz="2400" b="1" i="0" u="none" strike="noStrike" kern="1200" cap="none" spc="0" normalizeH="0" baseline="0" noProof="0" dirty="0" err="1">
                <a:ln>
                  <a:noFill/>
                </a:ln>
                <a:solidFill>
                  <a:srgbClr val="C00000"/>
                </a:solidFill>
                <a:effectLst/>
                <a:uLnTx/>
                <a:uFillTx/>
                <a:latin typeface="Arial" charset="0"/>
                <a:ea typeface="ＭＳ Ｐゴシック" charset="-128"/>
                <a:cs typeface="+mn-cs"/>
              </a:rPr>
              <a:t>k</a:t>
            </a:r>
            <a:r>
              <a:rPr kumimoji="0" lang="en-US" sz="2400" b="1" i="0" u="none" strike="noStrike" kern="1200" cap="none" spc="0" normalizeH="0" baseline="-25000" noProof="0" dirty="0" err="1">
                <a:ln>
                  <a:noFill/>
                </a:ln>
                <a:solidFill>
                  <a:srgbClr val="C00000"/>
                </a:solidFill>
                <a:effectLst/>
                <a:uLnTx/>
                <a:uFillTx/>
                <a:latin typeface="Arial" charset="0"/>
                <a:ea typeface="ＭＳ Ｐゴシック" charset="-128"/>
                <a:cs typeface="+mn-cs"/>
              </a:rPr>
              <a:t>s</a:t>
            </a:r>
            <a:r>
              <a:rPr kumimoji="0" lang="en-US" sz="2400" b="1" i="0" u="none" strike="noStrike" kern="1200" cap="none" spc="0" normalizeH="0" baseline="-25000" noProof="0" dirty="0">
                <a:ln>
                  <a:noFill/>
                </a:ln>
                <a:solidFill>
                  <a:srgbClr val="C00000"/>
                </a:solidFill>
                <a:effectLst/>
                <a:uLnTx/>
                <a:uFillTx/>
                <a:latin typeface="Arial" charset="0"/>
                <a:ea typeface="ＭＳ Ｐゴシック" charset="-128"/>
                <a:cs typeface="+mn-cs"/>
              </a:rPr>
              <a:t> 	</a:t>
            </a:r>
            <a:r>
              <a:rPr kumimoji="0" lang="en-US" sz="2400" b="1" i="0" u="none" strike="noStrike" kern="1200" cap="none" spc="0" normalizeH="0" baseline="0" noProof="0" dirty="0">
                <a:ln>
                  <a:noFill/>
                </a:ln>
                <a:solidFill>
                  <a:srgbClr val="C00000"/>
                </a:solidFill>
                <a:effectLst/>
                <a:uLnTx/>
                <a:uFillTx/>
                <a:latin typeface="Arial" charset="0"/>
                <a:ea typeface="ＭＳ Ｐゴシック" charset="-128"/>
                <a:cs typeface="+mn-cs"/>
              </a:rPr>
              <a:t>= R</a:t>
            </a:r>
            <a:r>
              <a:rPr kumimoji="0" lang="en-US" sz="2400" b="1" i="0" u="none" strike="noStrike" kern="1200" cap="none" spc="0" normalizeH="0" baseline="-25000" noProof="0" dirty="0">
                <a:ln>
                  <a:noFill/>
                </a:ln>
                <a:solidFill>
                  <a:srgbClr val="C00000"/>
                </a:solidFill>
                <a:effectLst/>
                <a:uLnTx/>
                <a:uFillTx/>
                <a:latin typeface="Arial" charset="0"/>
                <a:ea typeface="ＭＳ Ｐゴシック" charset="-128"/>
                <a:cs typeface="+mn-cs"/>
              </a:rPr>
              <a:t>f</a:t>
            </a:r>
            <a:r>
              <a:rPr kumimoji="0" lang="en-US" sz="2400" b="1" i="0" u="none" strike="noStrike" kern="1200" cap="none" spc="0" normalizeH="0" baseline="0" noProof="0" dirty="0">
                <a:ln>
                  <a:noFill/>
                </a:ln>
                <a:solidFill>
                  <a:srgbClr val="C00000"/>
                </a:solidFill>
                <a:effectLst/>
                <a:uLnTx/>
                <a:uFillTx/>
                <a:latin typeface="Arial" charset="0"/>
                <a:ea typeface="ＭＳ Ｐゴシック" charset="-128"/>
                <a:cs typeface="+mn-cs"/>
              </a:rPr>
              <a:t> + </a:t>
            </a:r>
            <a:r>
              <a:rPr kumimoji="0" lang="el-GR" sz="2400" b="1" i="0" u="none" strike="noStrike" kern="1200" cap="none" spc="0" normalizeH="0" baseline="0" noProof="0" dirty="0">
                <a:ln>
                  <a:noFill/>
                </a:ln>
                <a:solidFill>
                  <a:srgbClr val="C00000"/>
                </a:solidFill>
                <a:effectLst/>
                <a:uLnTx/>
                <a:uFillTx/>
                <a:latin typeface="Arial" charset="0"/>
                <a:ea typeface="ＭＳ Ｐゴシック" charset="-128"/>
                <a:cs typeface="+mn-cs"/>
              </a:rPr>
              <a:t>β</a:t>
            </a:r>
            <a:r>
              <a:rPr kumimoji="0" lang="en-US" sz="2400" b="1" i="0" u="none" strike="noStrike" kern="1200" cap="none" spc="0" normalizeH="0" baseline="0" noProof="0" dirty="0">
                <a:ln>
                  <a:noFill/>
                </a:ln>
                <a:solidFill>
                  <a:srgbClr val="C00000"/>
                </a:solidFill>
                <a:effectLst/>
                <a:uLnTx/>
                <a:uFillTx/>
                <a:latin typeface="Arial" charset="0"/>
                <a:ea typeface="ＭＳ Ｐゴシック" charset="-128"/>
                <a:cs typeface="+mn-cs"/>
              </a:rPr>
              <a:t>(k</a:t>
            </a:r>
            <a:r>
              <a:rPr kumimoji="0" lang="en-US" sz="2400" b="1" i="0" u="none" strike="noStrike" kern="1200" cap="none" spc="0" normalizeH="0" baseline="-25000" noProof="0" dirty="0">
                <a:ln>
                  <a:noFill/>
                </a:ln>
                <a:solidFill>
                  <a:srgbClr val="C00000"/>
                </a:solidFill>
                <a:effectLst/>
                <a:uLnTx/>
                <a:uFillTx/>
                <a:latin typeface="Arial" charset="0"/>
                <a:ea typeface="ＭＳ Ｐゴシック" charset="-128"/>
                <a:cs typeface="+mn-cs"/>
              </a:rPr>
              <a:t>m</a:t>
            </a:r>
            <a:r>
              <a:rPr kumimoji="0" lang="en-US" sz="2400" b="1" i="0" u="none" strike="noStrike" kern="1200" cap="none" spc="0" normalizeH="0" baseline="0" noProof="0" dirty="0">
                <a:ln>
                  <a:noFill/>
                </a:ln>
                <a:solidFill>
                  <a:srgbClr val="C00000"/>
                </a:solidFill>
                <a:effectLst/>
                <a:uLnTx/>
                <a:uFillTx/>
                <a:latin typeface="Arial" charset="0"/>
                <a:ea typeface="ＭＳ Ｐゴシック" charset="-128"/>
                <a:cs typeface="+mn-cs"/>
              </a:rPr>
              <a:t> – R</a:t>
            </a:r>
            <a:r>
              <a:rPr kumimoji="0" lang="en-US" sz="2400" b="1" i="0" u="none" strike="noStrike" kern="1200" cap="none" spc="0" normalizeH="0" baseline="-25000" noProof="0" dirty="0">
                <a:ln>
                  <a:noFill/>
                </a:ln>
                <a:solidFill>
                  <a:srgbClr val="C00000"/>
                </a:solidFill>
                <a:effectLst/>
                <a:uLnTx/>
                <a:uFillTx/>
                <a:latin typeface="Arial" charset="0"/>
                <a:ea typeface="ＭＳ Ｐゴシック" charset="-128"/>
                <a:cs typeface="+mn-cs"/>
              </a:rPr>
              <a:t>f</a:t>
            </a:r>
            <a:r>
              <a:rPr kumimoji="0" lang="en-US" sz="2400" b="1" i="0" u="none" strike="noStrike" kern="1200" cap="none" spc="0" normalizeH="0" baseline="0" noProof="0" dirty="0">
                <a:ln>
                  <a:noFill/>
                </a:ln>
                <a:solidFill>
                  <a:srgbClr val="C00000"/>
                </a:solidFill>
                <a:effectLst/>
                <a:uLnTx/>
                <a:uFillTx/>
                <a:latin typeface="Arial" charset="0"/>
                <a:ea typeface="ＭＳ Ｐゴシック" charset="-128"/>
                <a:cs typeface="+mn-cs"/>
              </a:rPr>
              <a:t>)</a:t>
            </a:r>
          </a:p>
          <a:p>
            <a:pPr marL="0" indent="0" algn="just">
              <a:buNone/>
            </a:pPr>
            <a:r>
              <a:rPr lang="en-US" altLang="en-US" sz="2400" b="1" dirty="0">
                <a:solidFill>
                  <a:srgbClr val="FF3300"/>
                </a:solidFill>
              </a:rPr>
              <a:t>    	</a:t>
            </a:r>
            <a:r>
              <a:rPr lang="en-US" altLang="en-US" sz="2400" dirty="0"/>
              <a:t>= 8.6 + 1.63 (8.5)</a:t>
            </a:r>
          </a:p>
          <a:p>
            <a:pPr algn="just">
              <a:buFontTx/>
              <a:buNone/>
            </a:pPr>
            <a:r>
              <a:rPr lang="en-US" altLang="en-US" sz="2400" dirty="0"/>
              <a:t>		= </a:t>
            </a:r>
            <a:r>
              <a:rPr lang="en-US" altLang="en-US" sz="2400" b="1" dirty="0">
                <a:solidFill>
                  <a:srgbClr val="C00000"/>
                </a:solidFill>
              </a:rPr>
              <a:t>22.46%</a:t>
            </a:r>
            <a:endParaRPr lang="en-ZA" altLang="en-US" sz="2400" b="1" dirty="0">
              <a:solidFill>
                <a:srgbClr val="C00000"/>
              </a:solidFill>
            </a:endParaRPr>
          </a:p>
        </p:txBody>
      </p:sp>
      <p:sp>
        <p:nvSpPr>
          <p:cNvPr id="101384" name="Rectangle 13"/>
          <p:cNvSpPr>
            <a:spLocks noChangeArrowheads="1"/>
          </p:cNvSpPr>
          <p:nvPr/>
        </p:nvSpPr>
        <p:spPr bwMode="auto">
          <a:xfrm>
            <a:off x="381000" y="5435600"/>
            <a:ext cx="4065588"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GB" altLang="en-US" sz="2400" b="0" i="0" u="none" strike="noStrike" kern="1200" cap="none" spc="0" normalizeH="0" baseline="0" noProof="0">
              <a:ln>
                <a:noFill/>
              </a:ln>
              <a:solidFill>
                <a:srgbClr val="000000"/>
              </a:solidFill>
              <a:effectLst/>
              <a:uLnTx/>
              <a:uFillTx/>
              <a:latin typeface="Tahoma" panose="020B0604030504040204" pitchFamily="34" charset="0"/>
              <a:ea typeface="ＭＳ Ｐゴシック" charset="-128"/>
              <a:cs typeface="+mn-cs"/>
            </a:endParaRPr>
          </a:p>
        </p:txBody>
      </p:sp>
    </p:spTree>
    <p:extLst>
      <p:ext uri="{BB962C8B-B14F-4D97-AF65-F5344CB8AC3E}">
        <p14:creationId xmlns:p14="http://schemas.microsoft.com/office/powerpoint/2010/main" val="3456824642"/>
      </p:ext>
    </p:extLst>
  </p:cSld>
  <p:clrMapOvr>
    <a:masterClrMapping/>
  </p:clrMapOvr>
  <mc:AlternateContent xmlns:mc="http://schemas.openxmlformats.org/markup-compatibility/2006" xmlns:p14="http://schemas.microsoft.com/office/powerpoint/2010/main">
    <mc:Choice Requires="p14">
      <p:transition spd="slow" p14:dur="2000" advTm="27891"/>
    </mc:Choice>
    <mc:Fallback xmlns="">
      <p:transition spd="slow" advTm="27891"/>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42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4ED4566-37DA-4289-9C5E-6C1FE2B79BCE}"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03427" name="Rectangle 2"/>
          <p:cNvSpPr>
            <a:spLocks noGrp="1" noChangeArrowheads="1"/>
          </p:cNvSpPr>
          <p:nvPr>
            <p:ph type="title"/>
          </p:nvPr>
        </p:nvSpPr>
        <p:spPr>
          <a:xfrm>
            <a:off x="228600" y="0"/>
            <a:ext cx="8915400" cy="1143000"/>
          </a:xfrm>
        </p:spPr>
        <p:txBody>
          <a:bodyPr/>
          <a:lstStyle/>
          <a:p>
            <a:pPr algn="l"/>
            <a:r>
              <a:rPr lang="en-US" altLang="en-US" sz="3600" dirty="0">
                <a:solidFill>
                  <a:srgbClr val="1F497D"/>
                </a:solidFill>
                <a:latin typeface="Tahoma"/>
                <a:ea typeface="ＭＳ Ｐゴシック"/>
              </a:rPr>
              <a:t>Example: A real company’s share price</a:t>
            </a:r>
          </a:p>
        </p:txBody>
      </p:sp>
      <p:sp>
        <p:nvSpPr>
          <p:cNvPr id="237571" name="Rectangle 3"/>
          <p:cNvSpPr>
            <a:spLocks noGrp="1" noChangeArrowheads="1"/>
          </p:cNvSpPr>
          <p:nvPr>
            <p:ph type="body" idx="1"/>
          </p:nvPr>
        </p:nvSpPr>
        <p:spPr>
          <a:xfrm>
            <a:off x="457200" y="1143000"/>
            <a:ext cx="8229600" cy="5638800"/>
          </a:xfrm>
        </p:spPr>
        <p:txBody>
          <a:bodyPr/>
          <a:lstStyle/>
          <a:p>
            <a:pPr algn="just">
              <a:buClr>
                <a:srgbClr val="002060"/>
              </a:buClr>
              <a:buFont typeface="Arial" panose="020B0604020202020204" pitchFamily="34" charset="0"/>
              <a:buChar char="•"/>
            </a:pPr>
            <a:r>
              <a:rPr lang="en-US" altLang="en-US" sz="2200" dirty="0"/>
              <a:t>Current share price = 144.93; Current Beta = 1.8</a:t>
            </a:r>
          </a:p>
          <a:p>
            <a:pPr algn="just">
              <a:buClr>
                <a:srgbClr val="002060"/>
              </a:buClr>
              <a:buFont typeface="Arial" panose="020B0604020202020204" pitchFamily="34" charset="0"/>
              <a:buChar char="•"/>
            </a:pPr>
            <a:r>
              <a:rPr lang="en-US" altLang="en-US" sz="2200" dirty="0"/>
              <a:t>The global demand for mining minerals…</a:t>
            </a:r>
          </a:p>
          <a:p>
            <a:pPr algn="just">
              <a:buClr>
                <a:srgbClr val="002060"/>
              </a:buClr>
              <a:buFont typeface="Arial" panose="020B0604020202020204" pitchFamily="34" charset="0"/>
              <a:buChar char="•"/>
            </a:pPr>
            <a:r>
              <a:rPr lang="en-US" altLang="en-US" sz="2200" dirty="0"/>
              <a:t>Can we deduce the share price’s dependency on the economy by looking at its beta?</a:t>
            </a:r>
          </a:p>
          <a:p>
            <a:pPr lvl="1" algn="just">
              <a:buClr>
                <a:srgbClr val="002060"/>
              </a:buClr>
              <a:buFont typeface="Arial" panose="020B0604020202020204" pitchFamily="34" charset="0"/>
              <a:buChar char="•"/>
            </a:pPr>
            <a:r>
              <a:rPr lang="en-US" altLang="en-US" sz="2200" dirty="0"/>
              <a:t>Its </a:t>
            </a:r>
            <a:r>
              <a:rPr lang="en-US" altLang="en-US" sz="2200" dirty="0">
                <a:sym typeface="Symbol" panose="05050102010706020507" pitchFamily="18" charset="2"/>
              </a:rPr>
              <a:t></a:t>
            </a:r>
            <a:r>
              <a:rPr lang="en-US" altLang="en-US" sz="2200" dirty="0"/>
              <a:t> &gt; 1 which means it </a:t>
            </a:r>
            <a:r>
              <a:rPr lang="en-US" altLang="en-US" sz="2200" b="1" dirty="0"/>
              <a:t>reacts more severely</a:t>
            </a:r>
            <a:r>
              <a:rPr lang="en-US" altLang="en-US" sz="2200" dirty="0"/>
              <a:t> to overall market fluctuations, if the economy grows, they prosper more than average, but when it slows down, they suffer more than average (fewer platinum based products are being sold). If just over 1: only reacts </a:t>
            </a:r>
            <a:r>
              <a:rPr lang="en-US" altLang="en-US" sz="2200" i="1" dirty="0"/>
              <a:t>slightly</a:t>
            </a:r>
            <a:r>
              <a:rPr lang="en-US" altLang="en-US" sz="2200" dirty="0"/>
              <a:t> more than the average share in the market.</a:t>
            </a:r>
          </a:p>
          <a:p>
            <a:pPr lvl="1" algn="just">
              <a:buClr>
                <a:srgbClr val="002060"/>
              </a:buClr>
              <a:buFont typeface="Arial" panose="020B0604020202020204" pitchFamily="34" charset="0"/>
              <a:buChar char="•"/>
            </a:pPr>
            <a:r>
              <a:rPr lang="en-US" altLang="en-US" sz="2200" dirty="0">
                <a:solidFill>
                  <a:srgbClr val="FF0000"/>
                </a:solidFill>
              </a:rPr>
              <a:t>Think about how the last few years influenced companies operating in the mining industry…..</a:t>
            </a:r>
          </a:p>
        </p:txBody>
      </p:sp>
    </p:spTree>
    <p:extLst>
      <p:ext uri="{BB962C8B-B14F-4D97-AF65-F5344CB8AC3E}">
        <p14:creationId xmlns:p14="http://schemas.microsoft.com/office/powerpoint/2010/main" val="171022150"/>
      </p:ext>
    </p:extLst>
  </p:cSld>
  <p:clrMapOvr>
    <a:masterClrMapping/>
  </p:clrMapOvr>
  <mc:AlternateContent xmlns:mc="http://schemas.openxmlformats.org/markup-compatibility/2006" xmlns:p14="http://schemas.microsoft.com/office/powerpoint/2010/main">
    <mc:Choice Requires="p14">
      <p:transition spd="slow" p14:dur="2000" advTm="61454"/>
    </mc:Choice>
    <mc:Fallback xmlns="">
      <p:transition spd="slow" advTm="61454"/>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6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E3AF1FD-6B6E-4DF9-B242-CF1362E82D5A}"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92163" name="Rectangle 2"/>
          <p:cNvSpPr>
            <a:spLocks noGrp="1" noChangeArrowheads="1"/>
          </p:cNvSpPr>
          <p:nvPr>
            <p:ph type="title"/>
          </p:nvPr>
        </p:nvSpPr>
        <p:spPr>
          <a:xfrm>
            <a:off x="152400" y="0"/>
            <a:ext cx="8686800" cy="1143000"/>
          </a:xfrm>
        </p:spPr>
        <p:txBody>
          <a:bodyPr/>
          <a:lstStyle/>
          <a:p>
            <a:pPr algn="l"/>
            <a:r>
              <a:rPr kumimoji="0" lang="en-US" sz="3600" b="0" i="0" u="none" strike="noStrike" kern="0" cap="none" spc="0" normalizeH="0" baseline="0" noProof="0" dirty="0">
                <a:ln>
                  <a:noFill/>
                </a:ln>
                <a:solidFill>
                  <a:srgbClr val="1F497D"/>
                </a:solidFill>
                <a:effectLst/>
                <a:uLnTx/>
                <a:uFillTx/>
                <a:latin typeface="Tahoma"/>
                <a:ea typeface="ＭＳ Ｐゴシック"/>
                <a:cs typeface="+mj-cs"/>
              </a:rPr>
              <a:t>Component costs: Ordinary shares (cont.)</a:t>
            </a:r>
            <a:endParaRPr lang="en-US" altLang="en-US" sz="3600" dirty="0">
              <a:solidFill>
                <a:srgbClr val="000099"/>
              </a:solidFill>
            </a:endParaRPr>
          </a:p>
        </p:txBody>
      </p:sp>
      <p:sp>
        <p:nvSpPr>
          <p:cNvPr id="92164" name="Rectangle 3"/>
          <p:cNvSpPr>
            <a:spLocks noGrp="1" noChangeArrowheads="1"/>
          </p:cNvSpPr>
          <p:nvPr>
            <p:ph type="body" idx="1"/>
          </p:nvPr>
        </p:nvSpPr>
        <p:spPr>
          <a:xfrm>
            <a:off x="304800" y="990600"/>
            <a:ext cx="8229600" cy="5486400"/>
          </a:xfrm>
        </p:spPr>
        <p:txBody>
          <a:bodyPr/>
          <a:lstStyle/>
          <a:p>
            <a:pPr algn="just">
              <a:spcBef>
                <a:spcPts val="0"/>
              </a:spcBef>
              <a:buClr>
                <a:srgbClr val="002060"/>
              </a:buClr>
              <a:buFont typeface="Arial" panose="020B0604020202020204" pitchFamily="34" charset="0"/>
              <a:buChar char="•"/>
            </a:pPr>
            <a:r>
              <a:rPr lang="en-ZA" altLang="en-US" dirty="0"/>
              <a:t>The dividend growth model (quick recap)</a:t>
            </a:r>
          </a:p>
          <a:p>
            <a:pPr marL="357188" lvl="1" indent="0" algn="just">
              <a:spcBef>
                <a:spcPts val="0"/>
              </a:spcBef>
              <a:buClr>
                <a:srgbClr val="002060"/>
              </a:buClr>
              <a:buNone/>
            </a:pPr>
            <a:endParaRPr lang="en-US" altLang="en-US" dirty="0"/>
          </a:p>
          <a:p>
            <a:pPr marL="357188" lvl="1" indent="0" algn="just">
              <a:spcBef>
                <a:spcPts val="0"/>
              </a:spcBef>
              <a:buFontTx/>
              <a:buNone/>
            </a:pPr>
            <a:r>
              <a:rPr lang="en-US" altLang="en-US" dirty="0"/>
              <a:t>Jumbo Burgers Ltd, a large public company, paid a dividend of R4 per share last year. The share price is currently R60. You estimate that the dividend will grow steadily at 6% per year into the indefinite future. What is the cost of equity (ordinary share) capital for Jumbo?</a:t>
            </a:r>
          </a:p>
          <a:p>
            <a:pPr marL="357188" lvl="1" indent="0" algn="just">
              <a:spcBef>
                <a:spcPts val="0"/>
              </a:spcBef>
              <a:buFontTx/>
              <a:buNone/>
            </a:pPr>
            <a:endParaRPr lang="en-US" altLang="en-US" sz="300" dirty="0"/>
          </a:p>
          <a:p>
            <a:pPr marL="357188" lvl="1" indent="0" algn="just">
              <a:spcBef>
                <a:spcPts val="0"/>
              </a:spcBef>
              <a:buFontTx/>
              <a:buNone/>
            </a:pPr>
            <a:endParaRPr lang="en-US" altLang="en-US" dirty="0"/>
          </a:p>
          <a:p>
            <a:pPr marL="357188" lvl="1" indent="0" algn="just">
              <a:spcBef>
                <a:spcPts val="0"/>
              </a:spcBef>
              <a:buFontTx/>
              <a:buNone/>
            </a:pPr>
            <a:r>
              <a:rPr lang="en-US" altLang="en-US" dirty="0"/>
              <a:t>[You are required to calculate the return. </a:t>
            </a:r>
          </a:p>
          <a:p>
            <a:pPr marL="357188" lvl="1" indent="0" algn="just">
              <a:spcBef>
                <a:spcPts val="0"/>
              </a:spcBef>
              <a:buFontTx/>
              <a:buNone/>
            </a:pPr>
            <a:r>
              <a:rPr lang="en-US" altLang="en-US" dirty="0" err="1"/>
              <a:t>k</a:t>
            </a:r>
            <a:r>
              <a:rPr lang="en-US" altLang="en-US" baseline="-25000" dirty="0" err="1"/>
              <a:t>s</a:t>
            </a:r>
            <a:r>
              <a:rPr lang="en-US" altLang="en-US" dirty="0"/>
              <a:t> or </a:t>
            </a:r>
            <a:r>
              <a:rPr lang="en-US" altLang="en-US" dirty="0" err="1"/>
              <a:t>k</a:t>
            </a:r>
            <a:r>
              <a:rPr lang="en-US" altLang="en-US" baseline="-25000" dirty="0" err="1"/>
              <a:t>n</a:t>
            </a:r>
            <a:r>
              <a:rPr lang="en-US" altLang="en-US" dirty="0"/>
              <a:t> is the return that the shareholders require, thus it can be interpreted as the cost of equity (ordinary share) capital for the firm]</a:t>
            </a:r>
          </a:p>
        </p:txBody>
      </p:sp>
    </p:spTree>
    <p:extLst>
      <p:ext uri="{BB962C8B-B14F-4D97-AF65-F5344CB8AC3E}">
        <p14:creationId xmlns:p14="http://schemas.microsoft.com/office/powerpoint/2010/main" val="323764039"/>
      </p:ext>
    </p:extLst>
  </p:cSld>
  <p:clrMapOvr>
    <a:masterClrMapping/>
  </p:clrMapOvr>
  <mc:AlternateContent xmlns:mc="http://schemas.openxmlformats.org/markup-compatibility/2006" xmlns:p14="http://schemas.microsoft.com/office/powerpoint/2010/main">
    <mc:Choice Requires="p14">
      <p:transition spd="slow" p14:dur="2000" advTm="44665"/>
    </mc:Choice>
    <mc:Fallback xmlns="">
      <p:transition spd="slow" advTm="44665"/>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0" name="Slide Number Placeholder 4"/>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91CD317-6BBC-4BF8-A603-EAFD190E8D11}"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21</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94211" name="Rectangle 2"/>
          <p:cNvSpPr>
            <a:spLocks noGrp="1" noChangeArrowheads="1"/>
          </p:cNvSpPr>
          <p:nvPr>
            <p:ph type="title"/>
          </p:nvPr>
        </p:nvSpPr>
        <p:spPr>
          <a:xfrm>
            <a:off x="152400" y="0"/>
            <a:ext cx="8763000" cy="1143000"/>
          </a:xfrm>
        </p:spPr>
        <p:txBody>
          <a:bodyPr/>
          <a:lstStyle/>
          <a:p>
            <a:pPr algn="l"/>
            <a:r>
              <a:rPr kumimoji="0" lang="en-US" sz="3600" b="0" i="0" u="none" strike="noStrike" kern="0" cap="none" spc="0" normalizeH="0" baseline="0" noProof="0" dirty="0">
                <a:ln>
                  <a:noFill/>
                </a:ln>
                <a:solidFill>
                  <a:srgbClr val="1F497D"/>
                </a:solidFill>
                <a:effectLst/>
                <a:uLnTx/>
                <a:uFillTx/>
                <a:latin typeface="Tahoma"/>
                <a:ea typeface="ＭＳ Ｐゴシック"/>
                <a:cs typeface="+mj-cs"/>
              </a:rPr>
              <a:t>Component costs: Ordinary shares (cont.)</a:t>
            </a:r>
            <a:endParaRPr lang="en-US" altLang="en-US" sz="3600" dirty="0">
              <a:solidFill>
                <a:srgbClr val="000099"/>
              </a:solidFill>
            </a:endParaRPr>
          </a:p>
        </p:txBody>
      </p:sp>
      <p:sp>
        <p:nvSpPr>
          <p:cNvPr id="94212" name="Rectangle 5"/>
          <p:cNvSpPr>
            <a:spLocks noGrp="1" noChangeArrowheads="1"/>
          </p:cNvSpPr>
          <p:nvPr>
            <p:ph type="body" sz="half" idx="1"/>
          </p:nvPr>
        </p:nvSpPr>
        <p:spPr>
          <a:xfrm>
            <a:off x="685800" y="1066800"/>
            <a:ext cx="8077200" cy="5486400"/>
          </a:xfrm>
          <a:noFill/>
        </p:spPr>
        <p:txBody>
          <a:bodyPr/>
          <a:lstStyle/>
          <a:p>
            <a:pPr>
              <a:lnSpc>
                <a:spcPct val="90000"/>
              </a:lnSpc>
              <a:buClr>
                <a:srgbClr val="002060"/>
              </a:buClr>
              <a:buFont typeface="Arial" panose="020B0604020202020204" pitchFamily="34" charset="0"/>
              <a:buChar char="•"/>
            </a:pPr>
            <a:r>
              <a:rPr lang="en-US" altLang="en-US" sz="2400" dirty="0"/>
              <a:t>Use the dividend growth model   </a:t>
            </a:r>
          </a:p>
          <a:p>
            <a:pPr>
              <a:lnSpc>
                <a:spcPct val="90000"/>
              </a:lnSpc>
              <a:buClr>
                <a:srgbClr val="002060"/>
              </a:buClr>
              <a:buFont typeface="Arial" panose="020B0604020202020204" pitchFamily="34" charset="0"/>
              <a:buChar char="•"/>
            </a:pPr>
            <a:endParaRPr lang="en-US" altLang="en-US" sz="2400" b="1" dirty="0">
              <a:solidFill>
                <a:srgbClr val="C00000"/>
              </a:solidFill>
            </a:endParaRPr>
          </a:p>
          <a:p>
            <a:pPr marL="0" indent="0">
              <a:lnSpc>
                <a:spcPct val="90000"/>
              </a:lnSpc>
              <a:buClr>
                <a:srgbClr val="002060"/>
              </a:buClr>
              <a:buNone/>
            </a:pPr>
            <a:r>
              <a:rPr lang="en-US" altLang="en-US" sz="2400" b="1" dirty="0" err="1">
                <a:solidFill>
                  <a:srgbClr val="C00000"/>
                </a:solidFill>
              </a:rPr>
              <a:t>k</a:t>
            </a:r>
            <a:r>
              <a:rPr lang="en-US" altLang="en-US" sz="2400" b="1" baseline="-25000" dirty="0" err="1">
                <a:solidFill>
                  <a:srgbClr val="C00000"/>
                </a:solidFill>
              </a:rPr>
              <a:t>s</a:t>
            </a:r>
            <a:r>
              <a:rPr lang="en-US" altLang="en-US" sz="2400" b="1" dirty="0">
                <a:solidFill>
                  <a:srgbClr val="C00000"/>
                </a:solidFill>
              </a:rPr>
              <a:t> 	= (D</a:t>
            </a:r>
            <a:r>
              <a:rPr lang="en-US" altLang="en-US" sz="2400" b="1" baseline="-25000" dirty="0">
                <a:solidFill>
                  <a:srgbClr val="C00000"/>
                </a:solidFill>
              </a:rPr>
              <a:t>1</a:t>
            </a:r>
            <a:r>
              <a:rPr lang="en-US" altLang="en-US" sz="2400" b="1" dirty="0">
                <a:solidFill>
                  <a:srgbClr val="C00000"/>
                </a:solidFill>
              </a:rPr>
              <a:t> / P</a:t>
            </a:r>
            <a:r>
              <a:rPr lang="en-US" altLang="en-US" sz="2400" b="1" baseline="-25000" dirty="0">
                <a:solidFill>
                  <a:srgbClr val="C00000"/>
                </a:solidFill>
              </a:rPr>
              <a:t>0</a:t>
            </a:r>
            <a:r>
              <a:rPr lang="en-US" altLang="en-US" sz="2400" b="1" dirty="0">
                <a:solidFill>
                  <a:srgbClr val="C00000"/>
                </a:solidFill>
              </a:rPr>
              <a:t>) + g</a:t>
            </a:r>
          </a:p>
          <a:p>
            <a:pPr>
              <a:lnSpc>
                <a:spcPct val="90000"/>
              </a:lnSpc>
              <a:buClr>
                <a:srgbClr val="002060"/>
              </a:buClr>
              <a:buFont typeface="Arial" panose="020B0604020202020204" pitchFamily="34" charset="0"/>
              <a:buChar char="•"/>
            </a:pPr>
            <a:endParaRPr lang="en-US" altLang="en-US" sz="2400" b="1" dirty="0">
              <a:solidFill>
                <a:srgbClr val="FF3300"/>
              </a:solidFill>
            </a:endParaRPr>
          </a:p>
          <a:p>
            <a:pPr marL="0" indent="0">
              <a:lnSpc>
                <a:spcPct val="90000"/>
              </a:lnSpc>
              <a:buClr>
                <a:srgbClr val="002060"/>
              </a:buClr>
              <a:buNone/>
            </a:pPr>
            <a:r>
              <a:rPr lang="en-US" altLang="en-US" sz="2400" dirty="0"/>
              <a:t>D</a:t>
            </a:r>
            <a:r>
              <a:rPr lang="en-US" altLang="en-US" sz="2400" baseline="-25000" dirty="0"/>
              <a:t>1</a:t>
            </a:r>
            <a:r>
              <a:rPr lang="en-US" altLang="en-US" sz="2400" dirty="0"/>
              <a:t> 	= D</a:t>
            </a:r>
            <a:r>
              <a:rPr lang="en-US" altLang="en-US" sz="2400" baseline="-25000" dirty="0"/>
              <a:t>0</a:t>
            </a:r>
            <a:r>
              <a:rPr lang="en-US" altLang="en-US" sz="2400" dirty="0"/>
              <a:t>(1 + g)</a:t>
            </a:r>
          </a:p>
          <a:p>
            <a:pPr marL="0" indent="0">
              <a:lnSpc>
                <a:spcPct val="90000"/>
              </a:lnSpc>
              <a:buClr>
                <a:srgbClr val="002060"/>
              </a:buClr>
              <a:buNone/>
            </a:pPr>
            <a:r>
              <a:rPr lang="en-US" altLang="en-US" sz="2400" dirty="0"/>
              <a:t>     	= 4(1.06)</a:t>
            </a:r>
          </a:p>
          <a:p>
            <a:pPr marL="0" indent="0">
              <a:lnSpc>
                <a:spcPct val="90000"/>
              </a:lnSpc>
              <a:buClr>
                <a:srgbClr val="002060"/>
              </a:buClr>
              <a:buNone/>
            </a:pPr>
            <a:r>
              <a:rPr lang="en-US" altLang="en-US" sz="2400" dirty="0"/>
              <a:t>	= </a:t>
            </a:r>
            <a:r>
              <a:rPr lang="en-US" altLang="en-US" sz="2400" b="1" dirty="0">
                <a:solidFill>
                  <a:srgbClr val="C00000"/>
                </a:solidFill>
              </a:rPr>
              <a:t>R4.24</a:t>
            </a:r>
          </a:p>
          <a:p>
            <a:pPr>
              <a:lnSpc>
                <a:spcPct val="90000"/>
              </a:lnSpc>
              <a:buClr>
                <a:srgbClr val="002060"/>
              </a:buClr>
              <a:buFont typeface="Arial" panose="020B0604020202020204" pitchFamily="34" charset="0"/>
              <a:buChar char="•"/>
            </a:pPr>
            <a:endParaRPr lang="en-US" altLang="en-US" sz="2400" b="1" dirty="0">
              <a:solidFill>
                <a:srgbClr val="FF3300"/>
              </a:solidFill>
            </a:endParaRPr>
          </a:p>
          <a:p>
            <a:pPr marL="0" indent="0">
              <a:lnSpc>
                <a:spcPct val="90000"/>
              </a:lnSpc>
              <a:buClr>
                <a:srgbClr val="002060"/>
              </a:buClr>
              <a:buNone/>
            </a:pPr>
            <a:r>
              <a:rPr lang="en-US" altLang="en-US" sz="2400" b="1" dirty="0" err="1">
                <a:solidFill>
                  <a:srgbClr val="C00000"/>
                </a:solidFill>
              </a:rPr>
              <a:t>k</a:t>
            </a:r>
            <a:r>
              <a:rPr lang="en-US" altLang="en-US" sz="2400" b="1" baseline="-25000" dirty="0" err="1">
                <a:solidFill>
                  <a:srgbClr val="C00000"/>
                </a:solidFill>
              </a:rPr>
              <a:t>s</a:t>
            </a:r>
            <a:r>
              <a:rPr lang="en-US" altLang="en-US" sz="2400" b="1" dirty="0">
                <a:solidFill>
                  <a:srgbClr val="C00000"/>
                </a:solidFill>
              </a:rPr>
              <a:t> 	= (D</a:t>
            </a:r>
            <a:r>
              <a:rPr lang="en-US" altLang="en-US" sz="2400" b="1" baseline="-25000" dirty="0">
                <a:solidFill>
                  <a:srgbClr val="C00000"/>
                </a:solidFill>
              </a:rPr>
              <a:t>1</a:t>
            </a:r>
            <a:r>
              <a:rPr lang="en-US" altLang="en-US" sz="2400" b="1" dirty="0">
                <a:solidFill>
                  <a:srgbClr val="C00000"/>
                </a:solidFill>
              </a:rPr>
              <a:t> / P</a:t>
            </a:r>
            <a:r>
              <a:rPr lang="en-US" altLang="en-US" sz="2400" b="1" baseline="-25000" dirty="0">
                <a:solidFill>
                  <a:srgbClr val="C00000"/>
                </a:solidFill>
              </a:rPr>
              <a:t>0</a:t>
            </a:r>
            <a:r>
              <a:rPr lang="en-US" altLang="en-US" sz="2400" b="1" dirty="0">
                <a:solidFill>
                  <a:srgbClr val="C00000"/>
                </a:solidFill>
              </a:rPr>
              <a:t>) + g</a:t>
            </a:r>
          </a:p>
          <a:p>
            <a:pPr marL="0" indent="0">
              <a:lnSpc>
                <a:spcPct val="90000"/>
              </a:lnSpc>
              <a:buClr>
                <a:srgbClr val="002060"/>
              </a:buClr>
              <a:buNone/>
            </a:pPr>
            <a:r>
              <a:rPr lang="en-US" altLang="en-US" sz="2400" dirty="0"/>
              <a:t>	= (4.24 / 60) + 0.06</a:t>
            </a:r>
          </a:p>
          <a:p>
            <a:pPr>
              <a:lnSpc>
                <a:spcPct val="90000"/>
              </a:lnSpc>
              <a:buFontTx/>
              <a:buNone/>
            </a:pPr>
            <a:r>
              <a:rPr lang="en-US" altLang="en-US" sz="2400" dirty="0"/>
              <a:t>		= </a:t>
            </a:r>
            <a:r>
              <a:rPr lang="en-US" altLang="en-US" sz="2400" b="1" dirty="0">
                <a:solidFill>
                  <a:srgbClr val="C00000"/>
                </a:solidFill>
              </a:rPr>
              <a:t>13.07% </a:t>
            </a:r>
          </a:p>
          <a:p>
            <a:pPr>
              <a:lnSpc>
                <a:spcPct val="90000"/>
              </a:lnSpc>
              <a:buFontTx/>
              <a:buNone/>
            </a:pPr>
            <a:r>
              <a:rPr lang="en-US" altLang="en-US" sz="2400" b="1" dirty="0">
                <a:solidFill>
                  <a:srgbClr val="C00000"/>
                </a:solidFill>
              </a:rPr>
              <a:t>		(Remember to show your answer as a %)</a:t>
            </a:r>
          </a:p>
          <a:p>
            <a:pPr>
              <a:lnSpc>
                <a:spcPct val="90000"/>
              </a:lnSpc>
              <a:buFontTx/>
              <a:buNone/>
            </a:pPr>
            <a:endParaRPr lang="en-US" altLang="en-US" sz="2400" dirty="0"/>
          </a:p>
        </p:txBody>
      </p:sp>
      <p:sp>
        <p:nvSpPr>
          <p:cNvPr id="94213" name="Rectangle 9"/>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ZA" altLang="en-US" sz="38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Tree>
    <p:extLst>
      <p:ext uri="{BB962C8B-B14F-4D97-AF65-F5344CB8AC3E}">
        <p14:creationId xmlns:p14="http://schemas.microsoft.com/office/powerpoint/2010/main" val="2254261979"/>
      </p:ext>
    </p:extLst>
  </p:cSld>
  <p:clrMapOvr>
    <a:masterClrMapping/>
  </p:clrMapOvr>
  <mc:AlternateContent xmlns:mc="http://schemas.openxmlformats.org/markup-compatibility/2006" xmlns:p14="http://schemas.microsoft.com/office/powerpoint/2010/main">
    <mc:Choice Requires="p14">
      <p:transition spd="slow" p14:dur="2000" advTm="70275"/>
    </mc:Choice>
    <mc:Fallback xmlns="">
      <p:transition spd="slow" advTm="7027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4212">
                                            <p:txEl>
                                              <p:pRg st="4" end="4"/>
                                            </p:txEl>
                                          </p:spTgt>
                                        </p:tgtEl>
                                        <p:attrNameLst>
                                          <p:attrName>style.visibility</p:attrName>
                                        </p:attrNameLst>
                                      </p:cBhvr>
                                      <p:to>
                                        <p:strVal val="visible"/>
                                      </p:to>
                                    </p:set>
                                    <p:anim calcmode="lin" valueType="num">
                                      <p:cBhvr additive="base">
                                        <p:cTn id="7" dur="500" fill="hold"/>
                                        <p:tgtEl>
                                          <p:spTgt spid="94212">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4212">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4212">
                                            <p:txEl>
                                              <p:pRg st="5" end="5"/>
                                            </p:txEl>
                                          </p:spTgt>
                                        </p:tgtEl>
                                        <p:attrNameLst>
                                          <p:attrName>style.visibility</p:attrName>
                                        </p:attrNameLst>
                                      </p:cBhvr>
                                      <p:to>
                                        <p:strVal val="visible"/>
                                      </p:to>
                                    </p:set>
                                    <p:anim calcmode="lin" valueType="num">
                                      <p:cBhvr additive="base">
                                        <p:cTn id="11" dur="500" fill="hold"/>
                                        <p:tgtEl>
                                          <p:spTgt spid="94212">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4212">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4212">
                                            <p:txEl>
                                              <p:pRg st="6" end="6"/>
                                            </p:txEl>
                                          </p:spTgt>
                                        </p:tgtEl>
                                        <p:attrNameLst>
                                          <p:attrName>style.visibility</p:attrName>
                                        </p:attrNameLst>
                                      </p:cBhvr>
                                      <p:to>
                                        <p:strVal val="visible"/>
                                      </p:to>
                                    </p:set>
                                    <p:anim calcmode="lin" valueType="num">
                                      <p:cBhvr additive="base">
                                        <p:cTn id="15" dur="500" fill="hold"/>
                                        <p:tgtEl>
                                          <p:spTgt spid="94212">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421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94212">
                                            <p:txEl>
                                              <p:pRg st="8" end="8"/>
                                            </p:txEl>
                                          </p:spTgt>
                                        </p:tgtEl>
                                        <p:attrNameLst>
                                          <p:attrName>style.visibility</p:attrName>
                                        </p:attrNameLst>
                                      </p:cBhvr>
                                      <p:to>
                                        <p:strVal val="visible"/>
                                      </p:to>
                                    </p:set>
                                    <p:anim calcmode="lin" valueType="num">
                                      <p:cBhvr additive="base">
                                        <p:cTn id="21" dur="500" fill="hold"/>
                                        <p:tgtEl>
                                          <p:spTgt spid="94212">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94212">
                                            <p:txEl>
                                              <p:pRg st="8" end="8"/>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94212">
                                            <p:txEl>
                                              <p:pRg st="9" end="9"/>
                                            </p:txEl>
                                          </p:spTgt>
                                        </p:tgtEl>
                                        <p:attrNameLst>
                                          <p:attrName>style.visibility</p:attrName>
                                        </p:attrNameLst>
                                      </p:cBhvr>
                                      <p:to>
                                        <p:strVal val="visible"/>
                                      </p:to>
                                    </p:set>
                                    <p:anim calcmode="lin" valueType="num">
                                      <p:cBhvr additive="base">
                                        <p:cTn id="25" dur="500" fill="hold"/>
                                        <p:tgtEl>
                                          <p:spTgt spid="94212">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4212">
                                            <p:txEl>
                                              <p:pRg st="9" end="9"/>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94212">
                                            <p:txEl>
                                              <p:pRg st="10" end="10"/>
                                            </p:txEl>
                                          </p:spTgt>
                                        </p:tgtEl>
                                        <p:attrNameLst>
                                          <p:attrName>style.visibility</p:attrName>
                                        </p:attrNameLst>
                                      </p:cBhvr>
                                      <p:to>
                                        <p:strVal val="visible"/>
                                      </p:to>
                                    </p:set>
                                    <p:anim calcmode="lin" valueType="num">
                                      <p:cBhvr additive="base">
                                        <p:cTn id="29" dur="500" fill="hold"/>
                                        <p:tgtEl>
                                          <p:spTgt spid="94212">
                                            <p:txEl>
                                              <p:pRg st="10" end="1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4212">
                                            <p:txEl>
                                              <p:pRg st="10" end="10"/>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94212">
                                            <p:txEl>
                                              <p:pRg st="11" end="11"/>
                                            </p:txEl>
                                          </p:spTgt>
                                        </p:tgtEl>
                                        <p:attrNameLst>
                                          <p:attrName>style.visibility</p:attrName>
                                        </p:attrNameLst>
                                      </p:cBhvr>
                                      <p:to>
                                        <p:strVal val="visible"/>
                                      </p:to>
                                    </p:set>
                                    <p:anim calcmode="lin" valueType="num">
                                      <p:cBhvr additive="base">
                                        <p:cTn id="33" dur="500" fill="hold"/>
                                        <p:tgtEl>
                                          <p:spTgt spid="94212">
                                            <p:txEl>
                                              <p:pRg st="11" end="1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4212">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0" name="Slide Number Placeholder 4"/>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91CD317-6BBC-4BF8-A603-EAFD190E8D11}"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94211" name="Rectangle 2"/>
          <p:cNvSpPr>
            <a:spLocks noGrp="1" noChangeArrowheads="1"/>
          </p:cNvSpPr>
          <p:nvPr>
            <p:ph type="title"/>
          </p:nvPr>
        </p:nvSpPr>
        <p:spPr>
          <a:xfrm>
            <a:off x="152400" y="0"/>
            <a:ext cx="8763000" cy="1143000"/>
          </a:xfrm>
        </p:spPr>
        <p:txBody>
          <a:bodyPr/>
          <a:lstStyle/>
          <a:p>
            <a:pPr algn="l"/>
            <a:r>
              <a:rPr kumimoji="0" lang="en-US" sz="3600" b="0" i="0" u="none" strike="noStrike" kern="0" cap="none" spc="0" normalizeH="0" baseline="0" noProof="0" dirty="0">
                <a:ln>
                  <a:noFill/>
                </a:ln>
                <a:solidFill>
                  <a:srgbClr val="1F497D"/>
                </a:solidFill>
                <a:effectLst/>
                <a:uLnTx/>
                <a:uFillTx/>
                <a:latin typeface="Tahoma"/>
                <a:ea typeface="ＭＳ Ｐゴシック"/>
                <a:cs typeface="+mj-cs"/>
              </a:rPr>
              <a:t>Component costs: Ordinary shares (cont.)</a:t>
            </a:r>
            <a:endParaRPr lang="en-US" altLang="en-US" sz="3600" dirty="0">
              <a:solidFill>
                <a:srgbClr val="000099"/>
              </a:solidFill>
            </a:endParaRPr>
          </a:p>
        </p:txBody>
      </p:sp>
      <p:sp>
        <p:nvSpPr>
          <p:cNvPr id="94212" name="Rectangle 5"/>
          <p:cNvSpPr>
            <a:spLocks noGrp="1" noChangeArrowheads="1"/>
          </p:cNvSpPr>
          <p:nvPr>
            <p:ph type="body" sz="half" idx="1"/>
          </p:nvPr>
        </p:nvSpPr>
        <p:spPr>
          <a:xfrm>
            <a:off x="685800" y="1066800"/>
            <a:ext cx="8077200" cy="5486400"/>
          </a:xfrm>
          <a:noFill/>
        </p:spPr>
        <p:txBody>
          <a:bodyPr/>
          <a:lstStyle/>
          <a:p>
            <a:pPr marL="0" marR="0" lvl="0" indent="0" algn="just" defTabSz="914400" rtl="0" eaLnBrk="0" fontAlgn="base" latinLnBrk="0" hangingPunct="0">
              <a:lnSpc>
                <a:spcPct val="90000"/>
              </a:lnSpc>
              <a:spcBef>
                <a:spcPct val="20000"/>
              </a:spcBef>
              <a:spcAft>
                <a:spcPct val="0"/>
              </a:spcAft>
              <a:buClrTx/>
              <a:buSzTx/>
              <a:buFontTx/>
              <a:buNone/>
              <a:tabLst/>
              <a:defRPr/>
            </a:pPr>
            <a:r>
              <a:rPr kumimoji="0" lang="en-ZA" altLang="en-US" sz="2400" b="0" i="0" u="sng" strike="noStrike" kern="0" cap="none" spc="0" normalizeH="0" baseline="0" noProof="0" dirty="0">
                <a:ln>
                  <a:noFill/>
                </a:ln>
                <a:solidFill>
                  <a:srgbClr val="000000"/>
                </a:solidFill>
                <a:effectLst/>
                <a:uLnTx/>
                <a:uFillTx/>
                <a:latin typeface="Tahoma"/>
                <a:ea typeface="+mn-ea"/>
                <a:cs typeface="+mn-cs"/>
              </a:rPr>
              <a:t>BUT</a:t>
            </a:r>
            <a:r>
              <a:rPr kumimoji="0" lang="en-ZA" altLang="en-US" sz="2400" b="0" i="0" u="none" strike="noStrike" kern="0" cap="none" spc="0" normalizeH="0" baseline="0" noProof="0" dirty="0">
                <a:ln>
                  <a:noFill/>
                </a:ln>
                <a:solidFill>
                  <a:srgbClr val="000000"/>
                </a:solidFill>
                <a:effectLst/>
                <a:uLnTx/>
                <a:uFillTx/>
                <a:latin typeface="Tahoma"/>
                <a:ea typeface="+mn-ea"/>
                <a:cs typeface="+mn-cs"/>
              </a:rPr>
              <a:t> if we have flotation (issue/admin) costs then be account for that:</a:t>
            </a:r>
          </a:p>
          <a:p>
            <a:pPr>
              <a:lnSpc>
                <a:spcPct val="90000"/>
              </a:lnSpc>
              <a:buClr>
                <a:srgbClr val="002060"/>
              </a:buClr>
              <a:buFont typeface="Arial" panose="020B0604020202020204" pitchFamily="34" charset="0"/>
              <a:buChar char="•"/>
            </a:pPr>
            <a:endParaRPr lang="en-US" altLang="en-US" sz="2400" b="1" dirty="0">
              <a:solidFill>
                <a:srgbClr val="C00000"/>
              </a:solidFill>
            </a:endParaRPr>
          </a:p>
          <a:p>
            <a:pPr marL="0" indent="0">
              <a:lnSpc>
                <a:spcPct val="90000"/>
              </a:lnSpc>
              <a:buClr>
                <a:srgbClr val="002060"/>
              </a:buClr>
              <a:buNone/>
            </a:pPr>
            <a:r>
              <a:rPr lang="en-US" altLang="en-US" sz="2400" b="1" dirty="0" err="1">
                <a:solidFill>
                  <a:srgbClr val="C00000"/>
                </a:solidFill>
              </a:rPr>
              <a:t>k</a:t>
            </a:r>
            <a:r>
              <a:rPr lang="en-US" altLang="en-US" sz="2400" b="1" baseline="-25000" dirty="0" err="1">
                <a:solidFill>
                  <a:srgbClr val="C00000"/>
                </a:solidFill>
              </a:rPr>
              <a:t>n</a:t>
            </a:r>
            <a:r>
              <a:rPr lang="en-US" altLang="en-US" sz="2400" b="1" dirty="0">
                <a:solidFill>
                  <a:srgbClr val="C00000"/>
                </a:solidFill>
              </a:rPr>
              <a:t> 	= (D</a:t>
            </a:r>
            <a:r>
              <a:rPr lang="en-US" altLang="en-US" sz="2400" b="1" baseline="-25000" dirty="0">
                <a:solidFill>
                  <a:srgbClr val="C00000"/>
                </a:solidFill>
              </a:rPr>
              <a:t>1</a:t>
            </a:r>
            <a:r>
              <a:rPr lang="en-US" altLang="en-US" sz="2400" b="1" dirty="0">
                <a:solidFill>
                  <a:srgbClr val="C00000"/>
                </a:solidFill>
              </a:rPr>
              <a:t> / N</a:t>
            </a:r>
            <a:r>
              <a:rPr lang="en-US" altLang="en-US" sz="2400" b="1" baseline="-25000" dirty="0">
                <a:solidFill>
                  <a:srgbClr val="C00000"/>
                </a:solidFill>
              </a:rPr>
              <a:t>s</a:t>
            </a:r>
            <a:r>
              <a:rPr lang="en-US" altLang="en-US" sz="2400" b="1" dirty="0">
                <a:solidFill>
                  <a:srgbClr val="C00000"/>
                </a:solidFill>
              </a:rPr>
              <a:t>) + g</a:t>
            </a:r>
          </a:p>
          <a:p>
            <a:pPr>
              <a:lnSpc>
                <a:spcPct val="90000"/>
              </a:lnSpc>
              <a:buClr>
                <a:srgbClr val="002060"/>
              </a:buClr>
              <a:buFont typeface="Arial" panose="020B0604020202020204" pitchFamily="34" charset="0"/>
              <a:buChar char="•"/>
            </a:pPr>
            <a:endParaRPr lang="en-US" altLang="en-US" sz="2400" b="1" dirty="0">
              <a:solidFill>
                <a:srgbClr val="FF3300"/>
              </a:solidFill>
            </a:endParaRPr>
          </a:p>
          <a:p>
            <a:pPr>
              <a:lnSpc>
                <a:spcPct val="90000"/>
              </a:lnSpc>
              <a:buFontTx/>
              <a:buNone/>
            </a:pPr>
            <a:r>
              <a:rPr lang="en-US" altLang="en-US" sz="2400" i="1" dirty="0"/>
              <a:t>We will look at flotation costs in later examples</a:t>
            </a:r>
            <a:r>
              <a:rPr lang="en-US" altLang="en-US" sz="2400" b="1" dirty="0">
                <a:solidFill>
                  <a:srgbClr val="C00000"/>
                </a:solidFill>
              </a:rPr>
              <a:t>	</a:t>
            </a:r>
            <a:endParaRPr lang="en-US" altLang="en-US" sz="2400" dirty="0"/>
          </a:p>
        </p:txBody>
      </p:sp>
      <p:sp>
        <p:nvSpPr>
          <p:cNvPr id="94213" name="Rectangle 9"/>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ZA" altLang="en-US" sz="38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Tree>
    <p:extLst>
      <p:ext uri="{BB962C8B-B14F-4D97-AF65-F5344CB8AC3E}">
        <p14:creationId xmlns:p14="http://schemas.microsoft.com/office/powerpoint/2010/main" val="2328763971"/>
      </p:ext>
    </p:extLst>
  </p:cSld>
  <p:clrMapOvr>
    <a:masterClrMapping/>
  </p:clrMapOvr>
  <mc:AlternateContent xmlns:mc="http://schemas.openxmlformats.org/markup-compatibility/2006" xmlns:p14="http://schemas.microsoft.com/office/powerpoint/2010/main">
    <mc:Choice Requires="p14">
      <p:transition spd="slow" p14:dur="2000" advTm="70275"/>
    </mc:Choice>
    <mc:Fallback xmlns="">
      <p:transition spd="slow" advTm="70275"/>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45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70C72B9-C29A-4F69-AA80-038BCD0069F5}"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04451" name="Rectangle 2"/>
          <p:cNvSpPr>
            <a:spLocks noGrp="1" noChangeArrowheads="1"/>
          </p:cNvSpPr>
          <p:nvPr>
            <p:ph type="title"/>
          </p:nvPr>
        </p:nvSpPr>
        <p:spPr>
          <a:xfrm>
            <a:off x="304800" y="0"/>
            <a:ext cx="8686800" cy="1143000"/>
          </a:xfrm>
        </p:spPr>
        <p:txBody>
          <a:bodyPr/>
          <a:lstStyle/>
          <a:p>
            <a:pPr algn="l"/>
            <a:r>
              <a:rPr kumimoji="0" lang="en-US" sz="3600" b="0" i="0" u="none" strike="noStrike" kern="0" cap="none" spc="0" normalizeH="0" baseline="0" noProof="0" dirty="0">
                <a:ln>
                  <a:noFill/>
                </a:ln>
                <a:solidFill>
                  <a:srgbClr val="1F497D"/>
                </a:solidFill>
                <a:effectLst/>
                <a:uLnTx/>
                <a:uFillTx/>
                <a:latin typeface="Tahoma"/>
                <a:ea typeface="ＭＳ Ｐゴシック"/>
                <a:cs typeface="+mj-cs"/>
              </a:rPr>
              <a:t>Component costs: Preference shares</a:t>
            </a:r>
            <a:endParaRPr lang="en-GB" altLang="en-US" sz="3600" dirty="0">
              <a:solidFill>
                <a:srgbClr val="000099"/>
              </a:solidFill>
            </a:endParaRPr>
          </a:p>
        </p:txBody>
      </p:sp>
      <p:sp>
        <p:nvSpPr>
          <p:cNvPr id="104452" name="Rectangle 3"/>
          <p:cNvSpPr>
            <a:spLocks noGrp="1" noChangeArrowheads="1"/>
          </p:cNvSpPr>
          <p:nvPr>
            <p:ph type="body" idx="1"/>
          </p:nvPr>
        </p:nvSpPr>
        <p:spPr>
          <a:xfrm>
            <a:off x="331177" y="990600"/>
            <a:ext cx="8305800" cy="5715000"/>
          </a:xfrm>
        </p:spPr>
        <p:txBody>
          <a:bodyPr/>
          <a:lstStyle/>
          <a:p>
            <a:pPr algn="just">
              <a:lnSpc>
                <a:spcPct val="90000"/>
              </a:lnSpc>
              <a:buClr>
                <a:srgbClr val="002060"/>
              </a:buClr>
              <a:buFont typeface="Arial" panose="020B0604020202020204" pitchFamily="34" charset="0"/>
              <a:buChar char="•"/>
            </a:pPr>
            <a:r>
              <a:rPr lang="en-ZA" altLang="en-US" sz="2400" dirty="0"/>
              <a:t>In addition to the cost of equity (which specifically consider ordinary shares), a firm can also issue preference shares as discussed in Ch 8</a:t>
            </a:r>
          </a:p>
          <a:p>
            <a:pPr algn="just">
              <a:lnSpc>
                <a:spcPct val="90000"/>
              </a:lnSpc>
              <a:buClr>
                <a:srgbClr val="002060"/>
              </a:buClr>
              <a:buFont typeface="Arial" panose="020B0604020202020204" pitchFamily="34" charset="0"/>
              <a:buChar char="•"/>
            </a:pPr>
            <a:endParaRPr lang="en-ZA" altLang="en-US" sz="1200" dirty="0"/>
          </a:p>
          <a:p>
            <a:pPr algn="just">
              <a:lnSpc>
                <a:spcPct val="90000"/>
              </a:lnSpc>
              <a:buClr>
                <a:srgbClr val="002060"/>
              </a:buClr>
              <a:buFont typeface="Arial" panose="020B0604020202020204" pitchFamily="34" charset="0"/>
              <a:buChar char="•"/>
            </a:pPr>
            <a:r>
              <a:rPr lang="en-ZA" altLang="en-US" sz="2400" dirty="0"/>
              <a:t>Therefore, we need to consider the cost of preference shares (</a:t>
            </a:r>
            <a:r>
              <a:rPr lang="en-ZA" altLang="en-US" sz="2400" dirty="0" err="1"/>
              <a:t>k</a:t>
            </a:r>
            <a:r>
              <a:rPr lang="en-ZA" altLang="en-US" sz="2400" baseline="-25000" dirty="0" err="1"/>
              <a:t>p</a:t>
            </a:r>
            <a:r>
              <a:rPr lang="en-ZA" altLang="en-US" sz="2400" dirty="0"/>
              <a:t>) </a:t>
            </a:r>
          </a:p>
          <a:p>
            <a:pPr lvl="1" algn="just">
              <a:lnSpc>
                <a:spcPct val="90000"/>
              </a:lnSpc>
              <a:buClr>
                <a:srgbClr val="002060"/>
              </a:buClr>
              <a:buFont typeface="Wingdings" panose="05000000000000000000" pitchFamily="2" charset="2"/>
              <a:buChar char="§"/>
            </a:pPr>
            <a:r>
              <a:rPr lang="en-ZA" altLang="en-US" dirty="0"/>
              <a:t>Preference shares have a fixed dividend paid every period forever…perpetuity; remember Ch 8 </a:t>
            </a:r>
          </a:p>
          <a:p>
            <a:pPr lvl="1" algn="just">
              <a:lnSpc>
                <a:spcPct val="90000"/>
              </a:lnSpc>
              <a:buClr>
                <a:srgbClr val="002060"/>
              </a:buClr>
              <a:buFont typeface="Wingdings" panose="05000000000000000000" pitchFamily="2" charset="2"/>
              <a:buChar char="§"/>
            </a:pPr>
            <a:r>
              <a:rPr lang="en-ZA" altLang="en-US" dirty="0"/>
              <a:t>Cost of preference shares = dividend yield on the preference shares</a:t>
            </a:r>
          </a:p>
          <a:p>
            <a:pPr lvl="1" algn="just">
              <a:lnSpc>
                <a:spcPct val="90000"/>
              </a:lnSpc>
              <a:buClr>
                <a:srgbClr val="002060"/>
              </a:buClr>
              <a:buFont typeface="Wingdings" panose="05000000000000000000" pitchFamily="2" charset="2"/>
              <a:buChar char="§"/>
            </a:pPr>
            <a:r>
              <a:rPr lang="en-ZA" altLang="en-US" dirty="0"/>
              <a:t>Recall: D</a:t>
            </a:r>
            <a:r>
              <a:rPr lang="en-ZA" altLang="en-US" baseline="-25000" dirty="0"/>
              <a:t>0</a:t>
            </a:r>
            <a:r>
              <a:rPr lang="en-ZA" altLang="en-US" dirty="0"/>
              <a:t> = D</a:t>
            </a:r>
            <a:r>
              <a:rPr lang="en-ZA" altLang="en-US" baseline="-25000" dirty="0"/>
              <a:t>1</a:t>
            </a:r>
            <a:r>
              <a:rPr lang="en-ZA" altLang="en-US" dirty="0"/>
              <a:t> = D</a:t>
            </a:r>
            <a:r>
              <a:rPr lang="en-ZA" altLang="en-US" baseline="-25000" dirty="0"/>
              <a:t>2</a:t>
            </a:r>
            <a:r>
              <a:rPr lang="en-ZA" altLang="en-US" dirty="0"/>
              <a:t> = </a:t>
            </a:r>
            <a:r>
              <a:rPr lang="en-ZA" altLang="en-US" dirty="0" err="1"/>
              <a:t>D</a:t>
            </a:r>
            <a:r>
              <a:rPr lang="en-ZA" altLang="en-US" baseline="-25000" dirty="0" err="1"/>
              <a:t>n</a:t>
            </a:r>
            <a:endParaRPr lang="en-ZA" altLang="en-US" b="1" dirty="0">
              <a:solidFill>
                <a:srgbClr val="FF3300"/>
              </a:solidFill>
            </a:endParaRPr>
          </a:p>
          <a:p>
            <a:pPr lvl="1" algn="just">
              <a:lnSpc>
                <a:spcPct val="90000"/>
              </a:lnSpc>
              <a:buClr>
                <a:srgbClr val="002060"/>
              </a:buClr>
              <a:buFont typeface="Arial" panose="020B0604020202020204" pitchFamily="34" charset="0"/>
              <a:buChar char="•"/>
            </a:pPr>
            <a:endParaRPr lang="en-ZA" altLang="en-US" sz="1800" b="1" dirty="0">
              <a:solidFill>
                <a:srgbClr val="FF3300"/>
              </a:solidFill>
            </a:endParaRPr>
          </a:p>
          <a:p>
            <a:pPr marL="0" indent="0" algn="just">
              <a:lnSpc>
                <a:spcPct val="90000"/>
              </a:lnSpc>
              <a:buNone/>
            </a:pPr>
            <a:r>
              <a:rPr lang="en-ZA" altLang="en-US" sz="2400" b="1" dirty="0">
                <a:solidFill>
                  <a:srgbClr val="C00000"/>
                </a:solidFill>
              </a:rPr>
              <a:t>     </a:t>
            </a:r>
            <a:r>
              <a:rPr lang="en-ZA" altLang="en-US" sz="2400" b="1" dirty="0" err="1">
                <a:solidFill>
                  <a:srgbClr val="C00000"/>
                </a:solidFill>
              </a:rPr>
              <a:t>k</a:t>
            </a:r>
            <a:r>
              <a:rPr lang="en-ZA" altLang="en-US" sz="2400" b="1" baseline="-25000" dirty="0" err="1">
                <a:solidFill>
                  <a:srgbClr val="C00000"/>
                </a:solidFill>
              </a:rPr>
              <a:t>p</a:t>
            </a:r>
            <a:r>
              <a:rPr lang="en-ZA" altLang="en-US" sz="2400" b="1" dirty="0">
                <a:solidFill>
                  <a:srgbClr val="C00000"/>
                </a:solidFill>
              </a:rPr>
              <a:t> = D / P</a:t>
            </a:r>
            <a:r>
              <a:rPr lang="en-ZA" altLang="en-US" sz="2400" b="1" baseline="-25000" dirty="0">
                <a:solidFill>
                  <a:srgbClr val="C00000"/>
                </a:solidFill>
              </a:rPr>
              <a:t>0		</a:t>
            </a:r>
            <a:r>
              <a:rPr lang="en-ZA" altLang="en-US" sz="2400" dirty="0"/>
              <a:t>as in Ch 8</a:t>
            </a:r>
          </a:p>
        </p:txBody>
      </p:sp>
    </p:spTree>
    <p:extLst>
      <p:ext uri="{BB962C8B-B14F-4D97-AF65-F5344CB8AC3E}">
        <p14:creationId xmlns:p14="http://schemas.microsoft.com/office/powerpoint/2010/main" val="320865633"/>
      </p:ext>
    </p:extLst>
  </p:cSld>
  <p:clrMapOvr>
    <a:masterClrMapping/>
  </p:clrMapOvr>
  <mc:AlternateContent xmlns:mc="http://schemas.openxmlformats.org/markup-compatibility/2006" xmlns:p14="http://schemas.microsoft.com/office/powerpoint/2010/main">
    <mc:Choice Requires="p14">
      <p:transition spd="slow" p14:dur="2000" advTm="48366"/>
    </mc:Choice>
    <mc:Fallback xmlns="">
      <p:transition spd="slow" advTm="48366"/>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547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73C9235-A6AF-49D3-BD4D-ED6ED237F252}"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05475" name="Rectangle 2"/>
          <p:cNvSpPr>
            <a:spLocks noGrp="1" noChangeArrowheads="1"/>
          </p:cNvSpPr>
          <p:nvPr>
            <p:ph type="title"/>
          </p:nvPr>
        </p:nvSpPr>
        <p:spPr>
          <a:xfrm>
            <a:off x="152400" y="0"/>
            <a:ext cx="8839200" cy="901165"/>
          </a:xfrm>
        </p:spPr>
        <p:txBody>
          <a:bodyPr/>
          <a:lstStyle/>
          <a:p>
            <a:pPr algn="l"/>
            <a:r>
              <a:rPr kumimoji="0" lang="en-US" sz="3600" b="0" i="0" u="none" strike="noStrike" kern="0" cap="none" spc="0" normalizeH="0" baseline="0" noProof="0" dirty="0">
                <a:ln>
                  <a:noFill/>
                </a:ln>
                <a:solidFill>
                  <a:srgbClr val="1F497D"/>
                </a:solidFill>
                <a:effectLst/>
                <a:uLnTx/>
                <a:uFillTx/>
                <a:latin typeface="Tahoma"/>
                <a:ea typeface="ＭＳ Ｐゴシック"/>
                <a:cs typeface="+mj-cs"/>
              </a:rPr>
              <a:t>Component costs: Preference shares </a:t>
            </a:r>
            <a:r>
              <a:rPr kumimoji="0" lang="en-US" sz="2800" b="0" i="0" u="none" strike="noStrike" kern="0" cap="none" spc="0" normalizeH="0" baseline="0" noProof="0" dirty="0">
                <a:ln>
                  <a:noFill/>
                </a:ln>
                <a:solidFill>
                  <a:srgbClr val="1F497D"/>
                </a:solidFill>
                <a:effectLst/>
                <a:uLnTx/>
                <a:uFillTx/>
                <a:latin typeface="Tahoma"/>
                <a:ea typeface="ＭＳ Ｐゴシック"/>
                <a:cs typeface="+mj-cs"/>
              </a:rPr>
              <a:t>(cont.)</a:t>
            </a:r>
            <a:endParaRPr lang="en-GB" altLang="en-US" sz="2800" dirty="0">
              <a:solidFill>
                <a:srgbClr val="000099"/>
              </a:solidFill>
            </a:endParaRPr>
          </a:p>
        </p:txBody>
      </p:sp>
      <p:sp>
        <p:nvSpPr>
          <p:cNvPr id="198659" name="Rectangle 3"/>
          <p:cNvSpPr>
            <a:spLocks noGrp="1" noChangeArrowheads="1"/>
          </p:cNvSpPr>
          <p:nvPr>
            <p:ph type="body" idx="1"/>
          </p:nvPr>
        </p:nvSpPr>
        <p:spPr>
          <a:xfrm>
            <a:off x="304800" y="762001"/>
            <a:ext cx="8382000" cy="5943600"/>
          </a:xfrm>
        </p:spPr>
        <p:txBody>
          <a:bodyPr/>
          <a:lstStyle/>
          <a:p>
            <a:pPr lvl="1" algn="just">
              <a:buClr>
                <a:srgbClr val="002060"/>
              </a:buClr>
              <a:buFont typeface="Arial" panose="020B0604020202020204" pitchFamily="34" charset="0"/>
              <a:buChar char="•"/>
            </a:pPr>
            <a:r>
              <a:rPr lang="en-US" altLang="en-US" dirty="0"/>
              <a:t>Example </a:t>
            </a:r>
          </a:p>
          <a:p>
            <a:pPr lvl="1" algn="just">
              <a:buFontTx/>
              <a:buNone/>
            </a:pPr>
            <a:endParaRPr lang="en-US" altLang="en-US" sz="1400" dirty="0"/>
          </a:p>
          <a:p>
            <a:pPr lvl="1" algn="just">
              <a:buFontTx/>
              <a:buNone/>
            </a:pPr>
            <a:r>
              <a:rPr lang="en-US" altLang="en-US" dirty="0"/>
              <a:t>	A company’s R100 preference shares are trading at par and are paying R10 per share as a preference dividend. What is the company’s cost of preference shares, </a:t>
            </a:r>
            <a:r>
              <a:rPr lang="en-US" altLang="en-US" dirty="0" err="1"/>
              <a:t>k</a:t>
            </a:r>
            <a:r>
              <a:rPr lang="en-US" altLang="en-US" baseline="-25000" dirty="0" err="1"/>
              <a:t>p</a:t>
            </a:r>
            <a:r>
              <a:rPr lang="en-US" altLang="en-US" dirty="0"/>
              <a:t>?</a:t>
            </a:r>
          </a:p>
          <a:p>
            <a:pPr lvl="1" algn="just">
              <a:buFontTx/>
              <a:buNone/>
            </a:pPr>
            <a:endParaRPr lang="en-US" altLang="en-US" sz="1200" dirty="0"/>
          </a:p>
          <a:p>
            <a:pPr marL="0" indent="0" algn="just">
              <a:buNone/>
            </a:pPr>
            <a:r>
              <a:rPr lang="en-ZA" altLang="en-US" sz="2400" b="1" dirty="0">
                <a:solidFill>
                  <a:srgbClr val="C00000"/>
                </a:solidFill>
              </a:rPr>
              <a:t>        </a:t>
            </a:r>
            <a:r>
              <a:rPr lang="en-ZA" altLang="en-US" sz="2400" b="1" dirty="0" err="1">
                <a:solidFill>
                  <a:srgbClr val="C00000"/>
                </a:solidFill>
              </a:rPr>
              <a:t>k</a:t>
            </a:r>
            <a:r>
              <a:rPr lang="en-ZA" altLang="en-US" sz="2400" b="1" baseline="-25000" dirty="0" err="1">
                <a:solidFill>
                  <a:srgbClr val="C00000"/>
                </a:solidFill>
              </a:rPr>
              <a:t>p</a:t>
            </a:r>
            <a:r>
              <a:rPr lang="en-ZA" altLang="en-US" sz="2400" b="1" dirty="0">
                <a:solidFill>
                  <a:srgbClr val="C00000"/>
                </a:solidFill>
              </a:rPr>
              <a:t> 	= D / P</a:t>
            </a:r>
            <a:r>
              <a:rPr lang="en-ZA" altLang="en-US" sz="2400" b="1" baseline="-25000" dirty="0">
                <a:solidFill>
                  <a:srgbClr val="C00000"/>
                </a:solidFill>
              </a:rPr>
              <a:t>0</a:t>
            </a:r>
          </a:p>
          <a:p>
            <a:pPr algn="just">
              <a:buFontTx/>
              <a:buNone/>
            </a:pPr>
            <a:r>
              <a:rPr lang="en-ZA" altLang="en-US" sz="2400" dirty="0"/>
              <a:t>			= 10 / 100</a:t>
            </a:r>
          </a:p>
          <a:p>
            <a:pPr algn="just">
              <a:buFontTx/>
              <a:buNone/>
            </a:pPr>
            <a:r>
              <a:rPr lang="en-ZA" altLang="en-US" sz="2400" dirty="0"/>
              <a:t>			= </a:t>
            </a:r>
            <a:r>
              <a:rPr lang="en-ZA" altLang="en-US" sz="2400" b="1" dirty="0">
                <a:solidFill>
                  <a:srgbClr val="C00000"/>
                </a:solidFill>
              </a:rPr>
              <a:t>10%</a:t>
            </a:r>
          </a:p>
          <a:p>
            <a:pPr algn="just">
              <a:buFontTx/>
              <a:buNone/>
            </a:pPr>
            <a:endParaRPr lang="en-ZA" altLang="en-US" sz="1200" b="1" dirty="0">
              <a:solidFill>
                <a:srgbClr val="C00000"/>
              </a:solidFill>
            </a:endParaRPr>
          </a:p>
          <a:p>
            <a:pPr marL="720725" marR="0" lvl="0" indent="-720725" algn="just" defTabSz="914400" rtl="0" eaLnBrk="0" fontAlgn="base" latinLnBrk="0" hangingPunct="0">
              <a:lnSpc>
                <a:spcPct val="90000"/>
              </a:lnSpc>
              <a:spcBef>
                <a:spcPct val="20000"/>
              </a:spcBef>
              <a:spcAft>
                <a:spcPct val="0"/>
              </a:spcAft>
              <a:buClrTx/>
              <a:buSzTx/>
              <a:buFontTx/>
              <a:buNone/>
              <a:tabLst/>
              <a:defRPr/>
            </a:pPr>
            <a:r>
              <a:rPr kumimoji="0" lang="en-ZA" altLang="en-US" sz="2400" b="0" i="0" strike="noStrike" kern="0" cap="none" spc="0" normalizeH="0" baseline="0" noProof="0" dirty="0">
                <a:ln>
                  <a:noFill/>
                </a:ln>
                <a:solidFill>
                  <a:srgbClr val="000000"/>
                </a:solidFill>
                <a:effectLst/>
                <a:uLnTx/>
                <a:uFillTx/>
                <a:latin typeface="Tahoma"/>
                <a:ea typeface="+mn-ea"/>
                <a:cs typeface="+mn-cs"/>
              </a:rPr>
              <a:t>        </a:t>
            </a:r>
            <a:r>
              <a:rPr kumimoji="0" lang="en-ZA" altLang="en-US" sz="2400" b="0" i="0" u="sng" strike="noStrike" kern="0" cap="none" spc="0" normalizeH="0" baseline="0" noProof="0" dirty="0">
                <a:ln>
                  <a:noFill/>
                </a:ln>
                <a:solidFill>
                  <a:srgbClr val="000000"/>
                </a:solidFill>
                <a:effectLst/>
                <a:uLnTx/>
                <a:uFillTx/>
                <a:latin typeface="Tahoma"/>
                <a:ea typeface="+mn-ea"/>
                <a:cs typeface="+mn-cs"/>
              </a:rPr>
              <a:t>BUT</a:t>
            </a:r>
            <a:r>
              <a:rPr kumimoji="0" lang="en-ZA" altLang="en-US" sz="2400" b="0" i="0" u="none" strike="noStrike" kern="0" cap="none" spc="0" normalizeH="0" baseline="0" noProof="0" dirty="0">
                <a:ln>
                  <a:noFill/>
                </a:ln>
                <a:solidFill>
                  <a:srgbClr val="000000"/>
                </a:solidFill>
                <a:effectLst/>
                <a:uLnTx/>
                <a:uFillTx/>
                <a:latin typeface="Tahoma"/>
                <a:ea typeface="+mn-ea"/>
                <a:cs typeface="+mn-cs"/>
              </a:rPr>
              <a:t> if we have flotation (issue/admin) costs then be   account for that:</a:t>
            </a:r>
          </a:p>
          <a:p>
            <a:pPr marL="0" marR="0" lvl="0" indent="0" algn="just" defTabSz="914400" rtl="0" eaLnBrk="0" fontAlgn="base" latinLnBrk="0" hangingPunct="0">
              <a:lnSpc>
                <a:spcPct val="90000"/>
              </a:lnSpc>
              <a:spcBef>
                <a:spcPct val="20000"/>
              </a:spcBef>
              <a:spcAft>
                <a:spcPct val="0"/>
              </a:spcAft>
              <a:buClrTx/>
              <a:buSzTx/>
              <a:buFontTx/>
              <a:buNone/>
              <a:tabLst/>
              <a:defRPr/>
            </a:pPr>
            <a:r>
              <a:rPr kumimoji="0" lang="en-ZA" altLang="en-US" sz="2400" b="1" i="0" u="none" strike="noStrike" kern="0" cap="none" spc="0" normalizeH="0" baseline="0" noProof="0" dirty="0">
                <a:ln>
                  <a:noFill/>
                </a:ln>
                <a:solidFill>
                  <a:srgbClr val="C00000"/>
                </a:solidFill>
                <a:effectLst/>
                <a:uLnTx/>
                <a:uFillTx/>
                <a:latin typeface="Tahoma"/>
                <a:ea typeface="+mn-ea"/>
                <a:cs typeface="+mn-cs"/>
              </a:rPr>
              <a:t>         </a:t>
            </a:r>
            <a:r>
              <a:rPr kumimoji="0" lang="en-ZA" altLang="en-US" sz="2400" b="1" i="0" u="none" strike="noStrike" kern="0" cap="none" spc="0" normalizeH="0" baseline="0" noProof="0" dirty="0" err="1">
                <a:ln>
                  <a:noFill/>
                </a:ln>
                <a:solidFill>
                  <a:srgbClr val="C00000"/>
                </a:solidFill>
                <a:effectLst/>
                <a:uLnTx/>
                <a:uFillTx/>
                <a:latin typeface="Tahoma"/>
                <a:ea typeface="+mn-ea"/>
                <a:cs typeface="+mn-cs"/>
              </a:rPr>
              <a:t>k</a:t>
            </a:r>
            <a:r>
              <a:rPr kumimoji="0" lang="en-ZA" altLang="en-US" sz="2400" b="1" i="0" u="none" strike="noStrike" kern="0" cap="none" spc="0" normalizeH="0" baseline="-25000" noProof="0" dirty="0" err="1">
                <a:ln>
                  <a:noFill/>
                </a:ln>
                <a:solidFill>
                  <a:srgbClr val="C00000"/>
                </a:solidFill>
                <a:effectLst/>
                <a:uLnTx/>
                <a:uFillTx/>
                <a:latin typeface="Tahoma"/>
                <a:ea typeface="+mn-ea"/>
                <a:cs typeface="+mn-cs"/>
              </a:rPr>
              <a:t>p</a:t>
            </a:r>
            <a:r>
              <a:rPr kumimoji="0" lang="en-ZA" altLang="en-US" sz="2400" b="1" i="0" u="none" strike="noStrike" kern="0" cap="none" spc="0" normalizeH="0" baseline="0" noProof="0" dirty="0">
                <a:ln>
                  <a:noFill/>
                </a:ln>
                <a:solidFill>
                  <a:srgbClr val="C00000"/>
                </a:solidFill>
                <a:effectLst/>
                <a:uLnTx/>
                <a:uFillTx/>
                <a:latin typeface="Tahoma"/>
                <a:ea typeface="+mn-ea"/>
                <a:cs typeface="+mn-cs"/>
              </a:rPr>
              <a:t> = D / N</a:t>
            </a:r>
            <a:r>
              <a:rPr kumimoji="0" lang="en-ZA" altLang="en-US" sz="2400" b="1" i="0" u="none" strike="noStrike" kern="0" cap="none" spc="0" normalizeH="0" baseline="-25000" noProof="0" dirty="0">
                <a:ln>
                  <a:noFill/>
                </a:ln>
                <a:solidFill>
                  <a:srgbClr val="C00000"/>
                </a:solidFill>
                <a:effectLst/>
                <a:uLnTx/>
                <a:uFillTx/>
                <a:latin typeface="Tahoma"/>
                <a:ea typeface="+mn-ea"/>
                <a:cs typeface="+mn-cs"/>
              </a:rPr>
              <a:t>p</a:t>
            </a:r>
            <a:endParaRPr kumimoji="0" lang="en-GB" altLang="en-US" sz="2800" b="1" i="0" u="none" strike="noStrike" kern="0" cap="none" spc="0" normalizeH="0" baseline="0" noProof="0" dirty="0">
              <a:ln>
                <a:noFill/>
              </a:ln>
              <a:solidFill>
                <a:srgbClr val="FF3300"/>
              </a:solidFill>
              <a:effectLst/>
              <a:uLnTx/>
              <a:uFillTx/>
              <a:latin typeface="Tahoma"/>
              <a:ea typeface="+mn-ea"/>
              <a:cs typeface="+mn-cs"/>
            </a:endParaRPr>
          </a:p>
          <a:p>
            <a:pPr lvl="1" algn="just">
              <a:buFontTx/>
              <a:buNone/>
            </a:pPr>
            <a:endParaRPr lang="en-US" altLang="en-US" sz="1050" b="1" dirty="0">
              <a:solidFill>
                <a:srgbClr val="FF3300"/>
              </a:solidFill>
            </a:endParaRPr>
          </a:p>
          <a:p>
            <a:pPr marL="0" indent="0">
              <a:buNone/>
            </a:pPr>
            <a:r>
              <a:rPr kumimoji="0" lang="en-US" altLang="en-US" sz="2400" b="0" i="1" u="none" strike="noStrike" kern="0" cap="none" spc="0" normalizeH="0" baseline="0" noProof="0" dirty="0">
                <a:ln>
                  <a:noFill/>
                </a:ln>
                <a:solidFill>
                  <a:srgbClr val="000000"/>
                </a:solidFill>
                <a:effectLst/>
                <a:uLnTx/>
                <a:uFillTx/>
                <a:latin typeface="Tahoma"/>
                <a:ea typeface="+mn-ea"/>
                <a:cs typeface="+mn-cs"/>
              </a:rPr>
              <a:t>      We will look at flotation costs in later examples</a:t>
            </a:r>
            <a:endParaRPr lang="en-GB" altLang="en-US" dirty="0"/>
          </a:p>
        </p:txBody>
      </p:sp>
    </p:spTree>
    <p:extLst>
      <p:ext uri="{BB962C8B-B14F-4D97-AF65-F5344CB8AC3E}">
        <p14:creationId xmlns:p14="http://schemas.microsoft.com/office/powerpoint/2010/main" val="4245978272"/>
      </p:ext>
    </p:extLst>
  </p:cSld>
  <p:clrMapOvr>
    <a:masterClrMapping/>
  </p:clrMapOvr>
  <mc:AlternateContent xmlns:mc="http://schemas.openxmlformats.org/markup-compatibility/2006" xmlns:p14="http://schemas.microsoft.com/office/powerpoint/2010/main">
    <mc:Choice Requires="p14">
      <p:transition spd="slow" p14:dur="2000" advTm="27359"/>
    </mc:Choice>
    <mc:Fallback xmlns="">
      <p:transition spd="slow" advTm="2735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8659">
                                            <p:txEl>
                                              <p:pRg st="8" end="8"/>
                                            </p:txEl>
                                          </p:spTgt>
                                        </p:tgtEl>
                                        <p:attrNameLst>
                                          <p:attrName>style.visibility</p:attrName>
                                        </p:attrNameLst>
                                      </p:cBhvr>
                                      <p:to>
                                        <p:strVal val="visible"/>
                                      </p:to>
                                    </p:set>
                                    <p:anim calcmode="lin" valueType="num">
                                      <p:cBhvr additive="base">
                                        <p:cTn id="7" dur="500" fill="hold"/>
                                        <p:tgtEl>
                                          <p:spTgt spid="198659">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8659">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8659">
                                            <p:txEl>
                                              <p:pRg st="9" end="9"/>
                                            </p:txEl>
                                          </p:spTgt>
                                        </p:tgtEl>
                                        <p:attrNameLst>
                                          <p:attrName>style.visibility</p:attrName>
                                        </p:attrNameLst>
                                      </p:cBhvr>
                                      <p:to>
                                        <p:strVal val="visible"/>
                                      </p:to>
                                    </p:set>
                                    <p:anim calcmode="lin" valueType="num">
                                      <p:cBhvr additive="base">
                                        <p:cTn id="11" dur="500" fill="hold"/>
                                        <p:tgtEl>
                                          <p:spTgt spid="198659">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8659">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98659">
                                            <p:txEl>
                                              <p:pRg st="11" end="11"/>
                                            </p:txEl>
                                          </p:spTgt>
                                        </p:tgtEl>
                                        <p:attrNameLst>
                                          <p:attrName>style.visibility</p:attrName>
                                        </p:attrNameLst>
                                      </p:cBhvr>
                                      <p:to>
                                        <p:strVal val="visible"/>
                                      </p:to>
                                    </p:set>
                                    <p:anim calcmode="lin" valueType="num">
                                      <p:cBhvr additive="base">
                                        <p:cTn id="15" dur="500" fill="hold"/>
                                        <p:tgtEl>
                                          <p:spTgt spid="198659">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98659">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649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4674C2A-66D6-4855-B9B6-BF7189DD0FE9}"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06499" name="Rectangle 2"/>
          <p:cNvSpPr>
            <a:spLocks noGrp="1" noChangeArrowheads="1"/>
          </p:cNvSpPr>
          <p:nvPr>
            <p:ph type="title"/>
          </p:nvPr>
        </p:nvSpPr>
        <p:spPr>
          <a:xfrm>
            <a:off x="457200" y="-17585"/>
            <a:ext cx="6649278" cy="1143000"/>
          </a:xfrm>
        </p:spPr>
        <p:txBody>
          <a:bodyPr/>
          <a:lstStyle/>
          <a:p>
            <a:pPr algn="l"/>
            <a:r>
              <a:rPr kumimoji="0" lang="en-US" sz="3600" b="0" i="0" u="none" strike="noStrike" kern="0" cap="none" spc="0" normalizeH="0" baseline="0" noProof="0" dirty="0">
                <a:ln>
                  <a:noFill/>
                </a:ln>
                <a:solidFill>
                  <a:srgbClr val="1F497D"/>
                </a:solidFill>
                <a:effectLst/>
                <a:uLnTx/>
                <a:uFillTx/>
                <a:latin typeface="Tahoma"/>
                <a:ea typeface="ＭＳ Ｐゴシック"/>
                <a:cs typeface="+mj-cs"/>
              </a:rPr>
              <a:t>Component costs: Debt capital</a:t>
            </a:r>
            <a:endParaRPr lang="en-US" altLang="en-US" sz="3600" dirty="0">
              <a:solidFill>
                <a:srgbClr val="000099"/>
              </a:solidFill>
            </a:endParaRPr>
          </a:p>
        </p:txBody>
      </p:sp>
      <p:sp>
        <p:nvSpPr>
          <p:cNvPr id="106500" name="Rectangle 3"/>
          <p:cNvSpPr>
            <a:spLocks noGrp="1" noChangeArrowheads="1"/>
          </p:cNvSpPr>
          <p:nvPr>
            <p:ph type="body" idx="1"/>
          </p:nvPr>
        </p:nvSpPr>
        <p:spPr>
          <a:xfrm>
            <a:off x="304800" y="1257300"/>
            <a:ext cx="8382000" cy="5257800"/>
          </a:xfrm>
        </p:spPr>
        <p:txBody>
          <a:bodyPr/>
          <a:lstStyle/>
          <a:p>
            <a:pPr algn="just">
              <a:buClr>
                <a:srgbClr val="002060"/>
              </a:buClr>
              <a:buFont typeface="Arial" panose="020B0604020202020204" pitchFamily="34" charset="0"/>
              <a:buChar char="•"/>
            </a:pPr>
            <a:r>
              <a:rPr lang="en-US" altLang="en-US" sz="2400" dirty="0"/>
              <a:t>Cost of debt is the return that a firm’s </a:t>
            </a:r>
            <a:r>
              <a:rPr lang="en-US" altLang="en-US" sz="2400" b="1" dirty="0">
                <a:solidFill>
                  <a:srgbClr val="C00000"/>
                </a:solidFill>
              </a:rPr>
              <a:t>lenders</a:t>
            </a:r>
            <a:r>
              <a:rPr lang="en-US" altLang="en-US" sz="2400" dirty="0"/>
              <a:t> demand (require) on new borrowing</a:t>
            </a:r>
          </a:p>
          <a:p>
            <a:pPr algn="just">
              <a:buClr>
                <a:srgbClr val="002060"/>
              </a:buClr>
              <a:buFont typeface="Arial" panose="020B0604020202020204" pitchFamily="34" charset="0"/>
              <a:buChar char="•"/>
            </a:pPr>
            <a:endParaRPr lang="en-US" altLang="en-US" sz="2400" dirty="0"/>
          </a:p>
          <a:p>
            <a:pPr algn="just">
              <a:buClr>
                <a:srgbClr val="002060"/>
              </a:buClr>
              <a:buFont typeface="Arial" panose="020B0604020202020204" pitchFamily="34" charset="0"/>
              <a:buChar char="•"/>
            </a:pPr>
            <a:r>
              <a:rPr lang="en-US" altLang="en-US" sz="2400" dirty="0"/>
              <a:t>Unlike a firm’s cost of equity (</a:t>
            </a:r>
            <a:r>
              <a:rPr lang="en-US" altLang="en-US" sz="2400" dirty="0" err="1"/>
              <a:t>k</a:t>
            </a:r>
            <a:r>
              <a:rPr lang="en-US" altLang="en-US" sz="2400" baseline="-25000" dirty="0" err="1"/>
              <a:t>s</a:t>
            </a:r>
            <a:r>
              <a:rPr lang="en-US" altLang="en-US" sz="2400" baseline="-25000" dirty="0"/>
              <a:t> </a:t>
            </a:r>
            <a:r>
              <a:rPr lang="en-US" altLang="en-US" sz="2400" dirty="0"/>
              <a:t>or </a:t>
            </a:r>
            <a:r>
              <a:rPr lang="en-US" altLang="en-US" sz="2400" dirty="0" err="1"/>
              <a:t>k</a:t>
            </a:r>
            <a:r>
              <a:rPr lang="en-US" altLang="en-US" sz="2400" baseline="-25000" dirty="0" err="1"/>
              <a:t>n</a:t>
            </a:r>
            <a:r>
              <a:rPr lang="en-US" altLang="en-US" sz="2400" dirty="0"/>
              <a:t>) which is difficult to observe and needs to be calculated, its cost of debt, k</a:t>
            </a:r>
            <a:r>
              <a:rPr lang="en-US" altLang="en-US" sz="2400" baseline="-25000" dirty="0"/>
              <a:t>i</a:t>
            </a:r>
            <a:r>
              <a:rPr lang="en-US" altLang="en-US" sz="2400" dirty="0"/>
              <a:t>, can normally be observed</a:t>
            </a:r>
          </a:p>
          <a:p>
            <a:pPr lvl="1" algn="just">
              <a:buClr>
                <a:srgbClr val="002060"/>
              </a:buClr>
              <a:buFont typeface="Wingdings" panose="05000000000000000000" pitchFamily="2" charset="2"/>
              <a:buChar char="§"/>
            </a:pPr>
            <a:r>
              <a:rPr lang="en-US" altLang="en-US" dirty="0"/>
              <a:t>Cost of debt is the yield or rate of return the firm must generate on new borrowing (quoted interest rate)</a:t>
            </a:r>
          </a:p>
          <a:p>
            <a:pPr marL="914400" lvl="1" indent="-457200" algn="just">
              <a:buClr>
                <a:schemeClr val="tx1"/>
              </a:buClr>
              <a:buFontTx/>
              <a:buNone/>
            </a:pPr>
            <a:endParaRPr lang="en-US" altLang="en-US" b="1" dirty="0">
              <a:solidFill>
                <a:srgbClr val="FF00FF"/>
              </a:solidFill>
            </a:endParaRPr>
          </a:p>
        </p:txBody>
      </p:sp>
    </p:spTree>
    <p:extLst>
      <p:ext uri="{BB962C8B-B14F-4D97-AF65-F5344CB8AC3E}">
        <p14:creationId xmlns:p14="http://schemas.microsoft.com/office/powerpoint/2010/main" val="1495854602"/>
      </p:ext>
    </p:extLst>
  </p:cSld>
  <p:clrMapOvr>
    <a:masterClrMapping/>
  </p:clrMapOvr>
  <mc:AlternateContent xmlns:mc="http://schemas.openxmlformats.org/markup-compatibility/2006" xmlns:p14="http://schemas.microsoft.com/office/powerpoint/2010/main">
    <mc:Choice Requires="p14">
      <p:transition spd="slow" p14:dur="2000" advTm="34711"/>
    </mc:Choice>
    <mc:Fallback xmlns="">
      <p:transition spd="slow" advTm="34711"/>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854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4BFE3BF1-2DE7-4DE2-BA4D-3E3F116EDE7A}"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26</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08547" name="Rectangle 2"/>
          <p:cNvSpPr>
            <a:spLocks noGrp="1" noChangeArrowheads="1"/>
          </p:cNvSpPr>
          <p:nvPr>
            <p:ph type="title"/>
          </p:nvPr>
        </p:nvSpPr>
        <p:spPr>
          <a:xfrm>
            <a:off x="381000" y="0"/>
            <a:ext cx="8077200" cy="1143000"/>
          </a:xfrm>
        </p:spPr>
        <p:txBody>
          <a:bodyPr/>
          <a:lstStyle/>
          <a:p>
            <a:pPr algn="l"/>
            <a:r>
              <a:rPr kumimoji="0" lang="en-US" sz="3600" b="0" i="0" u="none" strike="noStrike" kern="0" cap="none" spc="0" normalizeH="0" baseline="0" noProof="0" dirty="0">
                <a:ln>
                  <a:noFill/>
                </a:ln>
                <a:solidFill>
                  <a:srgbClr val="1F497D"/>
                </a:solidFill>
                <a:effectLst/>
                <a:uLnTx/>
                <a:uFillTx/>
                <a:latin typeface="Tahoma"/>
                <a:ea typeface="ＭＳ Ｐゴシック"/>
                <a:cs typeface="+mj-cs"/>
              </a:rPr>
              <a:t>Component costs: Debt capital (cont.)</a:t>
            </a:r>
            <a:endParaRPr lang="en-US" altLang="en-US" dirty="0">
              <a:solidFill>
                <a:srgbClr val="000099"/>
              </a:solidFill>
            </a:endParaRPr>
          </a:p>
        </p:txBody>
      </p:sp>
      <p:sp>
        <p:nvSpPr>
          <p:cNvPr id="108548" name="Rectangle 3"/>
          <p:cNvSpPr>
            <a:spLocks noGrp="1" noChangeArrowheads="1"/>
          </p:cNvSpPr>
          <p:nvPr>
            <p:ph type="body" idx="1"/>
          </p:nvPr>
        </p:nvSpPr>
        <p:spPr>
          <a:xfrm>
            <a:off x="304800" y="1371600"/>
            <a:ext cx="8534400" cy="5486400"/>
          </a:xfrm>
        </p:spPr>
        <p:txBody>
          <a:bodyPr/>
          <a:lstStyle/>
          <a:p>
            <a:pPr>
              <a:buClr>
                <a:srgbClr val="002060"/>
              </a:buClr>
              <a:buFont typeface="Arial" panose="020B0604020202020204" pitchFamily="34" charset="0"/>
              <a:buChar char="•"/>
            </a:pPr>
            <a:r>
              <a:rPr lang="en-US" altLang="en-US" sz="2400" b="1" dirty="0">
                <a:solidFill>
                  <a:srgbClr val="C00000"/>
                </a:solidFill>
              </a:rPr>
              <a:t>k</a:t>
            </a:r>
            <a:r>
              <a:rPr lang="en-US" altLang="en-US" sz="2400" b="1" baseline="-25000" dirty="0">
                <a:solidFill>
                  <a:srgbClr val="C00000"/>
                </a:solidFill>
              </a:rPr>
              <a:t>d</a:t>
            </a:r>
            <a:r>
              <a:rPr lang="en-US" altLang="en-US" sz="2400" dirty="0"/>
              <a:t> is a firm’s cost of debt</a:t>
            </a:r>
          </a:p>
          <a:p>
            <a:pPr lvl="1">
              <a:buClr>
                <a:srgbClr val="002060"/>
              </a:buClr>
              <a:buFont typeface="Wingdings" panose="05000000000000000000" pitchFamily="2" charset="2"/>
              <a:buChar char="§"/>
            </a:pPr>
            <a:r>
              <a:rPr lang="en-US" altLang="en-US" dirty="0"/>
              <a:t>However, we need to use the </a:t>
            </a:r>
            <a:r>
              <a:rPr lang="en-US" altLang="en-US" b="1" dirty="0">
                <a:solidFill>
                  <a:srgbClr val="C00000"/>
                </a:solidFill>
              </a:rPr>
              <a:t>after-tax</a:t>
            </a:r>
            <a:r>
              <a:rPr lang="en-US" altLang="en-US" dirty="0">
                <a:solidFill>
                  <a:srgbClr val="C00000"/>
                </a:solidFill>
              </a:rPr>
              <a:t> </a:t>
            </a:r>
            <a:r>
              <a:rPr lang="en-US" altLang="en-US" dirty="0"/>
              <a:t>cost of debt!</a:t>
            </a:r>
          </a:p>
          <a:p>
            <a:pPr lvl="1">
              <a:buClr>
                <a:srgbClr val="002060"/>
              </a:buClr>
              <a:buFont typeface="Wingdings" panose="05000000000000000000" pitchFamily="2" charset="2"/>
              <a:buChar char="§"/>
            </a:pPr>
            <a:r>
              <a:rPr lang="en-US" altLang="en-US" dirty="0"/>
              <a:t>   (reason for this explain on an intro slide)</a:t>
            </a:r>
          </a:p>
          <a:p>
            <a:pPr lvl="1">
              <a:buClr>
                <a:srgbClr val="002060"/>
              </a:buClr>
              <a:buFont typeface="Wingdings" panose="05000000000000000000" pitchFamily="2" charset="2"/>
              <a:buChar char="§"/>
            </a:pPr>
            <a:endParaRPr lang="en-US" altLang="en-US" dirty="0"/>
          </a:p>
          <a:p>
            <a:pPr lvl="1">
              <a:buClr>
                <a:srgbClr val="002060"/>
              </a:buClr>
              <a:buFont typeface="Wingdings" panose="05000000000000000000" pitchFamily="2" charset="2"/>
              <a:buChar char="§"/>
            </a:pPr>
            <a:r>
              <a:rPr lang="en-US" altLang="en-US" dirty="0"/>
              <a:t>After-tax cost of debt = </a:t>
            </a:r>
            <a:r>
              <a:rPr lang="en-US" altLang="en-US" b="1" dirty="0">
                <a:solidFill>
                  <a:srgbClr val="C00000"/>
                </a:solidFill>
              </a:rPr>
              <a:t>k</a:t>
            </a:r>
            <a:r>
              <a:rPr lang="en-US" altLang="en-US" b="1" baseline="-25000" dirty="0">
                <a:solidFill>
                  <a:srgbClr val="C00000"/>
                </a:solidFill>
              </a:rPr>
              <a:t>d</a:t>
            </a:r>
            <a:r>
              <a:rPr lang="en-US" altLang="en-US" b="1" dirty="0">
                <a:solidFill>
                  <a:srgbClr val="C00000"/>
                </a:solidFill>
              </a:rPr>
              <a:t> x (1 – t)</a:t>
            </a:r>
            <a:r>
              <a:rPr lang="en-US" altLang="en-US" dirty="0"/>
              <a:t>,</a:t>
            </a:r>
            <a:r>
              <a:rPr lang="en-US" altLang="en-US" dirty="0">
                <a:solidFill>
                  <a:srgbClr val="C00000"/>
                </a:solidFill>
              </a:rPr>
              <a:t> </a:t>
            </a:r>
            <a:r>
              <a:rPr lang="en-US" altLang="en-US" dirty="0"/>
              <a:t>where t is the firm’s tax rate</a:t>
            </a:r>
          </a:p>
          <a:p>
            <a:pPr lvl="1">
              <a:buFontTx/>
              <a:buNone/>
            </a:pPr>
            <a:endParaRPr lang="en-US" altLang="en-US" dirty="0"/>
          </a:p>
          <a:p>
            <a:pPr lvl="1">
              <a:buFontTx/>
              <a:buNone/>
            </a:pPr>
            <a:endParaRPr lang="en-US" altLang="en-US" sz="3000" b="1" dirty="0">
              <a:solidFill>
                <a:srgbClr val="FF00FF"/>
              </a:solidFill>
            </a:endParaRPr>
          </a:p>
        </p:txBody>
      </p:sp>
    </p:spTree>
    <p:extLst>
      <p:ext uri="{BB962C8B-B14F-4D97-AF65-F5344CB8AC3E}">
        <p14:creationId xmlns:p14="http://schemas.microsoft.com/office/powerpoint/2010/main" val="3600320664"/>
      </p:ext>
    </p:extLst>
  </p:cSld>
  <p:clrMapOvr>
    <a:masterClrMapping/>
  </p:clrMapOvr>
  <mc:AlternateContent xmlns:mc="http://schemas.openxmlformats.org/markup-compatibility/2006" xmlns:p14="http://schemas.microsoft.com/office/powerpoint/2010/main">
    <mc:Choice Requires="p14">
      <p:transition spd="slow" p14:dur="2000" advTm="53038"/>
    </mc:Choice>
    <mc:Fallback xmlns="">
      <p:transition spd="slow" advTm="53038"/>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957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0FF5102-2274-498E-8EC6-A6C3D6B4EBF2}"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27</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09571" name="Rectangle 2"/>
          <p:cNvSpPr>
            <a:spLocks noGrp="1" noChangeArrowheads="1"/>
          </p:cNvSpPr>
          <p:nvPr>
            <p:ph type="title"/>
          </p:nvPr>
        </p:nvSpPr>
        <p:spPr>
          <a:xfrm>
            <a:off x="381000" y="0"/>
            <a:ext cx="8077200" cy="1143000"/>
          </a:xfrm>
        </p:spPr>
        <p:txBody>
          <a:bodyPr/>
          <a:lstStyle/>
          <a:p>
            <a:pPr algn="l"/>
            <a:r>
              <a:rPr kumimoji="0" lang="en-US" sz="3600" b="0" i="0" u="none" strike="noStrike" kern="0" cap="none" spc="0" normalizeH="0" baseline="0" noProof="0" dirty="0">
                <a:ln>
                  <a:noFill/>
                </a:ln>
                <a:solidFill>
                  <a:srgbClr val="1F497D"/>
                </a:solidFill>
                <a:effectLst/>
                <a:uLnTx/>
                <a:uFillTx/>
                <a:latin typeface="Tahoma"/>
                <a:ea typeface="ＭＳ Ｐゴシック"/>
                <a:cs typeface="+mj-cs"/>
              </a:rPr>
              <a:t>Component costs: Debt capital (</a:t>
            </a:r>
            <a:r>
              <a:rPr kumimoji="0" lang="en-US" sz="3600" b="0" i="0" u="none" strike="noStrike" kern="0" cap="none" spc="0" normalizeH="0" baseline="0" noProof="0" dirty="0" err="1">
                <a:ln>
                  <a:noFill/>
                </a:ln>
                <a:solidFill>
                  <a:srgbClr val="1F497D"/>
                </a:solidFill>
                <a:effectLst/>
                <a:uLnTx/>
                <a:uFillTx/>
                <a:latin typeface="Tahoma"/>
                <a:ea typeface="ＭＳ Ｐゴシック"/>
                <a:cs typeface="+mj-cs"/>
              </a:rPr>
              <a:t>cont</a:t>
            </a:r>
            <a:r>
              <a:rPr lang="en-US" sz="3600" dirty="0">
                <a:solidFill>
                  <a:srgbClr val="1F497D"/>
                </a:solidFill>
                <a:latin typeface="Tahoma"/>
                <a:ea typeface="ＭＳ Ｐゴシック"/>
              </a:rPr>
              <a:t>.)</a:t>
            </a:r>
            <a:endParaRPr lang="en-US" altLang="en-US" sz="3600" dirty="0">
              <a:solidFill>
                <a:srgbClr val="000099"/>
              </a:solidFill>
            </a:endParaRPr>
          </a:p>
        </p:txBody>
      </p:sp>
      <p:sp>
        <p:nvSpPr>
          <p:cNvPr id="109572" name="Rectangle 3"/>
          <p:cNvSpPr>
            <a:spLocks noGrp="1" noChangeArrowheads="1"/>
          </p:cNvSpPr>
          <p:nvPr>
            <p:ph type="body" idx="1"/>
          </p:nvPr>
        </p:nvSpPr>
        <p:spPr>
          <a:xfrm>
            <a:off x="685800" y="1219200"/>
            <a:ext cx="8001000" cy="5181600"/>
          </a:xfrm>
        </p:spPr>
        <p:txBody>
          <a:bodyPr/>
          <a:lstStyle/>
          <a:p>
            <a:pPr algn="just">
              <a:buClr>
                <a:srgbClr val="002060"/>
              </a:buClr>
              <a:buFont typeface="Arial" panose="020B0604020202020204" pitchFamily="34" charset="0"/>
              <a:buChar char="•"/>
            </a:pPr>
            <a:r>
              <a:rPr lang="en-US" altLang="en-US" sz="2400" dirty="0"/>
              <a:t>Calculate Jumbo’s cost of debt, using the following information:</a:t>
            </a:r>
          </a:p>
          <a:p>
            <a:pPr algn="just">
              <a:buClr>
                <a:srgbClr val="002060"/>
              </a:buClr>
              <a:buFont typeface="Arial" panose="020B0604020202020204" pitchFamily="34" charset="0"/>
              <a:buChar char="•"/>
            </a:pPr>
            <a:r>
              <a:rPr lang="en-US" altLang="en-US" sz="2400" dirty="0"/>
              <a:t>The yield or rate of return the firm must generate on new borrowing = 9%</a:t>
            </a:r>
          </a:p>
          <a:p>
            <a:pPr algn="just">
              <a:buClr>
                <a:srgbClr val="002060"/>
              </a:buClr>
              <a:buFont typeface="Arial" panose="020B0604020202020204" pitchFamily="34" charset="0"/>
              <a:buChar char="•"/>
            </a:pPr>
            <a:r>
              <a:rPr lang="en-US" altLang="en-US" sz="2400" dirty="0"/>
              <a:t>The firm’s tax rate = 30%</a:t>
            </a:r>
          </a:p>
          <a:p>
            <a:pPr algn="just">
              <a:buClr>
                <a:srgbClr val="002060"/>
              </a:buClr>
              <a:buFont typeface="Arial" panose="020B0604020202020204" pitchFamily="34" charset="0"/>
              <a:buChar char="•"/>
            </a:pPr>
            <a:endParaRPr lang="en-US" altLang="en-US" sz="2400" dirty="0"/>
          </a:p>
          <a:p>
            <a:pPr marL="0" indent="0" algn="just">
              <a:buClr>
                <a:srgbClr val="002060"/>
              </a:buClr>
              <a:buNone/>
            </a:pPr>
            <a:r>
              <a:rPr lang="en-US" altLang="en-US" sz="2400" b="1" dirty="0">
                <a:solidFill>
                  <a:srgbClr val="C00000"/>
                </a:solidFill>
              </a:rPr>
              <a:t>After-tax cost of debt (k</a:t>
            </a:r>
            <a:r>
              <a:rPr lang="en-US" altLang="en-US" sz="2400" b="1" baseline="-25000" dirty="0">
                <a:solidFill>
                  <a:srgbClr val="C00000"/>
                </a:solidFill>
              </a:rPr>
              <a:t>i</a:t>
            </a:r>
            <a:r>
              <a:rPr lang="en-US" altLang="en-US" sz="2400" b="1" dirty="0">
                <a:solidFill>
                  <a:srgbClr val="C00000"/>
                </a:solidFill>
              </a:rPr>
              <a:t>) 	= k</a:t>
            </a:r>
            <a:r>
              <a:rPr lang="en-US" altLang="en-US" sz="2400" b="1" baseline="-25000" dirty="0">
                <a:solidFill>
                  <a:srgbClr val="C00000"/>
                </a:solidFill>
              </a:rPr>
              <a:t>d</a:t>
            </a:r>
            <a:r>
              <a:rPr lang="en-US" altLang="en-US" sz="2400" b="1" dirty="0">
                <a:solidFill>
                  <a:srgbClr val="C00000"/>
                </a:solidFill>
              </a:rPr>
              <a:t> x (1 – t)</a:t>
            </a:r>
            <a:endParaRPr lang="en-US" altLang="en-US" sz="2400" dirty="0">
              <a:solidFill>
                <a:srgbClr val="C00000"/>
              </a:solidFill>
            </a:endParaRPr>
          </a:p>
          <a:p>
            <a:pPr algn="just">
              <a:buFontTx/>
              <a:buNone/>
            </a:pPr>
            <a:r>
              <a:rPr lang="en-US" altLang="en-US" sz="2400" dirty="0"/>
              <a:t>						= 9 x (1 – 0.3)</a:t>
            </a:r>
          </a:p>
          <a:p>
            <a:pPr algn="just">
              <a:buFontTx/>
              <a:buNone/>
            </a:pPr>
            <a:r>
              <a:rPr lang="en-US" altLang="en-US" sz="2400" dirty="0"/>
              <a:t>						</a:t>
            </a:r>
            <a:r>
              <a:rPr lang="en-US" altLang="en-US" sz="2400" b="1" dirty="0">
                <a:solidFill>
                  <a:srgbClr val="C00000"/>
                </a:solidFill>
              </a:rPr>
              <a:t>= 6.3%</a:t>
            </a:r>
            <a:r>
              <a:rPr lang="en-US" altLang="en-US" sz="2400" dirty="0">
                <a:solidFill>
                  <a:srgbClr val="C00000"/>
                </a:solidFill>
              </a:rPr>
              <a:t> </a:t>
            </a:r>
          </a:p>
          <a:p>
            <a:pPr algn="just">
              <a:buFontTx/>
              <a:buNone/>
            </a:pPr>
            <a:endParaRPr lang="en-US" altLang="en-US" sz="2400" dirty="0"/>
          </a:p>
          <a:p>
            <a:endParaRPr lang="en-US" altLang="en-US" dirty="0"/>
          </a:p>
        </p:txBody>
      </p:sp>
    </p:spTree>
    <p:extLst>
      <p:ext uri="{BB962C8B-B14F-4D97-AF65-F5344CB8AC3E}">
        <p14:creationId xmlns:p14="http://schemas.microsoft.com/office/powerpoint/2010/main" val="1830336266"/>
      </p:ext>
    </p:extLst>
  </p:cSld>
  <p:clrMapOvr>
    <a:masterClrMapping/>
  </p:clrMapOvr>
  <mc:AlternateContent xmlns:mc="http://schemas.openxmlformats.org/markup-compatibility/2006" xmlns:p14="http://schemas.microsoft.com/office/powerpoint/2010/main">
    <mc:Choice Requires="p14">
      <p:transition spd="slow" p14:dur="2000" advTm="30358"/>
    </mc:Choice>
    <mc:Fallback xmlns="">
      <p:transition spd="slow" advTm="30358"/>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66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C9C9822-3412-4F74-9A30-C4CB5AF81C1B}"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13667" name="Rectangle 2"/>
          <p:cNvSpPr>
            <a:spLocks noGrp="1" noChangeArrowheads="1"/>
          </p:cNvSpPr>
          <p:nvPr>
            <p:ph type="title"/>
          </p:nvPr>
        </p:nvSpPr>
        <p:spPr>
          <a:xfrm>
            <a:off x="381000" y="0"/>
            <a:ext cx="8534400" cy="1143000"/>
          </a:xfrm>
        </p:spPr>
        <p:txBody>
          <a:bodyPr/>
          <a:lstStyle/>
          <a:p>
            <a:pPr algn="l"/>
            <a:r>
              <a:rPr kumimoji="0" lang="en-US" sz="3600" b="0" i="0" u="none" strike="noStrike" kern="0" cap="none" spc="0" normalizeH="0" baseline="0" noProof="0" dirty="0">
                <a:ln>
                  <a:noFill/>
                </a:ln>
                <a:solidFill>
                  <a:srgbClr val="1F497D"/>
                </a:solidFill>
                <a:effectLst/>
                <a:uLnTx/>
                <a:uFillTx/>
                <a:latin typeface="Tahoma"/>
                <a:ea typeface="ＭＳ Ｐゴシック"/>
                <a:cs typeface="+mj-cs"/>
              </a:rPr>
              <a:t>WACC</a:t>
            </a:r>
            <a:endParaRPr lang="en-GB" altLang="en-US" sz="3600" dirty="0">
              <a:solidFill>
                <a:srgbClr val="000099"/>
              </a:solidFill>
            </a:endParaRPr>
          </a:p>
        </p:txBody>
      </p:sp>
      <p:sp>
        <p:nvSpPr>
          <p:cNvPr id="113668" name="Rectangle 3"/>
          <p:cNvSpPr>
            <a:spLocks noGrp="1" noChangeArrowheads="1"/>
          </p:cNvSpPr>
          <p:nvPr>
            <p:ph type="body" idx="1"/>
          </p:nvPr>
        </p:nvSpPr>
        <p:spPr>
          <a:xfrm>
            <a:off x="381000" y="1066800"/>
            <a:ext cx="8305800" cy="5334000"/>
          </a:xfrm>
        </p:spPr>
        <p:txBody>
          <a:bodyPr/>
          <a:lstStyle/>
          <a:p>
            <a:pPr algn="just">
              <a:buClr>
                <a:srgbClr val="002060"/>
              </a:buClr>
              <a:buFont typeface="Arial" panose="020B0604020202020204" pitchFamily="34" charset="0"/>
              <a:buChar char="•"/>
            </a:pPr>
            <a:r>
              <a:rPr lang="en-ZA" altLang="en-US" sz="2400" dirty="0"/>
              <a:t>We now have the:</a:t>
            </a:r>
          </a:p>
          <a:p>
            <a:pPr lvl="1" algn="just">
              <a:buClr>
                <a:srgbClr val="002060"/>
              </a:buClr>
              <a:buFont typeface="Wingdings" panose="05000000000000000000" pitchFamily="2" charset="2"/>
              <a:buChar char="§"/>
            </a:pPr>
            <a:r>
              <a:rPr lang="en-ZA" altLang="en-US" dirty="0"/>
              <a:t>Capital structure </a:t>
            </a:r>
            <a:r>
              <a:rPr lang="en-ZA" altLang="en-US" b="1" dirty="0">
                <a:solidFill>
                  <a:srgbClr val="C00000"/>
                </a:solidFill>
              </a:rPr>
              <a:t>weights</a:t>
            </a:r>
            <a:r>
              <a:rPr lang="en-ZA" altLang="en-US" dirty="0">
                <a:solidFill>
                  <a:srgbClr val="C00000"/>
                </a:solidFill>
              </a:rPr>
              <a:t> </a:t>
            </a:r>
          </a:p>
          <a:p>
            <a:pPr lvl="1" algn="just">
              <a:buClr>
                <a:srgbClr val="002060"/>
              </a:buClr>
              <a:buFont typeface="Wingdings" panose="05000000000000000000" pitchFamily="2" charset="2"/>
              <a:buChar char="§"/>
            </a:pPr>
            <a:r>
              <a:rPr lang="en-ZA" altLang="en-US" b="1" dirty="0">
                <a:solidFill>
                  <a:srgbClr val="C00000"/>
                </a:solidFill>
              </a:rPr>
              <a:t>Cost</a:t>
            </a:r>
            <a:r>
              <a:rPr lang="en-ZA" altLang="en-US" dirty="0"/>
              <a:t> of the main sources of capital (equity capital and debt capital)</a:t>
            </a:r>
          </a:p>
          <a:p>
            <a:pPr lvl="1" algn="just">
              <a:buClr>
                <a:srgbClr val="002060"/>
              </a:buClr>
              <a:buFont typeface="Arial" panose="020B0604020202020204" pitchFamily="34" charset="0"/>
              <a:buChar char="•"/>
            </a:pPr>
            <a:endParaRPr lang="en-ZA" altLang="en-US" dirty="0"/>
          </a:p>
          <a:p>
            <a:pPr algn="just">
              <a:buClr>
                <a:srgbClr val="002060"/>
              </a:buClr>
              <a:buFont typeface="Arial" panose="020B0604020202020204" pitchFamily="34" charset="0"/>
              <a:buChar char="•"/>
            </a:pPr>
            <a:r>
              <a:rPr lang="en-ZA" altLang="en-US" sz="2400" dirty="0"/>
              <a:t>To calculate the firm’s overall cost of capital (</a:t>
            </a:r>
            <a:r>
              <a:rPr lang="en-ZA" altLang="en-US" sz="2400" dirty="0" err="1"/>
              <a:t>WACC</a:t>
            </a:r>
            <a:r>
              <a:rPr lang="en-ZA" altLang="en-US" sz="2400" dirty="0"/>
              <a:t>): </a:t>
            </a:r>
            <a:r>
              <a:rPr lang="en-ZA" altLang="en-US" sz="2400" b="1" dirty="0">
                <a:solidFill>
                  <a:srgbClr val="C00000"/>
                </a:solidFill>
              </a:rPr>
              <a:t>multiply the capital structure weights by the associated costs and add them up…</a:t>
            </a:r>
          </a:p>
          <a:p>
            <a:pPr algn="just">
              <a:buClr>
                <a:srgbClr val="002060"/>
              </a:buClr>
              <a:buFont typeface="Arial" panose="020B0604020202020204" pitchFamily="34" charset="0"/>
              <a:buChar char="•"/>
            </a:pPr>
            <a:endParaRPr lang="en-ZA" altLang="en-US" sz="2400" dirty="0"/>
          </a:p>
          <a:p>
            <a:pPr marL="457200" lvl="1" indent="0">
              <a:buNone/>
            </a:pPr>
            <a:endParaRPr lang="en-GB" altLang="en-US" dirty="0"/>
          </a:p>
        </p:txBody>
      </p:sp>
    </p:spTree>
    <p:extLst>
      <p:ext uri="{BB962C8B-B14F-4D97-AF65-F5344CB8AC3E}">
        <p14:creationId xmlns:p14="http://schemas.microsoft.com/office/powerpoint/2010/main" val="2832863813"/>
      </p:ext>
    </p:extLst>
  </p:cSld>
  <p:clrMapOvr>
    <a:masterClrMapping/>
  </p:clrMapOvr>
  <mc:AlternateContent xmlns:mc="http://schemas.openxmlformats.org/markup-compatibility/2006" xmlns:p14="http://schemas.microsoft.com/office/powerpoint/2010/main">
    <mc:Choice Requires="p14">
      <p:transition spd="slow" p14:dur="2000" advTm="9527"/>
    </mc:Choice>
    <mc:Fallback xmlns="">
      <p:transition spd="slow" advTm="9527"/>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469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2F6D27B-4CA4-4411-A614-0BAE5BB4AFBD}"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14691" name="Rectangle 2"/>
          <p:cNvSpPr>
            <a:spLocks noGrp="1" noChangeArrowheads="1"/>
          </p:cNvSpPr>
          <p:nvPr>
            <p:ph type="title"/>
          </p:nvPr>
        </p:nvSpPr>
        <p:spPr>
          <a:xfrm>
            <a:off x="381000" y="0"/>
            <a:ext cx="8077200" cy="1143000"/>
          </a:xfrm>
        </p:spPr>
        <p:txBody>
          <a:bodyPr/>
          <a:lstStyle/>
          <a:p>
            <a:pPr algn="l"/>
            <a:r>
              <a:rPr lang="en-US" altLang="en-US" sz="3600" dirty="0">
                <a:solidFill>
                  <a:srgbClr val="1F497D"/>
                </a:solidFill>
                <a:latin typeface="Tahoma"/>
                <a:ea typeface="ＭＳ Ｐゴシック"/>
              </a:rPr>
              <a:t>WACC (cont.)</a:t>
            </a:r>
            <a:endParaRPr lang="en-GB" altLang="en-US" sz="3600" dirty="0">
              <a:solidFill>
                <a:srgbClr val="000099"/>
              </a:solidFill>
            </a:endParaRPr>
          </a:p>
        </p:txBody>
      </p:sp>
      <p:sp>
        <p:nvSpPr>
          <p:cNvPr id="114692" name="Rectangle 3"/>
          <p:cNvSpPr>
            <a:spLocks noGrp="1" noChangeArrowheads="1"/>
          </p:cNvSpPr>
          <p:nvPr>
            <p:ph type="body" idx="1"/>
          </p:nvPr>
        </p:nvSpPr>
        <p:spPr>
          <a:xfrm>
            <a:off x="228600" y="1143000"/>
            <a:ext cx="8686800" cy="5257800"/>
          </a:xfrm>
        </p:spPr>
        <p: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ZA" altLang="en-US" sz="2400" b="1" i="0" u="none" strike="noStrike" kern="0" cap="none" spc="0" normalizeH="0" baseline="0" noProof="0" dirty="0">
                <a:ln>
                  <a:noFill/>
                </a:ln>
                <a:solidFill>
                  <a:srgbClr val="000000"/>
                </a:solidFill>
                <a:effectLst/>
                <a:uLnTx/>
                <a:uFillTx/>
                <a:latin typeface="Tahoma"/>
                <a:ea typeface="+mn-ea"/>
                <a:cs typeface="+mn-cs"/>
              </a:rPr>
              <a:t>WACC =</a:t>
            </a:r>
            <a:r>
              <a:rPr kumimoji="0" lang="en-US" sz="2400" b="0" i="0" u="none" strike="noStrike" kern="0" cap="none" spc="0" normalizeH="0" baseline="0" noProof="0" dirty="0">
                <a:ln>
                  <a:noFill/>
                </a:ln>
                <a:solidFill>
                  <a:srgbClr val="000000"/>
                </a:solidFill>
                <a:effectLst/>
                <a:uLnTx/>
                <a:uFillTx/>
                <a:latin typeface="Tahoma"/>
                <a:ea typeface="Times New Roman" panose="02020603050405020304" pitchFamily="18" charset="0"/>
                <a:cs typeface="+mn-cs"/>
              </a:rPr>
              <a:t> </a:t>
            </a:r>
            <a:r>
              <a:rPr kumimoji="0" lang="en-US" sz="2400" b="1" i="0" u="none" strike="noStrike" kern="0" cap="none" spc="0" normalizeH="0" baseline="0" noProof="0" dirty="0">
                <a:ln>
                  <a:noFill/>
                </a:ln>
                <a:solidFill>
                  <a:srgbClr val="000000"/>
                </a:solidFill>
                <a:effectLst/>
                <a:uLnTx/>
                <a:uFillTx/>
                <a:latin typeface="Tahoma"/>
                <a:ea typeface="Times New Roman" panose="02020603050405020304" pitchFamily="18" charset="0"/>
                <a:cs typeface="+mn-cs"/>
              </a:rPr>
              <a:t>[</a:t>
            </a:r>
            <a:r>
              <a:rPr kumimoji="0" lang="en-US" sz="2400" b="1" i="0" u="none" strike="noStrike" kern="0" cap="none" spc="0" normalizeH="0" baseline="0" noProof="0" dirty="0">
                <a:ln>
                  <a:noFill/>
                </a:ln>
                <a:solidFill>
                  <a:srgbClr val="000000"/>
                </a:solidFill>
                <a:effectLst/>
                <a:highlight>
                  <a:srgbClr val="00FF00"/>
                </a:highlight>
                <a:uLnTx/>
                <a:uFillTx/>
                <a:latin typeface="Tahoma"/>
                <a:ea typeface="Times New Roman" panose="02020603050405020304" pitchFamily="18" charset="0"/>
                <a:cs typeface="+mn-cs"/>
              </a:rPr>
              <a:t>(</a:t>
            </a:r>
            <a:r>
              <a:rPr kumimoji="0" lang="en-US" sz="2400" b="1" i="0" u="none" strike="noStrike" kern="0" cap="none" spc="0" normalizeH="0" baseline="0" noProof="0" dirty="0">
                <a:ln>
                  <a:noFill/>
                </a:ln>
                <a:solidFill>
                  <a:prstClr val="black"/>
                </a:solidFill>
                <a:effectLst/>
                <a:highlight>
                  <a:srgbClr val="00FF00"/>
                </a:highlight>
                <a:uLnTx/>
                <a:uFillTx/>
                <a:latin typeface="Tahoma"/>
                <a:ea typeface="Times New Roman" panose="02020603050405020304" pitchFamily="18" charset="0"/>
                <a:cs typeface="+mn-cs"/>
              </a:rPr>
              <a:t>D/V)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x </a:t>
            </a:r>
            <a:r>
              <a:rPr kumimoji="0" lang="en-ZA" sz="2400" b="1" i="0" u="none" strike="noStrike" kern="0" cap="none" spc="0" normalizeH="0" baseline="0" noProof="0" dirty="0">
                <a:ln>
                  <a:noFill/>
                </a:ln>
                <a:solidFill>
                  <a:prstClr val="black"/>
                </a:solidFill>
                <a:effectLst/>
                <a:highlight>
                  <a:srgbClr val="00FFFF"/>
                </a:highlight>
                <a:uLnTx/>
                <a:uFillTx/>
                <a:latin typeface="Tahoma"/>
                <a:ea typeface="Times New Roman" panose="02020603050405020304" pitchFamily="18" charset="0"/>
                <a:cs typeface="+mn-cs"/>
              </a:rPr>
              <a:t>k</a:t>
            </a:r>
            <a:r>
              <a:rPr kumimoji="0" lang="en-ZA" sz="2400" b="1" i="1" u="none" strike="noStrike" kern="0" cap="none" spc="0" normalizeH="0" baseline="-25000" noProof="0" dirty="0">
                <a:ln>
                  <a:noFill/>
                </a:ln>
                <a:solidFill>
                  <a:prstClr val="black"/>
                </a:solidFill>
                <a:effectLst/>
                <a:highlight>
                  <a:srgbClr val="00FFFF"/>
                </a:highlight>
                <a:uLnTx/>
                <a:uFillTx/>
                <a:latin typeface="Tahoma"/>
                <a:ea typeface="Times New Roman" panose="02020603050405020304" pitchFamily="18" charset="0"/>
                <a:cs typeface="+mn-cs"/>
              </a:rPr>
              <a:t>i</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 + [</a:t>
            </a:r>
            <a:r>
              <a:rPr kumimoji="0" lang="en-US" sz="2400" b="1" i="0" u="none" strike="noStrike" kern="0" cap="none" spc="0" normalizeH="0" baseline="0" noProof="0" dirty="0">
                <a:ln>
                  <a:noFill/>
                </a:ln>
                <a:solidFill>
                  <a:prstClr val="black"/>
                </a:solidFill>
                <a:effectLst/>
                <a:highlight>
                  <a:srgbClr val="00FF00"/>
                </a:highlight>
                <a:uLnTx/>
                <a:uFillTx/>
                <a:latin typeface="Tahoma"/>
                <a:ea typeface="Times New Roman" panose="02020603050405020304" pitchFamily="18" charset="0"/>
                <a:cs typeface="+mn-cs"/>
              </a:rPr>
              <a:t>(P/V)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x </a:t>
            </a:r>
            <a:r>
              <a:rPr kumimoji="0" lang="en-US" sz="2400" b="1" i="0" u="none" strike="noStrike" kern="0" cap="none" spc="0" normalizeH="0" baseline="0" noProof="0" dirty="0" err="1">
                <a:ln>
                  <a:noFill/>
                </a:ln>
                <a:solidFill>
                  <a:prstClr val="black"/>
                </a:solidFill>
                <a:effectLst/>
                <a:highlight>
                  <a:srgbClr val="00FFFF"/>
                </a:highlight>
                <a:uLnTx/>
                <a:uFillTx/>
                <a:latin typeface="Tahoma"/>
                <a:ea typeface="Times New Roman" panose="02020603050405020304" pitchFamily="18" charset="0"/>
                <a:cs typeface="+mn-cs"/>
              </a:rPr>
              <a:t>k</a:t>
            </a:r>
            <a:r>
              <a:rPr kumimoji="0" lang="en-US" sz="2400" b="1" i="0" u="none" strike="noStrike" kern="0" cap="none" spc="0" normalizeH="0" baseline="-25000" noProof="0" dirty="0" err="1">
                <a:ln>
                  <a:noFill/>
                </a:ln>
                <a:solidFill>
                  <a:prstClr val="black"/>
                </a:solidFill>
                <a:effectLst/>
                <a:highlight>
                  <a:srgbClr val="00FFFF"/>
                </a:highlight>
                <a:uLnTx/>
                <a:uFillTx/>
                <a:latin typeface="Tahoma"/>
                <a:ea typeface="Times New Roman" panose="02020603050405020304" pitchFamily="18" charset="0"/>
                <a:cs typeface="+mn-cs"/>
              </a:rPr>
              <a:t>p</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 + [</a:t>
            </a:r>
            <a:r>
              <a:rPr kumimoji="0" lang="en-US" sz="2400" b="1" i="0" u="none" strike="noStrike" kern="0" cap="none" spc="0" normalizeH="0" baseline="0" noProof="0" dirty="0">
                <a:ln>
                  <a:noFill/>
                </a:ln>
                <a:solidFill>
                  <a:prstClr val="black"/>
                </a:solidFill>
                <a:effectLst/>
                <a:highlight>
                  <a:srgbClr val="00FF00"/>
                </a:highlight>
                <a:uLnTx/>
                <a:uFillTx/>
                <a:latin typeface="Tahoma"/>
                <a:ea typeface="Times New Roman" panose="02020603050405020304" pitchFamily="18" charset="0"/>
                <a:cs typeface="+mn-cs"/>
              </a:rPr>
              <a:t>(E/V)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x </a:t>
            </a:r>
            <a:r>
              <a:rPr kumimoji="0" lang="en-US" sz="2400" b="1" i="0" u="none" strike="noStrike" kern="0" cap="none" spc="0" normalizeH="0" baseline="0" noProof="0" dirty="0" err="1">
                <a:ln>
                  <a:noFill/>
                </a:ln>
                <a:solidFill>
                  <a:prstClr val="black"/>
                </a:solidFill>
                <a:effectLst/>
                <a:highlight>
                  <a:srgbClr val="00FFFF"/>
                </a:highlight>
                <a:uLnTx/>
                <a:uFillTx/>
                <a:latin typeface="Tahoma"/>
                <a:ea typeface="Times New Roman" panose="02020603050405020304" pitchFamily="18" charset="0"/>
                <a:cs typeface="+mn-cs"/>
              </a:rPr>
              <a:t>k</a:t>
            </a:r>
            <a:r>
              <a:rPr kumimoji="0" lang="en-US" sz="2400" b="1" i="0" u="none" strike="noStrike" kern="0" cap="none" spc="0" normalizeH="0" baseline="-25000" noProof="0" dirty="0" err="1">
                <a:ln>
                  <a:noFill/>
                </a:ln>
                <a:solidFill>
                  <a:prstClr val="black"/>
                </a:solidFill>
                <a:effectLst/>
                <a:highlight>
                  <a:srgbClr val="00FFFF"/>
                </a:highlight>
                <a:uLnTx/>
                <a:uFillTx/>
                <a:latin typeface="Tahoma"/>
                <a:ea typeface="Times New Roman" panose="02020603050405020304" pitchFamily="18" charset="0"/>
                <a:cs typeface="+mn-cs"/>
              </a:rPr>
              <a:t>n</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a:t>
            </a:r>
          </a:p>
          <a:p>
            <a:pPr algn="just">
              <a:buClr>
                <a:srgbClr val="002060"/>
              </a:buClr>
            </a:pPr>
            <a:endParaRPr lang="en-ZA" altLang="en-US" sz="2400" b="1" dirty="0">
              <a:solidFill>
                <a:srgbClr val="FF3300"/>
              </a:solidFill>
            </a:endParaRPr>
          </a:p>
          <a:p>
            <a:pPr algn="just">
              <a:buClr>
                <a:srgbClr val="002060"/>
              </a:buClr>
            </a:pPr>
            <a:r>
              <a:rPr lang="en-ZA" altLang="en-US" sz="2400" dirty="0" err="1"/>
              <a:t>WACC</a:t>
            </a:r>
            <a:r>
              <a:rPr lang="en-ZA" altLang="en-US" sz="2400" dirty="0"/>
              <a:t> = </a:t>
            </a:r>
            <a:r>
              <a:rPr lang="en-ZA" altLang="en-US" sz="2400" b="1" dirty="0">
                <a:solidFill>
                  <a:srgbClr val="FF00FF"/>
                </a:solidFill>
              </a:rPr>
              <a:t>overall return</a:t>
            </a:r>
            <a:r>
              <a:rPr lang="en-ZA" altLang="en-US" sz="2400" dirty="0"/>
              <a:t> the firm must earn on its existing assets to </a:t>
            </a:r>
            <a:r>
              <a:rPr lang="en-ZA" altLang="en-US" sz="2400" b="1" dirty="0">
                <a:solidFill>
                  <a:srgbClr val="FF00FF"/>
                </a:solidFill>
              </a:rPr>
              <a:t>maintain the value</a:t>
            </a:r>
            <a:r>
              <a:rPr lang="en-ZA" altLang="en-US" sz="2400" dirty="0"/>
              <a:t> of its shares and its debt</a:t>
            </a:r>
          </a:p>
          <a:p>
            <a:pPr algn="just">
              <a:buClr>
                <a:srgbClr val="002060"/>
              </a:buClr>
            </a:pPr>
            <a:r>
              <a:rPr lang="en-ZA" altLang="en-US" sz="2400" dirty="0" err="1"/>
              <a:t>WACC</a:t>
            </a:r>
            <a:r>
              <a:rPr lang="en-ZA" altLang="en-US" sz="2400" dirty="0"/>
              <a:t> = </a:t>
            </a:r>
            <a:r>
              <a:rPr lang="en-ZA" altLang="en-US" sz="2400" b="1" dirty="0">
                <a:solidFill>
                  <a:srgbClr val="FF00FF"/>
                </a:solidFill>
              </a:rPr>
              <a:t>required return</a:t>
            </a:r>
            <a:r>
              <a:rPr lang="en-ZA" altLang="en-US" sz="2400" dirty="0"/>
              <a:t> on any </a:t>
            </a:r>
            <a:r>
              <a:rPr lang="en-ZA" altLang="en-US" sz="2400" b="1" dirty="0">
                <a:solidFill>
                  <a:srgbClr val="FF00FF"/>
                </a:solidFill>
              </a:rPr>
              <a:t>new</a:t>
            </a:r>
            <a:r>
              <a:rPr lang="en-ZA" altLang="en-US" sz="2400" dirty="0"/>
              <a:t> investments by the firm that have the </a:t>
            </a:r>
            <a:r>
              <a:rPr lang="en-ZA" altLang="en-US" sz="2400" b="1" dirty="0">
                <a:solidFill>
                  <a:srgbClr val="FF00FF"/>
                </a:solidFill>
              </a:rPr>
              <a:t>same risk levels</a:t>
            </a:r>
            <a:r>
              <a:rPr lang="en-ZA" altLang="en-US" sz="2400" dirty="0"/>
              <a:t> as existing operations</a:t>
            </a:r>
          </a:p>
          <a:p>
            <a:pPr algn="just">
              <a:buClr>
                <a:srgbClr val="002060"/>
              </a:buClr>
            </a:pPr>
            <a:r>
              <a:rPr lang="en-ZA" altLang="en-US" sz="2400" dirty="0"/>
              <a:t>If evaluating the CFs from a proposed projects, this is the </a:t>
            </a:r>
            <a:r>
              <a:rPr lang="en-ZA" altLang="en-US" sz="2400" b="1" dirty="0">
                <a:solidFill>
                  <a:srgbClr val="FF00FF"/>
                </a:solidFill>
              </a:rPr>
              <a:t>discount rate</a:t>
            </a:r>
            <a:r>
              <a:rPr lang="en-ZA" altLang="en-US" sz="2400" dirty="0"/>
              <a:t> (k) we would use</a:t>
            </a:r>
          </a:p>
          <a:p>
            <a:pPr algn="just">
              <a:buClr>
                <a:srgbClr val="002060"/>
              </a:buClr>
            </a:pPr>
            <a:endParaRPr lang="en-ZA" altLang="en-US" sz="2400" dirty="0"/>
          </a:p>
          <a:p>
            <a:pPr algn="just">
              <a:buClr>
                <a:srgbClr val="002060"/>
              </a:buClr>
            </a:pPr>
            <a:endParaRPr lang="en-ZA" altLang="en-US" sz="2400" dirty="0"/>
          </a:p>
        </p:txBody>
      </p:sp>
    </p:spTree>
    <p:extLst>
      <p:ext uri="{BB962C8B-B14F-4D97-AF65-F5344CB8AC3E}">
        <p14:creationId xmlns:p14="http://schemas.microsoft.com/office/powerpoint/2010/main" val="2218952232"/>
      </p:ext>
    </p:extLst>
  </p:cSld>
  <p:clrMapOvr>
    <a:masterClrMapping/>
  </p:clrMapOvr>
  <mc:AlternateContent xmlns:mc="http://schemas.openxmlformats.org/markup-compatibility/2006" xmlns:p14="http://schemas.microsoft.com/office/powerpoint/2010/main">
    <mc:Choice Requires="p14">
      <p:transition spd="slow" p14:dur="2000" advTm="52931"/>
    </mc:Choice>
    <mc:Fallback xmlns="">
      <p:transition spd="slow" advTm="52931"/>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517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EBCB3B0-40BA-432F-BD83-BFD8F96CD7A0}"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35171" name="Rectangle 2"/>
          <p:cNvSpPr>
            <a:spLocks noGrp="1" noChangeArrowheads="1"/>
          </p:cNvSpPr>
          <p:nvPr>
            <p:ph type="title"/>
          </p:nvPr>
        </p:nvSpPr>
        <p:spPr>
          <a:xfrm>
            <a:off x="390939" y="0"/>
            <a:ext cx="7772400" cy="1143000"/>
          </a:xfrm>
        </p:spPr>
        <p:txBody>
          <a:bodyPr/>
          <a:lstStyle/>
          <a:p>
            <a:pPr algn="l"/>
            <a:r>
              <a:rPr kumimoji="0" lang="en-US" altLang="en-US" sz="3600" b="0" i="0" u="none" strike="noStrike" kern="0" cap="none" spc="0" normalizeH="0" baseline="0" noProof="0" dirty="0">
                <a:ln>
                  <a:noFill/>
                </a:ln>
                <a:solidFill>
                  <a:srgbClr val="1F497D"/>
                </a:solidFill>
                <a:effectLst/>
                <a:uLnTx/>
                <a:uFillTx/>
                <a:latin typeface="Tahoma"/>
                <a:ea typeface="ＭＳ Ｐゴシック"/>
                <a:cs typeface="+mj-cs"/>
              </a:rPr>
              <a:t>WACC (cont.)</a:t>
            </a:r>
            <a:endParaRPr lang="en-GB" altLang="en-US" sz="3600" dirty="0">
              <a:solidFill>
                <a:srgbClr val="000099"/>
              </a:solidFill>
            </a:endParaRPr>
          </a:p>
        </p:txBody>
      </p:sp>
      <p:sp>
        <p:nvSpPr>
          <p:cNvPr id="135172" name="Rectangle 3"/>
          <p:cNvSpPr>
            <a:spLocks noGrp="1" noChangeArrowheads="1"/>
          </p:cNvSpPr>
          <p:nvPr>
            <p:ph type="body" idx="1"/>
          </p:nvPr>
        </p:nvSpPr>
        <p:spPr>
          <a:xfrm>
            <a:off x="381000" y="1066800"/>
            <a:ext cx="8458200" cy="5410200"/>
          </a:xfrm>
        </p:spPr>
        <p:txBody>
          <a:bodyPr/>
          <a:lstStyle/>
          <a:p>
            <a:pPr algn="just">
              <a:buClr>
                <a:srgbClr val="002060"/>
              </a:buClr>
              <a:buFont typeface="Arial" panose="020B0604020202020204" pitchFamily="34" charset="0"/>
              <a:buChar char="•"/>
            </a:pPr>
            <a:r>
              <a:rPr lang="en-ZA" altLang="en-US" sz="2400" dirty="0"/>
              <a:t>WACC vs RRR</a:t>
            </a:r>
          </a:p>
          <a:p>
            <a:pPr algn="just">
              <a:buClr>
                <a:srgbClr val="002060"/>
              </a:buClr>
              <a:buFont typeface="Arial" panose="020B0604020202020204" pitchFamily="34" charset="0"/>
              <a:buChar char="•"/>
            </a:pPr>
            <a:r>
              <a:rPr lang="en-ZA" altLang="en-US" sz="2400" dirty="0"/>
              <a:t>Examples of when a firm’s WACC can be used as the discount rate:</a:t>
            </a:r>
          </a:p>
          <a:p>
            <a:pPr lvl="1" algn="just">
              <a:buClr>
                <a:srgbClr val="002060"/>
              </a:buClr>
              <a:buFont typeface="Wingdings" panose="05000000000000000000" pitchFamily="2" charset="2"/>
              <a:buChar char="§"/>
            </a:pPr>
            <a:r>
              <a:rPr lang="en-ZA" altLang="en-US" dirty="0"/>
              <a:t>Pizza business thinking of opening a new location</a:t>
            </a:r>
          </a:p>
          <a:p>
            <a:pPr lvl="1" algn="just">
              <a:buClr>
                <a:srgbClr val="002060"/>
              </a:buClr>
              <a:buFont typeface="Wingdings" panose="05000000000000000000" pitchFamily="2" charset="2"/>
              <a:buChar char="§"/>
            </a:pPr>
            <a:r>
              <a:rPr lang="en-ZA" altLang="en-US" dirty="0"/>
              <a:t>Retailer thinking of a new store/outlet</a:t>
            </a:r>
          </a:p>
          <a:p>
            <a:pPr lvl="1" algn="just">
              <a:buClr>
                <a:srgbClr val="002060"/>
              </a:buClr>
              <a:buFont typeface="Wingdings" panose="05000000000000000000" pitchFamily="2" charset="2"/>
              <a:buChar char="§"/>
            </a:pPr>
            <a:r>
              <a:rPr lang="en-ZA" altLang="en-US" dirty="0"/>
              <a:t>Manufacturer thinking of expanding production capacity</a:t>
            </a:r>
          </a:p>
          <a:p>
            <a:pPr lvl="1" algn="just">
              <a:buClr>
                <a:srgbClr val="002060"/>
              </a:buClr>
              <a:buFont typeface="Wingdings" panose="05000000000000000000" pitchFamily="2" charset="2"/>
              <a:buChar char="§"/>
            </a:pPr>
            <a:r>
              <a:rPr lang="en-ZA" altLang="en-US" dirty="0"/>
              <a:t>Consumer products company thinking of expanding its markets</a:t>
            </a:r>
          </a:p>
          <a:p>
            <a:pPr algn="just">
              <a:buClr>
                <a:srgbClr val="002060"/>
              </a:buClr>
              <a:buFont typeface="Arial" panose="020B0604020202020204" pitchFamily="34" charset="0"/>
              <a:buChar char="•"/>
            </a:pPr>
            <a:r>
              <a:rPr lang="en-ZA" altLang="en-US" sz="2400" dirty="0"/>
              <a:t>However, when the CFs of the proposed project have </a:t>
            </a:r>
            <a:r>
              <a:rPr lang="en-ZA" altLang="en-US" sz="2400" b="1" dirty="0">
                <a:solidFill>
                  <a:srgbClr val="FF00FF"/>
                </a:solidFill>
              </a:rPr>
              <a:t>risks different</a:t>
            </a:r>
            <a:r>
              <a:rPr lang="en-ZA" altLang="en-US" sz="2400" dirty="0"/>
              <a:t> from those of the overall firm….</a:t>
            </a:r>
            <a:r>
              <a:rPr lang="en-ZA" altLang="en-US" sz="2400" b="1" dirty="0">
                <a:solidFill>
                  <a:srgbClr val="FF00FF"/>
                </a:solidFill>
              </a:rPr>
              <a:t>problem</a:t>
            </a:r>
            <a:r>
              <a:rPr lang="en-ZA" altLang="en-US" sz="2400" dirty="0"/>
              <a:t>, we </a:t>
            </a:r>
            <a:r>
              <a:rPr lang="en-ZA" altLang="en-US" sz="2400" b="1" dirty="0">
                <a:solidFill>
                  <a:srgbClr val="FF00FF"/>
                </a:solidFill>
              </a:rPr>
              <a:t>can not use the </a:t>
            </a:r>
            <a:r>
              <a:rPr lang="en-ZA" altLang="en-US" sz="2400" b="1" dirty="0" err="1">
                <a:solidFill>
                  <a:srgbClr val="FF00FF"/>
                </a:solidFill>
              </a:rPr>
              <a:t>WACC</a:t>
            </a:r>
            <a:r>
              <a:rPr lang="en-ZA" altLang="en-US" sz="2400" b="1" dirty="0">
                <a:solidFill>
                  <a:srgbClr val="FF00FF"/>
                </a:solidFill>
              </a:rPr>
              <a:t> as the discount rate</a:t>
            </a:r>
            <a:r>
              <a:rPr lang="en-ZA" altLang="en-US" sz="2400" dirty="0"/>
              <a:t>!</a:t>
            </a:r>
          </a:p>
        </p:txBody>
      </p:sp>
    </p:spTree>
    <p:extLst>
      <p:ext uri="{BB962C8B-B14F-4D97-AF65-F5344CB8AC3E}">
        <p14:creationId xmlns:p14="http://schemas.microsoft.com/office/powerpoint/2010/main" val="1925275163"/>
      </p:ext>
    </p:extLst>
  </p:cSld>
  <p:clrMapOvr>
    <a:masterClrMapping/>
  </p:clrMapOvr>
  <mc:AlternateContent xmlns:mc="http://schemas.openxmlformats.org/markup-compatibility/2006" xmlns:p14="http://schemas.microsoft.com/office/powerpoint/2010/main">
    <mc:Choice Requires="p14">
      <p:transition spd="slow" p14:dur="2000" advTm="67938"/>
    </mc:Choice>
    <mc:Fallback xmlns="">
      <p:transition spd="slow" advTm="67938"/>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414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F1FE1BD-2C61-4C19-BE55-6A78EABF7734}"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31</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34147" name="Rectangle 2"/>
          <p:cNvSpPr>
            <a:spLocks noGrp="1" noChangeArrowheads="1"/>
          </p:cNvSpPr>
          <p:nvPr>
            <p:ph type="title"/>
          </p:nvPr>
        </p:nvSpPr>
        <p:spPr>
          <a:xfrm>
            <a:off x="374582" y="0"/>
            <a:ext cx="6026217" cy="1143000"/>
          </a:xfrm>
        </p:spPr>
        <p:txBody>
          <a:bodyPr/>
          <a:lstStyle/>
          <a:p>
            <a:pPr algn="l"/>
            <a:r>
              <a:rPr kumimoji="0" lang="en-US" altLang="en-US" sz="3600" b="0" i="0" u="none" strike="noStrike" kern="0" cap="none" spc="0" normalizeH="0" baseline="0" noProof="0" dirty="0">
                <a:ln>
                  <a:noFill/>
                </a:ln>
                <a:solidFill>
                  <a:srgbClr val="1F497D"/>
                </a:solidFill>
                <a:effectLst/>
                <a:uLnTx/>
                <a:uFillTx/>
                <a:latin typeface="Tahoma"/>
                <a:ea typeface="ＭＳ Ｐゴシック"/>
                <a:cs typeface="+mj-cs"/>
              </a:rPr>
              <a:t>WACC (cont.)</a:t>
            </a:r>
            <a:endParaRPr lang="en-US" altLang="en-US" sz="3600" dirty="0">
              <a:solidFill>
                <a:srgbClr val="000099"/>
              </a:solidFill>
            </a:endParaRPr>
          </a:p>
        </p:txBody>
      </p:sp>
      <p:sp>
        <p:nvSpPr>
          <p:cNvPr id="134148" name="Rectangle 3"/>
          <p:cNvSpPr>
            <a:spLocks noGrp="1" noChangeArrowheads="1"/>
          </p:cNvSpPr>
          <p:nvPr>
            <p:ph type="body" idx="1"/>
          </p:nvPr>
        </p:nvSpPr>
        <p:spPr>
          <a:xfrm>
            <a:off x="228600" y="990600"/>
            <a:ext cx="8540818" cy="5486400"/>
          </a:xfrm>
        </p:spPr>
        <p:txBody>
          <a:bodyPr/>
          <a:lstStyle/>
          <a:p>
            <a:pPr marL="533400" indent="-533400" algn="just">
              <a:buClr>
                <a:srgbClr val="002060"/>
              </a:buClr>
              <a:buSzPct val="75000"/>
            </a:pPr>
            <a:r>
              <a:rPr lang="en-US" altLang="en-US" sz="2400" dirty="0"/>
              <a:t>As discussed in Introductory slides of this chapter</a:t>
            </a:r>
          </a:p>
          <a:p>
            <a:pPr marL="533400" indent="-533400" algn="just">
              <a:buClr>
                <a:srgbClr val="002060"/>
              </a:buClr>
              <a:buSzPct val="75000"/>
            </a:pPr>
            <a:r>
              <a:rPr lang="en-US" altLang="en-US" sz="2400" dirty="0"/>
              <a:t>An asset’s value inversely related to the rate of return investors require to invest in it</a:t>
            </a:r>
          </a:p>
          <a:p>
            <a:pPr marL="533400" indent="-533400" algn="just">
              <a:buClr>
                <a:srgbClr val="002060"/>
              </a:buClr>
              <a:buSzPct val="75000"/>
            </a:pPr>
            <a:r>
              <a:rPr lang="en-US" altLang="en-US" sz="2400" dirty="0"/>
              <a:t>Investors’ required rate of return reflects the firm’s cost of capital</a:t>
            </a:r>
          </a:p>
          <a:p>
            <a:pPr marL="533400" indent="-533400" algn="just">
              <a:buClr>
                <a:srgbClr val="002060"/>
              </a:buClr>
              <a:buSzPct val="75000"/>
            </a:pPr>
            <a:endParaRPr lang="en-US" altLang="en-US" sz="800" dirty="0"/>
          </a:p>
          <a:p>
            <a:pPr marL="533400" indent="-533400" algn="just">
              <a:buClr>
                <a:srgbClr val="002060"/>
              </a:buClr>
              <a:buSzPct val="75000"/>
            </a:pPr>
            <a:r>
              <a:rPr lang="en-US" altLang="en-US" sz="2400" dirty="0"/>
              <a:t>You should have noticed that the general concepts presented in Ch 6 and Ch 8 (determining the required rates of return and their impact on value) are the same concepts covered in this chapter Ch 15)</a:t>
            </a:r>
          </a:p>
          <a:p>
            <a:pPr marL="533400" indent="-533400" algn="just">
              <a:buClr>
                <a:srgbClr val="002060"/>
              </a:buClr>
              <a:buSzPct val="75000"/>
            </a:pPr>
            <a:r>
              <a:rPr lang="en-US" altLang="en-US" sz="2400" dirty="0"/>
              <a:t>These chapters present the same relationships from the two perspectives </a:t>
            </a:r>
          </a:p>
          <a:p>
            <a:pPr marL="0" indent="0" algn="just">
              <a:buClr>
                <a:srgbClr val="002060"/>
              </a:buClr>
              <a:buSzPct val="75000"/>
              <a:buNone/>
            </a:pPr>
            <a:r>
              <a:rPr lang="en-US" altLang="en-US" sz="2400" dirty="0"/>
              <a:t>      (Ch 6 and Ch 8 = investor’s view; Ch 15 = firm’s view)</a:t>
            </a:r>
          </a:p>
        </p:txBody>
      </p:sp>
    </p:spTree>
    <p:extLst>
      <p:ext uri="{BB962C8B-B14F-4D97-AF65-F5344CB8AC3E}">
        <p14:creationId xmlns:p14="http://schemas.microsoft.com/office/powerpoint/2010/main" val="3003880166"/>
      </p:ext>
    </p:extLst>
  </p:cSld>
  <p:clrMapOvr>
    <a:masterClrMapping/>
  </p:clrMapOvr>
  <mc:AlternateContent xmlns:mc="http://schemas.openxmlformats.org/markup-compatibility/2006" xmlns:p14="http://schemas.microsoft.com/office/powerpoint/2010/main">
    <mc:Choice Requires="p14">
      <p:transition spd="slow" p14:dur="2000" advTm="53517"/>
    </mc:Choice>
    <mc:Fallback xmlns="">
      <p:transition spd="slow" advTm="53517"/>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233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052E027-9AF8-40CE-9D12-C5F0D2828628}"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32</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42339" name="Rectangle 2"/>
          <p:cNvSpPr>
            <a:spLocks noGrp="1" noChangeArrowheads="1"/>
          </p:cNvSpPr>
          <p:nvPr>
            <p:ph type="title"/>
          </p:nvPr>
        </p:nvSpPr>
        <p:spPr>
          <a:xfrm>
            <a:off x="457200" y="0"/>
            <a:ext cx="8001000" cy="1143000"/>
          </a:xfrm>
        </p:spPr>
        <p:txBody>
          <a:bodyPr/>
          <a:lstStyle/>
          <a:p>
            <a:pPr algn="l"/>
            <a:r>
              <a:rPr lang="en-US" altLang="en-US" sz="3600" dirty="0" err="1">
                <a:solidFill>
                  <a:srgbClr val="000099"/>
                </a:solidFill>
              </a:rPr>
              <a:t>WACC</a:t>
            </a:r>
            <a:r>
              <a:rPr lang="en-US" altLang="en-US" sz="3600" dirty="0">
                <a:solidFill>
                  <a:srgbClr val="000099"/>
                </a:solidFill>
              </a:rPr>
              <a:t> SUMMARY</a:t>
            </a:r>
          </a:p>
        </p:txBody>
      </p:sp>
      <p:sp>
        <p:nvSpPr>
          <p:cNvPr id="142340" name="Rectangle 3"/>
          <p:cNvSpPr>
            <a:spLocks noGrp="1" noChangeArrowheads="1"/>
          </p:cNvSpPr>
          <p:nvPr>
            <p:ph type="body" idx="1"/>
          </p:nvPr>
        </p:nvSpPr>
        <p:spPr>
          <a:xfrm>
            <a:off x="685800" y="1066800"/>
            <a:ext cx="8001000" cy="5486400"/>
          </a:xfrm>
        </p:spPr>
        <p:txBody>
          <a:bodyPr/>
          <a:lstStyle/>
          <a:p>
            <a:pPr algn="just">
              <a:lnSpc>
                <a:spcPct val="90000"/>
              </a:lnSpc>
              <a:buClr>
                <a:srgbClr val="002060"/>
              </a:buClr>
              <a:buSzPct val="75000"/>
            </a:pPr>
            <a:r>
              <a:rPr lang="en-US" altLang="en-US" sz="2400" dirty="0"/>
              <a:t>Debt capital has the lowest cost of capital (due to the tax shield)</a:t>
            </a:r>
          </a:p>
          <a:p>
            <a:pPr algn="just">
              <a:lnSpc>
                <a:spcPct val="90000"/>
              </a:lnSpc>
              <a:buClr>
                <a:srgbClr val="002060"/>
              </a:buClr>
              <a:buSzPct val="75000"/>
            </a:pPr>
            <a:r>
              <a:rPr lang="en-US" altLang="en-US" sz="2400" b="1" dirty="0">
                <a:solidFill>
                  <a:srgbClr val="C00000"/>
                </a:solidFill>
              </a:rPr>
              <a:t>k</a:t>
            </a:r>
            <a:r>
              <a:rPr lang="en-US" altLang="en-US" sz="2400" b="1" baseline="-25000" dirty="0">
                <a:solidFill>
                  <a:srgbClr val="C00000"/>
                </a:solidFill>
              </a:rPr>
              <a:t>i</a:t>
            </a:r>
            <a:r>
              <a:rPr lang="en-US" altLang="en-US" sz="2400" b="1" dirty="0">
                <a:solidFill>
                  <a:srgbClr val="C00000"/>
                </a:solidFill>
              </a:rPr>
              <a:t> &lt; </a:t>
            </a:r>
            <a:r>
              <a:rPr lang="en-US" altLang="en-US" sz="2400" b="1" dirty="0" err="1">
                <a:solidFill>
                  <a:srgbClr val="C00000"/>
                </a:solidFill>
              </a:rPr>
              <a:t>k</a:t>
            </a:r>
            <a:r>
              <a:rPr lang="en-US" altLang="en-US" sz="2400" b="1" baseline="-25000" dirty="0" err="1">
                <a:solidFill>
                  <a:srgbClr val="C00000"/>
                </a:solidFill>
              </a:rPr>
              <a:t>p</a:t>
            </a:r>
            <a:r>
              <a:rPr lang="en-US" altLang="en-US" sz="2400" b="1" dirty="0">
                <a:solidFill>
                  <a:srgbClr val="C00000"/>
                </a:solidFill>
              </a:rPr>
              <a:t> &lt; </a:t>
            </a:r>
            <a:r>
              <a:rPr lang="en-US" altLang="en-US" sz="2400" b="1" dirty="0" err="1">
                <a:solidFill>
                  <a:srgbClr val="C00000"/>
                </a:solidFill>
              </a:rPr>
              <a:t>k</a:t>
            </a:r>
            <a:r>
              <a:rPr lang="en-US" altLang="en-US" sz="2400" b="1" baseline="-25000" dirty="0" err="1">
                <a:solidFill>
                  <a:srgbClr val="C00000"/>
                </a:solidFill>
              </a:rPr>
              <a:t>n</a:t>
            </a:r>
            <a:endParaRPr lang="en-US" altLang="en-US" sz="2400" b="1" baseline="-25000" dirty="0">
              <a:solidFill>
                <a:srgbClr val="C00000"/>
              </a:solidFill>
            </a:endParaRPr>
          </a:p>
          <a:p>
            <a:pPr algn="just">
              <a:lnSpc>
                <a:spcPct val="90000"/>
              </a:lnSpc>
              <a:buClr>
                <a:srgbClr val="002060"/>
              </a:buClr>
              <a:buSzPct val="75000"/>
            </a:pPr>
            <a:r>
              <a:rPr lang="en-US" altLang="en-US" sz="2400" dirty="0"/>
              <a:t>Due to the risk associated with these investors…</a:t>
            </a:r>
          </a:p>
          <a:p>
            <a:pPr algn="just">
              <a:lnSpc>
                <a:spcPct val="90000"/>
              </a:lnSpc>
              <a:buClr>
                <a:srgbClr val="002060"/>
              </a:buClr>
              <a:buSzPct val="75000"/>
            </a:pPr>
            <a:r>
              <a:rPr lang="en-US" altLang="en-US" sz="2400" dirty="0"/>
              <a:t>Ordinary shareholders have the highest level of risk…no guarantee of a dividend and last in line when the firm goes bankrupt – as such they require the highest return </a:t>
            </a:r>
          </a:p>
          <a:p>
            <a:pPr algn="just">
              <a:lnSpc>
                <a:spcPct val="90000"/>
              </a:lnSpc>
              <a:buClr>
                <a:srgbClr val="002060"/>
              </a:buClr>
              <a:buSzPct val="75000"/>
            </a:pPr>
            <a:endParaRPr lang="en-US" altLang="en-US" sz="2400" dirty="0"/>
          </a:p>
          <a:p>
            <a:pPr algn="just">
              <a:lnSpc>
                <a:spcPct val="90000"/>
              </a:lnSpc>
              <a:buClr>
                <a:srgbClr val="002060"/>
              </a:buClr>
              <a:buSzPct val="75000"/>
            </a:pPr>
            <a:r>
              <a:rPr lang="en-US" altLang="en-US" sz="2400" dirty="0"/>
              <a:t>Ch 15: focus on LT capital sources only </a:t>
            </a:r>
          </a:p>
        </p:txBody>
      </p:sp>
    </p:spTree>
    <p:extLst>
      <p:ext uri="{BB962C8B-B14F-4D97-AF65-F5344CB8AC3E}">
        <p14:creationId xmlns:p14="http://schemas.microsoft.com/office/powerpoint/2010/main" val="1856790178"/>
      </p:ext>
    </p:extLst>
  </p:cSld>
  <p:clrMapOvr>
    <a:masterClrMapping/>
  </p:clrMapOvr>
  <mc:AlternateContent xmlns:mc="http://schemas.openxmlformats.org/markup-compatibility/2006" xmlns:p14="http://schemas.microsoft.com/office/powerpoint/2010/main">
    <mc:Choice Requires="p14">
      <p:transition spd="slow" p14:dur="2000" advTm="69887"/>
    </mc:Choice>
    <mc:Fallback xmlns="">
      <p:transition spd="slow" advTm="69887"/>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2A5CB51-BFA2-4649-8108-A9563A211342}"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33</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44387" name="Rectangle 2"/>
          <p:cNvSpPr>
            <a:spLocks noGrp="1" noChangeArrowheads="1"/>
          </p:cNvSpPr>
          <p:nvPr>
            <p:ph type="title"/>
          </p:nvPr>
        </p:nvSpPr>
        <p:spPr>
          <a:xfrm>
            <a:off x="304800" y="0"/>
            <a:ext cx="7620000" cy="1143000"/>
          </a:xfrm>
        </p:spPr>
        <p:txBody>
          <a:bodyPr/>
          <a:lstStyle/>
          <a:p>
            <a:pPr algn="l"/>
            <a:r>
              <a:rPr lang="en-ZA" altLang="en-US" sz="3600" dirty="0">
                <a:solidFill>
                  <a:srgbClr val="000099"/>
                </a:solidFill>
              </a:rPr>
              <a:t>WACC example 1 – NB</a:t>
            </a:r>
            <a:endParaRPr lang="en-GB" altLang="en-US" sz="3600" dirty="0">
              <a:solidFill>
                <a:srgbClr val="000099"/>
              </a:solidFill>
            </a:endParaRPr>
          </a:p>
        </p:txBody>
      </p:sp>
      <p:sp>
        <p:nvSpPr>
          <p:cNvPr id="144388" name="Rectangle 3"/>
          <p:cNvSpPr>
            <a:spLocks noGrp="1" noChangeArrowheads="1"/>
          </p:cNvSpPr>
          <p:nvPr>
            <p:ph type="body" idx="1"/>
          </p:nvPr>
        </p:nvSpPr>
        <p:spPr>
          <a:xfrm>
            <a:off x="304800" y="990600"/>
            <a:ext cx="8534400" cy="5638800"/>
          </a:xfrm>
        </p:spPr>
        <p:txBody>
          <a:bodyPr/>
          <a:lstStyle/>
          <a:p>
            <a:pPr algn="just">
              <a:lnSpc>
                <a:spcPct val="80000"/>
              </a:lnSpc>
              <a:buFontTx/>
              <a:buNone/>
            </a:pPr>
            <a:r>
              <a:rPr lang="en-ZA" altLang="en-US" sz="1600" dirty="0"/>
              <a:t>	</a:t>
            </a:r>
            <a:r>
              <a:rPr lang="en-ZA" altLang="en-US" sz="2400" dirty="0"/>
              <a:t>Suppose you have been hired as a financial consultant to BUZZ Electronics Ltd. The company is looking at building a manufacturing plant to produce a new line of electronic products. Buzz’s tax rate is 34%.</a:t>
            </a:r>
          </a:p>
          <a:p>
            <a:pPr algn="just">
              <a:lnSpc>
                <a:spcPct val="80000"/>
              </a:lnSpc>
              <a:buFontTx/>
              <a:buNone/>
            </a:pPr>
            <a:endParaRPr lang="en-ZA" altLang="en-US" sz="1200" dirty="0"/>
          </a:p>
          <a:p>
            <a:pPr algn="just">
              <a:lnSpc>
                <a:spcPct val="80000"/>
              </a:lnSpc>
              <a:buFontTx/>
              <a:buNone/>
            </a:pPr>
            <a:r>
              <a:rPr lang="en-ZA" altLang="en-US" sz="2400" dirty="0"/>
              <a:t>	Consider the following current market data on </a:t>
            </a:r>
            <a:r>
              <a:rPr lang="en-ZA" altLang="en-US" sz="2400" dirty="0" err="1"/>
              <a:t>BUZZ’s</a:t>
            </a:r>
            <a:r>
              <a:rPr lang="en-ZA" altLang="en-US" sz="2400" dirty="0"/>
              <a:t> securities:</a:t>
            </a:r>
          </a:p>
          <a:p>
            <a:pPr algn="just">
              <a:lnSpc>
                <a:spcPct val="80000"/>
              </a:lnSpc>
              <a:buFontTx/>
              <a:buNone/>
            </a:pPr>
            <a:endParaRPr lang="en-ZA" altLang="en-US" sz="1200" b="1" dirty="0"/>
          </a:p>
          <a:p>
            <a:pPr algn="just">
              <a:lnSpc>
                <a:spcPct val="80000"/>
              </a:lnSpc>
              <a:buClr>
                <a:srgbClr val="002060"/>
              </a:buClr>
              <a:buSzPct val="75000"/>
              <a:buFont typeface="Arial" panose="020B0604020202020204" pitchFamily="34" charset="0"/>
              <a:buChar char="•"/>
            </a:pPr>
            <a:r>
              <a:rPr lang="en-ZA" altLang="en-US" sz="2400" dirty="0"/>
              <a:t>Debt: 10 000, 7% coupon bonds, 15 years to maturity, selling at a discount of R920. The bonds have a R1 000 par value each and make semi-annual payments.</a:t>
            </a:r>
          </a:p>
          <a:p>
            <a:pPr algn="just">
              <a:lnSpc>
                <a:spcPct val="80000"/>
              </a:lnSpc>
              <a:buClr>
                <a:srgbClr val="002060"/>
              </a:buClr>
              <a:buSzPct val="75000"/>
              <a:buFont typeface="Arial" panose="020B0604020202020204" pitchFamily="34" charset="0"/>
              <a:buChar char="•"/>
            </a:pPr>
            <a:r>
              <a:rPr lang="en-US" altLang="en-US" sz="2400" dirty="0"/>
              <a:t>Preference shares: 10 000, 6 percent preference shares in issue selling for R85 per share. </a:t>
            </a:r>
          </a:p>
          <a:p>
            <a:pPr algn="just">
              <a:lnSpc>
                <a:spcPct val="80000"/>
              </a:lnSpc>
              <a:buClr>
                <a:srgbClr val="002060"/>
              </a:buClr>
              <a:buSzPct val="75000"/>
              <a:buFont typeface="Arial" panose="020B0604020202020204" pitchFamily="34" charset="0"/>
              <a:buChar char="•"/>
            </a:pPr>
            <a:r>
              <a:rPr lang="en-ZA" altLang="en-US" sz="2400" dirty="0"/>
              <a:t>Ordinary shares: 250 000 shares in issue, selling for R55 per share; the share’s beta coefficient is 1.4. </a:t>
            </a:r>
          </a:p>
          <a:p>
            <a:pPr algn="just">
              <a:lnSpc>
                <a:spcPct val="80000"/>
              </a:lnSpc>
              <a:buClr>
                <a:srgbClr val="002060"/>
              </a:buClr>
              <a:buSzPct val="75000"/>
              <a:buFont typeface="Arial" panose="020B0604020202020204" pitchFamily="34" charset="0"/>
              <a:buChar char="•"/>
            </a:pPr>
            <a:r>
              <a:rPr lang="en-ZA" altLang="en-US" sz="2400" dirty="0"/>
              <a:t>Market: 7% expected market risk premium; 5% risk free rate.</a:t>
            </a:r>
          </a:p>
          <a:p>
            <a:pPr algn="just">
              <a:lnSpc>
                <a:spcPct val="80000"/>
              </a:lnSpc>
              <a:buClr>
                <a:srgbClr val="002060"/>
              </a:buClr>
              <a:buSzPct val="75000"/>
              <a:buFont typeface="Arial" panose="020B0604020202020204" pitchFamily="34" charset="0"/>
              <a:buChar char="•"/>
            </a:pPr>
            <a:r>
              <a:rPr lang="en-ZA" altLang="en-US" sz="2400" dirty="0"/>
              <a:t>WACC = ?</a:t>
            </a:r>
            <a:endParaRPr lang="en-GB" altLang="en-US" sz="2400" dirty="0"/>
          </a:p>
        </p:txBody>
      </p:sp>
    </p:spTree>
    <p:extLst>
      <p:ext uri="{BB962C8B-B14F-4D97-AF65-F5344CB8AC3E}">
        <p14:creationId xmlns:p14="http://schemas.microsoft.com/office/powerpoint/2010/main" val="431862830"/>
      </p:ext>
    </p:extLst>
  </p:cSld>
  <p:clrMapOvr>
    <a:masterClrMapping/>
  </p:clrMapOvr>
  <mc:AlternateContent xmlns:mc="http://schemas.openxmlformats.org/markup-compatibility/2006" xmlns:p14="http://schemas.microsoft.com/office/powerpoint/2010/main">
    <mc:Choice Requires="p14">
      <p:transition spd="slow" p14:dur="2000" advTm="124855"/>
    </mc:Choice>
    <mc:Fallback xmlns="">
      <p:transition spd="slow" advTm="124855"/>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6463C773-269E-4020-9D55-84786F84DC2D}"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34</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45411" name="Rectangle 2"/>
          <p:cNvSpPr>
            <a:spLocks noGrp="1" noChangeArrowheads="1"/>
          </p:cNvSpPr>
          <p:nvPr>
            <p:ph type="title"/>
          </p:nvPr>
        </p:nvSpPr>
        <p:spPr>
          <a:xfrm>
            <a:off x="457200" y="-1"/>
            <a:ext cx="8001000" cy="1009649"/>
          </a:xfrm>
        </p:spPr>
        <p:txBody>
          <a:bodyPr/>
          <a:lstStyle/>
          <a:p>
            <a:pPr algn="l"/>
            <a:r>
              <a:rPr lang="en-ZA" altLang="en-US" sz="3600" dirty="0">
                <a:solidFill>
                  <a:srgbClr val="000099"/>
                </a:solidFill>
              </a:rPr>
              <a:t>WACC example 1 (cont.)</a:t>
            </a:r>
            <a:endParaRPr lang="en-GB" altLang="en-US" sz="3600" dirty="0">
              <a:solidFill>
                <a:srgbClr val="000099"/>
              </a:solidFill>
            </a:endParaRPr>
          </a:p>
        </p:txBody>
      </p:sp>
      <p:sp>
        <p:nvSpPr>
          <p:cNvPr id="145413" name="Rectangle 4"/>
          <p:cNvSpPr>
            <a:spLocks noChangeArrowheads="1"/>
          </p:cNvSpPr>
          <p:nvPr/>
        </p:nvSpPr>
        <p:spPr bwMode="auto">
          <a:xfrm>
            <a:off x="0" y="-3187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tabLst>
                <a:tab pos="279400" algn="l"/>
              </a:tabLst>
              <a:defRPr sz="2800">
                <a:solidFill>
                  <a:schemeClr val="tx1"/>
                </a:solidFill>
                <a:latin typeface="Tahoma" panose="020B0604030504040204" pitchFamily="34" charset="0"/>
              </a:defRPr>
            </a:lvl1pPr>
            <a:lvl2pPr marL="742950" indent="-285750">
              <a:spcBef>
                <a:spcPct val="20000"/>
              </a:spcBef>
              <a:buChar char="–"/>
              <a:tabLst>
                <a:tab pos="279400" algn="l"/>
              </a:tabLst>
              <a:defRPr sz="2400">
                <a:solidFill>
                  <a:schemeClr val="tx1"/>
                </a:solidFill>
                <a:latin typeface="Tahoma" panose="020B0604030504040204" pitchFamily="34" charset="0"/>
              </a:defRPr>
            </a:lvl2pPr>
            <a:lvl3pPr marL="1143000" indent="-228600">
              <a:spcBef>
                <a:spcPct val="20000"/>
              </a:spcBef>
              <a:buChar char="•"/>
              <a:tabLst>
                <a:tab pos="279400" algn="l"/>
              </a:tabLst>
              <a:defRPr sz="2000">
                <a:solidFill>
                  <a:schemeClr val="tx1"/>
                </a:solidFill>
                <a:latin typeface="Tahoma" panose="020B0604030504040204" pitchFamily="34" charset="0"/>
              </a:defRPr>
            </a:lvl3pPr>
            <a:lvl4pPr marL="1600200" indent="-228600">
              <a:spcBef>
                <a:spcPct val="20000"/>
              </a:spcBef>
              <a:buChar char="–"/>
              <a:tabLst>
                <a:tab pos="279400" algn="l"/>
              </a:tabLst>
              <a:defRPr sz="1600">
                <a:solidFill>
                  <a:schemeClr val="tx1"/>
                </a:solidFill>
                <a:latin typeface="Tahoma" panose="020B0604030504040204" pitchFamily="34" charset="0"/>
              </a:defRPr>
            </a:lvl4pPr>
            <a:lvl5pPr marL="2057400" indent="-228600">
              <a:spcBef>
                <a:spcPct val="20000"/>
              </a:spcBef>
              <a:buChar char="»"/>
              <a:tabLst>
                <a:tab pos="279400"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279400"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279400"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279400"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279400" algn="l"/>
              </a:tabLst>
              <a:defRPr sz="16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tab pos="279400" algn="l"/>
              </a:tabLst>
              <a:defRPr/>
            </a:pPr>
            <a:endParaRPr kumimoji="0" lang="en-GB"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128"/>
              <a:cs typeface="+mn-cs"/>
            </a:endParaRPr>
          </a:p>
        </p:txBody>
      </p:sp>
      <p:sp>
        <p:nvSpPr>
          <p:cNvPr id="145415" name="Rectangle 53"/>
          <p:cNvSpPr>
            <a:spLocks noChangeArrowheads="1"/>
          </p:cNvSpPr>
          <p:nvPr/>
        </p:nvSpPr>
        <p:spPr bwMode="auto">
          <a:xfrm>
            <a:off x="4495800" y="5640388"/>
            <a:ext cx="1981200"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GB" altLang="en-US" sz="2000" b="0" i="0" u="none" strike="noStrike" kern="1200" cap="none" spc="0" normalizeH="0" baseline="0" noProof="0">
              <a:ln>
                <a:noFill/>
              </a:ln>
              <a:solidFill>
                <a:srgbClr val="000000"/>
              </a:solidFill>
              <a:effectLst/>
              <a:uLnTx/>
              <a:uFillTx/>
              <a:latin typeface="Tahoma" panose="020B0604030504040204" pitchFamily="34" charset="0"/>
              <a:ea typeface="ＭＳ Ｐゴシック" charset="-128"/>
              <a:cs typeface="+mn-cs"/>
            </a:endParaRPr>
          </a:p>
        </p:txBody>
      </p:sp>
      <p:sp>
        <p:nvSpPr>
          <p:cNvPr id="145446" name="Rectangle 37"/>
          <p:cNvSpPr>
            <a:spLocks noChangeArrowheads="1"/>
          </p:cNvSpPr>
          <p:nvPr/>
        </p:nvSpPr>
        <p:spPr bwMode="auto">
          <a:xfrm>
            <a:off x="1828800" y="2746375"/>
            <a:ext cx="2667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tabLst>
                <a:tab pos="279400" algn="l"/>
                <a:tab pos="571500" algn="l"/>
              </a:tabLst>
              <a:defRPr sz="2800">
                <a:solidFill>
                  <a:schemeClr val="tx1"/>
                </a:solidFill>
                <a:latin typeface="Tahoma" panose="020B0604030504040204" pitchFamily="34" charset="0"/>
              </a:defRPr>
            </a:lvl1pPr>
            <a:lvl2pPr marL="742950" indent="-285750">
              <a:spcBef>
                <a:spcPct val="20000"/>
              </a:spcBef>
              <a:buChar char="–"/>
              <a:tabLst>
                <a:tab pos="279400" algn="l"/>
                <a:tab pos="571500" algn="l"/>
              </a:tabLst>
              <a:defRPr sz="2400">
                <a:solidFill>
                  <a:schemeClr val="tx1"/>
                </a:solidFill>
                <a:latin typeface="Tahoma" panose="020B0604030504040204" pitchFamily="34" charset="0"/>
              </a:defRPr>
            </a:lvl2pPr>
            <a:lvl3pPr marL="1143000" indent="-228600">
              <a:spcBef>
                <a:spcPct val="20000"/>
              </a:spcBef>
              <a:buChar char="•"/>
              <a:tabLst>
                <a:tab pos="279400" algn="l"/>
                <a:tab pos="571500" algn="l"/>
              </a:tabLst>
              <a:defRPr sz="2000">
                <a:solidFill>
                  <a:schemeClr val="tx1"/>
                </a:solidFill>
                <a:latin typeface="Tahoma" panose="020B0604030504040204" pitchFamily="34" charset="0"/>
              </a:defRPr>
            </a:lvl3pPr>
            <a:lvl4pPr marL="1600200" indent="-228600">
              <a:spcBef>
                <a:spcPct val="20000"/>
              </a:spcBef>
              <a:buChar char="–"/>
              <a:tabLst>
                <a:tab pos="279400" algn="l"/>
                <a:tab pos="571500" algn="l"/>
              </a:tabLst>
              <a:defRPr sz="1600">
                <a:solidFill>
                  <a:schemeClr val="tx1"/>
                </a:solidFill>
                <a:latin typeface="Tahoma" panose="020B0604030504040204" pitchFamily="34" charset="0"/>
              </a:defRPr>
            </a:lvl4pPr>
            <a:lvl5pPr marL="2057400" indent="-228600">
              <a:spcBef>
                <a:spcPct val="20000"/>
              </a:spcBef>
              <a:buChar char="»"/>
              <a:tabLst>
                <a:tab pos="279400" algn="l"/>
                <a:tab pos="571500"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tab pos="279400" algn="l"/>
                <a:tab pos="571500" algn="l"/>
              </a:tabLst>
              <a:defRPr/>
            </a:pPr>
            <a:endParaRPr kumimoji="0" lang="en-GB" altLang="en-US" sz="20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charset="-128"/>
              <a:cs typeface="+mn-cs"/>
            </a:endParaRPr>
          </a:p>
        </p:txBody>
      </p:sp>
      <p:grpSp>
        <p:nvGrpSpPr>
          <p:cNvPr id="145427" name="Group 187"/>
          <p:cNvGrpSpPr>
            <a:grpSpLocks/>
          </p:cNvGrpSpPr>
          <p:nvPr/>
        </p:nvGrpSpPr>
        <p:grpSpPr bwMode="auto">
          <a:xfrm>
            <a:off x="304800" y="1981200"/>
            <a:ext cx="7467600" cy="765175"/>
            <a:chOff x="192" y="1248"/>
            <a:chExt cx="4704" cy="482"/>
          </a:xfrm>
        </p:grpSpPr>
        <p:sp>
          <p:nvSpPr>
            <p:cNvPr id="145442" name="Rectangle 34"/>
            <p:cNvSpPr>
              <a:spLocks noChangeArrowheads="1"/>
            </p:cNvSpPr>
            <p:nvPr/>
          </p:nvSpPr>
          <p:spPr bwMode="auto">
            <a:xfrm>
              <a:off x="4080" y="1248"/>
              <a:ext cx="816"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GB" altLang="en-US" sz="2000" b="0" i="0" u="none" strike="noStrike" kern="1200" cap="none" spc="0" normalizeH="0" baseline="0" noProof="0">
                <a:ln>
                  <a:noFill/>
                </a:ln>
                <a:solidFill>
                  <a:srgbClr val="000000"/>
                </a:solidFill>
                <a:effectLst/>
                <a:uLnTx/>
                <a:uFillTx/>
                <a:latin typeface="Tahoma" panose="020B0604030504040204" pitchFamily="34" charset="0"/>
                <a:ea typeface="ＭＳ Ｐゴシック" charset="-128"/>
                <a:cs typeface="+mn-cs"/>
              </a:endParaRPr>
            </a:p>
          </p:txBody>
        </p:sp>
        <p:sp>
          <p:nvSpPr>
            <p:cNvPr id="145443" name="Rectangle 33"/>
            <p:cNvSpPr>
              <a:spLocks noChangeArrowheads="1"/>
            </p:cNvSpPr>
            <p:nvPr/>
          </p:nvSpPr>
          <p:spPr bwMode="auto">
            <a:xfrm>
              <a:off x="2832" y="1248"/>
              <a:ext cx="1248"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GB" altLang="en-US" sz="2000" b="0" i="0" u="none" strike="noStrike" kern="1200" cap="none" spc="0" normalizeH="0" baseline="0" noProof="0">
                <a:ln>
                  <a:noFill/>
                </a:ln>
                <a:solidFill>
                  <a:srgbClr val="000000"/>
                </a:solidFill>
                <a:effectLst/>
                <a:uLnTx/>
                <a:uFillTx/>
                <a:latin typeface="Tahoma" panose="020B0604030504040204" pitchFamily="34" charset="0"/>
                <a:ea typeface="ＭＳ Ｐゴシック" charset="-128"/>
                <a:cs typeface="+mn-cs"/>
              </a:endParaRPr>
            </a:p>
          </p:txBody>
        </p:sp>
        <p:sp>
          <p:nvSpPr>
            <p:cNvPr id="145444" name="Rectangle 32"/>
            <p:cNvSpPr>
              <a:spLocks noChangeArrowheads="1"/>
            </p:cNvSpPr>
            <p:nvPr/>
          </p:nvSpPr>
          <p:spPr bwMode="auto">
            <a:xfrm>
              <a:off x="1152" y="1248"/>
              <a:ext cx="1680"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tabLst>
                  <a:tab pos="279400" algn="l"/>
                  <a:tab pos="571500" algn="l"/>
                </a:tabLst>
                <a:defRPr sz="2800">
                  <a:solidFill>
                    <a:schemeClr val="tx1"/>
                  </a:solidFill>
                  <a:latin typeface="Tahoma" panose="020B0604030504040204" pitchFamily="34" charset="0"/>
                </a:defRPr>
              </a:lvl1pPr>
              <a:lvl2pPr marL="742950" indent="-285750">
                <a:spcBef>
                  <a:spcPct val="20000"/>
                </a:spcBef>
                <a:buChar char="–"/>
                <a:tabLst>
                  <a:tab pos="279400" algn="l"/>
                  <a:tab pos="571500" algn="l"/>
                </a:tabLst>
                <a:defRPr sz="2400">
                  <a:solidFill>
                    <a:schemeClr val="tx1"/>
                  </a:solidFill>
                  <a:latin typeface="Tahoma" panose="020B0604030504040204" pitchFamily="34" charset="0"/>
                </a:defRPr>
              </a:lvl2pPr>
              <a:lvl3pPr marL="1143000" indent="-228600">
                <a:spcBef>
                  <a:spcPct val="20000"/>
                </a:spcBef>
                <a:buChar char="•"/>
                <a:tabLst>
                  <a:tab pos="279400" algn="l"/>
                  <a:tab pos="571500" algn="l"/>
                </a:tabLst>
                <a:defRPr sz="2000">
                  <a:solidFill>
                    <a:schemeClr val="tx1"/>
                  </a:solidFill>
                  <a:latin typeface="Tahoma" panose="020B0604030504040204" pitchFamily="34" charset="0"/>
                </a:defRPr>
              </a:lvl3pPr>
              <a:lvl4pPr marL="1600200" indent="-228600">
                <a:spcBef>
                  <a:spcPct val="20000"/>
                </a:spcBef>
                <a:buChar char="–"/>
                <a:tabLst>
                  <a:tab pos="279400" algn="l"/>
                  <a:tab pos="571500" algn="l"/>
                </a:tabLst>
                <a:defRPr sz="1600">
                  <a:solidFill>
                    <a:schemeClr val="tx1"/>
                  </a:solidFill>
                  <a:latin typeface="Tahoma" panose="020B0604030504040204" pitchFamily="34" charset="0"/>
                </a:defRPr>
              </a:lvl4pPr>
              <a:lvl5pPr marL="2057400" indent="-228600">
                <a:spcBef>
                  <a:spcPct val="20000"/>
                </a:spcBef>
                <a:buChar char="»"/>
                <a:tabLst>
                  <a:tab pos="279400" algn="l"/>
                  <a:tab pos="571500"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tab pos="279400" algn="l"/>
                  <a:tab pos="571500" algn="l"/>
                </a:tabLst>
                <a:defRPr/>
              </a:pPr>
              <a:endParaRPr kumimoji="0" lang="en-GB" altLang="en-US" sz="20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charset="-128"/>
                <a:cs typeface="+mn-cs"/>
              </a:endParaRPr>
            </a:p>
          </p:txBody>
        </p:sp>
        <p:sp>
          <p:nvSpPr>
            <p:cNvPr id="145445" name="Rectangle 31"/>
            <p:cNvSpPr>
              <a:spLocks noChangeArrowheads="1"/>
            </p:cNvSpPr>
            <p:nvPr/>
          </p:nvSpPr>
          <p:spPr bwMode="auto">
            <a:xfrm>
              <a:off x="192" y="1248"/>
              <a:ext cx="960"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tabLst>
                  <a:tab pos="279400" algn="l"/>
                  <a:tab pos="571500" algn="l"/>
                </a:tabLst>
                <a:defRPr sz="2800">
                  <a:solidFill>
                    <a:schemeClr val="tx1"/>
                  </a:solidFill>
                  <a:latin typeface="Tahoma" panose="020B0604030504040204" pitchFamily="34" charset="0"/>
                </a:defRPr>
              </a:lvl1pPr>
              <a:lvl2pPr marL="742950" indent="-285750">
                <a:spcBef>
                  <a:spcPct val="20000"/>
                </a:spcBef>
                <a:buChar char="–"/>
                <a:tabLst>
                  <a:tab pos="279400" algn="l"/>
                  <a:tab pos="571500" algn="l"/>
                </a:tabLst>
                <a:defRPr sz="2400">
                  <a:solidFill>
                    <a:schemeClr val="tx1"/>
                  </a:solidFill>
                  <a:latin typeface="Tahoma" panose="020B0604030504040204" pitchFamily="34" charset="0"/>
                </a:defRPr>
              </a:lvl2pPr>
              <a:lvl3pPr marL="1143000" indent="-228600">
                <a:spcBef>
                  <a:spcPct val="20000"/>
                </a:spcBef>
                <a:buChar char="•"/>
                <a:tabLst>
                  <a:tab pos="279400" algn="l"/>
                  <a:tab pos="571500" algn="l"/>
                </a:tabLst>
                <a:defRPr sz="2000">
                  <a:solidFill>
                    <a:schemeClr val="tx1"/>
                  </a:solidFill>
                  <a:latin typeface="Tahoma" panose="020B0604030504040204" pitchFamily="34" charset="0"/>
                </a:defRPr>
              </a:lvl3pPr>
              <a:lvl4pPr marL="1600200" indent="-228600">
                <a:spcBef>
                  <a:spcPct val="20000"/>
                </a:spcBef>
                <a:buChar char="–"/>
                <a:tabLst>
                  <a:tab pos="279400" algn="l"/>
                  <a:tab pos="571500" algn="l"/>
                </a:tabLst>
                <a:defRPr sz="1600">
                  <a:solidFill>
                    <a:schemeClr val="tx1"/>
                  </a:solidFill>
                  <a:latin typeface="Tahoma" panose="020B0604030504040204" pitchFamily="34" charset="0"/>
                </a:defRPr>
              </a:lvl4pPr>
              <a:lvl5pPr marL="2057400" indent="-228600">
                <a:spcBef>
                  <a:spcPct val="20000"/>
                </a:spcBef>
                <a:buChar char="»"/>
                <a:tabLst>
                  <a:tab pos="279400" algn="l"/>
                  <a:tab pos="571500"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tab pos="279400" algn="l"/>
                  <a:tab pos="571500" algn="l"/>
                </a:tabLst>
                <a:defRPr/>
              </a:pPr>
              <a:endParaRPr kumimoji="0" lang="en-GB" altLang="en-US" sz="20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charset="-128"/>
                <a:cs typeface="+mn-cs"/>
              </a:endParaRPr>
            </a:p>
          </p:txBody>
        </p:sp>
      </p:grpSp>
      <p:sp>
        <p:nvSpPr>
          <p:cNvPr id="145440" name="Rectangle 167"/>
          <p:cNvSpPr>
            <a:spLocks noChangeArrowheads="1"/>
          </p:cNvSpPr>
          <p:nvPr/>
        </p:nvSpPr>
        <p:spPr bwMode="auto">
          <a:xfrm>
            <a:off x="0" y="10044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tabLst>
                <a:tab pos="279400" algn="l"/>
                <a:tab pos="342900" algn="l"/>
                <a:tab pos="571500" algn="l"/>
              </a:tabLst>
              <a:defRPr sz="2800">
                <a:solidFill>
                  <a:schemeClr val="tx1"/>
                </a:solidFill>
                <a:latin typeface="Tahoma" panose="020B0604030504040204" pitchFamily="34" charset="0"/>
              </a:defRPr>
            </a:lvl1pPr>
            <a:lvl2pPr marL="742950" indent="-285750">
              <a:spcBef>
                <a:spcPct val="20000"/>
              </a:spcBef>
              <a:buChar char="–"/>
              <a:tabLst>
                <a:tab pos="279400" algn="l"/>
                <a:tab pos="342900" algn="l"/>
                <a:tab pos="571500" algn="l"/>
              </a:tabLst>
              <a:defRPr sz="2400">
                <a:solidFill>
                  <a:schemeClr val="tx1"/>
                </a:solidFill>
                <a:latin typeface="Tahoma" panose="020B0604030504040204" pitchFamily="34" charset="0"/>
              </a:defRPr>
            </a:lvl2pPr>
            <a:lvl3pPr marL="1143000" indent="-228600">
              <a:spcBef>
                <a:spcPct val="20000"/>
              </a:spcBef>
              <a:buChar char="•"/>
              <a:tabLst>
                <a:tab pos="279400" algn="l"/>
                <a:tab pos="342900" algn="l"/>
                <a:tab pos="571500" algn="l"/>
              </a:tabLst>
              <a:defRPr sz="2000">
                <a:solidFill>
                  <a:schemeClr val="tx1"/>
                </a:solidFill>
                <a:latin typeface="Tahoma" panose="020B0604030504040204" pitchFamily="34" charset="0"/>
              </a:defRPr>
            </a:lvl3pPr>
            <a:lvl4pPr marL="1600200" indent="-228600">
              <a:spcBef>
                <a:spcPct val="20000"/>
              </a:spcBef>
              <a:buChar char="–"/>
              <a:tabLst>
                <a:tab pos="279400" algn="l"/>
                <a:tab pos="342900" algn="l"/>
                <a:tab pos="571500" algn="l"/>
              </a:tabLst>
              <a:defRPr sz="1600">
                <a:solidFill>
                  <a:schemeClr val="tx1"/>
                </a:solidFill>
                <a:latin typeface="Tahoma" panose="020B0604030504040204" pitchFamily="34" charset="0"/>
              </a:defRPr>
            </a:lvl4pPr>
            <a:lvl5pPr marL="2057400" indent="-228600">
              <a:spcBef>
                <a:spcPct val="20000"/>
              </a:spcBef>
              <a:buChar char="»"/>
              <a:tabLst>
                <a:tab pos="279400" algn="l"/>
                <a:tab pos="342900" algn="l"/>
                <a:tab pos="571500"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279400" algn="l"/>
                <a:tab pos="342900" algn="l"/>
                <a:tab pos="571500"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279400" algn="l"/>
                <a:tab pos="342900" algn="l"/>
                <a:tab pos="571500"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279400" algn="l"/>
                <a:tab pos="342900" algn="l"/>
                <a:tab pos="571500"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279400" algn="l"/>
                <a:tab pos="342900" algn="l"/>
                <a:tab pos="571500" algn="l"/>
              </a:tabLst>
              <a:defRPr sz="16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tab pos="279400" algn="l"/>
                <a:tab pos="342900" algn="l"/>
                <a:tab pos="571500" algn="l"/>
              </a:tabLst>
              <a:defRPr/>
            </a:pPr>
            <a:endParaRPr kumimoji="0" lang="en-GB"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128"/>
              <a:cs typeface="+mn-cs"/>
            </a:endParaRPr>
          </a:p>
        </p:txBody>
      </p:sp>
      <p:sp>
        <p:nvSpPr>
          <p:cNvPr id="4" name="Content Placeholder 3">
            <a:extLst>
              <a:ext uri="{FF2B5EF4-FFF2-40B4-BE49-F238E27FC236}">
                <a16:creationId xmlns:a16="http://schemas.microsoft.com/office/drawing/2014/main" id="{90E8E624-EAD3-47B9-BF6F-D8762909ED13}"/>
              </a:ext>
            </a:extLst>
          </p:cNvPr>
          <p:cNvSpPr>
            <a:spLocks noGrp="1"/>
          </p:cNvSpPr>
          <p:nvPr>
            <p:ph idx="1"/>
          </p:nvPr>
        </p:nvSpPr>
        <p:spPr>
          <a:xfrm>
            <a:off x="304800" y="875903"/>
            <a:ext cx="9144000" cy="686593"/>
          </a:xfrm>
        </p:spPr>
        <p:txBody>
          <a:bodyPr/>
          <a:lstStyle/>
          <a:p>
            <a:pPr marL="0" indent="0">
              <a:buNone/>
            </a:pPr>
            <a:r>
              <a:rPr lang="en-US" sz="2200" dirty="0"/>
              <a:t>Calculate the relevant market value </a:t>
            </a:r>
            <a:r>
              <a:rPr lang="en-US" sz="2200" dirty="0" err="1"/>
              <a:t>capitalisation</a:t>
            </a:r>
            <a:r>
              <a:rPr lang="en-US" sz="2200" dirty="0"/>
              <a:t> weights of debt, preference shares and ordinary shares</a:t>
            </a:r>
            <a:endParaRPr lang="en-ZA" sz="2200" dirty="0"/>
          </a:p>
        </p:txBody>
      </p:sp>
      <p:sp>
        <p:nvSpPr>
          <p:cNvPr id="9" name="TextBox 8">
            <a:extLst>
              <a:ext uri="{FF2B5EF4-FFF2-40B4-BE49-F238E27FC236}">
                <a16:creationId xmlns:a16="http://schemas.microsoft.com/office/drawing/2014/main" id="{5450D8DB-D124-498F-8E27-312DACAFA45A}"/>
              </a:ext>
            </a:extLst>
          </p:cNvPr>
          <p:cNvSpPr txBox="1"/>
          <p:nvPr/>
        </p:nvSpPr>
        <p:spPr>
          <a:xfrm>
            <a:off x="5110370" y="6265516"/>
            <a:ext cx="452230" cy="150246"/>
          </a:xfrm>
          <a:prstGeom prst="rect">
            <a:avLst/>
          </a:prstGeom>
          <a:solidFill>
            <a:schemeClr val="bg1"/>
          </a:solid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ZA" sz="2800" b="0" i="0" u="none" strike="noStrike" kern="1200" cap="none" spc="0" normalizeH="0" baseline="0" noProof="0" dirty="0">
              <a:ln>
                <a:noFill/>
              </a:ln>
              <a:solidFill>
                <a:srgbClr val="000000"/>
              </a:solidFill>
              <a:effectLst/>
              <a:uLnTx/>
              <a:uFillTx/>
              <a:latin typeface="Arial" charset="0"/>
              <a:ea typeface="ＭＳ Ｐゴシック" charset="-128"/>
            </a:endParaRPr>
          </a:p>
        </p:txBody>
      </p:sp>
      <p:pic>
        <p:nvPicPr>
          <p:cNvPr id="10" name="Picture 9">
            <a:extLst>
              <a:ext uri="{FF2B5EF4-FFF2-40B4-BE49-F238E27FC236}">
                <a16:creationId xmlns:a16="http://schemas.microsoft.com/office/drawing/2014/main" id="{B54DD799-6BCC-8C5A-DEDF-A2EA4C8BF68B}"/>
              </a:ext>
            </a:extLst>
          </p:cNvPr>
          <p:cNvPicPr>
            <a:picLocks noChangeAspect="1"/>
          </p:cNvPicPr>
          <p:nvPr/>
        </p:nvPicPr>
        <p:blipFill>
          <a:blip r:embed="rId2"/>
          <a:stretch>
            <a:fillRect/>
          </a:stretch>
        </p:blipFill>
        <p:spPr>
          <a:xfrm>
            <a:off x="328246" y="1785116"/>
            <a:ext cx="8330567" cy="3115893"/>
          </a:xfrm>
          <a:prstGeom prst="rect">
            <a:avLst/>
          </a:prstGeom>
        </p:spPr>
      </p:pic>
    </p:spTree>
    <p:extLst>
      <p:ext uri="{BB962C8B-B14F-4D97-AF65-F5344CB8AC3E}">
        <p14:creationId xmlns:p14="http://schemas.microsoft.com/office/powerpoint/2010/main" val="457611826"/>
      </p:ext>
    </p:extLst>
  </p:cSld>
  <p:clrMapOvr>
    <a:masterClrMapping/>
  </p:clrMapOvr>
  <mc:AlternateContent xmlns:mc="http://schemas.openxmlformats.org/markup-compatibility/2006" xmlns:p14="http://schemas.microsoft.com/office/powerpoint/2010/main">
    <mc:Choice Requires="p14">
      <p:transition spd="slow" p14:dur="2000" advTm="125701"/>
    </mc:Choice>
    <mc:Fallback xmlns="">
      <p:transition spd="slow" advTm="125701"/>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643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3CF8088-E2AC-437A-A4FD-0C68A9143D85}"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35</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46435" name="Rectangle 2"/>
          <p:cNvSpPr>
            <a:spLocks noGrp="1" noChangeArrowheads="1"/>
          </p:cNvSpPr>
          <p:nvPr>
            <p:ph type="title"/>
          </p:nvPr>
        </p:nvSpPr>
        <p:spPr>
          <a:xfrm>
            <a:off x="457200" y="0"/>
            <a:ext cx="8001000" cy="1143000"/>
          </a:xfrm>
        </p:spPr>
        <p:txBody>
          <a:bodyPr/>
          <a:lstStyle/>
          <a:p>
            <a:pPr algn="l"/>
            <a:r>
              <a:rPr lang="en-ZA" altLang="en-US" sz="3600" dirty="0">
                <a:solidFill>
                  <a:srgbClr val="000099"/>
                </a:solidFill>
              </a:rPr>
              <a:t>WACC example 1 (cont.)</a:t>
            </a:r>
            <a:endParaRPr lang="en-GB" altLang="en-US" sz="3600" dirty="0">
              <a:solidFill>
                <a:srgbClr val="000099"/>
              </a:solidFill>
            </a:endParaRPr>
          </a:p>
        </p:txBody>
      </p:sp>
      <p:sp>
        <p:nvSpPr>
          <p:cNvPr id="146436" name="Rectangle 3"/>
          <p:cNvSpPr>
            <a:spLocks noGrp="1" noChangeArrowheads="1"/>
          </p:cNvSpPr>
          <p:nvPr>
            <p:ph type="body" idx="1"/>
          </p:nvPr>
        </p:nvSpPr>
        <p:spPr>
          <a:xfrm>
            <a:off x="304800" y="1066800"/>
            <a:ext cx="8382000" cy="5791200"/>
          </a:xfrm>
        </p:spPr>
        <p:txBody>
          <a:bodyPr/>
          <a:lstStyle/>
          <a:p>
            <a:pPr algn="just">
              <a:lnSpc>
                <a:spcPct val="80000"/>
              </a:lnSpc>
              <a:buFontTx/>
              <a:buNone/>
            </a:pPr>
            <a:r>
              <a:rPr lang="en-ZA" altLang="en-US" sz="2400" dirty="0"/>
              <a:t>	Calculate the after-tax cost of debt, the cost of preference shares and the cost of ordinary shares. Show the relevant equations. </a:t>
            </a:r>
          </a:p>
          <a:p>
            <a:pPr algn="just">
              <a:lnSpc>
                <a:spcPct val="80000"/>
              </a:lnSpc>
              <a:buFontTx/>
              <a:buNone/>
            </a:pPr>
            <a:endParaRPr lang="en-ZA" altLang="en-US" sz="1200" dirty="0"/>
          </a:p>
          <a:p>
            <a:pPr algn="just">
              <a:lnSpc>
                <a:spcPct val="80000"/>
              </a:lnSpc>
              <a:buFontTx/>
              <a:buNone/>
            </a:pPr>
            <a:r>
              <a:rPr lang="en-ZA" altLang="en-US" sz="2400" dirty="0"/>
              <a:t>	</a:t>
            </a:r>
            <a:r>
              <a:rPr lang="en-ZA" altLang="en-US" sz="2400" i="1" dirty="0"/>
              <a:t>Before-tax cost of debt </a:t>
            </a:r>
            <a:endParaRPr lang="sv-SE" altLang="en-US" sz="2400" dirty="0"/>
          </a:p>
          <a:p>
            <a:pPr algn="just">
              <a:lnSpc>
                <a:spcPct val="80000"/>
              </a:lnSpc>
              <a:buFontTx/>
              <a:buNone/>
            </a:pPr>
            <a:r>
              <a:rPr lang="sv-SE" altLang="en-US" sz="2400" dirty="0"/>
              <a:t>	PV = R920; FV = -1 000; PMT = -35 per semi-annum; n = 30 semi-annums; comp YTM = 3.96 x 2 = 7.92% p.a.</a:t>
            </a:r>
            <a:endParaRPr lang="en-ZA" altLang="en-US" sz="2400" i="1" dirty="0"/>
          </a:p>
          <a:p>
            <a:pPr algn="just">
              <a:lnSpc>
                <a:spcPct val="80000"/>
              </a:lnSpc>
              <a:buFontTx/>
              <a:buNone/>
            </a:pPr>
            <a:r>
              <a:rPr lang="en-ZA" altLang="en-US" sz="2400" i="1" dirty="0"/>
              <a:t>	After-tax cost of debt </a:t>
            </a:r>
            <a:endParaRPr lang="en-ZA" altLang="en-US" sz="2400" dirty="0"/>
          </a:p>
          <a:p>
            <a:pPr algn="just">
              <a:lnSpc>
                <a:spcPct val="80000"/>
              </a:lnSpc>
              <a:buFontTx/>
              <a:buNone/>
            </a:pPr>
            <a:r>
              <a:rPr lang="en-ZA" altLang="en-US" sz="2400" dirty="0"/>
              <a:t>	k</a:t>
            </a:r>
            <a:r>
              <a:rPr lang="en-ZA" altLang="en-US" sz="2400" baseline="-25000" dirty="0"/>
              <a:t>i</a:t>
            </a:r>
            <a:r>
              <a:rPr lang="en-ZA" altLang="en-US" sz="2400" dirty="0"/>
              <a:t> 	= </a:t>
            </a:r>
            <a:r>
              <a:rPr lang="en-ZA" altLang="en-US" sz="2400" dirty="0" err="1"/>
              <a:t>k</a:t>
            </a:r>
            <a:r>
              <a:rPr lang="en-ZA" altLang="en-US" sz="2400" baseline="-25000" dirty="0" err="1"/>
              <a:t>d</a:t>
            </a:r>
            <a:r>
              <a:rPr lang="en-ZA" altLang="en-US" sz="2400" dirty="0"/>
              <a:t> (1 – t) = 7.92 (1 – 0.34) = </a:t>
            </a:r>
            <a:r>
              <a:rPr lang="en-ZA" altLang="en-US" sz="2400" b="1" dirty="0">
                <a:solidFill>
                  <a:srgbClr val="C00000"/>
                </a:solidFill>
              </a:rPr>
              <a:t>5.23%</a:t>
            </a:r>
            <a:r>
              <a:rPr lang="en-ZA" altLang="en-US" sz="2400" dirty="0">
                <a:solidFill>
                  <a:srgbClr val="C00000"/>
                </a:solidFill>
              </a:rPr>
              <a:t> </a:t>
            </a:r>
          </a:p>
          <a:p>
            <a:pPr algn="just">
              <a:lnSpc>
                <a:spcPct val="80000"/>
              </a:lnSpc>
              <a:buFontTx/>
              <a:buNone/>
            </a:pPr>
            <a:r>
              <a:rPr lang="en-ZA" altLang="en-US" sz="1400" i="1" dirty="0"/>
              <a:t>	</a:t>
            </a:r>
          </a:p>
          <a:p>
            <a:pPr algn="just">
              <a:lnSpc>
                <a:spcPct val="80000"/>
              </a:lnSpc>
              <a:buFontTx/>
              <a:buNone/>
            </a:pPr>
            <a:r>
              <a:rPr lang="en-ZA" altLang="en-US" sz="2400" i="1" dirty="0"/>
              <a:t>	Cost of preference shares </a:t>
            </a:r>
            <a:endParaRPr lang="en-ZA" altLang="en-US" sz="2400" dirty="0"/>
          </a:p>
          <a:p>
            <a:pPr algn="just">
              <a:lnSpc>
                <a:spcPct val="80000"/>
              </a:lnSpc>
              <a:buFontTx/>
              <a:buNone/>
            </a:pPr>
            <a:r>
              <a:rPr lang="en-ZA" altLang="en-US" sz="2400" dirty="0"/>
              <a:t>	</a:t>
            </a:r>
            <a:r>
              <a:rPr lang="en-ZA" altLang="en-US" sz="2400" dirty="0" err="1"/>
              <a:t>k</a:t>
            </a:r>
            <a:r>
              <a:rPr lang="en-ZA" altLang="en-US" sz="2400" baseline="-25000" dirty="0" err="1"/>
              <a:t>p</a:t>
            </a:r>
            <a:r>
              <a:rPr lang="en-ZA" altLang="en-US" sz="2400" dirty="0"/>
              <a:t> = D/P</a:t>
            </a:r>
            <a:r>
              <a:rPr lang="en-ZA" altLang="en-US" sz="2400" baseline="-25000" dirty="0"/>
              <a:t>0</a:t>
            </a:r>
            <a:r>
              <a:rPr lang="en-ZA" altLang="en-US" sz="2400" dirty="0"/>
              <a:t> = R6/R85 = </a:t>
            </a:r>
            <a:r>
              <a:rPr lang="en-ZA" altLang="en-US" sz="2400" b="1" dirty="0">
                <a:solidFill>
                  <a:srgbClr val="C00000"/>
                </a:solidFill>
              </a:rPr>
              <a:t>7.06%</a:t>
            </a:r>
            <a:r>
              <a:rPr lang="en-ZA" altLang="en-US" sz="2400" dirty="0"/>
              <a:t> </a:t>
            </a:r>
          </a:p>
          <a:p>
            <a:pPr algn="just">
              <a:lnSpc>
                <a:spcPct val="80000"/>
              </a:lnSpc>
              <a:buFontTx/>
              <a:buNone/>
            </a:pPr>
            <a:endParaRPr lang="en-ZA" altLang="en-US" sz="1800" dirty="0"/>
          </a:p>
          <a:p>
            <a:pPr marL="342900" marR="0" lvl="0" indent="-342900" algn="just" defTabSz="914400" rtl="0" eaLnBrk="0" fontAlgn="base" latinLnBrk="0" hangingPunct="0">
              <a:lnSpc>
                <a:spcPct val="80000"/>
              </a:lnSpc>
              <a:spcBef>
                <a:spcPct val="20000"/>
              </a:spcBef>
              <a:spcAft>
                <a:spcPct val="0"/>
              </a:spcAft>
              <a:buClrTx/>
              <a:buSzTx/>
              <a:buFontTx/>
              <a:buNone/>
              <a:tabLst/>
              <a:defRPr/>
            </a:pPr>
            <a:r>
              <a:rPr kumimoji="0" lang="en-ZA" altLang="en-US" sz="2400" b="0" i="1" u="none" strike="noStrike" kern="0" cap="none" spc="0" normalizeH="0" baseline="0" noProof="0" dirty="0">
                <a:ln>
                  <a:noFill/>
                </a:ln>
                <a:solidFill>
                  <a:srgbClr val="000000"/>
                </a:solidFill>
                <a:effectLst/>
                <a:uLnTx/>
                <a:uFillTx/>
                <a:latin typeface="Tahoma"/>
                <a:ea typeface="+mn-ea"/>
                <a:cs typeface="+mn-cs"/>
              </a:rPr>
              <a:t>	Cost of ordinary shares</a:t>
            </a:r>
            <a:endParaRPr kumimoji="0" lang="sv-SE" altLang="en-US"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just" defTabSz="914400" rtl="0" eaLnBrk="0" fontAlgn="base" latinLnBrk="0" hangingPunct="0">
              <a:lnSpc>
                <a:spcPct val="80000"/>
              </a:lnSpc>
              <a:spcBef>
                <a:spcPct val="20000"/>
              </a:spcBef>
              <a:spcAft>
                <a:spcPct val="0"/>
              </a:spcAft>
              <a:buClrTx/>
              <a:buSzTx/>
              <a:buFontTx/>
              <a:buNone/>
              <a:tabLst/>
              <a:defRPr/>
            </a:pPr>
            <a:r>
              <a:rPr kumimoji="0" lang="sv-SE" altLang="en-US" sz="2400" b="0" i="0" u="none" strike="noStrike" kern="0" cap="none" spc="0" normalizeH="0" baseline="0" noProof="0" dirty="0">
                <a:ln>
                  <a:noFill/>
                </a:ln>
                <a:solidFill>
                  <a:srgbClr val="000000"/>
                </a:solidFill>
                <a:effectLst/>
                <a:uLnTx/>
                <a:uFillTx/>
                <a:latin typeface="Tahoma"/>
                <a:ea typeface="+mn-ea"/>
                <a:cs typeface="+mn-cs"/>
              </a:rPr>
              <a:t>	k</a:t>
            </a:r>
            <a:r>
              <a:rPr kumimoji="0" lang="en-ZA" altLang="en-US" sz="2400" b="0" i="0" u="none" strike="noStrike" kern="0" cap="none" spc="0" normalizeH="0" baseline="-25000" noProof="0" dirty="0">
                <a:ln>
                  <a:noFill/>
                </a:ln>
                <a:solidFill>
                  <a:srgbClr val="000000"/>
                </a:solidFill>
                <a:effectLst/>
                <a:uLnTx/>
                <a:uFillTx/>
                <a:latin typeface="Tahoma"/>
                <a:ea typeface="+mn-ea"/>
                <a:cs typeface="+mn-cs"/>
              </a:rPr>
              <a:t>s</a:t>
            </a:r>
            <a:r>
              <a:rPr kumimoji="0" lang="en-ZA" altLang="en-US" sz="2400" b="0" i="0" u="none" strike="noStrike" kern="0" cap="none" spc="0" normalizeH="0" baseline="0" noProof="0" dirty="0">
                <a:ln>
                  <a:noFill/>
                </a:ln>
                <a:solidFill>
                  <a:srgbClr val="000000"/>
                </a:solidFill>
                <a:effectLst/>
                <a:uLnTx/>
                <a:uFillTx/>
                <a:latin typeface="Tahoma"/>
                <a:ea typeface="+mn-ea"/>
                <a:cs typeface="+mn-cs"/>
              </a:rPr>
              <a:t>	= R</a:t>
            </a:r>
            <a:r>
              <a:rPr kumimoji="0" lang="en-ZA" altLang="en-US" sz="2400" b="0" i="0" u="none" strike="noStrike" kern="0" cap="none" spc="0" normalizeH="0" baseline="-25000" noProof="0" dirty="0">
                <a:ln>
                  <a:noFill/>
                </a:ln>
                <a:solidFill>
                  <a:srgbClr val="000000"/>
                </a:solidFill>
                <a:effectLst/>
                <a:uLnTx/>
                <a:uFillTx/>
                <a:latin typeface="Tahoma"/>
                <a:ea typeface="+mn-ea"/>
                <a:cs typeface="+mn-cs"/>
              </a:rPr>
              <a:t>f</a:t>
            </a:r>
            <a:r>
              <a:rPr kumimoji="0" lang="en-ZA" altLang="en-US" sz="2400" b="0" i="0" u="none" strike="noStrike" kern="0" cap="none" spc="0" normalizeH="0" baseline="0" noProof="0" dirty="0">
                <a:ln>
                  <a:noFill/>
                </a:ln>
                <a:solidFill>
                  <a:srgbClr val="000000"/>
                </a:solidFill>
                <a:effectLst/>
                <a:uLnTx/>
                <a:uFillTx/>
                <a:latin typeface="Tahoma"/>
                <a:ea typeface="+mn-ea"/>
                <a:cs typeface="+mn-cs"/>
              </a:rPr>
              <a:t> + ß x (k</a:t>
            </a:r>
            <a:r>
              <a:rPr kumimoji="0" lang="en-ZA" altLang="en-US" sz="2400" b="0" i="0" u="none" strike="noStrike" kern="0" cap="none" spc="0" normalizeH="0" baseline="-25000" noProof="0" dirty="0">
                <a:ln>
                  <a:noFill/>
                </a:ln>
                <a:solidFill>
                  <a:srgbClr val="000000"/>
                </a:solidFill>
                <a:effectLst/>
                <a:uLnTx/>
                <a:uFillTx/>
                <a:latin typeface="Tahoma"/>
                <a:ea typeface="+mn-ea"/>
                <a:cs typeface="+mn-cs"/>
              </a:rPr>
              <a:t>m</a:t>
            </a:r>
            <a:r>
              <a:rPr kumimoji="0" lang="en-ZA" altLang="en-US" sz="2400" b="0" i="0" u="none" strike="noStrike" kern="0" cap="none" spc="0" normalizeH="0" baseline="0" noProof="0" dirty="0">
                <a:ln>
                  <a:noFill/>
                </a:ln>
                <a:solidFill>
                  <a:srgbClr val="000000"/>
                </a:solidFill>
                <a:effectLst/>
                <a:uLnTx/>
                <a:uFillTx/>
                <a:latin typeface="Tahoma"/>
                <a:ea typeface="+mn-ea"/>
                <a:cs typeface="+mn-cs"/>
              </a:rPr>
              <a:t> – R</a:t>
            </a:r>
            <a:r>
              <a:rPr kumimoji="0" lang="en-ZA" altLang="en-US" sz="2400" b="0" i="0" u="none" strike="noStrike" kern="0" cap="none" spc="0" normalizeH="0" baseline="-25000" noProof="0" dirty="0">
                <a:ln>
                  <a:noFill/>
                </a:ln>
                <a:solidFill>
                  <a:srgbClr val="000000"/>
                </a:solidFill>
                <a:effectLst/>
                <a:uLnTx/>
                <a:uFillTx/>
                <a:latin typeface="Tahoma"/>
                <a:ea typeface="+mn-ea"/>
                <a:cs typeface="+mn-cs"/>
              </a:rPr>
              <a:t>f</a:t>
            </a:r>
            <a:r>
              <a:rPr kumimoji="0" lang="en-ZA" altLang="en-US" sz="2400" b="0" i="0" u="none" strike="noStrike" kern="0" cap="none" spc="0" normalizeH="0" baseline="0" noProof="0" dirty="0">
                <a:ln>
                  <a:noFill/>
                </a:ln>
                <a:solidFill>
                  <a:srgbClr val="000000"/>
                </a:solidFill>
                <a:effectLst/>
                <a:uLnTx/>
                <a:uFillTx/>
                <a:latin typeface="Tahoma"/>
                <a:ea typeface="+mn-ea"/>
                <a:cs typeface="+mn-cs"/>
              </a:rPr>
              <a:t>)</a:t>
            </a:r>
            <a:endParaRPr kumimoji="0" lang="sv-SE" altLang="en-US"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just" defTabSz="914400" rtl="0" eaLnBrk="0" fontAlgn="base" latinLnBrk="0" hangingPunct="0">
              <a:lnSpc>
                <a:spcPct val="80000"/>
              </a:lnSpc>
              <a:spcBef>
                <a:spcPct val="20000"/>
              </a:spcBef>
              <a:spcAft>
                <a:spcPct val="0"/>
              </a:spcAft>
              <a:buClrTx/>
              <a:buSzTx/>
              <a:buFontTx/>
              <a:buNone/>
              <a:tabLst/>
              <a:defRPr/>
            </a:pPr>
            <a:r>
              <a:rPr kumimoji="0" lang="sv-SE" altLang="en-US" sz="2400" b="0" i="0" u="none" strike="noStrike" kern="0" cap="none" spc="0" normalizeH="0" baseline="0" noProof="0" dirty="0">
                <a:ln>
                  <a:noFill/>
                </a:ln>
                <a:solidFill>
                  <a:srgbClr val="000000"/>
                </a:solidFill>
                <a:effectLst/>
                <a:uLnTx/>
                <a:uFillTx/>
                <a:latin typeface="Tahoma"/>
                <a:ea typeface="+mn-ea"/>
                <a:cs typeface="+mn-cs"/>
              </a:rPr>
              <a:t>		= 0.05 + 1.4(0.07) = </a:t>
            </a:r>
            <a:r>
              <a:rPr kumimoji="0" lang="sv-SE" altLang="en-US" sz="2400" b="1" i="0" u="none" strike="noStrike" kern="0" cap="none" spc="0" normalizeH="0" baseline="0" noProof="0" dirty="0">
                <a:ln>
                  <a:noFill/>
                </a:ln>
                <a:solidFill>
                  <a:srgbClr val="C00000"/>
                </a:solidFill>
                <a:effectLst/>
                <a:uLnTx/>
                <a:uFillTx/>
                <a:latin typeface="Tahoma"/>
                <a:ea typeface="+mn-ea"/>
                <a:cs typeface="+mn-cs"/>
              </a:rPr>
              <a:t>14.80%</a:t>
            </a:r>
            <a:r>
              <a:rPr kumimoji="0" lang="sv-SE" altLang="en-US" sz="2400" b="0" i="0" u="none" strike="noStrike" kern="0" cap="none" spc="0" normalizeH="0" baseline="0" noProof="0" dirty="0">
                <a:ln>
                  <a:noFill/>
                </a:ln>
                <a:solidFill>
                  <a:srgbClr val="C00000"/>
                </a:solidFill>
                <a:effectLst/>
                <a:uLnTx/>
                <a:uFillTx/>
                <a:latin typeface="Tahoma"/>
                <a:ea typeface="+mn-ea"/>
                <a:cs typeface="+mn-cs"/>
              </a:rPr>
              <a:t>  </a:t>
            </a:r>
          </a:p>
          <a:p>
            <a:pPr algn="just">
              <a:lnSpc>
                <a:spcPct val="80000"/>
              </a:lnSpc>
              <a:buFontTx/>
              <a:buNone/>
            </a:pPr>
            <a:endParaRPr lang="en-GB" altLang="en-US" sz="2400" dirty="0"/>
          </a:p>
        </p:txBody>
      </p:sp>
    </p:spTree>
    <p:extLst>
      <p:ext uri="{BB962C8B-B14F-4D97-AF65-F5344CB8AC3E}">
        <p14:creationId xmlns:p14="http://schemas.microsoft.com/office/powerpoint/2010/main" val="465656412"/>
      </p:ext>
    </p:extLst>
  </p:cSld>
  <p:clrMapOvr>
    <a:masterClrMapping/>
  </p:clrMapOvr>
  <mc:AlternateContent xmlns:mc="http://schemas.openxmlformats.org/markup-compatibility/2006" xmlns:p14="http://schemas.microsoft.com/office/powerpoint/2010/main">
    <mc:Choice Requires="p14">
      <p:transition spd="slow" p14:dur="2000" advTm="149997"/>
    </mc:Choice>
    <mc:Fallback xmlns="">
      <p:transition spd="slow" advTm="14999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6436">
                                            <p:txEl>
                                              <p:pRg st="2" end="2"/>
                                            </p:txEl>
                                          </p:spTgt>
                                        </p:tgtEl>
                                        <p:attrNameLst>
                                          <p:attrName>style.visibility</p:attrName>
                                        </p:attrNameLst>
                                      </p:cBhvr>
                                      <p:to>
                                        <p:strVal val="visible"/>
                                      </p:to>
                                    </p:set>
                                    <p:anim calcmode="lin" valueType="num">
                                      <p:cBhvr additive="base">
                                        <p:cTn id="7" dur="500" fill="hold"/>
                                        <p:tgtEl>
                                          <p:spTgt spid="14643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6436">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6436">
                                            <p:txEl>
                                              <p:pRg st="3" end="3"/>
                                            </p:txEl>
                                          </p:spTgt>
                                        </p:tgtEl>
                                        <p:attrNameLst>
                                          <p:attrName>style.visibility</p:attrName>
                                        </p:attrNameLst>
                                      </p:cBhvr>
                                      <p:to>
                                        <p:strVal val="visible"/>
                                      </p:to>
                                    </p:set>
                                    <p:anim calcmode="lin" valueType="num">
                                      <p:cBhvr additive="base">
                                        <p:cTn id="11" dur="500" fill="hold"/>
                                        <p:tgtEl>
                                          <p:spTgt spid="146436">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643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6436">
                                            <p:txEl>
                                              <p:pRg st="4" end="4"/>
                                            </p:txEl>
                                          </p:spTgt>
                                        </p:tgtEl>
                                        <p:attrNameLst>
                                          <p:attrName>style.visibility</p:attrName>
                                        </p:attrNameLst>
                                      </p:cBhvr>
                                      <p:to>
                                        <p:strVal val="visible"/>
                                      </p:to>
                                    </p:set>
                                    <p:anim calcmode="lin" valueType="num">
                                      <p:cBhvr additive="base">
                                        <p:cTn id="17" dur="500" fill="hold"/>
                                        <p:tgtEl>
                                          <p:spTgt spid="146436">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6436">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46436">
                                            <p:txEl>
                                              <p:pRg st="5" end="5"/>
                                            </p:txEl>
                                          </p:spTgt>
                                        </p:tgtEl>
                                        <p:attrNameLst>
                                          <p:attrName>style.visibility</p:attrName>
                                        </p:attrNameLst>
                                      </p:cBhvr>
                                      <p:to>
                                        <p:strVal val="visible"/>
                                      </p:to>
                                    </p:set>
                                    <p:anim calcmode="lin" valueType="num">
                                      <p:cBhvr additive="base">
                                        <p:cTn id="21" dur="500" fill="hold"/>
                                        <p:tgtEl>
                                          <p:spTgt spid="146436">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4643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6436">
                                            <p:txEl>
                                              <p:pRg st="7" end="7"/>
                                            </p:txEl>
                                          </p:spTgt>
                                        </p:tgtEl>
                                        <p:attrNameLst>
                                          <p:attrName>style.visibility</p:attrName>
                                        </p:attrNameLst>
                                      </p:cBhvr>
                                      <p:to>
                                        <p:strVal val="visible"/>
                                      </p:to>
                                    </p:set>
                                    <p:anim calcmode="lin" valueType="num">
                                      <p:cBhvr additive="base">
                                        <p:cTn id="27" dur="500" fill="hold"/>
                                        <p:tgtEl>
                                          <p:spTgt spid="146436">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46436">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46436">
                                            <p:txEl>
                                              <p:pRg st="8" end="8"/>
                                            </p:txEl>
                                          </p:spTgt>
                                        </p:tgtEl>
                                        <p:attrNameLst>
                                          <p:attrName>style.visibility</p:attrName>
                                        </p:attrNameLst>
                                      </p:cBhvr>
                                      <p:to>
                                        <p:strVal val="visible"/>
                                      </p:to>
                                    </p:set>
                                    <p:anim calcmode="lin" valueType="num">
                                      <p:cBhvr additive="base">
                                        <p:cTn id="31" dur="500" fill="hold"/>
                                        <p:tgtEl>
                                          <p:spTgt spid="146436">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643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6436">
                                            <p:txEl>
                                              <p:pRg st="10" end="10"/>
                                            </p:txEl>
                                          </p:spTgt>
                                        </p:tgtEl>
                                        <p:attrNameLst>
                                          <p:attrName>style.visibility</p:attrName>
                                        </p:attrNameLst>
                                      </p:cBhvr>
                                      <p:to>
                                        <p:strVal val="visible"/>
                                      </p:to>
                                    </p:set>
                                    <p:anim calcmode="lin" valueType="num">
                                      <p:cBhvr additive="base">
                                        <p:cTn id="37" dur="500" fill="hold"/>
                                        <p:tgtEl>
                                          <p:spTgt spid="146436">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6436">
                                            <p:txEl>
                                              <p:pRg st="10" end="1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46436">
                                            <p:txEl>
                                              <p:pRg st="11" end="11"/>
                                            </p:txEl>
                                          </p:spTgt>
                                        </p:tgtEl>
                                        <p:attrNameLst>
                                          <p:attrName>style.visibility</p:attrName>
                                        </p:attrNameLst>
                                      </p:cBhvr>
                                      <p:to>
                                        <p:strVal val="visible"/>
                                      </p:to>
                                    </p:set>
                                    <p:anim calcmode="lin" valueType="num">
                                      <p:cBhvr additive="base">
                                        <p:cTn id="41" dur="500" fill="hold"/>
                                        <p:tgtEl>
                                          <p:spTgt spid="146436">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46436">
                                            <p:txEl>
                                              <p:pRg st="11" end="11"/>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46436">
                                            <p:txEl>
                                              <p:pRg st="12" end="12"/>
                                            </p:txEl>
                                          </p:spTgt>
                                        </p:tgtEl>
                                        <p:attrNameLst>
                                          <p:attrName>style.visibility</p:attrName>
                                        </p:attrNameLst>
                                      </p:cBhvr>
                                      <p:to>
                                        <p:strVal val="visible"/>
                                      </p:to>
                                    </p:set>
                                    <p:anim calcmode="lin" valueType="num">
                                      <p:cBhvr additive="base">
                                        <p:cTn id="45" dur="500" fill="hold"/>
                                        <p:tgtEl>
                                          <p:spTgt spid="146436">
                                            <p:txEl>
                                              <p:pRg st="12" end="1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46436">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745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5802315-42F7-444B-8299-A127FB671269}"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36</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47459" name="Rectangle 2"/>
          <p:cNvSpPr>
            <a:spLocks noGrp="1" noChangeArrowheads="1"/>
          </p:cNvSpPr>
          <p:nvPr>
            <p:ph type="title"/>
          </p:nvPr>
        </p:nvSpPr>
        <p:spPr>
          <a:xfrm>
            <a:off x="457200" y="0"/>
            <a:ext cx="8001000" cy="991292"/>
          </a:xfrm>
        </p:spPr>
        <p:txBody>
          <a:bodyPr/>
          <a:lstStyle/>
          <a:p>
            <a:pPr algn="l"/>
            <a:r>
              <a:rPr lang="en-ZA" altLang="en-US" sz="3600" dirty="0">
                <a:solidFill>
                  <a:srgbClr val="000099"/>
                </a:solidFill>
              </a:rPr>
              <a:t>WACC example 1 (cont.)</a:t>
            </a:r>
            <a:endParaRPr lang="en-GB" altLang="en-US" sz="3600" dirty="0">
              <a:solidFill>
                <a:srgbClr val="000099"/>
              </a:solidFill>
            </a:endParaRPr>
          </a:p>
        </p:txBody>
      </p:sp>
      <p:sp>
        <p:nvSpPr>
          <p:cNvPr id="147464" name="Rectangle 42"/>
          <p:cNvSpPr>
            <a:spLocks noChangeArrowheads="1"/>
          </p:cNvSpPr>
          <p:nvPr/>
        </p:nvSpPr>
        <p:spPr bwMode="auto">
          <a:xfrm>
            <a:off x="533400" y="5211763"/>
            <a:ext cx="2716213" cy="96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GB" altLang="en-US" sz="2400" b="0" i="0" u="none" strike="noStrike" kern="1200" cap="none" spc="0" normalizeH="0" baseline="0" noProof="0">
              <a:ln>
                <a:noFill/>
              </a:ln>
              <a:solidFill>
                <a:srgbClr val="000000"/>
              </a:solidFill>
              <a:effectLst/>
              <a:uLnTx/>
              <a:uFillTx/>
              <a:latin typeface="Tahoma" panose="020B0604030504040204" pitchFamily="34" charset="0"/>
              <a:ea typeface="ＭＳ Ｐゴシック" charset="-128"/>
              <a:cs typeface="+mn-cs"/>
            </a:endParaRPr>
          </a:p>
        </p:txBody>
      </p:sp>
      <p:sp>
        <p:nvSpPr>
          <p:cNvPr id="147479" name="Rectangle 27"/>
          <p:cNvSpPr>
            <a:spLocks noChangeArrowheads="1"/>
          </p:cNvSpPr>
          <p:nvPr/>
        </p:nvSpPr>
        <p:spPr bwMode="auto">
          <a:xfrm>
            <a:off x="3249613" y="2514600"/>
            <a:ext cx="1598612"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ZA" altLang="en-US" sz="2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charset="-128"/>
              <a:cs typeface="+mn-cs"/>
            </a:endParaRPr>
          </a:p>
        </p:txBody>
      </p:sp>
      <p:sp>
        <p:nvSpPr>
          <p:cNvPr id="147480" name="Rectangle 26"/>
          <p:cNvSpPr>
            <a:spLocks noChangeArrowheads="1"/>
          </p:cNvSpPr>
          <p:nvPr/>
        </p:nvSpPr>
        <p:spPr bwMode="auto">
          <a:xfrm>
            <a:off x="533400" y="2514600"/>
            <a:ext cx="2716213"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GB" altLang="en-US" sz="2400" b="0" i="0" u="none" strike="noStrike" kern="1200" cap="none" spc="0" normalizeH="0" baseline="0" noProof="0">
              <a:ln>
                <a:noFill/>
              </a:ln>
              <a:solidFill>
                <a:srgbClr val="000000"/>
              </a:solidFill>
              <a:effectLst/>
              <a:uLnTx/>
              <a:uFillTx/>
              <a:latin typeface="Tahoma" panose="020B0604030504040204" pitchFamily="34" charset="0"/>
              <a:ea typeface="ＭＳ Ｐゴシック" charset="-128"/>
              <a:cs typeface="+mn-cs"/>
            </a:endParaRPr>
          </a:p>
        </p:txBody>
      </p:sp>
      <p:sp>
        <p:nvSpPr>
          <p:cNvPr id="147492" name="Rectangle 134"/>
          <p:cNvSpPr>
            <a:spLocks noChangeArrowheads="1"/>
          </p:cNvSpPr>
          <p:nvPr/>
        </p:nvSpPr>
        <p:spPr bwMode="auto">
          <a:xfrm>
            <a:off x="1357313" y="4525963"/>
            <a:ext cx="222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tabLst>
                <a:tab pos="279400" algn="l"/>
                <a:tab pos="571500" algn="l"/>
              </a:tabLst>
              <a:defRPr sz="2800">
                <a:solidFill>
                  <a:schemeClr val="tx1"/>
                </a:solidFill>
                <a:latin typeface="Tahoma" panose="020B0604030504040204" pitchFamily="34" charset="0"/>
              </a:defRPr>
            </a:lvl1pPr>
            <a:lvl2pPr marL="742950" indent="-285750">
              <a:spcBef>
                <a:spcPct val="20000"/>
              </a:spcBef>
              <a:buChar char="–"/>
              <a:tabLst>
                <a:tab pos="279400" algn="l"/>
                <a:tab pos="571500" algn="l"/>
              </a:tabLst>
              <a:defRPr sz="2400">
                <a:solidFill>
                  <a:schemeClr val="tx1"/>
                </a:solidFill>
                <a:latin typeface="Tahoma" panose="020B0604030504040204" pitchFamily="34" charset="0"/>
              </a:defRPr>
            </a:lvl2pPr>
            <a:lvl3pPr marL="1143000" indent="-228600">
              <a:spcBef>
                <a:spcPct val="20000"/>
              </a:spcBef>
              <a:buChar char="•"/>
              <a:tabLst>
                <a:tab pos="279400" algn="l"/>
                <a:tab pos="571500" algn="l"/>
              </a:tabLst>
              <a:defRPr sz="2000">
                <a:solidFill>
                  <a:schemeClr val="tx1"/>
                </a:solidFill>
                <a:latin typeface="Tahoma" panose="020B0604030504040204" pitchFamily="34" charset="0"/>
              </a:defRPr>
            </a:lvl3pPr>
            <a:lvl4pPr marL="1600200" indent="-228600">
              <a:spcBef>
                <a:spcPct val="20000"/>
              </a:spcBef>
              <a:buChar char="–"/>
              <a:tabLst>
                <a:tab pos="279400" algn="l"/>
                <a:tab pos="571500" algn="l"/>
              </a:tabLst>
              <a:defRPr sz="1600">
                <a:solidFill>
                  <a:schemeClr val="tx1"/>
                </a:solidFill>
                <a:latin typeface="Tahoma" panose="020B0604030504040204" pitchFamily="34" charset="0"/>
              </a:defRPr>
            </a:lvl4pPr>
            <a:lvl5pPr marL="2057400" indent="-228600">
              <a:spcBef>
                <a:spcPct val="20000"/>
              </a:spcBef>
              <a:buChar char="»"/>
              <a:tabLst>
                <a:tab pos="279400" algn="l"/>
                <a:tab pos="571500"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tab pos="279400" algn="l"/>
                <a:tab pos="571500" algn="l"/>
              </a:tabLst>
              <a:defRPr/>
            </a:pPr>
            <a:r>
              <a:rPr kumimoji="0" lang="en-GB"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Times New Roman" panose="02020603050405020304" pitchFamily="18" charset="0"/>
              </a:rPr>
              <a:t> </a:t>
            </a:r>
            <a:endParaRPr kumimoji="0" lang="en-GB"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128"/>
              <a:cs typeface="+mn-cs"/>
            </a:endParaRPr>
          </a:p>
        </p:txBody>
      </p:sp>
      <p:sp>
        <p:nvSpPr>
          <p:cNvPr id="4" name="TextBox 3">
            <a:extLst>
              <a:ext uri="{FF2B5EF4-FFF2-40B4-BE49-F238E27FC236}">
                <a16:creationId xmlns:a16="http://schemas.microsoft.com/office/drawing/2014/main" id="{D79C46F3-F99E-2278-F4FF-D5253514CA0C}"/>
              </a:ext>
            </a:extLst>
          </p:cNvPr>
          <p:cNvSpPr txBox="1"/>
          <p:nvPr/>
        </p:nvSpPr>
        <p:spPr>
          <a:xfrm>
            <a:off x="381000" y="961492"/>
            <a:ext cx="8305800" cy="1126462"/>
          </a:xfrm>
          <a:prstGeom prst="rect">
            <a:avLst/>
          </a:prstGeom>
          <a:noFill/>
        </p:spPr>
        <p:txBody>
          <a:bodyPr wrap="square">
            <a:spAutoFit/>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ZA" altLang="en-US" sz="2400" i="0" u="none" strike="noStrike" kern="0" cap="none" spc="0" normalizeH="0" baseline="0" noProof="0" dirty="0">
                <a:ln>
                  <a:noFill/>
                </a:ln>
                <a:solidFill>
                  <a:srgbClr val="000000"/>
                </a:solidFill>
                <a:effectLst/>
                <a:uLnTx/>
                <a:uFillTx/>
                <a:latin typeface="Tahoma"/>
                <a:ea typeface="+mn-ea"/>
                <a:cs typeface="+mn-cs"/>
              </a:rPr>
              <a:t>Calculate the project’s weighted average cost of capital </a:t>
            </a:r>
          </a:p>
          <a:p>
            <a:pPr marL="0" marR="0" lvl="0" indent="0" algn="l" defTabSz="914400" rtl="0" eaLnBrk="0" fontAlgn="base" latinLnBrk="0" hangingPunct="0">
              <a:lnSpc>
                <a:spcPct val="100000"/>
              </a:lnSpc>
              <a:spcBef>
                <a:spcPct val="20000"/>
              </a:spcBef>
              <a:spcAft>
                <a:spcPct val="0"/>
              </a:spcAft>
              <a:buClrTx/>
              <a:buSzTx/>
              <a:buFontTx/>
              <a:buNone/>
              <a:tabLst/>
              <a:defRPr/>
            </a:pPr>
            <a:endParaRPr lang="en-ZA" altLang="en-US" sz="1200" b="1" kern="0" dirty="0">
              <a:solidFill>
                <a:srgbClr val="000000"/>
              </a:solidFill>
              <a:latin typeface="Tahoma"/>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ZA" altLang="en-US" sz="2400" b="1" i="0" u="none" strike="noStrike" kern="0" cap="none" spc="0" normalizeH="0" baseline="0" noProof="0" dirty="0">
                <a:ln>
                  <a:noFill/>
                </a:ln>
                <a:solidFill>
                  <a:srgbClr val="000000"/>
                </a:solidFill>
                <a:effectLst/>
                <a:uLnTx/>
                <a:uFillTx/>
                <a:latin typeface="Tahoma"/>
                <a:ea typeface="+mn-ea"/>
                <a:cs typeface="+mn-cs"/>
              </a:rPr>
              <a:t>WACC =</a:t>
            </a:r>
            <a:r>
              <a:rPr kumimoji="0" lang="en-US" sz="2400" b="0" i="0" u="none" strike="noStrike" kern="0" cap="none" spc="0" normalizeH="0" baseline="0" noProof="0" dirty="0">
                <a:ln>
                  <a:noFill/>
                </a:ln>
                <a:solidFill>
                  <a:srgbClr val="000000"/>
                </a:solidFill>
                <a:effectLst/>
                <a:uLnTx/>
                <a:uFillTx/>
                <a:latin typeface="Tahoma"/>
                <a:ea typeface="Times New Roman" panose="02020603050405020304" pitchFamily="18" charset="0"/>
                <a:cs typeface="+mn-cs"/>
              </a:rPr>
              <a:t> </a:t>
            </a:r>
            <a:r>
              <a:rPr kumimoji="0" lang="en-US" sz="2400" b="1" i="0" u="none" strike="noStrike" kern="0" cap="none" spc="0" normalizeH="0" baseline="0" noProof="0" dirty="0">
                <a:ln>
                  <a:noFill/>
                </a:ln>
                <a:solidFill>
                  <a:srgbClr val="000000"/>
                </a:solidFill>
                <a:effectLst/>
                <a:uLnTx/>
                <a:uFillTx/>
                <a:latin typeface="Tahoma"/>
                <a:ea typeface="Times New Roman" panose="02020603050405020304" pitchFamily="18" charset="0"/>
                <a:cs typeface="+mn-cs"/>
              </a:rPr>
              <a:t>[</a:t>
            </a:r>
            <a:r>
              <a:rPr kumimoji="0" lang="en-US" sz="2400" b="1" i="0" u="none" strike="noStrike" kern="0" cap="none" spc="0" normalizeH="0" baseline="0" noProof="0" dirty="0">
                <a:ln>
                  <a:noFill/>
                </a:ln>
                <a:solidFill>
                  <a:srgbClr val="000000"/>
                </a:solidFill>
                <a:effectLst/>
                <a:highlight>
                  <a:srgbClr val="00FF00"/>
                </a:highlight>
                <a:uLnTx/>
                <a:uFillTx/>
                <a:latin typeface="Tahoma"/>
                <a:ea typeface="Times New Roman" panose="02020603050405020304" pitchFamily="18" charset="0"/>
                <a:cs typeface="+mn-cs"/>
              </a:rPr>
              <a:t>(</a:t>
            </a:r>
            <a:r>
              <a:rPr kumimoji="0" lang="en-US" sz="2400" b="1" i="0" u="none" strike="noStrike" kern="0" cap="none" spc="0" normalizeH="0" baseline="0" noProof="0" dirty="0">
                <a:ln>
                  <a:noFill/>
                </a:ln>
                <a:solidFill>
                  <a:prstClr val="black"/>
                </a:solidFill>
                <a:effectLst/>
                <a:highlight>
                  <a:srgbClr val="00FF00"/>
                </a:highlight>
                <a:uLnTx/>
                <a:uFillTx/>
                <a:latin typeface="Tahoma"/>
                <a:ea typeface="Times New Roman" panose="02020603050405020304" pitchFamily="18" charset="0"/>
                <a:cs typeface="+mn-cs"/>
              </a:rPr>
              <a:t>D/V)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x </a:t>
            </a:r>
            <a:r>
              <a:rPr kumimoji="0" lang="en-ZA" sz="2400" b="1" i="0" u="none" strike="noStrike" kern="0" cap="none" spc="0" normalizeH="0" baseline="0" noProof="0" dirty="0">
                <a:ln>
                  <a:noFill/>
                </a:ln>
                <a:solidFill>
                  <a:prstClr val="black"/>
                </a:solidFill>
                <a:effectLst/>
                <a:highlight>
                  <a:srgbClr val="00FFFF"/>
                </a:highlight>
                <a:uLnTx/>
                <a:uFillTx/>
                <a:latin typeface="Tahoma"/>
                <a:ea typeface="Times New Roman" panose="02020603050405020304" pitchFamily="18" charset="0"/>
                <a:cs typeface="+mn-cs"/>
              </a:rPr>
              <a:t>k</a:t>
            </a:r>
            <a:r>
              <a:rPr kumimoji="0" lang="en-ZA" sz="2400" b="1" i="1" u="none" strike="noStrike" kern="0" cap="none" spc="0" normalizeH="0" baseline="-25000" noProof="0" dirty="0">
                <a:ln>
                  <a:noFill/>
                </a:ln>
                <a:solidFill>
                  <a:prstClr val="black"/>
                </a:solidFill>
                <a:effectLst/>
                <a:highlight>
                  <a:srgbClr val="00FFFF"/>
                </a:highlight>
                <a:uLnTx/>
                <a:uFillTx/>
                <a:latin typeface="Tahoma"/>
                <a:ea typeface="Times New Roman" panose="02020603050405020304" pitchFamily="18" charset="0"/>
                <a:cs typeface="+mn-cs"/>
              </a:rPr>
              <a:t>i</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 + [</a:t>
            </a:r>
            <a:r>
              <a:rPr kumimoji="0" lang="en-US" sz="2400" b="1" i="0" u="none" strike="noStrike" kern="0" cap="none" spc="0" normalizeH="0" baseline="0" noProof="0" dirty="0">
                <a:ln>
                  <a:noFill/>
                </a:ln>
                <a:solidFill>
                  <a:prstClr val="black"/>
                </a:solidFill>
                <a:effectLst/>
                <a:highlight>
                  <a:srgbClr val="00FF00"/>
                </a:highlight>
                <a:uLnTx/>
                <a:uFillTx/>
                <a:latin typeface="Tahoma"/>
                <a:ea typeface="Times New Roman" panose="02020603050405020304" pitchFamily="18" charset="0"/>
                <a:cs typeface="+mn-cs"/>
              </a:rPr>
              <a:t>(P/V)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x </a:t>
            </a:r>
            <a:r>
              <a:rPr kumimoji="0" lang="en-US" sz="2400" b="1" i="0" u="none" strike="noStrike" kern="0" cap="none" spc="0" normalizeH="0" baseline="0" noProof="0" dirty="0" err="1">
                <a:ln>
                  <a:noFill/>
                </a:ln>
                <a:solidFill>
                  <a:prstClr val="black"/>
                </a:solidFill>
                <a:effectLst/>
                <a:highlight>
                  <a:srgbClr val="00FFFF"/>
                </a:highlight>
                <a:uLnTx/>
                <a:uFillTx/>
                <a:latin typeface="Tahoma"/>
                <a:ea typeface="Times New Roman" panose="02020603050405020304" pitchFamily="18" charset="0"/>
                <a:cs typeface="+mn-cs"/>
              </a:rPr>
              <a:t>k</a:t>
            </a:r>
            <a:r>
              <a:rPr kumimoji="0" lang="en-US" sz="2400" b="1" i="0" u="none" strike="noStrike" kern="0" cap="none" spc="0" normalizeH="0" baseline="-25000" noProof="0" dirty="0" err="1">
                <a:ln>
                  <a:noFill/>
                </a:ln>
                <a:solidFill>
                  <a:prstClr val="black"/>
                </a:solidFill>
                <a:effectLst/>
                <a:highlight>
                  <a:srgbClr val="00FFFF"/>
                </a:highlight>
                <a:uLnTx/>
                <a:uFillTx/>
                <a:latin typeface="Tahoma"/>
                <a:ea typeface="Times New Roman" panose="02020603050405020304" pitchFamily="18" charset="0"/>
                <a:cs typeface="+mn-cs"/>
              </a:rPr>
              <a:t>p</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 + [</a:t>
            </a:r>
            <a:r>
              <a:rPr kumimoji="0" lang="en-US" sz="2400" b="1" i="0" u="none" strike="noStrike" kern="0" cap="none" spc="0" normalizeH="0" baseline="0" noProof="0" dirty="0">
                <a:ln>
                  <a:noFill/>
                </a:ln>
                <a:solidFill>
                  <a:prstClr val="black"/>
                </a:solidFill>
                <a:effectLst/>
                <a:highlight>
                  <a:srgbClr val="00FF00"/>
                </a:highlight>
                <a:uLnTx/>
                <a:uFillTx/>
                <a:latin typeface="Tahoma"/>
                <a:ea typeface="Times New Roman" panose="02020603050405020304" pitchFamily="18" charset="0"/>
                <a:cs typeface="+mn-cs"/>
              </a:rPr>
              <a:t>(E/V)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x </a:t>
            </a:r>
            <a:r>
              <a:rPr kumimoji="0" lang="en-US" sz="2400" b="1" i="0" u="none" strike="noStrike" kern="0" cap="none" spc="0" normalizeH="0" baseline="0" noProof="0" dirty="0" err="1">
                <a:ln>
                  <a:noFill/>
                </a:ln>
                <a:solidFill>
                  <a:prstClr val="black"/>
                </a:solidFill>
                <a:effectLst/>
                <a:highlight>
                  <a:srgbClr val="00FFFF"/>
                </a:highlight>
                <a:uLnTx/>
                <a:uFillTx/>
                <a:latin typeface="Tahoma"/>
                <a:ea typeface="Times New Roman" panose="02020603050405020304" pitchFamily="18" charset="0"/>
                <a:cs typeface="+mn-cs"/>
              </a:rPr>
              <a:t>k</a:t>
            </a:r>
            <a:r>
              <a:rPr kumimoji="0" lang="en-US" sz="2400" b="1" i="0" u="none" strike="noStrike" kern="0" cap="none" spc="0" normalizeH="0" baseline="-25000" noProof="0" dirty="0" err="1">
                <a:ln>
                  <a:noFill/>
                </a:ln>
                <a:solidFill>
                  <a:prstClr val="black"/>
                </a:solidFill>
                <a:effectLst/>
                <a:highlight>
                  <a:srgbClr val="00FFFF"/>
                </a:highlight>
                <a:uLnTx/>
                <a:uFillTx/>
                <a:latin typeface="Tahoma"/>
                <a:ea typeface="Times New Roman" panose="02020603050405020304" pitchFamily="18" charset="0"/>
                <a:cs typeface="+mn-cs"/>
              </a:rPr>
              <a:t>n</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a:t>
            </a:r>
          </a:p>
        </p:txBody>
      </p:sp>
      <p:pic>
        <p:nvPicPr>
          <p:cNvPr id="5" name="Picture 4">
            <a:extLst>
              <a:ext uri="{FF2B5EF4-FFF2-40B4-BE49-F238E27FC236}">
                <a16:creationId xmlns:a16="http://schemas.microsoft.com/office/drawing/2014/main" id="{CD1DC9A6-2799-F9FE-4B36-88CB49B1F923}"/>
              </a:ext>
            </a:extLst>
          </p:cNvPr>
          <p:cNvPicPr>
            <a:picLocks noChangeAspect="1"/>
          </p:cNvPicPr>
          <p:nvPr/>
        </p:nvPicPr>
        <p:blipFill>
          <a:blip r:embed="rId2"/>
          <a:stretch>
            <a:fillRect/>
          </a:stretch>
        </p:blipFill>
        <p:spPr>
          <a:xfrm>
            <a:off x="457200" y="2357761"/>
            <a:ext cx="7772400" cy="2655569"/>
          </a:xfrm>
          <a:prstGeom prst="rect">
            <a:avLst/>
          </a:prstGeom>
        </p:spPr>
      </p:pic>
    </p:spTree>
    <p:extLst>
      <p:ext uri="{BB962C8B-B14F-4D97-AF65-F5344CB8AC3E}">
        <p14:creationId xmlns:p14="http://schemas.microsoft.com/office/powerpoint/2010/main" val="1537813267"/>
      </p:ext>
    </p:extLst>
  </p:cSld>
  <p:clrMapOvr>
    <a:masterClrMapping/>
  </p:clrMapOvr>
  <mc:AlternateContent xmlns:mc="http://schemas.openxmlformats.org/markup-compatibility/2006" xmlns:p14="http://schemas.microsoft.com/office/powerpoint/2010/main">
    <mc:Choice Requires="p14">
      <p:transition spd="slow" p14:dur="2000" advTm="54057"/>
    </mc:Choice>
    <mc:Fallback xmlns="">
      <p:transition spd="slow" advTm="54057"/>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3611845-A37C-4DF2-BED1-16F8EBAF6FF4}"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37</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12643" name="Rectangle 2"/>
          <p:cNvSpPr>
            <a:spLocks noGrp="1" noChangeArrowheads="1"/>
          </p:cNvSpPr>
          <p:nvPr>
            <p:ph type="title"/>
          </p:nvPr>
        </p:nvSpPr>
        <p:spPr>
          <a:xfrm>
            <a:off x="152400" y="228600"/>
            <a:ext cx="8763000" cy="914400"/>
          </a:xfrm>
        </p:spPr>
        <p:txBody>
          <a:bodyPr/>
          <a:lstStyle/>
          <a:p>
            <a:pPr algn="l"/>
            <a:r>
              <a:rPr lang="en-US" altLang="en-US" dirty="0">
                <a:solidFill>
                  <a:srgbClr val="000099"/>
                </a:solidFill>
              </a:rPr>
              <a:t> </a:t>
            </a:r>
            <a:r>
              <a:rPr lang="en-US" altLang="en-US" sz="3600" dirty="0">
                <a:solidFill>
                  <a:srgbClr val="1F497D"/>
                </a:solidFill>
                <a:latin typeface="Tahoma"/>
                <a:ea typeface="ＭＳ Ｐゴシック"/>
              </a:rPr>
              <a:t>WACC example 2 – NB (SG pgs. 70 &amp; 71)</a:t>
            </a:r>
            <a:endParaRPr lang="en-US" altLang="en-US" dirty="0">
              <a:solidFill>
                <a:srgbClr val="000099"/>
              </a:solidFill>
            </a:endParaRPr>
          </a:p>
        </p:txBody>
      </p:sp>
      <p:pic>
        <p:nvPicPr>
          <p:cNvPr id="4" name="Picture 3">
            <a:extLst>
              <a:ext uri="{FF2B5EF4-FFF2-40B4-BE49-F238E27FC236}">
                <a16:creationId xmlns:a16="http://schemas.microsoft.com/office/drawing/2014/main" id="{341BD324-B133-07A5-C50A-9632BFF4D9C4}"/>
              </a:ext>
            </a:extLst>
          </p:cNvPr>
          <p:cNvPicPr>
            <a:picLocks noChangeAspect="1"/>
          </p:cNvPicPr>
          <p:nvPr/>
        </p:nvPicPr>
        <p:blipFill>
          <a:blip r:embed="rId2"/>
          <a:stretch>
            <a:fillRect/>
          </a:stretch>
        </p:blipFill>
        <p:spPr>
          <a:xfrm>
            <a:off x="300448" y="1066800"/>
            <a:ext cx="8410363" cy="5257800"/>
          </a:xfrm>
          <a:prstGeom prst="rect">
            <a:avLst/>
          </a:prstGeom>
        </p:spPr>
      </p:pic>
    </p:spTree>
    <p:extLst>
      <p:ext uri="{BB962C8B-B14F-4D97-AF65-F5344CB8AC3E}">
        <p14:creationId xmlns:p14="http://schemas.microsoft.com/office/powerpoint/2010/main" val="4288231222"/>
      </p:ext>
    </p:extLst>
  </p:cSld>
  <p:clrMapOvr>
    <a:masterClrMapping/>
  </p:clrMapOvr>
  <mc:AlternateContent xmlns:mc="http://schemas.openxmlformats.org/markup-compatibility/2006" xmlns:p14="http://schemas.microsoft.com/office/powerpoint/2010/main">
    <mc:Choice Requires="p14">
      <p:transition spd="slow" p14:dur="2000" advTm="19377"/>
    </mc:Choice>
    <mc:Fallback xmlns="">
      <p:transition spd="slow" advTm="19377"/>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3611845-A37C-4DF2-BED1-16F8EBAF6FF4}"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38</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12643" name="Rectangle 2"/>
          <p:cNvSpPr>
            <a:spLocks noGrp="1" noChangeArrowheads="1"/>
          </p:cNvSpPr>
          <p:nvPr>
            <p:ph type="title"/>
          </p:nvPr>
        </p:nvSpPr>
        <p:spPr>
          <a:xfrm>
            <a:off x="152400" y="228600"/>
            <a:ext cx="8763000" cy="914400"/>
          </a:xfrm>
        </p:spPr>
        <p:txBody>
          <a:bodyPr/>
          <a:lstStyle/>
          <a:p>
            <a:pPr algn="l"/>
            <a:r>
              <a:rPr lang="en-US" altLang="en-US" dirty="0">
                <a:solidFill>
                  <a:srgbClr val="000099"/>
                </a:solidFill>
              </a:rPr>
              <a:t> </a:t>
            </a:r>
            <a:r>
              <a:rPr lang="en-US" altLang="en-US" sz="3600" dirty="0">
                <a:solidFill>
                  <a:srgbClr val="1F497D"/>
                </a:solidFill>
                <a:latin typeface="Tahoma"/>
                <a:ea typeface="ＭＳ Ｐゴシック"/>
              </a:rPr>
              <a:t>WACC example 2 (cont.)</a:t>
            </a:r>
            <a:endParaRPr lang="en-US" altLang="en-US" dirty="0">
              <a:solidFill>
                <a:srgbClr val="000099"/>
              </a:solidFill>
            </a:endParaRPr>
          </a:p>
        </p:txBody>
      </p:sp>
      <p:pic>
        <p:nvPicPr>
          <p:cNvPr id="4" name="Picture 3">
            <a:extLst>
              <a:ext uri="{FF2B5EF4-FFF2-40B4-BE49-F238E27FC236}">
                <a16:creationId xmlns:a16="http://schemas.microsoft.com/office/drawing/2014/main" id="{D436D73A-A5E9-9D0B-A26A-9D4DAA820A56}"/>
              </a:ext>
            </a:extLst>
          </p:cNvPr>
          <p:cNvPicPr>
            <a:picLocks noChangeAspect="1"/>
          </p:cNvPicPr>
          <p:nvPr/>
        </p:nvPicPr>
        <p:blipFill>
          <a:blip r:embed="rId2"/>
          <a:stretch>
            <a:fillRect/>
          </a:stretch>
        </p:blipFill>
        <p:spPr>
          <a:xfrm>
            <a:off x="126380" y="1295400"/>
            <a:ext cx="8901102" cy="1981200"/>
          </a:xfrm>
          <a:prstGeom prst="rect">
            <a:avLst/>
          </a:prstGeom>
        </p:spPr>
      </p:pic>
      <p:pic>
        <p:nvPicPr>
          <p:cNvPr id="8" name="Picture 7">
            <a:extLst>
              <a:ext uri="{FF2B5EF4-FFF2-40B4-BE49-F238E27FC236}">
                <a16:creationId xmlns:a16="http://schemas.microsoft.com/office/drawing/2014/main" id="{3D59DFA1-F8EC-01B5-E05F-6D53F446A1EA}"/>
              </a:ext>
            </a:extLst>
          </p:cNvPr>
          <p:cNvPicPr>
            <a:picLocks noChangeAspect="1"/>
          </p:cNvPicPr>
          <p:nvPr/>
        </p:nvPicPr>
        <p:blipFill>
          <a:blip r:embed="rId3"/>
          <a:stretch>
            <a:fillRect/>
          </a:stretch>
        </p:blipFill>
        <p:spPr>
          <a:xfrm>
            <a:off x="152400" y="3429000"/>
            <a:ext cx="3758452" cy="990600"/>
          </a:xfrm>
          <a:prstGeom prst="rect">
            <a:avLst/>
          </a:prstGeom>
        </p:spPr>
      </p:pic>
      <p:pic>
        <p:nvPicPr>
          <p:cNvPr id="10" name="Picture 9">
            <a:extLst>
              <a:ext uri="{FF2B5EF4-FFF2-40B4-BE49-F238E27FC236}">
                <a16:creationId xmlns:a16="http://schemas.microsoft.com/office/drawing/2014/main" id="{1352C7DF-1245-0096-0808-2C4AC1978F99}"/>
              </a:ext>
            </a:extLst>
          </p:cNvPr>
          <p:cNvPicPr>
            <a:picLocks noChangeAspect="1"/>
          </p:cNvPicPr>
          <p:nvPr/>
        </p:nvPicPr>
        <p:blipFill>
          <a:blip r:embed="rId4"/>
          <a:stretch>
            <a:fillRect/>
          </a:stretch>
        </p:blipFill>
        <p:spPr>
          <a:xfrm>
            <a:off x="228600" y="4587221"/>
            <a:ext cx="2968602" cy="822979"/>
          </a:xfrm>
          <a:prstGeom prst="rect">
            <a:avLst/>
          </a:prstGeom>
        </p:spPr>
      </p:pic>
    </p:spTree>
    <p:extLst>
      <p:ext uri="{BB962C8B-B14F-4D97-AF65-F5344CB8AC3E}">
        <p14:creationId xmlns:p14="http://schemas.microsoft.com/office/powerpoint/2010/main" val="2493335493"/>
      </p:ext>
    </p:extLst>
  </p:cSld>
  <p:clrMapOvr>
    <a:masterClrMapping/>
  </p:clrMapOvr>
  <mc:AlternateContent xmlns:mc="http://schemas.openxmlformats.org/markup-compatibility/2006" xmlns:p14="http://schemas.microsoft.com/office/powerpoint/2010/main">
    <mc:Choice Requires="p14">
      <p:transition spd="slow" p14:dur="2000" advTm="19377"/>
    </mc:Choice>
    <mc:Fallback xmlns="">
      <p:transition spd="slow" advTm="19377"/>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3611845-A37C-4DF2-BED1-16F8EBAF6FF4}"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39</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12643" name="Rectangle 2"/>
          <p:cNvSpPr>
            <a:spLocks noGrp="1" noChangeArrowheads="1"/>
          </p:cNvSpPr>
          <p:nvPr>
            <p:ph type="title"/>
          </p:nvPr>
        </p:nvSpPr>
        <p:spPr>
          <a:xfrm>
            <a:off x="152400" y="228600"/>
            <a:ext cx="8763000" cy="914400"/>
          </a:xfrm>
        </p:spPr>
        <p:txBody>
          <a:bodyPr/>
          <a:lstStyle/>
          <a:p>
            <a:pPr algn="l"/>
            <a:r>
              <a:rPr lang="en-US" altLang="en-US" dirty="0">
                <a:solidFill>
                  <a:srgbClr val="000099"/>
                </a:solidFill>
              </a:rPr>
              <a:t> </a:t>
            </a:r>
            <a:r>
              <a:rPr lang="en-US" altLang="en-US" sz="3600" dirty="0">
                <a:solidFill>
                  <a:srgbClr val="1F497D"/>
                </a:solidFill>
                <a:latin typeface="Tahoma"/>
                <a:ea typeface="ＭＳ Ｐゴシック"/>
              </a:rPr>
              <a:t>WACC example 2 (cont.)</a:t>
            </a:r>
            <a:endParaRPr lang="en-US" altLang="en-US" dirty="0">
              <a:solidFill>
                <a:srgbClr val="000099"/>
              </a:solidFill>
            </a:endParaRPr>
          </a:p>
        </p:txBody>
      </p:sp>
      <p:pic>
        <p:nvPicPr>
          <p:cNvPr id="3" name="Picture 2">
            <a:extLst>
              <a:ext uri="{FF2B5EF4-FFF2-40B4-BE49-F238E27FC236}">
                <a16:creationId xmlns:a16="http://schemas.microsoft.com/office/drawing/2014/main" id="{2CD092AE-8F08-6D20-EFB3-7897C3F7D65E}"/>
              </a:ext>
            </a:extLst>
          </p:cNvPr>
          <p:cNvPicPr>
            <a:picLocks noChangeAspect="1"/>
          </p:cNvPicPr>
          <p:nvPr/>
        </p:nvPicPr>
        <p:blipFill>
          <a:blip r:embed="rId2"/>
          <a:stretch>
            <a:fillRect/>
          </a:stretch>
        </p:blipFill>
        <p:spPr>
          <a:xfrm>
            <a:off x="304800" y="1295399"/>
            <a:ext cx="5593080" cy="2667001"/>
          </a:xfrm>
          <a:prstGeom prst="rect">
            <a:avLst/>
          </a:prstGeom>
        </p:spPr>
      </p:pic>
      <p:pic>
        <p:nvPicPr>
          <p:cNvPr id="6" name="Picture 5">
            <a:extLst>
              <a:ext uri="{FF2B5EF4-FFF2-40B4-BE49-F238E27FC236}">
                <a16:creationId xmlns:a16="http://schemas.microsoft.com/office/drawing/2014/main" id="{0FD6FECB-E143-61F8-E647-ADDDAB36FBC2}"/>
              </a:ext>
            </a:extLst>
          </p:cNvPr>
          <p:cNvPicPr>
            <a:picLocks noChangeAspect="1"/>
          </p:cNvPicPr>
          <p:nvPr/>
        </p:nvPicPr>
        <p:blipFill>
          <a:blip r:embed="rId3"/>
          <a:stretch>
            <a:fillRect/>
          </a:stretch>
        </p:blipFill>
        <p:spPr>
          <a:xfrm>
            <a:off x="304800" y="4267201"/>
            <a:ext cx="3886200" cy="1200887"/>
          </a:xfrm>
          <a:prstGeom prst="rect">
            <a:avLst/>
          </a:prstGeom>
        </p:spPr>
      </p:pic>
    </p:spTree>
    <p:extLst>
      <p:ext uri="{BB962C8B-B14F-4D97-AF65-F5344CB8AC3E}">
        <p14:creationId xmlns:p14="http://schemas.microsoft.com/office/powerpoint/2010/main" val="3018288951"/>
      </p:ext>
    </p:extLst>
  </p:cSld>
  <p:clrMapOvr>
    <a:masterClrMapping/>
  </p:clrMapOvr>
  <mc:AlternateContent xmlns:mc="http://schemas.openxmlformats.org/markup-compatibility/2006" xmlns:p14="http://schemas.microsoft.com/office/powerpoint/2010/main">
    <mc:Choice Requires="p14">
      <p:transition spd="slow" p14:dur="2000" advTm="19377"/>
    </mc:Choice>
    <mc:Fallback xmlns="">
      <p:transition spd="slow" advTm="19377"/>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3611845-A37C-4DF2-BED1-16F8EBAF6FF4}"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40</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12643" name="Rectangle 2"/>
          <p:cNvSpPr>
            <a:spLocks noGrp="1" noChangeArrowheads="1"/>
          </p:cNvSpPr>
          <p:nvPr>
            <p:ph type="title"/>
          </p:nvPr>
        </p:nvSpPr>
        <p:spPr>
          <a:xfrm>
            <a:off x="152400" y="228600"/>
            <a:ext cx="8763000" cy="914400"/>
          </a:xfrm>
        </p:spPr>
        <p:txBody>
          <a:bodyPr/>
          <a:lstStyle/>
          <a:p>
            <a:pPr algn="l"/>
            <a:r>
              <a:rPr lang="en-US" altLang="en-US" dirty="0">
                <a:solidFill>
                  <a:srgbClr val="000099"/>
                </a:solidFill>
              </a:rPr>
              <a:t> </a:t>
            </a:r>
            <a:r>
              <a:rPr lang="en-US" altLang="en-US" sz="3600" dirty="0">
                <a:solidFill>
                  <a:srgbClr val="1F497D"/>
                </a:solidFill>
                <a:latin typeface="Tahoma"/>
                <a:ea typeface="ＭＳ Ｐゴシック"/>
              </a:rPr>
              <a:t>WACC example 2 (cont.)</a:t>
            </a:r>
            <a:endParaRPr lang="en-US" altLang="en-US" dirty="0">
              <a:solidFill>
                <a:srgbClr val="000099"/>
              </a:solidFill>
            </a:endParaRPr>
          </a:p>
        </p:txBody>
      </p:sp>
      <p:pic>
        <p:nvPicPr>
          <p:cNvPr id="4" name="Picture 3">
            <a:extLst>
              <a:ext uri="{FF2B5EF4-FFF2-40B4-BE49-F238E27FC236}">
                <a16:creationId xmlns:a16="http://schemas.microsoft.com/office/drawing/2014/main" id="{AE5BD814-0ABA-6E54-351B-567F6E5184BB}"/>
              </a:ext>
            </a:extLst>
          </p:cNvPr>
          <p:cNvPicPr>
            <a:picLocks noChangeAspect="1"/>
          </p:cNvPicPr>
          <p:nvPr/>
        </p:nvPicPr>
        <p:blipFill>
          <a:blip r:embed="rId2"/>
          <a:stretch>
            <a:fillRect/>
          </a:stretch>
        </p:blipFill>
        <p:spPr>
          <a:xfrm>
            <a:off x="210254" y="1219200"/>
            <a:ext cx="8647291" cy="2921977"/>
          </a:xfrm>
          <a:prstGeom prst="rect">
            <a:avLst/>
          </a:prstGeom>
        </p:spPr>
      </p:pic>
    </p:spTree>
    <p:extLst>
      <p:ext uri="{BB962C8B-B14F-4D97-AF65-F5344CB8AC3E}">
        <p14:creationId xmlns:p14="http://schemas.microsoft.com/office/powerpoint/2010/main" val="2068335356"/>
      </p:ext>
    </p:extLst>
  </p:cSld>
  <p:clrMapOvr>
    <a:masterClrMapping/>
  </p:clrMapOvr>
  <mc:AlternateContent xmlns:mc="http://schemas.openxmlformats.org/markup-compatibility/2006" xmlns:p14="http://schemas.microsoft.com/office/powerpoint/2010/main">
    <mc:Choice Requires="p14">
      <p:transition spd="slow" p14:dur="2000" advTm="19377"/>
    </mc:Choice>
    <mc:Fallback xmlns="">
      <p:transition spd="slow" advTm="19377"/>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3611845-A37C-4DF2-BED1-16F8EBAF6FF4}"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41</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12643" name="Rectangle 2"/>
          <p:cNvSpPr>
            <a:spLocks noGrp="1" noChangeArrowheads="1"/>
          </p:cNvSpPr>
          <p:nvPr>
            <p:ph type="title"/>
          </p:nvPr>
        </p:nvSpPr>
        <p:spPr>
          <a:xfrm>
            <a:off x="76200" y="0"/>
            <a:ext cx="8763000" cy="609600"/>
          </a:xfrm>
        </p:spPr>
        <p:txBody>
          <a:bodyPr/>
          <a:lstStyle/>
          <a:p>
            <a:pPr algn="l"/>
            <a:r>
              <a:rPr lang="en-US" altLang="en-US" dirty="0">
                <a:solidFill>
                  <a:srgbClr val="000099"/>
                </a:solidFill>
              </a:rPr>
              <a:t> </a:t>
            </a:r>
            <a:r>
              <a:rPr lang="en-US" altLang="en-US" sz="3600" dirty="0">
                <a:solidFill>
                  <a:srgbClr val="1F497D"/>
                </a:solidFill>
                <a:latin typeface="Tahoma"/>
                <a:ea typeface="ＭＳ Ｐゴシック"/>
              </a:rPr>
              <a:t>WACC and IOS</a:t>
            </a:r>
            <a:endParaRPr lang="en-US" altLang="en-US" dirty="0">
              <a:solidFill>
                <a:srgbClr val="000099"/>
              </a:solidFill>
            </a:endParaRPr>
          </a:p>
        </p:txBody>
      </p:sp>
    </p:spTree>
    <p:extLst>
      <p:ext uri="{BB962C8B-B14F-4D97-AF65-F5344CB8AC3E}">
        <p14:creationId xmlns:p14="http://schemas.microsoft.com/office/powerpoint/2010/main" val="1683039770"/>
      </p:ext>
    </p:extLst>
  </p:cSld>
  <p:clrMapOvr>
    <a:masterClrMapping/>
  </p:clrMapOvr>
  <mc:AlternateContent xmlns:mc="http://schemas.openxmlformats.org/markup-compatibility/2006" xmlns:p14="http://schemas.microsoft.com/office/powerpoint/2010/main">
    <mc:Choice Requires="p14">
      <p:transition spd="slow" p14:dur="2000" advTm="19377"/>
    </mc:Choice>
    <mc:Fallback xmlns="">
      <p:transition spd="slow" advTm="19377"/>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CF821DC-48D2-104C-8B58-C959D857C485}" type="slidenum">
              <a:rPr kumimoji="0" lang="en-US" sz="1400" b="0" i="0" u="none" strike="noStrike" kern="1200" cap="none" spc="0" normalizeH="0" baseline="0" noProof="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42</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17" name="Rectangle 4"/>
          <p:cNvSpPr txBox="1">
            <a:spLocks noChangeArrowheads="1"/>
          </p:cNvSpPr>
          <p:nvPr/>
        </p:nvSpPr>
        <p:spPr bwMode="auto">
          <a:xfrm>
            <a:off x="228600" y="0"/>
            <a:ext cx="8677701"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1F497D"/>
                </a:solidFill>
                <a:effectLst/>
                <a:uLnTx/>
                <a:uFillTx/>
                <a:latin typeface="Tahoma"/>
                <a:ea typeface="ＭＳ Ｐゴシック"/>
              </a:rPr>
              <a:t>Preparation for next session</a:t>
            </a:r>
          </a:p>
        </p:txBody>
      </p:sp>
      <p:sp>
        <p:nvSpPr>
          <p:cNvPr id="19" name="Rectangle 7"/>
          <p:cNvSpPr txBox="1">
            <a:spLocks noChangeArrowheads="1"/>
          </p:cNvSpPr>
          <p:nvPr/>
        </p:nvSpPr>
        <p:spPr>
          <a:xfrm>
            <a:off x="304799" y="1066800"/>
            <a:ext cx="8601501" cy="5562600"/>
          </a:xfrm>
          <a:prstGeom prst="rect">
            <a:avLst/>
          </a:prstGeom>
          <a:noFill/>
        </p:spPr>
        <p:txBody>
          <a:bodyPr/>
          <a:lst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ahoma"/>
                <a:ea typeface="ＭＳ Ｐゴシック"/>
              </a:rPr>
              <a:t>Work through Chapter 15</a:t>
            </a:r>
          </a:p>
          <a:p>
            <a:pPr marL="796925" marR="0" lvl="0" indent="-457200" algn="l" defTabSz="914400" rtl="0" eaLnBrk="0" fontAlgn="base" latinLnBrk="0" hangingPunct="0">
              <a:lnSpc>
                <a:spcPct val="100000"/>
              </a:lnSpc>
              <a:spcBef>
                <a:spcPts val="0"/>
              </a:spcBef>
              <a:spcAft>
                <a:spcPts val="600"/>
              </a:spcAft>
              <a:buClr>
                <a:srgbClr val="1F497D"/>
              </a:buClr>
              <a:buSzPct val="100000"/>
              <a:buFont typeface="Wingdings" panose="05000000000000000000" pitchFamily="2" charset="2"/>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Questions in study guide</a:t>
            </a:r>
          </a:p>
          <a:p>
            <a:pPr marL="796925" marR="0" lvl="0" indent="-457200" algn="l" defTabSz="914400" rtl="0" eaLnBrk="0" fontAlgn="base" latinLnBrk="0" hangingPunct="0">
              <a:lnSpc>
                <a:spcPct val="100000"/>
              </a:lnSpc>
              <a:spcBef>
                <a:spcPts val="0"/>
              </a:spcBef>
              <a:spcAft>
                <a:spcPts val="600"/>
              </a:spcAft>
              <a:buClr>
                <a:srgbClr val="1F497D"/>
              </a:buClr>
              <a:buSzPct val="100000"/>
              <a:buFont typeface="Wingdings" panose="05000000000000000000" pitchFamily="2" charset="2"/>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Problems at the end of the chapter</a:t>
            </a:r>
          </a:p>
          <a:p>
            <a:pPr marL="796925" marR="0" lvl="0" indent="-457200" algn="l" defTabSz="914400" rtl="0" eaLnBrk="0" fontAlgn="base" latinLnBrk="0" hangingPunct="0">
              <a:lnSpc>
                <a:spcPct val="100000"/>
              </a:lnSpc>
              <a:spcBef>
                <a:spcPts val="0"/>
              </a:spcBef>
              <a:spcAft>
                <a:spcPts val="600"/>
              </a:spcAft>
              <a:buClr>
                <a:srgbClr val="1F497D"/>
              </a:buClr>
              <a:buSzPct val="100000"/>
              <a:buFont typeface="Wingdings" panose="05000000000000000000" pitchFamily="2" charset="2"/>
              <a:buChar char="§"/>
              <a:tabLst/>
              <a:defRPr/>
            </a:pPr>
            <a:r>
              <a:rPr lang="en-US" sz="2800" kern="0" dirty="0">
                <a:solidFill>
                  <a:srgbClr val="FF0000"/>
                </a:solidFill>
                <a:latin typeface="Tahoma"/>
                <a:ea typeface="ＭＳ Ｐゴシック"/>
              </a:rPr>
              <a:t>As mentioned, this is the chapter with the highest mark allocation in the module…</a:t>
            </a:r>
            <a:endParaRPr kumimoji="0" lang="en-US" sz="2800" b="0" i="0" u="none" strike="noStrike" kern="0" cap="none" spc="0" normalizeH="0" baseline="0" noProof="0" dirty="0">
              <a:ln>
                <a:noFill/>
              </a:ln>
              <a:solidFill>
                <a:srgbClr val="FF0000"/>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Read through Chapter 16</a:t>
            </a:r>
            <a:r>
              <a:rPr lang="en-US" sz="2800" kern="0" dirty="0">
                <a:solidFill>
                  <a:prstClr val="black"/>
                </a:solidFill>
                <a:latin typeface="Tahoma"/>
                <a:ea typeface="ＭＳ Ｐゴシック"/>
              </a:rPr>
              <a:t> and download/print the slides</a:t>
            </a: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0"/>
              </a:spcAft>
              <a:buClr>
                <a:srgbClr val="1F497D"/>
              </a:buClr>
              <a:buSzPct val="100000"/>
              <a:buFont typeface="Wingdings" charset="2"/>
              <a:buNone/>
              <a:tabLst/>
              <a:defRPr/>
            </a:pPr>
            <a:endParaRPr kumimoji="0" lang="en-US" sz="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400" b="0" i="0" u="none" strike="noStrike" kern="0" cap="none" spc="0" normalizeH="0" baseline="0" noProof="0" dirty="0">
              <a:ln>
                <a:noFill/>
              </a:ln>
              <a:solidFill>
                <a:prstClr val="black"/>
              </a:solidFill>
              <a:effectLst/>
              <a:uLnTx/>
              <a:uFillTx/>
              <a:latin typeface="Tahoma"/>
              <a:ea typeface="ＭＳ Ｐゴシック"/>
            </a:endParaRPr>
          </a:p>
        </p:txBody>
      </p:sp>
    </p:spTree>
    <p:extLst>
      <p:ext uri="{BB962C8B-B14F-4D97-AF65-F5344CB8AC3E}">
        <p14:creationId xmlns:p14="http://schemas.microsoft.com/office/powerpoint/2010/main" val="3964624409"/>
      </p:ext>
    </p:extLst>
  </p:cSld>
  <p:clrMapOvr>
    <a:masterClrMapping/>
  </p:clrMapOvr>
  <p:transition advTm="56488"/>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TIMING" val="|41.1|7.7|19|3.7"/>
</p:tagLst>
</file>

<file path=ppt/tags/tag3.xml><?xml version="1.0" encoding="utf-8"?>
<p:tagLst xmlns:a="http://schemas.openxmlformats.org/drawingml/2006/main" xmlns:r="http://schemas.openxmlformats.org/officeDocument/2006/relationships" xmlns:p="http://schemas.openxmlformats.org/presentationml/2006/main">
  <p:tag name="TIMING" val="|41.1|7.7|19|3.7"/>
</p:tagLst>
</file>

<file path=ppt/tags/tag4.xml><?xml version="1.0" encoding="utf-8"?>
<p:tagLst xmlns:a="http://schemas.openxmlformats.org/drawingml/2006/main" xmlns:r="http://schemas.openxmlformats.org/officeDocument/2006/relationships" xmlns:p="http://schemas.openxmlformats.org/presentationml/2006/main">
  <p:tag name="TIMING" val="|41.1|7.7|19|3.7"/>
</p:tagLst>
</file>

<file path=ppt/tags/tag5.xml><?xml version="1.0" encoding="utf-8"?>
<p:tagLst xmlns:a="http://schemas.openxmlformats.org/drawingml/2006/main" xmlns:r="http://schemas.openxmlformats.org/officeDocument/2006/relationships" xmlns:p="http://schemas.openxmlformats.org/presentationml/2006/main">
  <p:tag name="TIMING" val="|41.1|7.7|19|3.7"/>
</p:tagLst>
</file>

<file path=ppt/tags/tag6.xml><?xml version="1.0" encoding="utf-8"?>
<p:tagLst xmlns:a="http://schemas.openxmlformats.org/drawingml/2006/main" xmlns:r="http://schemas.openxmlformats.org/officeDocument/2006/relationships" xmlns:p="http://schemas.openxmlformats.org/presentationml/2006/main">
  <p:tag name="TIMING" val="|41.1|7.7|19|3.7"/>
</p:tagLst>
</file>

<file path=ppt/tags/tag7.xml><?xml version="1.0" encoding="utf-8"?>
<p:tagLst xmlns:a="http://schemas.openxmlformats.org/drawingml/2006/main" xmlns:r="http://schemas.openxmlformats.org/officeDocument/2006/relationships" xmlns:p="http://schemas.openxmlformats.org/presentationml/2006/main">
  <p:tag name="TIMING" val="|41.1|7.7|19|3.7"/>
</p:tagLst>
</file>

<file path=ppt/tags/tag8.xml><?xml version="1.0" encoding="utf-8"?>
<p:tagLst xmlns:a="http://schemas.openxmlformats.org/drawingml/2006/main" xmlns:r="http://schemas.openxmlformats.org/officeDocument/2006/relationships" xmlns:p="http://schemas.openxmlformats.org/presentationml/2006/main">
  <p:tag name="TIMING" val="|41.1|7.7|19|3.7"/>
</p:tagLst>
</file>

<file path=ppt/tags/tag9.xml><?xml version="1.0" encoding="utf-8"?>
<p:tagLst xmlns:a="http://schemas.openxmlformats.org/drawingml/2006/main" xmlns:r="http://schemas.openxmlformats.org/officeDocument/2006/relationships" xmlns:p="http://schemas.openxmlformats.org/presentationml/2006/main">
  <p:tag name="TIMING" val="|41.1|7.7|19|3.7"/>
</p:tagLst>
</file>

<file path=ppt/theme/theme1.xml><?xml version="1.0" encoding="utf-8"?>
<a:theme xmlns:a="http://schemas.openxmlformats.org/drawingml/2006/main" name="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template">
  <a:themeElements>
    <a:clrScheme name="">
      <a:dk1>
        <a:srgbClr val="000000"/>
      </a:dk1>
      <a:lt1>
        <a:srgbClr val="FFFFFF"/>
      </a:lt1>
      <a:dk2>
        <a:srgbClr val="000000"/>
      </a:dk2>
      <a:lt2>
        <a:srgbClr val="FFFFFF"/>
      </a:lt2>
      <a:accent1>
        <a:srgbClr val="FFFFFF"/>
      </a:accent1>
      <a:accent2>
        <a:srgbClr val="FFFFFF"/>
      </a:accent2>
      <a:accent3>
        <a:srgbClr val="FFFFFF"/>
      </a:accent3>
      <a:accent4>
        <a:srgbClr val="000000"/>
      </a:accent4>
      <a:accent5>
        <a:srgbClr val="FFFFFF"/>
      </a:accent5>
      <a:accent6>
        <a:srgbClr val="E7E7E7"/>
      </a:accent6>
      <a:hlink>
        <a:srgbClr val="FFFFFF"/>
      </a:hlink>
      <a:folHlink>
        <a:srgbClr val="F8F8F8"/>
      </a:folHlink>
    </a:clrScheme>
    <a:fontScheme name="templat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triangle" w="med" len="med"/>
        </a:ln>
        <a:effectLst/>
        <a:scene3d>
          <a:camera prst="legacyObliqueTopRight"/>
          <a:lightRig rig="legacyFlat3" dir="b"/>
        </a:scene3d>
        <a:sp3d extrusionH="430200" prstMaterial="legacyMatte">
          <a:bevelT w="13500" h="13500" prst="angle"/>
          <a:bevelB w="13500" h="13500" prst="angle"/>
          <a:extrusionClr>
            <a:schemeClr val="accent1"/>
          </a:extrusionClr>
        </a:sp3d>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3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triangle" w="med" len="med"/>
        </a:ln>
        <a:effectLst/>
        <a:scene3d>
          <a:camera prst="legacyObliqueTopRight"/>
          <a:lightRig rig="legacyFlat3" dir="b"/>
        </a:scene3d>
        <a:sp3d extrusionH="430200" prstMaterial="legacyMatte">
          <a:bevelT w="13500" h="13500" prst="angle"/>
          <a:bevelB w="13500" h="13500" prst="angle"/>
          <a:extrusionClr>
            <a:schemeClr val="accent1"/>
          </a:extrusionClr>
        </a:sp3d>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3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template 8">
        <a:dk1>
          <a:srgbClr val="000033"/>
        </a:dk1>
        <a:lt1>
          <a:srgbClr val="CCCCFF"/>
        </a:lt1>
        <a:dk2>
          <a:srgbClr val="000066"/>
        </a:dk2>
        <a:lt2>
          <a:srgbClr val="CCCCFF"/>
        </a:lt2>
        <a:accent1>
          <a:srgbClr val="CCCCFF"/>
        </a:accent1>
        <a:accent2>
          <a:srgbClr val="3333CC"/>
        </a:accent2>
        <a:accent3>
          <a:srgbClr val="AAAAB8"/>
        </a:accent3>
        <a:accent4>
          <a:srgbClr val="AEAEDA"/>
        </a:accent4>
        <a:accent5>
          <a:srgbClr val="E2E2FF"/>
        </a:accent5>
        <a:accent6>
          <a:srgbClr val="2D2DB9"/>
        </a:accent6>
        <a:hlink>
          <a:srgbClr val="CCCCFF"/>
        </a:hlink>
        <a:folHlink>
          <a:srgbClr val="B2B2B2"/>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6157</TotalTime>
  <Words>3221</Words>
  <Application>Microsoft Office PowerPoint</Application>
  <PresentationFormat>On-screen Show (4:3)</PresentationFormat>
  <Paragraphs>350</Paragraphs>
  <Slides>42</Slides>
  <Notes>17</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42</vt:i4>
      </vt:variant>
    </vt:vector>
  </HeadingPairs>
  <TitlesOfParts>
    <vt:vector size="53" baseType="lpstr">
      <vt:lpstr>Arial</vt:lpstr>
      <vt:lpstr>Book Antiqua</vt:lpstr>
      <vt:lpstr>Symbol</vt:lpstr>
      <vt:lpstr>Tahoma</vt:lpstr>
      <vt:lpstr>Times</vt:lpstr>
      <vt:lpstr>Times New Roman</vt:lpstr>
      <vt:lpstr>Wingdings</vt:lpstr>
      <vt:lpstr>Wingdings 2</vt:lpstr>
      <vt:lpstr>Blank Presentation</vt:lpstr>
      <vt:lpstr>1_Blank Presentation</vt:lpstr>
      <vt:lpstr>3_template</vt:lpstr>
      <vt:lpstr>PowerPoint Presentation</vt:lpstr>
      <vt:lpstr>Learning outcomes: Chapter 15</vt:lpstr>
      <vt:lpstr>Introduction</vt:lpstr>
      <vt:lpstr>Introduction (cont.)</vt:lpstr>
      <vt:lpstr>Introduction (cont.)</vt:lpstr>
      <vt:lpstr>Introduction (cont.)</vt:lpstr>
      <vt:lpstr>Introduction (cont.)</vt:lpstr>
      <vt:lpstr>Introduction (cont.)</vt:lpstr>
      <vt:lpstr>Examples of firms using WACC </vt:lpstr>
      <vt:lpstr>Financing weights</vt:lpstr>
      <vt:lpstr>Financing weights (cont.)</vt:lpstr>
      <vt:lpstr>Financing weights (cont.)</vt:lpstr>
      <vt:lpstr> Financing weights (cont.)</vt:lpstr>
      <vt:lpstr>Component costs</vt:lpstr>
      <vt:lpstr>Component costs: Ordinary shares</vt:lpstr>
      <vt:lpstr>Component costs: Ordinary shares (cont.)</vt:lpstr>
      <vt:lpstr>Component costs: Ordinary shares (cont.)</vt:lpstr>
      <vt:lpstr>Component costs: Ordinary shares (cont.)</vt:lpstr>
      <vt:lpstr>Example: A real company’s share price</vt:lpstr>
      <vt:lpstr>Component costs: Ordinary shares (cont.)</vt:lpstr>
      <vt:lpstr>Component costs: Ordinary shares (cont.)</vt:lpstr>
      <vt:lpstr>Component costs: Ordinary shares (cont.)</vt:lpstr>
      <vt:lpstr>Component costs: Preference shares</vt:lpstr>
      <vt:lpstr>Component costs: Preference shares (cont.)</vt:lpstr>
      <vt:lpstr>Component costs: Debt capital</vt:lpstr>
      <vt:lpstr>Component costs: Debt capital (cont.)</vt:lpstr>
      <vt:lpstr>Component costs: Debt capital (cont.)</vt:lpstr>
      <vt:lpstr>WACC</vt:lpstr>
      <vt:lpstr>WACC (cont.)</vt:lpstr>
      <vt:lpstr>WACC (cont.)</vt:lpstr>
      <vt:lpstr>WACC (cont.)</vt:lpstr>
      <vt:lpstr>WACC SUMMARY</vt:lpstr>
      <vt:lpstr>WACC example 1 – NB</vt:lpstr>
      <vt:lpstr>WACC example 1 (cont.)</vt:lpstr>
      <vt:lpstr>WACC example 1 (cont.)</vt:lpstr>
      <vt:lpstr>WACC example 1 (cont.)</vt:lpstr>
      <vt:lpstr> WACC example 2 – NB (SG pgs. 70 &amp; 71)</vt:lpstr>
      <vt:lpstr> WACC example 2 (cont.)</vt:lpstr>
      <vt:lpstr> WACC example 2 (cont.)</vt:lpstr>
      <vt:lpstr> WACC example 2 (cont.)</vt:lpstr>
      <vt:lpstr> WACC and IOS</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Essentials of Finance</dc:title>
  <dc:creator>Susan Cook</dc:creator>
  <cp:lastModifiedBy>Rootman, Chantal (Prof) (Summerstrand Campus South)</cp:lastModifiedBy>
  <cp:revision>356</cp:revision>
  <cp:lastPrinted>2022-02-09T10:40:55Z</cp:lastPrinted>
  <dcterms:created xsi:type="dcterms:W3CDTF">2010-03-21T13:43:06Z</dcterms:created>
  <dcterms:modified xsi:type="dcterms:W3CDTF">2026-02-27T10:25:18Z</dcterms:modified>
</cp:coreProperties>
</file>