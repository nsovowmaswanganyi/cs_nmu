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3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24.xml" ContentType="application/vnd.openxmlformats-officedocument.presentationml.tags+xml"/>
  <Override PartName="/ppt/notesSlides/notesSlide30.xml" ContentType="application/vnd.openxmlformats-officedocument.presentationml.notesSlide+xml"/>
  <Override PartName="/ppt/tags/tag25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4" r:id="rId2"/>
  </p:sldMasterIdLst>
  <p:notesMasterIdLst>
    <p:notesMasterId r:id="rId35"/>
  </p:notesMasterIdLst>
  <p:handoutMasterIdLst>
    <p:handoutMasterId r:id="rId36"/>
  </p:handoutMasterIdLst>
  <p:sldIdLst>
    <p:sldId id="283" r:id="rId3"/>
    <p:sldId id="291" r:id="rId4"/>
    <p:sldId id="259" r:id="rId5"/>
    <p:sldId id="352" r:id="rId6"/>
    <p:sldId id="341" r:id="rId7"/>
    <p:sldId id="359" r:id="rId8"/>
    <p:sldId id="343" r:id="rId9"/>
    <p:sldId id="344" r:id="rId10"/>
    <p:sldId id="353" r:id="rId11"/>
    <p:sldId id="345" r:id="rId12"/>
    <p:sldId id="346" r:id="rId13"/>
    <p:sldId id="347" r:id="rId14"/>
    <p:sldId id="354" r:id="rId15"/>
    <p:sldId id="349" r:id="rId16"/>
    <p:sldId id="350" r:id="rId17"/>
    <p:sldId id="351" r:id="rId18"/>
    <p:sldId id="366" r:id="rId19"/>
    <p:sldId id="361" r:id="rId20"/>
    <p:sldId id="362" r:id="rId21"/>
    <p:sldId id="355" r:id="rId22"/>
    <p:sldId id="356" r:id="rId23"/>
    <p:sldId id="357" r:id="rId24"/>
    <p:sldId id="358" r:id="rId25"/>
    <p:sldId id="315" r:id="rId26"/>
    <p:sldId id="369" r:id="rId27"/>
    <p:sldId id="318" r:id="rId28"/>
    <p:sldId id="363" r:id="rId29"/>
    <p:sldId id="289" r:id="rId30"/>
    <p:sldId id="368" r:id="rId31"/>
    <p:sldId id="364" r:id="rId32"/>
    <p:sldId id="365" r:id="rId33"/>
    <p:sldId id="335" r:id="rId34"/>
  </p:sldIdLst>
  <p:sldSz cx="9144000" cy="6858000" type="screen4x3"/>
  <p:notesSz cx="6858000" cy="9945688"/>
  <p:custDataLst>
    <p:tags r:id="rId3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 Plessis, Darius" initials="dPD" lastIdx="2" clrIdx="0"/>
  <p:cmAuthor id="2" name="Wepener van der Walt" initials="WvdW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4C9"/>
    <a:srgbClr val="ADB3BF"/>
    <a:srgbClr val="D69249"/>
    <a:srgbClr val="FDF1BB"/>
    <a:srgbClr val="A2A871"/>
    <a:srgbClr val="9DA900"/>
    <a:srgbClr val="00677B"/>
    <a:srgbClr val="94A41A"/>
    <a:srgbClr val="D63A17"/>
    <a:srgbClr val="FCF1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903A18-4839-8D4F-8ABB-4D063655F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086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6125"/>
            <a:ext cx="49720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00996E8-5341-8848-B47C-0F512A8E3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335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4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782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110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13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908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301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352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354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012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327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2130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333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46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4297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803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8827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994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5664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531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2803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0516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1462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2097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572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DFE22-DD3C-84CE-71AA-7BEBFEF20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A91045F1-037F-C89B-34A2-6C7C4D7B37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679A1CD-03AD-35FC-0243-E207ADB6BC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055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0754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0395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9321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1C9CF-7ED1-9E85-7C98-A7AAF286E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E4D145A-0C0A-C288-226B-5A0E48FD95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04DF533B-4F15-4872-FA9B-170EEF0460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096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7347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7340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defTabSz="918698"/>
            <a:fld id="{73303AEE-F764-0E46-AFB6-085D8FECA2EE}" type="slidenum">
              <a:rPr lang="en-US">
                <a:solidFill>
                  <a:srgbClr val="000000"/>
                </a:solidFill>
              </a:rPr>
              <a:pPr defTabSz="918698"/>
              <a:t>32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9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7772400" cy="14700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E0EE7-581C-F445-BDC6-E24C5F5F0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6C6F65-9470-3143-AA4D-A7FCF6DFB4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26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7772400" cy="1470025"/>
          </a:xfrm>
        </p:spPr>
        <p:txBody>
          <a:bodyPr/>
          <a:lstStyle>
            <a:lvl1pPr>
              <a:defR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5801-AA14-4D1A-A09C-9A7B708D243D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30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E7E0EE7-581C-F445-BDC6-E24C5F5F02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94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5C6B5-DD21-4288-8561-AE356B15015C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63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59354-B95F-440D-8860-EF55DC073CE5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93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4B58B-DB37-4B77-A33E-10DE74417EED}" type="datetime1">
              <a:rPr lang="en-US" smtClean="0"/>
              <a:t>2/9/2026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01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2792B-6D6E-426B-AC0C-C6FEF743363F}" type="datetime1">
              <a:rPr lang="en-US" smtClean="0"/>
              <a:t>2/9/2026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2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DE5F5-1C57-47D5-852C-555C0AFFE31C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68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A1D04-25F2-4213-979E-6BF08363A9FC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55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F2C86-7BFE-466F-80DB-F7397FFB5C35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23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52624-D27F-4068-A9A7-8BF922128060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44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93FD7-5D95-4EB5-9D95-C3616D7FED50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602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32DAC-1C69-402C-AC50-7D9759DFBF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8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CA1720AD-FDE0-49DA-9374-2B2FC9527FE1}" type="datetime1">
              <a:rPr lang="en-US" smtClean="0"/>
              <a:t>2/9/2026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1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5448383" y="2514600"/>
            <a:ext cx="3124200" cy="1074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>
            <a:spAutoFit/>
          </a:bodyPr>
          <a:lstStyle/>
          <a:p>
            <a:pPr lvl="0" algn="ctr" defTabSz="912813" eaLnBrk="1" hangingPunct="1">
              <a:spcBef>
                <a:spcPct val="50000"/>
              </a:spcBef>
              <a:defRPr/>
            </a:pPr>
            <a:r>
              <a:rPr lang="en-ZA" sz="3200" b="1" dirty="0">
                <a:solidFill>
                  <a:srgbClr val="28287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financial goals of a firm</a:t>
            </a:r>
            <a:endParaRPr lang="en-GB" sz="3200" b="1" dirty="0">
              <a:solidFill>
                <a:srgbClr val="28287A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4339457" y="101304"/>
            <a:ext cx="5113283" cy="1132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 anchor="ctr"/>
          <a:lstStyle/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+mn-lt"/>
                <a:ea typeface="+mn-ea"/>
                <a:cs typeface="Arial" charset="0"/>
              </a:rPr>
              <a:t>Chapter 1</a:t>
            </a:r>
          </a:p>
        </p:txBody>
      </p:sp>
      <p:sp>
        <p:nvSpPr>
          <p:cNvPr id="4101" name="Rectangle 6"/>
          <p:cNvSpPr>
            <a:spLocks noChangeArrowheads="1"/>
          </p:cNvSpPr>
          <p:nvPr/>
        </p:nvSpPr>
        <p:spPr bwMode="auto">
          <a:xfrm>
            <a:off x="4742050" y="5387788"/>
            <a:ext cx="4424362" cy="1013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lvl="0" algn="ctr" defTabSz="912813" eaLnBrk="1" hangingPunct="1"/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Slides by Prof C </a:t>
            </a:r>
            <a:r>
              <a:rPr lang="en-GB" sz="2000" b="1" dirty="0" err="1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Rootman</a:t>
            </a:r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, Dr S Watson, Ms E Kobese </a:t>
            </a:r>
          </a:p>
          <a:p>
            <a:pPr lvl="0" algn="ctr" defTabSz="912813" eaLnBrk="1" hangingPunct="1"/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&amp; Ms N </a:t>
            </a:r>
            <a:r>
              <a:rPr lang="en-GB" sz="2000" b="1" dirty="0" err="1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Maliwa</a:t>
            </a:r>
            <a:endParaRPr lang="en-GB" sz="2000" b="1" dirty="0">
              <a:solidFill>
                <a:srgbClr val="28287A"/>
              </a:solidFill>
              <a:latin typeface="+mn-lt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13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269"/>
    </mc:Choice>
    <mc:Fallback xmlns="">
      <p:transition spd="slow" advTm="7626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9" name="Rectangle 1031"/>
          <p:cNvSpPr>
            <a:spLocks noGrp="1" noChangeArrowheads="1"/>
          </p:cNvSpPr>
          <p:nvPr>
            <p:ph type="title"/>
          </p:nvPr>
        </p:nvSpPr>
        <p:spPr>
          <a:xfrm>
            <a:off x="190500" y="76200"/>
            <a:ext cx="8763000" cy="685800"/>
          </a:xfrm>
        </p:spPr>
        <p:txBody>
          <a:bodyPr/>
          <a:lstStyle/>
          <a:p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outcomes: Chapter 1</a:t>
            </a:r>
            <a:endParaRPr lang="en-US" sz="2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9400" name="Rectangle 1032"/>
          <p:cNvSpPr>
            <a:spLocks noGrp="1" noChangeArrowheads="1"/>
          </p:cNvSpPr>
          <p:nvPr>
            <p:ph idx="1"/>
          </p:nvPr>
        </p:nvSpPr>
        <p:spPr>
          <a:xfrm>
            <a:off x="190501" y="771832"/>
            <a:ext cx="8762999" cy="5791200"/>
          </a:xfrm>
        </p:spPr>
        <p:txBody>
          <a:bodyPr/>
          <a:lstStyle/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effectLst/>
                <a:ea typeface="Times New Roman" panose="02020603050405020304" pitchFamily="18" charset="0"/>
              </a:rPr>
              <a:t>describe the reasons for the existence of business firms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effectLst/>
                <a:ea typeface="Times New Roman" panose="02020603050405020304" pitchFamily="18" charset="0"/>
              </a:rPr>
              <a:t>explain the need for a vision, mission and organisational culture of a firm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effectLst/>
                <a:ea typeface="Times New Roman" panose="02020603050405020304" pitchFamily="18" charset="0"/>
              </a:rPr>
              <a:t>explain the role of the business model and strategy in managing a firm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effectLst/>
                <a:ea typeface="Times New Roman" panose="02020603050405020304" pitchFamily="18" charset="0"/>
              </a:rPr>
              <a:t>evaluate the various forms of business organisation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effectLst/>
                <a:ea typeface="Times New Roman" panose="02020603050405020304" pitchFamily="18" charset="0"/>
              </a:rPr>
              <a:t>distinguish between the long-term and short-term financial goals of a firm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effectLst/>
                <a:ea typeface="Times New Roman" panose="02020603050405020304" pitchFamily="18" charset="0"/>
              </a:rPr>
              <a:t>relate the functions of a financial manager to the long- and short-term financial goals of a firm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effectLst/>
                <a:ea typeface="Times New Roman" panose="02020603050405020304" pitchFamily="18" charset="0"/>
              </a:rPr>
              <a:t>describe the competencies of a chief financial officer (CFO)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effectLst/>
                <a:ea typeface="Times New Roman" panose="02020603050405020304" pitchFamily="18" charset="0"/>
              </a:rPr>
              <a:t>apply the fundamental principles of financial management.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36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523"/>
    </mc:Choice>
    <mc:Fallback xmlns="">
      <p:transition spd="slow" advTm="7352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2472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dirty="0"/>
              <a:t>Humans have needs and wants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Physiological, safety, social, esteem and self-</a:t>
            </a:r>
            <a:r>
              <a:rPr lang="en-US" dirty="0" err="1"/>
              <a:t>actualisation</a:t>
            </a:r>
            <a:r>
              <a:rPr lang="en-US" dirty="0"/>
              <a:t> needs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</a:t>
            </a:r>
            <a:r>
              <a:rPr lang="en-US" sz="2800" dirty="0"/>
              <a:t>irms satisfy these by providing products and/or services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Understand customers to best meet their needs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For firms: Could lead to…increase in sales, loyalty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3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Figure 1.1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4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141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Vision, mission and culture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71500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Strategic planning sessions NB, firms concerned about LT futures (3Ps: possible, probable, preferable)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dirty="0"/>
              <a:t>Aim to </a:t>
            </a:r>
            <a:r>
              <a:rPr lang="en-US" dirty="0"/>
              <a:t>be sustainable, therefore need to re-imagine the use of scarce resources and protecting the environment, while improving people’s lives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dirty="0"/>
              <a:t>Sustainability: ability of a firm to endure (LT) because it is </a:t>
            </a:r>
            <a:r>
              <a:rPr lang="en-US" sz="2800" b="1" dirty="0">
                <a:solidFill>
                  <a:srgbClr val="92D050"/>
                </a:solidFill>
              </a:rPr>
              <a:t>environmentally</a:t>
            </a:r>
            <a:r>
              <a:rPr lang="en-US" sz="2800" dirty="0"/>
              <a:t> bearable, </a:t>
            </a: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socially</a:t>
            </a:r>
            <a:r>
              <a:rPr lang="en-US" sz="2800" dirty="0"/>
              <a:t> equitable and </a:t>
            </a:r>
            <a:r>
              <a:rPr lang="en-US" sz="2800" b="1" dirty="0">
                <a:solidFill>
                  <a:srgbClr val="FF0000"/>
                </a:solidFill>
              </a:rPr>
              <a:t>economically (financially) </a:t>
            </a:r>
            <a:r>
              <a:rPr lang="en-US" sz="2800" dirty="0"/>
              <a:t>viable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BUT there are forces…population growth rates, climate change, energy shortages, inflation, technology, etc.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5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28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Remember this key focus of this module 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38090"/>
            <a:ext cx="8655424" cy="5715000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</a:rPr>
              <a:t>Business/corporate finance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vs accounting vs financial planning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US" sz="160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Keep a few things in mind</a:t>
            </a:r>
          </a:p>
          <a:p>
            <a:pPr lvl="1" indent="-342900">
              <a:lnSpc>
                <a:spcPct val="100000"/>
              </a:lnSpc>
              <a:spcBef>
                <a:spcPts val="0"/>
              </a:spcBef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Finance is concerned with decisions about money/cash flows (CFs)</a:t>
            </a:r>
          </a:p>
          <a:p>
            <a:pPr lvl="1" indent="-342900">
              <a:lnSpc>
                <a:spcPct val="100000"/>
              </a:lnSpc>
              <a:spcBef>
                <a:spcPts val="0"/>
              </a:spcBef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Everything else being equal: More value is preferred to less; the sooner cash is received the more value it has (because you can invest it, use it, etc.); less risky assets are more valuable than riskier assets</a:t>
            </a:r>
          </a:p>
          <a:p>
            <a:pPr lvl="1" indent="-342900">
              <a:lnSpc>
                <a:spcPct val="100000"/>
              </a:lnSpc>
              <a:spcBef>
                <a:spcPts val="0"/>
              </a:spcBef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Make a choice: (1) R54 million today…or (2) R3.5 million each year for the next 30 years…? Concept of time value of money (TVM) will help you to make the right choice </a:t>
            </a: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sym typeface="Wingdings" panose="05000000000000000000" pitchFamily="2" charset="2"/>
              </a:rPr>
              <a:t> </a:t>
            </a: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(all part of financial </a:t>
            </a:r>
            <a:r>
              <a:rPr kumimoji="0" lang="en-US" sz="2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mngt</a:t>
            </a: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.)</a:t>
            </a:r>
          </a:p>
          <a:p>
            <a:pPr lvl="1" indent="-342900">
              <a:lnSpc>
                <a:spcPct val="105000"/>
              </a:lnSpc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6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392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Vision, mission and culture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71500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00FFFF"/>
                </a:highlight>
              </a:rPr>
              <a:t>Vision:</a:t>
            </a:r>
            <a:r>
              <a:rPr lang="en-US" sz="2800" dirty="0"/>
              <a:t> What the firm should look like in the future (set</a:t>
            </a:r>
            <a:r>
              <a:rPr lang="en-US" dirty="0"/>
              <a:t>s the direction for planning and strategy implementation)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0000"/>
                </a:highlight>
              </a:rPr>
              <a:t>Mission:</a:t>
            </a:r>
            <a:r>
              <a:rPr lang="en-US" dirty="0"/>
              <a:t> Reason for a firm’s existence (reflect core business)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00FF00"/>
                </a:highlight>
              </a:rPr>
              <a:t>Org. culture: </a:t>
            </a:r>
            <a:r>
              <a:rPr lang="en-US" dirty="0"/>
              <a:t>common set of behaviours, mindsets, beliefs in firm that determines engagement, productivity and success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Alignment with V and M, open communication, right employees recruited and retained, top </a:t>
            </a:r>
            <a:r>
              <a:rPr lang="en-US" dirty="0" err="1"/>
              <a:t>mngt</a:t>
            </a:r>
            <a:r>
              <a:rPr lang="en-US" dirty="0"/>
              <a:t>. = examples, rewards, prof. development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7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089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Business model and strategy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838200"/>
            <a:ext cx="8991600" cy="60092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Business model: </a:t>
            </a:r>
            <a:r>
              <a:rPr lang="en-US" sz="2800" dirty="0"/>
              <a:t>WHAT and HOW for the benefit (value) of </a:t>
            </a:r>
            <a:r>
              <a:rPr lang="en-US" dirty="0"/>
              <a:t>CUSTOMER and BUSINESS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dirty="0"/>
              <a:t>View it from 3 perspectives: marketing, operation</a:t>
            </a:r>
            <a:r>
              <a:rPr lang="en-US" dirty="0"/>
              <a:t>al, </a:t>
            </a:r>
            <a:r>
              <a:rPr lang="en-US" b="1" dirty="0">
                <a:solidFill>
                  <a:srgbClr val="FF0000"/>
                </a:solidFill>
              </a:rPr>
              <a:t>financial</a:t>
            </a:r>
            <a:r>
              <a:rPr lang="en-US" dirty="0"/>
              <a:t> 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0" indent="0">
              <a:lnSpc>
                <a:spcPct val="105000"/>
              </a:lnSpc>
              <a:spcBef>
                <a:spcPct val="0"/>
              </a:spcBef>
              <a:buSzPct val="100000"/>
              <a:buNone/>
            </a:pPr>
            <a:r>
              <a:rPr lang="en-US" sz="3600" dirty="0">
                <a:solidFill>
                  <a:schemeClr val="tx2"/>
                </a:solidFill>
                <a:latin typeface="+mj-lt"/>
                <a:ea typeface="+mj-ea"/>
              </a:rPr>
              <a:t>Figure 1.2  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8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7007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Business model and strategy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838200"/>
            <a:ext cx="8991600" cy="60092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Financial view: </a:t>
            </a:r>
            <a:endParaRPr lang="en-US" b="1" dirty="0">
              <a:solidFill>
                <a:srgbClr val="FF0000"/>
              </a:solidFill>
            </a:endParaRP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5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Cost structure vs Revenue and cash flows (CFs)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50" dirty="0"/>
              <a:t>Firm should be </a:t>
            </a:r>
            <a:r>
              <a:rPr lang="en-US" sz="2650" b="1" dirty="0">
                <a:solidFill>
                  <a:srgbClr val="C00000"/>
                </a:solidFill>
              </a:rPr>
              <a:t>profitable and maintain liquidity</a:t>
            </a:r>
            <a:r>
              <a:rPr lang="en-US" sz="2650" dirty="0"/>
              <a:t>…</a:t>
            </a:r>
          </a:p>
          <a:p>
            <a:pPr lvl="2">
              <a:lnSpc>
                <a:spcPct val="105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dirty="0"/>
              <a:t>Profitability = revenue from sales &gt; costs, expenses, interest and tax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Five main competitive forces 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SzPct val="100000"/>
              <a:buNone/>
            </a:pPr>
            <a:r>
              <a:rPr lang="en-US" sz="3600" dirty="0">
                <a:solidFill>
                  <a:schemeClr val="tx2"/>
                </a:solidFill>
                <a:latin typeface="+mj-lt"/>
                <a:ea typeface="+mj-ea"/>
              </a:rPr>
              <a:t>Figure 1.3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2000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National economy: economic growth vs economic decline; when is it a recession? 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9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521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Business model and strategy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8991600" cy="59330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3 main strategies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Cost leadership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Differentiation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Focus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Manage growth of a firm, e.g. products have life cycles (PLC), similarly firms grow over time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Market penetration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Market expansion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Product expansion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Diversification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Take overs/acquisitions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10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05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98009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Operating environment of firms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762000"/>
            <a:ext cx="8991600" cy="60854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Not in isolation/in a vacuum, rather in a system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B2C vs B2B; Various stakeholders; Various depts internally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Legal constraints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Financial institutions and markets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Financial markets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Primary market: deals in new securities, e.g. shares, bonds issued for the first time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Secondary market: trades only existing securities, e.g. shares of companies listed on JSE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Money market vs Capital market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JSE functions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11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793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Ensuring sustainability – governance, internal control and risk management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1447800"/>
            <a:ext cx="8991600" cy="5933090"/>
          </a:xfrm>
        </p:spPr>
        <p:txBody>
          <a:bodyPr/>
          <a:lstStyle/>
          <a:p>
            <a:pPr marL="0" indent="0">
              <a:lnSpc>
                <a:spcPct val="105000"/>
              </a:lnSpc>
              <a:spcBef>
                <a:spcPct val="0"/>
              </a:spcBef>
              <a:buSzPct val="100000"/>
              <a:buNone/>
            </a:pPr>
            <a:r>
              <a:rPr lang="en-US" sz="3600" dirty="0">
                <a:solidFill>
                  <a:schemeClr val="tx2"/>
                </a:solidFill>
                <a:latin typeface="+mj-lt"/>
                <a:ea typeface="+mj-ea"/>
              </a:rPr>
              <a:t>Figure 1.7 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1800" dirty="0"/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12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370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90678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Ensuring sustainability – governance, internal control and risk management </a:t>
            </a:r>
            <a:r>
              <a:rPr lang="en-US" sz="2400" dirty="0">
                <a:solidFill>
                  <a:schemeClr val="tx2"/>
                </a:solidFill>
              </a:rPr>
              <a:t>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1447800"/>
            <a:ext cx="8991600" cy="59330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Small firm: owner-manager will pursue the goal of wealth </a:t>
            </a:r>
            <a:r>
              <a:rPr lang="en-US" dirty="0" err="1"/>
              <a:t>maximisation</a:t>
            </a:r>
            <a:r>
              <a:rPr lang="en-US" dirty="0"/>
              <a:t> (we will come back to this as the MAIN financial goal of firms…)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Larger firms (e.g. public companies): ownership shared over a number of owners (e.g. shareholders)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Also want to </a:t>
            </a:r>
            <a:r>
              <a:rPr lang="en-US" dirty="0" err="1"/>
              <a:t>maximise</a:t>
            </a:r>
            <a:r>
              <a:rPr lang="en-US" dirty="0"/>
              <a:t> wealth, BUT…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Managers act not always in best interest of owners…conflict of interest: agency problem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How can this be managed?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13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9776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77906" y="152400"/>
            <a:ext cx="8763000" cy="124679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Business strategies from a financial management perspective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1399190"/>
            <a:ext cx="8991600" cy="544830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One key to financial success (max. wealth) and sustainability = sufficient financing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Financing = Capital structure (will see later and in chapters to follow)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Owner’s hard-earned savings = equity</a:t>
            </a:r>
          </a:p>
          <a:p>
            <a:pPr marL="457200" lvl="1" indent="0" algn="ctr">
              <a:lnSpc>
                <a:spcPct val="105000"/>
              </a:lnSpc>
              <a:buSzPct val="100000"/>
              <a:buNone/>
            </a:pPr>
            <a:r>
              <a:rPr lang="en-US" dirty="0"/>
              <a:t>vs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Loans or borrowing fund = LT debt (must be repaid and with interest)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460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Forms of business </a:t>
            </a:r>
            <a:r>
              <a:rPr lang="en-US" dirty="0" err="1">
                <a:solidFill>
                  <a:schemeClr val="tx2"/>
                </a:solidFill>
              </a:rPr>
              <a:t>organisations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8991600" cy="59330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Sole proprietorship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Partnership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Co-operative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Company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Private (Pty) Ltd. vs Public Ltd.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1 to 50 vs min. 7 shareholders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Min. 1 director vs Min 2 directors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Restricted transferability vs trade shares on JSE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Public company to publish annual financial statements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Taxed separate from owners @ 27%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797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Financial goal scenario 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8991600" cy="5933090"/>
          </a:xfrm>
        </p:spPr>
        <p:txBody>
          <a:bodyPr/>
          <a:lstStyle/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1200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74C447-32AB-BAD8-4047-5B1D06DE4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678436"/>
              </p:ext>
            </p:extLst>
          </p:nvPr>
        </p:nvGraphicFramePr>
        <p:xfrm>
          <a:off x="152400" y="914401"/>
          <a:ext cx="8839200" cy="589093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20644671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09483967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95033105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279260362"/>
                    </a:ext>
                  </a:extLst>
                </a:gridCol>
              </a:tblGrid>
              <a:tr h="1761451">
                <a:tc>
                  <a:txBody>
                    <a:bodyPr/>
                    <a:lstStyle/>
                    <a:p>
                      <a:pPr algn="ctr"/>
                      <a:endParaRPr lang="en-ZA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Sunny Side (my business)</a:t>
                      </a:r>
                      <a:endParaRPr lang="en-ZA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Waterfall Ltd. (your business)</a:t>
                      </a:r>
                      <a:endParaRPr lang="en-ZA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Z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33853"/>
                  </a:ext>
                </a:extLst>
              </a:tr>
              <a:tr h="150986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Profits for 2025</a:t>
                      </a:r>
                      <a:endParaRPr lang="en-ZA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R50 000</a:t>
                      </a:r>
                      <a:endParaRPr lang="en-ZA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R30 000</a:t>
                      </a:r>
                      <a:endParaRPr lang="en-ZA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Only looking at this…which business did best?</a:t>
                      </a:r>
                      <a:endParaRPr lang="en-Z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330087"/>
                  </a:ext>
                </a:extLst>
              </a:tr>
              <a:tr h="150986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But to get the profit above…</a:t>
                      </a:r>
                    </a:p>
                    <a:p>
                      <a:pPr algn="ctr"/>
                      <a:r>
                        <a:rPr lang="en-US" sz="2400" dirty="0"/>
                        <a:t>So, what was the return %?</a:t>
                      </a:r>
                      <a:endParaRPr lang="en-ZA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Invested </a:t>
                      </a:r>
                    </a:p>
                    <a:p>
                      <a:pPr algn="ctr"/>
                      <a:r>
                        <a:rPr lang="en-US" sz="2200" dirty="0"/>
                        <a:t>R200 000…</a:t>
                      </a:r>
                    </a:p>
                    <a:p>
                      <a:pPr algn="ctr"/>
                      <a:r>
                        <a:rPr lang="en-US" sz="2200" dirty="0"/>
                        <a:t>50 000/200 000 = 25%</a:t>
                      </a:r>
                      <a:endParaRPr lang="en-ZA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Invested </a:t>
                      </a:r>
                    </a:p>
                    <a:p>
                      <a:pPr algn="ctr"/>
                      <a:r>
                        <a:rPr lang="en-US" sz="2200" dirty="0"/>
                        <a:t>R110 000</a:t>
                      </a:r>
                    </a:p>
                    <a:p>
                      <a:pPr algn="ctr"/>
                      <a:r>
                        <a:rPr lang="en-US" sz="2200" dirty="0"/>
                        <a:t>30 000/110 000</a:t>
                      </a:r>
                    </a:p>
                    <a:p>
                      <a:pPr algn="ctr"/>
                      <a:r>
                        <a:rPr lang="en-US" sz="2200" dirty="0"/>
                        <a:t>= 27.27%</a:t>
                      </a:r>
                      <a:endParaRPr lang="en-ZA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Only looking at this…which business did best?</a:t>
                      </a:r>
                      <a:endParaRPr lang="en-ZA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716787"/>
                  </a:ext>
                </a:extLst>
              </a:tr>
              <a:tr h="1020523">
                <a:tc gridSpan="4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Clearly, both profit </a:t>
                      </a:r>
                      <a:r>
                        <a:rPr lang="en-US" sz="2400" dirty="0" err="1"/>
                        <a:t>maximisation</a:t>
                      </a:r>
                      <a:r>
                        <a:rPr lang="en-US" sz="2400" dirty="0"/>
                        <a:t> and return </a:t>
                      </a:r>
                      <a:r>
                        <a:rPr lang="en-US" sz="2400" dirty="0" err="1"/>
                        <a:t>maximisation</a:t>
                      </a:r>
                      <a:r>
                        <a:rPr lang="en-US" sz="2400" dirty="0"/>
                        <a:t> are NOT the best (and NOT the main) financial goals!</a:t>
                      </a:r>
                      <a:endParaRPr lang="en-ZA" sz="2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511221"/>
                  </a:ext>
                </a:extLst>
              </a:tr>
            </a:tbl>
          </a:graphicData>
        </a:graphic>
      </p:graphicFrame>
      <p:sp>
        <p:nvSpPr>
          <p:cNvPr id="4" name="Oval 3">
            <a:extLst>
              <a:ext uri="{FF2B5EF4-FFF2-40B4-BE49-F238E27FC236}">
                <a16:creationId xmlns:a16="http://schemas.microsoft.com/office/drawing/2014/main" id="{FFDFA3FE-80BF-B427-D923-17D0D74C6B5D}"/>
              </a:ext>
            </a:extLst>
          </p:cNvPr>
          <p:cNvSpPr/>
          <p:nvPr/>
        </p:nvSpPr>
        <p:spPr bwMode="auto">
          <a:xfrm>
            <a:off x="2590800" y="3048000"/>
            <a:ext cx="1752600" cy="76200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73992F-DAEA-EDAD-F271-C5568886ADA0}"/>
              </a:ext>
            </a:extLst>
          </p:cNvPr>
          <p:cNvSpPr/>
          <p:nvPr/>
        </p:nvSpPr>
        <p:spPr bwMode="auto">
          <a:xfrm>
            <a:off x="4953000" y="5333999"/>
            <a:ext cx="1524000" cy="4572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1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090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Financial goals: LT goals 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8991600" cy="59330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Medium to LT goal: increase &amp; </a:t>
            </a:r>
            <a:r>
              <a:rPr lang="en-US" dirty="0" err="1"/>
              <a:t>maximise</a:t>
            </a:r>
            <a:r>
              <a:rPr lang="en-US" dirty="0"/>
              <a:t> wealth of owners (shareholders in case of Ltd. Company); therefore, </a:t>
            </a:r>
            <a:r>
              <a:rPr lang="en-US" b="1" dirty="0" err="1">
                <a:solidFill>
                  <a:srgbClr val="FF0000"/>
                </a:solidFill>
              </a:rPr>
              <a:t>maximise</a:t>
            </a:r>
            <a:r>
              <a:rPr lang="en-US" b="1" dirty="0">
                <a:solidFill>
                  <a:srgbClr val="FF0000"/>
                </a:solidFill>
              </a:rPr>
              <a:t> shareholders wealth (SHW) 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This translates into </a:t>
            </a:r>
            <a:r>
              <a:rPr lang="en-US" b="1" dirty="0"/>
              <a:t>increasing the value of the firm OR increase (current) share price (value)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1600" dirty="0"/>
          </a:p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HOW?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1600" dirty="0"/>
          </a:p>
          <a:p>
            <a:pPr marL="342900" marR="0" lvl="0" indent="-34290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Tahoma"/>
                <a:ea typeface="ＭＳ Ｐゴシック"/>
              </a:rPr>
              <a:t>(1)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Investing in assets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How funds/capital is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Tahoma"/>
                <a:ea typeface="ＭＳ Ｐゴシック"/>
              </a:rPr>
              <a:t>used</a:t>
            </a:r>
          </a:p>
          <a:p>
            <a:pPr marL="742950" marR="0" lvl="1" indent="-28575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Non-current (NC) or fixed or LT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Tahoma"/>
                <a:ea typeface="ＭＳ Ｐゴシック"/>
              </a:rPr>
              <a:t>assets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Tahoma"/>
                <a:ea typeface="ＭＳ Ｐゴシック"/>
              </a:rPr>
              <a:t>[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AND we will discuss current assets as well]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1200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246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Financial goals: LT goals (cont.) 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8991600" cy="5933090"/>
          </a:xfrm>
        </p:spPr>
        <p:txBody>
          <a:bodyPr/>
          <a:lstStyle/>
          <a:p>
            <a:pPr marL="0" indent="0">
              <a:lnSpc>
                <a:spcPct val="105000"/>
              </a:lnSpc>
              <a:buSzPct val="100000"/>
              <a:buNone/>
            </a:pPr>
            <a:r>
              <a:rPr lang="en-US" dirty="0"/>
              <a:t>HOW?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1600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(2) Keeping cost of capital low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How funds/capital is </a:t>
            </a:r>
            <a:r>
              <a:rPr lang="en-US" dirty="0">
                <a:highlight>
                  <a:srgbClr val="00FF00"/>
                </a:highlight>
              </a:rPr>
              <a:t>raised/sourced</a:t>
            </a:r>
            <a:r>
              <a:rPr lang="en-US" dirty="0"/>
              <a:t>…2 options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(a)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</a:rPr>
              <a:t> Debt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 (funds raised through borrowing; BUT again compensation/return needed: </a:t>
            </a:r>
            <a:r>
              <a:rPr kumimoji="0" lang="en-US" sz="28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pay back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and pay </a:t>
            </a:r>
            <a:r>
              <a:rPr kumimoji="0" lang="en-US" sz="28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interest</a:t>
            </a:r>
            <a:endParaRPr lang="en-US" u="sng" dirty="0"/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(b)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8064A2">
                    <a:lumMod val="60000"/>
                    <a:lumOff val="40000"/>
                  </a:srgbClr>
                </a:solidFill>
                <a:effectLst/>
                <a:uLnTx/>
                <a:uFillTx/>
                <a:latin typeface="Tahoma"/>
                <a:ea typeface="ＭＳ Ｐゴシック"/>
              </a:rPr>
              <a:t>Equity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 (funds raised from owners/shareholders that purchased shares); BUT they need to be compensated/require a return…again 2 ways: increase in sh. price/value as a </a:t>
            </a:r>
            <a:r>
              <a:rPr kumimoji="0" lang="en-US" sz="28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capital gain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over time and/or </a:t>
            </a:r>
            <a:r>
              <a:rPr kumimoji="0" lang="en-US" sz="28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dividends 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sz="1200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745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Financial goals: LT goals (cont.) 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8991600" cy="59330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These will both (1) and (2) be discussed in several chapters to follow; as 2 of the 3 main financial decision-making areas…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LT investing in assets /using or spending capital = </a:t>
            </a:r>
            <a:r>
              <a:rPr lang="en-US" dirty="0">
                <a:highlight>
                  <a:srgbClr val="FFFF00"/>
                </a:highlight>
              </a:rPr>
              <a:t>capital budgeting </a:t>
            </a:r>
            <a:r>
              <a:rPr lang="en-US" dirty="0"/>
              <a:t>decisions </a:t>
            </a:r>
            <a:r>
              <a:rPr lang="en-US" sz="2600" dirty="0"/>
              <a:t>(e.g. assets for expansion)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Cost of capital/LT raising or sourcing capital through debt and/or equity = </a:t>
            </a:r>
            <a:r>
              <a:rPr lang="en-US" dirty="0">
                <a:highlight>
                  <a:srgbClr val="00FF00"/>
                </a:highlight>
              </a:rPr>
              <a:t>capital structuring </a:t>
            </a:r>
            <a:r>
              <a:rPr lang="en-US" dirty="0"/>
              <a:t>decisions </a:t>
            </a:r>
            <a:r>
              <a:rPr lang="en-US" sz="2600" dirty="0"/>
              <a:t>(e.g. bonds/loans and/or sell shares)</a:t>
            </a:r>
          </a:p>
          <a:p>
            <a:pPr marL="457200" lvl="1" indent="0">
              <a:lnSpc>
                <a:spcPct val="105000"/>
              </a:lnSpc>
              <a:buSzPct val="100000"/>
              <a:buNone/>
            </a:pPr>
            <a:r>
              <a:rPr lang="en-US" dirty="0"/>
              <a:t>AND 3</a:t>
            </a:r>
            <a:r>
              <a:rPr lang="en-US" baseline="30000" dirty="0"/>
              <a:t>rd</a:t>
            </a:r>
            <a:r>
              <a:rPr lang="en-US" dirty="0"/>
              <a:t> decision-making area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prstClr val="black"/>
                </a:solidFill>
                <a:highlight>
                  <a:srgbClr val="00FFFF"/>
                </a:highlight>
                <a:latin typeface="Tahoma"/>
                <a:ea typeface="ＭＳ Ｐゴシック"/>
              </a:rPr>
              <a:t>Working capital decisions </a:t>
            </a:r>
            <a:r>
              <a:rPr lang="en-US" dirty="0">
                <a:solidFill>
                  <a:prstClr val="black"/>
                </a:solidFill>
                <a:latin typeface="Tahoma"/>
                <a:ea typeface="ＭＳ Ｐゴシック"/>
              </a:rPr>
              <a:t>(operational: current assets vs current liabilities)</a:t>
            </a:r>
            <a:endParaRPr lang="en-US" dirty="0"/>
          </a:p>
          <a:p>
            <a:pPr lvl="1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6906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90389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Financial goals: ST goals 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685800"/>
            <a:ext cx="8991600" cy="61616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Profitability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Generate revenues through sales in excess of total costs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Liquidity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Ability to satisfy ST obligations as due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E.g. accelerate CFs from accounts receivable (AR)/debtors; delay CFs to accounts payable (AP)/creditors; don’t over-invest in inventory (note there are also under-investment implications)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Solvency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Extent assets &gt; liabilities; Total assets (TA) vs Total liabilities</a:t>
            </a:r>
          </a:p>
          <a:p>
            <a:pPr marL="457200" lvl="1" indent="0">
              <a:lnSpc>
                <a:spcPct val="105000"/>
              </a:lnSpc>
              <a:buSzPct val="100000"/>
              <a:buNone/>
            </a:pPr>
            <a:r>
              <a:rPr lang="en-US" sz="2600" dirty="0"/>
              <a:t>[Note: TA = Total capital (TC)]</a:t>
            </a:r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6064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Financial goals: MAIN goal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8991600" cy="59330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Why is </a:t>
            </a:r>
            <a:r>
              <a:rPr lang="en-US" dirty="0" err="1"/>
              <a:t>maximising</a:t>
            </a:r>
            <a:r>
              <a:rPr lang="en-US" dirty="0"/>
              <a:t> SHW the main goal? Why is SHW </a:t>
            </a:r>
            <a:r>
              <a:rPr lang="en-US" dirty="0" err="1"/>
              <a:t>maximisation</a:t>
            </a:r>
            <a:r>
              <a:rPr lang="en-US" dirty="0"/>
              <a:t> preferred to profit </a:t>
            </a:r>
            <a:r>
              <a:rPr lang="en-US" dirty="0" err="1"/>
              <a:t>maximisation</a:t>
            </a:r>
            <a:r>
              <a:rPr lang="en-US" dirty="0"/>
              <a:t>?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Shareholders expect to receive a return: dividends or increases in value of shares; value of shares reflected in current/market price of share (@ any time, therefore this should be the goal)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Profit max. is a ST approach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Prof max. does not take risk into account; FM premise: trade-off between risk and return in that expect to receive higher returns from higher risk investments as compensation for undertaking the risk (and vice versa)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Only Rand vs Rand for a period; ignore when (timing) and what was invested to gain this profit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lnSpc>
                <a:spcPct val="105000"/>
              </a:lnSpc>
              <a:buSzPct val="100000"/>
              <a:buNone/>
            </a:pPr>
            <a:endParaRPr lang="en-US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182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Functions of a CFO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8991600" cy="59330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Making investment decisions (capital budgeting)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Making financing decisions (capital structuring)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While ensuring profitability, positive CF, solvency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Thus, also making working capital decisions</a:t>
            </a:r>
          </a:p>
          <a:p>
            <a:pPr marL="457200" lvl="1" indent="0">
              <a:lnSpc>
                <a:spcPct val="105000"/>
              </a:lnSpc>
              <a:buSzPct val="100000"/>
              <a:buNone/>
            </a:pPr>
            <a:endParaRPr lang="en-US" dirty="0"/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Competencies required of CFO of Ltd. Company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Knowledge, skills, values, attitude, attributes/experience 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92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Fundamental principles of FM 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8991600" cy="5933090"/>
          </a:xfrm>
        </p:spPr>
        <p:txBody>
          <a:bodyPr/>
          <a:lstStyle/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Cost-benefit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Risk-return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Higher risk, higher required rate of return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Time value of money (TVM)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Could increase value of an amount by earning interest; longer, then interest on interest or compounding; </a:t>
            </a: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Invokes concept of opportunity cost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Business rescue</a:t>
            </a: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61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9906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Capital budgeting example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9144000" cy="5715000"/>
          </a:xfrm>
        </p:spPr>
        <p:txBody>
          <a:bodyPr/>
          <a:lstStyle/>
          <a:p>
            <a:pPr marL="0" indent="0" algn="ctr">
              <a:lnSpc>
                <a:spcPct val="105000"/>
              </a:lnSpc>
              <a:buSzPct val="100000"/>
              <a:buNone/>
            </a:pPr>
            <a:r>
              <a:rPr lang="en-US" sz="2200" b="1" dirty="0">
                <a:solidFill>
                  <a:schemeClr val="tx2"/>
                </a:solidFill>
              </a:rPr>
              <a:t>A major European carmaker </a:t>
            </a:r>
            <a:r>
              <a:rPr lang="en-US" sz="2200" b="1" dirty="0">
                <a:solidFill>
                  <a:schemeClr val="tx2"/>
                </a:solidFill>
                <a:highlight>
                  <a:srgbClr val="FFFF00"/>
                </a:highlight>
              </a:rPr>
              <a:t>spent R3 billion on a factory </a:t>
            </a:r>
            <a:r>
              <a:rPr lang="en-US" sz="2200" b="1" dirty="0">
                <a:solidFill>
                  <a:schemeClr val="tx2"/>
                </a:solidFill>
              </a:rPr>
              <a:t>in SA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11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1200" dirty="0"/>
              <a:t>Source: Adapted from Taylor, M. 2024. https://topauto.co.za/features/115912/why-a-major-european-carmaker-spent-r3-billion-on-a-factory-in-south-africa/ (22 September)</a:t>
            </a:r>
          </a:p>
          <a:p>
            <a:pPr marL="0" indent="0" algn="ctr">
              <a:lnSpc>
                <a:spcPct val="105000"/>
              </a:lnSpc>
              <a:buSzPct val="100000"/>
              <a:buNone/>
            </a:pPr>
            <a:endParaRPr lang="en-US" sz="2200" b="1" dirty="0">
              <a:solidFill>
                <a:schemeClr val="tx2"/>
              </a:solidFill>
            </a:endParaRPr>
          </a:p>
          <a:p>
            <a:pPr marL="0" indent="0" algn="ctr">
              <a:lnSpc>
                <a:spcPct val="105000"/>
              </a:lnSpc>
              <a:buSzPct val="100000"/>
              <a:buNone/>
            </a:pPr>
            <a:endParaRPr lang="en-US" sz="2200" b="1" dirty="0">
              <a:solidFill>
                <a:schemeClr val="tx2"/>
              </a:solidFill>
            </a:endParaRPr>
          </a:p>
          <a:p>
            <a:pPr marL="0" indent="0" algn="ctr">
              <a:lnSpc>
                <a:spcPct val="105000"/>
              </a:lnSpc>
              <a:buSzPct val="100000"/>
              <a:buNone/>
            </a:pPr>
            <a:endParaRPr lang="en-US" sz="2200" b="1" dirty="0">
              <a:solidFill>
                <a:schemeClr val="tx2"/>
              </a:solidFill>
            </a:endParaRPr>
          </a:p>
          <a:p>
            <a:pPr marL="0" indent="0" algn="ctr">
              <a:lnSpc>
                <a:spcPct val="105000"/>
              </a:lnSpc>
              <a:buSzPct val="100000"/>
              <a:buNone/>
            </a:pPr>
            <a:endParaRPr lang="en-US" sz="2200" b="1" dirty="0">
              <a:solidFill>
                <a:schemeClr val="tx2"/>
              </a:solidFill>
            </a:endParaRPr>
          </a:p>
          <a:p>
            <a:pPr marL="457200" lvl="1" indent="0">
              <a:lnSpc>
                <a:spcPct val="105000"/>
              </a:lnSpc>
              <a:buSzPct val="100000"/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24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75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972"/>
    </mc:Choice>
    <mc:Fallback xmlns="">
      <p:transition spd="slow" advTm="149972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3655A9-24B1-F813-5D28-18D1FDBBE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16E7BC20-0CB7-0411-C5BB-F1F055223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9906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Capital budgeting example (cont.)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B0D87810-860A-CD3F-17BC-93058EB522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90600"/>
            <a:ext cx="9144000" cy="5715000"/>
          </a:xfrm>
        </p:spPr>
        <p:txBody>
          <a:bodyPr/>
          <a:lstStyle/>
          <a:p>
            <a:pPr marL="0" indent="0" algn="ctr">
              <a:lnSpc>
                <a:spcPct val="105000"/>
              </a:lnSpc>
              <a:buSzPct val="100000"/>
              <a:buNone/>
            </a:pPr>
            <a:r>
              <a:rPr lang="en-US" sz="2200" b="1" dirty="0">
                <a:solidFill>
                  <a:schemeClr val="tx2"/>
                </a:solidFill>
              </a:rPr>
              <a:t>A major European carmaker </a:t>
            </a:r>
            <a:r>
              <a:rPr lang="en-US" sz="2200" b="1" dirty="0">
                <a:solidFill>
                  <a:schemeClr val="tx2"/>
                </a:solidFill>
                <a:highlight>
                  <a:srgbClr val="FFFF00"/>
                </a:highlight>
              </a:rPr>
              <a:t>spent R3 billion on a factory </a:t>
            </a:r>
            <a:r>
              <a:rPr lang="en-US" sz="2200" b="1" dirty="0">
                <a:solidFill>
                  <a:schemeClr val="tx2"/>
                </a:solidFill>
              </a:rPr>
              <a:t>in SA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2200" dirty="0"/>
          </a:p>
          <a:p>
            <a:pPr marL="0" indent="0" algn="just">
              <a:lnSpc>
                <a:spcPct val="105000"/>
              </a:lnSpc>
              <a:buSzPct val="100000"/>
              <a:buNone/>
            </a:pPr>
            <a:r>
              <a:rPr lang="en-US" sz="1200" dirty="0"/>
              <a:t>Source: Adapted from Taylor, M. 2024. https://topauto.co.za/features/115912/why-a-major-european-carmaker-spent-r3-billion-on-a-factory-in-south-africa/ (22 September)</a:t>
            </a:r>
          </a:p>
          <a:p>
            <a:pPr marL="0" indent="0" algn="just">
              <a:lnSpc>
                <a:spcPct val="105000"/>
              </a:lnSpc>
              <a:buSzPct val="100000"/>
              <a:buNone/>
            </a:pPr>
            <a:endParaRPr lang="en-US" sz="1200" dirty="0"/>
          </a:p>
          <a:p>
            <a:pPr marL="0" indent="0" algn="ctr">
              <a:lnSpc>
                <a:spcPct val="105000"/>
              </a:lnSpc>
              <a:buSzPct val="100000"/>
              <a:buNone/>
            </a:pPr>
            <a:endParaRPr lang="en-US" sz="2200" b="1" dirty="0">
              <a:solidFill>
                <a:schemeClr val="tx2"/>
              </a:solidFill>
            </a:endParaRPr>
          </a:p>
          <a:p>
            <a:pPr marL="0" indent="0" algn="ctr">
              <a:lnSpc>
                <a:spcPct val="105000"/>
              </a:lnSpc>
              <a:buSzPct val="100000"/>
              <a:buNone/>
            </a:pPr>
            <a:endParaRPr lang="en-US" sz="2200" b="1" dirty="0">
              <a:solidFill>
                <a:schemeClr val="tx2"/>
              </a:solidFill>
            </a:endParaRPr>
          </a:p>
          <a:p>
            <a:pPr marL="0" indent="0" algn="ctr">
              <a:lnSpc>
                <a:spcPct val="105000"/>
              </a:lnSpc>
              <a:buSzPct val="100000"/>
              <a:buNone/>
            </a:pPr>
            <a:endParaRPr lang="en-US" sz="2200" b="1" dirty="0">
              <a:solidFill>
                <a:schemeClr val="tx2"/>
              </a:solidFill>
            </a:endParaRPr>
          </a:p>
          <a:p>
            <a:pPr marL="0" indent="0" algn="ctr">
              <a:lnSpc>
                <a:spcPct val="105000"/>
              </a:lnSpc>
              <a:buSzPct val="100000"/>
              <a:buNone/>
            </a:pPr>
            <a:endParaRPr lang="en-US" sz="2200" b="1" dirty="0">
              <a:solidFill>
                <a:schemeClr val="tx2"/>
              </a:solidFill>
            </a:endParaRPr>
          </a:p>
          <a:p>
            <a:pPr marL="457200" lvl="1" indent="0">
              <a:lnSpc>
                <a:spcPct val="105000"/>
              </a:lnSpc>
              <a:buSzPct val="100000"/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46C032-0327-5335-3A6D-FF7BAF6E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25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257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972"/>
    </mc:Choice>
    <mc:Fallback xmlns="">
      <p:transition spd="slow" advTm="149972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762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Capital structuring examples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699247"/>
            <a:ext cx="8763000" cy="6055895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8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8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8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8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8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8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8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8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8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1050" dirty="0"/>
              <a:t>Source: https://www.nasdaq.com/articles/pan-african-resources-issue-new-ordinary-shares (9 December 2024)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50" b="1" dirty="0">
              <a:solidFill>
                <a:schemeClr val="tx2"/>
              </a:solidFill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1000" dirty="0"/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1200" dirty="0"/>
              <a:t>Sources: </a:t>
            </a:r>
            <a:r>
              <a:rPr lang="en-US" sz="1200" dirty="0" err="1"/>
              <a:t>Siwele</a:t>
            </a:r>
            <a:r>
              <a:rPr lang="en-US" sz="1200" dirty="0"/>
              <a:t>, K. 2024. https://www.biznews.com/sa-investing/2024/11/28/boxer-retail-soars-largest-ipo-2017#:~:text=Boxer%20Retail%20Ltd.%20made%20a%20strong%20debut%20on,potential%20to%20reach%208.5%20billion%20through%20additional%20shares (November)</a:t>
            </a:r>
            <a:endParaRPr lang="en-US" sz="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26</a:t>
            </a:fld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07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882"/>
    </mc:Choice>
    <mc:Fallback xmlns="">
      <p:transition spd="slow" advTm="156882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67529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MAIN financial goal explanation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614854"/>
            <a:ext cx="8991600" cy="616694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700" dirty="0" err="1"/>
              <a:t>Maximise</a:t>
            </a:r>
            <a:r>
              <a:rPr lang="en-US" sz="2700" dirty="0"/>
              <a:t> SHW = </a:t>
            </a:r>
            <a:r>
              <a:rPr lang="en-US" sz="2700" dirty="0" err="1"/>
              <a:t>maximise</a:t>
            </a:r>
            <a:r>
              <a:rPr lang="en-US" sz="2700" dirty="0"/>
              <a:t> firm’s value = </a:t>
            </a:r>
            <a:r>
              <a:rPr lang="en-US" sz="2700" dirty="0" err="1"/>
              <a:t>maximise</a:t>
            </a:r>
            <a:r>
              <a:rPr lang="en-US" sz="2700" dirty="0"/>
              <a:t> current/market price of a company’s shares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700" dirty="0"/>
              <a:t>Current value of a house you consider buying?</a:t>
            </a:r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700" dirty="0"/>
              <a:t>To calculate SHW, calculate the change in share price over a period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r>
              <a:rPr lang="en-US" sz="2400" dirty="0">
                <a:solidFill>
                  <a:srgbClr val="FF0000"/>
                </a:solidFill>
              </a:rPr>
              <a:t>% change in share price = [(New price – Old price) / Old] x 100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ct val="100000"/>
              <a:buNone/>
            </a:pPr>
            <a:endParaRPr lang="en-US" sz="20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sz="2700" dirty="0"/>
              <a:t>Value (of any investment) based on </a:t>
            </a:r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CFs (projected); CFs sooner (timing); Riskiness (risk of projected CFs/earnings)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/>
              </a:rPr>
              <a:t>Or understand it this way:</a:t>
            </a:r>
          </a:p>
          <a:p>
            <a:pPr marL="857250" lvl="1" indent="-457200">
              <a:lnSpc>
                <a:spcPct val="100000"/>
              </a:lnSpc>
              <a:spcBef>
                <a:spcPts val="0"/>
              </a:spcBef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/>
              </a:rPr>
              <a:t>Value = worth of the expected future CFs restated in current rands</a:t>
            </a:r>
          </a:p>
          <a:p>
            <a:pPr marL="857250" lvl="1" indent="-457200">
              <a:lnSpc>
                <a:spcPct val="100000"/>
              </a:lnSpc>
              <a:spcBef>
                <a:spcPts val="0"/>
              </a:spcBef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/>
              </a:rPr>
              <a:t>Value = present value (PV) (or current or net) value of the future CFs</a:t>
            </a:r>
          </a:p>
          <a:p>
            <a:pPr marL="857250" lvl="1" indent="-457200">
              <a:lnSpc>
                <a:spcPct val="100000"/>
              </a:lnSpc>
              <a:spcBef>
                <a:spcPts val="0"/>
              </a:spcBef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ＭＳ Ｐゴシック"/>
            </a:endParaRPr>
          </a:p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0">
                <a:extLst>
                  <a:ext uri="{FF2B5EF4-FFF2-40B4-BE49-F238E27FC236}">
                    <a16:creationId xmlns:a16="http://schemas.microsoft.com/office/drawing/2014/main" id="{09E98C8D-3865-6FD1-1F27-D9B263D293FC}"/>
                  </a:ext>
                </a:extLst>
              </p:cNvPr>
              <p:cNvSpPr txBox="1"/>
              <p:nvPr/>
            </p:nvSpPr>
            <p:spPr bwMode="auto">
              <a:xfrm>
                <a:off x="5638800" y="4038600"/>
                <a:ext cx="3276600" cy="13523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Z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nary>
                        <m:naryPr>
                          <m:chr m:val="∑"/>
                          <m:ctrlP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 = 0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f>
                            <m:fPr>
                              <m:ctrlP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1 + 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𝑘𝑠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4" name="Object 10">
                <a:extLst>
                  <a:ext uri="{FF2B5EF4-FFF2-40B4-BE49-F238E27FC236}">
                    <a16:creationId xmlns:a16="http://schemas.microsoft.com/office/drawing/2014/main" id="{09E98C8D-3865-6FD1-1F27-D9B263D29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8800" y="4038600"/>
                <a:ext cx="3276600" cy="13523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5169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Example of share price changes</a:t>
            </a:r>
          </a:p>
        </p:txBody>
      </p:sp>
      <p:sp>
        <p:nvSpPr>
          <p:cNvPr id="23557" name="Rectangle 5"/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8763000" cy="6019800"/>
          </a:xfrm>
        </p:spPr>
        <p:txBody>
          <a:bodyPr/>
          <a:lstStyle/>
          <a:p>
            <a:pPr marL="0" indent="0" algn="ctr">
              <a:buSzPct val="100000"/>
              <a:buNone/>
            </a:pPr>
            <a:r>
              <a:rPr lang="en-US" sz="2200" b="1" dirty="0">
                <a:solidFill>
                  <a:schemeClr val="tx2"/>
                </a:solidFill>
              </a:rPr>
              <a:t>Example of share price changes…due to various factors</a:t>
            </a: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9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9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r>
              <a:rPr lang="en-US" sz="1200" dirty="0">
                <a:solidFill>
                  <a:prstClr val="black"/>
                </a:solidFill>
              </a:rPr>
              <a:t>Sources: Adapted from Mackenzie, J. 2025. </a:t>
            </a:r>
          </a:p>
          <a:p>
            <a:pPr marL="0" lvl="0" indent="0">
              <a:buClr>
                <a:srgbClr val="1F497D"/>
              </a:buClr>
              <a:buSzPct val="100000"/>
              <a:buNone/>
            </a:pPr>
            <a:r>
              <a:rPr lang="en-US" sz="1200" dirty="0">
                <a:solidFill>
                  <a:prstClr val="black"/>
                </a:solidFill>
              </a:rPr>
              <a:t>https://www.businesslive.co.za/bd/companies/retail-and-consumer/2025-01-27-lewis-sales-jump-almost-10-as-consumer-confidence-improves/ (27 January); www.sharedata.co.za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3099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4814"/>
    </mc:Choice>
    <mc:Fallback xmlns="">
      <p:transition spd="slow" advTm="254814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1EC074-BFF2-678A-407C-6B35B9C8B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>
            <a:extLst>
              <a:ext uri="{FF2B5EF4-FFF2-40B4-BE49-F238E27FC236}">
                <a16:creationId xmlns:a16="http://schemas.microsoft.com/office/drawing/2014/main" id="{5BEAD540-E472-C5E8-97FE-18E28D60CB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Example of share price changes (cont.)</a:t>
            </a: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4DE0446C-EB2D-F687-F0FF-976C05D384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8763000" cy="6019800"/>
          </a:xfrm>
        </p:spPr>
        <p:txBody>
          <a:bodyPr/>
          <a:lstStyle/>
          <a:p>
            <a:pPr marL="0" indent="0" algn="ctr">
              <a:buSzPct val="100000"/>
              <a:buNone/>
            </a:pPr>
            <a:r>
              <a:rPr lang="en-US" sz="2200" b="1" dirty="0">
                <a:solidFill>
                  <a:schemeClr val="tx2"/>
                </a:solidFill>
              </a:rPr>
              <a:t>Example of share price changes…due to various factors</a:t>
            </a: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900" dirty="0">
              <a:solidFill>
                <a:prstClr val="black"/>
              </a:solidFill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1F497D"/>
              </a:buClr>
              <a:buSzPct val="100000"/>
              <a:buNone/>
            </a:pPr>
            <a:endParaRPr lang="en-US" sz="3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2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endParaRPr lang="en-US" sz="1100" dirty="0">
              <a:solidFill>
                <a:prstClr val="black"/>
              </a:solidFill>
            </a:endParaRPr>
          </a:p>
          <a:p>
            <a:pPr marL="0" lvl="0" indent="0">
              <a:buClr>
                <a:srgbClr val="1F497D"/>
              </a:buClr>
              <a:buSzPct val="100000"/>
              <a:buNone/>
            </a:pPr>
            <a:r>
              <a:rPr lang="en-US" sz="1200" dirty="0">
                <a:solidFill>
                  <a:prstClr val="black"/>
                </a:solidFill>
              </a:rPr>
              <a:t>Sources: Adapted from Mackenzie, J. 2025. </a:t>
            </a:r>
          </a:p>
          <a:p>
            <a:pPr marL="0" lvl="0" indent="0">
              <a:buClr>
                <a:srgbClr val="1F497D"/>
              </a:buClr>
              <a:buSzPct val="100000"/>
              <a:buNone/>
            </a:pPr>
            <a:r>
              <a:rPr lang="en-US" sz="1200" dirty="0">
                <a:solidFill>
                  <a:prstClr val="black"/>
                </a:solidFill>
              </a:rPr>
              <a:t>https://www.businesslive.co.za/bd/companies/retail-and-consumer/2025-01-27-lewis-sales-jump-almost-10-as-consumer-confidence-improves/ (27 January) ; www.sharedata.co.za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4CFBC4-3F31-F437-8F6A-7294F7E67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884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4814"/>
    </mc:Choice>
    <mc:Fallback xmlns="">
      <p:transition spd="slow" advTm="254814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733134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Example – SG pg. 14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8991600" cy="5933090"/>
          </a:xfrm>
        </p:spPr>
        <p:txBody>
          <a:bodyPr/>
          <a:lstStyle/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FFBC48-56BA-E37A-60C3-5AFA0180C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743644"/>
            <a:ext cx="6789465" cy="58257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183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733134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Example (cont.) – SG pg. 14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76200" y="914400"/>
            <a:ext cx="8991600" cy="5933090"/>
          </a:xfrm>
        </p:spPr>
        <p:txBody>
          <a:bodyPr/>
          <a:lstStyle/>
          <a:p>
            <a:pPr lvl="1">
              <a:lnSpc>
                <a:spcPct val="105000"/>
              </a:lnSpc>
              <a:buSzPct val="100000"/>
              <a:buFont typeface="Wingdings" panose="05000000000000000000" pitchFamily="2" charset="2"/>
              <a:buChar char="§"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05000"/>
              </a:lnSpc>
              <a:buSzPct val="10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BE4CDA-FF7D-7EED-B4F0-C6B23FD1B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13" y="1371600"/>
            <a:ext cx="7990087" cy="40056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5271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F821DC-48D2-104C-8B58-C959D857C48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228600" y="0"/>
            <a:ext cx="867770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Preparation for next session</a:t>
            </a:r>
          </a:p>
        </p:txBody>
      </p:sp>
      <p:sp>
        <p:nvSpPr>
          <p:cNvPr id="19" name="Rectangle 7"/>
          <p:cNvSpPr txBox="1">
            <a:spLocks noChangeArrowheads="1"/>
          </p:cNvSpPr>
          <p:nvPr/>
        </p:nvSpPr>
        <p:spPr>
          <a:xfrm>
            <a:off x="304799" y="1066800"/>
            <a:ext cx="8601501" cy="55626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-128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 2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Work through Chapter 1</a:t>
            </a:r>
          </a:p>
          <a:p>
            <a:pPr marL="682625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Questions in study guide</a:t>
            </a:r>
          </a:p>
          <a:p>
            <a:pPr marL="682625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Problems at the end of the chapter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Read through Chapter 3</a:t>
            </a:r>
            <a:r>
              <a:rPr lang="en-US" sz="2800" kern="0" dirty="0">
                <a:solidFill>
                  <a:prstClr val="black"/>
                </a:solidFill>
                <a:latin typeface="Tahoma"/>
                <a:ea typeface="ＭＳ Ｐゴシック"/>
              </a:rPr>
              <a:t> and download/print the slides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964624409"/>
      </p:ext>
    </p:extLst>
  </p:cSld>
  <p:clrMapOvr>
    <a:masterClrMapping/>
  </p:clrMapOvr>
  <p:transition advTm="56488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heme/theme1.xml><?xml version="1.0" encoding="utf-8"?>
<a:theme xmlns:a="http://schemas.openxmlformats.org/drawingml/2006/main" name="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4040</TotalTime>
  <Words>2090</Words>
  <Application>Microsoft Office PowerPoint</Application>
  <PresentationFormat>On-screen Show (4:3)</PresentationFormat>
  <Paragraphs>345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ＭＳ Ｐゴシック</vt:lpstr>
      <vt:lpstr>Arial</vt:lpstr>
      <vt:lpstr>Cambria Math</vt:lpstr>
      <vt:lpstr>Symbol</vt:lpstr>
      <vt:lpstr>Tahoma</vt:lpstr>
      <vt:lpstr>Times</vt:lpstr>
      <vt:lpstr>Times New Roman</vt:lpstr>
      <vt:lpstr>Wingdings</vt:lpstr>
      <vt:lpstr>Wingdings 2</vt:lpstr>
      <vt:lpstr>Blank Presentation</vt:lpstr>
      <vt:lpstr>1_Blank Presentation</vt:lpstr>
      <vt:lpstr>PowerPoint Presentation</vt:lpstr>
      <vt:lpstr>Learning outcomes: Chapter 1</vt:lpstr>
      <vt:lpstr>Introduction</vt:lpstr>
      <vt:lpstr>Figure 1.1</vt:lpstr>
      <vt:lpstr>Vision, mission and culture</vt:lpstr>
      <vt:lpstr>Remember this key focus of this module </vt:lpstr>
      <vt:lpstr>Vision, mission and culture (cont.)</vt:lpstr>
      <vt:lpstr>Business model and strategy</vt:lpstr>
      <vt:lpstr>Business model and strategy (cont.)</vt:lpstr>
      <vt:lpstr>Business model and strategy (cont.)</vt:lpstr>
      <vt:lpstr>Operating environment of firms</vt:lpstr>
      <vt:lpstr>Ensuring sustainability – governance, internal control and risk management</vt:lpstr>
      <vt:lpstr>Ensuring sustainability – governance, internal control and risk management (cont.)</vt:lpstr>
      <vt:lpstr>Business strategies from a financial management perspective</vt:lpstr>
      <vt:lpstr>Forms of business organisations </vt:lpstr>
      <vt:lpstr>Financial goal scenario </vt:lpstr>
      <vt:lpstr>Financial goals: LT goals </vt:lpstr>
      <vt:lpstr>Financial goals: LT goals (cont.) </vt:lpstr>
      <vt:lpstr>Financial goals: LT goals (cont.) </vt:lpstr>
      <vt:lpstr>Financial goals: ST goals </vt:lpstr>
      <vt:lpstr>Financial goals: MAIN goal</vt:lpstr>
      <vt:lpstr>Functions of a CFO</vt:lpstr>
      <vt:lpstr>Fundamental principles of FM </vt:lpstr>
      <vt:lpstr>Capital budgeting example</vt:lpstr>
      <vt:lpstr>Capital budgeting example (cont.)</vt:lpstr>
      <vt:lpstr>Capital structuring examples</vt:lpstr>
      <vt:lpstr>MAIN financial goal explanation</vt:lpstr>
      <vt:lpstr>Example of share price changes</vt:lpstr>
      <vt:lpstr>Example of share price changes (cont.)</vt:lpstr>
      <vt:lpstr>Example – SG pg. 14</vt:lpstr>
      <vt:lpstr>Example (cont.) – SG pg. 14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Finance</dc:title>
  <dc:creator>Susan Cook</dc:creator>
  <cp:lastModifiedBy>Reviewer</cp:lastModifiedBy>
  <cp:revision>356</cp:revision>
  <cp:lastPrinted>2022-02-09T10:40:55Z</cp:lastPrinted>
  <dcterms:created xsi:type="dcterms:W3CDTF">2010-03-21T13:43:06Z</dcterms:created>
  <dcterms:modified xsi:type="dcterms:W3CDTF">2026-02-09T10:04:38Z</dcterms:modified>
</cp:coreProperties>
</file>