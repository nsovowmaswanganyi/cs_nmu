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3">
  <p:sldMasterIdLst>
    <p:sldMasterId id="2147483648" r:id="rId1"/>
    <p:sldMasterId id="2147483664" r:id="rId2"/>
  </p:sldMasterIdLst>
  <p:notesMasterIdLst>
    <p:notesMasterId r:id="rId36"/>
  </p:notesMasterIdLst>
  <p:handoutMasterIdLst>
    <p:handoutMasterId r:id="rId37"/>
  </p:handoutMasterIdLst>
  <p:sldIdLst>
    <p:sldId id="283" r:id="rId3"/>
    <p:sldId id="291" r:id="rId4"/>
    <p:sldId id="410" r:id="rId5"/>
    <p:sldId id="424" r:id="rId6"/>
    <p:sldId id="425" r:id="rId7"/>
    <p:sldId id="426" r:id="rId8"/>
    <p:sldId id="420" r:id="rId9"/>
    <p:sldId id="427" r:id="rId10"/>
    <p:sldId id="444" r:id="rId11"/>
    <p:sldId id="411" r:id="rId12"/>
    <p:sldId id="428" r:id="rId13"/>
    <p:sldId id="412" r:id="rId14"/>
    <p:sldId id="438" r:id="rId15"/>
    <p:sldId id="421" r:id="rId16"/>
    <p:sldId id="429" r:id="rId17"/>
    <p:sldId id="430" r:id="rId18"/>
    <p:sldId id="433" r:id="rId19"/>
    <p:sldId id="431" r:id="rId20"/>
    <p:sldId id="435" r:id="rId21"/>
    <p:sldId id="434" r:id="rId22"/>
    <p:sldId id="422" r:id="rId23"/>
    <p:sldId id="436" r:id="rId24"/>
    <p:sldId id="432" r:id="rId25"/>
    <p:sldId id="437" r:id="rId26"/>
    <p:sldId id="423" r:id="rId27"/>
    <p:sldId id="439" r:id="rId28"/>
    <p:sldId id="440" r:id="rId29"/>
    <p:sldId id="441" r:id="rId30"/>
    <p:sldId id="442" r:id="rId31"/>
    <p:sldId id="395" r:id="rId32"/>
    <p:sldId id="443" r:id="rId33"/>
    <p:sldId id="417" r:id="rId34"/>
    <p:sldId id="335" r:id="rId35"/>
  </p:sldIdLst>
  <p:sldSz cx="9144000" cy="6858000" type="screen4x3"/>
  <p:notesSz cx="6858000" cy="9945688"/>
  <p:custDataLst>
    <p:tags r:id="rId3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990000"/>
    <a:srgbClr val="3BFF9D"/>
    <a:srgbClr val="FFFFCC"/>
    <a:srgbClr val="FFFF66"/>
    <a:srgbClr val="D63A17"/>
    <a:srgbClr val="ADB3BF"/>
    <a:srgbClr val="D69249"/>
    <a:srgbClr val="FDF1BB"/>
    <a:srgbClr val="FDF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18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tson, Storm (Dr) (Summerstrand Campus South)" userId="cdfaa8e9-29c2-42c0-844a-5081fd85b327" providerId="ADAL" clId="{EA8C8543-A3AE-4A88-B487-92EEA967B9E6}"/>
    <pc:docChg chg="custSel modSld">
      <pc:chgData name="Watson, Storm (Dr) (Summerstrand Campus South)" userId="cdfaa8e9-29c2-42c0-844a-5081fd85b327" providerId="ADAL" clId="{EA8C8543-A3AE-4A88-B487-92EEA967B9E6}" dt="2026-02-20T07:15:34.319" v="8" actId="113"/>
      <pc:docMkLst>
        <pc:docMk/>
      </pc:docMkLst>
      <pc:sldChg chg="addSp delSp modSp mod">
        <pc:chgData name="Watson, Storm (Dr) (Summerstrand Campus South)" userId="cdfaa8e9-29c2-42c0-844a-5081fd85b327" providerId="ADAL" clId="{EA8C8543-A3AE-4A88-B487-92EEA967B9E6}" dt="2026-02-20T07:04:52.940" v="5" actId="1076"/>
        <pc:sldMkLst>
          <pc:docMk/>
          <pc:sldMk cId="1067134094" sldId="283"/>
        </pc:sldMkLst>
        <pc:spChg chg="mod">
          <ac:chgData name="Watson, Storm (Dr) (Summerstrand Campus South)" userId="cdfaa8e9-29c2-42c0-844a-5081fd85b327" providerId="ADAL" clId="{EA8C8543-A3AE-4A88-B487-92EEA967B9E6}" dt="2026-02-20T07:02:44.890" v="0"/>
          <ac:spMkLst>
            <pc:docMk/>
            <pc:sldMk cId="1067134094" sldId="283"/>
            <ac:spMk id="4101" creationId="{00000000-0000-0000-0000-000000000000}"/>
          </ac:spMkLst>
        </pc:spChg>
        <pc:picChg chg="del">
          <ac:chgData name="Watson, Storm (Dr) (Summerstrand Campus South)" userId="cdfaa8e9-29c2-42c0-844a-5081fd85b327" providerId="ADAL" clId="{EA8C8543-A3AE-4A88-B487-92EEA967B9E6}" dt="2026-02-20T07:02:46.247" v="1" actId="478"/>
          <ac:picMkLst>
            <pc:docMk/>
            <pc:sldMk cId="1067134094" sldId="283"/>
            <ac:picMk id="3" creationId="{353715B2-1353-C7BF-AA5D-7CF7B3030AFF}"/>
          </ac:picMkLst>
        </pc:picChg>
        <pc:picChg chg="add mod">
          <ac:chgData name="Watson, Storm (Dr) (Summerstrand Campus South)" userId="cdfaa8e9-29c2-42c0-844a-5081fd85b327" providerId="ADAL" clId="{EA8C8543-A3AE-4A88-B487-92EEA967B9E6}" dt="2026-02-20T07:04:52.940" v="5" actId="1076"/>
          <ac:picMkLst>
            <pc:docMk/>
            <pc:sldMk cId="1067134094" sldId="283"/>
            <ac:picMk id="5" creationId="{E2A4E4EF-FFD6-8B03-417B-EA15D63F6FF3}"/>
          </ac:picMkLst>
        </pc:picChg>
      </pc:sldChg>
      <pc:sldChg chg="modSp mod">
        <pc:chgData name="Watson, Storm (Dr) (Summerstrand Campus South)" userId="cdfaa8e9-29c2-42c0-844a-5081fd85b327" providerId="ADAL" clId="{EA8C8543-A3AE-4A88-B487-92EEA967B9E6}" dt="2026-02-20T07:15:34.319" v="8" actId="113"/>
        <pc:sldMkLst>
          <pc:docMk/>
          <pc:sldMk cId="3964624409" sldId="335"/>
        </pc:sldMkLst>
        <pc:spChg chg="mod">
          <ac:chgData name="Watson, Storm (Dr) (Summerstrand Campus South)" userId="cdfaa8e9-29c2-42c0-844a-5081fd85b327" providerId="ADAL" clId="{EA8C8543-A3AE-4A88-B487-92EEA967B9E6}" dt="2026-02-20T07:15:34.319" v="8" actId="113"/>
          <ac:spMkLst>
            <pc:docMk/>
            <pc:sldMk cId="3964624409" sldId="335"/>
            <ac:spMk id="19" creationId="{00000000-0000-0000-0000-000000000000}"/>
          </ac:spMkLst>
        </pc:spChg>
      </pc:sldChg>
    </pc:docChg>
  </pc:docChgLst>
  <pc:docChgLst>
    <pc:chgData name="Watson, Storm (Dr) (Summerstrand Campus South)" userId="cdfaa8e9-29c2-42c0-844a-5081fd85b327" providerId="ADAL" clId="{1F44F230-43D4-414B-BCDA-3EC5ADE62047}"/>
    <pc:docChg chg="undo custSel modSld">
      <pc:chgData name="Watson, Storm (Dr) (Summerstrand Campus South)" userId="cdfaa8e9-29c2-42c0-844a-5081fd85b327" providerId="ADAL" clId="{1F44F230-43D4-414B-BCDA-3EC5ADE62047}" dt="2026-02-20T07:18:39.407" v="14" actId="478"/>
      <pc:docMkLst>
        <pc:docMk/>
      </pc:docMkLst>
      <pc:sldChg chg="delSp mod">
        <pc:chgData name="Watson, Storm (Dr) (Summerstrand Campus South)" userId="cdfaa8e9-29c2-42c0-844a-5081fd85b327" providerId="ADAL" clId="{1F44F230-43D4-414B-BCDA-3EC5ADE62047}" dt="2026-02-20T07:17:58.293" v="1" actId="478"/>
        <pc:sldMkLst>
          <pc:docMk/>
          <pc:sldMk cId="1067134094" sldId="283"/>
        </pc:sldMkLst>
        <pc:picChg chg="del">
          <ac:chgData name="Watson, Storm (Dr) (Summerstrand Campus South)" userId="cdfaa8e9-29c2-42c0-844a-5081fd85b327" providerId="ADAL" clId="{1F44F230-43D4-414B-BCDA-3EC5ADE62047}" dt="2026-02-20T07:17:57.775" v="0" actId="478"/>
          <ac:picMkLst>
            <pc:docMk/>
            <pc:sldMk cId="1067134094" sldId="283"/>
            <ac:picMk id="4" creationId="{1022AE71-D7C8-51D0-8077-1B394481F51D}"/>
          </ac:picMkLst>
        </pc:picChg>
        <pc:picChg chg="del">
          <ac:chgData name="Watson, Storm (Dr) (Summerstrand Campus South)" userId="cdfaa8e9-29c2-42c0-844a-5081fd85b327" providerId="ADAL" clId="{1F44F230-43D4-414B-BCDA-3EC5ADE62047}" dt="2026-02-20T07:17:58.293" v="1" actId="478"/>
          <ac:picMkLst>
            <pc:docMk/>
            <pc:sldMk cId="1067134094" sldId="283"/>
            <ac:picMk id="5" creationId="{E2A4E4EF-FFD6-8B03-417B-EA15D63F6FF3}"/>
          </ac:picMkLst>
        </pc:picChg>
      </pc:sldChg>
      <pc:sldChg chg="delSp modSp mod">
        <pc:chgData name="Watson, Storm (Dr) (Summerstrand Campus South)" userId="cdfaa8e9-29c2-42c0-844a-5081fd85b327" providerId="ADAL" clId="{1F44F230-43D4-414B-BCDA-3EC5ADE62047}" dt="2026-02-20T07:18:39.407" v="14" actId="478"/>
        <pc:sldMkLst>
          <pc:docMk/>
          <pc:sldMk cId="3083370387" sldId="395"/>
        </pc:sldMkLst>
        <pc:spChg chg="del">
          <ac:chgData name="Watson, Storm (Dr) (Summerstrand Campus South)" userId="cdfaa8e9-29c2-42c0-844a-5081fd85b327" providerId="ADAL" clId="{1F44F230-43D4-414B-BCDA-3EC5ADE62047}" dt="2026-02-20T07:18:35.961" v="11" actId="478"/>
          <ac:spMkLst>
            <pc:docMk/>
            <pc:sldMk cId="3083370387" sldId="395"/>
            <ac:spMk id="2" creationId="{84B80BAE-8096-621B-CC7B-D8453611C0D6}"/>
          </ac:spMkLst>
        </pc:spChg>
        <pc:spChg chg="del mod">
          <ac:chgData name="Watson, Storm (Dr) (Summerstrand Campus South)" userId="cdfaa8e9-29c2-42c0-844a-5081fd85b327" providerId="ADAL" clId="{1F44F230-43D4-414B-BCDA-3EC5ADE62047}" dt="2026-02-20T07:18:37.896" v="13" actId="478"/>
          <ac:spMkLst>
            <pc:docMk/>
            <pc:sldMk cId="3083370387" sldId="395"/>
            <ac:spMk id="4" creationId="{556CB1BF-FBCC-B113-DF31-DFF9AAA19BB5}"/>
          </ac:spMkLst>
        </pc:spChg>
        <pc:spChg chg="del">
          <ac:chgData name="Watson, Storm (Dr) (Summerstrand Campus South)" userId="cdfaa8e9-29c2-42c0-844a-5081fd85b327" providerId="ADAL" clId="{1F44F230-43D4-414B-BCDA-3EC5ADE62047}" dt="2026-02-20T07:18:39.407" v="14" actId="478"/>
          <ac:spMkLst>
            <pc:docMk/>
            <pc:sldMk cId="3083370387" sldId="395"/>
            <ac:spMk id="5" creationId="{5A222644-62C0-B049-21FB-35BD5FEB3F5E}"/>
          </ac:spMkLst>
        </pc:spChg>
      </pc:sldChg>
      <pc:sldChg chg="addSp delSp mod">
        <pc:chgData name="Watson, Storm (Dr) (Summerstrand Campus South)" userId="cdfaa8e9-29c2-42c0-844a-5081fd85b327" providerId="ADAL" clId="{1F44F230-43D4-414B-BCDA-3EC5ADE62047}" dt="2026-02-20T07:18:20.132" v="8" actId="478"/>
        <pc:sldMkLst>
          <pc:docMk/>
          <pc:sldMk cId="2584958873" sldId="421"/>
        </pc:sldMkLst>
        <pc:spChg chg="add del">
          <ac:chgData name="Watson, Storm (Dr) (Summerstrand Campus South)" userId="cdfaa8e9-29c2-42c0-844a-5081fd85b327" providerId="ADAL" clId="{1F44F230-43D4-414B-BCDA-3EC5ADE62047}" dt="2026-02-20T07:18:20.132" v="8" actId="478"/>
          <ac:spMkLst>
            <pc:docMk/>
            <pc:sldMk cId="2584958873" sldId="421"/>
            <ac:spMk id="9" creationId="{B964FE72-2B43-DDC2-8560-D18168833ABA}"/>
          </ac:spMkLst>
        </pc:spChg>
        <pc:picChg chg="del">
          <ac:chgData name="Watson, Storm (Dr) (Summerstrand Campus South)" userId="cdfaa8e9-29c2-42c0-844a-5081fd85b327" providerId="ADAL" clId="{1F44F230-43D4-414B-BCDA-3EC5ADE62047}" dt="2026-02-20T07:18:16.860" v="6" actId="478"/>
          <ac:picMkLst>
            <pc:docMk/>
            <pc:sldMk cId="2584958873" sldId="421"/>
            <ac:picMk id="7" creationId="{94B34193-60EE-9A23-2871-F81461852AA6}"/>
          </ac:picMkLst>
        </pc:picChg>
      </pc:sldChg>
      <pc:sldChg chg="delSp mod">
        <pc:chgData name="Watson, Storm (Dr) (Summerstrand Campus South)" userId="cdfaa8e9-29c2-42c0-844a-5081fd85b327" providerId="ADAL" clId="{1F44F230-43D4-414B-BCDA-3EC5ADE62047}" dt="2026-02-20T07:18:28.587" v="9" actId="478"/>
        <pc:sldMkLst>
          <pc:docMk/>
          <pc:sldMk cId="1182425230" sldId="422"/>
        </pc:sldMkLst>
        <pc:picChg chg="del">
          <ac:chgData name="Watson, Storm (Dr) (Summerstrand Campus South)" userId="cdfaa8e9-29c2-42c0-844a-5081fd85b327" providerId="ADAL" clId="{1F44F230-43D4-414B-BCDA-3EC5ADE62047}" dt="2026-02-20T07:18:28.587" v="9" actId="478"/>
          <ac:picMkLst>
            <pc:docMk/>
            <pc:sldMk cId="1182425230" sldId="422"/>
            <ac:picMk id="4" creationId="{1E5A1CB6-16B0-89C5-E83F-F1A208B2570E}"/>
          </ac:picMkLst>
        </pc:picChg>
      </pc:sldChg>
      <pc:sldChg chg="delSp mod">
        <pc:chgData name="Watson, Storm (Dr) (Summerstrand Campus South)" userId="cdfaa8e9-29c2-42c0-844a-5081fd85b327" providerId="ADAL" clId="{1F44F230-43D4-414B-BCDA-3EC5ADE62047}" dt="2026-02-20T07:18:31.326" v="10" actId="478"/>
        <pc:sldMkLst>
          <pc:docMk/>
          <pc:sldMk cId="3641339572" sldId="423"/>
        </pc:sldMkLst>
        <pc:picChg chg="del">
          <ac:chgData name="Watson, Storm (Dr) (Summerstrand Campus South)" userId="cdfaa8e9-29c2-42c0-844a-5081fd85b327" providerId="ADAL" clId="{1F44F230-43D4-414B-BCDA-3EC5ADE62047}" dt="2026-02-20T07:18:31.326" v="10" actId="478"/>
          <ac:picMkLst>
            <pc:docMk/>
            <pc:sldMk cId="3641339572" sldId="423"/>
            <ac:picMk id="6" creationId="{4A0172D3-459D-29C7-94CF-E1C4FD09BA0F}"/>
          </ac:picMkLst>
        </pc:picChg>
      </pc:sldChg>
      <pc:sldChg chg="delSp mod">
        <pc:chgData name="Watson, Storm (Dr) (Summerstrand Campus South)" userId="cdfaa8e9-29c2-42c0-844a-5081fd85b327" providerId="ADAL" clId="{1F44F230-43D4-414B-BCDA-3EC5ADE62047}" dt="2026-02-20T07:18:01.214" v="2" actId="478"/>
        <pc:sldMkLst>
          <pc:docMk/>
          <pc:sldMk cId="362833282" sldId="426"/>
        </pc:sldMkLst>
        <pc:picChg chg="del">
          <ac:chgData name="Watson, Storm (Dr) (Summerstrand Campus South)" userId="cdfaa8e9-29c2-42c0-844a-5081fd85b327" providerId="ADAL" clId="{1F44F230-43D4-414B-BCDA-3EC5ADE62047}" dt="2026-02-20T07:18:01.214" v="2" actId="478"/>
          <ac:picMkLst>
            <pc:docMk/>
            <pc:sldMk cId="362833282" sldId="426"/>
            <ac:picMk id="2" creationId="{E68D620A-22E5-D349-489D-466571C01444}"/>
          </ac:picMkLst>
        </pc:picChg>
      </pc:sldChg>
      <pc:sldChg chg="delSp mod">
        <pc:chgData name="Watson, Storm (Dr) (Summerstrand Campus South)" userId="cdfaa8e9-29c2-42c0-844a-5081fd85b327" providerId="ADAL" clId="{1F44F230-43D4-414B-BCDA-3EC5ADE62047}" dt="2026-02-20T07:18:10.387" v="5" actId="478"/>
        <pc:sldMkLst>
          <pc:docMk/>
          <pc:sldMk cId="1714353144" sldId="428"/>
        </pc:sldMkLst>
        <pc:picChg chg="del">
          <ac:chgData name="Watson, Storm (Dr) (Summerstrand Campus South)" userId="cdfaa8e9-29c2-42c0-844a-5081fd85b327" providerId="ADAL" clId="{1F44F230-43D4-414B-BCDA-3EC5ADE62047}" dt="2026-02-20T07:18:10.387" v="5" actId="478"/>
          <ac:picMkLst>
            <pc:docMk/>
            <pc:sldMk cId="1714353144" sldId="428"/>
            <ac:picMk id="2" creationId="{7409C619-53CE-DBC8-B38D-4E6A67F111B7}"/>
          </ac:picMkLst>
        </pc:picChg>
      </pc:sldChg>
      <pc:sldChg chg="delSp mod">
        <pc:chgData name="Watson, Storm (Dr) (Summerstrand Campus South)" userId="cdfaa8e9-29c2-42c0-844a-5081fd85b327" providerId="ADAL" clId="{1F44F230-43D4-414B-BCDA-3EC5ADE62047}" dt="2026-02-20T07:18:05.233" v="4" actId="478"/>
        <pc:sldMkLst>
          <pc:docMk/>
          <pc:sldMk cId="3506789906" sldId="444"/>
        </pc:sldMkLst>
        <pc:picChg chg="del">
          <ac:chgData name="Watson, Storm (Dr) (Summerstrand Campus South)" userId="cdfaa8e9-29c2-42c0-844a-5081fd85b327" providerId="ADAL" clId="{1F44F230-43D4-414B-BCDA-3EC5ADE62047}" dt="2026-02-20T07:18:04.722" v="3" actId="478"/>
          <ac:picMkLst>
            <pc:docMk/>
            <pc:sldMk cId="3506789906" sldId="444"/>
            <ac:picMk id="9" creationId="{3571CF9C-92CD-C4D9-7A3F-332209AEB574}"/>
          </ac:picMkLst>
        </pc:picChg>
        <pc:picChg chg="del">
          <ac:chgData name="Watson, Storm (Dr) (Summerstrand Campus South)" userId="cdfaa8e9-29c2-42c0-844a-5081fd85b327" providerId="ADAL" clId="{1F44F230-43D4-414B-BCDA-3EC5ADE62047}" dt="2026-02-20T07:18:05.233" v="4" actId="478"/>
          <ac:picMkLst>
            <pc:docMk/>
            <pc:sldMk cId="3506789906" sldId="444"/>
            <ac:picMk id="13" creationId="{A91FBBF8-62A7-E487-1D51-081291D2EB1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D136D7-DB07-4757-9F25-8247C75F9BF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5562CAE0-E34A-45E1-B8BD-2FB2B9E442ED}">
      <dgm:prSet phldrT="[Text]" custT="1"/>
      <dgm:spPr/>
      <dgm:t>
        <a:bodyPr/>
        <a:lstStyle/>
        <a:p>
          <a:r>
            <a:rPr lang="en-US" sz="2000" dirty="0"/>
            <a:t>Total risk</a:t>
          </a:r>
          <a:endParaRPr lang="en-ZA" sz="2000" dirty="0"/>
        </a:p>
      </dgm:t>
    </dgm:pt>
    <dgm:pt modelId="{E561092D-D923-43FA-9157-B0FE1EED2315}" type="parTrans" cxnId="{5DD721FF-194C-46B2-A750-F9837839A5B5}">
      <dgm:prSet/>
      <dgm:spPr/>
      <dgm:t>
        <a:bodyPr/>
        <a:lstStyle/>
        <a:p>
          <a:endParaRPr lang="en-ZA" sz="2000"/>
        </a:p>
      </dgm:t>
    </dgm:pt>
    <dgm:pt modelId="{FE9AE0CA-D0C2-42D2-8E23-6CA16E3324AA}" type="sibTrans" cxnId="{5DD721FF-194C-46B2-A750-F9837839A5B5}">
      <dgm:prSet/>
      <dgm:spPr/>
      <dgm:t>
        <a:bodyPr/>
        <a:lstStyle/>
        <a:p>
          <a:endParaRPr lang="en-ZA" sz="2000"/>
        </a:p>
      </dgm:t>
    </dgm:pt>
    <dgm:pt modelId="{46A6B2CA-03DC-4A8B-B14E-BC3364780323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2000" dirty="0"/>
            <a:t>Diversifiable risk</a:t>
          </a:r>
          <a:endParaRPr lang="en-ZA" sz="2000" dirty="0"/>
        </a:p>
      </dgm:t>
    </dgm:pt>
    <dgm:pt modelId="{F9991678-D215-48E7-9BE9-844A8158C3D4}" type="parTrans" cxnId="{1567F91F-958E-487D-ABB1-1FB52465EEF5}">
      <dgm:prSet/>
      <dgm:spPr/>
      <dgm:t>
        <a:bodyPr/>
        <a:lstStyle/>
        <a:p>
          <a:endParaRPr lang="en-ZA" sz="2000"/>
        </a:p>
      </dgm:t>
    </dgm:pt>
    <dgm:pt modelId="{9B3F568F-FB5E-4CA1-9F99-5D0FFB8716D5}" type="sibTrans" cxnId="{1567F91F-958E-487D-ABB1-1FB52465EEF5}">
      <dgm:prSet/>
      <dgm:spPr/>
      <dgm:t>
        <a:bodyPr/>
        <a:lstStyle/>
        <a:p>
          <a:endParaRPr lang="en-ZA" sz="2000"/>
        </a:p>
      </dgm:t>
    </dgm:pt>
    <dgm:pt modelId="{49A3B2DF-EA30-4CA8-B352-E0FA7815C918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000" dirty="0"/>
            <a:t>Non-diversifiable risk</a:t>
          </a:r>
          <a:endParaRPr lang="en-ZA" sz="2000" dirty="0"/>
        </a:p>
      </dgm:t>
    </dgm:pt>
    <dgm:pt modelId="{86D8C756-76DA-4366-8935-1A04F74CF842}" type="parTrans" cxnId="{BE0FEB50-CAD1-4D56-AAC5-AEC9788B5F35}">
      <dgm:prSet/>
      <dgm:spPr/>
      <dgm:t>
        <a:bodyPr/>
        <a:lstStyle/>
        <a:p>
          <a:endParaRPr lang="en-ZA" sz="2000"/>
        </a:p>
      </dgm:t>
    </dgm:pt>
    <dgm:pt modelId="{DD27B223-4B8B-4B92-A99B-4EF1D258DDF8}" type="sibTrans" cxnId="{BE0FEB50-CAD1-4D56-AAC5-AEC9788B5F35}">
      <dgm:prSet/>
      <dgm:spPr/>
      <dgm:t>
        <a:bodyPr/>
        <a:lstStyle/>
        <a:p>
          <a:endParaRPr lang="en-ZA" sz="2000"/>
        </a:p>
      </dgm:t>
    </dgm:pt>
    <dgm:pt modelId="{CB1FABDA-56F6-4550-9CD8-7CB9CA603E82}">
      <dgm:prSet custT="1"/>
      <dgm:spPr>
        <a:solidFill>
          <a:srgbClr val="00B0F0"/>
        </a:solidFill>
      </dgm:spPr>
      <dgm:t>
        <a:bodyPr/>
        <a:lstStyle/>
        <a:p>
          <a:r>
            <a:rPr lang="en-US" sz="2000" dirty="0"/>
            <a:t>Company specific risk</a:t>
          </a:r>
          <a:endParaRPr lang="en-ZA" sz="2000" dirty="0"/>
        </a:p>
      </dgm:t>
    </dgm:pt>
    <dgm:pt modelId="{E28CC3E5-473B-44C1-B32F-53FAB9572D1C}" type="parTrans" cxnId="{C450BA67-C1D8-4215-9229-88F3A3C8A872}">
      <dgm:prSet/>
      <dgm:spPr/>
      <dgm:t>
        <a:bodyPr/>
        <a:lstStyle/>
        <a:p>
          <a:endParaRPr lang="en-ZA" sz="2000"/>
        </a:p>
      </dgm:t>
    </dgm:pt>
    <dgm:pt modelId="{AE70AC90-264D-4AF7-A8F4-5C24BDAD864B}" type="sibTrans" cxnId="{C450BA67-C1D8-4215-9229-88F3A3C8A872}">
      <dgm:prSet/>
      <dgm:spPr/>
      <dgm:t>
        <a:bodyPr/>
        <a:lstStyle/>
        <a:p>
          <a:endParaRPr lang="en-ZA" sz="2000"/>
        </a:p>
      </dgm:t>
    </dgm:pt>
    <dgm:pt modelId="{66C8E8C7-887F-42C9-8C38-106E6CF97864}">
      <dgm:prSet custT="1"/>
      <dgm:spPr>
        <a:solidFill>
          <a:srgbClr val="00B0F0"/>
        </a:solidFill>
      </dgm:spPr>
      <dgm:t>
        <a:bodyPr/>
        <a:lstStyle/>
        <a:p>
          <a:r>
            <a:rPr lang="en-US" sz="2000" dirty="0"/>
            <a:t>Unsystematic risk</a:t>
          </a:r>
          <a:endParaRPr lang="en-ZA" sz="2000" dirty="0"/>
        </a:p>
      </dgm:t>
    </dgm:pt>
    <dgm:pt modelId="{A29F0DE7-420E-4E4A-817F-9019E9A55672}" type="parTrans" cxnId="{D9AFC9D2-4285-4B6A-8ECB-B72DE510EE1E}">
      <dgm:prSet/>
      <dgm:spPr/>
      <dgm:t>
        <a:bodyPr/>
        <a:lstStyle/>
        <a:p>
          <a:endParaRPr lang="en-ZA" sz="2000"/>
        </a:p>
      </dgm:t>
    </dgm:pt>
    <dgm:pt modelId="{B6DDEE5B-C412-4D61-985A-4146F162733A}" type="sibTrans" cxnId="{D9AFC9D2-4285-4B6A-8ECB-B72DE510EE1E}">
      <dgm:prSet/>
      <dgm:spPr/>
      <dgm:t>
        <a:bodyPr/>
        <a:lstStyle/>
        <a:p>
          <a:endParaRPr lang="en-ZA" sz="2000"/>
        </a:p>
      </dgm:t>
    </dgm:pt>
    <dgm:pt modelId="{5AC5D31A-3E1B-41F4-B281-F5064381FC79}">
      <dgm:prSet custT="1"/>
      <dgm:spPr>
        <a:solidFill>
          <a:srgbClr val="00B050"/>
        </a:solidFill>
      </dgm:spPr>
      <dgm:t>
        <a:bodyPr/>
        <a:lstStyle/>
        <a:p>
          <a:r>
            <a:rPr lang="en-US" sz="2000" dirty="0"/>
            <a:t>Market risk</a:t>
          </a:r>
          <a:endParaRPr lang="en-ZA" sz="2000" dirty="0"/>
        </a:p>
      </dgm:t>
    </dgm:pt>
    <dgm:pt modelId="{72CFEFBC-8152-4A4E-8DC0-570640B0C927}" type="parTrans" cxnId="{68763480-93A9-4912-ADF6-5EB7058F3D53}">
      <dgm:prSet/>
      <dgm:spPr/>
      <dgm:t>
        <a:bodyPr/>
        <a:lstStyle/>
        <a:p>
          <a:endParaRPr lang="en-ZA" sz="2000"/>
        </a:p>
      </dgm:t>
    </dgm:pt>
    <dgm:pt modelId="{15018275-2B01-4567-879E-6DA6A216F2BC}" type="sibTrans" cxnId="{68763480-93A9-4912-ADF6-5EB7058F3D53}">
      <dgm:prSet/>
      <dgm:spPr/>
      <dgm:t>
        <a:bodyPr/>
        <a:lstStyle/>
        <a:p>
          <a:endParaRPr lang="en-ZA" sz="2000"/>
        </a:p>
      </dgm:t>
    </dgm:pt>
    <dgm:pt modelId="{05F44C33-1CFB-42F9-88D8-B47F2D880EF3}">
      <dgm:prSet custT="1"/>
      <dgm:spPr>
        <a:solidFill>
          <a:srgbClr val="00B050"/>
        </a:solidFill>
      </dgm:spPr>
      <dgm:t>
        <a:bodyPr/>
        <a:lstStyle/>
        <a:p>
          <a:r>
            <a:rPr lang="en-US" sz="2000" dirty="0"/>
            <a:t>Systematic risk</a:t>
          </a:r>
          <a:endParaRPr lang="en-ZA" sz="2000" dirty="0"/>
        </a:p>
      </dgm:t>
    </dgm:pt>
    <dgm:pt modelId="{5034D667-C0ED-46C6-B2D9-310037D03F4A}" type="parTrans" cxnId="{CE0CF100-CE63-4369-98BA-B7EB74E707F0}">
      <dgm:prSet/>
      <dgm:spPr/>
      <dgm:t>
        <a:bodyPr/>
        <a:lstStyle/>
        <a:p>
          <a:endParaRPr lang="en-ZA" sz="2000"/>
        </a:p>
      </dgm:t>
    </dgm:pt>
    <dgm:pt modelId="{76826D67-C8EC-4B98-BBF7-72FFB953424A}" type="sibTrans" cxnId="{CE0CF100-CE63-4369-98BA-B7EB74E707F0}">
      <dgm:prSet/>
      <dgm:spPr/>
      <dgm:t>
        <a:bodyPr/>
        <a:lstStyle/>
        <a:p>
          <a:endParaRPr lang="en-ZA" sz="2000"/>
        </a:p>
      </dgm:t>
    </dgm:pt>
    <dgm:pt modelId="{313156F0-3A9F-49BA-BAFF-3A3B0258C746}" type="asst">
      <dgm:prSet custT="1"/>
      <dgm:spPr>
        <a:solidFill>
          <a:srgbClr val="00B0F0"/>
        </a:solidFill>
      </dgm:spPr>
      <dgm:t>
        <a:bodyPr/>
        <a:lstStyle/>
        <a:p>
          <a:r>
            <a:rPr lang="en-US" sz="2000" dirty="0"/>
            <a:t>No reward</a:t>
          </a:r>
          <a:endParaRPr lang="en-ZA" sz="2000" dirty="0"/>
        </a:p>
      </dgm:t>
    </dgm:pt>
    <dgm:pt modelId="{E77AD9B9-56ED-4F5F-9FAE-A3DE033A48ED}" type="parTrans" cxnId="{33CA61C1-9790-45F7-8C01-6CB2502F6B84}">
      <dgm:prSet/>
      <dgm:spPr/>
      <dgm:t>
        <a:bodyPr/>
        <a:lstStyle/>
        <a:p>
          <a:endParaRPr lang="en-ZA" sz="2000"/>
        </a:p>
      </dgm:t>
    </dgm:pt>
    <dgm:pt modelId="{E389695E-EDA8-4C2F-A54D-B12F13E788E0}" type="sibTrans" cxnId="{33CA61C1-9790-45F7-8C01-6CB2502F6B84}">
      <dgm:prSet/>
      <dgm:spPr/>
      <dgm:t>
        <a:bodyPr/>
        <a:lstStyle/>
        <a:p>
          <a:endParaRPr lang="en-ZA" sz="2000"/>
        </a:p>
      </dgm:t>
    </dgm:pt>
    <dgm:pt modelId="{05DFAF3E-B858-46A7-8BD2-2212857DF0CA}" type="asst">
      <dgm:prSet custT="1"/>
      <dgm:spPr>
        <a:solidFill>
          <a:srgbClr val="00B050"/>
        </a:solidFill>
      </dgm:spPr>
      <dgm:t>
        <a:bodyPr/>
        <a:lstStyle/>
        <a:p>
          <a:r>
            <a:rPr lang="el-GR" sz="2000" dirty="0"/>
            <a:t>β</a:t>
          </a:r>
          <a:endParaRPr lang="en-ZA" sz="2000" dirty="0"/>
        </a:p>
      </dgm:t>
    </dgm:pt>
    <dgm:pt modelId="{23FCEB2C-CEA0-4E35-BBF1-95ECA22B760F}" type="parTrans" cxnId="{78639B97-3106-47A1-971E-24B025D5881D}">
      <dgm:prSet/>
      <dgm:spPr/>
      <dgm:t>
        <a:bodyPr/>
        <a:lstStyle/>
        <a:p>
          <a:endParaRPr lang="en-ZA" sz="2000"/>
        </a:p>
      </dgm:t>
    </dgm:pt>
    <dgm:pt modelId="{6CB4A7E3-C69F-4DAE-9C70-538E08759F22}" type="sibTrans" cxnId="{78639B97-3106-47A1-971E-24B025D5881D}">
      <dgm:prSet/>
      <dgm:spPr/>
      <dgm:t>
        <a:bodyPr/>
        <a:lstStyle/>
        <a:p>
          <a:endParaRPr lang="en-ZA" sz="2000"/>
        </a:p>
      </dgm:t>
    </dgm:pt>
    <dgm:pt modelId="{4314213D-525D-4FA2-94DB-B66D67BED9CC}" type="asst">
      <dgm:prSet custT="1"/>
      <dgm:spPr/>
      <dgm:t>
        <a:bodyPr/>
        <a:lstStyle/>
        <a:p>
          <a:r>
            <a:rPr lang="el-GR" sz="2000" dirty="0"/>
            <a:t>σ</a:t>
          </a:r>
          <a:endParaRPr lang="en-ZA" sz="2000" dirty="0"/>
        </a:p>
      </dgm:t>
    </dgm:pt>
    <dgm:pt modelId="{7E1251D3-77F8-44BC-A395-23A8B5234AD8}" type="parTrans" cxnId="{67E07318-4BD9-4FA6-9264-E8C448E1A50B}">
      <dgm:prSet/>
      <dgm:spPr/>
      <dgm:t>
        <a:bodyPr/>
        <a:lstStyle/>
        <a:p>
          <a:endParaRPr lang="en-ZA" sz="2000"/>
        </a:p>
      </dgm:t>
    </dgm:pt>
    <dgm:pt modelId="{C06C32B7-BD5F-4A0D-8F37-DCB63A97005F}" type="sibTrans" cxnId="{67E07318-4BD9-4FA6-9264-E8C448E1A50B}">
      <dgm:prSet/>
      <dgm:spPr/>
      <dgm:t>
        <a:bodyPr/>
        <a:lstStyle/>
        <a:p>
          <a:endParaRPr lang="en-ZA" sz="2000"/>
        </a:p>
      </dgm:t>
    </dgm:pt>
    <dgm:pt modelId="{30B883FD-A05F-41C0-A738-6571F06C769B}" type="pres">
      <dgm:prSet presAssocID="{B4D136D7-DB07-4757-9F25-8247C75F9B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A24151E-4351-43A0-853A-9E567F576160}" type="pres">
      <dgm:prSet presAssocID="{5562CAE0-E34A-45E1-B8BD-2FB2B9E442ED}" presName="hierRoot1" presStyleCnt="0">
        <dgm:presLayoutVars>
          <dgm:hierBranch val="init"/>
        </dgm:presLayoutVars>
      </dgm:prSet>
      <dgm:spPr/>
    </dgm:pt>
    <dgm:pt modelId="{2D49EE50-F94E-4E4A-AB46-DEABAA207AA7}" type="pres">
      <dgm:prSet presAssocID="{5562CAE0-E34A-45E1-B8BD-2FB2B9E442ED}" presName="rootComposite1" presStyleCnt="0"/>
      <dgm:spPr/>
    </dgm:pt>
    <dgm:pt modelId="{421873E5-3F19-4192-8495-9475194832F9}" type="pres">
      <dgm:prSet presAssocID="{5562CAE0-E34A-45E1-B8BD-2FB2B9E442ED}" presName="rootText1" presStyleLbl="node0" presStyleIdx="0" presStyleCnt="1">
        <dgm:presLayoutVars>
          <dgm:chPref val="3"/>
        </dgm:presLayoutVars>
      </dgm:prSet>
      <dgm:spPr/>
    </dgm:pt>
    <dgm:pt modelId="{8E4128A0-7AC8-4559-8D52-80AA0D4C59FB}" type="pres">
      <dgm:prSet presAssocID="{5562CAE0-E34A-45E1-B8BD-2FB2B9E442ED}" presName="rootConnector1" presStyleLbl="node1" presStyleIdx="0" presStyleCnt="0"/>
      <dgm:spPr/>
    </dgm:pt>
    <dgm:pt modelId="{7B5A1899-3CFF-4C86-A3F0-616C0EE8D6C6}" type="pres">
      <dgm:prSet presAssocID="{5562CAE0-E34A-45E1-B8BD-2FB2B9E442ED}" presName="hierChild2" presStyleCnt="0"/>
      <dgm:spPr/>
    </dgm:pt>
    <dgm:pt modelId="{D0C32285-9734-41E3-A53F-165D1F928993}" type="pres">
      <dgm:prSet presAssocID="{F9991678-D215-48E7-9BE9-844A8158C3D4}" presName="Name37" presStyleLbl="parChTrans1D2" presStyleIdx="0" presStyleCnt="3"/>
      <dgm:spPr/>
    </dgm:pt>
    <dgm:pt modelId="{F492D37E-0742-4C06-87EC-8C72CDD54BA8}" type="pres">
      <dgm:prSet presAssocID="{46A6B2CA-03DC-4A8B-B14E-BC3364780323}" presName="hierRoot2" presStyleCnt="0">
        <dgm:presLayoutVars>
          <dgm:hierBranch val="init"/>
        </dgm:presLayoutVars>
      </dgm:prSet>
      <dgm:spPr/>
    </dgm:pt>
    <dgm:pt modelId="{842D0EDC-354D-443F-91BB-4EC83DC03745}" type="pres">
      <dgm:prSet presAssocID="{46A6B2CA-03DC-4A8B-B14E-BC3364780323}" presName="rootComposite" presStyleCnt="0"/>
      <dgm:spPr/>
    </dgm:pt>
    <dgm:pt modelId="{688EA08F-59D0-498B-86B3-5FADE77BD316}" type="pres">
      <dgm:prSet presAssocID="{46A6B2CA-03DC-4A8B-B14E-BC3364780323}" presName="rootText" presStyleLbl="node2" presStyleIdx="0" presStyleCnt="2" custScaleX="147815" custLinFactNeighborX="-57060" custLinFactNeighborY="-9485">
        <dgm:presLayoutVars>
          <dgm:chPref val="3"/>
        </dgm:presLayoutVars>
      </dgm:prSet>
      <dgm:spPr/>
    </dgm:pt>
    <dgm:pt modelId="{0C8CC93E-54A3-4651-8AB6-4B338104A53A}" type="pres">
      <dgm:prSet presAssocID="{46A6B2CA-03DC-4A8B-B14E-BC3364780323}" presName="rootConnector" presStyleLbl="node2" presStyleIdx="0" presStyleCnt="2"/>
      <dgm:spPr/>
    </dgm:pt>
    <dgm:pt modelId="{00EE27F7-5812-4367-91DD-4D9B7785E3BB}" type="pres">
      <dgm:prSet presAssocID="{46A6B2CA-03DC-4A8B-B14E-BC3364780323}" presName="hierChild4" presStyleCnt="0"/>
      <dgm:spPr/>
    </dgm:pt>
    <dgm:pt modelId="{17D2387B-D062-48C8-9A6F-3CB3A2ECA4C4}" type="pres">
      <dgm:prSet presAssocID="{E28CC3E5-473B-44C1-B32F-53FAB9572D1C}" presName="Name37" presStyleLbl="parChTrans1D3" presStyleIdx="0" presStyleCnt="6"/>
      <dgm:spPr/>
    </dgm:pt>
    <dgm:pt modelId="{3A01074D-EEA9-4D3C-9577-569F2064B57A}" type="pres">
      <dgm:prSet presAssocID="{CB1FABDA-56F6-4550-9CD8-7CB9CA603E82}" presName="hierRoot2" presStyleCnt="0">
        <dgm:presLayoutVars>
          <dgm:hierBranch val="init"/>
        </dgm:presLayoutVars>
      </dgm:prSet>
      <dgm:spPr/>
    </dgm:pt>
    <dgm:pt modelId="{51E02069-E9D0-421C-937C-3D7AC4FE9F78}" type="pres">
      <dgm:prSet presAssocID="{CB1FABDA-56F6-4550-9CD8-7CB9CA603E82}" presName="rootComposite" presStyleCnt="0"/>
      <dgm:spPr/>
    </dgm:pt>
    <dgm:pt modelId="{D440D059-9367-4AA5-88AC-880DDBD4AC01}" type="pres">
      <dgm:prSet presAssocID="{CB1FABDA-56F6-4550-9CD8-7CB9CA603E82}" presName="rootText" presStyleLbl="node3" presStyleIdx="0" presStyleCnt="4" custScaleX="133800" custLinFactNeighborX="-52369" custLinFactNeighborY="-63970">
        <dgm:presLayoutVars>
          <dgm:chPref val="3"/>
        </dgm:presLayoutVars>
      </dgm:prSet>
      <dgm:spPr/>
    </dgm:pt>
    <dgm:pt modelId="{B3FDDEA8-4BA8-4CCA-9AD8-26B607CA916B}" type="pres">
      <dgm:prSet presAssocID="{CB1FABDA-56F6-4550-9CD8-7CB9CA603E82}" presName="rootConnector" presStyleLbl="node3" presStyleIdx="0" presStyleCnt="4"/>
      <dgm:spPr/>
    </dgm:pt>
    <dgm:pt modelId="{770705FC-2A4A-4B04-81BF-A0CD0AB1F7E8}" type="pres">
      <dgm:prSet presAssocID="{CB1FABDA-56F6-4550-9CD8-7CB9CA603E82}" presName="hierChild4" presStyleCnt="0"/>
      <dgm:spPr/>
    </dgm:pt>
    <dgm:pt modelId="{F04FFF81-90DA-400D-8374-20D65E60A09F}" type="pres">
      <dgm:prSet presAssocID="{CB1FABDA-56F6-4550-9CD8-7CB9CA603E82}" presName="hierChild5" presStyleCnt="0"/>
      <dgm:spPr/>
    </dgm:pt>
    <dgm:pt modelId="{FC4627D4-1D7F-4AFF-AC42-A4C0C5CB255E}" type="pres">
      <dgm:prSet presAssocID="{A29F0DE7-420E-4E4A-817F-9019E9A55672}" presName="Name37" presStyleLbl="parChTrans1D3" presStyleIdx="1" presStyleCnt="6"/>
      <dgm:spPr/>
    </dgm:pt>
    <dgm:pt modelId="{4CBEBD93-4B13-429D-A3BB-2563591F8BA0}" type="pres">
      <dgm:prSet presAssocID="{66C8E8C7-887F-42C9-8C38-106E6CF97864}" presName="hierRoot2" presStyleCnt="0">
        <dgm:presLayoutVars>
          <dgm:hierBranch val="init"/>
        </dgm:presLayoutVars>
      </dgm:prSet>
      <dgm:spPr/>
    </dgm:pt>
    <dgm:pt modelId="{B05FDE43-0E35-4D0F-8E4B-C19181BEC9E5}" type="pres">
      <dgm:prSet presAssocID="{66C8E8C7-887F-42C9-8C38-106E6CF97864}" presName="rootComposite" presStyleCnt="0"/>
      <dgm:spPr/>
    </dgm:pt>
    <dgm:pt modelId="{D8EDAEAA-7D75-4830-99BF-EDFEA9C5AFED}" type="pres">
      <dgm:prSet presAssocID="{66C8E8C7-887F-42C9-8C38-106E6CF97864}" presName="rootText" presStyleLbl="node3" presStyleIdx="1" presStyleCnt="4" custScaleX="128690" custLinFactNeighborX="-52369" custLinFactNeighborY="-52960">
        <dgm:presLayoutVars>
          <dgm:chPref val="3"/>
        </dgm:presLayoutVars>
      </dgm:prSet>
      <dgm:spPr/>
    </dgm:pt>
    <dgm:pt modelId="{CB3112F8-5870-4D8F-91A1-B5928159104B}" type="pres">
      <dgm:prSet presAssocID="{66C8E8C7-887F-42C9-8C38-106E6CF97864}" presName="rootConnector" presStyleLbl="node3" presStyleIdx="1" presStyleCnt="4"/>
      <dgm:spPr/>
    </dgm:pt>
    <dgm:pt modelId="{284552DA-3AAC-44B8-8170-70C0A813B857}" type="pres">
      <dgm:prSet presAssocID="{66C8E8C7-887F-42C9-8C38-106E6CF97864}" presName="hierChild4" presStyleCnt="0"/>
      <dgm:spPr/>
    </dgm:pt>
    <dgm:pt modelId="{D04C8372-98C8-46D0-A45B-F93B4DE4B45C}" type="pres">
      <dgm:prSet presAssocID="{66C8E8C7-887F-42C9-8C38-106E6CF97864}" presName="hierChild5" presStyleCnt="0"/>
      <dgm:spPr/>
    </dgm:pt>
    <dgm:pt modelId="{EC1A28D1-EAA9-4CE8-837B-4BF54215F6C7}" type="pres">
      <dgm:prSet presAssocID="{46A6B2CA-03DC-4A8B-B14E-BC3364780323}" presName="hierChild5" presStyleCnt="0"/>
      <dgm:spPr/>
    </dgm:pt>
    <dgm:pt modelId="{F83E7D53-FD9B-4568-9C36-37402798CF67}" type="pres">
      <dgm:prSet presAssocID="{E77AD9B9-56ED-4F5F-9FAE-A3DE033A48ED}" presName="Name111" presStyleLbl="parChTrans1D3" presStyleIdx="2" presStyleCnt="6"/>
      <dgm:spPr/>
    </dgm:pt>
    <dgm:pt modelId="{1DBCFF6A-4A00-47EF-82DB-D4421BCCEB2A}" type="pres">
      <dgm:prSet presAssocID="{313156F0-3A9F-49BA-BAFF-3A3B0258C746}" presName="hierRoot3" presStyleCnt="0">
        <dgm:presLayoutVars>
          <dgm:hierBranch val="init"/>
        </dgm:presLayoutVars>
      </dgm:prSet>
      <dgm:spPr/>
    </dgm:pt>
    <dgm:pt modelId="{F6EA9BEC-DD06-47F6-8941-5BDE04BACF12}" type="pres">
      <dgm:prSet presAssocID="{313156F0-3A9F-49BA-BAFF-3A3B0258C746}" presName="rootComposite3" presStyleCnt="0"/>
      <dgm:spPr/>
    </dgm:pt>
    <dgm:pt modelId="{11F89536-BA4A-4DC2-B104-5B7EC49D2628}" type="pres">
      <dgm:prSet presAssocID="{313156F0-3A9F-49BA-BAFF-3A3B0258C746}" presName="rootText3" presStyleLbl="asst2" presStyleIdx="0" presStyleCnt="2" custLinFactNeighborX="-87409" custLinFactNeighborY="-17601">
        <dgm:presLayoutVars>
          <dgm:chPref val="3"/>
        </dgm:presLayoutVars>
      </dgm:prSet>
      <dgm:spPr/>
    </dgm:pt>
    <dgm:pt modelId="{F410DFAD-D3D9-4F4A-86D2-32F23D5D185E}" type="pres">
      <dgm:prSet presAssocID="{313156F0-3A9F-49BA-BAFF-3A3B0258C746}" presName="rootConnector3" presStyleLbl="asst2" presStyleIdx="0" presStyleCnt="2"/>
      <dgm:spPr/>
    </dgm:pt>
    <dgm:pt modelId="{E9BBC485-7DFA-4AEC-AF06-D30C881B5801}" type="pres">
      <dgm:prSet presAssocID="{313156F0-3A9F-49BA-BAFF-3A3B0258C746}" presName="hierChild6" presStyleCnt="0"/>
      <dgm:spPr/>
    </dgm:pt>
    <dgm:pt modelId="{96850B73-BEEF-43A2-ACC6-F23C0B923CF6}" type="pres">
      <dgm:prSet presAssocID="{313156F0-3A9F-49BA-BAFF-3A3B0258C746}" presName="hierChild7" presStyleCnt="0"/>
      <dgm:spPr/>
    </dgm:pt>
    <dgm:pt modelId="{FD9D3AF5-878C-4CA6-93DC-B005D285326A}" type="pres">
      <dgm:prSet presAssocID="{86D8C756-76DA-4366-8935-1A04F74CF842}" presName="Name37" presStyleLbl="parChTrans1D2" presStyleIdx="1" presStyleCnt="3"/>
      <dgm:spPr/>
    </dgm:pt>
    <dgm:pt modelId="{322A77DC-B8A1-4E00-B932-5331C8CF1C04}" type="pres">
      <dgm:prSet presAssocID="{49A3B2DF-EA30-4CA8-B352-E0FA7815C918}" presName="hierRoot2" presStyleCnt="0">
        <dgm:presLayoutVars>
          <dgm:hierBranch val="init"/>
        </dgm:presLayoutVars>
      </dgm:prSet>
      <dgm:spPr/>
    </dgm:pt>
    <dgm:pt modelId="{27EF2CE9-4F45-47F8-9431-A32AC049EF38}" type="pres">
      <dgm:prSet presAssocID="{49A3B2DF-EA30-4CA8-B352-E0FA7815C918}" presName="rootComposite" presStyleCnt="0"/>
      <dgm:spPr/>
    </dgm:pt>
    <dgm:pt modelId="{7BA5E6BE-5190-4999-808F-FE69364785E3}" type="pres">
      <dgm:prSet presAssocID="{49A3B2DF-EA30-4CA8-B352-E0FA7815C918}" presName="rootText" presStyleLbl="node2" presStyleIdx="1" presStyleCnt="2" custScaleX="152597" custLinFactNeighborX="70581" custLinFactNeighborY="-9485">
        <dgm:presLayoutVars>
          <dgm:chPref val="3"/>
        </dgm:presLayoutVars>
      </dgm:prSet>
      <dgm:spPr/>
    </dgm:pt>
    <dgm:pt modelId="{24B5D2EB-93BF-46B0-B82F-4BB4DECFF3DC}" type="pres">
      <dgm:prSet presAssocID="{49A3B2DF-EA30-4CA8-B352-E0FA7815C918}" presName="rootConnector" presStyleLbl="node2" presStyleIdx="1" presStyleCnt="2"/>
      <dgm:spPr/>
    </dgm:pt>
    <dgm:pt modelId="{1D1B1398-D379-4FE3-8C2C-0DC7723A6A02}" type="pres">
      <dgm:prSet presAssocID="{49A3B2DF-EA30-4CA8-B352-E0FA7815C918}" presName="hierChild4" presStyleCnt="0"/>
      <dgm:spPr/>
    </dgm:pt>
    <dgm:pt modelId="{B06C5473-33FB-4FBA-AAD2-60D41DCF7E81}" type="pres">
      <dgm:prSet presAssocID="{72CFEFBC-8152-4A4E-8DC0-570640B0C927}" presName="Name37" presStyleLbl="parChTrans1D3" presStyleIdx="3" presStyleCnt="6"/>
      <dgm:spPr/>
    </dgm:pt>
    <dgm:pt modelId="{916E09B2-7792-47D7-A9C6-8BDF8A91130A}" type="pres">
      <dgm:prSet presAssocID="{5AC5D31A-3E1B-41F4-B281-F5064381FC79}" presName="hierRoot2" presStyleCnt="0">
        <dgm:presLayoutVars>
          <dgm:hierBranch val="init"/>
        </dgm:presLayoutVars>
      </dgm:prSet>
      <dgm:spPr/>
    </dgm:pt>
    <dgm:pt modelId="{809142BE-EC3C-4A3B-901F-CF97297B5D63}" type="pres">
      <dgm:prSet presAssocID="{5AC5D31A-3E1B-41F4-B281-F5064381FC79}" presName="rootComposite" presStyleCnt="0"/>
      <dgm:spPr/>
    </dgm:pt>
    <dgm:pt modelId="{67FB989A-CAB0-47C1-8F52-1E9C12A211F8}" type="pres">
      <dgm:prSet presAssocID="{5AC5D31A-3E1B-41F4-B281-F5064381FC79}" presName="rootText" presStyleLbl="node3" presStyleIdx="2" presStyleCnt="4" custLinFactY="-37115" custLinFactNeighborX="87074" custLinFactNeighborY="-100000">
        <dgm:presLayoutVars>
          <dgm:chPref val="3"/>
        </dgm:presLayoutVars>
      </dgm:prSet>
      <dgm:spPr/>
    </dgm:pt>
    <dgm:pt modelId="{B9356289-A109-4491-91CA-D28344F5C2B7}" type="pres">
      <dgm:prSet presAssocID="{5AC5D31A-3E1B-41F4-B281-F5064381FC79}" presName="rootConnector" presStyleLbl="node3" presStyleIdx="2" presStyleCnt="4"/>
      <dgm:spPr/>
    </dgm:pt>
    <dgm:pt modelId="{0D34958C-0652-46FC-B92B-9D382EE5B17D}" type="pres">
      <dgm:prSet presAssocID="{5AC5D31A-3E1B-41F4-B281-F5064381FC79}" presName="hierChild4" presStyleCnt="0"/>
      <dgm:spPr/>
    </dgm:pt>
    <dgm:pt modelId="{FB638DBC-B422-4CDD-ABCB-49DE9BB0DF48}" type="pres">
      <dgm:prSet presAssocID="{5AC5D31A-3E1B-41F4-B281-F5064381FC79}" presName="hierChild5" presStyleCnt="0"/>
      <dgm:spPr/>
    </dgm:pt>
    <dgm:pt modelId="{D123266F-7B85-471A-883A-DBCD7879F6E1}" type="pres">
      <dgm:prSet presAssocID="{5034D667-C0ED-46C6-B2D9-310037D03F4A}" presName="Name37" presStyleLbl="parChTrans1D3" presStyleIdx="4" presStyleCnt="6"/>
      <dgm:spPr/>
    </dgm:pt>
    <dgm:pt modelId="{1F84EC81-7577-4274-BB72-3DBA04234BA0}" type="pres">
      <dgm:prSet presAssocID="{05F44C33-1CFB-42F9-88D8-B47F2D880EF3}" presName="hierRoot2" presStyleCnt="0">
        <dgm:presLayoutVars>
          <dgm:hierBranch val="init"/>
        </dgm:presLayoutVars>
      </dgm:prSet>
      <dgm:spPr/>
    </dgm:pt>
    <dgm:pt modelId="{C3FCF7E8-CA81-4664-8DD6-DFB9052C70A9}" type="pres">
      <dgm:prSet presAssocID="{05F44C33-1CFB-42F9-88D8-B47F2D880EF3}" presName="rootComposite" presStyleCnt="0"/>
      <dgm:spPr/>
    </dgm:pt>
    <dgm:pt modelId="{506B21B4-2CC6-45CC-BDC8-B4EC81C6C934}" type="pres">
      <dgm:prSet presAssocID="{05F44C33-1CFB-42F9-88D8-B47F2D880EF3}" presName="rootText" presStyleLbl="node3" presStyleIdx="3" presStyleCnt="4" custLinFactY="-29465" custLinFactNeighborX="87074" custLinFactNeighborY="-100000">
        <dgm:presLayoutVars>
          <dgm:chPref val="3"/>
        </dgm:presLayoutVars>
      </dgm:prSet>
      <dgm:spPr/>
    </dgm:pt>
    <dgm:pt modelId="{B1F4D464-ECC6-4870-8893-0D89A3FA9425}" type="pres">
      <dgm:prSet presAssocID="{05F44C33-1CFB-42F9-88D8-B47F2D880EF3}" presName="rootConnector" presStyleLbl="node3" presStyleIdx="3" presStyleCnt="4"/>
      <dgm:spPr/>
    </dgm:pt>
    <dgm:pt modelId="{93831120-37A9-4465-A442-7AC91017C215}" type="pres">
      <dgm:prSet presAssocID="{05F44C33-1CFB-42F9-88D8-B47F2D880EF3}" presName="hierChild4" presStyleCnt="0"/>
      <dgm:spPr/>
    </dgm:pt>
    <dgm:pt modelId="{6B823315-718F-4290-A232-FA7444D0284D}" type="pres">
      <dgm:prSet presAssocID="{05F44C33-1CFB-42F9-88D8-B47F2D880EF3}" presName="hierChild5" presStyleCnt="0"/>
      <dgm:spPr/>
    </dgm:pt>
    <dgm:pt modelId="{9E50FDA0-D8FC-4C67-920A-F4BDB11CB9C0}" type="pres">
      <dgm:prSet presAssocID="{49A3B2DF-EA30-4CA8-B352-E0FA7815C918}" presName="hierChild5" presStyleCnt="0"/>
      <dgm:spPr/>
    </dgm:pt>
    <dgm:pt modelId="{DD3097E3-ACEC-4944-8C33-C0B18593813D}" type="pres">
      <dgm:prSet presAssocID="{23FCEB2C-CEA0-4E35-BBF1-95ECA22B760F}" presName="Name111" presStyleLbl="parChTrans1D3" presStyleIdx="5" presStyleCnt="6"/>
      <dgm:spPr/>
    </dgm:pt>
    <dgm:pt modelId="{A0154E15-34C9-4B43-9C9F-BA1141CC8C46}" type="pres">
      <dgm:prSet presAssocID="{05DFAF3E-B858-46A7-8BD2-2212857DF0CA}" presName="hierRoot3" presStyleCnt="0">
        <dgm:presLayoutVars>
          <dgm:hierBranch val="init"/>
        </dgm:presLayoutVars>
      </dgm:prSet>
      <dgm:spPr/>
    </dgm:pt>
    <dgm:pt modelId="{9492BA16-9B32-43FE-BDFB-7A480A538A8D}" type="pres">
      <dgm:prSet presAssocID="{05DFAF3E-B858-46A7-8BD2-2212857DF0CA}" presName="rootComposite3" presStyleCnt="0"/>
      <dgm:spPr/>
    </dgm:pt>
    <dgm:pt modelId="{B0282B6E-0DC4-48B4-9808-42CEF7FD551C}" type="pres">
      <dgm:prSet presAssocID="{05DFAF3E-B858-46A7-8BD2-2212857DF0CA}" presName="rootText3" presStyleLbl="asst2" presStyleIdx="1" presStyleCnt="2" custLinFactNeighborX="44432" custLinFactNeighborY="-27164">
        <dgm:presLayoutVars>
          <dgm:chPref val="3"/>
        </dgm:presLayoutVars>
      </dgm:prSet>
      <dgm:spPr/>
    </dgm:pt>
    <dgm:pt modelId="{76B4B500-480C-4A68-9264-F1B76DCEB172}" type="pres">
      <dgm:prSet presAssocID="{05DFAF3E-B858-46A7-8BD2-2212857DF0CA}" presName="rootConnector3" presStyleLbl="asst2" presStyleIdx="1" presStyleCnt="2"/>
      <dgm:spPr/>
    </dgm:pt>
    <dgm:pt modelId="{772CBCFE-6582-4FF2-AF03-BB758101A82A}" type="pres">
      <dgm:prSet presAssocID="{05DFAF3E-B858-46A7-8BD2-2212857DF0CA}" presName="hierChild6" presStyleCnt="0"/>
      <dgm:spPr/>
    </dgm:pt>
    <dgm:pt modelId="{C8A91481-0E1B-47F8-B6D5-0882FDDE72BC}" type="pres">
      <dgm:prSet presAssocID="{05DFAF3E-B858-46A7-8BD2-2212857DF0CA}" presName="hierChild7" presStyleCnt="0"/>
      <dgm:spPr/>
    </dgm:pt>
    <dgm:pt modelId="{703D088A-2A38-4509-B61C-AD977D55FC39}" type="pres">
      <dgm:prSet presAssocID="{5562CAE0-E34A-45E1-B8BD-2FB2B9E442ED}" presName="hierChild3" presStyleCnt="0"/>
      <dgm:spPr/>
    </dgm:pt>
    <dgm:pt modelId="{0CED956C-E287-4D07-8CF4-48525A31DC17}" type="pres">
      <dgm:prSet presAssocID="{7E1251D3-77F8-44BC-A395-23A8B5234AD8}" presName="Name111" presStyleLbl="parChTrans1D2" presStyleIdx="2" presStyleCnt="3"/>
      <dgm:spPr/>
    </dgm:pt>
    <dgm:pt modelId="{7AD1CC11-0AF2-4AB1-807A-E1F2B1F0C5C1}" type="pres">
      <dgm:prSet presAssocID="{4314213D-525D-4FA2-94DB-B66D67BED9CC}" presName="hierRoot3" presStyleCnt="0">
        <dgm:presLayoutVars>
          <dgm:hierBranch val="init"/>
        </dgm:presLayoutVars>
      </dgm:prSet>
      <dgm:spPr/>
    </dgm:pt>
    <dgm:pt modelId="{197C1EC1-94FC-448F-A464-BA163021649B}" type="pres">
      <dgm:prSet presAssocID="{4314213D-525D-4FA2-94DB-B66D67BED9CC}" presName="rootComposite3" presStyleCnt="0"/>
      <dgm:spPr/>
    </dgm:pt>
    <dgm:pt modelId="{38B0E322-1527-4CEF-A62A-57DBB7A6F83B}" type="pres">
      <dgm:prSet presAssocID="{4314213D-525D-4FA2-94DB-B66D67BED9CC}" presName="rootText3" presStyleLbl="asst1" presStyleIdx="0" presStyleCnt="1" custLinFactX="44496" custLinFactNeighborX="100000" custLinFactNeighborY="-18759">
        <dgm:presLayoutVars>
          <dgm:chPref val="3"/>
        </dgm:presLayoutVars>
      </dgm:prSet>
      <dgm:spPr/>
    </dgm:pt>
    <dgm:pt modelId="{317E5480-EE87-4794-87B5-D6A96744AF1B}" type="pres">
      <dgm:prSet presAssocID="{4314213D-525D-4FA2-94DB-B66D67BED9CC}" presName="rootConnector3" presStyleLbl="asst1" presStyleIdx="0" presStyleCnt="1"/>
      <dgm:spPr/>
    </dgm:pt>
    <dgm:pt modelId="{B594D243-91C7-4719-BDF7-357AB8F463A6}" type="pres">
      <dgm:prSet presAssocID="{4314213D-525D-4FA2-94DB-B66D67BED9CC}" presName="hierChild6" presStyleCnt="0"/>
      <dgm:spPr/>
    </dgm:pt>
    <dgm:pt modelId="{B2FB3A3E-231F-4D22-BE86-047BC22C6EF1}" type="pres">
      <dgm:prSet presAssocID="{4314213D-525D-4FA2-94DB-B66D67BED9CC}" presName="hierChild7" presStyleCnt="0"/>
      <dgm:spPr/>
    </dgm:pt>
  </dgm:ptLst>
  <dgm:cxnLst>
    <dgm:cxn modelId="{CE0CF100-CE63-4369-98BA-B7EB74E707F0}" srcId="{49A3B2DF-EA30-4CA8-B352-E0FA7815C918}" destId="{05F44C33-1CFB-42F9-88D8-B47F2D880EF3}" srcOrd="1" destOrd="0" parTransId="{5034D667-C0ED-46C6-B2D9-310037D03F4A}" sibTransId="{76826D67-C8EC-4B98-BBF7-72FFB953424A}"/>
    <dgm:cxn modelId="{67E07318-4BD9-4FA6-9264-E8C448E1A50B}" srcId="{5562CAE0-E34A-45E1-B8BD-2FB2B9E442ED}" destId="{4314213D-525D-4FA2-94DB-B66D67BED9CC}" srcOrd="2" destOrd="0" parTransId="{7E1251D3-77F8-44BC-A395-23A8B5234AD8}" sibTransId="{C06C32B7-BD5F-4A0D-8F37-DCB63A97005F}"/>
    <dgm:cxn modelId="{3078E919-C776-4F9E-8995-58F989CE72C6}" type="presOf" srcId="{66C8E8C7-887F-42C9-8C38-106E6CF97864}" destId="{D8EDAEAA-7D75-4830-99BF-EDFEA9C5AFED}" srcOrd="0" destOrd="0" presId="urn:microsoft.com/office/officeart/2005/8/layout/orgChart1"/>
    <dgm:cxn modelId="{FD5BEA1A-F8E2-493F-9198-71F70B8B16C0}" type="presOf" srcId="{4314213D-525D-4FA2-94DB-B66D67BED9CC}" destId="{38B0E322-1527-4CEF-A62A-57DBB7A6F83B}" srcOrd="0" destOrd="0" presId="urn:microsoft.com/office/officeart/2005/8/layout/orgChart1"/>
    <dgm:cxn modelId="{58E38F1E-D7AD-4931-8B98-A79FE861294E}" type="presOf" srcId="{46A6B2CA-03DC-4A8B-B14E-BC3364780323}" destId="{0C8CC93E-54A3-4651-8AB6-4B338104A53A}" srcOrd="1" destOrd="0" presId="urn:microsoft.com/office/officeart/2005/8/layout/orgChart1"/>
    <dgm:cxn modelId="{1567F91F-958E-487D-ABB1-1FB52465EEF5}" srcId="{5562CAE0-E34A-45E1-B8BD-2FB2B9E442ED}" destId="{46A6B2CA-03DC-4A8B-B14E-BC3364780323}" srcOrd="0" destOrd="0" parTransId="{F9991678-D215-48E7-9BE9-844A8158C3D4}" sibTransId="{9B3F568F-FB5E-4CA1-9F99-5D0FFB8716D5}"/>
    <dgm:cxn modelId="{12C44C28-5DDA-4F95-94EE-A996FC335488}" type="presOf" srcId="{46A6B2CA-03DC-4A8B-B14E-BC3364780323}" destId="{688EA08F-59D0-498B-86B3-5FADE77BD316}" srcOrd="0" destOrd="0" presId="urn:microsoft.com/office/officeart/2005/8/layout/orgChart1"/>
    <dgm:cxn modelId="{B365773D-AEF9-4B2D-A8AE-3643EFEBAE6C}" type="presOf" srcId="{66C8E8C7-887F-42C9-8C38-106E6CF97864}" destId="{CB3112F8-5870-4D8F-91A1-B5928159104B}" srcOrd="1" destOrd="0" presId="urn:microsoft.com/office/officeart/2005/8/layout/orgChart1"/>
    <dgm:cxn modelId="{01F4E140-4401-45D8-BFC4-47E4D1142713}" type="presOf" srcId="{4314213D-525D-4FA2-94DB-B66D67BED9CC}" destId="{317E5480-EE87-4794-87B5-D6A96744AF1B}" srcOrd="1" destOrd="0" presId="urn:microsoft.com/office/officeart/2005/8/layout/orgChart1"/>
    <dgm:cxn modelId="{3AF38645-CE21-448D-A78A-F62AD6D3AC80}" type="presOf" srcId="{05F44C33-1CFB-42F9-88D8-B47F2D880EF3}" destId="{506B21B4-2CC6-45CC-BDC8-B4EC81C6C934}" srcOrd="0" destOrd="0" presId="urn:microsoft.com/office/officeart/2005/8/layout/orgChart1"/>
    <dgm:cxn modelId="{C450BA67-C1D8-4215-9229-88F3A3C8A872}" srcId="{46A6B2CA-03DC-4A8B-B14E-BC3364780323}" destId="{CB1FABDA-56F6-4550-9CD8-7CB9CA603E82}" srcOrd="0" destOrd="0" parTransId="{E28CC3E5-473B-44C1-B32F-53FAB9572D1C}" sibTransId="{AE70AC90-264D-4AF7-A8F4-5C24BDAD864B}"/>
    <dgm:cxn modelId="{7023F347-3768-40C4-A3AF-5810DA34B266}" type="presOf" srcId="{5AC5D31A-3E1B-41F4-B281-F5064381FC79}" destId="{67FB989A-CAB0-47C1-8F52-1E9C12A211F8}" srcOrd="0" destOrd="0" presId="urn:microsoft.com/office/officeart/2005/8/layout/orgChart1"/>
    <dgm:cxn modelId="{56500448-204C-4460-94CC-01804E76C0D3}" type="presOf" srcId="{86D8C756-76DA-4366-8935-1A04F74CF842}" destId="{FD9D3AF5-878C-4CA6-93DC-B005D285326A}" srcOrd="0" destOrd="0" presId="urn:microsoft.com/office/officeart/2005/8/layout/orgChart1"/>
    <dgm:cxn modelId="{8016BD6A-F594-4A1F-BE50-9A18CB1C6B2D}" type="presOf" srcId="{5AC5D31A-3E1B-41F4-B281-F5064381FC79}" destId="{B9356289-A109-4491-91CA-D28344F5C2B7}" srcOrd="1" destOrd="0" presId="urn:microsoft.com/office/officeart/2005/8/layout/orgChart1"/>
    <dgm:cxn modelId="{59C7044F-3CDB-491D-8626-43E8072F5638}" type="presOf" srcId="{313156F0-3A9F-49BA-BAFF-3A3B0258C746}" destId="{11F89536-BA4A-4DC2-B104-5B7EC49D2628}" srcOrd="0" destOrd="0" presId="urn:microsoft.com/office/officeart/2005/8/layout/orgChart1"/>
    <dgm:cxn modelId="{A9B0F46F-9E74-4CBB-872D-62DA341463C0}" type="presOf" srcId="{7E1251D3-77F8-44BC-A395-23A8B5234AD8}" destId="{0CED956C-E287-4D07-8CF4-48525A31DC17}" srcOrd="0" destOrd="0" presId="urn:microsoft.com/office/officeart/2005/8/layout/orgChart1"/>
    <dgm:cxn modelId="{BE0FEB50-CAD1-4D56-AAC5-AEC9788B5F35}" srcId="{5562CAE0-E34A-45E1-B8BD-2FB2B9E442ED}" destId="{49A3B2DF-EA30-4CA8-B352-E0FA7815C918}" srcOrd="1" destOrd="0" parTransId="{86D8C756-76DA-4366-8935-1A04F74CF842}" sibTransId="{DD27B223-4B8B-4B92-A99B-4EF1D258DDF8}"/>
    <dgm:cxn modelId="{76637175-C3C6-4693-BEFF-A7FADC63B7FF}" type="presOf" srcId="{05F44C33-1CFB-42F9-88D8-B47F2D880EF3}" destId="{B1F4D464-ECC6-4870-8893-0D89A3FA9425}" srcOrd="1" destOrd="0" presId="urn:microsoft.com/office/officeart/2005/8/layout/orgChart1"/>
    <dgm:cxn modelId="{9DF28F76-6801-48BD-AAB0-AFE4E62B9740}" type="presOf" srcId="{5562CAE0-E34A-45E1-B8BD-2FB2B9E442ED}" destId="{421873E5-3F19-4192-8495-9475194832F9}" srcOrd="0" destOrd="0" presId="urn:microsoft.com/office/officeart/2005/8/layout/orgChart1"/>
    <dgm:cxn modelId="{35E85959-9C7B-4187-8B61-420B318C395B}" type="presOf" srcId="{05DFAF3E-B858-46A7-8BD2-2212857DF0CA}" destId="{B0282B6E-0DC4-48B4-9808-42CEF7FD551C}" srcOrd="0" destOrd="0" presId="urn:microsoft.com/office/officeart/2005/8/layout/orgChart1"/>
    <dgm:cxn modelId="{68763480-93A9-4912-ADF6-5EB7058F3D53}" srcId="{49A3B2DF-EA30-4CA8-B352-E0FA7815C918}" destId="{5AC5D31A-3E1B-41F4-B281-F5064381FC79}" srcOrd="0" destOrd="0" parTransId="{72CFEFBC-8152-4A4E-8DC0-570640B0C927}" sibTransId="{15018275-2B01-4567-879E-6DA6A216F2BC}"/>
    <dgm:cxn modelId="{5FE75E81-FC01-425F-8408-FC23256D7208}" type="presOf" srcId="{5034D667-C0ED-46C6-B2D9-310037D03F4A}" destId="{D123266F-7B85-471A-883A-DBCD7879F6E1}" srcOrd="0" destOrd="0" presId="urn:microsoft.com/office/officeart/2005/8/layout/orgChart1"/>
    <dgm:cxn modelId="{EB901690-EDCB-421E-AB5C-5A311392BFE6}" type="presOf" srcId="{E77AD9B9-56ED-4F5F-9FAE-A3DE033A48ED}" destId="{F83E7D53-FD9B-4568-9C36-37402798CF67}" srcOrd="0" destOrd="0" presId="urn:microsoft.com/office/officeart/2005/8/layout/orgChart1"/>
    <dgm:cxn modelId="{791CDB90-B1EF-45B3-9E5D-74078AB665B7}" type="presOf" srcId="{49A3B2DF-EA30-4CA8-B352-E0FA7815C918}" destId="{7BA5E6BE-5190-4999-808F-FE69364785E3}" srcOrd="0" destOrd="0" presId="urn:microsoft.com/office/officeart/2005/8/layout/orgChart1"/>
    <dgm:cxn modelId="{398DDB93-4D1D-4125-B8C3-39E89BDBE756}" type="presOf" srcId="{E28CC3E5-473B-44C1-B32F-53FAB9572D1C}" destId="{17D2387B-D062-48C8-9A6F-3CB3A2ECA4C4}" srcOrd="0" destOrd="0" presId="urn:microsoft.com/office/officeart/2005/8/layout/orgChart1"/>
    <dgm:cxn modelId="{78BD2895-D624-4462-A410-CEE7B8BF4F4A}" type="presOf" srcId="{B4D136D7-DB07-4757-9F25-8247C75F9BF9}" destId="{30B883FD-A05F-41C0-A738-6571F06C769B}" srcOrd="0" destOrd="0" presId="urn:microsoft.com/office/officeart/2005/8/layout/orgChart1"/>
    <dgm:cxn modelId="{51C8A195-CAA6-484E-A306-EABEFE4C66B8}" type="presOf" srcId="{CB1FABDA-56F6-4550-9CD8-7CB9CA603E82}" destId="{D440D059-9367-4AA5-88AC-880DDBD4AC01}" srcOrd="0" destOrd="0" presId="urn:microsoft.com/office/officeart/2005/8/layout/orgChart1"/>
    <dgm:cxn modelId="{78639B97-3106-47A1-971E-24B025D5881D}" srcId="{49A3B2DF-EA30-4CA8-B352-E0FA7815C918}" destId="{05DFAF3E-B858-46A7-8BD2-2212857DF0CA}" srcOrd="2" destOrd="0" parTransId="{23FCEB2C-CEA0-4E35-BBF1-95ECA22B760F}" sibTransId="{6CB4A7E3-C69F-4DAE-9C70-538E08759F22}"/>
    <dgm:cxn modelId="{823D2AA0-4F7A-4B7E-9EFD-F09945F1B98F}" type="presOf" srcId="{23FCEB2C-CEA0-4E35-BBF1-95ECA22B760F}" destId="{DD3097E3-ACEC-4944-8C33-C0B18593813D}" srcOrd="0" destOrd="0" presId="urn:microsoft.com/office/officeart/2005/8/layout/orgChart1"/>
    <dgm:cxn modelId="{82A5D0B0-D891-493D-9485-19B1AD04C06D}" type="presOf" srcId="{49A3B2DF-EA30-4CA8-B352-E0FA7815C918}" destId="{24B5D2EB-93BF-46B0-B82F-4BB4DECFF3DC}" srcOrd="1" destOrd="0" presId="urn:microsoft.com/office/officeart/2005/8/layout/orgChart1"/>
    <dgm:cxn modelId="{F7233BB1-9761-46D0-9337-ED6B3C5DAB78}" type="presOf" srcId="{5562CAE0-E34A-45E1-B8BD-2FB2B9E442ED}" destId="{8E4128A0-7AC8-4559-8D52-80AA0D4C59FB}" srcOrd="1" destOrd="0" presId="urn:microsoft.com/office/officeart/2005/8/layout/orgChart1"/>
    <dgm:cxn modelId="{DBCFF6B9-6B1A-466C-A4B9-DBF6DE9C9747}" type="presOf" srcId="{A29F0DE7-420E-4E4A-817F-9019E9A55672}" destId="{FC4627D4-1D7F-4AFF-AC42-A4C0C5CB255E}" srcOrd="0" destOrd="0" presId="urn:microsoft.com/office/officeart/2005/8/layout/orgChart1"/>
    <dgm:cxn modelId="{D5891BBB-2758-44B3-8436-652E40666F85}" type="presOf" srcId="{72CFEFBC-8152-4A4E-8DC0-570640B0C927}" destId="{B06C5473-33FB-4FBA-AAD2-60D41DCF7E81}" srcOrd="0" destOrd="0" presId="urn:microsoft.com/office/officeart/2005/8/layout/orgChart1"/>
    <dgm:cxn modelId="{33CA61C1-9790-45F7-8C01-6CB2502F6B84}" srcId="{46A6B2CA-03DC-4A8B-B14E-BC3364780323}" destId="{313156F0-3A9F-49BA-BAFF-3A3B0258C746}" srcOrd="2" destOrd="0" parTransId="{E77AD9B9-56ED-4F5F-9FAE-A3DE033A48ED}" sibTransId="{E389695E-EDA8-4C2F-A54D-B12F13E788E0}"/>
    <dgm:cxn modelId="{0E5E4BC8-5766-4238-962E-339B7BEB2FD6}" type="presOf" srcId="{313156F0-3A9F-49BA-BAFF-3A3B0258C746}" destId="{F410DFAD-D3D9-4F4A-86D2-32F23D5D185E}" srcOrd="1" destOrd="0" presId="urn:microsoft.com/office/officeart/2005/8/layout/orgChart1"/>
    <dgm:cxn modelId="{D9AFC9D2-4285-4B6A-8ECB-B72DE510EE1E}" srcId="{46A6B2CA-03DC-4A8B-B14E-BC3364780323}" destId="{66C8E8C7-887F-42C9-8C38-106E6CF97864}" srcOrd="1" destOrd="0" parTransId="{A29F0DE7-420E-4E4A-817F-9019E9A55672}" sibTransId="{B6DDEE5B-C412-4D61-985A-4146F162733A}"/>
    <dgm:cxn modelId="{CAEFD1D5-EA51-495A-9D54-5BA6D20FD5AA}" type="presOf" srcId="{CB1FABDA-56F6-4550-9CD8-7CB9CA603E82}" destId="{B3FDDEA8-4BA8-4CCA-9AD8-26B607CA916B}" srcOrd="1" destOrd="0" presId="urn:microsoft.com/office/officeart/2005/8/layout/orgChart1"/>
    <dgm:cxn modelId="{9EBAD8DF-87DC-431B-861A-46A0CE799BBF}" type="presOf" srcId="{05DFAF3E-B858-46A7-8BD2-2212857DF0CA}" destId="{76B4B500-480C-4A68-9264-F1B76DCEB172}" srcOrd="1" destOrd="0" presId="urn:microsoft.com/office/officeart/2005/8/layout/orgChart1"/>
    <dgm:cxn modelId="{5DD721FF-194C-46B2-A750-F9837839A5B5}" srcId="{B4D136D7-DB07-4757-9F25-8247C75F9BF9}" destId="{5562CAE0-E34A-45E1-B8BD-2FB2B9E442ED}" srcOrd="0" destOrd="0" parTransId="{E561092D-D923-43FA-9157-B0FE1EED2315}" sibTransId="{FE9AE0CA-D0C2-42D2-8E23-6CA16E3324AA}"/>
    <dgm:cxn modelId="{F37D22FF-13C5-4716-B45A-75E40E7A4DD1}" type="presOf" srcId="{F9991678-D215-48E7-9BE9-844A8158C3D4}" destId="{D0C32285-9734-41E3-A53F-165D1F928993}" srcOrd="0" destOrd="0" presId="urn:microsoft.com/office/officeart/2005/8/layout/orgChart1"/>
    <dgm:cxn modelId="{6259A349-678A-4B74-88C5-9C55090F1F81}" type="presParOf" srcId="{30B883FD-A05F-41C0-A738-6571F06C769B}" destId="{0A24151E-4351-43A0-853A-9E567F576160}" srcOrd="0" destOrd="0" presId="urn:microsoft.com/office/officeart/2005/8/layout/orgChart1"/>
    <dgm:cxn modelId="{797E8E4F-1309-498C-89E8-9CB81980A294}" type="presParOf" srcId="{0A24151E-4351-43A0-853A-9E567F576160}" destId="{2D49EE50-F94E-4E4A-AB46-DEABAA207AA7}" srcOrd="0" destOrd="0" presId="urn:microsoft.com/office/officeart/2005/8/layout/orgChart1"/>
    <dgm:cxn modelId="{29890528-56E8-45FD-AC2A-80BD8AC8FFBC}" type="presParOf" srcId="{2D49EE50-F94E-4E4A-AB46-DEABAA207AA7}" destId="{421873E5-3F19-4192-8495-9475194832F9}" srcOrd="0" destOrd="0" presId="urn:microsoft.com/office/officeart/2005/8/layout/orgChart1"/>
    <dgm:cxn modelId="{4C74C73F-55C4-4C67-95AC-EEF72452AA24}" type="presParOf" srcId="{2D49EE50-F94E-4E4A-AB46-DEABAA207AA7}" destId="{8E4128A0-7AC8-4559-8D52-80AA0D4C59FB}" srcOrd="1" destOrd="0" presId="urn:microsoft.com/office/officeart/2005/8/layout/orgChart1"/>
    <dgm:cxn modelId="{E7A9EB10-2D26-456A-BFD0-3EED74911D82}" type="presParOf" srcId="{0A24151E-4351-43A0-853A-9E567F576160}" destId="{7B5A1899-3CFF-4C86-A3F0-616C0EE8D6C6}" srcOrd="1" destOrd="0" presId="urn:microsoft.com/office/officeart/2005/8/layout/orgChart1"/>
    <dgm:cxn modelId="{E77A05A4-570C-4098-BD26-3A0F7016994E}" type="presParOf" srcId="{7B5A1899-3CFF-4C86-A3F0-616C0EE8D6C6}" destId="{D0C32285-9734-41E3-A53F-165D1F928993}" srcOrd="0" destOrd="0" presId="urn:microsoft.com/office/officeart/2005/8/layout/orgChart1"/>
    <dgm:cxn modelId="{CE8A9241-B3FB-450D-97A5-A3BD31C84ADF}" type="presParOf" srcId="{7B5A1899-3CFF-4C86-A3F0-616C0EE8D6C6}" destId="{F492D37E-0742-4C06-87EC-8C72CDD54BA8}" srcOrd="1" destOrd="0" presId="urn:microsoft.com/office/officeart/2005/8/layout/orgChart1"/>
    <dgm:cxn modelId="{66543136-CB36-4D61-8495-CC9CDF33FEC4}" type="presParOf" srcId="{F492D37E-0742-4C06-87EC-8C72CDD54BA8}" destId="{842D0EDC-354D-443F-91BB-4EC83DC03745}" srcOrd="0" destOrd="0" presId="urn:microsoft.com/office/officeart/2005/8/layout/orgChart1"/>
    <dgm:cxn modelId="{5F09C83E-90DB-4C9A-8485-4E6BCA5ABE7D}" type="presParOf" srcId="{842D0EDC-354D-443F-91BB-4EC83DC03745}" destId="{688EA08F-59D0-498B-86B3-5FADE77BD316}" srcOrd="0" destOrd="0" presId="urn:microsoft.com/office/officeart/2005/8/layout/orgChart1"/>
    <dgm:cxn modelId="{AA44C3A6-CE82-4DAF-ABA9-2CDB826E5BAA}" type="presParOf" srcId="{842D0EDC-354D-443F-91BB-4EC83DC03745}" destId="{0C8CC93E-54A3-4651-8AB6-4B338104A53A}" srcOrd="1" destOrd="0" presId="urn:microsoft.com/office/officeart/2005/8/layout/orgChart1"/>
    <dgm:cxn modelId="{17FA99F9-C6CB-46FC-BB04-0BD7B687F032}" type="presParOf" srcId="{F492D37E-0742-4C06-87EC-8C72CDD54BA8}" destId="{00EE27F7-5812-4367-91DD-4D9B7785E3BB}" srcOrd="1" destOrd="0" presId="urn:microsoft.com/office/officeart/2005/8/layout/orgChart1"/>
    <dgm:cxn modelId="{173C3944-1538-4535-BF9F-5C996A2CE6FA}" type="presParOf" srcId="{00EE27F7-5812-4367-91DD-4D9B7785E3BB}" destId="{17D2387B-D062-48C8-9A6F-3CB3A2ECA4C4}" srcOrd="0" destOrd="0" presId="urn:microsoft.com/office/officeart/2005/8/layout/orgChart1"/>
    <dgm:cxn modelId="{FC0AF431-519C-4CCB-808E-8DB1616AA94A}" type="presParOf" srcId="{00EE27F7-5812-4367-91DD-4D9B7785E3BB}" destId="{3A01074D-EEA9-4D3C-9577-569F2064B57A}" srcOrd="1" destOrd="0" presId="urn:microsoft.com/office/officeart/2005/8/layout/orgChart1"/>
    <dgm:cxn modelId="{8F8978C8-EBBC-4C1C-9F83-73920590D3B6}" type="presParOf" srcId="{3A01074D-EEA9-4D3C-9577-569F2064B57A}" destId="{51E02069-E9D0-421C-937C-3D7AC4FE9F78}" srcOrd="0" destOrd="0" presId="urn:microsoft.com/office/officeart/2005/8/layout/orgChart1"/>
    <dgm:cxn modelId="{CA64773B-EDF1-4457-93E2-137438006B80}" type="presParOf" srcId="{51E02069-E9D0-421C-937C-3D7AC4FE9F78}" destId="{D440D059-9367-4AA5-88AC-880DDBD4AC01}" srcOrd="0" destOrd="0" presId="urn:microsoft.com/office/officeart/2005/8/layout/orgChart1"/>
    <dgm:cxn modelId="{05AE0527-AD1C-4091-8C76-4197AF80BBAA}" type="presParOf" srcId="{51E02069-E9D0-421C-937C-3D7AC4FE9F78}" destId="{B3FDDEA8-4BA8-4CCA-9AD8-26B607CA916B}" srcOrd="1" destOrd="0" presId="urn:microsoft.com/office/officeart/2005/8/layout/orgChart1"/>
    <dgm:cxn modelId="{F7403AC4-3D1F-49E8-9A22-EEB7F9D62ECA}" type="presParOf" srcId="{3A01074D-EEA9-4D3C-9577-569F2064B57A}" destId="{770705FC-2A4A-4B04-81BF-A0CD0AB1F7E8}" srcOrd="1" destOrd="0" presId="urn:microsoft.com/office/officeart/2005/8/layout/orgChart1"/>
    <dgm:cxn modelId="{5881A2DC-39E5-42C6-A337-A38C66011A62}" type="presParOf" srcId="{3A01074D-EEA9-4D3C-9577-569F2064B57A}" destId="{F04FFF81-90DA-400D-8374-20D65E60A09F}" srcOrd="2" destOrd="0" presId="urn:microsoft.com/office/officeart/2005/8/layout/orgChart1"/>
    <dgm:cxn modelId="{B8CCA548-7DA2-474C-B2D4-6E3E64C85E34}" type="presParOf" srcId="{00EE27F7-5812-4367-91DD-4D9B7785E3BB}" destId="{FC4627D4-1D7F-4AFF-AC42-A4C0C5CB255E}" srcOrd="2" destOrd="0" presId="urn:microsoft.com/office/officeart/2005/8/layout/orgChart1"/>
    <dgm:cxn modelId="{0542013A-54A0-45FF-A614-560FCAB3792C}" type="presParOf" srcId="{00EE27F7-5812-4367-91DD-4D9B7785E3BB}" destId="{4CBEBD93-4B13-429D-A3BB-2563591F8BA0}" srcOrd="3" destOrd="0" presId="urn:microsoft.com/office/officeart/2005/8/layout/orgChart1"/>
    <dgm:cxn modelId="{262F41AC-1193-45D4-B06B-6A16A600FA9C}" type="presParOf" srcId="{4CBEBD93-4B13-429D-A3BB-2563591F8BA0}" destId="{B05FDE43-0E35-4D0F-8E4B-C19181BEC9E5}" srcOrd="0" destOrd="0" presId="urn:microsoft.com/office/officeart/2005/8/layout/orgChart1"/>
    <dgm:cxn modelId="{0BD1151C-F37D-440D-B177-BE571A02785C}" type="presParOf" srcId="{B05FDE43-0E35-4D0F-8E4B-C19181BEC9E5}" destId="{D8EDAEAA-7D75-4830-99BF-EDFEA9C5AFED}" srcOrd="0" destOrd="0" presId="urn:microsoft.com/office/officeart/2005/8/layout/orgChart1"/>
    <dgm:cxn modelId="{395F4E38-E617-4854-9753-0968F584F329}" type="presParOf" srcId="{B05FDE43-0E35-4D0F-8E4B-C19181BEC9E5}" destId="{CB3112F8-5870-4D8F-91A1-B5928159104B}" srcOrd="1" destOrd="0" presId="urn:microsoft.com/office/officeart/2005/8/layout/orgChart1"/>
    <dgm:cxn modelId="{395CBF99-D710-4AE1-A16D-ACBC309FCA06}" type="presParOf" srcId="{4CBEBD93-4B13-429D-A3BB-2563591F8BA0}" destId="{284552DA-3AAC-44B8-8170-70C0A813B857}" srcOrd="1" destOrd="0" presId="urn:microsoft.com/office/officeart/2005/8/layout/orgChart1"/>
    <dgm:cxn modelId="{76C34E6A-5983-4E2D-838D-3D9E22D9A47D}" type="presParOf" srcId="{4CBEBD93-4B13-429D-A3BB-2563591F8BA0}" destId="{D04C8372-98C8-46D0-A45B-F93B4DE4B45C}" srcOrd="2" destOrd="0" presId="urn:microsoft.com/office/officeart/2005/8/layout/orgChart1"/>
    <dgm:cxn modelId="{1BABF0EB-92E2-432C-A35E-3F823E9F089B}" type="presParOf" srcId="{F492D37E-0742-4C06-87EC-8C72CDD54BA8}" destId="{EC1A28D1-EAA9-4CE8-837B-4BF54215F6C7}" srcOrd="2" destOrd="0" presId="urn:microsoft.com/office/officeart/2005/8/layout/orgChart1"/>
    <dgm:cxn modelId="{9DA646C9-DFE4-481E-A0A1-278806FA80AD}" type="presParOf" srcId="{EC1A28D1-EAA9-4CE8-837B-4BF54215F6C7}" destId="{F83E7D53-FD9B-4568-9C36-37402798CF67}" srcOrd="0" destOrd="0" presId="urn:microsoft.com/office/officeart/2005/8/layout/orgChart1"/>
    <dgm:cxn modelId="{1FED7380-A9D8-4F35-9029-9DD877240A5C}" type="presParOf" srcId="{EC1A28D1-EAA9-4CE8-837B-4BF54215F6C7}" destId="{1DBCFF6A-4A00-47EF-82DB-D4421BCCEB2A}" srcOrd="1" destOrd="0" presId="urn:microsoft.com/office/officeart/2005/8/layout/orgChart1"/>
    <dgm:cxn modelId="{4AF89180-2843-414E-845C-08C332541F26}" type="presParOf" srcId="{1DBCFF6A-4A00-47EF-82DB-D4421BCCEB2A}" destId="{F6EA9BEC-DD06-47F6-8941-5BDE04BACF12}" srcOrd="0" destOrd="0" presId="urn:microsoft.com/office/officeart/2005/8/layout/orgChart1"/>
    <dgm:cxn modelId="{A4101672-952B-49E2-B6A3-108AB2AA4A33}" type="presParOf" srcId="{F6EA9BEC-DD06-47F6-8941-5BDE04BACF12}" destId="{11F89536-BA4A-4DC2-B104-5B7EC49D2628}" srcOrd="0" destOrd="0" presId="urn:microsoft.com/office/officeart/2005/8/layout/orgChart1"/>
    <dgm:cxn modelId="{66EF2FC9-DCBB-468E-B30F-B57E7D43C3D3}" type="presParOf" srcId="{F6EA9BEC-DD06-47F6-8941-5BDE04BACF12}" destId="{F410DFAD-D3D9-4F4A-86D2-32F23D5D185E}" srcOrd="1" destOrd="0" presId="urn:microsoft.com/office/officeart/2005/8/layout/orgChart1"/>
    <dgm:cxn modelId="{12A3664C-1C79-4BB7-8FB9-4D95E8001E55}" type="presParOf" srcId="{1DBCFF6A-4A00-47EF-82DB-D4421BCCEB2A}" destId="{E9BBC485-7DFA-4AEC-AF06-D30C881B5801}" srcOrd="1" destOrd="0" presId="urn:microsoft.com/office/officeart/2005/8/layout/orgChart1"/>
    <dgm:cxn modelId="{3F3B17B0-2BE4-4A94-8641-CFC6E5B7877F}" type="presParOf" srcId="{1DBCFF6A-4A00-47EF-82DB-D4421BCCEB2A}" destId="{96850B73-BEEF-43A2-ACC6-F23C0B923CF6}" srcOrd="2" destOrd="0" presId="urn:microsoft.com/office/officeart/2005/8/layout/orgChart1"/>
    <dgm:cxn modelId="{E704B095-4375-489B-81A0-64A0C27C837C}" type="presParOf" srcId="{7B5A1899-3CFF-4C86-A3F0-616C0EE8D6C6}" destId="{FD9D3AF5-878C-4CA6-93DC-B005D285326A}" srcOrd="2" destOrd="0" presId="urn:microsoft.com/office/officeart/2005/8/layout/orgChart1"/>
    <dgm:cxn modelId="{F956E5A7-2933-490D-8424-731DADA68B1A}" type="presParOf" srcId="{7B5A1899-3CFF-4C86-A3F0-616C0EE8D6C6}" destId="{322A77DC-B8A1-4E00-B932-5331C8CF1C04}" srcOrd="3" destOrd="0" presId="urn:microsoft.com/office/officeart/2005/8/layout/orgChart1"/>
    <dgm:cxn modelId="{F5C13FAF-8588-42A8-906C-86AE23E7AC0E}" type="presParOf" srcId="{322A77DC-B8A1-4E00-B932-5331C8CF1C04}" destId="{27EF2CE9-4F45-47F8-9431-A32AC049EF38}" srcOrd="0" destOrd="0" presId="urn:microsoft.com/office/officeart/2005/8/layout/orgChart1"/>
    <dgm:cxn modelId="{897EB084-97C5-4D79-82BE-9C6E9D854E7E}" type="presParOf" srcId="{27EF2CE9-4F45-47F8-9431-A32AC049EF38}" destId="{7BA5E6BE-5190-4999-808F-FE69364785E3}" srcOrd="0" destOrd="0" presId="urn:microsoft.com/office/officeart/2005/8/layout/orgChart1"/>
    <dgm:cxn modelId="{33EE93F9-5473-45AD-B952-E3785B757D58}" type="presParOf" srcId="{27EF2CE9-4F45-47F8-9431-A32AC049EF38}" destId="{24B5D2EB-93BF-46B0-B82F-4BB4DECFF3DC}" srcOrd="1" destOrd="0" presId="urn:microsoft.com/office/officeart/2005/8/layout/orgChart1"/>
    <dgm:cxn modelId="{B2A6E104-03DA-4653-955E-B2F76280DA1A}" type="presParOf" srcId="{322A77DC-B8A1-4E00-B932-5331C8CF1C04}" destId="{1D1B1398-D379-4FE3-8C2C-0DC7723A6A02}" srcOrd="1" destOrd="0" presId="urn:microsoft.com/office/officeart/2005/8/layout/orgChart1"/>
    <dgm:cxn modelId="{D732A259-9826-4487-AC9A-68AAF389B671}" type="presParOf" srcId="{1D1B1398-D379-4FE3-8C2C-0DC7723A6A02}" destId="{B06C5473-33FB-4FBA-AAD2-60D41DCF7E81}" srcOrd="0" destOrd="0" presId="urn:microsoft.com/office/officeart/2005/8/layout/orgChart1"/>
    <dgm:cxn modelId="{B99706F6-DE9E-4406-AFA0-825EFA23E69E}" type="presParOf" srcId="{1D1B1398-D379-4FE3-8C2C-0DC7723A6A02}" destId="{916E09B2-7792-47D7-A9C6-8BDF8A91130A}" srcOrd="1" destOrd="0" presId="urn:microsoft.com/office/officeart/2005/8/layout/orgChart1"/>
    <dgm:cxn modelId="{ABE51127-2EFC-4B0A-BCAF-34954AC296AF}" type="presParOf" srcId="{916E09B2-7792-47D7-A9C6-8BDF8A91130A}" destId="{809142BE-EC3C-4A3B-901F-CF97297B5D63}" srcOrd="0" destOrd="0" presId="urn:microsoft.com/office/officeart/2005/8/layout/orgChart1"/>
    <dgm:cxn modelId="{B038B2BF-FB58-47F4-A846-9CB19D8A3D14}" type="presParOf" srcId="{809142BE-EC3C-4A3B-901F-CF97297B5D63}" destId="{67FB989A-CAB0-47C1-8F52-1E9C12A211F8}" srcOrd="0" destOrd="0" presId="urn:microsoft.com/office/officeart/2005/8/layout/orgChart1"/>
    <dgm:cxn modelId="{75349BB3-B7D8-4D4E-9596-22ED7C4B6289}" type="presParOf" srcId="{809142BE-EC3C-4A3B-901F-CF97297B5D63}" destId="{B9356289-A109-4491-91CA-D28344F5C2B7}" srcOrd="1" destOrd="0" presId="urn:microsoft.com/office/officeart/2005/8/layout/orgChart1"/>
    <dgm:cxn modelId="{4A4A72C3-8BE0-40DC-B4FF-9E35D734D2A2}" type="presParOf" srcId="{916E09B2-7792-47D7-A9C6-8BDF8A91130A}" destId="{0D34958C-0652-46FC-B92B-9D382EE5B17D}" srcOrd="1" destOrd="0" presId="urn:microsoft.com/office/officeart/2005/8/layout/orgChart1"/>
    <dgm:cxn modelId="{1F3FDA6D-6A8B-452F-9560-03058FF9EF83}" type="presParOf" srcId="{916E09B2-7792-47D7-A9C6-8BDF8A91130A}" destId="{FB638DBC-B422-4CDD-ABCB-49DE9BB0DF48}" srcOrd="2" destOrd="0" presId="urn:microsoft.com/office/officeart/2005/8/layout/orgChart1"/>
    <dgm:cxn modelId="{BFD42F36-BA78-4EEA-8491-029ECEEFF693}" type="presParOf" srcId="{1D1B1398-D379-4FE3-8C2C-0DC7723A6A02}" destId="{D123266F-7B85-471A-883A-DBCD7879F6E1}" srcOrd="2" destOrd="0" presId="urn:microsoft.com/office/officeart/2005/8/layout/orgChart1"/>
    <dgm:cxn modelId="{C0D5EEB3-F05B-4027-978F-AF680480274D}" type="presParOf" srcId="{1D1B1398-D379-4FE3-8C2C-0DC7723A6A02}" destId="{1F84EC81-7577-4274-BB72-3DBA04234BA0}" srcOrd="3" destOrd="0" presId="urn:microsoft.com/office/officeart/2005/8/layout/orgChart1"/>
    <dgm:cxn modelId="{9F22ED03-2986-4BCD-A633-5083D0DDBA41}" type="presParOf" srcId="{1F84EC81-7577-4274-BB72-3DBA04234BA0}" destId="{C3FCF7E8-CA81-4664-8DD6-DFB9052C70A9}" srcOrd="0" destOrd="0" presId="urn:microsoft.com/office/officeart/2005/8/layout/orgChart1"/>
    <dgm:cxn modelId="{15F4E98D-A895-4E61-976B-4A5014C12D30}" type="presParOf" srcId="{C3FCF7E8-CA81-4664-8DD6-DFB9052C70A9}" destId="{506B21B4-2CC6-45CC-BDC8-B4EC81C6C934}" srcOrd="0" destOrd="0" presId="urn:microsoft.com/office/officeart/2005/8/layout/orgChart1"/>
    <dgm:cxn modelId="{C67EB5EB-C662-4453-B6ED-522E10AE4A8F}" type="presParOf" srcId="{C3FCF7E8-CA81-4664-8DD6-DFB9052C70A9}" destId="{B1F4D464-ECC6-4870-8893-0D89A3FA9425}" srcOrd="1" destOrd="0" presId="urn:microsoft.com/office/officeart/2005/8/layout/orgChart1"/>
    <dgm:cxn modelId="{9146AAC1-98B8-40F4-B14D-21674B1C14B1}" type="presParOf" srcId="{1F84EC81-7577-4274-BB72-3DBA04234BA0}" destId="{93831120-37A9-4465-A442-7AC91017C215}" srcOrd="1" destOrd="0" presId="urn:microsoft.com/office/officeart/2005/8/layout/orgChart1"/>
    <dgm:cxn modelId="{0F4513AC-0F68-49EA-A593-F040B33B05C6}" type="presParOf" srcId="{1F84EC81-7577-4274-BB72-3DBA04234BA0}" destId="{6B823315-718F-4290-A232-FA7444D0284D}" srcOrd="2" destOrd="0" presId="urn:microsoft.com/office/officeart/2005/8/layout/orgChart1"/>
    <dgm:cxn modelId="{E409819D-108D-4E81-9433-8AC38748F597}" type="presParOf" srcId="{322A77DC-B8A1-4E00-B932-5331C8CF1C04}" destId="{9E50FDA0-D8FC-4C67-920A-F4BDB11CB9C0}" srcOrd="2" destOrd="0" presId="urn:microsoft.com/office/officeart/2005/8/layout/orgChart1"/>
    <dgm:cxn modelId="{37292227-1614-481E-BE66-0F2237F2874E}" type="presParOf" srcId="{9E50FDA0-D8FC-4C67-920A-F4BDB11CB9C0}" destId="{DD3097E3-ACEC-4944-8C33-C0B18593813D}" srcOrd="0" destOrd="0" presId="urn:microsoft.com/office/officeart/2005/8/layout/orgChart1"/>
    <dgm:cxn modelId="{1E9F4793-0071-443D-9608-82E4A7F2D83C}" type="presParOf" srcId="{9E50FDA0-D8FC-4C67-920A-F4BDB11CB9C0}" destId="{A0154E15-34C9-4B43-9C9F-BA1141CC8C46}" srcOrd="1" destOrd="0" presId="urn:microsoft.com/office/officeart/2005/8/layout/orgChart1"/>
    <dgm:cxn modelId="{90B39FDA-AB22-4BD9-9596-4FDBAF7FA25B}" type="presParOf" srcId="{A0154E15-34C9-4B43-9C9F-BA1141CC8C46}" destId="{9492BA16-9B32-43FE-BDFB-7A480A538A8D}" srcOrd="0" destOrd="0" presId="urn:microsoft.com/office/officeart/2005/8/layout/orgChart1"/>
    <dgm:cxn modelId="{7D225CCD-68AF-43AB-A361-2031ADDC79D8}" type="presParOf" srcId="{9492BA16-9B32-43FE-BDFB-7A480A538A8D}" destId="{B0282B6E-0DC4-48B4-9808-42CEF7FD551C}" srcOrd="0" destOrd="0" presId="urn:microsoft.com/office/officeart/2005/8/layout/orgChart1"/>
    <dgm:cxn modelId="{35398991-03E5-439B-A00C-73E5437FE2CA}" type="presParOf" srcId="{9492BA16-9B32-43FE-BDFB-7A480A538A8D}" destId="{76B4B500-480C-4A68-9264-F1B76DCEB172}" srcOrd="1" destOrd="0" presId="urn:microsoft.com/office/officeart/2005/8/layout/orgChart1"/>
    <dgm:cxn modelId="{EF62A248-E8F7-40C3-97E7-8F9CE771EE77}" type="presParOf" srcId="{A0154E15-34C9-4B43-9C9F-BA1141CC8C46}" destId="{772CBCFE-6582-4FF2-AF03-BB758101A82A}" srcOrd="1" destOrd="0" presId="urn:microsoft.com/office/officeart/2005/8/layout/orgChart1"/>
    <dgm:cxn modelId="{6C5705E2-A03A-4303-9994-60FB9E56A331}" type="presParOf" srcId="{A0154E15-34C9-4B43-9C9F-BA1141CC8C46}" destId="{C8A91481-0E1B-47F8-B6D5-0882FDDE72BC}" srcOrd="2" destOrd="0" presId="urn:microsoft.com/office/officeart/2005/8/layout/orgChart1"/>
    <dgm:cxn modelId="{2ACBB5C3-8BA8-4FE4-A738-6FD4B1FD9672}" type="presParOf" srcId="{0A24151E-4351-43A0-853A-9E567F576160}" destId="{703D088A-2A38-4509-B61C-AD977D55FC39}" srcOrd="2" destOrd="0" presId="urn:microsoft.com/office/officeart/2005/8/layout/orgChart1"/>
    <dgm:cxn modelId="{8E571AE6-B170-4A24-9AD9-BEAA2B330E0C}" type="presParOf" srcId="{703D088A-2A38-4509-B61C-AD977D55FC39}" destId="{0CED956C-E287-4D07-8CF4-48525A31DC17}" srcOrd="0" destOrd="0" presId="urn:microsoft.com/office/officeart/2005/8/layout/orgChart1"/>
    <dgm:cxn modelId="{2E4312E1-0858-403C-81FD-B9E9727798F0}" type="presParOf" srcId="{703D088A-2A38-4509-B61C-AD977D55FC39}" destId="{7AD1CC11-0AF2-4AB1-807A-E1F2B1F0C5C1}" srcOrd="1" destOrd="0" presId="urn:microsoft.com/office/officeart/2005/8/layout/orgChart1"/>
    <dgm:cxn modelId="{A260CBA6-7D32-46C2-AC49-71ADF0CC5F91}" type="presParOf" srcId="{7AD1CC11-0AF2-4AB1-807A-E1F2B1F0C5C1}" destId="{197C1EC1-94FC-448F-A464-BA163021649B}" srcOrd="0" destOrd="0" presId="urn:microsoft.com/office/officeart/2005/8/layout/orgChart1"/>
    <dgm:cxn modelId="{30DA3E3A-C3ED-4C2C-8C7E-9B8EFB987691}" type="presParOf" srcId="{197C1EC1-94FC-448F-A464-BA163021649B}" destId="{38B0E322-1527-4CEF-A62A-57DBB7A6F83B}" srcOrd="0" destOrd="0" presId="urn:microsoft.com/office/officeart/2005/8/layout/orgChart1"/>
    <dgm:cxn modelId="{416FD5CC-6631-4DE4-82C1-96B57990F265}" type="presParOf" srcId="{197C1EC1-94FC-448F-A464-BA163021649B}" destId="{317E5480-EE87-4794-87B5-D6A96744AF1B}" srcOrd="1" destOrd="0" presId="urn:microsoft.com/office/officeart/2005/8/layout/orgChart1"/>
    <dgm:cxn modelId="{D60247F0-CED0-4E04-AA63-1CFABA784DCC}" type="presParOf" srcId="{7AD1CC11-0AF2-4AB1-807A-E1F2B1F0C5C1}" destId="{B594D243-91C7-4719-BDF7-357AB8F463A6}" srcOrd="1" destOrd="0" presId="urn:microsoft.com/office/officeart/2005/8/layout/orgChart1"/>
    <dgm:cxn modelId="{AD0AD851-C604-440E-AE7F-B7ADE38B39FA}" type="presParOf" srcId="{7AD1CC11-0AF2-4AB1-807A-E1F2B1F0C5C1}" destId="{B2FB3A3E-231F-4D22-BE86-047BC22C6EF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D956C-E287-4D07-8CF4-48525A31DC17}">
      <dsp:nvSpPr>
        <dsp:cNvPr id="0" name=""/>
        <dsp:cNvSpPr/>
      </dsp:nvSpPr>
      <dsp:spPr>
        <a:xfrm>
          <a:off x="4201511" y="657946"/>
          <a:ext cx="446695" cy="4811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181"/>
              </a:lnTo>
              <a:lnTo>
                <a:pt x="446695" y="4811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3097E3-ACEC-4944-8C33-C0B18593813D}">
      <dsp:nvSpPr>
        <dsp:cNvPr id="0" name=""/>
        <dsp:cNvSpPr/>
      </dsp:nvSpPr>
      <dsp:spPr>
        <a:xfrm>
          <a:off x="5756452" y="2461463"/>
          <a:ext cx="481555" cy="488276"/>
        </a:xfrm>
        <a:custGeom>
          <a:avLst/>
          <a:gdLst/>
          <a:ahLst/>
          <a:cxnLst/>
          <a:rect l="0" t="0" r="0" b="0"/>
          <a:pathLst>
            <a:path>
              <a:moveTo>
                <a:pt x="481555" y="0"/>
              </a:moveTo>
              <a:lnTo>
                <a:pt x="481555" y="488276"/>
              </a:lnTo>
              <a:lnTo>
                <a:pt x="0" y="48827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3266F-7B85-471A-883A-DBCD7879F6E1}">
      <dsp:nvSpPr>
        <dsp:cNvPr id="0" name=""/>
        <dsp:cNvSpPr/>
      </dsp:nvSpPr>
      <dsp:spPr>
        <a:xfrm>
          <a:off x="6238007" y="2461463"/>
          <a:ext cx="517473" cy="16820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2008"/>
              </a:lnTo>
              <a:lnTo>
                <a:pt x="517473" y="16820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6C5473-33FB-4FBA-AAD2-60D41DCF7E81}">
      <dsp:nvSpPr>
        <dsp:cNvPr id="0" name=""/>
        <dsp:cNvSpPr/>
      </dsp:nvSpPr>
      <dsp:spPr>
        <a:xfrm>
          <a:off x="6238007" y="2461463"/>
          <a:ext cx="517473" cy="6988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8832"/>
              </a:lnTo>
              <a:lnTo>
                <a:pt x="517473" y="6988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9D3AF5-878C-4CA6-93DC-B005D285326A}">
      <dsp:nvSpPr>
        <dsp:cNvPr id="0" name=""/>
        <dsp:cNvSpPr/>
      </dsp:nvSpPr>
      <dsp:spPr>
        <a:xfrm>
          <a:off x="4201511" y="657946"/>
          <a:ext cx="2036496" cy="1146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8567"/>
              </a:lnTo>
              <a:lnTo>
                <a:pt x="2036496" y="1008567"/>
              </a:lnTo>
              <a:lnTo>
                <a:pt x="2036496" y="11465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E7D53-FD9B-4568-9C36-37402798CF67}">
      <dsp:nvSpPr>
        <dsp:cNvPr id="0" name=""/>
        <dsp:cNvSpPr/>
      </dsp:nvSpPr>
      <dsp:spPr>
        <a:xfrm>
          <a:off x="1774516" y="2461463"/>
          <a:ext cx="536742" cy="551103"/>
        </a:xfrm>
        <a:custGeom>
          <a:avLst/>
          <a:gdLst/>
          <a:ahLst/>
          <a:cxnLst/>
          <a:rect l="0" t="0" r="0" b="0"/>
          <a:pathLst>
            <a:path>
              <a:moveTo>
                <a:pt x="536742" y="0"/>
              </a:moveTo>
              <a:lnTo>
                <a:pt x="536742" y="551103"/>
              </a:lnTo>
              <a:lnTo>
                <a:pt x="0" y="5511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4627D4-1D7F-4AFF-AC42-A4C0C5CB255E}">
      <dsp:nvSpPr>
        <dsp:cNvPr id="0" name=""/>
        <dsp:cNvSpPr/>
      </dsp:nvSpPr>
      <dsp:spPr>
        <a:xfrm>
          <a:off x="2311258" y="2461463"/>
          <a:ext cx="352974" cy="2184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4633"/>
              </a:lnTo>
              <a:lnTo>
                <a:pt x="352974" y="21846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D2387B-D062-48C8-9A6F-3CB3A2ECA4C4}">
      <dsp:nvSpPr>
        <dsp:cNvPr id="0" name=""/>
        <dsp:cNvSpPr/>
      </dsp:nvSpPr>
      <dsp:spPr>
        <a:xfrm>
          <a:off x="2311258" y="2461463"/>
          <a:ext cx="352974" cy="1179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9383"/>
              </a:lnTo>
              <a:lnTo>
                <a:pt x="352974" y="117938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C32285-9734-41E3-A53F-165D1F928993}">
      <dsp:nvSpPr>
        <dsp:cNvPr id="0" name=""/>
        <dsp:cNvSpPr/>
      </dsp:nvSpPr>
      <dsp:spPr>
        <a:xfrm>
          <a:off x="2311258" y="657946"/>
          <a:ext cx="1890252" cy="1146534"/>
        </a:xfrm>
        <a:custGeom>
          <a:avLst/>
          <a:gdLst/>
          <a:ahLst/>
          <a:cxnLst/>
          <a:rect l="0" t="0" r="0" b="0"/>
          <a:pathLst>
            <a:path>
              <a:moveTo>
                <a:pt x="1890252" y="0"/>
              </a:moveTo>
              <a:lnTo>
                <a:pt x="1890252" y="1008567"/>
              </a:lnTo>
              <a:lnTo>
                <a:pt x="0" y="1008567"/>
              </a:lnTo>
              <a:lnTo>
                <a:pt x="0" y="11465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1873E5-3F19-4192-8495-9475194832F9}">
      <dsp:nvSpPr>
        <dsp:cNvPr id="0" name=""/>
        <dsp:cNvSpPr/>
      </dsp:nvSpPr>
      <dsp:spPr>
        <a:xfrm>
          <a:off x="3544528" y="963"/>
          <a:ext cx="1313966" cy="656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Total risk</a:t>
          </a:r>
          <a:endParaRPr lang="en-ZA" sz="2000" kern="1200" dirty="0"/>
        </a:p>
      </dsp:txBody>
      <dsp:txXfrm>
        <a:off x="3544528" y="963"/>
        <a:ext cx="1313966" cy="656983"/>
      </dsp:txXfrm>
    </dsp:sp>
    <dsp:sp modelId="{688EA08F-59D0-498B-86B3-5FADE77BD316}">
      <dsp:nvSpPr>
        <dsp:cNvPr id="0" name=""/>
        <dsp:cNvSpPr/>
      </dsp:nvSpPr>
      <dsp:spPr>
        <a:xfrm>
          <a:off x="1340139" y="1804480"/>
          <a:ext cx="1942239" cy="656983"/>
        </a:xfrm>
        <a:prstGeom prst="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Diversifiable risk</a:t>
          </a:r>
          <a:endParaRPr lang="en-ZA" sz="2000" kern="1200" dirty="0"/>
        </a:p>
      </dsp:txBody>
      <dsp:txXfrm>
        <a:off x="1340139" y="1804480"/>
        <a:ext cx="1942239" cy="656983"/>
      </dsp:txXfrm>
    </dsp:sp>
    <dsp:sp modelId="{D440D059-9367-4AA5-88AC-880DDBD4AC01}">
      <dsp:nvSpPr>
        <dsp:cNvPr id="0" name=""/>
        <dsp:cNvSpPr/>
      </dsp:nvSpPr>
      <dsp:spPr>
        <a:xfrm>
          <a:off x="2664233" y="3312355"/>
          <a:ext cx="1758086" cy="656983"/>
        </a:xfrm>
        <a:prstGeom prst="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Company specific risk</a:t>
          </a:r>
          <a:endParaRPr lang="en-ZA" sz="2000" kern="1200" dirty="0"/>
        </a:p>
      </dsp:txBody>
      <dsp:txXfrm>
        <a:off x="2664233" y="3312355"/>
        <a:ext cx="1758086" cy="656983"/>
      </dsp:txXfrm>
    </dsp:sp>
    <dsp:sp modelId="{D8EDAEAA-7D75-4830-99BF-EDFEA9C5AFED}">
      <dsp:nvSpPr>
        <dsp:cNvPr id="0" name=""/>
        <dsp:cNvSpPr/>
      </dsp:nvSpPr>
      <dsp:spPr>
        <a:xfrm>
          <a:off x="2664233" y="4317605"/>
          <a:ext cx="1690943" cy="656983"/>
        </a:xfrm>
        <a:prstGeom prst="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Unsystematic risk</a:t>
          </a:r>
          <a:endParaRPr lang="en-ZA" sz="2000" kern="1200" dirty="0"/>
        </a:p>
      </dsp:txBody>
      <dsp:txXfrm>
        <a:off x="2664233" y="4317605"/>
        <a:ext cx="1690943" cy="656983"/>
      </dsp:txXfrm>
    </dsp:sp>
    <dsp:sp modelId="{11F89536-BA4A-4DC2-B104-5B7EC49D2628}">
      <dsp:nvSpPr>
        <dsp:cNvPr id="0" name=""/>
        <dsp:cNvSpPr/>
      </dsp:nvSpPr>
      <dsp:spPr>
        <a:xfrm>
          <a:off x="460550" y="2684075"/>
          <a:ext cx="1313966" cy="656983"/>
        </a:xfrm>
        <a:prstGeom prst="rect">
          <a:avLst/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reward</a:t>
          </a:r>
          <a:endParaRPr lang="en-ZA" sz="2000" kern="1200" dirty="0"/>
        </a:p>
      </dsp:txBody>
      <dsp:txXfrm>
        <a:off x="460550" y="2684075"/>
        <a:ext cx="1313966" cy="656983"/>
      </dsp:txXfrm>
    </dsp:sp>
    <dsp:sp modelId="{7BA5E6BE-5190-4999-808F-FE69364785E3}">
      <dsp:nvSpPr>
        <dsp:cNvPr id="0" name=""/>
        <dsp:cNvSpPr/>
      </dsp:nvSpPr>
      <dsp:spPr>
        <a:xfrm>
          <a:off x="5235471" y="1804480"/>
          <a:ext cx="2005073" cy="656983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Non-diversifiable risk</a:t>
          </a:r>
          <a:endParaRPr lang="en-ZA" sz="2000" kern="1200" dirty="0"/>
        </a:p>
      </dsp:txBody>
      <dsp:txXfrm>
        <a:off x="5235471" y="1804480"/>
        <a:ext cx="2005073" cy="656983"/>
      </dsp:txXfrm>
    </dsp:sp>
    <dsp:sp modelId="{67FB989A-CAB0-47C1-8F52-1E9C12A211F8}">
      <dsp:nvSpPr>
        <dsp:cNvPr id="0" name=""/>
        <dsp:cNvSpPr/>
      </dsp:nvSpPr>
      <dsp:spPr>
        <a:xfrm>
          <a:off x="6755481" y="2831805"/>
          <a:ext cx="1313966" cy="656983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Market risk</a:t>
          </a:r>
          <a:endParaRPr lang="en-ZA" sz="2000" kern="1200" dirty="0"/>
        </a:p>
      </dsp:txBody>
      <dsp:txXfrm>
        <a:off x="6755481" y="2831805"/>
        <a:ext cx="1313966" cy="656983"/>
      </dsp:txXfrm>
    </dsp:sp>
    <dsp:sp modelId="{506B21B4-2CC6-45CC-BDC8-B4EC81C6C934}">
      <dsp:nvSpPr>
        <dsp:cNvPr id="0" name=""/>
        <dsp:cNvSpPr/>
      </dsp:nvSpPr>
      <dsp:spPr>
        <a:xfrm>
          <a:off x="6755481" y="3814980"/>
          <a:ext cx="1313966" cy="656983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Systematic risk</a:t>
          </a:r>
          <a:endParaRPr lang="en-ZA" sz="2000" kern="1200" dirty="0"/>
        </a:p>
      </dsp:txBody>
      <dsp:txXfrm>
        <a:off x="6755481" y="3814980"/>
        <a:ext cx="1313966" cy="656983"/>
      </dsp:txXfrm>
    </dsp:sp>
    <dsp:sp modelId="{B0282B6E-0DC4-48B4-9808-42CEF7FD551C}">
      <dsp:nvSpPr>
        <dsp:cNvPr id="0" name=""/>
        <dsp:cNvSpPr/>
      </dsp:nvSpPr>
      <dsp:spPr>
        <a:xfrm>
          <a:off x="4442486" y="2621248"/>
          <a:ext cx="1313966" cy="656983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β</a:t>
          </a:r>
          <a:endParaRPr lang="en-ZA" sz="2000" kern="1200" dirty="0"/>
        </a:p>
      </dsp:txBody>
      <dsp:txXfrm>
        <a:off x="4442486" y="2621248"/>
        <a:ext cx="1313966" cy="656983"/>
      </dsp:txXfrm>
    </dsp:sp>
    <dsp:sp modelId="{38B0E322-1527-4CEF-A62A-57DBB7A6F83B}">
      <dsp:nvSpPr>
        <dsp:cNvPr id="0" name=""/>
        <dsp:cNvSpPr/>
      </dsp:nvSpPr>
      <dsp:spPr>
        <a:xfrm>
          <a:off x="4648207" y="810635"/>
          <a:ext cx="1313966" cy="656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σ</a:t>
          </a:r>
          <a:endParaRPr lang="en-ZA" sz="2000" kern="1200" dirty="0"/>
        </a:p>
      </dsp:txBody>
      <dsp:txXfrm>
        <a:off x="4648207" y="810635"/>
        <a:ext cx="1313966" cy="656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D2BE-9518-C117-E5A2-A4DF1B4FB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B000B10-6FB6-D1E9-940D-F4264B7B96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1EB0E48-8AC2-ACC7-5D2F-489AC177E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34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0251-1565-832E-02AE-E6F3A7CD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9013677-E580-4B22-C8DE-724AD30750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7E6B985-40DB-5F91-FCA8-15FC77705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034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5944-C1E0-D75E-629F-E73FB350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148A79D-94CC-5E36-0440-2364C787A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A2B3240-4E5E-005D-3FCD-E4294E240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28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2551-9BAD-046A-98F3-854E3EA7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35370F9-08BD-2463-6DDD-1162FFC413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A705A5C-3662-933F-F408-6EF534BA5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01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0C7E-DE77-F4F1-2BA4-E582440D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D6A42A0-847A-12F0-67E0-BC4CF5FE27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2A05669-D23C-3902-70BA-5A89438348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161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7C5F-47AF-853B-5047-D613C6EE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FDAE5B3-6B72-9D29-DE1A-5F9A3EA83B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353BC1A-1FA0-4998-E570-0FC7A1AC8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623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8FB17-EB1E-38C9-E153-08F763DD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148265B-C46A-57D0-E583-780761742B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B472D84-369A-75C3-7221-8C4E1AC5E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531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890D-A6F2-50A7-88DB-A758E3AE0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740F197-120A-C1AA-17BA-24F12CDF4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1129AA5-3E5B-C9B0-F0A8-EDC43C1E5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817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CD1A7-7345-E1CE-2EF3-DB2F742D0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70F9D73-6389-B4B7-D549-35EB24269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3360BEB-9895-0014-30D4-F45336288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251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9FDA-3B8D-3C7C-5068-5768678C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82A7745-45E7-DA63-DF66-ADDEF7F32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A3B08E-D395-6E7C-B78E-CF21B82BD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818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501B-5236-6B9F-0AB3-FE1DB8EF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548C708-2962-3582-BD4A-476C66ADA5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63B473E-C78D-2709-03CA-BBFF4084E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5C0C-3C01-5F0F-881A-859C4BB3E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70AF988-8DD9-EF1C-7C7C-BCBF37FD0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31B8081-AE35-28E0-2979-1EACD23C3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440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E69E-A34B-A1AD-CE80-19EBFEAC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859A99C-180E-375B-C819-110CC3BDDD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8A5E9C8-0249-F492-30E0-282FF1F45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51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4A49-98BD-6D79-E6D8-DD3819D7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50B7328-75B1-5B02-DBD5-FC3C9B07B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3F5A6D4-D2B9-79C3-51EA-1ECF1FE44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503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A684-BB37-2650-63DA-86123467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830AAF0-BEFB-E940-738A-C524C817A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3623112-C773-AD8C-6C0F-4B0585EF6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988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4375-CDE3-7567-2F84-F9599148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344652-83DD-410C-3CB9-DC2B2E2805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6FFAB15-552F-6D12-E7DA-BD998E767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174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D94FA-EF19-84AB-37D4-284A1E47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69A673E-F69E-F11A-940D-F2ADC75722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1191760-321A-C83E-ACFF-EF1AD7FB5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65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3186-82AF-642C-9C1D-01AD5F39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BAFD41D-63A2-81DB-A73E-59945F894C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DB91858-E788-9CC8-697C-DC426BCD8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489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04A1-1D53-386E-B017-A41EBCABD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BB9B8E4-7735-8949-5093-377FF10EC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D5DACA5-6A9F-8304-4012-3AA990F6B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80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1677D-F48E-E67A-266B-B61AAEE6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76A95DE-BBB2-DF0A-0F43-FACBFA96E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220C063-CA90-A118-6130-D3492B67F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14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2485-60FD-058D-9E4A-715312704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ED8D8C4-7D64-698A-089B-4E4A899D20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30F1734-D318-9E3B-F85A-559735BC6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313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1836-7487-D156-D9CD-D3B0FFDA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88CD510-7B38-ACA7-CF7F-D9B993D0AC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4D131CB-FCD3-EA38-CE2E-5E0F2D03A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240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E378-D224-EF27-7C5E-CE868868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F610A47-F40E-98AE-6E97-3FF54F7710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B2AA86D-FCA0-BD31-AED6-B1DFDAB78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896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43E5-7340-1B61-B85E-0DACE37C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F67B1B7-32F0-70D3-C8C7-627F211EB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06A23DE-0B96-32B3-255B-9B61E4D42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348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EFCC3-C98A-C3F1-0445-C6806C1A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AA4AB95-4825-550F-44DC-A79AEF31CE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B01F982-3D16-B3E5-53C2-D0C9C751C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44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F600-D714-89CF-2B70-545952E1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DB12D5E-A1ED-FB6C-110B-028DE4AAA4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BB793BF-301D-69BD-419B-DB9F89F76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2283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452D-F6E4-84CB-E98D-4240B04FD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B75D254-27FB-D039-A675-9C69116B1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212142F-7D1F-F7C5-AE74-0A7EBF883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6257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49177-975E-B5F0-84F8-A5E282D9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7204A2-CEB4-3BD0-ADF0-1D6B11F96E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8E4ACBB-5B66-28E6-07EC-1DED96ADB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830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576D0-AEB4-8FF5-7E06-7B4DF776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0BD49C6-C5A0-F9E8-81B7-D5AE188707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8758C0B-E277-E9BE-A3BD-5E94A2FD1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3390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D9B0-6DD3-FC81-6731-04124B6B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6CF563-1CC2-B149-19A9-16B6778E6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1DB5EB6-9D01-B0D2-7ED2-FBEE0A0A7C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1007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33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2/20/2026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0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334000" y="2514600"/>
            <a:ext cx="3238583" cy="107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and return – Part 2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6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Rootman, Dr S Watson, Ms E Kobese </a:t>
            </a:r>
          </a:p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&amp; Ms N Maliwa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28287A"/>
              </a:solidFill>
              <a:effectLst/>
              <a:uLnTx/>
              <a:uFillTx/>
              <a:latin typeface="+mn-lt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6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calculate rates of return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identify and evaluate sources of risk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/>
              <a:t>measure risk by means of variance, standard deviation and coefficient of variation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>
                <a:solidFill>
                  <a:srgbClr val="C00000"/>
                </a:solidFill>
              </a:rPr>
              <a:t>determine the return of a portfolio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>
                <a:solidFill>
                  <a:srgbClr val="C00000"/>
                </a:solidFill>
              </a:rPr>
              <a:t>determine the required rate of return by means of the capital asset pricing model (CAPM)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ZA" sz="2400" dirty="0">
                <a:solidFill>
                  <a:srgbClr val="C00000"/>
                </a:solidFill>
              </a:rPr>
              <a:t>use arbitrage pricing theory (APT) in order to determine the required rate of return.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endParaRPr lang="en-ZA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68AAE9-EA2F-4C9B-9FE2-2C5786A85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AE10377-E6C2-FE95-C966-AFD808056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Portfolio risk and return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ED7E1BE-5D62-2AB3-3F73-7720E2ED9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Weighted average expected return on shares held in portfolio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93825F-9B67-2B7B-1B2E-F062EC2F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CC370D-02CE-0A32-65E9-9666AC612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87" y="2522442"/>
            <a:ext cx="7200113" cy="21836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6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3841A4-580A-1893-7C94-14777721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24218A7-E0F2-03C4-4A8D-A166A7523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Portfolio risk and return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C3409F4-7F3A-A7F6-F605-00DFF854B3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Example: Assume equal weighting of 4 companies in portfolio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/>
              <a:t>		Company		Expected return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/>
              <a:t>		AT&amp;T				8%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/>
              <a:t>		Citigroup			13%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/>
              <a:t>		General Electric		19%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/>
              <a:t>		Microsoft			16%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24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/>
              <a:t>	=	0.25(8) + 0.25(13) + 0.25(19) + 0.25(16)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400" kern="0" dirty="0"/>
              <a:t>	=	14.00%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This is the expected return on the portfolio.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Actual return may be 14.00% or it can be higher or lower!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1E3E21-503F-B256-61F5-381195BD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048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253127-378A-A618-A956-5E6C217C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BA6D2C4-D34F-D1C5-E582-08F9E682D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Portfolio risk and return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F0D112AF-6F68-9DED-8444-4573186B1D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Portfolio risk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kern="0" dirty="0">
                <a:solidFill>
                  <a:srgbClr val="C00000"/>
                </a:solidFill>
              </a:rPr>
              <a:t>Risk of portfolio NOT a weighted average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Correlation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Degree two securities (variables) move together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b="1" dirty="0">
                <a:solidFill>
                  <a:srgbClr val="CC3300"/>
                </a:solidFill>
                <a:sym typeface="Symbol" pitchFamily="18" charset="2"/>
              </a:rPr>
              <a:t> = +1</a:t>
            </a:r>
            <a:r>
              <a:rPr lang="en-ZA" sz="2400" dirty="0">
                <a:sym typeface="Symbol" pitchFamily="18" charset="2"/>
              </a:rPr>
              <a:t> </a:t>
            </a:r>
            <a:r>
              <a:rPr lang="en-US" sz="2400" dirty="0"/>
              <a:t>Perfect positive correlation (what we do NOT want!) – move in opposite directions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b="1" dirty="0">
                <a:solidFill>
                  <a:srgbClr val="CC3300"/>
                </a:solidFill>
                <a:sym typeface="Symbol" pitchFamily="18" charset="2"/>
              </a:rPr>
              <a:t> = -1</a:t>
            </a:r>
            <a:r>
              <a:rPr lang="en-ZA" sz="2400" dirty="0">
                <a:sym typeface="Symbol" pitchFamily="18" charset="2"/>
              </a:rPr>
              <a:t> </a:t>
            </a:r>
            <a:r>
              <a:rPr lang="en-US" sz="2400" dirty="0"/>
              <a:t>Perfect negative correlation (what we want!) – move in same direction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ZA" sz="2400" b="1" dirty="0">
                <a:solidFill>
                  <a:srgbClr val="CC3300"/>
                </a:solidFill>
                <a:sym typeface="Symbol" pitchFamily="18" charset="2"/>
              </a:rPr>
              <a:t> = 0</a:t>
            </a:r>
            <a:r>
              <a:rPr lang="en-ZA" sz="2400" dirty="0">
                <a:sym typeface="Symbol" pitchFamily="18" charset="2"/>
              </a:rPr>
              <a:t> </a:t>
            </a:r>
            <a:r>
              <a:rPr lang="en-US" sz="2400" dirty="0"/>
              <a:t>No correlation – movement totally uncorrelated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238894-E263-1BED-F7AE-7803304B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8289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DB83BE-DFF8-7F8C-6724-D9F1AA76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23046D7D-BBDD-31FA-CD69-A999EE229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Portfolio risk and 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04AD1F-014B-ACA0-1DD9-06C8CDB1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140DB4-B3C2-6E87-096D-24637A78256A}"/>
              </a:ext>
            </a:extLst>
          </p:cNvPr>
          <p:cNvSpPr txBox="1"/>
          <p:nvPr/>
        </p:nvSpPr>
        <p:spPr>
          <a:xfrm>
            <a:off x="228600" y="9906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Figure 6.5: Positive and negative correlation for the returns on two securities</a:t>
            </a:r>
            <a:endParaRPr lang="en-ZA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833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DC5878-F03F-DE12-B9F4-0D24B49F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71A5CD5-F956-930D-0A79-5AD0FCBC2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Portfolio risk and 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B82C39-8933-A066-A8B2-571FF6B9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0B808CF-38C5-67D5-BFE8-C57BB15835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Portfolio risk (not in textbook but in study guide)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Assume we have combined two shares, Share A and Share B into one portfolio with an equal investment in both. The standard deviation for Share A is 59.30% and for Share B is 59.20%.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How do we calculate the total risk of a 2-share portfolio comprising of an equal investment in Company A (Share A) and </a:t>
            </a:r>
            <a:r>
              <a:rPr lang="en-US" sz="2400" dirty="0"/>
              <a:t>Company B (Share B)</a:t>
            </a:r>
            <a:r>
              <a:rPr lang="en-US" sz="2400" kern="0" dirty="0"/>
              <a:t>? Assume the correlation coefficient </a:t>
            </a:r>
            <a:r>
              <a:rPr lang="el-GR" sz="2400" kern="0" dirty="0"/>
              <a:t>ρ</a:t>
            </a:r>
            <a:r>
              <a:rPr lang="en-US" sz="2400" kern="0" dirty="0"/>
              <a:t> = -0.9738.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832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700403-9572-7BE5-C241-0BC812F1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43AEFED-DA6E-6391-4D2E-62DF61274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Portfolio risk and 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93D53-D37A-C88D-5A9C-5A52BD44D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BDB71C9-69B8-662E-2172-FE447664A5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>
                <a:sym typeface="Symbol" pitchFamily="18" charset="2"/>
              </a:rPr>
              <a:t></a:t>
            </a:r>
            <a:r>
              <a:rPr lang="en-US" sz="2400" baseline="-25000" dirty="0">
                <a:sym typeface="Symbol" pitchFamily="18" charset="2"/>
              </a:rPr>
              <a:t>p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 	= 	(0.5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)(59.30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) + (0.5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)(59.20</a:t>
            </a:r>
            <a:r>
              <a:rPr lang="en-US" sz="2400" baseline="30000" dirty="0">
                <a:sym typeface="Symbol" pitchFamily="18" charset="2"/>
              </a:rPr>
              <a:t>2</a:t>
            </a:r>
            <a:r>
              <a:rPr lang="en-US" sz="2400" dirty="0">
                <a:sym typeface="Symbol" pitchFamily="18" charset="2"/>
              </a:rPr>
              <a:t>) + 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>
                <a:sym typeface="Symbol" pitchFamily="18" charset="2"/>
              </a:rPr>
              <a:t>		2(0.5)(0.5)(59.30)(59.20)(-0.9738)</a:t>
            </a: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>
                <a:sym typeface="Symbol" pitchFamily="18" charset="2"/>
              </a:rPr>
              <a:t>	=	45.99</a:t>
            </a:r>
            <a:endParaRPr lang="en-US" sz="2400" b="1" dirty="0">
              <a:solidFill>
                <a:srgbClr val="CC3300"/>
              </a:solidFill>
              <a:sym typeface="Symbol" pitchFamily="18" charset="2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>
                <a:sym typeface="Symbol" pitchFamily="18" charset="2"/>
              </a:rPr>
              <a:t></a:t>
            </a:r>
            <a:r>
              <a:rPr lang="en-US" sz="2400" baseline="-25000" dirty="0">
                <a:sym typeface="Symbol" pitchFamily="18" charset="2"/>
              </a:rPr>
              <a:t>p</a:t>
            </a:r>
            <a:r>
              <a:rPr lang="en-US" sz="2400" dirty="0">
                <a:sym typeface="Symbol" pitchFamily="18" charset="2"/>
              </a:rPr>
              <a:t> 	=	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6.78%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958C56AD-6D6D-06D0-7538-4D6D6CC7A0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189174"/>
              </p:ext>
            </p:extLst>
          </p:nvPr>
        </p:nvGraphicFramePr>
        <p:xfrm>
          <a:off x="457200" y="1112728"/>
          <a:ext cx="74676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200" imgH="254000" progId="Equation.3">
                  <p:embed/>
                </p:oleObj>
              </mc:Choice>
              <mc:Fallback>
                <p:oleObj name="Equation" r:id="rId4" imgW="2616200" imgH="254000" progId="Equation.3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958C56AD-6D6D-06D0-7538-4D6D6CC7A0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12728"/>
                        <a:ext cx="74676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61495A4E-433A-5510-7881-08588C23B2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60154"/>
              </p:ext>
            </p:extLst>
          </p:nvPr>
        </p:nvGraphicFramePr>
        <p:xfrm>
          <a:off x="457200" y="1940417"/>
          <a:ext cx="1828800" cy="885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502" imgH="304668" progId="Equation.3">
                  <p:embed/>
                </p:oleObj>
              </mc:Choice>
              <mc:Fallback>
                <p:oleObj name="Equation" r:id="rId6" imgW="685502" imgH="304668" progId="Equation.3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61495A4E-433A-5510-7881-08588C23B2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40417"/>
                        <a:ext cx="1828800" cy="885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0602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27F8BE-E666-CBDD-A9E8-2D77A71C1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EC2123C-5872-7CF9-F865-D328B23C6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Portfolio risk and return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0F955D-283D-4E2D-3335-7EA5C181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F4124-8C3B-322E-A634-AA11BF330AF7}"/>
              </a:ext>
            </a:extLst>
          </p:cNvPr>
          <p:cNvSpPr txBox="1"/>
          <p:nvPr/>
        </p:nvSpPr>
        <p:spPr>
          <a:xfrm>
            <a:off x="876300" y="5498812"/>
            <a:ext cx="746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/>
              <a:t>https://www.businesslive.co.za/bd/opinion/columnists/2024-05-13-john-gilchrist-why-diversification-is-a-crucial-part-of-the-risk-discussion/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6789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9AA72C-C7BD-92DF-4320-58DCA070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16113E3-6E59-ECDE-77D4-2FA8A749A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Diversifiable and non-diversifiable risk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889B9-58FE-92A2-84FB-DE90361F5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C2B1D7C-015A-C712-F9BD-E9F9051D2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8806039"/>
              </p:ext>
            </p:extLst>
          </p:nvPr>
        </p:nvGraphicFramePr>
        <p:xfrm>
          <a:off x="381000" y="1132915"/>
          <a:ext cx="8534400" cy="5323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21D2ADC2-76D4-FC77-93FC-24959D9F43A4}"/>
              </a:ext>
            </a:extLst>
          </p:cNvPr>
          <p:cNvSpPr/>
          <p:nvPr/>
        </p:nvSpPr>
        <p:spPr bwMode="auto">
          <a:xfrm rot="3591116">
            <a:off x="1248856" y="2002338"/>
            <a:ext cx="1957947" cy="3310523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665AD4-F428-C266-065B-2B7389B112A9}"/>
              </a:ext>
            </a:extLst>
          </p:cNvPr>
          <p:cNvSpPr/>
          <p:nvPr/>
        </p:nvSpPr>
        <p:spPr bwMode="auto">
          <a:xfrm rot="17625718">
            <a:off x="4305110" y="378651"/>
            <a:ext cx="1581204" cy="2942172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B077EB-A853-B17F-B405-66D474A2B50A}"/>
              </a:ext>
            </a:extLst>
          </p:cNvPr>
          <p:cNvSpPr/>
          <p:nvPr/>
        </p:nvSpPr>
        <p:spPr bwMode="auto">
          <a:xfrm rot="3845618">
            <a:off x="5455537" y="1978120"/>
            <a:ext cx="1628898" cy="3227048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405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B4CCEF-8CA9-6045-673E-FFAB71F2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FB4214E2-2350-B6AC-BB33-688E6B1E8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Diversifiable and non-diversifiable risk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F1B1DE-5871-0363-FB26-3FF76206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D5FC6-FBAA-95F4-E5BA-D2C364DB98D1}"/>
              </a:ext>
            </a:extLst>
          </p:cNvPr>
          <p:cNvSpPr txBox="1"/>
          <p:nvPr/>
        </p:nvSpPr>
        <p:spPr>
          <a:xfrm>
            <a:off x="339836" y="1374622"/>
            <a:ext cx="8270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Effects of portfolio size on portfolio risk for average shares</a:t>
            </a:r>
            <a:endParaRPr lang="en-ZA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4353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FCDFAF-1432-32ED-F362-BCAB456B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48201E2-964B-B7AA-2039-723AF6CBA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879A9E5-04AB-675A-ACD4-293FABE171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50" kern="0" dirty="0"/>
              <a:t>Diversification and risk premium (RP) – development of CAPM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50" dirty="0"/>
              <a:t>Major assumptions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kern="0" dirty="0"/>
              <a:t>All investors </a:t>
            </a:r>
            <a:r>
              <a:rPr lang="en-US" sz="2250" kern="0" dirty="0" err="1"/>
              <a:t>maximise</a:t>
            </a:r>
            <a:r>
              <a:rPr lang="en-US" sz="2250" kern="0" dirty="0"/>
              <a:t> wealth through development of portfolios are based on statistics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dirty="0"/>
              <a:t>All investors lend/borrow at risk-free rate (</a:t>
            </a:r>
            <a:r>
              <a:rPr lang="en-US" sz="2250" dirty="0" err="1"/>
              <a:t>r</a:t>
            </a:r>
            <a:r>
              <a:rPr lang="en-US" sz="2250" baseline="-25000" dirty="0" err="1"/>
              <a:t>rf</a:t>
            </a:r>
            <a:r>
              <a:rPr lang="en-US" sz="2250" dirty="0"/>
              <a:t>) unlimited amounts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kern="0" dirty="0"/>
              <a:t>Information on expected returns and risks known by investors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dirty="0"/>
              <a:t>All assets perfectly divisible and perfectly liquid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kern="0" dirty="0"/>
              <a:t>Taxes not applicable and no costs/restrictions to transactions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dirty="0"/>
              <a:t>No transaction costs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kern="0" dirty="0"/>
              <a:t>Investors are price takers (no power to influence market price)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250" dirty="0"/>
              <a:t>Quantities of assets are given and fixed</a:t>
            </a:r>
            <a:endParaRPr lang="en-US" sz="225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4B8F14-60F2-77AB-99BF-1DB0267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611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C91EC4-40E3-2880-96E4-066F2AF2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6E1EE3F-ACA6-B238-8E10-9A21E1411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1AFC14F6-2BC7-608F-2C77-95558E5A1C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6176" y="122971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CAPM – estimating required rate of return (r) using risk-free rate (</a:t>
            </a:r>
            <a:r>
              <a:rPr lang="en-US" sz="2400" kern="0" dirty="0" err="1"/>
              <a:t>r</a:t>
            </a:r>
            <a:r>
              <a:rPr lang="en-US" sz="2400" kern="0" baseline="-25000" dirty="0" err="1"/>
              <a:t>RF</a:t>
            </a:r>
            <a:r>
              <a:rPr lang="en-US" sz="2400" kern="0" dirty="0"/>
              <a:t>) and adding risk premium (RP)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See Figure 6.6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Efficient frontier (EF) – all possible risk-return portfolios (risky portfolios) available to investor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Risk-free security (</a:t>
            </a:r>
            <a:r>
              <a:rPr lang="en-US" sz="2400" dirty="0" err="1"/>
              <a:t>r</a:t>
            </a:r>
            <a:r>
              <a:rPr lang="en-US" sz="2400" baseline="-25000" dirty="0" err="1"/>
              <a:t>RF</a:t>
            </a:r>
            <a:r>
              <a:rPr lang="en-US" sz="2400" dirty="0"/>
              <a:t>, </a:t>
            </a:r>
            <a:r>
              <a:rPr lang="el-GR" sz="2400" dirty="0"/>
              <a:t>σ</a:t>
            </a:r>
            <a:r>
              <a:rPr lang="en-US" sz="2400" dirty="0"/>
              <a:t>= 0)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Line </a:t>
            </a:r>
            <a:r>
              <a:rPr lang="en-US" sz="2400" dirty="0" err="1"/>
              <a:t>r</a:t>
            </a:r>
            <a:r>
              <a:rPr lang="en-US" sz="2400" baseline="-25000" dirty="0" err="1"/>
              <a:t>RFML</a:t>
            </a:r>
            <a:r>
              <a:rPr lang="en-US" sz="2400" dirty="0"/>
              <a:t> new set of portfolios which includes risk-free security – CML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Portfolio M selected – only portfolio tangent to EF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Market portfolio that is value-weighted of risky securities (</a:t>
            </a:r>
            <a:r>
              <a:rPr lang="en-US" sz="2400" dirty="0" err="1"/>
              <a:t>eg</a:t>
            </a:r>
            <a:r>
              <a:rPr lang="en-US" sz="2400" dirty="0"/>
              <a:t> JSE All Share Index)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Return equal to </a:t>
            </a:r>
            <a:r>
              <a:rPr lang="en-US" sz="2400" kern="0" dirty="0" err="1"/>
              <a:t>r</a:t>
            </a:r>
            <a:r>
              <a:rPr lang="en-US" sz="2400" baseline="-25000" dirty="0" err="1"/>
              <a:t>M</a:t>
            </a:r>
            <a:r>
              <a:rPr lang="en-US" sz="2400" kern="0" dirty="0"/>
              <a:t> </a:t>
            </a:r>
          </a:p>
          <a:p>
            <a:pPr marL="14335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 err="1"/>
              <a:t>r</a:t>
            </a:r>
            <a:r>
              <a:rPr lang="en-US" sz="2400" baseline="-25000" dirty="0" err="1"/>
              <a:t>RF</a:t>
            </a:r>
            <a:r>
              <a:rPr lang="en-US" sz="2400" kern="0" dirty="0"/>
              <a:t> and risk premium (</a:t>
            </a:r>
            <a:r>
              <a:rPr lang="en-US" sz="2400" kern="0" dirty="0" err="1"/>
              <a:t>r</a:t>
            </a:r>
            <a:r>
              <a:rPr lang="en-US" sz="2400" baseline="-25000" dirty="0" err="1"/>
              <a:t>M</a:t>
            </a:r>
            <a:r>
              <a:rPr lang="en-US" sz="2400" kern="0" dirty="0"/>
              <a:t> – </a:t>
            </a:r>
            <a:r>
              <a:rPr lang="en-US" sz="2400" kern="0" dirty="0" err="1"/>
              <a:t>r</a:t>
            </a:r>
            <a:r>
              <a:rPr lang="en-US" sz="2400" kern="0" baseline="-25000" dirty="0" err="1"/>
              <a:t>RF</a:t>
            </a:r>
            <a:r>
              <a:rPr lang="en-US" sz="2400" kern="0" dirty="0"/>
              <a:t>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130A73-75A6-0342-09A1-15783E72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409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43EED1F-AC16-11B7-80AF-2A392DB2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F8E3101-9FC9-DEAE-CFCE-C8CC31C33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83DB4-D6F8-6FD4-D4ED-8E851CFE5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3A6FA-B45B-F626-23CC-796FBF2B6D89}"/>
              </a:ext>
            </a:extLst>
          </p:cNvPr>
          <p:cNvSpPr txBox="1"/>
          <p:nvPr/>
        </p:nvSpPr>
        <p:spPr>
          <a:xfrm>
            <a:off x="228600" y="11430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Figure 6.6: The market portfolio (M) and the capital market line</a:t>
            </a:r>
            <a:endParaRPr lang="en-ZA" sz="2400" dirty="0">
              <a:latin typeface="+mj-l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DD96215-EFAB-A406-8C13-235AB2C98E97}"/>
              </a:ext>
            </a:extLst>
          </p:cNvPr>
          <p:cNvSpPr/>
          <p:nvPr/>
        </p:nvSpPr>
        <p:spPr bwMode="auto">
          <a:xfrm rot="223178">
            <a:off x="4069632" y="2665608"/>
            <a:ext cx="257642" cy="830997"/>
          </a:xfrm>
          <a:prstGeom prst="downArrow">
            <a:avLst/>
          </a:prstGeom>
          <a:solidFill>
            <a:srgbClr val="C0000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78DBF-7BDF-CEDD-DBEB-FB91FFF195C5}"/>
              </a:ext>
            </a:extLst>
          </p:cNvPr>
          <p:cNvSpPr txBox="1"/>
          <p:nvPr/>
        </p:nvSpPr>
        <p:spPr>
          <a:xfrm>
            <a:off x="4027204" y="1752600"/>
            <a:ext cx="2297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Slope = </a:t>
            </a:r>
            <a:r>
              <a:rPr lang="en-US" sz="2400" dirty="0" err="1"/>
              <a:t>r</a:t>
            </a:r>
            <a:r>
              <a:rPr lang="en-US" sz="2400" baseline="-25000" dirty="0" err="1"/>
              <a:t>M</a:t>
            </a:r>
            <a:r>
              <a:rPr lang="en-US" sz="2400" dirty="0"/>
              <a:t> – </a:t>
            </a:r>
            <a:r>
              <a:rPr lang="en-US" sz="2400" dirty="0" err="1"/>
              <a:t>r</a:t>
            </a:r>
            <a:r>
              <a:rPr lang="en-US" sz="2400" baseline="-25000" dirty="0" err="1"/>
              <a:t>RF</a:t>
            </a:r>
            <a:endParaRPr lang="en-US" sz="2400" baseline="-25000" dirty="0"/>
          </a:p>
          <a:p>
            <a:r>
              <a:rPr lang="en-US" sz="2400" dirty="0"/>
              <a:t>                 </a:t>
            </a:r>
            <a:r>
              <a:rPr lang="en-US" sz="2400" dirty="0" err="1"/>
              <a:t>σ</a:t>
            </a:r>
            <a:r>
              <a:rPr lang="en-US" sz="2400" baseline="-25000" dirty="0" err="1"/>
              <a:t>M</a:t>
            </a:r>
            <a:endParaRPr lang="en-ZA" sz="2400" baseline="-250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9F6970-6637-952D-DCB0-D5CB9883A378}"/>
              </a:ext>
            </a:extLst>
          </p:cNvPr>
          <p:cNvCxnSpPr>
            <a:cxnSpLocks/>
          </p:cNvCxnSpPr>
          <p:nvPr/>
        </p:nvCxnSpPr>
        <p:spPr bwMode="auto">
          <a:xfrm flipV="1">
            <a:off x="5105400" y="2209800"/>
            <a:ext cx="1219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09AA56E3-5D15-861D-54E3-39FF89396796}"/>
              </a:ext>
            </a:extLst>
          </p:cNvPr>
          <p:cNvSpPr/>
          <p:nvPr/>
        </p:nvSpPr>
        <p:spPr bwMode="auto">
          <a:xfrm rot="17140874">
            <a:off x="6439417" y="1983692"/>
            <a:ext cx="257642" cy="360000"/>
          </a:xfrm>
          <a:prstGeom prst="downArrow">
            <a:avLst/>
          </a:prstGeom>
          <a:solidFill>
            <a:srgbClr val="C00000"/>
          </a:solidFill>
          <a:ln w="952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7F87D-5D8D-F775-80B1-B92FB5CB071F}"/>
              </a:ext>
            </a:extLst>
          </p:cNvPr>
          <p:cNvSpPr txBox="1"/>
          <p:nvPr/>
        </p:nvSpPr>
        <p:spPr>
          <a:xfrm rot="20298126">
            <a:off x="1162518" y="2948365"/>
            <a:ext cx="2427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9900"/>
                </a:solidFill>
              </a:rPr>
              <a:t>Lending portfolios</a:t>
            </a:r>
            <a:endParaRPr lang="en-ZA" sz="2000" b="1" dirty="0">
              <a:solidFill>
                <a:srgbClr val="009900"/>
              </a:solidFill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964FE72-2B43-DDC2-8560-D18168833ABA}"/>
              </a:ext>
            </a:extLst>
          </p:cNvPr>
          <p:cNvSpPr/>
          <p:nvPr/>
        </p:nvSpPr>
        <p:spPr bwMode="auto">
          <a:xfrm rot="14856669">
            <a:off x="2035239" y="2376070"/>
            <a:ext cx="1035305" cy="2952000"/>
          </a:xfrm>
          <a:prstGeom prst="rightBrace">
            <a:avLst>
              <a:gd name="adj1" fmla="val 8333"/>
              <a:gd name="adj2" fmla="val 48386"/>
            </a:avLst>
          </a:prstGeom>
          <a:ln w="38100">
            <a:solidFill>
              <a:srgbClr val="0099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C0887D07-AD60-E2E6-B5B0-3C770A97CD9F}"/>
              </a:ext>
            </a:extLst>
          </p:cNvPr>
          <p:cNvSpPr/>
          <p:nvPr/>
        </p:nvSpPr>
        <p:spPr bwMode="auto">
          <a:xfrm rot="4035535">
            <a:off x="5289589" y="2000406"/>
            <a:ext cx="1035305" cy="3240495"/>
          </a:xfrm>
          <a:prstGeom prst="rightBrace">
            <a:avLst>
              <a:gd name="adj1" fmla="val 8333"/>
              <a:gd name="adj2" fmla="val 48386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F612-DA75-048E-5F8F-3F0913FCD2AC}"/>
              </a:ext>
            </a:extLst>
          </p:cNvPr>
          <p:cNvSpPr txBox="1"/>
          <p:nvPr/>
        </p:nvSpPr>
        <p:spPr>
          <a:xfrm rot="20071874">
            <a:off x="4772573" y="3953339"/>
            <a:ext cx="3201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Borrow at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000" b="1" baseline="-25000" dirty="0" err="1">
                <a:solidFill>
                  <a:schemeClr val="accent6">
                    <a:lumMod val="75000"/>
                  </a:schemeClr>
                </a:solidFill>
              </a:rPr>
              <a:t>RF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, invest borrowings and initial funds in Portfolio M</a:t>
            </a:r>
            <a:endParaRPr lang="en-ZA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958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139471-8C10-E7F1-388E-3DB91491D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2F8A9DB-FF02-5637-5824-43046E937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2964319-1BDD-B2CB-1539-1C88B66557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kern="0" dirty="0"/>
              <a:t>R</a:t>
            </a:r>
            <a:r>
              <a:rPr lang="en-US" sz="2400" kern="0" baseline="-25000" dirty="0"/>
              <a:t>P</a:t>
            </a:r>
            <a:r>
              <a:rPr lang="en-US" sz="2400" dirty="0"/>
              <a:t>	=	 </a:t>
            </a:r>
            <a:r>
              <a:rPr lang="en-US" sz="2400" dirty="0" err="1"/>
              <a:t>r</a:t>
            </a:r>
            <a:r>
              <a:rPr lang="en-US" sz="2400" baseline="-25000" dirty="0" err="1"/>
              <a:t>RF</a:t>
            </a:r>
            <a:r>
              <a:rPr lang="en-US" sz="2400" dirty="0"/>
              <a:t> + </a:t>
            </a:r>
            <a:r>
              <a:rPr lang="en-US" sz="2400" dirty="0" err="1"/>
              <a:t>σ</a:t>
            </a:r>
            <a:r>
              <a:rPr lang="en-US" sz="2400" baseline="-25000" dirty="0" err="1"/>
              <a:t>P</a:t>
            </a:r>
            <a:r>
              <a:rPr lang="en-US" sz="2400" dirty="0"/>
              <a:t> x (</a:t>
            </a:r>
            <a:r>
              <a:rPr lang="en-US" sz="2400" dirty="0" err="1"/>
              <a:t>r</a:t>
            </a:r>
            <a:r>
              <a:rPr lang="en-US" sz="2400" baseline="-25000" dirty="0" err="1"/>
              <a:t>M</a:t>
            </a:r>
            <a:r>
              <a:rPr lang="en-US" sz="2400" dirty="0"/>
              <a:t> – </a:t>
            </a:r>
            <a:r>
              <a:rPr lang="en-US" sz="2400" dirty="0" err="1"/>
              <a:t>r</a:t>
            </a:r>
            <a:r>
              <a:rPr lang="en-US" sz="2400" baseline="-25000" dirty="0" err="1"/>
              <a:t>RF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	                     </a:t>
            </a:r>
            <a:r>
              <a:rPr lang="en-US" sz="2400" dirty="0" err="1"/>
              <a:t>σ</a:t>
            </a:r>
            <a:r>
              <a:rPr lang="en-US" sz="2400" baseline="-25000" dirty="0" err="1"/>
              <a:t>M</a:t>
            </a:r>
            <a:endParaRPr lang="en-ZA" sz="2400" baseline="-250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r>
              <a:rPr lang="en-US" sz="2400" kern="0" dirty="0"/>
              <a:t>R</a:t>
            </a:r>
            <a:r>
              <a:rPr lang="en-US" sz="2400" kern="0" baseline="-25000" dirty="0"/>
              <a:t>P</a:t>
            </a:r>
            <a:r>
              <a:rPr lang="en-US" sz="2400" dirty="0"/>
              <a:t>		expected return for any efficient portfolio on CML</a:t>
            </a:r>
            <a:r>
              <a:rPr lang="en-US" sz="2400" dirty="0">
                <a:solidFill>
                  <a:srgbClr val="C00000"/>
                </a:solidFill>
              </a:rPr>
              <a:t>*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r>
              <a:rPr lang="en-US" sz="2400" dirty="0" err="1"/>
              <a:t>r</a:t>
            </a:r>
            <a:r>
              <a:rPr lang="en-US" sz="2400" baseline="-25000" dirty="0" err="1"/>
              <a:t>RF</a:t>
            </a:r>
            <a:r>
              <a:rPr lang="en-US" sz="2400" dirty="0"/>
              <a:t>		risk-free rate of return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r>
              <a:rPr lang="en-US" sz="2400" dirty="0" err="1"/>
              <a:t>r</a:t>
            </a:r>
            <a:r>
              <a:rPr lang="en-US" sz="2400" baseline="-25000" dirty="0" err="1"/>
              <a:t>M</a:t>
            </a:r>
            <a:r>
              <a:rPr lang="en-US" sz="2400" dirty="0"/>
              <a:t>		expected return on the market portfolio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r>
              <a:rPr lang="en-US" sz="2400" dirty="0" err="1"/>
              <a:t>σ</a:t>
            </a:r>
            <a:r>
              <a:rPr lang="en-US" sz="2400" baseline="-25000" dirty="0" err="1"/>
              <a:t>P</a:t>
            </a:r>
            <a:r>
              <a:rPr lang="en-US" sz="2400" dirty="0"/>
              <a:t> 	standard deviation of returns on efficient portfolio being 		considered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r>
              <a:rPr lang="en-US" sz="2400" dirty="0" err="1"/>
              <a:t>σ</a:t>
            </a:r>
            <a:r>
              <a:rPr lang="en-US" sz="2400" baseline="-25000" dirty="0" err="1"/>
              <a:t>M</a:t>
            </a:r>
            <a:r>
              <a:rPr lang="en-US" sz="2400" baseline="-25000" dirty="0"/>
              <a:t> </a:t>
            </a:r>
            <a:r>
              <a:rPr lang="en-US" sz="2400" dirty="0"/>
              <a:t>	standard deviation of returns on market portfolio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715963" algn="l"/>
              </a:tabLst>
            </a:pP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  <a:tabLst>
                <a:tab pos="715963" algn="l"/>
              </a:tabLst>
            </a:pPr>
            <a:r>
              <a:rPr lang="en-US" sz="2400" kern="0" dirty="0">
                <a:solidFill>
                  <a:srgbClr val="C00000"/>
                </a:solidFill>
              </a:rPr>
              <a:t>*CML only applicable to portfolios, NOT individual securities</a:t>
            </a:r>
            <a:r>
              <a:rPr lang="en-US" sz="2400" kern="0" dirty="0"/>
              <a:t>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441CE0-AA84-7007-B90B-46703BAF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15</a:t>
            </a:fld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4D7CBF-DB06-E438-6491-AC133A1D0A4E}"/>
              </a:ext>
            </a:extLst>
          </p:cNvPr>
          <p:cNvCxnSpPr/>
          <p:nvPr/>
        </p:nvCxnSpPr>
        <p:spPr bwMode="auto">
          <a:xfrm>
            <a:off x="2286000" y="1828800"/>
            <a:ext cx="2362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964958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DD5FB8-35C3-DF06-2CF8-6C8EE2E2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3D23446-7354-0CC2-135E-55D69E5E0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7A38FCF6-F78A-7498-4E17-32A081ED8F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Beta as a measure of risk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Contribution of individual securities to portfolios depends on riskiness of securities (diversifiable and non-diversifiable)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Correlation between securities impor</a:t>
            </a:r>
            <a:r>
              <a:rPr lang="en-US" sz="2400" dirty="0"/>
              <a:t>tant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kern="0" dirty="0">
                <a:solidFill>
                  <a:srgbClr val="C00000"/>
                </a:solidFill>
              </a:rPr>
              <a:t>NO</a:t>
            </a:r>
            <a:r>
              <a:rPr lang="en-US" sz="2400" kern="0" dirty="0"/>
              <a:t> reward for </a:t>
            </a:r>
            <a:r>
              <a:rPr lang="en-US" sz="2400" b="1" dirty="0">
                <a:solidFill>
                  <a:srgbClr val="C00000"/>
                </a:solidFill>
              </a:rPr>
              <a:t>diversifiable</a:t>
            </a:r>
            <a:r>
              <a:rPr lang="en-US" sz="2400" kern="0" dirty="0"/>
              <a:t> (</a:t>
            </a:r>
            <a:r>
              <a:rPr lang="en-US" sz="2400" b="1" kern="0" dirty="0">
                <a:solidFill>
                  <a:srgbClr val="C00000"/>
                </a:solidFill>
              </a:rPr>
              <a:t>unsystematic</a:t>
            </a:r>
            <a:r>
              <a:rPr lang="en-US" sz="2400" kern="0" dirty="0"/>
              <a:t>) risk; </a:t>
            </a:r>
            <a:r>
              <a:rPr lang="en-US" sz="2400" b="1" kern="0" dirty="0">
                <a:solidFill>
                  <a:srgbClr val="00B050"/>
                </a:solidFill>
              </a:rPr>
              <a:t>ONLY</a:t>
            </a:r>
            <a:r>
              <a:rPr lang="en-US" sz="2400" kern="0" dirty="0"/>
              <a:t> for </a:t>
            </a:r>
            <a:r>
              <a:rPr lang="en-US" sz="2400" b="1" dirty="0">
                <a:solidFill>
                  <a:srgbClr val="00B050"/>
                </a:solidFill>
              </a:rPr>
              <a:t>non-diversifiable</a:t>
            </a:r>
            <a:r>
              <a:rPr lang="en-US" sz="2400" kern="0" dirty="0"/>
              <a:t> (</a:t>
            </a:r>
            <a:r>
              <a:rPr lang="en-US" sz="2400" b="1" kern="0" dirty="0">
                <a:solidFill>
                  <a:srgbClr val="00B050"/>
                </a:solidFill>
              </a:rPr>
              <a:t>systematic</a:t>
            </a:r>
            <a:r>
              <a:rPr lang="en-US" sz="2400" kern="0" dirty="0"/>
              <a:t>) risk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Total risk – standard deviation, </a:t>
            </a:r>
            <a:r>
              <a:rPr lang="el-GR" sz="2400" dirty="0"/>
              <a:t>σ</a:t>
            </a:r>
            <a:endParaRPr lang="en-US" sz="240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Non-diversifiable (systematic) risk – beta , </a:t>
            </a:r>
            <a:r>
              <a:rPr lang="el-GR" sz="2400" kern="0" dirty="0"/>
              <a:t>β</a:t>
            </a: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9409EC-91BB-7B56-4B88-D589C7836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4625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EDC5C1-0B03-DF7F-FE28-F60CA4666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C18A5C3-241D-96EF-1707-F0872A8C1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9A788335-D2EA-84A9-6D67-E0CF178AB0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Beta as a measure of risk (cont</a:t>
            </a:r>
            <a:r>
              <a:rPr lang="en-US" sz="2400" dirty="0"/>
              <a:t>.)</a:t>
            </a:r>
            <a:endParaRPr lang="en-US" sz="2400" kern="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Calculation of beta for individual securities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β	=	</a:t>
            </a:r>
            <a:r>
              <a:rPr lang="en-US" sz="2400" dirty="0" err="1"/>
              <a:t>Corr</a:t>
            </a:r>
            <a:r>
              <a:rPr lang="en-US" sz="2400" baseline="-25000" dirty="0" err="1"/>
              <a:t>S,M</a:t>
            </a:r>
            <a:r>
              <a:rPr lang="en-US" sz="2400" dirty="0"/>
              <a:t> x </a:t>
            </a:r>
            <a:r>
              <a:rPr lang="el-GR" sz="2400" dirty="0"/>
              <a:t>σ</a:t>
            </a:r>
            <a:r>
              <a:rPr lang="en-US" sz="2400" baseline="-25000" dirty="0"/>
              <a:t>S</a:t>
            </a:r>
            <a:r>
              <a:rPr lang="en-US" sz="2400" dirty="0"/>
              <a:t> x </a:t>
            </a:r>
            <a:r>
              <a:rPr lang="el-GR" sz="2400" dirty="0"/>
              <a:t>σ</a:t>
            </a:r>
            <a:r>
              <a:rPr lang="en-US" sz="2400" baseline="-25000" dirty="0"/>
              <a:t>M</a:t>
            </a:r>
            <a:r>
              <a:rPr lang="en-US" sz="2400" dirty="0"/>
              <a:t>	=	 </a:t>
            </a:r>
            <a:r>
              <a:rPr lang="en-US" sz="2400" dirty="0" err="1"/>
              <a:t>Cov</a:t>
            </a:r>
            <a:r>
              <a:rPr lang="en-US" sz="2400" baseline="-25000" dirty="0" err="1"/>
              <a:t>S,M</a:t>
            </a:r>
            <a:endParaRPr lang="en-US" sz="2400" baseline="-25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baseline="-25000" dirty="0"/>
              <a:t>				</a:t>
            </a:r>
            <a:r>
              <a:rPr lang="el-GR" sz="2400" dirty="0"/>
              <a:t> σ</a:t>
            </a:r>
            <a:r>
              <a:rPr lang="en-US" sz="2400" baseline="30000" dirty="0"/>
              <a:t>2</a:t>
            </a:r>
            <a:r>
              <a:rPr lang="en-US" sz="2400" baseline="-25000" dirty="0"/>
              <a:t>M</a:t>
            </a:r>
            <a:r>
              <a:rPr lang="en-US" sz="2400" dirty="0"/>
              <a:t>		 	</a:t>
            </a:r>
            <a:r>
              <a:rPr lang="el-GR" sz="2400" dirty="0"/>
              <a:t> </a:t>
            </a:r>
            <a:r>
              <a:rPr lang="en-US" sz="2400" dirty="0"/>
              <a:t>  </a:t>
            </a:r>
            <a:r>
              <a:rPr lang="el-GR" sz="2400" dirty="0"/>
              <a:t>σ</a:t>
            </a:r>
            <a:r>
              <a:rPr lang="en-US" sz="2400" baseline="30000" dirty="0"/>
              <a:t>2</a:t>
            </a:r>
            <a:r>
              <a:rPr lang="en-US" sz="2400" baseline="-25000" dirty="0"/>
              <a:t>M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n-US" sz="2400" dirty="0" err="1"/>
              <a:t>Corr</a:t>
            </a:r>
            <a:r>
              <a:rPr lang="en-US" sz="2400" baseline="-25000" dirty="0" err="1"/>
              <a:t>S,M</a:t>
            </a:r>
            <a:r>
              <a:rPr lang="en-US" sz="2400" dirty="0"/>
              <a:t> 	correlation coefficient between security S 			and market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l-GR" sz="2400" dirty="0"/>
              <a:t>σ</a:t>
            </a:r>
            <a:r>
              <a:rPr lang="en-US" sz="2400" baseline="-25000" dirty="0"/>
              <a:t>S</a:t>
            </a:r>
            <a:r>
              <a:rPr lang="en-US" sz="2400" dirty="0"/>
              <a:t>		standard deviation of security S</a:t>
            </a:r>
            <a:endParaRPr lang="en-US" sz="2400" baseline="-25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baseline="-25000" dirty="0"/>
              <a:t>	</a:t>
            </a:r>
            <a:r>
              <a:rPr lang="el-GR" sz="2400" dirty="0"/>
              <a:t>σ</a:t>
            </a:r>
            <a:r>
              <a:rPr lang="en-US" sz="2400" baseline="-25000" dirty="0"/>
              <a:t>M</a:t>
            </a:r>
            <a:r>
              <a:rPr lang="en-US" sz="2400" dirty="0"/>
              <a:t>		standard deviation of market</a:t>
            </a:r>
            <a:endParaRPr lang="en-US" sz="2400" baseline="-25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baseline="-25000" dirty="0"/>
              <a:t>	</a:t>
            </a:r>
            <a:r>
              <a:rPr lang="el-GR" sz="2400" dirty="0"/>
              <a:t>σ</a:t>
            </a:r>
            <a:r>
              <a:rPr lang="en-US" sz="2400" baseline="30000" dirty="0"/>
              <a:t>2</a:t>
            </a:r>
            <a:r>
              <a:rPr lang="en-US" sz="2400" baseline="-25000" dirty="0"/>
              <a:t>M </a:t>
            </a:r>
            <a:r>
              <a:rPr lang="en-US" sz="2400" dirty="0"/>
              <a:t>		variation of market (standard deviation 				squared)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n-US" sz="2400" dirty="0" err="1"/>
              <a:t>Cov</a:t>
            </a:r>
            <a:r>
              <a:rPr lang="en-US" sz="2400" baseline="-25000" dirty="0" err="1"/>
              <a:t>S,M</a:t>
            </a:r>
            <a:r>
              <a:rPr lang="en-US" sz="2400" dirty="0"/>
              <a:t>	= 	</a:t>
            </a:r>
            <a:r>
              <a:rPr lang="en-US" sz="2400" dirty="0" err="1"/>
              <a:t>Corr</a:t>
            </a:r>
            <a:r>
              <a:rPr lang="en-US" sz="2400" baseline="-25000" dirty="0" err="1"/>
              <a:t>S,M</a:t>
            </a:r>
            <a:r>
              <a:rPr lang="en-US" sz="2400" dirty="0"/>
              <a:t> x </a:t>
            </a:r>
            <a:r>
              <a:rPr lang="el-GR" sz="2400" dirty="0"/>
              <a:t>σ</a:t>
            </a:r>
            <a:r>
              <a:rPr lang="en-US" sz="2400" baseline="-25000" dirty="0"/>
              <a:t>S</a:t>
            </a:r>
            <a:r>
              <a:rPr lang="en-US" sz="2400" dirty="0"/>
              <a:t> x </a:t>
            </a:r>
            <a:r>
              <a:rPr lang="el-GR" sz="2400" dirty="0"/>
              <a:t>σ</a:t>
            </a:r>
            <a:r>
              <a:rPr lang="en-US" sz="2400" baseline="-25000" dirty="0"/>
              <a:t>M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	=	</a:t>
            </a:r>
            <a:r>
              <a:rPr lang="el-GR" sz="2400" dirty="0"/>
              <a:t>Σ</a:t>
            </a:r>
            <a:r>
              <a:rPr lang="en-US" sz="2400" dirty="0"/>
              <a:t>(s – s)(m – m) / N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0565D8-A823-1657-0D68-A725206F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17</a:t>
            </a:fld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108B67-A0C7-3A5F-E24D-876B9E328F49}"/>
              </a:ext>
            </a:extLst>
          </p:cNvPr>
          <p:cNvCxnSpPr/>
          <p:nvPr/>
        </p:nvCxnSpPr>
        <p:spPr bwMode="auto">
          <a:xfrm>
            <a:off x="3048000" y="2895600"/>
            <a:ext cx="228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0B47D30-D048-82B7-8697-A796CD4CA521}"/>
              </a:ext>
            </a:extLst>
          </p:cNvPr>
          <p:cNvCxnSpPr/>
          <p:nvPr/>
        </p:nvCxnSpPr>
        <p:spPr bwMode="auto">
          <a:xfrm>
            <a:off x="4876800" y="6324600"/>
            <a:ext cx="2286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76B522-D4B9-60D9-6C2B-7C665760C5E7}"/>
              </a:ext>
            </a:extLst>
          </p:cNvPr>
          <p:cNvCxnSpPr/>
          <p:nvPr/>
        </p:nvCxnSpPr>
        <p:spPr bwMode="auto">
          <a:xfrm>
            <a:off x="3810000" y="6343135"/>
            <a:ext cx="2286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741C7E-30C1-DFEA-FF2F-0490F37484B9}"/>
              </a:ext>
            </a:extLst>
          </p:cNvPr>
          <p:cNvCxnSpPr/>
          <p:nvPr/>
        </p:nvCxnSpPr>
        <p:spPr bwMode="auto">
          <a:xfrm>
            <a:off x="6792000" y="2819400"/>
            <a:ext cx="82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209791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883F63-E9A6-4FD1-4906-E1B9F11B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803A38F4-6AB7-5659-7CD4-70B702159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5AB8AD-EAAA-8A35-E64A-687928F84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18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15DADE-EC9C-6E98-7F15-C026F0ED9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979802"/>
              </p:ext>
            </p:extLst>
          </p:nvPr>
        </p:nvGraphicFramePr>
        <p:xfrm>
          <a:off x="179838" y="1341601"/>
          <a:ext cx="8820002" cy="521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162">
                  <a:extLst>
                    <a:ext uri="{9D8B030D-6E8A-4147-A177-3AD203B41FA5}">
                      <a16:colId xmlns:a16="http://schemas.microsoft.com/office/drawing/2014/main" val="2489896520"/>
                    </a:ext>
                  </a:extLst>
                </a:gridCol>
                <a:gridCol w="1418968">
                  <a:extLst>
                    <a:ext uri="{9D8B030D-6E8A-4147-A177-3AD203B41FA5}">
                      <a16:colId xmlns:a16="http://schemas.microsoft.com/office/drawing/2014/main" val="3891865247"/>
                    </a:ext>
                  </a:extLst>
                </a:gridCol>
                <a:gridCol w="1418968">
                  <a:extLst>
                    <a:ext uri="{9D8B030D-6E8A-4147-A177-3AD203B41FA5}">
                      <a16:colId xmlns:a16="http://schemas.microsoft.com/office/drawing/2014/main" val="951827577"/>
                    </a:ext>
                  </a:extLst>
                </a:gridCol>
                <a:gridCol w="1418968">
                  <a:extLst>
                    <a:ext uri="{9D8B030D-6E8A-4147-A177-3AD203B41FA5}">
                      <a16:colId xmlns:a16="http://schemas.microsoft.com/office/drawing/2014/main" val="4280704880"/>
                    </a:ext>
                  </a:extLst>
                </a:gridCol>
                <a:gridCol w="1418968">
                  <a:extLst>
                    <a:ext uri="{9D8B030D-6E8A-4147-A177-3AD203B41FA5}">
                      <a16:colId xmlns:a16="http://schemas.microsoft.com/office/drawing/2014/main" val="3764461847"/>
                    </a:ext>
                  </a:extLst>
                </a:gridCol>
                <a:gridCol w="1418968">
                  <a:extLst>
                    <a:ext uri="{9D8B030D-6E8A-4147-A177-3AD203B41FA5}">
                      <a16:colId xmlns:a16="http://schemas.microsoft.com/office/drawing/2014/main" val="1305407889"/>
                    </a:ext>
                  </a:extLst>
                </a:gridCol>
              </a:tblGrid>
              <a:tr h="6722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Observation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 – S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 – M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 x M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203422"/>
                  </a:ext>
                </a:extLst>
              </a:tr>
              <a:tr h="67025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3.75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120572"/>
                  </a:ext>
                </a:extLst>
              </a:tr>
              <a:tr h="67025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ZA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-0.25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531365"/>
                  </a:ext>
                </a:extLst>
              </a:tr>
              <a:tr h="67025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ZA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3.75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5374"/>
                  </a:ext>
                </a:extLst>
              </a:tr>
              <a:tr h="67025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-0.25</a:t>
                      </a:r>
                      <a:endParaRPr lang="en-ZA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693534"/>
                  </a:ext>
                </a:extLst>
              </a:tr>
              <a:tr h="67025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Sum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  <a:endParaRPr lang="en-ZA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  <a:endParaRPr lang="en-ZA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7.00</a:t>
                      </a:r>
                      <a:endParaRPr lang="en-ZA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04568390"/>
                  </a:ext>
                </a:extLst>
              </a:tr>
              <a:tr h="67025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Mean </a:t>
                      </a:r>
                    </a:p>
                    <a:p>
                      <a:pPr algn="l"/>
                      <a:r>
                        <a:rPr lang="en-US" dirty="0"/>
                        <a:t>(Arithmetic)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003373"/>
                  </a:ext>
                </a:extLst>
              </a:tr>
              <a:tr h="517850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Cov</a:t>
                      </a:r>
                      <a:endParaRPr lang="en-ZA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</a:t>
                      </a:r>
                      <a:r>
                        <a:rPr lang="el-GR" dirty="0"/>
                        <a:t>Σ</a:t>
                      </a:r>
                      <a:r>
                        <a:rPr lang="en-US" dirty="0"/>
                        <a:t>(s – s)(m – m) / N = 1.75</a:t>
                      </a:r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71072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C3C8B-0592-CCAC-4DFB-AED63A63159D}"/>
              </a:ext>
            </a:extLst>
          </p:cNvPr>
          <p:cNvCxnSpPr/>
          <p:nvPr/>
        </p:nvCxnSpPr>
        <p:spPr bwMode="auto">
          <a:xfrm>
            <a:off x="5486400" y="1524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853677-F9C4-4BD2-FAE2-C3D65E39A459}"/>
              </a:ext>
            </a:extLst>
          </p:cNvPr>
          <p:cNvCxnSpPr/>
          <p:nvPr/>
        </p:nvCxnSpPr>
        <p:spPr bwMode="auto">
          <a:xfrm>
            <a:off x="8001000" y="1495168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2DC9D7-C282-D6DF-BF73-1D20FCF09E47}"/>
              </a:ext>
            </a:extLst>
          </p:cNvPr>
          <p:cNvCxnSpPr/>
          <p:nvPr/>
        </p:nvCxnSpPr>
        <p:spPr bwMode="auto">
          <a:xfrm>
            <a:off x="6934200" y="1495168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D95297-EDBB-0FA2-B106-E20BE884561F}"/>
              </a:ext>
            </a:extLst>
          </p:cNvPr>
          <p:cNvCxnSpPr/>
          <p:nvPr/>
        </p:nvCxnSpPr>
        <p:spPr bwMode="auto">
          <a:xfrm>
            <a:off x="8382000" y="1474574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BCD0E7A-7109-2B38-58AB-3B8F6741D744}"/>
              </a:ext>
            </a:extLst>
          </p:cNvPr>
          <p:cNvSpPr/>
          <p:nvPr/>
        </p:nvSpPr>
        <p:spPr bwMode="auto">
          <a:xfrm>
            <a:off x="7772400" y="4704984"/>
            <a:ext cx="986481" cy="609590"/>
          </a:xfrm>
          <a:prstGeom prst="ellipse">
            <a:avLst/>
          </a:prstGeom>
          <a:noFill/>
          <a:ln w="381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A6D901-9B07-4BD9-693B-6EB3E64500AE}"/>
              </a:ext>
            </a:extLst>
          </p:cNvPr>
          <p:cNvSpPr/>
          <p:nvPr/>
        </p:nvSpPr>
        <p:spPr bwMode="auto">
          <a:xfrm>
            <a:off x="76200" y="4038600"/>
            <a:ext cx="582162" cy="609590"/>
          </a:xfrm>
          <a:prstGeom prst="ellipse">
            <a:avLst/>
          </a:prstGeom>
          <a:noFill/>
          <a:ln w="381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67B96B-D78C-41D3-315E-6FAD1980CB4F}"/>
              </a:ext>
            </a:extLst>
          </p:cNvPr>
          <p:cNvCxnSpPr/>
          <p:nvPr/>
        </p:nvCxnSpPr>
        <p:spPr bwMode="auto">
          <a:xfrm>
            <a:off x="2819400" y="6172200"/>
            <a:ext cx="2286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51CA1C-2BA1-601A-4F6A-BC87F0409A49}"/>
              </a:ext>
            </a:extLst>
          </p:cNvPr>
          <p:cNvCxnSpPr/>
          <p:nvPr/>
        </p:nvCxnSpPr>
        <p:spPr bwMode="auto">
          <a:xfrm>
            <a:off x="3581400" y="6172200"/>
            <a:ext cx="2286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249EFD-6E39-3D8A-B3C0-7719CD59016E}"/>
              </a:ext>
            </a:extLst>
          </p:cNvPr>
          <p:cNvCxnSpPr>
            <a:cxnSpLocks/>
          </p:cNvCxnSpPr>
          <p:nvPr/>
        </p:nvCxnSpPr>
        <p:spPr bwMode="auto">
          <a:xfrm>
            <a:off x="658362" y="4495800"/>
            <a:ext cx="3532638" cy="16764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2FC2C3-C104-1792-D84C-43B141054C5D}"/>
              </a:ext>
            </a:extLst>
          </p:cNvPr>
          <p:cNvCxnSpPr>
            <a:cxnSpLocks/>
          </p:cNvCxnSpPr>
          <p:nvPr/>
        </p:nvCxnSpPr>
        <p:spPr bwMode="auto">
          <a:xfrm flipH="1">
            <a:off x="3151638" y="5009779"/>
            <a:ext cx="4620762" cy="112556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4476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D422CD-5DFF-6E16-9A35-355CA35A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50CA532-9F80-5F1C-37CE-7B5991A61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  <a:ln>
            <a:solidFill>
              <a:srgbClr val="009900"/>
            </a:solidFill>
          </a:ln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4FEFAD-591E-3ABF-5270-2DCD2196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19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899EA8-E904-5C4B-ABA5-50DB8788C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721770"/>
              </p:ext>
            </p:extLst>
          </p:nvPr>
        </p:nvGraphicFramePr>
        <p:xfrm>
          <a:off x="200100" y="1305599"/>
          <a:ext cx="8820000" cy="540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962">
                  <a:extLst>
                    <a:ext uri="{9D8B030D-6E8A-4147-A177-3AD203B41FA5}">
                      <a16:colId xmlns:a16="http://schemas.microsoft.com/office/drawing/2014/main" val="2489896520"/>
                    </a:ext>
                  </a:extLst>
                </a:gridCol>
                <a:gridCol w="1195173">
                  <a:extLst>
                    <a:ext uri="{9D8B030D-6E8A-4147-A177-3AD203B41FA5}">
                      <a16:colId xmlns:a16="http://schemas.microsoft.com/office/drawing/2014/main" val="3891865247"/>
                    </a:ext>
                  </a:extLst>
                </a:gridCol>
                <a:gridCol w="1195173">
                  <a:extLst>
                    <a:ext uri="{9D8B030D-6E8A-4147-A177-3AD203B41FA5}">
                      <a16:colId xmlns:a16="http://schemas.microsoft.com/office/drawing/2014/main" val="951827577"/>
                    </a:ext>
                  </a:extLst>
                </a:gridCol>
                <a:gridCol w="1195173">
                  <a:extLst>
                    <a:ext uri="{9D8B030D-6E8A-4147-A177-3AD203B41FA5}">
                      <a16:colId xmlns:a16="http://schemas.microsoft.com/office/drawing/2014/main" val="4280704880"/>
                    </a:ext>
                  </a:extLst>
                </a:gridCol>
                <a:gridCol w="1195173">
                  <a:extLst>
                    <a:ext uri="{9D8B030D-6E8A-4147-A177-3AD203B41FA5}">
                      <a16:colId xmlns:a16="http://schemas.microsoft.com/office/drawing/2014/main" val="822223971"/>
                    </a:ext>
                  </a:extLst>
                </a:gridCol>
                <a:gridCol w="1195173">
                  <a:extLst>
                    <a:ext uri="{9D8B030D-6E8A-4147-A177-3AD203B41FA5}">
                      <a16:colId xmlns:a16="http://schemas.microsoft.com/office/drawing/2014/main" val="3764461847"/>
                    </a:ext>
                  </a:extLst>
                </a:gridCol>
                <a:gridCol w="1195173">
                  <a:extLst>
                    <a:ext uri="{9D8B030D-6E8A-4147-A177-3AD203B41FA5}">
                      <a16:colId xmlns:a16="http://schemas.microsoft.com/office/drawing/2014/main" val="1305407889"/>
                    </a:ext>
                  </a:extLst>
                </a:gridCol>
              </a:tblGrid>
              <a:tr h="5810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Observation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 – S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US" sz="1800" b="1" kern="1200" baseline="30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ZA" sz="1800" b="1" kern="1200" baseline="30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 – M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</a:t>
                      </a:r>
                      <a:r>
                        <a:rPr lang="en-US" baseline="30000" dirty="0"/>
                        <a:t>2</a:t>
                      </a:r>
                      <a:endParaRPr lang="en-ZA" baseline="30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203422"/>
                  </a:ext>
                </a:extLst>
              </a:tr>
              <a:tr h="57934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6.25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2.25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120572"/>
                  </a:ext>
                </a:extLst>
              </a:tr>
              <a:tr h="57934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ZA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0.25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0.25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531365"/>
                  </a:ext>
                </a:extLst>
              </a:tr>
              <a:tr h="57934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ZA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6.25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2.25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5374"/>
                  </a:ext>
                </a:extLst>
              </a:tr>
              <a:tr h="57934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0.25</a:t>
                      </a:r>
                      <a:endParaRPr lang="en-ZA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0.50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0.25</a:t>
                      </a:r>
                      <a:endParaRPr lang="en-ZA" dirty="0"/>
                    </a:p>
                  </a:txBody>
                  <a:tcPr anchor="ctr"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693534"/>
                  </a:ext>
                </a:extLst>
              </a:tr>
              <a:tr h="57934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Sum (</a:t>
                      </a:r>
                      <a:r>
                        <a:rPr lang="el-GR" dirty="0"/>
                        <a:t>Σ</a:t>
                      </a:r>
                      <a:r>
                        <a:rPr lang="en-US" dirty="0"/>
                        <a:t>)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13.00</a:t>
                      </a:r>
                      <a:endParaRPr lang="en-ZA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5.00</a:t>
                      </a:r>
                      <a:endParaRPr lang="en-ZA" dirty="0"/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04568390"/>
                  </a:ext>
                </a:extLst>
              </a:tr>
              <a:tr h="579346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Variance (</a:t>
                      </a:r>
                      <a:r>
                        <a:rPr lang="el-GR" dirty="0"/>
                        <a:t>σ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3.25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1.25</a:t>
                      </a:r>
                      <a:endParaRPr lang="en-ZA" dirty="0">
                        <a:solidFill>
                          <a:schemeClr val="accent4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003373"/>
                  </a:ext>
                </a:extLst>
              </a:tr>
              <a:tr h="44761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Std dev (</a:t>
                      </a:r>
                      <a:r>
                        <a:rPr lang="el-GR" dirty="0"/>
                        <a:t>σ</a:t>
                      </a:r>
                      <a:r>
                        <a:rPr lang="en-US" dirty="0"/>
                        <a:t>)</a:t>
                      </a:r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baseline="0" dirty="0">
                          <a:solidFill>
                            <a:srgbClr val="009900"/>
                          </a:solidFill>
                          <a:latin typeface="+mn-lt"/>
                          <a:ea typeface="+mn-ea"/>
                          <a:cs typeface="+mn-cs"/>
                        </a:rPr>
                        <a:t>1.8028</a:t>
                      </a:r>
                      <a:endParaRPr lang="en-ZA" sz="1800" kern="1200" baseline="0" dirty="0">
                        <a:solidFill>
                          <a:srgbClr val="0099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1.1180</a:t>
                      </a:r>
                      <a:endParaRPr lang="en-ZA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710726"/>
                  </a:ext>
                </a:extLst>
              </a:tr>
              <a:tr h="447618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Corr</a:t>
                      </a:r>
                      <a:r>
                        <a:rPr lang="en-US" baseline="-25000" dirty="0" err="1"/>
                        <a:t>S,M</a:t>
                      </a:r>
                      <a:endParaRPr lang="en-ZA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Cov</a:t>
                      </a:r>
                      <a:r>
                        <a:rPr lang="en-US" baseline="-25000" dirty="0" err="1"/>
                        <a:t>S,M</a:t>
                      </a:r>
                      <a:r>
                        <a:rPr lang="en-US" dirty="0"/>
                        <a:t> / (</a:t>
                      </a:r>
                      <a:r>
                        <a:rPr lang="el-GR" dirty="0"/>
                        <a:t>σ</a:t>
                      </a:r>
                      <a:r>
                        <a:rPr lang="en-US" baseline="-25000" dirty="0"/>
                        <a:t>S</a:t>
                      </a:r>
                      <a:r>
                        <a:rPr lang="el-GR" dirty="0"/>
                        <a:t>σ</a:t>
                      </a:r>
                      <a:r>
                        <a:rPr lang="en-US" baseline="-25000" dirty="0"/>
                        <a:t>M</a:t>
                      </a:r>
                      <a:r>
                        <a:rPr lang="en-US" dirty="0"/>
                        <a:t>) = </a:t>
                      </a:r>
                      <a:r>
                        <a:rPr lang="en-US" sz="1800" kern="1200" baseline="0" dirty="0">
                          <a:solidFill>
                            <a:srgbClr val="990000"/>
                          </a:solidFill>
                          <a:latin typeface="+mn-lt"/>
                          <a:ea typeface="+mn-ea"/>
                          <a:cs typeface="+mn-cs"/>
                        </a:rPr>
                        <a:t>0.8683</a:t>
                      </a:r>
                      <a:endParaRPr lang="en-ZA" sz="1800" kern="1200" baseline="0" dirty="0">
                        <a:solidFill>
                          <a:srgbClr val="99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7217214"/>
                  </a:ext>
                </a:extLst>
              </a:tr>
              <a:tr h="44761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Beta (</a:t>
                      </a:r>
                      <a:r>
                        <a:rPr lang="el-GR" dirty="0"/>
                        <a:t>β</a:t>
                      </a:r>
                      <a:r>
                        <a:rPr lang="en-US" baseline="-25000" dirty="0"/>
                        <a:t>S</a:t>
                      </a:r>
                      <a:r>
                        <a:rPr lang="en-US" dirty="0"/>
                        <a:t>)</a:t>
                      </a:r>
                      <a:endParaRPr lang="en-ZA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/>
                        <a:t>Corr</a:t>
                      </a:r>
                      <a:r>
                        <a:rPr lang="en-US" sz="1800" baseline="-25000" dirty="0" err="1"/>
                        <a:t>S,M</a:t>
                      </a:r>
                      <a:r>
                        <a:rPr lang="en-US" sz="1800" dirty="0"/>
                        <a:t> x </a:t>
                      </a:r>
                      <a:r>
                        <a:rPr lang="el-GR" sz="1800" dirty="0"/>
                        <a:t>σ</a:t>
                      </a:r>
                      <a:r>
                        <a:rPr lang="en-US" sz="1800" baseline="-25000" dirty="0"/>
                        <a:t>S</a:t>
                      </a:r>
                      <a:r>
                        <a:rPr lang="en-US" sz="1800" dirty="0"/>
                        <a:t> x </a:t>
                      </a:r>
                      <a:r>
                        <a:rPr lang="el-GR" sz="1800" dirty="0"/>
                        <a:t>σ</a:t>
                      </a:r>
                      <a:r>
                        <a:rPr lang="en-US" sz="1800" baseline="-25000" dirty="0"/>
                        <a:t>M</a:t>
                      </a:r>
                      <a:r>
                        <a:rPr lang="en-ZA" sz="1800" baseline="0" dirty="0"/>
                        <a:t> / </a:t>
                      </a:r>
                      <a:r>
                        <a:rPr lang="el-GR" sz="1800" dirty="0"/>
                        <a:t>σ</a:t>
                      </a:r>
                      <a:r>
                        <a:rPr lang="en-US" sz="1800" baseline="30000" dirty="0"/>
                        <a:t>2</a:t>
                      </a:r>
                      <a:r>
                        <a:rPr lang="en-US" sz="1800" baseline="-25000" dirty="0"/>
                        <a:t>M</a:t>
                      </a:r>
                      <a:r>
                        <a:rPr lang="en-US" sz="1800" baseline="0" dirty="0"/>
                        <a:t> = (</a:t>
                      </a:r>
                      <a:r>
                        <a:rPr lang="en-US" sz="1800" baseline="0" dirty="0">
                          <a:solidFill>
                            <a:srgbClr val="990000"/>
                          </a:solidFill>
                        </a:rPr>
                        <a:t>0.8683 </a:t>
                      </a:r>
                      <a:r>
                        <a:rPr lang="en-US" sz="1800" baseline="0" dirty="0"/>
                        <a:t>x </a:t>
                      </a:r>
                      <a:r>
                        <a:rPr lang="en-US" sz="1800" kern="1200" baseline="0" dirty="0">
                          <a:solidFill>
                            <a:srgbClr val="009900"/>
                          </a:solidFill>
                          <a:latin typeface="+mn-lt"/>
                          <a:ea typeface="+mn-ea"/>
                          <a:cs typeface="+mn-cs"/>
                        </a:rPr>
                        <a:t>1.8028</a:t>
                      </a:r>
                      <a:r>
                        <a:rPr lang="en-US" sz="1800" baseline="0" dirty="0"/>
                        <a:t> x </a:t>
                      </a:r>
                      <a:r>
                        <a:rPr lang="en-US" sz="1800" baseline="0" dirty="0">
                          <a:solidFill>
                            <a:srgbClr val="0070C0"/>
                          </a:solidFill>
                        </a:rPr>
                        <a:t>1.1180</a:t>
                      </a:r>
                      <a:r>
                        <a:rPr lang="en-US" sz="1800" baseline="0" dirty="0"/>
                        <a:t>) / </a:t>
                      </a:r>
                      <a:r>
                        <a:rPr lang="en-US" sz="1800" kern="1200" dirty="0">
                          <a:solidFill>
                            <a:schemeClr val="accent4"/>
                          </a:solidFill>
                          <a:latin typeface="+mn-lt"/>
                          <a:ea typeface="+mn-ea"/>
                          <a:cs typeface="+mn-cs"/>
                        </a:rPr>
                        <a:t>1.25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1.40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010484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A6B1D8-59FF-B675-5347-B4B6132E6021}"/>
              </a:ext>
            </a:extLst>
          </p:cNvPr>
          <p:cNvCxnSpPr/>
          <p:nvPr/>
        </p:nvCxnSpPr>
        <p:spPr bwMode="auto">
          <a:xfrm>
            <a:off x="4876800" y="1524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451ACE-A7FE-29FD-087A-EDA655FCE3E3}"/>
              </a:ext>
            </a:extLst>
          </p:cNvPr>
          <p:cNvCxnSpPr/>
          <p:nvPr/>
        </p:nvCxnSpPr>
        <p:spPr bwMode="auto">
          <a:xfrm>
            <a:off x="7315200" y="1524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54D357-7240-81D2-F7F4-381122A4491D}"/>
              </a:ext>
            </a:extLst>
          </p:cNvPr>
          <p:cNvCxnSpPr/>
          <p:nvPr/>
        </p:nvCxnSpPr>
        <p:spPr bwMode="auto">
          <a:xfrm>
            <a:off x="8229600" y="1524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2053E53-F648-D6A2-78A0-B1ECA8D29865}"/>
              </a:ext>
            </a:extLst>
          </p:cNvPr>
          <p:cNvCxnSpPr/>
          <p:nvPr/>
        </p:nvCxnSpPr>
        <p:spPr bwMode="auto">
          <a:xfrm>
            <a:off x="5867400" y="1524000"/>
            <a:ext cx="2286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F248E5DA-8878-D7C2-7343-54DF7822CCE4}"/>
              </a:ext>
            </a:extLst>
          </p:cNvPr>
          <p:cNvSpPr/>
          <p:nvPr/>
        </p:nvSpPr>
        <p:spPr bwMode="auto">
          <a:xfrm>
            <a:off x="33478" y="3597886"/>
            <a:ext cx="582162" cy="609590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308A7D-64C1-8374-7DE8-3E81D0FDEB70}"/>
              </a:ext>
            </a:extLst>
          </p:cNvPr>
          <p:cNvSpPr/>
          <p:nvPr/>
        </p:nvSpPr>
        <p:spPr bwMode="auto">
          <a:xfrm>
            <a:off x="7928919" y="4191000"/>
            <a:ext cx="986481" cy="609590"/>
          </a:xfrm>
          <a:prstGeom prst="ellipse">
            <a:avLst/>
          </a:prstGeom>
          <a:noFill/>
          <a:ln w="381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710446-DE4E-791E-C905-ADF8628F64DA}"/>
              </a:ext>
            </a:extLst>
          </p:cNvPr>
          <p:cNvSpPr/>
          <p:nvPr/>
        </p:nvSpPr>
        <p:spPr bwMode="auto">
          <a:xfrm>
            <a:off x="5562600" y="4267210"/>
            <a:ext cx="986481" cy="609590"/>
          </a:xfrm>
          <a:prstGeom prst="ellipse">
            <a:avLst/>
          </a:prstGeom>
          <a:noFill/>
          <a:ln w="38100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BFD1ED-F9EB-A65E-01E9-FDCB615FB9FE}"/>
              </a:ext>
            </a:extLst>
          </p:cNvPr>
          <p:cNvCxnSpPr>
            <a:cxnSpLocks/>
          </p:cNvCxnSpPr>
          <p:nvPr/>
        </p:nvCxnSpPr>
        <p:spPr bwMode="auto">
          <a:xfrm>
            <a:off x="614246" y="4038600"/>
            <a:ext cx="1595554" cy="83819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82F68E-A251-A304-CE46-A31752D094D1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 flipH="1">
            <a:off x="2590800" y="4572005"/>
            <a:ext cx="2971800" cy="30478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D3F0D5-EB9F-6A5E-1D35-6D6E4C3394CC}"/>
              </a:ext>
            </a:extLst>
          </p:cNvPr>
          <p:cNvCxnSpPr/>
          <p:nvPr/>
        </p:nvCxnSpPr>
        <p:spPr bwMode="auto">
          <a:xfrm flipH="1">
            <a:off x="3962400" y="4495800"/>
            <a:ext cx="3886200" cy="533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596789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E56B7B-B338-2F08-8B29-F41DECEC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BF25CF9-7AB2-CA00-D6A2-E4AD6CCDF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1CF20F0E-F12E-FED5-C173-B4CB5A148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Beta as a measure of risk (cont</a:t>
            </a:r>
            <a:r>
              <a:rPr lang="en-US" sz="2400" dirty="0"/>
              <a:t>.)</a:t>
            </a:r>
            <a:endParaRPr lang="en-US" sz="2400" kern="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Measure extent to which returns on given share move with share market (average share)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Measures </a:t>
            </a:r>
            <a:r>
              <a:rPr lang="en-US" sz="2400" b="1" dirty="0">
                <a:solidFill>
                  <a:srgbClr val="C00000"/>
                </a:solidFill>
              </a:rPr>
              <a:t>SYSTEMATIC RISK</a:t>
            </a:r>
            <a:endParaRPr lang="en-US" sz="240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Symbol" pitchFamily="18" charset="2"/>
              </a:rPr>
              <a:t>Returns on </a:t>
            </a:r>
            <a:r>
              <a:rPr lang="en-US" sz="2400" b="1" dirty="0">
                <a:solidFill>
                  <a:srgbClr val="CC0000"/>
                </a:solidFill>
                <a:sym typeface="Symbol" pitchFamily="18" charset="2"/>
              </a:rPr>
              <a:t>FTSE/JSE All Share Index </a:t>
            </a:r>
            <a:r>
              <a:rPr lang="en-US" sz="2400" dirty="0">
                <a:sym typeface="Symbol" pitchFamily="18" charset="2"/>
              </a:rPr>
              <a:t>(ALSI) serve as proxy for overall market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CEAD9-2BBC-C3AA-ADC5-D61F82C5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20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6729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045179-C17D-2260-3514-EBA9B757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30D00E91-74C6-6E67-5F46-C428B0FBE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869775-2222-B813-EC70-22D14FAB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1C4A0-5023-B263-EF69-9DED29D67586}"/>
              </a:ext>
            </a:extLst>
          </p:cNvPr>
          <p:cNvSpPr txBox="1"/>
          <p:nvPr/>
        </p:nvSpPr>
        <p:spPr>
          <a:xfrm>
            <a:off x="228600" y="136713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Figure 6.7: The volatility of risky and conservative shares</a:t>
            </a:r>
            <a:endParaRPr lang="en-ZA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2425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82E3002-5EDF-BAEB-2FAA-C21F2402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C77B86EC-0459-6248-0272-F0851B709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AA6AF5A-8C09-F143-ED7B-AFFD33727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00" kern="0" dirty="0"/>
              <a:t>Beta as a measure of risk (cont</a:t>
            </a:r>
            <a:r>
              <a:rPr lang="en-US" sz="2100" dirty="0"/>
              <a:t>.)</a:t>
            </a:r>
            <a:endParaRPr lang="en-US" sz="2100" kern="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>
                <a:sym typeface="Symbol" charset="2"/>
              </a:rPr>
              <a:t>If </a:t>
            </a:r>
            <a:r>
              <a:rPr lang="en-US" sz="2100" dirty="0"/>
              <a:t> = 0.5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Share’ s systematic risk only half as volatile, or risky, as average risky share (market)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If returns on FTSE/JSE ALSI </a:t>
            </a:r>
            <a:r>
              <a:rPr lang="en-US" sz="2100" dirty="0">
                <a:sym typeface="Wingdings" pitchFamily="2" charset="2"/>
              </a:rPr>
              <a:t> </a:t>
            </a:r>
            <a:r>
              <a:rPr lang="en-US" sz="2100" dirty="0"/>
              <a:t>(or </a:t>
            </a:r>
            <a:r>
              <a:rPr lang="en-US" sz="2100" dirty="0">
                <a:sym typeface="Wingdings" pitchFamily="2" charset="2"/>
              </a:rPr>
              <a:t></a:t>
            </a:r>
            <a:r>
              <a:rPr lang="en-US" sz="2100" dirty="0"/>
              <a:t>) with 10%, security’s returns will </a:t>
            </a:r>
            <a:r>
              <a:rPr lang="en-US" sz="2100" dirty="0">
                <a:sym typeface="Wingdings" pitchFamily="2" charset="2"/>
              </a:rPr>
              <a:t> </a:t>
            </a:r>
            <a:r>
              <a:rPr lang="en-US" sz="2100" dirty="0"/>
              <a:t>(or </a:t>
            </a:r>
            <a:r>
              <a:rPr lang="en-US" sz="2100" dirty="0">
                <a:sym typeface="Wingdings" pitchFamily="2" charset="2"/>
              </a:rPr>
              <a:t></a:t>
            </a:r>
            <a:r>
              <a:rPr lang="en-US" sz="2100" dirty="0"/>
              <a:t>) with 5%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>
                <a:sym typeface="Symbol" charset="2"/>
              </a:rPr>
              <a:t></a:t>
            </a:r>
            <a:r>
              <a:rPr lang="en-US" sz="2100" dirty="0"/>
              <a:t> = 1.0 (beta of market)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Share’s systematic risk same as average risky share (market)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If returns on FTSE/JSE ALSI </a:t>
            </a:r>
            <a:r>
              <a:rPr lang="en-US" sz="2100" dirty="0">
                <a:sym typeface="Wingdings" pitchFamily="2" charset="2"/>
              </a:rPr>
              <a:t> </a:t>
            </a:r>
            <a:r>
              <a:rPr lang="en-US" sz="2100" dirty="0"/>
              <a:t>(or </a:t>
            </a:r>
            <a:r>
              <a:rPr lang="en-US" sz="2100" dirty="0">
                <a:sym typeface="Wingdings" pitchFamily="2" charset="2"/>
              </a:rPr>
              <a:t></a:t>
            </a:r>
            <a:r>
              <a:rPr lang="en-US" sz="2100" dirty="0"/>
              <a:t>) with 10%, security’s returns will </a:t>
            </a:r>
            <a:r>
              <a:rPr lang="en-US" sz="2100" dirty="0">
                <a:sym typeface="Wingdings" pitchFamily="2" charset="2"/>
              </a:rPr>
              <a:t> </a:t>
            </a:r>
            <a:r>
              <a:rPr lang="en-US" sz="2100" dirty="0"/>
              <a:t>(or </a:t>
            </a:r>
            <a:r>
              <a:rPr lang="en-US" sz="2100" dirty="0">
                <a:sym typeface="Wingdings" pitchFamily="2" charset="2"/>
              </a:rPr>
              <a:t></a:t>
            </a:r>
            <a:r>
              <a:rPr lang="en-US" sz="2100" dirty="0"/>
              <a:t>) with 10%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>
                <a:sym typeface="Symbol" charset="2"/>
              </a:rPr>
              <a:t></a:t>
            </a:r>
            <a:r>
              <a:rPr lang="en-US" sz="2100" dirty="0"/>
              <a:t> = 2.0 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Share’s systematic risk twice as much as that of average risky share (market)</a:t>
            </a:r>
          </a:p>
          <a:p>
            <a:pPr marL="10747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100" dirty="0"/>
              <a:t>If returns on the FTSE/JSE ALSI </a:t>
            </a:r>
            <a:r>
              <a:rPr lang="en-US" sz="2100" dirty="0">
                <a:sym typeface="Wingdings" pitchFamily="2" charset="2"/>
              </a:rPr>
              <a:t></a:t>
            </a:r>
            <a:r>
              <a:rPr lang="en-US" sz="2100" dirty="0"/>
              <a:t> (or </a:t>
            </a:r>
            <a:r>
              <a:rPr lang="en-US" sz="2100" dirty="0">
                <a:sym typeface="Wingdings" pitchFamily="2" charset="2"/>
              </a:rPr>
              <a:t></a:t>
            </a:r>
            <a:r>
              <a:rPr lang="en-US" sz="2100" dirty="0"/>
              <a:t>) with 10%, security’s returns will </a:t>
            </a:r>
            <a:r>
              <a:rPr lang="en-US" sz="2100" dirty="0">
                <a:sym typeface="Wingdings" pitchFamily="2" charset="2"/>
              </a:rPr>
              <a:t> </a:t>
            </a:r>
            <a:r>
              <a:rPr lang="en-US" sz="2100" dirty="0"/>
              <a:t>(or </a:t>
            </a:r>
            <a:r>
              <a:rPr lang="en-US" sz="2100" dirty="0">
                <a:sym typeface="Wingdings" pitchFamily="2" charset="2"/>
              </a:rPr>
              <a:t></a:t>
            </a:r>
            <a:r>
              <a:rPr lang="en-US" sz="2100" dirty="0"/>
              <a:t>) with 20%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1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371333-C3B8-3D33-8090-77E44692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7272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788EFC-E1E2-7EF2-BA48-A17DB93D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A63C5525-0ABB-EC45-6A03-0D61989BA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6C86B97-4DF7-2650-FFF9-944E4B770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2388" y="1219413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Beta as a measure of risk (cont</a:t>
            </a:r>
            <a:r>
              <a:rPr lang="en-US" sz="2400" dirty="0"/>
              <a:t>.)</a:t>
            </a:r>
            <a:endParaRPr lang="en-US" sz="2400" kern="0" dirty="0"/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Portfolio beta = weighted average of individual securities’ betas (</a:t>
            </a:r>
            <a:r>
              <a:rPr lang="en-US" sz="2400" kern="0" dirty="0">
                <a:solidFill>
                  <a:srgbClr val="C00000"/>
                </a:solidFill>
              </a:rPr>
              <a:t>measure of systematic risk</a:t>
            </a:r>
            <a:r>
              <a:rPr lang="en-US" sz="2400" kern="0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β</a:t>
            </a:r>
            <a:r>
              <a:rPr lang="en-US" sz="2400" baseline="-25000" dirty="0"/>
              <a:t>P</a:t>
            </a:r>
            <a:r>
              <a:rPr lang="en-US" sz="2400" dirty="0"/>
              <a:t>	volatility of portfolio relative to market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n	number of securities in portfolio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w	weight of security within portfolio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en-US" sz="2400" dirty="0"/>
              <a:t>	β</a:t>
            </a:r>
            <a:r>
              <a:rPr lang="en-US" sz="2400" baseline="-25000" dirty="0"/>
              <a:t>j</a:t>
            </a:r>
            <a:r>
              <a:rPr lang="en-US" sz="2400" dirty="0"/>
              <a:t>	beta for security </a:t>
            </a:r>
            <a:r>
              <a:rPr lang="en-US" sz="2400" i="1" dirty="0"/>
              <a:t>j</a:t>
            </a:r>
            <a:endParaRPr lang="en-US" sz="2400" i="1" kern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kern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0A4F4E-7E17-8B6F-05F3-7AE36657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23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FBEAD5-C2DB-8618-E091-965A30E18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74" y="2538413"/>
            <a:ext cx="7196252" cy="17287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3710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A85CAD-A89A-191B-3B3D-8F47A7B3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49284E5-7758-52E2-C004-97B540C09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4FE12DC6-EB98-B476-BA9D-6E61B52E97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Example: Assume you have R20 000 invested in each of 10 shares so that your total investment is R200 000. This amount invested in each share is 10%. If all the shares have a beta of 1.5, then the portfolio beta is also 1.5.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dirty="0"/>
          </a:p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What happens if you sell one of the shares and reinvest in </a:t>
            </a:r>
            <a:r>
              <a:rPr lang="en-US" sz="2400" dirty="0"/>
              <a:t>another</a:t>
            </a:r>
            <a:r>
              <a:rPr lang="en-US" sz="2400" kern="0" dirty="0"/>
              <a:t> share with a different beta? </a:t>
            </a:r>
            <a:r>
              <a:rPr lang="en-US" sz="2400" dirty="0"/>
              <a:t>Assume that the new share has a beta of 0.8.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kern="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>
                <a:sym typeface="Symbol" charset="2"/>
              </a:rPr>
              <a:t>	</a:t>
            </a:r>
            <a:r>
              <a:rPr lang="en-US" sz="2400" baseline="-25000" dirty="0">
                <a:sym typeface="Symbol" charset="2"/>
              </a:rPr>
              <a:t>P</a:t>
            </a:r>
            <a:r>
              <a:rPr lang="en-US" sz="2400" dirty="0">
                <a:sym typeface="Symbol" charset="2"/>
              </a:rPr>
              <a:t>	=	0.9(1.5) + 0.1(0.8)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>
                <a:sym typeface="Symbol" charset="2"/>
              </a:rPr>
              <a:t>		=	1.43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dirty="0">
              <a:sym typeface="Symbol" charset="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ym typeface="Symbol" charset="2"/>
              </a:rPr>
              <a:t>What if the new share has a beta of 2?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dirty="0">
              <a:sym typeface="Symbol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>
                <a:sym typeface="Symbol" charset="2"/>
              </a:rPr>
              <a:t>	</a:t>
            </a:r>
            <a:r>
              <a:rPr lang="en-US" sz="2400" baseline="-25000" dirty="0">
                <a:sym typeface="Symbol" charset="2"/>
              </a:rPr>
              <a:t>P </a:t>
            </a:r>
            <a:r>
              <a:rPr lang="en-US" sz="2400" dirty="0">
                <a:sym typeface="Symbol" charset="2"/>
              </a:rPr>
              <a:t>	=	0.9(1.5) + 0.1(2)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>
                <a:sym typeface="Symbol" charset="2"/>
              </a:rPr>
              <a:t>		=</a:t>
            </a:r>
            <a:r>
              <a:rPr lang="en-US" sz="2400">
                <a:sym typeface="Symbol" charset="2"/>
              </a:rPr>
              <a:t>	1.55</a:t>
            </a:r>
            <a:endParaRPr lang="en-US" sz="2400" dirty="0">
              <a:sym typeface="Symbol" charset="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dirty="0">
              <a:sym typeface="Symbol" charset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03274E-2CDF-AC54-3C1C-C75A0799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4937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1140A4-2105-1DFE-C3D4-2EE2A39D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B600E03-5666-686F-964F-B2F86D72B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6D9A77-116B-DA78-B3AC-2E435DF6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9C6A0-6F64-F33F-D555-58FB0BA4A73C}"/>
              </a:ext>
            </a:extLst>
          </p:cNvPr>
          <p:cNvSpPr txBox="1"/>
          <p:nvPr/>
        </p:nvSpPr>
        <p:spPr>
          <a:xfrm>
            <a:off x="228600" y="122938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Figure 6.8: The security market line</a:t>
            </a:r>
            <a:endParaRPr lang="en-ZA" sz="24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1339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F35835-8240-D7E7-CBA2-EC690B44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821AC716-F152-53C2-76B1-8AE340084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B8E638-986A-53FA-426C-952A4F61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67C9FBE-10B0-791B-C675-CED96FD42B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Security market line (SML) (cont</a:t>
            </a:r>
            <a:r>
              <a:rPr lang="en-US" sz="2400" dirty="0"/>
              <a:t>.)</a:t>
            </a:r>
          </a:p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n-US" sz="2400" dirty="0" err="1"/>
              <a:t>r</a:t>
            </a:r>
            <a:r>
              <a:rPr lang="en-US" sz="2400" baseline="-25000" dirty="0" err="1"/>
              <a:t>j</a:t>
            </a:r>
            <a:r>
              <a:rPr lang="en-US" sz="2400" dirty="0"/>
              <a:t>	= </a:t>
            </a:r>
            <a:r>
              <a:rPr lang="en-US" sz="2400" dirty="0" err="1"/>
              <a:t>r</a:t>
            </a:r>
            <a:r>
              <a:rPr lang="en-US" sz="2400" baseline="-25000" dirty="0" err="1"/>
              <a:t>RF</a:t>
            </a:r>
            <a:r>
              <a:rPr lang="en-US" sz="2400" dirty="0"/>
              <a:t> + </a:t>
            </a:r>
            <a:r>
              <a:rPr lang="el-GR" sz="2400" dirty="0"/>
              <a:t>β</a:t>
            </a:r>
            <a:r>
              <a:rPr lang="en-US" sz="2400" baseline="-25000" dirty="0"/>
              <a:t>j</a:t>
            </a:r>
            <a:r>
              <a:rPr lang="en-US" sz="2400" dirty="0"/>
              <a:t>(</a:t>
            </a:r>
            <a:r>
              <a:rPr lang="en-US" sz="2400" dirty="0" err="1"/>
              <a:t>r</a:t>
            </a:r>
            <a:r>
              <a:rPr lang="en-US" sz="2400" baseline="-25000" dirty="0" err="1"/>
              <a:t>M</a:t>
            </a:r>
            <a:r>
              <a:rPr lang="en-US" sz="2400" dirty="0"/>
              <a:t> – r </a:t>
            </a:r>
            <a:r>
              <a:rPr lang="en-US" sz="2400" baseline="-25000" dirty="0"/>
              <a:t>RF</a:t>
            </a:r>
            <a:r>
              <a:rPr lang="en-US" sz="2400" dirty="0"/>
              <a:t>)</a:t>
            </a:r>
            <a:endParaRPr lang="en-US" sz="2400" kern="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dirty="0">
              <a:sym typeface="Symbol" charset="2"/>
            </a:endParaRP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>
                <a:sym typeface="Symbol" charset="2"/>
              </a:rPr>
              <a:t>	</a:t>
            </a:r>
            <a:r>
              <a:rPr lang="en-US" sz="2400" dirty="0" err="1">
                <a:sym typeface="Symbol" charset="2"/>
              </a:rPr>
              <a:t>r</a:t>
            </a:r>
            <a:r>
              <a:rPr lang="en-US" sz="2400" baseline="-25000" dirty="0" err="1"/>
              <a:t>j</a:t>
            </a:r>
            <a:r>
              <a:rPr lang="en-US" sz="2400" dirty="0"/>
              <a:t>	required rate of return on risky asset </a:t>
            </a:r>
            <a:r>
              <a:rPr lang="en-US" sz="2400" i="1" dirty="0"/>
              <a:t>j</a:t>
            </a:r>
            <a:r>
              <a:rPr lang="en-US" sz="2400" dirty="0"/>
              <a:t> 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n-US" sz="2400" dirty="0" err="1"/>
              <a:t>r</a:t>
            </a:r>
            <a:r>
              <a:rPr lang="en-US" sz="2400" baseline="-25000" dirty="0" err="1"/>
              <a:t>RF</a:t>
            </a:r>
            <a:r>
              <a:rPr lang="en-US" sz="2400" dirty="0"/>
              <a:t>  	risk-free rate (treasury bill – R186 bond in SA)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l-GR" sz="2400" dirty="0"/>
              <a:t>β</a:t>
            </a:r>
            <a:r>
              <a:rPr lang="en-US" sz="2400" baseline="-25000" dirty="0"/>
              <a:t>j</a:t>
            </a:r>
            <a:r>
              <a:rPr lang="en-US" sz="2400" dirty="0"/>
              <a:t>	beta coefficient (measure of systematic risk) for 		asset </a:t>
            </a:r>
            <a:r>
              <a:rPr lang="en-US" sz="2400" i="1" dirty="0"/>
              <a:t>j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n-US" sz="2400" dirty="0" err="1"/>
              <a:t>r</a:t>
            </a:r>
            <a:r>
              <a:rPr lang="en-US" sz="2400" baseline="-25000" dirty="0" err="1"/>
              <a:t>M</a:t>
            </a:r>
            <a:r>
              <a:rPr lang="en-US" sz="2400" dirty="0"/>
              <a:t> 	expected return on market portfolio (</a:t>
            </a:r>
            <a:r>
              <a:rPr lang="en-US" sz="2400" dirty="0" err="1"/>
              <a:t>eg</a:t>
            </a:r>
            <a:r>
              <a:rPr lang="en-US" sz="2400" dirty="0"/>
              <a:t> JSE 			ALSI)</a:t>
            </a:r>
            <a:endParaRPr lang="en-US" sz="2400" kern="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dirty="0">
              <a:sym typeface="Symbol" charset="2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1D422E2F-8CF0-3231-DFC7-43D92D614615}"/>
              </a:ext>
            </a:extLst>
          </p:cNvPr>
          <p:cNvSpPr/>
          <p:nvPr/>
        </p:nvSpPr>
        <p:spPr bwMode="auto">
          <a:xfrm rot="16200000">
            <a:off x="4038600" y="1752600"/>
            <a:ext cx="304800" cy="1219200"/>
          </a:xfrm>
          <a:prstGeom prst="rightBrace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7038B-9CD4-8E03-C391-1B562F826362}"/>
              </a:ext>
            </a:extLst>
          </p:cNvPr>
          <p:cNvSpPr txBox="1"/>
          <p:nvPr/>
        </p:nvSpPr>
        <p:spPr>
          <a:xfrm>
            <a:off x="3276600" y="1748134"/>
            <a:ext cx="217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risk premium</a:t>
            </a:r>
            <a:endParaRPr lang="en-ZA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8011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93204C-BA43-3EDD-37C4-87B31742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50C4695-21E0-A80D-2761-D9F1BF417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5056E0-14B5-9F42-7A5E-0A63EA49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824A605-9F95-C1F2-EA60-545191FDD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Security market line (SML) (cont</a:t>
            </a:r>
            <a:r>
              <a:rPr lang="en-US" sz="2400" dirty="0"/>
              <a:t>.)</a:t>
            </a:r>
          </a:p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Where and how do we use the SML?</a:t>
            </a:r>
          </a:p>
          <a:p>
            <a:pPr marL="715963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Determine required rate of return on share (equity)</a:t>
            </a:r>
          </a:p>
          <a:p>
            <a:pPr marL="1074738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Share price (P</a:t>
            </a:r>
            <a:r>
              <a:rPr lang="en-US" sz="2400" baseline="-25000" dirty="0"/>
              <a:t>0</a:t>
            </a:r>
            <a:r>
              <a:rPr lang="en-US" sz="2400" dirty="0"/>
              <a:t>) – Chapter 8</a:t>
            </a:r>
          </a:p>
          <a:p>
            <a:pPr marL="1074738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Weighted average cost of capital (WACC) – Chapter 15</a:t>
            </a:r>
          </a:p>
          <a:p>
            <a:pPr marL="1074738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Capital structure – Chapter 16</a:t>
            </a:r>
          </a:p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endParaRPr lang="en-US" sz="2400" dirty="0">
              <a:sym typeface="Symbol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9026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F51909-FBE9-7758-EB4D-3E039878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7AC9A13-B6AD-F588-537E-6BC24FAF6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3636E-19A8-B219-5E36-9A092708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D4E2C012-94FD-7086-089F-DCE461A58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229710"/>
            <a:ext cx="8655424" cy="5247290"/>
          </a:xfrm>
        </p:spPr>
        <p:txBody>
          <a:bodyPr/>
          <a:lstStyle/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kern="0" dirty="0"/>
              <a:t>Example: Assume a firm is expecting a constant growth rate in dividends of 8% per year. The current cash dividend is R3 and the required rate of return is 16%. (You will discuss this equation in detail in Chapter 8.)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P</a:t>
            </a:r>
            <a:r>
              <a:rPr lang="en-US" sz="2400" baseline="-25000" dirty="0"/>
              <a:t>0</a:t>
            </a:r>
            <a:r>
              <a:rPr lang="en-US" sz="2400" dirty="0"/>
              <a:t>	=	D</a:t>
            </a:r>
            <a:r>
              <a:rPr lang="en-US" sz="2400" baseline="-25000" dirty="0"/>
              <a:t>0</a:t>
            </a:r>
            <a:r>
              <a:rPr lang="en-US" sz="2400" dirty="0"/>
              <a:t>(1 + g) / (k – g)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	=	3(1 + 0.08) / (0.16 – 0.08)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	=	R40.50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0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But what if there is an </a:t>
            </a:r>
            <a:r>
              <a:rPr lang="en-US" sz="2400" dirty="0">
                <a:solidFill>
                  <a:srgbClr val="C00000"/>
                </a:solidFill>
              </a:rPr>
              <a:t>increase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9900"/>
                </a:solidFill>
              </a:rPr>
              <a:t>decrease</a:t>
            </a:r>
            <a:r>
              <a:rPr lang="en-US" sz="2400" dirty="0"/>
              <a:t>) in risk?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5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P</a:t>
            </a:r>
            <a:r>
              <a:rPr lang="en-US" sz="2400" baseline="-25000" dirty="0">
                <a:solidFill>
                  <a:srgbClr val="C00000"/>
                </a:solidFill>
              </a:rPr>
              <a:t>0</a:t>
            </a:r>
            <a:r>
              <a:rPr lang="en-US" sz="2400" dirty="0">
                <a:solidFill>
                  <a:srgbClr val="C00000"/>
                </a:solidFill>
              </a:rPr>
              <a:t>	=	R32.50 (required rate of return 18%)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rgbClr val="009900"/>
                </a:solidFill>
              </a:rPr>
              <a:t>P</a:t>
            </a:r>
            <a:r>
              <a:rPr lang="en-US" sz="2400" baseline="-25000" dirty="0">
                <a:solidFill>
                  <a:srgbClr val="009900"/>
                </a:solidFill>
              </a:rPr>
              <a:t>0</a:t>
            </a:r>
            <a:r>
              <a:rPr lang="en-US" sz="2400" dirty="0">
                <a:solidFill>
                  <a:srgbClr val="009900"/>
                </a:solidFill>
              </a:rPr>
              <a:t>	=	R64.80 (required rate of return 13%)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1050" dirty="0">
              <a:solidFill>
                <a:srgbClr val="009900"/>
              </a:solidFill>
            </a:endParaRP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>
                <a:solidFill>
                  <a:srgbClr val="009900"/>
                </a:solidFill>
              </a:rPr>
              <a:t>	</a:t>
            </a:r>
            <a:r>
              <a:rPr lang="en-US" sz="2400" dirty="0"/>
              <a:t>Risk 	 or    share price    or     – inverse relationship</a:t>
            </a:r>
          </a:p>
          <a:p>
            <a:pPr marL="358775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endParaRPr lang="en-US" sz="2400" dirty="0">
              <a:sym typeface="Symbol" charset="2"/>
            </a:endParaRP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72FDDD8E-F69B-750B-5A49-0A490545A48A}"/>
              </a:ext>
            </a:extLst>
          </p:cNvPr>
          <p:cNvSpPr/>
          <p:nvPr/>
        </p:nvSpPr>
        <p:spPr bwMode="auto">
          <a:xfrm>
            <a:off x="1882588" y="5943600"/>
            <a:ext cx="304800" cy="381000"/>
          </a:xfrm>
          <a:prstGeom prst="upArrow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BDF29D99-AA9F-A0C6-52CF-28D99AF34A65}"/>
              </a:ext>
            </a:extLst>
          </p:cNvPr>
          <p:cNvSpPr/>
          <p:nvPr/>
        </p:nvSpPr>
        <p:spPr bwMode="auto">
          <a:xfrm rot="10800000">
            <a:off x="4457700" y="5961105"/>
            <a:ext cx="304800" cy="381000"/>
          </a:xfrm>
          <a:prstGeom prst="upArrow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ZA">
              <a:ea typeface="ＭＳ Ｐゴシック" pitchFamily="1" charset="-128"/>
            </a:endParaRP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C1510AB5-D13D-8B6D-8654-85E2207730F2}"/>
              </a:ext>
            </a:extLst>
          </p:cNvPr>
          <p:cNvSpPr/>
          <p:nvPr/>
        </p:nvSpPr>
        <p:spPr bwMode="auto">
          <a:xfrm>
            <a:off x="5181600" y="5941540"/>
            <a:ext cx="304800" cy="381000"/>
          </a:xfrm>
          <a:prstGeom prst="upArrow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8E5CA1D9-4BFF-83A1-4B24-A9350DDAC999}"/>
              </a:ext>
            </a:extLst>
          </p:cNvPr>
          <p:cNvSpPr/>
          <p:nvPr/>
        </p:nvSpPr>
        <p:spPr bwMode="auto">
          <a:xfrm rot="10800000">
            <a:off x="2590800" y="6010532"/>
            <a:ext cx="304800" cy="381000"/>
          </a:xfrm>
          <a:prstGeom prst="upArrow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ZA"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4389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38BEA8-2AE7-6972-0250-589BA343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81E8096-A84B-C626-4BF3-D3FB477D5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Linking risk and return: Capital asset pricing model (CAPM) (cont.)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7B6119-0043-A846-0DD8-8A9CA148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7FA687A-24FC-7B92-A7AC-8D4DC9D00C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1165867"/>
            <a:ext cx="8655424" cy="5247290"/>
          </a:xfrm>
        </p:spPr>
        <p:txBody>
          <a:bodyPr/>
          <a:lstStyle/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kern="0" dirty="0"/>
              <a:t>Response </a:t>
            </a:r>
            <a:r>
              <a:rPr lang="en-US" sz="2400" dirty="0"/>
              <a:t>of investors to increased risk</a:t>
            </a:r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endParaRPr lang="en-US" sz="2400" kern="0" dirty="0"/>
          </a:p>
          <a:p>
            <a:pPr marL="15875" indent="0" algn="just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None/>
            </a:pPr>
            <a:r>
              <a:rPr lang="en-US" sz="2400" dirty="0"/>
              <a:t>	</a:t>
            </a:r>
            <a:endParaRPr lang="en-US" sz="2400" dirty="0">
              <a:sym typeface="Symbol" charset="2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BCEAA6-45F8-E279-086E-AE92A6BD2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12756"/>
              </p:ext>
            </p:extLst>
          </p:nvPr>
        </p:nvGraphicFramePr>
        <p:xfrm>
          <a:off x="381000" y="1752600"/>
          <a:ext cx="850302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18431532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13813426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628838092"/>
                    </a:ext>
                  </a:extLst>
                </a:gridCol>
                <a:gridCol w="1645024">
                  <a:extLst>
                    <a:ext uri="{9D8B030D-6E8A-4147-A177-3AD203B41FA5}">
                      <a16:colId xmlns:a16="http://schemas.microsoft.com/office/drawing/2014/main" val="1748492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Type of risk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Effect on investor and SML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Required return by investor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Effect on share price</a:t>
                      </a:r>
                      <a:endParaRPr lang="en-Z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126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General economic risk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Expects a negative outcome</a:t>
                      </a:r>
                    </a:p>
                    <a:p>
                      <a:r>
                        <a:rPr lang="en-US" sz="1800" dirty="0"/>
                        <a:t>SML moves up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Increased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Decreases</a:t>
                      </a:r>
                      <a:endParaRPr lang="en-Z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81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Inflation and disinflation risk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Expects inflation to increase</a:t>
                      </a:r>
                    </a:p>
                    <a:p>
                      <a:r>
                        <a:rPr lang="en-US" sz="1800" dirty="0"/>
                        <a:t>SML moves up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Increased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Decreases</a:t>
                      </a:r>
                      <a:endParaRPr lang="en-Z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589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Business risk and issue-specific risk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Regards company risky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Beta increases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Increased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Decreases</a:t>
                      </a:r>
                      <a:endParaRPr lang="en-ZA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122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International business risk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SML moves up</a:t>
                      </a:r>
                    </a:p>
                    <a:p>
                      <a:r>
                        <a:rPr lang="en-US" sz="1800" dirty="0"/>
                        <a:t>Beta increases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Increased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Decreases</a:t>
                      </a:r>
                      <a:endParaRPr lang="en-Z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0921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96829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536218-365C-7088-62CD-E9309813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43A41B41-7ECF-824E-63EF-548B03E39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Efficient market hypothesis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34EE753D-0CE6-C500-1BAD-E363FBF9C5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kern="0" dirty="0">
                <a:latin typeface="+mj-lt"/>
              </a:rPr>
              <a:t>Efficient market – info widely and cheaply available to all investors, info already reflected in share prices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</a:rPr>
              <a:t>Weak-form efficiency</a:t>
            </a:r>
          </a:p>
          <a:p>
            <a:pPr marL="715963" indent="-350838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+mj-lt"/>
              </a:rPr>
              <a:t>Historical data included in share prices</a:t>
            </a:r>
          </a:p>
          <a:p>
            <a:pPr marL="715963" indent="-350838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+mj-lt"/>
              </a:rPr>
              <a:t>Technical analysis useless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</a:rPr>
              <a:t>Semi-strong-form efficiency</a:t>
            </a:r>
          </a:p>
          <a:p>
            <a:pPr marL="715963" indent="-350838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+mj-lt"/>
              </a:rPr>
              <a:t>Publicly available info included in share price</a:t>
            </a:r>
          </a:p>
          <a:p>
            <a:pPr marL="715963" indent="-350838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+mj-lt"/>
              </a:rPr>
              <a:t>Fundamental analysis useless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</a:rPr>
              <a:t>Strong-form efficient</a:t>
            </a:r>
          </a:p>
          <a:p>
            <a:pPr marL="715963" indent="-350838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722313" algn="l"/>
              </a:tabLst>
            </a:pPr>
            <a:r>
              <a:rPr lang="en-US" altLang="en-US" sz="2200" dirty="0">
                <a:latin typeface="+mj-lt"/>
              </a:rPr>
              <a:t>All info reflected in share </a:t>
            </a:r>
          </a:p>
          <a:p>
            <a:pPr marL="365125" indent="0">
              <a:spcBef>
                <a:spcPts val="0"/>
              </a:spcBef>
              <a:spcAft>
                <a:spcPts val="300"/>
              </a:spcAft>
              <a:buNone/>
              <a:tabLst>
                <a:tab pos="722313" algn="l"/>
              </a:tabLst>
            </a:pPr>
            <a:r>
              <a:rPr lang="en-US" altLang="en-US" sz="2200" dirty="0">
                <a:latin typeface="+mj-lt"/>
              </a:rPr>
              <a:t>	prices as well as info </a:t>
            </a:r>
          </a:p>
          <a:p>
            <a:pPr marL="365125" indent="0">
              <a:spcBef>
                <a:spcPts val="0"/>
              </a:spcBef>
              <a:spcAft>
                <a:spcPts val="300"/>
              </a:spcAft>
              <a:buNone/>
              <a:tabLst>
                <a:tab pos="722313" algn="l"/>
              </a:tabLst>
            </a:pPr>
            <a:r>
              <a:rPr lang="en-US" altLang="en-US" sz="2200" dirty="0">
                <a:latin typeface="+mj-lt"/>
              </a:rPr>
              <a:t>	available to insiders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+mj-lt"/>
              </a:rPr>
              <a:t>All versions assert that prices should reflect available information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80961E-F550-C96D-80A3-90CD0888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30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3370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B7D8D-6CA3-299B-C627-BA66C685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DE88ED75-F1B6-8546-5962-E825C617F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Efficient market hypothesis (cont.)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7DD4FC29-5930-7B1D-9728-20E2391D67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Why important to managers?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Pay equilibrium rate for financing obtained linked to riskiness of firm as perceived by investors</a:t>
            </a:r>
          </a:p>
          <a:p>
            <a:pPr marL="7159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Increase value of firm – find superior investments with return greater than required rate of return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Implications of EMH?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Returns are equal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Prices react quickly to new info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Abnormal returns require private info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Increased returns require exposure to additional risk (no private info)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Best estimate of firm value is price willing to pay someone else (hence shareholders’ wealth </a:t>
            </a:r>
            <a:r>
              <a:rPr lang="en-US" sz="2400" dirty="0" err="1">
                <a:latin typeface="+mj-lt"/>
              </a:rPr>
              <a:t>maximisation</a:t>
            </a:r>
            <a:r>
              <a:rPr lang="en-US" sz="2400" dirty="0">
                <a:latin typeface="+mj-lt"/>
              </a:rPr>
              <a:t> important)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A9F9-BD47-62DF-FCBE-3D1FB5A2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31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135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217E-5F5B-10D0-A35A-5D4D05D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1A2F1EF5-6CFC-0439-A4DC-D5A467093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Arbitrage pricing model (APM)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23FF753A-37E3-EFE5-4C60-D116F1C6FF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CAPM single-factor model 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Focus on return only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ym typeface="Wingdings" pitchFamily="2" charset="2"/>
              </a:rPr>
              <a:t>Alternative is APM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Multiple factor model </a:t>
            </a:r>
          </a:p>
          <a:p>
            <a:pPr marL="715963" indent="-3587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More factors than return only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FCD216-31BD-DF86-01EB-F40D77A7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32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453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6 part 2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7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Individual tutorial A – due date 11 March 2026 at 20:00 –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NO LATE SUBMISSIONS WILL BE ACCEPTED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6094</TotalTime>
  <Words>2425</Words>
  <Application>Microsoft Office PowerPoint</Application>
  <PresentationFormat>On-screen Show (4:3)</PresentationFormat>
  <Paragraphs>396</Paragraphs>
  <Slides>33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ＭＳ Ｐゴシック</vt:lpstr>
      <vt:lpstr>Arial</vt:lpstr>
      <vt:lpstr>Symbol</vt:lpstr>
      <vt:lpstr>Tahoma</vt:lpstr>
      <vt:lpstr>Times</vt:lpstr>
      <vt:lpstr>Wingdings</vt:lpstr>
      <vt:lpstr>Wingdings 2</vt:lpstr>
      <vt:lpstr>Blank Presentation</vt:lpstr>
      <vt:lpstr>1_Blank Presentation</vt:lpstr>
      <vt:lpstr>Equation</vt:lpstr>
      <vt:lpstr>PowerPoint Presentation</vt:lpstr>
      <vt:lpstr>Learning outcomes: Chapter 6</vt:lpstr>
      <vt:lpstr>Portfolio risk and return</vt:lpstr>
      <vt:lpstr>Portfolio risk and return (cont.)</vt:lpstr>
      <vt:lpstr>Portfolio risk and return (cont.)</vt:lpstr>
      <vt:lpstr>Portfolio risk and return (cont.)</vt:lpstr>
      <vt:lpstr>Portfolio risk and return (cont.)</vt:lpstr>
      <vt:lpstr>Portfolio risk and return (cont.)</vt:lpstr>
      <vt:lpstr>Portfolio risk and return (cont.)</vt:lpstr>
      <vt:lpstr>Diversifiable and non-diversifiable risk</vt:lpstr>
      <vt:lpstr>Diversifiable and non-diversifiable risk (cont.)</vt:lpstr>
      <vt:lpstr>Linking risk and return: Capital asset pricing model (CAPM)</vt:lpstr>
      <vt:lpstr>Linking risk and return: Capital asset pricing model (CAPM)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</vt:lpstr>
      <vt:lpstr>Linking risk and return: Capital asset pricing model (CAPM)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Linking risk and return: Capital asset pricing model (CAPM) (cont.)</vt:lpstr>
      <vt:lpstr>Efficient market hypothesis</vt:lpstr>
      <vt:lpstr>Efficient market hypothesis (cont.)</vt:lpstr>
      <vt:lpstr>Arbitrage pricing model (APM)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Reviewer</cp:lastModifiedBy>
  <cp:revision>697</cp:revision>
  <cp:lastPrinted>2024-02-16T14:16:15Z</cp:lastPrinted>
  <dcterms:created xsi:type="dcterms:W3CDTF">2010-03-21T13:43:06Z</dcterms:created>
  <dcterms:modified xsi:type="dcterms:W3CDTF">2026-02-20T07:18:44Z</dcterms:modified>
</cp:coreProperties>
</file>