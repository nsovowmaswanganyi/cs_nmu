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48" r:id="rId1"/>
    <p:sldMasterId id="2147483664" r:id="rId2"/>
  </p:sldMasterIdLst>
  <p:notesMasterIdLst>
    <p:notesMasterId r:id="rId26"/>
  </p:notesMasterIdLst>
  <p:handoutMasterIdLst>
    <p:handoutMasterId r:id="rId27"/>
  </p:handoutMasterIdLst>
  <p:sldIdLst>
    <p:sldId id="283" r:id="rId3"/>
    <p:sldId id="291" r:id="rId4"/>
    <p:sldId id="522" r:id="rId5"/>
    <p:sldId id="523" r:id="rId6"/>
    <p:sldId id="573" r:id="rId7"/>
    <p:sldId id="574" r:id="rId8"/>
    <p:sldId id="575" r:id="rId9"/>
    <p:sldId id="561" r:id="rId10"/>
    <p:sldId id="576" r:id="rId11"/>
    <p:sldId id="578" r:id="rId12"/>
    <p:sldId id="579" r:id="rId13"/>
    <p:sldId id="580" r:id="rId14"/>
    <p:sldId id="582" r:id="rId15"/>
    <p:sldId id="583" r:id="rId16"/>
    <p:sldId id="581" r:id="rId17"/>
    <p:sldId id="577" r:id="rId18"/>
    <p:sldId id="584" r:id="rId19"/>
    <p:sldId id="585" r:id="rId20"/>
    <p:sldId id="525" r:id="rId21"/>
    <p:sldId id="562" r:id="rId22"/>
    <p:sldId id="587" r:id="rId23"/>
    <p:sldId id="586" r:id="rId24"/>
    <p:sldId id="335" r:id="rId25"/>
  </p:sldIdLst>
  <p:sldSz cx="9144000" cy="6858000" type="screen4x3"/>
  <p:notesSz cx="6858000" cy="9945688"/>
  <p:custDataLst>
    <p:tags r:id="rId28"/>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009900"/>
    <a:srgbClr val="33CCCC"/>
    <a:srgbClr val="FF00FF"/>
    <a:srgbClr val="3BFF9D"/>
    <a:srgbClr val="FFFFCC"/>
    <a:srgbClr val="FFFF66"/>
    <a:srgbClr val="D63A17"/>
    <a:srgbClr val="ADB3BF"/>
    <a:srgbClr val="D692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18" autoAdjust="0"/>
  </p:normalViewPr>
  <p:slideViewPr>
    <p:cSldViewPr showGuides="1">
      <p:cViewPr varScale="1">
        <p:scale>
          <a:sx n="77" d="100"/>
          <a:sy n="77" d="100"/>
        </p:scale>
        <p:origin x="161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1" y="4724203"/>
            <a:ext cx="5029200" cy="4475559"/>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24169-4166-83C3-D763-598DA9B7E26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D6EF9DA-E1ED-8C4E-B4D9-C418BFDC1656}"/>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B7963B8-B623-7DFD-F997-A91875864570}"/>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97526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50C1B-6450-492B-BA40-340052D046B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CD8D539-373A-626F-75C2-5FA5F5E0BF5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313CD4D-5421-25E4-9E02-6840DC4C9CC2}"/>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08789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092F4-F9A2-4F2E-0198-B29C4D34B6C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B7306BD-0C10-281F-37E8-9DB3DBEACA86}"/>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9DEB37A-5582-7A8E-F4D7-7CBD5F8E8F6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925957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83EE-9C14-BC91-A990-54B14C8ECF1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5358935-C85F-D11A-DB31-F37C2E53916F}"/>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D6868FF-3BAB-5C47-1CBB-A5348586B80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03481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83EE-9C14-BC91-A990-54B14C8ECF1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5358935-C85F-D11A-DB31-F37C2E53916F}"/>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D6868FF-3BAB-5C47-1CBB-A5348586B80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704194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8174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094008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693627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98597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208967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70015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594994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810480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159487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164136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91E-4E09-7D75-2442-9FE30FB89F2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82F3E23-B5F3-D2C4-ECD5-AE3F0E2D2ED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D05F056-10B6-EAEA-4536-FFB1A0F4920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63663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4A156-146F-DF18-1629-458FEC90638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7AA3DE9-8AA0-00C3-F061-98A3077ED44D}"/>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C503589-0F9E-7E9E-8FAA-868D0878ED8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631402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F44D-F5A9-EDD9-43C4-78299398A26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87EF313-43D6-725C-3545-BF1A6739033C}"/>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4746971-A537-0611-A1ED-701F0F991712}"/>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713932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F44D-F5A9-EDD9-43C4-78299398A26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87EF313-43D6-725C-3545-BF1A6739033C}"/>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4746971-A537-0611-A1ED-701F0F991712}"/>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5183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F44D-F5A9-EDD9-43C4-78299398A26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87EF313-43D6-725C-3545-BF1A6739033C}"/>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4746971-A537-0611-A1ED-701F0F991712}"/>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81199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8698"/>
            <a:fld id="{73303AEE-F764-0E46-AFB6-085D8FECA2EE}" type="slidenum">
              <a:rPr lang="en-US">
                <a:solidFill>
                  <a:srgbClr val="000000"/>
                </a:solidFill>
              </a:rPr>
              <a:pPr defTabSz="918698"/>
              <a:t>23</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5/12/2026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5/12/2026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5/12/2026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5/12/2026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5/12/2026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5/12/2026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5/12/2026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5/12/2026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5/12/2026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5/12/2026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5/12/2026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334000" y="2514600"/>
            <a:ext cx="3238583" cy="2059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Leverage and capital structure – Part 2</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16</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Slides by Prof C </a:t>
            </a:r>
            <a:r>
              <a:rPr kumimoji="0" lang="en-GB" sz="2000" b="1" i="0" u="none" strike="noStrike" kern="1200" cap="none" spc="0" normalizeH="0" baseline="0" noProof="0" dirty="0" err="1">
                <a:ln>
                  <a:noFill/>
                </a:ln>
                <a:solidFill>
                  <a:srgbClr val="28287A"/>
                </a:solidFill>
                <a:effectLst/>
                <a:uLnTx/>
                <a:uFillTx/>
                <a:latin typeface="Tahoma"/>
                <a:ea typeface="ＭＳ Ｐゴシック"/>
                <a:cs typeface="Arial" charset="0"/>
              </a:rPr>
              <a:t>Rootman</a:t>
            </a: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 Dr S Watson, Ms E Kobese </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rPr>
              <a:t>&amp; Ms N </a:t>
            </a:r>
            <a:r>
              <a:rPr kumimoji="0" lang="en-GB" sz="2000" b="1" i="0" u="none" strike="noStrike" kern="1200" cap="none" spc="0" normalizeH="0" baseline="0" noProof="0" dirty="0" err="1">
                <a:ln>
                  <a:noFill/>
                </a:ln>
                <a:solidFill>
                  <a:srgbClr val="28287A"/>
                </a:solidFill>
                <a:effectLst/>
                <a:uLnTx/>
                <a:uFillTx/>
                <a:latin typeface="Tahoma"/>
                <a:ea typeface="ＭＳ Ｐゴシック"/>
                <a:cs typeface="Arial" charset="0"/>
              </a:rPr>
              <a:t>Maliwa</a:t>
            </a:r>
            <a:endParaRPr kumimoji="0" lang="en-GB" sz="2000" b="1" i="0" u="none" strike="noStrike" kern="1200" cap="none" spc="0" normalizeH="0" baseline="0" noProof="0" dirty="0">
              <a:ln>
                <a:noFill/>
              </a:ln>
              <a:solidFill>
                <a:srgbClr val="28287A"/>
              </a:solidFill>
              <a:effectLst/>
              <a:uLnTx/>
              <a:uFillTx/>
              <a:latin typeface="Tahoma"/>
              <a:ea typeface="ＭＳ Ｐゴシック"/>
              <a:cs typeface="Arial" charset="0"/>
            </a:endParaRPr>
          </a:p>
        </p:txBody>
      </p:sp>
    </p:spTree>
    <p:extLst>
      <p:ext uri="{BB962C8B-B14F-4D97-AF65-F5344CB8AC3E}">
        <p14:creationId xmlns:p14="http://schemas.microsoft.com/office/powerpoint/2010/main" val="106713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16</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t>classify cost as fixed, variable or semi-variable</a:t>
            </a:r>
          </a:p>
          <a:p>
            <a:pPr marL="342900" lvl="0" indent="-342900" algn="just">
              <a:buFont typeface="Symbol" panose="05050102010706020507" pitchFamily="18" charset="2"/>
              <a:buChar char=""/>
              <a:tabLst>
                <a:tab pos="431800" algn="l"/>
              </a:tabLst>
            </a:pPr>
            <a:r>
              <a:rPr lang="en-ZA" sz="2400" dirty="0"/>
              <a:t>accurately calculate the breakeven point of a firm by means of breakeven analysis</a:t>
            </a:r>
          </a:p>
          <a:p>
            <a:pPr marL="342900" lvl="0" indent="-342900" algn="just">
              <a:buFont typeface="Symbol" panose="05050102010706020507" pitchFamily="18" charset="2"/>
              <a:buChar char=""/>
              <a:tabLst>
                <a:tab pos="431800" algn="l"/>
              </a:tabLst>
            </a:pPr>
            <a:r>
              <a:rPr lang="en-ZA" sz="2400" dirty="0"/>
              <a:t>evaluate the influence of operating and financial leverage on a firm</a:t>
            </a:r>
          </a:p>
          <a:p>
            <a:pPr marL="342900" lvl="0" indent="-342900" algn="just">
              <a:buFont typeface="Symbol" panose="05050102010706020507" pitchFamily="18" charset="2"/>
              <a:buChar char=""/>
              <a:tabLst>
                <a:tab pos="431800" algn="l"/>
              </a:tabLst>
            </a:pPr>
            <a:r>
              <a:rPr lang="en-ZA" sz="2400" dirty="0">
                <a:solidFill>
                  <a:srgbClr val="C00000"/>
                </a:solidFill>
              </a:rPr>
              <a:t>determine the influence of financial leverage on the earnings, optimal capital structure and value of a firm</a:t>
            </a:r>
          </a:p>
          <a:p>
            <a:pPr marL="342900" lvl="0" indent="-342900" algn="just">
              <a:buFont typeface="Symbol" panose="05050102010706020507" pitchFamily="18" charset="2"/>
              <a:buChar char=""/>
              <a:tabLst>
                <a:tab pos="431800" algn="l"/>
              </a:tabLst>
            </a:pPr>
            <a:r>
              <a:rPr lang="en-ZA" sz="2400" dirty="0">
                <a:solidFill>
                  <a:srgbClr val="C00000"/>
                </a:solidFill>
              </a:rPr>
              <a:t>evaluate the appropriateness of financial leverage in view of practical considerations.</a:t>
            </a:r>
          </a:p>
          <a:p>
            <a:pPr marL="342900" lvl="0" indent="-342900" algn="just">
              <a:buFont typeface="Symbol" panose="05050102010706020507" pitchFamily="18" charset="2"/>
              <a:buChar char=""/>
              <a:tabLst>
                <a:tab pos="431800" algn="l"/>
              </a:tabLst>
            </a:pPr>
            <a:endParaRPr lang="en-ZA" sz="2400"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A20C9B-FBCF-B4E6-65DA-C2E09CD8FE6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1F35399-41EF-349B-CEAF-EA761F0E8387}"/>
              </a:ext>
            </a:extLst>
          </p:cNvPr>
          <p:cNvSpPr>
            <a:spLocks noGrp="1" noChangeArrowheads="1"/>
          </p:cNvSpPr>
          <p:nvPr>
            <p:ph type="title"/>
          </p:nvPr>
        </p:nvSpPr>
        <p:spPr>
          <a:xfrm>
            <a:off x="228600" y="10510"/>
            <a:ext cx="8763000" cy="1143000"/>
          </a:xfrm>
        </p:spPr>
        <p:txBody>
          <a:bodyPr/>
          <a:lstStyle/>
          <a:p>
            <a:r>
              <a:rPr lang="en-US" dirty="0">
                <a:solidFill>
                  <a:schemeClr val="tx2"/>
                </a:solidFill>
              </a:rPr>
              <a:t>The firm’s capital structure</a:t>
            </a:r>
          </a:p>
        </p:txBody>
      </p:sp>
      <p:sp>
        <p:nvSpPr>
          <p:cNvPr id="3" name="Slide Number Placeholder 2">
            <a:extLst>
              <a:ext uri="{FF2B5EF4-FFF2-40B4-BE49-F238E27FC236}">
                <a16:creationId xmlns:a16="http://schemas.microsoft.com/office/drawing/2014/main" id="{1F0080E7-5392-26B8-D402-E3DE06666D3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
        <p:nvSpPr>
          <p:cNvPr id="4" name="Rectangle 5">
            <a:extLst>
              <a:ext uri="{FF2B5EF4-FFF2-40B4-BE49-F238E27FC236}">
                <a16:creationId xmlns:a16="http://schemas.microsoft.com/office/drawing/2014/main" id="{D4804F0F-73BE-81D9-BB68-480BD67218F9}"/>
              </a:ext>
            </a:extLst>
          </p:cNvPr>
          <p:cNvSpPr>
            <a:spLocks noGrp="1" noChangeArrowheads="1"/>
          </p:cNvSpPr>
          <p:nvPr>
            <p:ph idx="1"/>
          </p:nvPr>
        </p:nvSpPr>
        <p:spPr>
          <a:xfrm>
            <a:off x="259976" y="990600"/>
            <a:ext cx="8655424" cy="5247290"/>
          </a:xfrm>
        </p:spPr>
        <p:txBody>
          <a:bodyPr/>
          <a:lstStyle/>
          <a:p>
            <a:pPr algn="just">
              <a:lnSpc>
                <a:spcPct val="100000"/>
              </a:lnSpc>
              <a:spcBef>
                <a:spcPts val="0"/>
              </a:spcBef>
              <a:spcAft>
                <a:spcPts val="600"/>
              </a:spcAft>
              <a:buSzPct val="100000"/>
              <a:buFont typeface="Arial" panose="020B0604020202020204" pitchFamily="34" charset="0"/>
              <a:buChar char="•"/>
            </a:pPr>
            <a:r>
              <a:rPr lang="en-US" sz="2400" dirty="0">
                <a:latin typeface="+mj-lt"/>
              </a:rPr>
              <a:t>Debt vs equity</a:t>
            </a:r>
          </a:p>
          <a:p>
            <a:pPr marL="719138"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Maturity</a:t>
            </a:r>
          </a:p>
          <a:p>
            <a:pPr marL="1077913"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Debt matures (short-term, medium-term and long-term debt)</a:t>
            </a:r>
          </a:p>
          <a:p>
            <a:pPr marL="1077913"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Equity – no maturity</a:t>
            </a:r>
          </a:p>
          <a:p>
            <a:pPr marL="719138"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Claims on income</a:t>
            </a:r>
          </a:p>
          <a:p>
            <a:pPr marL="1077913"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Creditors before owners can withdraw income</a:t>
            </a:r>
          </a:p>
          <a:p>
            <a:pPr marL="1077913"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Interest payments before withdrawals</a:t>
            </a:r>
          </a:p>
          <a:p>
            <a:pPr marL="719138"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Claims on assets</a:t>
            </a:r>
          </a:p>
          <a:p>
            <a:pPr marL="1077913"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Creditors and preference shareholders before shareholders and owners</a:t>
            </a:r>
          </a:p>
          <a:p>
            <a:pPr marL="719138"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Right to voice in management</a:t>
            </a:r>
          </a:p>
          <a:p>
            <a:pPr marL="1077913" indent="-358775" algn="just">
              <a:lnSpc>
                <a:spcPct val="100000"/>
              </a:lnSpc>
              <a:spcBef>
                <a:spcPts val="0"/>
              </a:spcBef>
              <a:spcAft>
                <a:spcPts val="600"/>
              </a:spcAft>
              <a:buSzPct val="100000"/>
              <a:buFont typeface="Wingdings" panose="05000000000000000000" pitchFamily="2" charset="2"/>
              <a:buChar char="§"/>
            </a:pPr>
            <a:r>
              <a:rPr lang="en-US" sz="2400" dirty="0">
                <a:latin typeface="+mj-lt"/>
              </a:rPr>
              <a:t>Only ordinary shareholders</a:t>
            </a:r>
          </a:p>
        </p:txBody>
      </p:sp>
    </p:spTree>
    <p:custDataLst>
      <p:tags r:id="rId1"/>
    </p:custDataLst>
    <p:extLst>
      <p:ext uri="{BB962C8B-B14F-4D97-AF65-F5344CB8AC3E}">
        <p14:creationId xmlns:p14="http://schemas.microsoft.com/office/powerpoint/2010/main" val="3028590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ADC43A-06CE-6BAA-6E08-7AFD2EBBDE94}"/>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319EED7-6BAE-2194-24C7-391A021B04D9}"/>
              </a:ext>
            </a:extLst>
          </p:cNvPr>
          <p:cNvSpPr>
            <a:spLocks noGrp="1" noChangeArrowheads="1"/>
          </p:cNvSpPr>
          <p:nvPr>
            <p:ph type="title"/>
          </p:nvPr>
        </p:nvSpPr>
        <p:spPr>
          <a:xfrm>
            <a:off x="228600" y="10510"/>
            <a:ext cx="8763000" cy="1143000"/>
          </a:xfrm>
        </p:spPr>
        <p:txBody>
          <a:bodyPr/>
          <a:lstStyle/>
          <a:p>
            <a:r>
              <a:rPr lang="en-US" dirty="0">
                <a:solidFill>
                  <a:schemeClr val="tx2"/>
                </a:solidFill>
              </a:rPr>
              <a:t>Financial leverage and return</a:t>
            </a:r>
          </a:p>
        </p:txBody>
      </p:sp>
      <p:sp>
        <p:nvSpPr>
          <p:cNvPr id="3" name="Slide Number Placeholder 2">
            <a:extLst>
              <a:ext uri="{FF2B5EF4-FFF2-40B4-BE49-F238E27FC236}">
                <a16:creationId xmlns:a16="http://schemas.microsoft.com/office/drawing/2014/main" id="{9DA37AE3-4264-EC08-127B-5602C7F575D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
        <p:nvSpPr>
          <p:cNvPr id="4" name="Rectangle 5">
            <a:extLst>
              <a:ext uri="{FF2B5EF4-FFF2-40B4-BE49-F238E27FC236}">
                <a16:creationId xmlns:a16="http://schemas.microsoft.com/office/drawing/2014/main" id="{1E738542-40CD-1221-2E2D-F0403AE79B45}"/>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Financial leverage point – level of EBIT where earnings equal 0 – level of EBIT to cover all fixed financial costs</a:t>
            </a:r>
          </a:p>
          <a:p>
            <a:pPr marL="0" indent="0" algn="just">
              <a:lnSpc>
                <a:spcPct val="105000"/>
              </a:lnSpc>
              <a:buSzPct val="100000"/>
              <a:buNone/>
            </a:pPr>
            <a:r>
              <a:rPr lang="en-US" sz="2400" dirty="0">
                <a:latin typeface="+mj-lt"/>
              </a:rPr>
              <a:t>	BE</a:t>
            </a:r>
            <a:r>
              <a:rPr lang="en-US" sz="2400" baseline="-25000" dirty="0">
                <a:latin typeface="+mj-lt"/>
              </a:rPr>
              <a:t>F</a:t>
            </a:r>
            <a:r>
              <a:rPr lang="en-US" sz="2400" dirty="0">
                <a:latin typeface="+mj-lt"/>
              </a:rPr>
              <a:t>	= I + PD / (1 – t)</a:t>
            </a:r>
          </a:p>
          <a:p>
            <a:pPr algn="just">
              <a:lnSpc>
                <a:spcPct val="105000"/>
              </a:lnSpc>
              <a:buSzPct val="100000"/>
              <a:buFont typeface="Arial" panose="020B0604020202020204" pitchFamily="34" charset="0"/>
              <a:buChar char="•"/>
            </a:pPr>
            <a:r>
              <a:rPr lang="en-US" sz="2400" dirty="0">
                <a:latin typeface="+mj-lt"/>
              </a:rPr>
              <a:t>Example: JHS </a:t>
            </a:r>
            <a:r>
              <a:rPr lang="en-US" sz="2400" dirty="0" err="1">
                <a:latin typeface="+mj-lt"/>
              </a:rPr>
              <a:t>Ltd’s</a:t>
            </a:r>
            <a:r>
              <a:rPr lang="en-US" sz="2400" dirty="0">
                <a:latin typeface="+mj-lt"/>
              </a:rPr>
              <a:t> initial investment amounts to R1bn (example from Part 1).</a:t>
            </a:r>
          </a:p>
          <a:p>
            <a:pPr marL="0" indent="0" algn="just">
              <a:lnSpc>
                <a:spcPct val="105000"/>
              </a:lnSpc>
              <a:buSzPct val="100000"/>
              <a:buNone/>
            </a:pPr>
            <a:r>
              <a:rPr lang="en-US" sz="2400" dirty="0">
                <a:latin typeface="+mj-lt"/>
              </a:rPr>
              <a:t>	Scenario 1: Finance with own savings</a:t>
            </a:r>
          </a:p>
          <a:p>
            <a:pPr marL="0" indent="0" algn="just">
              <a:lnSpc>
                <a:spcPct val="105000"/>
              </a:lnSpc>
              <a:buSzPct val="100000"/>
              <a:buNone/>
            </a:pPr>
            <a:r>
              <a:rPr lang="en-US" sz="2400" dirty="0">
                <a:latin typeface="+mj-lt"/>
              </a:rPr>
              <a:t>	Scenario 2: Finance 20% with debt and rest with equity</a:t>
            </a:r>
          </a:p>
          <a:p>
            <a:pPr marL="0" indent="0" algn="just">
              <a:lnSpc>
                <a:spcPct val="105000"/>
              </a:lnSpc>
              <a:buSzPct val="100000"/>
              <a:buNone/>
            </a:pPr>
            <a:r>
              <a:rPr lang="en-US" sz="2400" dirty="0">
                <a:latin typeface="+mj-lt"/>
              </a:rPr>
              <a:t>	</a:t>
            </a:r>
          </a:p>
          <a:p>
            <a:pPr marL="0" indent="0" algn="just">
              <a:lnSpc>
                <a:spcPct val="105000"/>
              </a:lnSpc>
              <a:buSzPct val="100000"/>
              <a:buNone/>
              <a:tabLst>
                <a:tab pos="358775" algn="l"/>
              </a:tabLst>
            </a:pPr>
            <a:r>
              <a:rPr lang="en-US" sz="2400" dirty="0">
                <a:latin typeface="+mj-lt"/>
              </a:rPr>
              <a:t>	Interest rate is 15% pa. </a:t>
            </a:r>
          </a:p>
          <a:p>
            <a:pPr marL="0" indent="0" algn="just">
              <a:lnSpc>
                <a:spcPct val="105000"/>
              </a:lnSpc>
              <a:buSzPct val="100000"/>
              <a:buNone/>
              <a:tabLst>
                <a:tab pos="358775" algn="l"/>
              </a:tabLst>
            </a:pPr>
            <a:endParaRPr lang="en-US" sz="2400" dirty="0">
              <a:latin typeface="+mj-lt"/>
            </a:endParaRPr>
          </a:p>
          <a:p>
            <a:pPr marL="0" indent="0" algn="just">
              <a:lnSpc>
                <a:spcPct val="105000"/>
              </a:lnSpc>
              <a:buSzPct val="100000"/>
              <a:buNone/>
              <a:tabLst>
                <a:tab pos="358775" algn="l"/>
              </a:tabLst>
            </a:pPr>
            <a:r>
              <a:rPr lang="en-US" sz="2400" dirty="0">
                <a:latin typeface="+mj-lt"/>
              </a:rPr>
              <a:t>	Assume that EBIT increase by 100%.</a:t>
            </a: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2352740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0711D-A9C2-ED74-D359-6F9963CE6EB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00B9FAA-9682-9509-EEEA-BC85D5B0895B}"/>
              </a:ext>
            </a:extLst>
          </p:cNvPr>
          <p:cNvSpPr>
            <a:spLocks noGrp="1" noChangeArrowheads="1"/>
          </p:cNvSpPr>
          <p:nvPr>
            <p:ph type="title"/>
          </p:nvPr>
        </p:nvSpPr>
        <p:spPr>
          <a:xfrm>
            <a:off x="228600" y="10510"/>
            <a:ext cx="8763000" cy="1143000"/>
          </a:xfrm>
        </p:spPr>
        <p:txBody>
          <a:bodyPr/>
          <a:lstStyle/>
          <a:p>
            <a:r>
              <a:rPr lang="en-US" dirty="0">
                <a:solidFill>
                  <a:schemeClr val="tx2"/>
                </a:solidFill>
              </a:rPr>
              <a:t>Financial leverage and return (cont.)</a:t>
            </a:r>
          </a:p>
        </p:txBody>
      </p:sp>
      <p:graphicFrame>
        <p:nvGraphicFramePr>
          <p:cNvPr id="2" name="Table 1">
            <a:extLst>
              <a:ext uri="{FF2B5EF4-FFF2-40B4-BE49-F238E27FC236}">
                <a16:creationId xmlns:a16="http://schemas.microsoft.com/office/drawing/2014/main" id="{6432C55C-4E40-09C1-3E0B-843ABDBC70DB}"/>
              </a:ext>
            </a:extLst>
          </p:cNvPr>
          <p:cNvGraphicFramePr>
            <a:graphicFrameLocks noGrp="1"/>
          </p:cNvGraphicFramePr>
          <p:nvPr>
            <p:extLst>
              <p:ext uri="{D42A27DB-BD31-4B8C-83A1-F6EECF244321}">
                <p14:modId xmlns:p14="http://schemas.microsoft.com/office/powerpoint/2010/main" val="1902476136"/>
              </p:ext>
            </p:extLst>
          </p:nvPr>
        </p:nvGraphicFramePr>
        <p:xfrm>
          <a:off x="135599" y="914400"/>
          <a:ext cx="8928000" cy="2804238"/>
        </p:xfrm>
        <a:graphic>
          <a:graphicData uri="http://schemas.openxmlformats.org/drawingml/2006/table">
            <a:tbl>
              <a:tblPr firstRow="1" bandRow="1">
                <a:tableStyleId>{5C22544A-7EE6-4342-B048-85BDC9FD1C3A}</a:tableStyleId>
              </a:tblPr>
              <a:tblGrid>
                <a:gridCol w="5148682">
                  <a:extLst>
                    <a:ext uri="{9D8B030D-6E8A-4147-A177-3AD203B41FA5}">
                      <a16:colId xmlns:a16="http://schemas.microsoft.com/office/drawing/2014/main" val="2094799449"/>
                    </a:ext>
                  </a:extLst>
                </a:gridCol>
                <a:gridCol w="3779318">
                  <a:extLst>
                    <a:ext uri="{9D8B030D-6E8A-4147-A177-3AD203B41FA5}">
                      <a16:colId xmlns:a16="http://schemas.microsoft.com/office/drawing/2014/main" val="229568527"/>
                    </a:ext>
                  </a:extLst>
                </a:gridCol>
              </a:tblGrid>
              <a:tr h="348387">
                <a:tc gridSpan="2">
                  <a:txBody>
                    <a:bodyPr/>
                    <a:lstStyle/>
                    <a:p>
                      <a:pPr algn="l"/>
                      <a:r>
                        <a:rPr lang="en-US" sz="1800" dirty="0">
                          <a:solidFill>
                            <a:schemeClr val="tx1"/>
                          </a:solidFill>
                        </a:rPr>
                        <a:t>Scenario 1                                   JHS Ltd (R’000)</a:t>
                      </a:r>
                      <a:endParaRPr lang="en-ZA" sz="1800" dirty="0">
                        <a:solidFill>
                          <a:schemeClr val="tx1"/>
                        </a:solidFill>
                      </a:endParaRPr>
                    </a:p>
                  </a:txBody>
                  <a:tcPr anchor="ctr">
                    <a:solidFill>
                      <a:schemeClr val="tx2">
                        <a:lumMod val="20000"/>
                        <a:lumOff val="80000"/>
                      </a:schemeClr>
                    </a:solidFill>
                  </a:tcPr>
                </a:tc>
                <a:tc hMerge="1">
                  <a:txBody>
                    <a:bodyPr/>
                    <a:lstStyle/>
                    <a:p>
                      <a:endParaRPr lang="en-ZA" dirty="0"/>
                    </a:p>
                  </a:txBody>
                  <a:tcPr/>
                </a:tc>
                <a:extLst>
                  <a:ext uri="{0D108BD9-81ED-4DB2-BD59-A6C34878D82A}">
                    <a16:rowId xmlns:a16="http://schemas.microsoft.com/office/drawing/2014/main" val="3699276180"/>
                  </a:ext>
                </a:extLst>
              </a:tr>
              <a:tr h="406413">
                <a:tc>
                  <a:txBody>
                    <a:bodyPr/>
                    <a:lstStyle/>
                    <a:p>
                      <a:r>
                        <a:rPr lang="en-US" sz="1800" dirty="0"/>
                        <a:t>Expected statement of financial performance</a:t>
                      </a:r>
                      <a:endParaRPr lang="en-ZA" sz="1800" dirty="0"/>
                    </a:p>
                  </a:txBody>
                  <a:tcPr>
                    <a:solidFill>
                      <a:schemeClr val="tx2">
                        <a:lumMod val="20000"/>
                        <a:lumOff val="80000"/>
                      </a:schemeClr>
                    </a:solidFill>
                  </a:tcPr>
                </a:tc>
                <a:tc>
                  <a:txBody>
                    <a:bodyPr/>
                    <a:lstStyle/>
                    <a:p>
                      <a:pPr algn="ctr"/>
                      <a:r>
                        <a:rPr lang="en-US" sz="1800" dirty="0"/>
                        <a:t>Debt ratio 0%</a:t>
                      </a:r>
                      <a:endParaRPr lang="en-ZA" sz="1800" dirty="0"/>
                    </a:p>
                  </a:txBody>
                  <a:tcPr>
                    <a:solidFill>
                      <a:schemeClr val="tx2">
                        <a:lumMod val="20000"/>
                        <a:lumOff val="80000"/>
                      </a:schemeClr>
                    </a:solidFill>
                  </a:tcPr>
                </a:tc>
                <a:extLst>
                  <a:ext uri="{0D108BD9-81ED-4DB2-BD59-A6C34878D82A}">
                    <a16:rowId xmlns:a16="http://schemas.microsoft.com/office/drawing/2014/main" val="3670925188"/>
                  </a:ext>
                </a:extLst>
              </a:tr>
              <a:tr h="406413">
                <a:tc>
                  <a:txBody>
                    <a:bodyPr/>
                    <a:lstStyle/>
                    <a:p>
                      <a:r>
                        <a:rPr lang="en-US" sz="1800" dirty="0"/>
                        <a:t>EBIT</a:t>
                      </a:r>
                      <a:endParaRPr lang="en-ZA" sz="1800" dirty="0"/>
                    </a:p>
                  </a:txBody>
                  <a:tcPr>
                    <a:noFill/>
                  </a:tcPr>
                </a:tc>
                <a:tc>
                  <a:txBody>
                    <a:bodyPr/>
                    <a:lstStyle/>
                    <a:p>
                      <a:pPr algn="r"/>
                      <a:r>
                        <a:rPr lang="en-US" sz="1800" dirty="0"/>
                        <a:t>200 000</a:t>
                      </a:r>
                      <a:endParaRPr lang="en-ZA" sz="1800" dirty="0"/>
                    </a:p>
                  </a:txBody>
                  <a:tcPr>
                    <a:noFill/>
                  </a:tcPr>
                </a:tc>
                <a:extLst>
                  <a:ext uri="{0D108BD9-81ED-4DB2-BD59-A6C34878D82A}">
                    <a16:rowId xmlns:a16="http://schemas.microsoft.com/office/drawing/2014/main" val="3554167102"/>
                  </a:ext>
                </a:extLst>
              </a:tr>
              <a:tr h="406413">
                <a:tc>
                  <a:txBody>
                    <a:bodyPr/>
                    <a:lstStyle/>
                    <a:p>
                      <a:r>
                        <a:rPr lang="en-US" sz="1800" dirty="0"/>
                        <a:t>Less: Interest</a:t>
                      </a:r>
                      <a:endParaRPr lang="en-ZA" sz="1800" dirty="0"/>
                    </a:p>
                  </a:txBody>
                  <a:tcPr>
                    <a:noFill/>
                  </a:tcPr>
                </a:tc>
                <a:tc>
                  <a:txBody>
                    <a:bodyPr/>
                    <a:lstStyle/>
                    <a:p>
                      <a:pPr algn="r"/>
                      <a:r>
                        <a:rPr lang="en-US" sz="1800" dirty="0"/>
                        <a:t>0</a:t>
                      </a:r>
                      <a:endParaRPr lang="en-ZA" sz="1800" dirty="0"/>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8912740"/>
                  </a:ext>
                </a:extLst>
              </a:tr>
              <a:tr h="406413">
                <a:tc>
                  <a:txBody>
                    <a:bodyPr/>
                    <a:lstStyle/>
                    <a:p>
                      <a:r>
                        <a:rPr lang="en-US" sz="1800" dirty="0"/>
                        <a:t>EBT</a:t>
                      </a:r>
                      <a:endParaRPr lang="en-ZA" sz="1800" dirty="0"/>
                    </a:p>
                  </a:txBody>
                  <a:tcPr>
                    <a:noFill/>
                  </a:tcPr>
                </a:tc>
                <a:tc>
                  <a:txBody>
                    <a:bodyPr/>
                    <a:lstStyle/>
                    <a:p>
                      <a:pPr algn="r"/>
                      <a:r>
                        <a:rPr lang="en-US" sz="1800" dirty="0"/>
                        <a:t>200 000</a:t>
                      </a:r>
                      <a:endParaRPr lang="en-ZA" sz="1800"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0723026"/>
                  </a:ext>
                </a:extLst>
              </a:tr>
              <a:tr h="406413">
                <a:tc>
                  <a:txBody>
                    <a:bodyPr/>
                    <a:lstStyle/>
                    <a:p>
                      <a:r>
                        <a:rPr lang="en-US" sz="1800" dirty="0"/>
                        <a:t>Less: Taxes (27%)</a:t>
                      </a:r>
                      <a:endParaRPr lang="en-ZA" sz="1800" dirty="0"/>
                    </a:p>
                  </a:txBody>
                  <a:tcPr>
                    <a:noFill/>
                  </a:tcPr>
                </a:tc>
                <a:tc>
                  <a:txBody>
                    <a:bodyPr/>
                    <a:lstStyle/>
                    <a:p>
                      <a:pPr algn="r"/>
                      <a:r>
                        <a:rPr lang="en-US" sz="1800" dirty="0"/>
                        <a:t>54 000</a:t>
                      </a:r>
                      <a:endParaRPr lang="en-ZA" sz="1800" dirty="0"/>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0705331"/>
                  </a:ext>
                </a:extLst>
              </a:tr>
              <a:tr h="406413">
                <a:tc>
                  <a:txBody>
                    <a:bodyPr/>
                    <a:lstStyle/>
                    <a:p>
                      <a:r>
                        <a:rPr lang="en-US" sz="1800" dirty="0"/>
                        <a:t>EAT</a:t>
                      </a:r>
                      <a:endParaRPr lang="en-ZA" sz="1800" dirty="0"/>
                    </a:p>
                  </a:txBody>
                  <a:tcPr>
                    <a:noFill/>
                  </a:tcPr>
                </a:tc>
                <a:tc>
                  <a:txBody>
                    <a:bodyPr/>
                    <a:lstStyle/>
                    <a:p>
                      <a:pPr algn="r"/>
                      <a:r>
                        <a:rPr lang="en-US" sz="1800" dirty="0"/>
                        <a:t>146 000</a:t>
                      </a:r>
                      <a:endParaRPr lang="en-ZA" sz="1800" dirty="0"/>
                    </a:p>
                  </a:txBody>
                  <a:tcP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9295116"/>
                  </a:ext>
                </a:extLst>
              </a:tr>
            </a:tbl>
          </a:graphicData>
        </a:graphic>
      </p:graphicFrame>
      <p:graphicFrame>
        <p:nvGraphicFramePr>
          <p:cNvPr id="8" name="Table 7">
            <a:extLst>
              <a:ext uri="{FF2B5EF4-FFF2-40B4-BE49-F238E27FC236}">
                <a16:creationId xmlns:a16="http://schemas.microsoft.com/office/drawing/2014/main" id="{261DD7CB-6579-4CAE-46D7-0E1A4F7A96AF}"/>
              </a:ext>
            </a:extLst>
          </p:cNvPr>
          <p:cNvGraphicFramePr>
            <a:graphicFrameLocks noGrp="1"/>
          </p:cNvGraphicFramePr>
          <p:nvPr>
            <p:extLst>
              <p:ext uri="{D42A27DB-BD31-4B8C-83A1-F6EECF244321}">
                <p14:modId xmlns:p14="http://schemas.microsoft.com/office/powerpoint/2010/main" val="2545243801"/>
              </p:ext>
            </p:extLst>
          </p:nvPr>
        </p:nvGraphicFramePr>
        <p:xfrm>
          <a:off x="135598" y="3881470"/>
          <a:ext cx="8928000" cy="2880001"/>
        </p:xfrm>
        <a:graphic>
          <a:graphicData uri="http://schemas.openxmlformats.org/drawingml/2006/table">
            <a:tbl>
              <a:tblPr firstRow="1" bandRow="1">
                <a:tableStyleId>{5C22544A-7EE6-4342-B048-85BDC9FD1C3A}</a:tableStyleId>
              </a:tblPr>
              <a:tblGrid>
                <a:gridCol w="5148682">
                  <a:extLst>
                    <a:ext uri="{9D8B030D-6E8A-4147-A177-3AD203B41FA5}">
                      <a16:colId xmlns:a16="http://schemas.microsoft.com/office/drawing/2014/main" val="2094799449"/>
                    </a:ext>
                  </a:extLst>
                </a:gridCol>
                <a:gridCol w="3779318">
                  <a:extLst>
                    <a:ext uri="{9D8B030D-6E8A-4147-A177-3AD203B41FA5}">
                      <a16:colId xmlns:a16="http://schemas.microsoft.com/office/drawing/2014/main" val="229568527"/>
                    </a:ext>
                  </a:extLst>
                </a:gridCol>
              </a:tblGrid>
              <a:tr h="370693">
                <a:tc gridSpan="2">
                  <a:txBody>
                    <a:bodyPr/>
                    <a:lstStyle/>
                    <a:p>
                      <a:pPr algn="l"/>
                      <a:r>
                        <a:rPr lang="en-US" sz="1800" dirty="0">
                          <a:solidFill>
                            <a:schemeClr val="tx1"/>
                          </a:solidFill>
                        </a:rPr>
                        <a:t>Scenario 2                                   JHS Ltd (R’000)</a:t>
                      </a:r>
                      <a:endParaRPr lang="en-ZA" sz="1800" dirty="0">
                        <a:solidFill>
                          <a:schemeClr val="tx1"/>
                        </a:solidFill>
                      </a:endParaRPr>
                    </a:p>
                  </a:txBody>
                  <a:tcPr anchor="ctr">
                    <a:solidFill>
                      <a:schemeClr val="tx2">
                        <a:lumMod val="20000"/>
                        <a:lumOff val="80000"/>
                      </a:schemeClr>
                    </a:solidFill>
                  </a:tcPr>
                </a:tc>
                <a:tc hMerge="1">
                  <a:txBody>
                    <a:bodyPr/>
                    <a:lstStyle/>
                    <a:p>
                      <a:endParaRPr lang="en-ZA" dirty="0"/>
                    </a:p>
                  </a:txBody>
                  <a:tcPr/>
                </a:tc>
                <a:extLst>
                  <a:ext uri="{0D108BD9-81ED-4DB2-BD59-A6C34878D82A}">
                    <a16:rowId xmlns:a16="http://schemas.microsoft.com/office/drawing/2014/main" val="3699276180"/>
                  </a:ext>
                </a:extLst>
              </a:tr>
              <a:tr h="418218">
                <a:tc>
                  <a:txBody>
                    <a:bodyPr/>
                    <a:lstStyle/>
                    <a:p>
                      <a:r>
                        <a:rPr lang="en-US" sz="1800" dirty="0"/>
                        <a:t>Expected statement of financial performance</a:t>
                      </a:r>
                      <a:endParaRPr lang="en-ZA" sz="1800" dirty="0"/>
                    </a:p>
                  </a:txBody>
                  <a:tcPr>
                    <a:solidFill>
                      <a:schemeClr val="tx2">
                        <a:lumMod val="20000"/>
                        <a:lumOff val="80000"/>
                      </a:schemeClr>
                    </a:solidFill>
                  </a:tcPr>
                </a:tc>
                <a:tc>
                  <a:txBody>
                    <a:bodyPr/>
                    <a:lstStyle/>
                    <a:p>
                      <a:pPr algn="ctr"/>
                      <a:r>
                        <a:rPr lang="en-US" sz="1800" dirty="0"/>
                        <a:t>Debt ratio 20%</a:t>
                      </a:r>
                      <a:endParaRPr lang="en-ZA" sz="1800" dirty="0"/>
                    </a:p>
                  </a:txBody>
                  <a:tcPr>
                    <a:solidFill>
                      <a:schemeClr val="tx2">
                        <a:lumMod val="20000"/>
                        <a:lumOff val="80000"/>
                      </a:schemeClr>
                    </a:solidFill>
                  </a:tcPr>
                </a:tc>
                <a:extLst>
                  <a:ext uri="{0D108BD9-81ED-4DB2-BD59-A6C34878D82A}">
                    <a16:rowId xmlns:a16="http://schemas.microsoft.com/office/drawing/2014/main" val="3670925188"/>
                  </a:ext>
                </a:extLst>
              </a:tr>
              <a:tr h="418218">
                <a:tc>
                  <a:txBody>
                    <a:bodyPr/>
                    <a:lstStyle/>
                    <a:p>
                      <a:r>
                        <a:rPr lang="en-US" sz="1800" dirty="0"/>
                        <a:t>EBIT</a:t>
                      </a:r>
                      <a:endParaRPr lang="en-ZA" sz="1800" dirty="0"/>
                    </a:p>
                  </a:txBody>
                  <a:tcPr>
                    <a:noFill/>
                  </a:tcPr>
                </a:tc>
                <a:tc>
                  <a:txBody>
                    <a:bodyPr/>
                    <a:lstStyle/>
                    <a:p>
                      <a:pPr algn="r"/>
                      <a:r>
                        <a:rPr lang="en-US" sz="1800" dirty="0"/>
                        <a:t>200 000</a:t>
                      </a:r>
                      <a:endParaRPr lang="en-ZA" sz="1800" dirty="0"/>
                    </a:p>
                  </a:txBody>
                  <a:tcPr>
                    <a:noFill/>
                  </a:tcPr>
                </a:tc>
                <a:extLst>
                  <a:ext uri="{0D108BD9-81ED-4DB2-BD59-A6C34878D82A}">
                    <a16:rowId xmlns:a16="http://schemas.microsoft.com/office/drawing/2014/main" val="3554167102"/>
                  </a:ext>
                </a:extLst>
              </a:tr>
              <a:tr h="418218">
                <a:tc>
                  <a:txBody>
                    <a:bodyPr/>
                    <a:lstStyle/>
                    <a:p>
                      <a:r>
                        <a:rPr lang="en-US" sz="1800" dirty="0"/>
                        <a:t>Less: Interest</a:t>
                      </a:r>
                      <a:endParaRPr lang="en-ZA" sz="1800" dirty="0"/>
                    </a:p>
                  </a:txBody>
                  <a:tcPr>
                    <a:noFill/>
                  </a:tcPr>
                </a:tc>
                <a:tc>
                  <a:txBody>
                    <a:bodyPr/>
                    <a:lstStyle/>
                    <a:p>
                      <a:pPr algn="r"/>
                      <a:r>
                        <a:rPr lang="en-US" sz="1800" dirty="0"/>
                        <a:t>30 000</a:t>
                      </a:r>
                      <a:endParaRPr lang="en-ZA" sz="1800" dirty="0"/>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8912740"/>
                  </a:ext>
                </a:extLst>
              </a:tr>
              <a:tr h="418218">
                <a:tc>
                  <a:txBody>
                    <a:bodyPr/>
                    <a:lstStyle/>
                    <a:p>
                      <a:r>
                        <a:rPr lang="en-US" sz="1800" dirty="0"/>
                        <a:t>EBT</a:t>
                      </a:r>
                      <a:endParaRPr lang="en-ZA" sz="1800" dirty="0"/>
                    </a:p>
                  </a:txBody>
                  <a:tcPr>
                    <a:noFill/>
                  </a:tcPr>
                </a:tc>
                <a:tc>
                  <a:txBody>
                    <a:bodyPr/>
                    <a:lstStyle/>
                    <a:p>
                      <a:pPr algn="r"/>
                      <a:r>
                        <a:rPr lang="en-US" sz="1800" dirty="0"/>
                        <a:t>170 000</a:t>
                      </a:r>
                      <a:endParaRPr lang="en-ZA" sz="1800"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0723026"/>
                  </a:ext>
                </a:extLst>
              </a:tr>
              <a:tr h="418218">
                <a:tc>
                  <a:txBody>
                    <a:bodyPr/>
                    <a:lstStyle/>
                    <a:p>
                      <a:r>
                        <a:rPr lang="en-US" sz="1800" dirty="0"/>
                        <a:t>Less: Taxes (27%)</a:t>
                      </a:r>
                      <a:endParaRPr lang="en-ZA" sz="1800" dirty="0"/>
                    </a:p>
                  </a:txBody>
                  <a:tcPr>
                    <a:noFill/>
                  </a:tcPr>
                </a:tc>
                <a:tc>
                  <a:txBody>
                    <a:bodyPr/>
                    <a:lstStyle/>
                    <a:p>
                      <a:pPr algn="r"/>
                      <a:r>
                        <a:rPr lang="en-US" sz="1800" dirty="0"/>
                        <a:t>45 900</a:t>
                      </a:r>
                      <a:endParaRPr lang="en-ZA" sz="1800" dirty="0"/>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0705331"/>
                  </a:ext>
                </a:extLst>
              </a:tr>
              <a:tr h="418218">
                <a:tc>
                  <a:txBody>
                    <a:bodyPr/>
                    <a:lstStyle/>
                    <a:p>
                      <a:r>
                        <a:rPr lang="en-US" sz="1800" dirty="0"/>
                        <a:t>EAT</a:t>
                      </a:r>
                      <a:endParaRPr lang="en-ZA" sz="1800" dirty="0"/>
                    </a:p>
                  </a:txBody>
                  <a:tcPr>
                    <a:noFill/>
                  </a:tcPr>
                </a:tc>
                <a:tc>
                  <a:txBody>
                    <a:bodyPr/>
                    <a:lstStyle/>
                    <a:p>
                      <a:pPr algn="r"/>
                      <a:r>
                        <a:rPr lang="en-US" sz="1800" dirty="0"/>
                        <a:t>124 100</a:t>
                      </a:r>
                      <a:endParaRPr lang="en-ZA" sz="1800" dirty="0"/>
                    </a:p>
                  </a:txBody>
                  <a:tcP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9295116"/>
                  </a:ext>
                </a:extLst>
              </a:tr>
            </a:tbl>
          </a:graphicData>
        </a:graphic>
      </p:graphicFrame>
    </p:spTree>
    <p:custDataLst>
      <p:tags r:id="rId1"/>
    </p:custDataLst>
    <p:extLst>
      <p:ext uri="{BB962C8B-B14F-4D97-AF65-F5344CB8AC3E}">
        <p14:creationId xmlns:p14="http://schemas.microsoft.com/office/powerpoint/2010/main" val="1714001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E01BA8-49E0-9EDB-4692-D358B8EAE5B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0C7783F-C544-7371-B941-E1E5DCCC98F5}"/>
              </a:ext>
            </a:extLst>
          </p:cNvPr>
          <p:cNvSpPr>
            <a:spLocks noGrp="1" noChangeArrowheads="1"/>
          </p:cNvSpPr>
          <p:nvPr>
            <p:ph type="title"/>
          </p:nvPr>
        </p:nvSpPr>
        <p:spPr>
          <a:xfrm>
            <a:off x="228600" y="10510"/>
            <a:ext cx="8763000" cy="1143000"/>
          </a:xfrm>
        </p:spPr>
        <p:txBody>
          <a:bodyPr/>
          <a:lstStyle/>
          <a:p>
            <a:r>
              <a:rPr lang="en-US" dirty="0">
                <a:solidFill>
                  <a:schemeClr val="tx2"/>
                </a:solidFill>
              </a:rPr>
              <a:t>Financial leverage and return (cont.)</a:t>
            </a:r>
          </a:p>
        </p:txBody>
      </p:sp>
      <p:sp>
        <p:nvSpPr>
          <p:cNvPr id="3" name="Slide Number Placeholder 2">
            <a:extLst>
              <a:ext uri="{FF2B5EF4-FFF2-40B4-BE49-F238E27FC236}">
                <a16:creationId xmlns:a16="http://schemas.microsoft.com/office/drawing/2014/main" id="{A6945280-3C53-AB40-C28F-7D5AD53BF4D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sp>
        <p:nvSpPr>
          <p:cNvPr id="4" name="Rectangle 5">
            <a:extLst>
              <a:ext uri="{FF2B5EF4-FFF2-40B4-BE49-F238E27FC236}">
                <a16:creationId xmlns:a16="http://schemas.microsoft.com/office/drawing/2014/main" id="{0F9459DD-EB11-9F72-8F5D-359B6BA523F2}"/>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ROA and ROE for only equity finance?</a:t>
            </a:r>
          </a:p>
          <a:p>
            <a:pPr marL="0" indent="0" algn="just">
              <a:lnSpc>
                <a:spcPct val="105000"/>
              </a:lnSpc>
              <a:buSzPct val="100000"/>
              <a:buNone/>
            </a:pPr>
            <a:r>
              <a:rPr lang="en-US" sz="2400" dirty="0">
                <a:latin typeface="+mj-lt"/>
              </a:rPr>
              <a:t>	</a:t>
            </a:r>
            <a:r>
              <a:rPr lang="en-US" sz="2400" dirty="0" err="1">
                <a:latin typeface="+mj-lt"/>
              </a:rPr>
              <a:t>ROA</a:t>
            </a:r>
            <a:r>
              <a:rPr lang="en-US" sz="2400" baseline="-25000" dirty="0" err="1">
                <a:latin typeface="+mj-lt"/>
              </a:rPr>
              <a:t>Equity</a:t>
            </a:r>
            <a:r>
              <a:rPr lang="en-US" sz="2400" baseline="-25000" dirty="0">
                <a:latin typeface="+mj-lt"/>
              </a:rPr>
              <a:t> only</a:t>
            </a:r>
            <a:r>
              <a:rPr lang="en-US" sz="2400" dirty="0">
                <a:latin typeface="+mj-lt"/>
              </a:rPr>
              <a:t>	= 146 000 / 1 000 000 x 100</a:t>
            </a:r>
          </a:p>
          <a:p>
            <a:pPr marL="0" indent="0" algn="just">
              <a:lnSpc>
                <a:spcPct val="105000"/>
              </a:lnSpc>
              <a:buSzPct val="100000"/>
              <a:buNone/>
            </a:pPr>
            <a:r>
              <a:rPr lang="en-US" sz="2400" dirty="0">
                <a:latin typeface="+mj-lt"/>
              </a:rPr>
              <a:t>			= 14.60%</a:t>
            </a:r>
          </a:p>
          <a:p>
            <a:pPr marL="0" indent="0" algn="just">
              <a:lnSpc>
                <a:spcPct val="105000"/>
              </a:lnSpc>
              <a:buSzPct val="100000"/>
              <a:buNone/>
            </a:pPr>
            <a:r>
              <a:rPr lang="en-US" sz="2400" dirty="0">
                <a:latin typeface="+mj-lt"/>
              </a:rPr>
              <a:t>	</a:t>
            </a:r>
            <a:r>
              <a:rPr lang="en-US" sz="2400" dirty="0" err="1">
                <a:latin typeface="+mj-lt"/>
              </a:rPr>
              <a:t>ROE</a:t>
            </a:r>
            <a:r>
              <a:rPr lang="en-US" sz="2400" baseline="-25000" dirty="0" err="1">
                <a:latin typeface="+mj-lt"/>
              </a:rPr>
              <a:t>Equity</a:t>
            </a:r>
            <a:r>
              <a:rPr lang="en-US" sz="2400" baseline="-25000" dirty="0">
                <a:latin typeface="+mj-lt"/>
              </a:rPr>
              <a:t> only</a:t>
            </a:r>
            <a:r>
              <a:rPr lang="en-US" sz="2400" dirty="0">
                <a:latin typeface="+mj-lt"/>
              </a:rPr>
              <a:t>	= 146 000 / 1 000 000 x 100</a:t>
            </a:r>
          </a:p>
          <a:p>
            <a:pPr marL="0" indent="0" algn="just">
              <a:lnSpc>
                <a:spcPct val="105000"/>
              </a:lnSpc>
              <a:buSzPct val="100000"/>
              <a:buNone/>
            </a:pPr>
            <a:r>
              <a:rPr lang="en-US" sz="2400" dirty="0">
                <a:latin typeface="+mj-lt"/>
              </a:rPr>
              <a:t>			= 14.60%</a:t>
            </a:r>
          </a:p>
          <a:p>
            <a:pPr algn="just">
              <a:lnSpc>
                <a:spcPct val="105000"/>
              </a:lnSpc>
              <a:buSzPct val="100000"/>
              <a:buFont typeface="Arial" panose="020B0604020202020204" pitchFamily="34" charset="0"/>
              <a:buChar char="•"/>
            </a:pPr>
            <a:r>
              <a:rPr lang="en-US" sz="2400" dirty="0">
                <a:latin typeface="+mj-lt"/>
              </a:rPr>
              <a:t>Why ROA and ROE for equity only the same?</a:t>
            </a:r>
          </a:p>
          <a:p>
            <a:pPr marL="717550" algn="just">
              <a:lnSpc>
                <a:spcPct val="105000"/>
              </a:lnSpc>
              <a:buSzPct val="100000"/>
              <a:buFont typeface="Wingdings" panose="05000000000000000000" pitchFamily="2" charset="2"/>
              <a:buChar char="§"/>
            </a:pPr>
            <a:r>
              <a:rPr lang="en-US" sz="2400" dirty="0">
                <a:latin typeface="+mj-lt"/>
              </a:rPr>
              <a:t>Total assets = Owners’ equity</a:t>
            </a:r>
          </a:p>
          <a:p>
            <a:pPr marL="0"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1850579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E01BA8-49E0-9EDB-4692-D358B8EAE5B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0C7783F-C544-7371-B941-E1E5DCCC98F5}"/>
              </a:ext>
            </a:extLst>
          </p:cNvPr>
          <p:cNvSpPr>
            <a:spLocks noGrp="1" noChangeArrowheads="1"/>
          </p:cNvSpPr>
          <p:nvPr>
            <p:ph type="title"/>
          </p:nvPr>
        </p:nvSpPr>
        <p:spPr>
          <a:xfrm>
            <a:off x="228600" y="10510"/>
            <a:ext cx="8763000" cy="1143000"/>
          </a:xfrm>
        </p:spPr>
        <p:txBody>
          <a:bodyPr/>
          <a:lstStyle/>
          <a:p>
            <a:r>
              <a:rPr lang="en-US" dirty="0">
                <a:solidFill>
                  <a:schemeClr val="tx2"/>
                </a:solidFill>
              </a:rPr>
              <a:t>Financial leverage and return (cont.)</a:t>
            </a:r>
          </a:p>
        </p:txBody>
      </p:sp>
      <p:sp>
        <p:nvSpPr>
          <p:cNvPr id="3" name="Slide Number Placeholder 2">
            <a:extLst>
              <a:ext uri="{FF2B5EF4-FFF2-40B4-BE49-F238E27FC236}">
                <a16:creationId xmlns:a16="http://schemas.microsoft.com/office/drawing/2014/main" id="{A6945280-3C53-AB40-C28F-7D5AD53BF4D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sp>
        <p:nvSpPr>
          <p:cNvPr id="4" name="Rectangle 5">
            <a:extLst>
              <a:ext uri="{FF2B5EF4-FFF2-40B4-BE49-F238E27FC236}">
                <a16:creationId xmlns:a16="http://schemas.microsoft.com/office/drawing/2014/main" id="{0F9459DD-EB11-9F72-8F5D-359B6BA523F2}"/>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ROA and ROE for debt and equity finance?</a:t>
            </a:r>
          </a:p>
          <a:p>
            <a:pPr marL="0" indent="0" algn="just">
              <a:lnSpc>
                <a:spcPct val="105000"/>
              </a:lnSpc>
              <a:buSzPct val="100000"/>
              <a:buNone/>
            </a:pPr>
            <a:r>
              <a:rPr lang="en-US" sz="2400" dirty="0">
                <a:latin typeface="+mj-lt"/>
              </a:rPr>
              <a:t>	ROA</a:t>
            </a:r>
            <a:r>
              <a:rPr lang="en-US" sz="2400" baseline="-25000" dirty="0">
                <a:latin typeface="+mj-lt"/>
              </a:rPr>
              <a:t>D&amp;E</a:t>
            </a:r>
            <a:r>
              <a:rPr lang="en-US" sz="2400" dirty="0">
                <a:latin typeface="+mj-lt"/>
              </a:rPr>
              <a:t>	= 124 100 / 1 000 000 x 100</a:t>
            </a:r>
          </a:p>
          <a:p>
            <a:pPr marL="0" indent="0" algn="just">
              <a:lnSpc>
                <a:spcPct val="105000"/>
              </a:lnSpc>
              <a:buSzPct val="100000"/>
              <a:buNone/>
            </a:pPr>
            <a:r>
              <a:rPr lang="en-US" sz="2400" dirty="0">
                <a:latin typeface="+mj-lt"/>
              </a:rPr>
              <a:t>			= 12.41%</a:t>
            </a:r>
          </a:p>
          <a:p>
            <a:pPr marL="0" indent="0" algn="just">
              <a:lnSpc>
                <a:spcPct val="105000"/>
              </a:lnSpc>
              <a:buSzPct val="100000"/>
              <a:buNone/>
            </a:pPr>
            <a:r>
              <a:rPr lang="en-US" sz="2400" dirty="0">
                <a:latin typeface="+mj-lt"/>
              </a:rPr>
              <a:t>	ROE</a:t>
            </a:r>
            <a:r>
              <a:rPr lang="en-US" sz="2400" baseline="-25000" dirty="0">
                <a:latin typeface="+mj-lt"/>
              </a:rPr>
              <a:t>D&amp;E</a:t>
            </a:r>
            <a:r>
              <a:rPr lang="en-US" sz="2400" dirty="0">
                <a:latin typeface="+mj-lt"/>
              </a:rPr>
              <a:t>	= 124 100 / 800 000* x 100</a:t>
            </a:r>
          </a:p>
          <a:p>
            <a:pPr marL="0" indent="0" algn="just">
              <a:lnSpc>
                <a:spcPct val="105000"/>
              </a:lnSpc>
              <a:buSzPct val="100000"/>
              <a:buNone/>
            </a:pPr>
            <a:r>
              <a:rPr lang="en-US" sz="2400" dirty="0">
                <a:latin typeface="+mj-lt"/>
              </a:rPr>
              <a:t>			= 15.51%</a:t>
            </a:r>
          </a:p>
          <a:p>
            <a:pPr marL="0" indent="0" algn="just">
              <a:lnSpc>
                <a:spcPct val="105000"/>
              </a:lnSpc>
              <a:buSzPct val="100000"/>
              <a:buNone/>
            </a:pPr>
            <a:r>
              <a:rPr lang="en-US" sz="2400" dirty="0">
                <a:latin typeface="+mj-lt"/>
              </a:rPr>
              <a:t>*R1 000 000 finance with 20% debt and 80% equity</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Why ROA and ROE when using debt and equity finance different?</a:t>
            </a:r>
          </a:p>
          <a:p>
            <a:pPr marL="717550" algn="just">
              <a:lnSpc>
                <a:spcPct val="105000"/>
              </a:lnSpc>
              <a:buSzPct val="100000"/>
              <a:buFont typeface="Wingdings" panose="05000000000000000000" pitchFamily="2" charset="2"/>
              <a:buChar char="§"/>
            </a:pPr>
            <a:r>
              <a:rPr lang="en-US" sz="2400" dirty="0">
                <a:latin typeface="+mj-lt"/>
              </a:rPr>
              <a:t>Total assets = 20% debt + 80% equity</a:t>
            </a:r>
          </a:p>
          <a:p>
            <a:pPr marL="0"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938276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Optimal capital structure</a:t>
            </a:r>
          </a:p>
          <a:p>
            <a:pPr algn="just">
              <a:lnSpc>
                <a:spcPct val="105000"/>
              </a:lnSpc>
              <a:buSzPct val="100000"/>
              <a:buFont typeface="Arial" panose="020B0604020202020204" pitchFamily="34" charset="0"/>
              <a:buChar char="•"/>
            </a:pPr>
            <a:r>
              <a:rPr lang="en-US" sz="2400" dirty="0">
                <a:latin typeface="+mj-lt"/>
              </a:rPr>
              <a:t>Value of firm </a:t>
            </a:r>
            <a:r>
              <a:rPr lang="en-US" sz="2400" dirty="0" err="1">
                <a:latin typeface="+mj-lt"/>
              </a:rPr>
              <a:t>maximised</a:t>
            </a:r>
            <a:r>
              <a:rPr lang="en-US" sz="2400" dirty="0">
                <a:latin typeface="+mj-lt"/>
              </a:rPr>
              <a:t> when cost of capital (WACC) </a:t>
            </a:r>
            <a:r>
              <a:rPr lang="en-US" sz="2400" dirty="0" err="1">
                <a:latin typeface="+mj-lt"/>
              </a:rPr>
              <a:t>minimised</a:t>
            </a:r>
            <a:endParaRPr lang="en-US" sz="2400" dirty="0">
              <a:latin typeface="+mj-lt"/>
            </a:endParaRPr>
          </a:p>
          <a:p>
            <a:pPr marL="0" indent="0" algn="just">
              <a:lnSpc>
                <a:spcPct val="105000"/>
              </a:lnSpc>
              <a:buSzPct val="100000"/>
              <a:buNone/>
            </a:pPr>
            <a:r>
              <a:rPr lang="en-US" sz="2400" dirty="0">
                <a:latin typeface="+mj-lt"/>
              </a:rPr>
              <a:t>	V	= EBIT x (1 – t) / WACC</a:t>
            </a:r>
          </a:p>
          <a:p>
            <a:pPr algn="just">
              <a:lnSpc>
                <a:spcPct val="105000"/>
              </a:lnSpc>
              <a:buSzPct val="100000"/>
              <a:buFont typeface="Arial" panose="020B0604020202020204" pitchFamily="34" charset="0"/>
              <a:buChar char="•"/>
            </a:pPr>
            <a:r>
              <a:rPr lang="en-US" sz="2400" dirty="0">
                <a:latin typeface="+mj-lt"/>
              </a:rPr>
              <a:t>Assuming EBIT is constant, value of firm (V) </a:t>
            </a:r>
            <a:r>
              <a:rPr lang="en-US" sz="2400" dirty="0" err="1">
                <a:latin typeface="+mj-lt"/>
              </a:rPr>
              <a:t>maximised</a:t>
            </a:r>
            <a:r>
              <a:rPr lang="en-US" sz="2400" dirty="0">
                <a:latin typeface="+mj-lt"/>
              </a:rPr>
              <a:t> by </a:t>
            </a:r>
            <a:r>
              <a:rPr lang="en-US" sz="2400" dirty="0" err="1">
                <a:latin typeface="+mj-lt"/>
              </a:rPr>
              <a:t>minimising</a:t>
            </a:r>
            <a:r>
              <a:rPr lang="en-US" sz="2400" dirty="0">
                <a:latin typeface="+mj-lt"/>
              </a:rPr>
              <a:t> WACC</a:t>
            </a:r>
          </a:p>
          <a:p>
            <a:pPr marL="0" indent="0" algn="just">
              <a:lnSpc>
                <a:spcPct val="105000"/>
              </a:lnSpc>
              <a:buSzPct val="100000"/>
              <a:buNone/>
            </a:pPr>
            <a:endParaRPr lang="en-US" sz="900" dirty="0">
              <a:latin typeface="+mj-lt"/>
            </a:endParaRPr>
          </a:p>
          <a:p>
            <a:pPr marL="0" indent="0" algn="just">
              <a:lnSpc>
                <a:spcPct val="105000"/>
              </a:lnSpc>
              <a:buSzPct val="100000"/>
              <a:buNone/>
            </a:pPr>
            <a:r>
              <a:rPr lang="en-US" sz="2400" dirty="0">
                <a:latin typeface="+mj-lt"/>
              </a:rPr>
              <a:t>Figure 16.5: The optimal capital structure</a:t>
            </a:r>
          </a:p>
        </p:txBody>
      </p:sp>
    </p:spTree>
    <p:custDataLst>
      <p:tags r:id="rId1"/>
    </p:custDataLst>
    <p:extLst>
      <p:ext uri="{BB962C8B-B14F-4D97-AF65-F5344CB8AC3E}">
        <p14:creationId xmlns:p14="http://schemas.microsoft.com/office/powerpoint/2010/main" val="1761293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9</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a:t>
            </a:r>
          </a:p>
          <a:p>
            <a:pPr algn="just">
              <a:lnSpc>
                <a:spcPct val="105000"/>
              </a:lnSpc>
              <a:buSzPct val="100000"/>
              <a:buFont typeface="Arial" panose="020B0604020202020204" pitchFamily="34" charset="0"/>
              <a:buChar char="•"/>
            </a:pPr>
            <a:r>
              <a:rPr lang="en-US" sz="2400" dirty="0">
                <a:latin typeface="+mj-lt"/>
              </a:rPr>
              <a:t>Example: Assume a firm has made the following estimates of EBIT and EPS using debt ratios of 0%, 20%, 40% and 60%. Assume the firm requires R5 000 000 in financing, which may be raised through debt and ordinary shares. The firm is able to sell its ordinary shares at R10 each. The applicable tax rate is 27%.</a:t>
            </a:r>
          </a:p>
        </p:txBody>
      </p:sp>
    </p:spTree>
    <p:custDataLst>
      <p:tags r:id="rId1"/>
    </p:custDataLst>
    <p:extLst>
      <p:ext uri="{BB962C8B-B14F-4D97-AF65-F5344CB8AC3E}">
        <p14:creationId xmlns:p14="http://schemas.microsoft.com/office/powerpoint/2010/main" val="2429288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Debt and number of shares</a:t>
            </a:r>
          </a:p>
        </p:txBody>
      </p:sp>
      <p:graphicFrame>
        <p:nvGraphicFramePr>
          <p:cNvPr id="2" name="Table 1">
            <a:extLst>
              <a:ext uri="{FF2B5EF4-FFF2-40B4-BE49-F238E27FC236}">
                <a16:creationId xmlns:a16="http://schemas.microsoft.com/office/drawing/2014/main" id="{777E2718-884A-4E9E-294D-A6FA49426F1C}"/>
              </a:ext>
            </a:extLst>
          </p:cNvPr>
          <p:cNvGraphicFramePr>
            <a:graphicFrameLocks noGrp="1"/>
          </p:cNvGraphicFramePr>
          <p:nvPr>
            <p:extLst>
              <p:ext uri="{D42A27DB-BD31-4B8C-83A1-F6EECF244321}">
                <p14:modId xmlns:p14="http://schemas.microsoft.com/office/powerpoint/2010/main" val="1687576487"/>
              </p:ext>
            </p:extLst>
          </p:nvPr>
        </p:nvGraphicFramePr>
        <p:xfrm>
          <a:off x="211394" y="2379805"/>
          <a:ext cx="8731623" cy="2651760"/>
        </p:xfrm>
        <a:graphic>
          <a:graphicData uri="http://schemas.openxmlformats.org/drawingml/2006/table">
            <a:tbl>
              <a:tblPr firstRow="1" bandRow="1">
                <a:tableStyleId>{5C22544A-7EE6-4342-B048-85BDC9FD1C3A}</a:tableStyleId>
              </a:tblPr>
              <a:tblGrid>
                <a:gridCol w="1873624">
                  <a:extLst>
                    <a:ext uri="{9D8B030D-6E8A-4147-A177-3AD203B41FA5}">
                      <a16:colId xmlns:a16="http://schemas.microsoft.com/office/drawing/2014/main" val="2596028959"/>
                    </a:ext>
                  </a:extLst>
                </a:gridCol>
                <a:gridCol w="2667000">
                  <a:extLst>
                    <a:ext uri="{9D8B030D-6E8A-4147-A177-3AD203B41FA5}">
                      <a16:colId xmlns:a16="http://schemas.microsoft.com/office/drawing/2014/main" val="340680491"/>
                    </a:ext>
                  </a:extLst>
                </a:gridCol>
                <a:gridCol w="4190999">
                  <a:extLst>
                    <a:ext uri="{9D8B030D-6E8A-4147-A177-3AD203B41FA5}">
                      <a16:colId xmlns:a16="http://schemas.microsoft.com/office/drawing/2014/main" val="1898983890"/>
                    </a:ext>
                  </a:extLst>
                </a:gridCol>
              </a:tblGrid>
              <a:tr h="370840">
                <a:tc>
                  <a:txBody>
                    <a:bodyPr/>
                    <a:lstStyle/>
                    <a:p>
                      <a:pPr algn="ctr"/>
                      <a:r>
                        <a:rPr lang="en-US" sz="2400" dirty="0"/>
                        <a:t>Debt ratio</a:t>
                      </a:r>
                      <a:endParaRPr lang="en-ZA" sz="2400" dirty="0"/>
                    </a:p>
                  </a:txBody>
                  <a:tcPr/>
                </a:tc>
                <a:tc>
                  <a:txBody>
                    <a:bodyPr/>
                    <a:lstStyle/>
                    <a:p>
                      <a:pPr algn="ctr"/>
                      <a:r>
                        <a:rPr lang="en-US" sz="2400" dirty="0"/>
                        <a:t>Amount of debt</a:t>
                      </a:r>
                    </a:p>
                    <a:p>
                      <a:pPr algn="ctr"/>
                      <a:r>
                        <a:rPr lang="en-US" sz="2400" dirty="0"/>
                        <a:t>% x R5m</a:t>
                      </a:r>
                      <a:endParaRPr lang="en-ZA" sz="2400" dirty="0"/>
                    </a:p>
                  </a:txBody>
                  <a:tcPr/>
                </a:tc>
                <a:tc>
                  <a:txBody>
                    <a:bodyPr/>
                    <a:lstStyle/>
                    <a:p>
                      <a:pPr algn="ctr"/>
                      <a:r>
                        <a:rPr lang="en-US" sz="2400" dirty="0"/>
                        <a:t>Number of shares</a:t>
                      </a:r>
                    </a:p>
                    <a:p>
                      <a:pPr algn="ctr"/>
                      <a:r>
                        <a:rPr lang="en-ZA" sz="2400" dirty="0"/>
                        <a:t># of shares = Equity /R10</a:t>
                      </a:r>
                    </a:p>
                  </a:txBody>
                  <a:tcPr/>
                </a:tc>
                <a:extLst>
                  <a:ext uri="{0D108BD9-81ED-4DB2-BD59-A6C34878D82A}">
                    <a16:rowId xmlns:a16="http://schemas.microsoft.com/office/drawing/2014/main" val="836125700"/>
                  </a:ext>
                </a:extLst>
              </a:tr>
              <a:tr h="370840">
                <a:tc>
                  <a:txBody>
                    <a:bodyPr/>
                    <a:lstStyle/>
                    <a:p>
                      <a:pPr algn="ctr"/>
                      <a:r>
                        <a:rPr lang="en-US" sz="2400" dirty="0"/>
                        <a:t>0%</a:t>
                      </a:r>
                      <a:endParaRPr lang="en-ZA" sz="2400" dirty="0"/>
                    </a:p>
                  </a:txBody>
                  <a:tcPr/>
                </a:tc>
                <a:tc>
                  <a:txBody>
                    <a:bodyPr/>
                    <a:lstStyle/>
                    <a:p>
                      <a:pPr algn="ctr"/>
                      <a:r>
                        <a:rPr lang="en-US" sz="2400" dirty="0"/>
                        <a:t>R0</a:t>
                      </a:r>
                      <a:endParaRPr lang="en-ZA" sz="2400" dirty="0"/>
                    </a:p>
                  </a:txBody>
                  <a:tcPr/>
                </a:tc>
                <a:tc>
                  <a:txBody>
                    <a:bodyPr/>
                    <a:lstStyle/>
                    <a:p>
                      <a:pPr algn="ctr"/>
                      <a:r>
                        <a:rPr lang="en-US" sz="2400" dirty="0"/>
                        <a:t>500 000</a:t>
                      </a:r>
                      <a:endParaRPr lang="en-ZA" sz="2400" dirty="0"/>
                    </a:p>
                  </a:txBody>
                  <a:tcPr/>
                </a:tc>
                <a:extLst>
                  <a:ext uri="{0D108BD9-81ED-4DB2-BD59-A6C34878D82A}">
                    <a16:rowId xmlns:a16="http://schemas.microsoft.com/office/drawing/2014/main" val="4044974076"/>
                  </a:ext>
                </a:extLst>
              </a:tr>
              <a:tr h="370840">
                <a:tc>
                  <a:txBody>
                    <a:bodyPr/>
                    <a:lstStyle/>
                    <a:p>
                      <a:pPr algn="ctr"/>
                      <a:r>
                        <a:rPr lang="en-US" sz="2400" dirty="0"/>
                        <a:t>20%</a:t>
                      </a:r>
                      <a:endParaRPr lang="en-ZA" sz="2400" dirty="0"/>
                    </a:p>
                  </a:txBody>
                  <a:tcPr/>
                </a:tc>
                <a:tc>
                  <a:txBody>
                    <a:bodyPr/>
                    <a:lstStyle/>
                    <a:p>
                      <a:pPr algn="ctr"/>
                      <a:r>
                        <a:rPr lang="en-US" sz="2400" dirty="0"/>
                        <a:t>R1 000 000</a:t>
                      </a:r>
                      <a:endParaRPr lang="en-ZA" sz="2400" dirty="0"/>
                    </a:p>
                  </a:txBody>
                  <a:tcPr/>
                </a:tc>
                <a:tc>
                  <a:txBody>
                    <a:bodyPr/>
                    <a:lstStyle/>
                    <a:p>
                      <a:pPr algn="ctr"/>
                      <a:r>
                        <a:rPr lang="en-US" sz="2400" dirty="0"/>
                        <a:t>400 000</a:t>
                      </a:r>
                      <a:endParaRPr lang="en-ZA" sz="2400" dirty="0"/>
                    </a:p>
                  </a:txBody>
                  <a:tcPr/>
                </a:tc>
                <a:extLst>
                  <a:ext uri="{0D108BD9-81ED-4DB2-BD59-A6C34878D82A}">
                    <a16:rowId xmlns:a16="http://schemas.microsoft.com/office/drawing/2014/main" val="2495214359"/>
                  </a:ext>
                </a:extLst>
              </a:tr>
              <a:tr h="370840">
                <a:tc>
                  <a:txBody>
                    <a:bodyPr/>
                    <a:lstStyle/>
                    <a:p>
                      <a:pPr algn="ctr"/>
                      <a:r>
                        <a:rPr lang="en-US" sz="2400" dirty="0"/>
                        <a:t>40%</a:t>
                      </a:r>
                      <a:endParaRPr lang="en-ZA" sz="2400" dirty="0"/>
                    </a:p>
                  </a:txBody>
                  <a:tcPr/>
                </a:tc>
                <a:tc>
                  <a:txBody>
                    <a:bodyPr/>
                    <a:lstStyle/>
                    <a:p>
                      <a:pPr algn="ctr"/>
                      <a:r>
                        <a:rPr lang="en-US" sz="2400" dirty="0"/>
                        <a:t>R2 000 000</a:t>
                      </a:r>
                      <a:endParaRPr lang="en-ZA" sz="2400" dirty="0"/>
                    </a:p>
                  </a:txBody>
                  <a:tcPr/>
                </a:tc>
                <a:tc>
                  <a:txBody>
                    <a:bodyPr/>
                    <a:lstStyle/>
                    <a:p>
                      <a:pPr algn="ctr"/>
                      <a:r>
                        <a:rPr lang="en-US" sz="2400" dirty="0"/>
                        <a:t>300 000</a:t>
                      </a:r>
                      <a:endParaRPr lang="en-ZA" sz="2400" dirty="0"/>
                    </a:p>
                  </a:txBody>
                  <a:tcPr/>
                </a:tc>
                <a:extLst>
                  <a:ext uri="{0D108BD9-81ED-4DB2-BD59-A6C34878D82A}">
                    <a16:rowId xmlns:a16="http://schemas.microsoft.com/office/drawing/2014/main" val="2588049934"/>
                  </a:ext>
                </a:extLst>
              </a:tr>
              <a:tr h="370840">
                <a:tc>
                  <a:txBody>
                    <a:bodyPr/>
                    <a:lstStyle/>
                    <a:p>
                      <a:pPr algn="ctr"/>
                      <a:r>
                        <a:rPr lang="en-US" sz="2400" dirty="0"/>
                        <a:t>60%</a:t>
                      </a:r>
                      <a:endParaRPr lang="en-ZA" sz="2400" dirty="0"/>
                    </a:p>
                  </a:txBody>
                  <a:tcPr/>
                </a:tc>
                <a:tc>
                  <a:txBody>
                    <a:bodyPr/>
                    <a:lstStyle/>
                    <a:p>
                      <a:pPr algn="ctr"/>
                      <a:r>
                        <a:rPr lang="en-US" sz="2400" dirty="0"/>
                        <a:t>R3 000 000</a:t>
                      </a:r>
                      <a:endParaRPr lang="en-ZA" sz="2400" dirty="0"/>
                    </a:p>
                  </a:txBody>
                  <a:tcPr/>
                </a:tc>
                <a:tc>
                  <a:txBody>
                    <a:bodyPr/>
                    <a:lstStyle/>
                    <a:p>
                      <a:pPr algn="ctr"/>
                      <a:r>
                        <a:rPr lang="en-US" sz="2400" dirty="0"/>
                        <a:t>200 000</a:t>
                      </a:r>
                      <a:endParaRPr lang="en-ZA" sz="2400" dirty="0"/>
                    </a:p>
                  </a:txBody>
                  <a:tcPr/>
                </a:tc>
                <a:extLst>
                  <a:ext uri="{0D108BD9-81ED-4DB2-BD59-A6C34878D82A}">
                    <a16:rowId xmlns:a16="http://schemas.microsoft.com/office/drawing/2014/main" val="1895749360"/>
                  </a:ext>
                </a:extLst>
              </a:tr>
            </a:tbl>
          </a:graphicData>
        </a:graphic>
      </p:graphicFrame>
    </p:spTree>
    <p:custDataLst>
      <p:tags r:id="rId1"/>
    </p:custDataLst>
    <p:extLst>
      <p:ext uri="{BB962C8B-B14F-4D97-AF65-F5344CB8AC3E}">
        <p14:creationId xmlns:p14="http://schemas.microsoft.com/office/powerpoint/2010/main" val="2599725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11</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Interest rate on debt </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EBIT levels</a:t>
            </a:r>
          </a:p>
        </p:txBody>
      </p:sp>
      <p:graphicFrame>
        <p:nvGraphicFramePr>
          <p:cNvPr id="2" name="Table 1">
            <a:extLst>
              <a:ext uri="{FF2B5EF4-FFF2-40B4-BE49-F238E27FC236}">
                <a16:creationId xmlns:a16="http://schemas.microsoft.com/office/drawing/2014/main" id="{777E2718-884A-4E9E-294D-A6FA49426F1C}"/>
              </a:ext>
            </a:extLst>
          </p:cNvPr>
          <p:cNvGraphicFramePr>
            <a:graphicFrameLocks noGrp="1"/>
          </p:cNvGraphicFramePr>
          <p:nvPr>
            <p:extLst>
              <p:ext uri="{D42A27DB-BD31-4B8C-83A1-F6EECF244321}">
                <p14:modId xmlns:p14="http://schemas.microsoft.com/office/powerpoint/2010/main" val="2625477322"/>
              </p:ext>
            </p:extLst>
          </p:nvPr>
        </p:nvGraphicFramePr>
        <p:xfrm>
          <a:off x="990600" y="1905000"/>
          <a:ext cx="7200000" cy="182880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596028959"/>
                    </a:ext>
                  </a:extLst>
                </a:gridCol>
                <a:gridCol w="3600000">
                  <a:extLst>
                    <a:ext uri="{9D8B030D-6E8A-4147-A177-3AD203B41FA5}">
                      <a16:colId xmlns:a16="http://schemas.microsoft.com/office/drawing/2014/main" val="340680491"/>
                    </a:ext>
                  </a:extLst>
                </a:gridCol>
              </a:tblGrid>
              <a:tr h="370840">
                <a:tc>
                  <a:txBody>
                    <a:bodyPr/>
                    <a:lstStyle/>
                    <a:p>
                      <a:pPr algn="ctr"/>
                      <a:r>
                        <a:rPr lang="en-US" sz="2400" dirty="0"/>
                        <a:t>Amount of debt</a:t>
                      </a:r>
                    </a:p>
                  </a:txBody>
                  <a:tcPr/>
                </a:tc>
                <a:tc>
                  <a:txBody>
                    <a:bodyPr/>
                    <a:lstStyle/>
                    <a:p>
                      <a:pPr algn="ctr"/>
                      <a:r>
                        <a:rPr lang="en-US" sz="2400" dirty="0"/>
                        <a:t>Interest rate</a:t>
                      </a:r>
                      <a:endParaRPr lang="en-ZA" sz="2400" dirty="0"/>
                    </a:p>
                  </a:txBody>
                  <a:tcPr/>
                </a:tc>
                <a:extLst>
                  <a:ext uri="{0D108BD9-81ED-4DB2-BD59-A6C34878D82A}">
                    <a16:rowId xmlns:a16="http://schemas.microsoft.com/office/drawing/2014/main" val="836125700"/>
                  </a:ext>
                </a:extLst>
              </a:tr>
              <a:tr h="370840">
                <a:tc>
                  <a:txBody>
                    <a:bodyPr/>
                    <a:lstStyle/>
                    <a:p>
                      <a:pPr algn="ctr"/>
                      <a:r>
                        <a:rPr lang="en-US" sz="2400" dirty="0"/>
                        <a:t>R1 000 000</a:t>
                      </a:r>
                      <a:endParaRPr lang="en-ZA" sz="2400" dirty="0"/>
                    </a:p>
                  </a:txBody>
                  <a:tcPr/>
                </a:tc>
                <a:tc>
                  <a:txBody>
                    <a:bodyPr/>
                    <a:lstStyle/>
                    <a:p>
                      <a:pPr algn="ctr"/>
                      <a:r>
                        <a:rPr lang="en-US" sz="2400" dirty="0"/>
                        <a:t>8%</a:t>
                      </a:r>
                      <a:endParaRPr lang="en-ZA" sz="2400" dirty="0"/>
                    </a:p>
                  </a:txBody>
                  <a:tcPr/>
                </a:tc>
                <a:extLst>
                  <a:ext uri="{0D108BD9-81ED-4DB2-BD59-A6C34878D82A}">
                    <a16:rowId xmlns:a16="http://schemas.microsoft.com/office/drawing/2014/main" val="2495214359"/>
                  </a:ext>
                </a:extLst>
              </a:tr>
              <a:tr h="370840">
                <a:tc>
                  <a:txBody>
                    <a:bodyPr/>
                    <a:lstStyle/>
                    <a:p>
                      <a:pPr algn="ctr"/>
                      <a:r>
                        <a:rPr lang="en-US" sz="2400" dirty="0"/>
                        <a:t>R2 000 000</a:t>
                      </a:r>
                      <a:endParaRPr lang="en-ZA" sz="2400" dirty="0"/>
                    </a:p>
                  </a:txBody>
                  <a:tcPr/>
                </a:tc>
                <a:tc>
                  <a:txBody>
                    <a:bodyPr/>
                    <a:lstStyle/>
                    <a:p>
                      <a:pPr algn="ctr"/>
                      <a:r>
                        <a:rPr lang="en-US" sz="2400" dirty="0"/>
                        <a:t>10%</a:t>
                      </a:r>
                      <a:endParaRPr lang="en-ZA" sz="2400" dirty="0"/>
                    </a:p>
                  </a:txBody>
                  <a:tcPr/>
                </a:tc>
                <a:extLst>
                  <a:ext uri="{0D108BD9-81ED-4DB2-BD59-A6C34878D82A}">
                    <a16:rowId xmlns:a16="http://schemas.microsoft.com/office/drawing/2014/main" val="2588049934"/>
                  </a:ext>
                </a:extLst>
              </a:tr>
              <a:tr h="370840">
                <a:tc>
                  <a:txBody>
                    <a:bodyPr/>
                    <a:lstStyle/>
                    <a:p>
                      <a:pPr algn="ctr"/>
                      <a:r>
                        <a:rPr lang="en-US" sz="2400" dirty="0"/>
                        <a:t>R3 000 000</a:t>
                      </a:r>
                      <a:endParaRPr lang="en-ZA" sz="2400" dirty="0"/>
                    </a:p>
                  </a:txBody>
                  <a:tcPr/>
                </a:tc>
                <a:tc>
                  <a:txBody>
                    <a:bodyPr/>
                    <a:lstStyle/>
                    <a:p>
                      <a:pPr algn="ctr"/>
                      <a:r>
                        <a:rPr lang="en-US" sz="2400" dirty="0"/>
                        <a:t>12%</a:t>
                      </a:r>
                      <a:endParaRPr lang="en-ZA" sz="2400" dirty="0"/>
                    </a:p>
                  </a:txBody>
                  <a:tcPr/>
                </a:tc>
                <a:extLst>
                  <a:ext uri="{0D108BD9-81ED-4DB2-BD59-A6C34878D82A}">
                    <a16:rowId xmlns:a16="http://schemas.microsoft.com/office/drawing/2014/main" val="1895749360"/>
                  </a:ext>
                </a:extLst>
              </a:tr>
            </a:tbl>
          </a:graphicData>
        </a:graphic>
      </p:graphicFrame>
      <p:graphicFrame>
        <p:nvGraphicFramePr>
          <p:cNvPr id="5" name="Table 4">
            <a:extLst>
              <a:ext uri="{FF2B5EF4-FFF2-40B4-BE49-F238E27FC236}">
                <a16:creationId xmlns:a16="http://schemas.microsoft.com/office/drawing/2014/main" id="{31F6589B-0F1B-6E09-E001-5F238B8DDEC3}"/>
              </a:ext>
            </a:extLst>
          </p:cNvPr>
          <p:cNvGraphicFramePr>
            <a:graphicFrameLocks noGrp="1"/>
          </p:cNvGraphicFramePr>
          <p:nvPr>
            <p:extLst>
              <p:ext uri="{D42A27DB-BD31-4B8C-83A1-F6EECF244321}">
                <p14:modId xmlns:p14="http://schemas.microsoft.com/office/powerpoint/2010/main" val="1986950900"/>
              </p:ext>
            </p:extLst>
          </p:nvPr>
        </p:nvGraphicFramePr>
        <p:xfrm>
          <a:off x="990600" y="4648200"/>
          <a:ext cx="7200000" cy="182880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596028959"/>
                    </a:ext>
                  </a:extLst>
                </a:gridCol>
                <a:gridCol w="3600000">
                  <a:extLst>
                    <a:ext uri="{9D8B030D-6E8A-4147-A177-3AD203B41FA5}">
                      <a16:colId xmlns:a16="http://schemas.microsoft.com/office/drawing/2014/main" val="340680491"/>
                    </a:ext>
                  </a:extLst>
                </a:gridCol>
              </a:tblGrid>
              <a:tr h="370840">
                <a:tc>
                  <a:txBody>
                    <a:bodyPr/>
                    <a:lstStyle/>
                    <a:p>
                      <a:pPr algn="ctr"/>
                      <a:r>
                        <a:rPr lang="en-US" sz="2400" dirty="0"/>
                        <a:t>EBIT</a:t>
                      </a:r>
                    </a:p>
                  </a:txBody>
                  <a:tcPr/>
                </a:tc>
                <a:tc>
                  <a:txBody>
                    <a:bodyPr/>
                    <a:lstStyle/>
                    <a:p>
                      <a:pPr algn="ctr"/>
                      <a:r>
                        <a:rPr lang="en-US" sz="2400" dirty="0"/>
                        <a:t>Probability</a:t>
                      </a:r>
                      <a:endParaRPr lang="en-ZA" sz="2400" dirty="0"/>
                    </a:p>
                  </a:txBody>
                  <a:tcPr/>
                </a:tc>
                <a:extLst>
                  <a:ext uri="{0D108BD9-81ED-4DB2-BD59-A6C34878D82A}">
                    <a16:rowId xmlns:a16="http://schemas.microsoft.com/office/drawing/2014/main" val="836125700"/>
                  </a:ext>
                </a:extLst>
              </a:tr>
              <a:tr h="370840">
                <a:tc>
                  <a:txBody>
                    <a:bodyPr/>
                    <a:lstStyle/>
                    <a:p>
                      <a:pPr algn="ctr"/>
                      <a:r>
                        <a:rPr lang="en-US" sz="2400" dirty="0"/>
                        <a:t>R1 400 000 (Recession)</a:t>
                      </a:r>
                      <a:endParaRPr lang="en-ZA" sz="2400" dirty="0"/>
                    </a:p>
                  </a:txBody>
                  <a:tcPr/>
                </a:tc>
                <a:tc>
                  <a:txBody>
                    <a:bodyPr/>
                    <a:lstStyle/>
                    <a:p>
                      <a:pPr algn="ctr"/>
                      <a:r>
                        <a:rPr lang="en-US" sz="2400" dirty="0"/>
                        <a:t>0.20 (20%)</a:t>
                      </a:r>
                      <a:endParaRPr lang="en-ZA" sz="2400" dirty="0"/>
                    </a:p>
                  </a:txBody>
                  <a:tcPr/>
                </a:tc>
                <a:extLst>
                  <a:ext uri="{0D108BD9-81ED-4DB2-BD59-A6C34878D82A}">
                    <a16:rowId xmlns:a16="http://schemas.microsoft.com/office/drawing/2014/main" val="2495214359"/>
                  </a:ext>
                </a:extLst>
              </a:tr>
              <a:tr h="370840">
                <a:tc>
                  <a:txBody>
                    <a:bodyPr/>
                    <a:lstStyle/>
                    <a:p>
                      <a:pPr algn="ctr"/>
                      <a:r>
                        <a:rPr lang="en-US" sz="2400" dirty="0"/>
                        <a:t>R2 600 000 (Normal)</a:t>
                      </a:r>
                      <a:endParaRPr lang="en-ZA" sz="2400" dirty="0"/>
                    </a:p>
                  </a:txBody>
                  <a:tcPr/>
                </a:tc>
                <a:tc>
                  <a:txBody>
                    <a:bodyPr/>
                    <a:lstStyle/>
                    <a:p>
                      <a:pPr algn="ctr"/>
                      <a:r>
                        <a:rPr lang="en-US" sz="2400" dirty="0"/>
                        <a:t>0.60 (60%)</a:t>
                      </a:r>
                      <a:endParaRPr lang="en-ZA" sz="2400" dirty="0"/>
                    </a:p>
                  </a:txBody>
                  <a:tcPr/>
                </a:tc>
                <a:extLst>
                  <a:ext uri="{0D108BD9-81ED-4DB2-BD59-A6C34878D82A}">
                    <a16:rowId xmlns:a16="http://schemas.microsoft.com/office/drawing/2014/main" val="2588049934"/>
                  </a:ext>
                </a:extLst>
              </a:tr>
              <a:tr h="370840">
                <a:tc>
                  <a:txBody>
                    <a:bodyPr/>
                    <a:lstStyle/>
                    <a:p>
                      <a:pPr algn="ctr"/>
                      <a:r>
                        <a:rPr lang="en-US" sz="2400" dirty="0"/>
                        <a:t>R3 800 000 (Boom)</a:t>
                      </a:r>
                      <a:endParaRPr lang="en-ZA" sz="2400" dirty="0"/>
                    </a:p>
                  </a:txBody>
                  <a:tcPr/>
                </a:tc>
                <a:tc>
                  <a:txBody>
                    <a:bodyPr/>
                    <a:lstStyle/>
                    <a:p>
                      <a:pPr algn="ctr"/>
                      <a:r>
                        <a:rPr lang="en-US" sz="2400" dirty="0"/>
                        <a:t>0.20 (20%)</a:t>
                      </a:r>
                      <a:endParaRPr lang="en-ZA" sz="2400" dirty="0"/>
                    </a:p>
                  </a:txBody>
                  <a:tcPr/>
                </a:tc>
                <a:extLst>
                  <a:ext uri="{0D108BD9-81ED-4DB2-BD59-A6C34878D82A}">
                    <a16:rowId xmlns:a16="http://schemas.microsoft.com/office/drawing/2014/main" val="1895749360"/>
                  </a:ext>
                </a:extLst>
              </a:tr>
            </a:tbl>
          </a:graphicData>
        </a:graphic>
      </p:graphicFrame>
    </p:spTree>
    <p:custDataLst>
      <p:tags r:id="rId1"/>
    </p:custDataLst>
    <p:extLst>
      <p:ext uri="{BB962C8B-B14F-4D97-AF65-F5344CB8AC3E}">
        <p14:creationId xmlns:p14="http://schemas.microsoft.com/office/powerpoint/2010/main" val="2041332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12</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0% debt ratio</a:t>
            </a:r>
          </a:p>
        </p:txBody>
      </p:sp>
      <p:graphicFrame>
        <p:nvGraphicFramePr>
          <p:cNvPr id="6" name="Table 5">
            <a:extLst>
              <a:ext uri="{FF2B5EF4-FFF2-40B4-BE49-F238E27FC236}">
                <a16:creationId xmlns:a16="http://schemas.microsoft.com/office/drawing/2014/main" id="{926544B0-5E83-E698-256A-BF303CAAAEA8}"/>
              </a:ext>
            </a:extLst>
          </p:cNvPr>
          <p:cNvGraphicFramePr>
            <a:graphicFrameLocks noGrp="1"/>
          </p:cNvGraphicFramePr>
          <p:nvPr>
            <p:extLst>
              <p:ext uri="{D42A27DB-BD31-4B8C-83A1-F6EECF244321}">
                <p14:modId xmlns:p14="http://schemas.microsoft.com/office/powerpoint/2010/main" val="61501326"/>
              </p:ext>
            </p:extLst>
          </p:nvPr>
        </p:nvGraphicFramePr>
        <p:xfrm>
          <a:off x="135599" y="2001429"/>
          <a:ext cx="8856000" cy="4084398"/>
        </p:xfrm>
        <a:graphic>
          <a:graphicData uri="http://schemas.openxmlformats.org/drawingml/2006/table">
            <a:tbl>
              <a:tblPr firstRow="1" bandRow="1">
                <a:tableStyleId>{5C22544A-7EE6-4342-B048-85BDC9FD1C3A}</a:tableStyleId>
              </a:tblPr>
              <a:tblGrid>
                <a:gridCol w="2765661">
                  <a:extLst>
                    <a:ext uri="{9D8B030D-6E8A-4147-A177-3AD203B41FA5}">
                      <a16:colId xmlns:a16="http://schemas.microsoft.com/office/drawing/2014/main" val="2094799449"/>
                    </a:ext>
                  </a:extLst>
                </a:gridCol>
                <a:gridCol w="2030113">
                  <a:extLst>
                    <a:ext uri="{9D8B030D-6E8A-4147-A177-3AD203B41FA5}">
                      <a16:colId xmlns:a16="http://schemas.microsoft.com/office/drawing/2014/main" val="229568527"/>
                    </a:ext>
                  </a:extLst>
                </a:gridCol>
                <a:gridCol w="2030113">
                  <a:extLst>
                    <a:ext uri="{9D8B030D-6E8A-4147-A177-3AD203B41FA5}">
                      <a16:colId xmlns:a16="http://schemas.microsoft.com/office/drawing/2014/main" val="1443225844"/>
                    </a:ext>
                  </a:extLst>
                </a:gridCol>
                <a:gridCol w="2030113">
                  <a:extLst>
                    <a:ext uri="{9D8B030D-6E8A-4147-A177-3AD203B41FA5}">
                      <a16:colId xmlns:a16="http://schemas.microsoft.com/office/drawing/2014/main" val="1671910586"/>
                    </a:ext>
                  </a:extLst>
                </a:gridCol>
              </a:tblGrid>
              <a:tr h="406413">
                <a:tc>
                  <a:txBody>
                    <a:bodyPr/>
                    <a:lstStyle/>
                    <a:p>
                      <a:r>
                        <a:rPr lang="en-US" sz="1800" dirty="0"/>
                        <a:t>Probability of EBIT</a:t>
                      </a:r>
                      <a:endParaRPr lang="en-ZA" sz="1800" dirty="0"/>
                    </a:p>
                  </a:txBody>
                  <a:tcPr/>
                </a:tc>
                <a:tc>
                  <a:txBody>
                    <a:bodyPr/>
                    <a:lstStyle/>
                    <a:p>
                      <a:pPr algn="ctr"/>
                      <a:r>
                        <a:rPr lang="en-US" sz="1800" dirty="0"/>
                        <a:t>0.2</a:t>
                      </a:r>
                    </a:p>
                    <a:p>
                      <a:pPr algn="ctr"/>
                      <a:r>
                        <a:rPr lang="en-US" sz="1800" dirty="0"/>
                        <a:t>(Recession)</a:t>
                      </a:r>
                      <a:endParaRPr lang="en-ZA" sz="1800" dirty="0"/>
                    </a:p>
                  </a:txBody>
                  <a:tcPr/>
                </a:tc>
                <a:tc>
                  <a:txBody>
                    <a:bodyPr/>
                    <a:lstStyle/>
                    <a:p>
                      <a:pPr algn="ctr"/>
                      <a:r>
                        <a:rPr lang="en-US" sz="1800" dirty="0"/>
                        <a:t>0.6</a:t>
                      </a:r>
                    </a:p>
                    <a:p>
                      <a:pPr algn="ctr"/>
                      <a:r>
                        <a:rPr lang="en-US" sz="1800" dirty="0"/>
                        <a:t>(Normal)</a:t>
                      </a:r>
                      <a:endParaRPr lang="en-ZA" sz="1800" dirty="0"/>
                    </a:p>
                  </a:txBody>
                  <a:tcPr/>
                </a:tc>
                <a:tc>
                  <a:txBody>
                    <a:bodyPr/>
                    <a:lstStyle/>
                    <a:p>
                      <a:pPr algn="ctr"/>
                      <a:r>
                        <a:rPr lang="en-US" sz="1800" dirty="0"/>
                        <a:t>0.2</a:t>
                      </a:r>
                    </a:p>
                    <a:p>
                      <a:pPr algn="ctr"/>
                      <a:r>
                        <a:rPr lang="en-US" sz="1800" dirty="0"/>
                        <a:t>(Boom)</a:t>
                      </a:r>
                      <a:endParaRPr lang="en-ZA" sz="1800" dirty="0"/>
                    </a:p>
                  </a:txBody>
                  <a:tcPr/>
                </a:tc>
                <a:extLst>
                  <a:ext uri="{0D108BD9-81ED-4DB2-BD59-A6C34878D82A}">
                    <a16:rowId xmlns:a16="http://schemas.microsoft.com/office/drawing/2014/main" val="3670925188"/>
                  </a:ext>
                </a:extLst>
              </a:tr>
              <a:tr h="406413">
                <a:tc>
                  <a:txBody>
                    <a:bodyPr/>
                    <a:lstStyle/>
                    <a:p>
                      <a:r>
                        <a:rPr lang="en-US" sz="1800" dirty="0"/>
                        <a:t>EBIT</a:t>
                      </a:r>
                      <a:endParaRPr lang="en-ZA" sz="1800" dirty="0"/>
                    </a:p>
                  </a:txBody>
                  <a:tcPr/>
                </a:tc>
                <a:tc>
                  <a:txBody>
                    <a:bodyPr/>
                    <a:lstStyle/>
                    <a:p>
                      <a:pPr algn="r"/>
                      <a:r>
                        <a:rPr lang="en-US" sz="1800" dirty="0"/>
                        <a:t>R1 400 00</a:t>
                      </a:r>
                      <a:endParaRPr lang="en-ZA" sz="1800" dirty="0"/>
                    </a:p>
                  </a:txBody>
                  <a:tcPr/>
                </a:tc>
                <a:tc>
                  <a:txBody>
                    <a:bodyPr/>
                    <a:lstStyle/>
                    <a:p>
                      <a:pPr algn="r"/>
                      <a:r>
                        <a:rPr lang="en-US" sz="1800" dirty="0"/>
                        <a:t>R2 600 000</a:t>
                      </a:r>
                      <a:endParaRPr lang="en-ZA" sz="1800" dirty="0"/>
                    </a:p>
                  </a:txBody>
                  <a:tcPr/>
                </a:tc>
                <a:tc>
                  <a:txBody>
                    <a:bodyPr/>
                    <a:lstStyle/>
                    <a:p>
                      <a:pPr algn="r"/>
                      <a:r>
                        <a:rPr lang="en-US" sz="1800" dirty="0"/>
                        <a:t>R3 800 000</a:t>
                      </a:r>
                      <a:endParaRPr lang="en-ZA" sz="1800" dirty="0"/>
                    </a:p>
                  </a:txBody>
                  <a:tcPr/>
                </a:tc>
                <a:extLst>
                  <a:ext uri="{0D108BD9-81ED-4DB2-BD59-A6C34878D82A}">
                    <a16:rowId xmlns:a16="http://schemas.microsoft.com/office/drawing/2014/main" val="3554167102"/>
                  </a:ext>
                </a:extLst>
              </a:tr>
              <a:tr h="406413">
                <a:tc>
                  <a:txBody>
                    <a:bodyPr/>
                    <a:lstStyle/>
                    <a:p>
                      <a:r>
                        <a:rPr lang="en-US" sz="1800" dirty="0"/>
                        <a:t>Less: Interest</a:t>
                      </a:r>
                      <a:endParaRPr lang="en-ZA" sz="1800" dirty="0"/>
                    </a:p>
                  </a:txBody>
                  <a:tcPr/>
                </a:tc>
                <a:tc>
                  <a:txBody>
                    <a:bodyPr/>
                    <a:lstStyle/>
                    <a:p>
                      <a:pPr algn="r"/>
                      <a:r>
                        <a:rPr lang="en-US" sz="1800" dirty="0"/>
                        <a:t>0</a:t>
                      </a:r>
                      <a:endParaRPr lang="en-ZA" sz="1800" dirty="0"/>
                    </a:p>
                  </a:txBody>
                  <a:tcPr/>
                </a:tc>
                <a:tc>
                  <a:txBody>
                    <a:bodyPr/>
                    <a:lstStyle/>
                    <a:p>
                      <a:pPr algn="r"/>
                      <a:r>
                        <a:rPr lang="en-US" sz="1800" dirty="0"/>
                        <a:t>0</a:t>
                      </a:r>
                      <a:endParaRPr lang="en-ZA" sz="1800" dirty="0"/>
                    </a:p>
                  </a:txBody>
                  <a:tcPr/>
                </a:tc>
                <a:tc>
                  <a:txBody>
                    <a:bodyPr/>
                    <a:lstStyle/>
                    <a:p>
                      <a:pPr algn="r"/>
                      <a:r>
                        <a:rPr lang="en-US" sz="1800" dirty="0"/>
                        <a:t>0</a:t>
                      </a:r>
                      <a:endParaRPr lang="en-ZA" sz="1800" dirty="0"/>
                    </a:p>
                  </a:txBody>
                  <a:tcPr/>
                </a:tc>
                <a:extLst>
                  <a:ext uri="{0D108BD9-81ED-4DB2-BD59-A6C34878D82A}">
                    <a16:rowId xmlns:a16="http://schemas.microsoft.com/office/drawing/2014/main" val="2618912740"/>
                  </a:ext>
                </a:extLst>
              </a:tr>
              <a:tr h="406413">
                <a:tc>
                  <a:txBody>
                    <a:bodyPr/>
                    <a:lstStyle/>
                    <a:p>
                      <a:r>
                        <a:rPr lang="en-US" sz="1800" dirty="0"/>
                        <a:t>EBT</a:t>
                      </a:r>
                      <a:endParaRPr lang="en-ZA" sz="1800" dirty="0"/>
                    </a:p>
                  </a:txBody>
                  <a:tcPr/>
                </a:tc>
                <a:tc>
                  <a:txBody>
                    <a:bodyPr/>
                    <a:lstStyle/>
                    <a:p>
                      <a:pPr algn="r"/>
                      <a:r>
                        <a:rPr lang="en-US" sz="1800" dirty="0"/>
                        <a:t>1 400 000</a:t>
                      </a:r>
                      <a:endParaRPr lang="en-ZA" sz="1800" dirty="0"/>
                    </a:p>
                  </a:txBody>
                  <a:tcPr/>
                </a:tc>
                <a:tc>
                  <a:txBody>
                    <a:bodyPr/>
                    <a:lstStyle/>
                    <a:p>
                      <a:pPr algn="r"/>
                      <a:r>
                        <a:rPr lang="en-US" sz="1800" dirty="0"/>
                        <a:t>2 600 000</a:t>
                      </a:r>
                      <a:endParaRPr lang="en-ZA" sz="1800" dirty="0"/>
                    </a:p>
                  </a:txBody>
                  <a:tcPr/>
                </a:tc>
                <a:tc>
                  <a:txBody>
                    <a:bodyPr/>
                    <a:lstStyle/>
                    <a:p>
                      <a:pPr algn="r"/>
                      <a:r>
                        <a:rPr lang="en-US" sz="1800" dirty="0"/>
                        <a:t>3 800 000</a:t>
                      </a:r>
                      <a:endParaRPr lang="en-ZA" sz="1800" dirty="0"/>
                    </a:p>
                  </a:txBody>
                  <a:tcPr/>
                </a:tc>
                <a:extLst>
                  <a:ext uri="{0D108BD9-81ED-4DB2-BD59-A6C34878D82A}">
                    <a16:rowId xmlns:a16="http://schemas.microsoft.com/office/drawing/2014/main" val="270723026"/>
                  </a:ext>
                </a:extLst>
              </a:tr>
              <a:tr h="406413">
                <a:tc>
                  <a:txBody>
                    <a:bodyPr/>
                    <a:lstStyle/>
                    <a:p>
                      <a:r>
                        <a:rPr lang="en-US" sz="1800" dirty="0"/>
                        <a:t>Less: Taxes (27%)</a:t>
                      </a:r>
                      <a:endParaRPr lang="en-ZA" sz="1800" dirty="0"/>
                    </a:p>
                  </a:txBody>
                  <a:tcPr/>
                </a:tc>
                <a:tc>
                  <a:txBody>
                    <a:bodyPr/>
                    <a:lstStyle/>
                    <a:p>
                      <a:pPr algn="r"/>
                      <a:r>
                        <a:rPr lang="en-US" sz="1800" dirty="0"/>
                        <a:t>378 000</a:t>
                      </a:r>
                      <a:endParaRPr lang="en-ZA" sz="1800" dirty="0"/>
                    </a:p>
                  </a:txBody>
                  <a:tcPr/>
                </a:tc>
                <a:tc>
                  <a:txBody>
                    <a:bodyPr/>
                    <a:lstStyle/>
                    <a:p>
                      <a:pPr algn="r"/>
                      <a:r>
                        <a:rPr lang="en-US" sz="1800" dirty="0"/>
                        <a:t>702 000</a:t>
                      </a:r>
                      <a:endParaRPr lang="en-ZA" sz="1800" dirty="0"/>
                    </a:p>
                  </a:txBody>
                  <a:tcPr/>
                </a:tc>
                <a:tc>
                  <a:txBody>
                    <a:bodyPr/>
                    <a:lstStyle/>
                    <a:p>
                      <a:pPr algn="r"/>
                      <a:r>
                        <a:rPr lang="en-US" sz="1800" dirty="0"/>
                        <a:t>1 026 000</a:t>
                      </a:r>
                      <a:endParaRPr lang="en-ZA" sz="1800" dirty="0"/>
                    </a:p>
                  </a:txBody>
                  <a:tcPr/>
                </a:tc>
                <a:extLst>
                  <a:ext uri="{0D108BD9-81ED-4DB2-BD59-A6C34878D82A}">
                    <a16:rowId xmlns:a16="http://schemas.microsoft.com/office/drawing/2014/main" val="2300705331"/>
                  </a:ext>
                </a:extLst>
              </a:tr>
              <a:tr h="406413">
                <a:tc>
                  <a:txBody>
                    <a:bodyPr/>
                    <a:lstStyle/>
                    <a:p>
                      <a:r>
                        <a:rPr lang="en-US" sz="1800" dirty="0"/>
                        <a:t>EAT</a:t>
                      </a:r>
                      <a:endParaRPr lang="en-ZA" sz="1800" dirty="0"/>
                    </a:p>
                  </a:txBody>
                  <a:tcPr/>
                </a:tc>
                <a:tc>
                  <a:txBody>
                    <a:bodyPr/>
                    <a:lstStyle/>
                    <a:p>
                      <a:pPr algn="r"/>
                      <a:r>
                        <a:rPr lang="en-US" sz="1800" dirty="0"/>
                        <a:t>1 022 000</a:t>
                      </a:r>
                      <a:endParaRPr lang="en-ZA" sz="1800" dirty="0"/>
                    </a:p>
                  </a:txBody>
                  <a:tcPr/>
                </a:tc>
                <a:tc>
                  <a:txBody>
                    <a:bodyPr/>
                    <a:lstStyle/>
                    <a:p>
                      <a:pPr algn="r"/>
                      <a:r>
                        <a:rPr lang="en-US" sz="1800" dirty="0"/>
                        <a:t>1 898 000</a:t>
                      </a:r>
                      <a:endParaRPr lang="en-ZA" sz="1800" dirty="0"/>
                    </a:p>
                  </a:txBody>
                  <a:tcPr/>
                </a:tc>
                <a:tc>
                  <a:txBody>
                    <a:bodyPr/>
                    <a:lstStyle/>
                    <a:p>
                      <a:pPr algn="r"/>
                      <a:r>
                        <a:rPr lang="en-US" sz="1800" dirty="0"/>
                        <a:t>2 774 000</a:t>
                      </a:r>
                      <a:endParaRPr lang="en-ZA" sz="1800" dirty="0"/>
                    </a:p>
                  </a:txBody>
                  <a:tcPr/>
                </a:tc>
                <a:extLst>
                  <a:ext uri="{0D108BD9-81ED-4DB2-BD59-A6C34878D82A}">
                    <a16:rowId xmlns:a16="http://schemas.microsoft.com/office/drawing/2014/main" val="1049295116"/>
                  </a:ext>
                </a:extLst>
              </a:tr>
              <a:tr h="406413">
                <a:tc>
                  <a:txBody>
                    <a:bodyPr/>
                    <a:lstStyle/>
                    <a:p>
                      <a:r>
                        <a:rPr lang="en-US" sz="1800" dirty="0"/>
                        <a:t>Earnings per share (EPS)</a:t>
                      </a:r>
                      <a:endParaRPr lang="en-ZA" sz="1800" dirty="0"/>
                    </a:p>
                  </a:txBody>
                  <a:tcPr/>
                </a:tc>
                <a:tc>
                  <a:txBody>
                    <a:bodyPr/>
                    <a:lstStyle/>
                    <a:p>
                      <a:pPr algn="r"/>
                      <a:r>
                        <a:rPr lang="en-US" sz="1800" dirty="0"/>
                        <a:t>R2.04</a:t>
                      </a:r>
                      <a:endParaRPr lang="en-ZA" sz="1800" dirty="0"/>
                    </a:p>
                  </a:txBody>
                  <a:tcPr/>
                </a:tc>
                <a:tc>
                  <a:txBody>
                    <a:bodyPr/>
                    <a:lstStyle/>
                    <a:p>
                      <a:pPr algn="r"/>
                      <a:r>
                        <a:rPr lang="en-US" sz="1800" dirty="0"/>
                        <a:t>R3.80</a:t>
                      </a:r>
                      <a:endParaRPr lang="en-ZA" sz="1800" dirty="0"/>
                    </a:p>
                  </a:txBody>
                  <a:tcPr/>
                </a:tc>
                <a:tc>
                  <a:txBody>
                    <a:bodyPr/>
                    <a:lstStyle/>
                    <a:p>
                      <a:pPr algn="r"/>
                      <a:r>
                        <a:rPr lang="en-US" sz="1800" dirty="0"/>
                        <a:t>R5.55</a:t>
                      </a:r>
                      <a:endParaRPr lang="en-ZA" sz="1800" dirty="0"/>
                    </a:p>
                  </a:txBody>
                  <a:tcPr/>
                </a:tc>
                <a:extLst>
                  <a:ext uri="{0D108BD9-81ED-4DB2-BD59-A6C34878D82A}">
                    <a16:rowId xmlns:a16="http://schemas.microsoft.com/office/drawing/2014/main" val="818995423"/>
                  </a:ext>
                </a:extLst>
              </a:tr>
              <a:tr h="406413">
                <a:tc>
                  <a:txBody>
                    <a:bodyPr/>
                    <a:lstStyle/>
                    <a:p>
                      <a:r>
                        <a:rPr lang="en-US" sz="1800" dirty="0"/>
                        <a:t>Expected EPS</a:t>
                      </a:r>
                      <a:endParaRPr lang="en-ZA" sz="1800" dirty="0"/>
                    </a:p>
                  </a:txBody>
                  <a:tcPr/>
                </a:tc>
                <a:tc gridSpan="3">
                  <a:txBody>
                    <a:bodyPr/>
                    <a:lstStyle/>
                    <a:p>
                      <a:pPr algn="l"/>
                      <a:r>
                        <a:rPr lang="en-US" sz="1800" baseline="-25000" dirty="0"/>
                        <a:t>     N</a:t>
                      </a:r>
                    </a:p>
                    <a:p>
                      <a:pPr algn="l"/>
                      <a:r>
                        <a:rPr lang="en-US" sz="1800" dirty="0"/>
                        <a:t>= </a:t>
                      </a:r>
                      <a:r>
                        <a:rPr lang="el-GR" sz="1800" dirty="0"/>
                        <a:t>Σ</a:t>
                      </a:r>
                      <a:r>
                        <a:rPr lang="en-US" sz="1800" dirty="0" err="1"/>
                        <a:t>EPS</a:t>
                      </a:r>
                      <a:r>
                        <a:rPr lang="en-US" sz="1800" baseline="-25000" dirty="0" err="1"/>
                        <a:t>t</a:t>
                      </a:r>
                      <a:r>
                        <a:rPr lang="en-US" sz="1800" dirty="0"/>
                        <a:t> x P</a:t>
                      </a:r>
                      <a:r>
                        <a:rPr lang="en-US" sz="1800" baseline="-25000" dirty="0"/>
                        <a:t>t</a:t>
                      </a:r>
                    </a:p>
                    <a:p>
                      <a:pPr algn="l"/>
                      <a:r>
                        <a:rPr lang="en-US" sz="1800" baseline="-25000" dirty="0"/>
                        <a:t>    </a:t>
                      </a:r>
                      <a:r>
                        <a:rPr lang="en-US" sz="1800" baseline="30000" dirty="0"/>
                        <a:t>t=1</a:t>
                      </a:r>
                    </a:p>
                    <a:p>
                      <a:pPr algn="l"/>
                      <a:r>
                        <a:rPr lang="en-US" sz="1800" dirty="0"/>
                        <a:t>=(0.2 x R2.04) + (0.6 x R3.80) + (0.2 x R5.55) = </a:t>
                      </a:r>
                      <a:r>
                        <a:rPr lang="en-US" sz="1800" b="1" kern="1200" baseline="0" dirty="0">
                          <a:solidFill>
                            <a:srgbClr val="990000"/>
                          </a:solidFill>
                          <a:latin typeface="+mn-lt"/>
                          <a:ea typeface="+mn-ea"/>
                          <a:cs typeface="+mn-cs"/>
                        </a:rPr>
                        <a:t>R3.80</a:t>
                      </a:r>
                    </a:p>
                  </a:txBody>
                  <a:tcPr/>
                </a:tc>
                <a:tc hMerge="1">
                  <a:txBody>
                    <a:bodyPr/>
                    <a:lstStyle/>
                    <a:p>
                      <a:pPr algn="r"/>
                      <a:endParaRPr lang="en-ZA" sz="1800" dirty="0"/>
                    </a:p>
                  </a:txBody>
                  <a:tcPr/>
                </a:tc>
                <a:tc hMerge="1">
                  <a:txBody>
                    <a:bodyPr/>
                    <a:lstStyle/>
                    <a:p>
                      <a:pPr algn="r"/>
                      <a:endParaRPr lang="en-ZA" sz="1800" dirty="0"/>
                    </a:p>
                  </a:txBody>
                  <a:tcPr/>
                </a:tc>
                <a:extLst>
                  <a:ext uri="{0D108BD9-81ED-4DB2-BD59-A6C34878D82A}">
                    <a16:rowId xmlns:a16="http://schemas.microsoft.com/office/drawing/2014/main" val="3275593972"/>
                  </a:ext>
                </a:extLst>
              </a:tr>
            </a:tbl>
          </a:graphicData>
        </a:graphic>
      </p:graphicFrame>
    </p:spTree>
    <p:custDataLst>
      <p:tags r:id="rId1"/>
    </p:custDataLst>
    <p:extLst>
      <p:ext uri="{BB962C8B-B14F-4D97-AF65-F5344CB8AC3E}">
        <p14:creationId xmlns:p14="http://schemas.microsoft.com/office/powerpoint/2010/main" val="2703633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13</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20% debt ratio</a:t>
            </a:r>
          </a:p>
        </p:txBody>
      </p:sp>
      <p:graphicFrame>
        <p:nvGraphicFramePr>
          <p:cNvPr id="6" name="Table 5">
            <a:extLst>
              <a:ext uri="{FF2B5EF4-FFF2-40B4-BE49-F238E27FC236}">
                <a16:creationId xmlns:a16="http://schemas.microsoft.com/office/drawing/2014/main" id="{926544B0-5E83-E698-256A-BF303CAAAEA8}"/>
              </a:ext>
            </a:extLst>
          </p:cNvPr>
          <p:cNvGraphicFramePr>
            <a:graphicFrameLocks noGrp="1"/>
          </p:cNvGraphicFramePr>
          <p:nvPr>
            <p:extLst>
              <p:ext uri="{D42A27DB-BD31-4B8C-83A1-F6EECF244321}">
                <p14:modId xmlns:p14="http://schemas.microsoft.com/office/powerpoint/2010/main" val="611760421"/>
              </p:ext>
            </p:extLst>
          </p:nvPr>
        </p:nvGraphicFramePr>
        <p:xfrm>
          <a:off x="135599" y="2001429"/>
          <a:ext cx="8856000" cy="4084398"/>
        </p:xfrm>
        <a:graphic>
          <a:graphicData uri="http://schemas.openxmlformats.org/drawingml/2006/table">
            <a:tbl>
              <a:tblPr firstRow="1" bandRow="1">
                <a:tableStyleId>{5C22544A-7EE6-4342-B048-85BDC9FD1C3A}</a:tableStyleId>
              </a:tblPr>
              <a:tblGrid>
                <a:gridCol w="2765661">
                  <a:extLst>
                    <a:ext uri="{9D8B030D-6E8A-4147-A177-3AD203B41FA5}">
                      <a16:colId xmlns:a16="http://schemas.microsoft.com/office/drawing/2014/main" val="2094799449"/>
                    </a:ext>
                  </a:extLst>
                </a:gridCol>
                <a:gridCol w="2030113">
                  <a:extLst>
                    <a:ext uri="{9D8B030D-6E8A-4147-A177-3AD203B41FA5}">
                      <a16:colId xmlns:a16="http://schemas.microsoft.com/office/drawing/2014/main" val="229568527"/>
                    </a:ext>
                  </a:extLst>
                </a:gridCol>
                <a:gridCol w="2030113">
                  <a:extLst>
                    <a:ext uri="{9D8B030D-6E8A-4147-A177-3AD203B41FA5}">
                      <a16:colId xmlns:a16="http://schemas.microsoft.com/office/drawing/2014/main" val="1443225844"/>
                    </a:ext>
                  </a:extLst>
                </a:gridCol>
                <a:gridCol w="2030113">
                  <a:extLst>
                    <a:ext uri="{9D8B030D-6E8A-4147-A177-3AD203B41FA5}">
                      <a16:colId xmlns:a16="http://schemas.microsoft.com/office/drawing/2014/main" val="1671910586"/>
                    </a:ext>
                  </a:extLst>
                </a:gridCol>
              </a:tblGrid>
              <a:tr h="406413">
                <a:tc>
                  <a:txBody>
                    <a:bodyPr/>
                    <a:lstStyle/>
                    <a:p>
                      <a:r>
                        <a:rPr lang="en-US" sz="1800" dirty="0"/>
                        <a:t>Probability of EBIT</a:t>
                      </a:r>
                      <a:endParaRPr lang="en-ZA" sz="1800" dirty="0"/>
                    </a:p>
                  </a:txBody>
                  <a:tcPr/>
                </a:tc>
                <a:tc>
                  <a:txBody>
                    <a:bodyPr/>
                    <a:lstStyle/>
                    <a:p>
                      <a:pPr algn="ctr"/>
                      <a:r>
                        <a:rPr lang="en-US" sz="1800" dirty="0"/>
                        <a:t>0.2</a:t>
                      </a:r>
                    </a:p>
                    <a:p>
                      <a:pPr algn="ctr"/>
                      <a:r>
                        <a:rPr lang="en-US" sz="1800" dirty="0"/>
                        <a:t>(Recession)</a:t>
                      </a:r>
                      <a:endParaRPr lang="en-ZA" sz="1800" dirty="0"/>
                    </a:p>
                  </a:txBody>
                  <a:tcPr/>
                </a:tc>
                <a:tc>
                  <a:txBody>
                    <a:bodyPr/>
                    <a:lstStyle/>
                    <a:p>
                      <a:pPr algn="ctr"/>
                      <a:r>
                        <a:rPr lang="en-US" sz="1800" dirty="0"/>
                        <a:t>0.6</a:t>
                      </a:r>
                    </a:p>
                    <a:p>
                      <a:pPr algn="ctr"/>
                      <a:r>
                        <a:rPr lang="en-US" sz="1800" dirty="0"/>
                        <a:t>(Normal)</a:t>
                      </a:r>
                      <a:endParaRPr lang="en-ZA" sz="1800" dirty="0"/>
                    </a:p>
                  </a:txBody>
                  <a:tcPr/>
                </a:tc>
                <a:tc>
                  <a:txBody>
                    <a:bodyPr/>
                    <a:lstStyle/>
                    <a:p>
                      <a:pPr algn="ctr"/>
                      <a:r>
                        <a:rPr lang="en-US" sz="1800" dirty="0"/>
                        <a:t>0.2</a:t>
                      </a:r>
                    </a:p>
                    <a:p>
                      <a:pPr algn="ctr"/>
                      <a:r>
                        <a:rPr lang="en-US" sz="1800" dirty="0"/>
                        <a:t>(Boom)</a:t>
                      </a:r>
                      <a:endParaRPr lang="en-ZA" sz="1800" dirty="0"/>
                    </a:p>
                  </a:txBody>
                  <a:tcPr/>
                </a:tc>
                <a:extLst>
                  <a:ext uri="{0D108BD9-81ED-4DB2-BD59-A6C34878D82A}">
                    <a16:rowId xmlns:a16="http://schemas.microsoft.com/office/drawing/2014/main" val="3670925188"/>
                  </a:ext>
                </a:extLst>
              </a:tr>
              <a:tr h="406413">
                <a:tc>
                  <a:txBody>
                    <a:bodyPr/>
                    <a:lstStyle/>
                    <a:p>
                      <a:r>
                        <a:rPr lang="en-US" sz="1800" dirty="0"/>
                        <a:t>EBIT</a:t>
                      </a:r>
                      <a:endParaRPr lang="en-ZA" sz="1800" dirty="0"/>
                    </a:p>
                  </a:txBody>
                  <a:tcPr/>
                </a:tc>
                <a:tc>
                  <a:txBody>
                    <a:bodyPr/>
                    <a:lstStyle/>
                    <a:p>
                      <a:pPr algn="r"/>
                      <a:r>
                        <a:rPr lang="en-US" sz="1800" dirty="0"/>
                        <a:t>R1 400 00</a:t>
                      </a:r>
                      <a:endParaRPr lang="en-ZA" sz="1800" dirty="0"/>
                    </a:p>
                  </a:txBody>
                  <a:tcPr/>
                </a:tc>
                <a:tc>
                  <a:txBody>
                    <a:bodyPr/>
                    <a:lstStyle/>
                    <a:p>
                      <a:pPr algn="r"/>
                      <a:r>
                        <a:rPr lang="en-US" sz="1800" dirty="0"/>
                        <a:t>R2 600 000</a:t>
                      </a:r>
                      <a:endParaRPr lang="en-ZA" sz="1800" dirty="0"/>
                    </a:p>
                  </a:txBody>
                  <a:tcPr/>
                </a:tc>
                <a:tc>
                  <a:txBody>
                    <a:bodyPr/>
                    <a:lstStyle/>
                    <a:p>
                      <a:pPr algn="r"/>
                      <a:r>
                        <a:rPr lang="en-US" sz="1800" dirty="0"/>
                        <a:t>R3 800 000</a:t>
                      </a:r>
                      <a:endParaRPr lang="en-ZA" sz="1800" dirty="0"/>
                    </a:p>
                  </a:txBody>
                  <a:tcPr/>
                </a:tc>
                <a:extLst>
                  <a:ext uri="{0D108BD9-81ED-4DB2-BD59-A6C34878D82A}">
                    <a16:rowId xmlns:a16="http://schemas.microsoft.com/office/drawing/2014/main" val="3554167102"/>
                  </a:ext>
                </a:extLst>
              </a:tr>
              <a:tr h="406413">
                <a:tc>
                  <a:txBody>
                    <a:bodyPr/>
                    <a:lstStyle/>
                    <a:p>
                      <a:r>
                        <a:rPr lang="en-US" sz="1800" dirty="0"/>
                        <a:t>Less: Interest</a:t>
                      </a:r>
                      <a:endParaRPr lang="en-ZA" sz="1800" dirty="0"/>
                    </a:p>
                  </a:txBody>
                  <a:tcPr/>
                </a:tc>
                <a:tc>
                  <a:txBody>
                    <a:bodyPr/>
                    <a:lstStyle/>
                    <a:p>
                      <a:pPr algn="r"/>
                      <a:r>
                        <a:rPr lang="en-US" sz="1800" dirty="0"/>
                        <a:t>80 000</a:t>
                      </a:r>
                      <a:endParaRPr lang="en-ZA" sz="1800" dirty="0"/>
                    </a:p>
                  </a:txBody>
                  <a:tcPr/>
                </a:tc>
                <a:tc>
                  <a:txBody>
                    <a:bodyPr/>
                    <a:lstStyle/>
                    <a:p>
                      <a:pPr algn="r"/>
                      <a:r>
                        <a:rPr lang="en-US" sz="1800" dirty="0"/>
                        <a:t>80 000</a:t>
                      </a:r>
                      <a:endParaRPr lang="en-ZA" sz="1800" dirty="0"/>
                    </a:p>
                  </a:txBody>
                  <a:tcPr/>
                </a:tc>
                <a:tc>
                  <a:txBody>
                    <a:bodyPr/>
                    <a:lstStyle/>
                    <a:p>
                      <a:pPr algn="r"/>
                      <a:r>
                        <a:rPr lang="en-US" sz="1800" dirty="0"/>
                        <a:t>80 000</a:t>
                      </a:r>
                      <a:endParaRPr lang="en-ZA" sz="1800" dirty="0"/>
                    </a:p>
                  </a:txBody>
                  <a:tcPr/>
                </a:tc>
                <a:extLst>
                  <a:ext uri="{0D108BD9-81ED-4DB2-BD59-A6C34878D82A}">
                    <a16:rowId xmlns:a16="http://schemas.microsoft.com/office/drawing/2014/main" val="2618912740"/>
                  </a:ext>
                </a:extLst>
              </a:tr>
              <a:tr h="406413">
                <a:tc>
                  <a:txBody>
                    <a:bodyPr/>
                    <a:lstStyle/>
                    <a:p>
                      <a:r>
                        <a:rPr lang="en-US" sz="1800" dirty="0"/>
                        <a:t>EBT</a:t>
                      </a:r>
                      <a:endParaRPr lang="en-ZA" sz="1800" dirty="0"/>
                    </a:p>
                  </a:txBody>
                  <a:tcPr/>
                </a:tc>
                <a:tc>
                  <a:txBody>
                    <a:bodyPr/>
                    <a:lstStyle/>
                    <a:p>
                      <a:pPr algn="r"/>
                      <a:r>
                        <a:rPr lang="en-US" sz="1800" dirty="0"/>
                        <a:t>1 320 000</a:t>
                      </a:r>
                      <a:endParaRPr lang="en-ZA" sz="1800" dirty="0"/>
                    </a:p>
                  </a:txBody>
                  <a:tcPr/>
                </a:tc>
                <a:tc>
                  <a:txBody>
                    <a:bodyPr/>
                    <a:lstStyle/>
                    <a:p>
                      <a:pPr algn="r"/>
                      <a:r>
                        <a:rPr lang="en-US" sz="1800" dirty="0"/>
                        <a:t>2 520 000</a:t>
                      </a:r>
                      <a:endParaRPr lang="en-ZA" sz="1800" dirty="0"/>
                    </a:p>
                  </a:txBody>
                  <a:tcPr/>
                </a:tc>
                <a:tc>
                  <a:txBody>
                    <a:bodyPr/>
                    <a:lstStyle/>
                    <a:p>
                      <a:pPr algn="r"/>
                      <a:r>
                        <a:rPr lang="en-US" sz="1800" dirty="0"/>
                        <a:t>3 720 000</a:t>
                      </a:r>
                      <a:endParaRPr lang="en-ZA" sz="1800" dirty="0"/>
                    </a:p>
                  </a:txBody>
                  <a:tcPr/>
                </a:tc>
                <a:extLst>
                  <a:ext uri="{0D108BD9-81ED-4DB2-BD59-A6C34878D82A}">
                    <a16:rowId xmlns:a16="http://schemas.microsoft.com/office/drawing/2014/main" val="270723026"/>
                  </a:ext>
                </a:extLst>
              </a:tr>
              <a:tr h="406413">
                <a:tc>
                  <a:txBody>
                    <a:bodyPr/>
                    <a:lstStyle/>
                    <a:p>
                      <a:r>
                        <a:rPr lang="en-US" sz="1800" dirty="0"/>
                        <a:t>Less: Taxes (27%)</a:t>
                      </a:r>
                      <a:endParaRPr lang="en-ZA" sz="1800" dirty="0"/>
                    </a:p>
                  </a:txBody>
                  <a:tcPr/>
                </a:tc>
                <a:tc>
                  <a:txBody>
                    <a:bodyPr/>
                    <a:lstStyle/>
                    <a:p>
                      <a:pPr algn="r"/>
                      <a:r>
                        <a:rPr lang="en-US" sz="1800" dirty="0"/>
                        <a:t>356 400</a:t>
                      </a:r>
                      <a:endParaRPr lang="en-ZA" sz="1800" dirty="0"/>
                    </a:p>
                  </a:txBody>
                  <a:tcPr/>
                </a:tc>
                <a:tc>
                  <a:txBody>
                    <a:bodyPr/>
                    <a:lstStyle/>
                    <a:p>
                      <a:pPr algn="r"/>
                      <a:r>
                        <a:rPr lang="en-US" sz="1800" dirty="0"/>
                        <a:t>680 400</a:t>
                      </a:r>
                      <a:endParaRPr lang="en-ZA" sz="1800" dirty="0"/>
                    </a:p>
                  </a:txBody>
                  <a:tcPr/>
                </a:tc>
                <a:tc>
                  <a:txBody>
                    <a:bodyPr/>
                    <a:lstStyle/>
                    <a:p>
                      <a:pPr algn="r"/>
                      <a:r>
                        <a:rPr lang="en-US" sz="1800" dirty="0"/>
                        <a:t>1 004 400</a:t>
                      </a:r>
                      <a:endParaRPr lang="en-ZA" sz="1800" dirty="0"/>
                    </a:p>
                  </a:txBody>
                  <a:tcPr/>
                </a:tc>
                <a:extLst>
                  <a:ext uri="{0D108BD9-81ED-4DB2-BD59-A6C34878D82A}">
                    <a16:rowId xmlns:a16="http://schemas.microsoft.com/office/drawing/2014/main" val="2300705331"/>
                  </a:ext>
                </a:extLst>
              </a:tr>
              <a:tr h="406413">
                <a:tc>
                  <a:txBody>
                    <a:bodyPr/>
                    <a:lstStyle/>
                    <a:p>
                      <a:r>
                        <a:rPr lang="en-US" sz="1800" dirty="0"/>
                        <a:t>EAT</a:t>
                      </a:r>
                      <a:endParaRPr lang="en-ZA" sz="1800" dirty="0"/>
                    </a:p>
                  </a:txBody>
                  <a:tcPr/>
                </a:tc>
                <a:tc>
                  <a:txBody>
                    <a:bodyPr/>
                    <a:lstStyle/>
                    <a:p>
                      <a:pPr algn="r"/>
                      <a:r>
                        <a:rPr lang="en-US" sz="1800" dirty="0"/>
                        <a:t>963 600</a:t>
                      </a:r>
                      <a:endParaRPr lang="en-ZA" sz="1800" dirty="0"/>
                    </a:p>
                  </a:txBody>
                  <a:tcPr/>
                </a:tc>
                <a:tc>
                  <a:txBody>
                    <a:bodyPr/>
                    <a:lstStyle/>
                    <a:p>
                      <a:pPr algn="r"/>
                      <a:r>
                        <a:rPr lang="en-US" sz="1800" dirty="0"/>
                        <a:t>1 839 600</a:t>
                      </a:r>
                      <a:endParaRPr lang="en-ZA" sz="1800" dirty="0"/>
                    </a:p>
                  </a:txBody>
                  <a:tcPr/>
                </a:tc>
                <a:tc>
                  <a:txBody>
                    <a:bodyPr/>
                    <a:lstStyle/>
                    <a:p>
                      <a:pPr algn="r"/>
                      <a:r>
                        <a:rPr lang="en-US" sz="1800" dirty="0"/>
                        <a:t>2 715 600</a:t>
                      </a:r>
                      <a:endParaRPr lang="en-ZA" sz="1800" dirty="0"/>
                    </a:p>
                  </a:txBody>
                  <a:tcPr/>
                </a:tc>
                <a:extLst>
                  <a:ext uri="{0D108BD9-81ED-4DB2-BD59-A6C34878D82A}">
                    <a16:rowId xmlns:a16="http://schemas.microsoft.com/office/drawing/2014/main" val="1049295116"/>
                  </a:ext>
                </a:extLst>
              </a:tr>
              <a:tr h="406413">
                <a:tc>
                  <a:txBody>
                    <a:bodyPr/>
                    <a:lstStyle/>
                    <a:p>
                      <a:r>
                        <a:rPr lang="en-US" sz="1800" dirty="0"/>
                        <a:t>Earnings per share (EPS)</a:t>
                      </a:r>
                      <a:endParaRPr lang="en-ZA" sz="1800" dirty="0"/>
                    </a:p>
                  </a:txBody>
                  <a:tcPr/>
                </a:tc>
                <a:tc>
                  <a:txBody>
                    <a:bodyPr/>
                    <a:lstStyle/>
                    <a:p>
                      <a:pPr algn="r"/>
                      <a:r>
                        <a:rPr lang="en-US" sz="1800" dirty="0"/>
                        <a:t>R2.41</a:t>
                      </a:r>
                      <a:endParaRPr lang="en-ZA" sz="1800" dirty="0"/>
                    </a:p>
                  </a:txBody>
                  <a:tcPr/>
                </a:tc>
                <a:tc>
                  <a:txBody>
                    <a:bodyPr/>
                    <a:lstStyle/>
                    <a:p>
                      <a:pPr algn="r"/>
                      <a:r>
                        <a:rPr lang="en-US" sz="1800" dirty="0"/>
                        <a:t>R4.60</a:t>
                      </a:r>
                      <a:endParaRPr lang="en-ZA" sz="1800" dirty="0"/>
                    </a:p>
                  </a:txBody>
                  <a:tcPr/>
                </a:tc>
                <a:tc>
                  <a:txBody>
                    <a:bodyPr/>
                    <a:lstStyle/>
                    <a:p>
                      <a:pPr algn="r"/>
                      <a:r>
                        <a:rPr lang="en-US" sz="1800" dirty="0"/>
                        <a:t>R6.79</a:t>
                      </a:r>
                      <a:endParaRPr lang="en-ZA" sz="1800" dirty="0"/>
                    </a:p>
                  </a:txBody>
                  <a:tcPr/>
                </a:tc>
                <a:extLst>
                  <a:ext uri="{0D108BD9-81ED-4DB2-BD59-A6C34878D82A}">
                    <a16:rowId xmlns:a16="http://schemas.microsoft.com/office/drawing/2014/main" val="818995423"/>
                  </a:ext>
                </a:extLst>
              </a:tr>
              <a:tr h="406413">
                <a:tc>
                  <a:txBody>
                    <a:bodyPr/>
                    <a:lstStyle/>
                    <a:p>
                      <a:r>
                        <a:rPr lang="en-US" sz="1800" dirty="0"/>
                        <a:t>Expected EPS</a:t>
                      </a:r>
                      <a:endParaRPr lang="en-ZA" sz="1800" dirty="0"/>
                    </a:p>
                  </a:txBody>
                  <a:tcPr/>
                </a:tc>
                <a:tc gridSpan="3">
                  <a:txBody>
                    <a:bodyPr/>
                    <a:lstStyle/>
                    <a:p>
                      <a:pPr algn="l"/>
                      <a:r>
                        <a:rPr lang="en-US" sz="1800" baseline="-25000" dirty="0"/>
                        <a:t>     N</a:t>
                      </a:r>
                    </a:p>
                    <a:p>
                      <a:pPr algn="l"/>
                      <a:r>
                        <a:rPr lang="en-US" sz="1800" baseline="0" dirty="0"/>
                        <a:t>= </a:t>
                      </a:r>
                      <a:r>
                        <a:rPr lang="el-GR" sz="1800" baseline="0" dirty="0"/>
                        <a:t>Σ</a:t>
                      </a:r>
                      <a:r>
                        <a:rPr lang="en-US" sz="1800" baseline="0" dirty="0" err="1"/>
                        <a:t>EPS</a:t>
                      </a:r>
                      <a:r>
                        <a:rPr lang="en-US" sz="1800" baseline="-25000" dirty="0" err="1"/>
                        <a:t>t</a:t>
                      </a:r>
                      <a:r>
                        <a:rPr lang="en-US" sz="1800" baseline="0" dirty="0"/>
                        <a:t> x P</a:t>
                      </a:r>
                      <a:r>
                        <a:rPr lang="en-US" sz="1800" baseline="-25000" dirty="0"/>
                        <a:t>t</a:t>
                      </a:r>
                    </a:p>
                    <a:p>
                      <a:pPr algn="l"/>
                      <a:r>
                        <a:rPr lang="en-US" sz="1800" baseline="30000" dirty="0"/>
                        <a:t>    t=1</a:t>
                      </a:r>
                    </a:p>
                    <a:p>
                      <a:pPr algn="l"/>
                      <a:r>
                        <a:rPr lang="en-US" sz="1800" baseline="0" dirty="0"/>
                        <a:t>=(0.2 x R2.41) + (0.6 x R4.60) + (0.2 x R6.79) = </a:t>
                      </a:r>
                      <a:r>
                        <a:rPr lang="en-US" sz="1800" b="1" kern="1200" baseline="0" dirty="0">
                          <a:solidFill>
                            <a:srgbClr val="990000"/>
                          </a:solidFill>
                          <a:latin typeface="+mn-lt"/>
                          <a:ea typeface="+mn-ea"/>
                          <a:cs typeface="+mn-cs"/>
                        </a:rPr>
                        <a:t>R4.60</a:t>
                      </a:r>
                      <a:endParaRPr lang="en-ZA" sz="1800" b="1" kern="1200" baseline="0" dirty="0">
                        <a:solidFill>
                          <a:srgbClr val="990000"/>
                        </a:solidFill>
                        <a:latin typeface="+mn-lt"/>
                        <a:ea typeface="+mn-ea"/>
                        <a:cs typeface="+mn-cs"/>
                      </a:endParaRPr>
                    </a:p>
                  </a:txBody>
                  <a:tcPr/>
                </a:tc>
                <a:tc hMerge="1">
                  <a:txBody>
                    <a:bodyPr/>
                    <a:lstStyle/>
                    <a:p>
                      <a:pPr algn="r"/>
                      <a:endParaRPr lang="en-ZA" sz="1800" dirty="0"/>
                    </a:p>
                  </a:txBody>
                  <a:tcPr/>
                </a:tc>
                <a:tc hMerge="1">
                  <a:txBody>
                    <a:bodyPr/>
                    <a:lstStyle/>
                    <a:p>
                      <a:pPr algn="r"/>
                      <a:endParaRPr lang="en-ZA" sz="1800" dirty="0"/>
                    </a:p>
                  </a:txBody>
                  <a:tcPr/>
                </a:tc>
                <a:extLst>
                  <a:ext uri="{0D108BD9-81ED-4DB2-BD59-A6C34878D82A}">
                    <a16:rowId xmlns:a16="http://schemas.microsoft.com/office/drawing/2014/main" val="3275593972"/>
                  </a:ext>
                </a:extLst>
              </a:tr>
            </a:tbl>
          </a:graphicData>
        </a:graphic>
      </p:graphicFrame>
    </p:spTree>
    <p:custDataLst>
      <p:tags r:id="rId1"/>
    </p:custDataLst>
    <p:extLst>
      <p:ext uri="{BB962C8B-B14F-4D97-AF65-F5344CB8AC3E}">
        <p14:creationId xmlns:p14="http://schemas.microsoft.com/office/powerpoint/2010/main" val="4255253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14</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40% debt ratio</a:t>
            </a:r>
          </a:p>
        </p:txBody>
      </p:sp>
      <p:graphicFrame>
        <p:nvGraphicFramePr>
          <p:cNvPr id="6" name="Table 5">
            <a:extLst>
              <a:ext uri="{FF2B5EF4-FFF2-40B4-BE49-F238E27FC236}">
                <a16:creationId xmlns:a16="http://schemas.microsoft.com/office/drawing/2014/main" id="{926544B0-5E83-E698-256A-BF303CAAAEA8}"/>
              </a:ext>
            </a:extLst>
          </p:cNvPr>
          <p:cNvGraphicFramePr>
            <a:graphicFrameLocks noGrp="1"/>
          </p:cNvGraphicFramePr>
          <p:nvPr>
            <p:extLst>
              <p:ext uri="{D42A27DB-BD31-4B8C-83A1-F6EECF244321}">
                <p14:modId xmlns:p14="http://schemas.microsoft.com/office/powerpoint/2010/main" val="4272796272"/>
              </p:ext>
            </p:extLst>
          </p:nvPr>
        </p:nvGraphicFramePr>
        <p:xfrm>
          <a:off x="135599" y="2001429"/>
          <a:ext cx="8856000" cy="4084398"/>
        </p:xfrm>
        <a:graphic>
          <a:graphicData uri="http://schemas.openxmlformats.org/drawingml/2006/table">
            <a:tbl>
              <a:tblPr firstRow="1" bandRow="1">
                <a:tableStyleId>{5C22544A-7EE6-4342-B048-85BDC9FD1C3A}</a:tableStyleId>
              </a:tblPr>
              <a:tblGrid>
                <a:gridCol w="2765661">
                  <a:extLst>
                    <a:ext uri="{9D8B030D-6E8A-4147-A177-3AD203B41FA5}">
                      <a16:colId xmlns:a16="http://schemas.microsoft.com/office/drawing/2014/main" val="2094799449"/>
                    </a:ext>
                  </a:extLst>
                </a:gridCol>
                <a:gridCol w="2030113">
                  <a:extLst>
                    <a:ext uri="{9D8B030D-6E8A-4147-A177-3AD203B41FA5}">
                      <a16:colId xmlns:a16="http://schemas.microsoft.com/office/drawing/2014/main" val="229568527"/>
                    </a:ext>
                  </a:extLst>
                </a:gridCol>
                <a:gridCol w="2030113">
                  <a:extLst>
                    <a:ext uri="{9D8B030D-6E8A-4147-A177-3AD203B41FA5}">
                      <a16:colId xmlns:a16="http://schemas.microsoft.com/office/drawing/2014/main" val="1443225844"/>
                    </a:ext>
                  </a:extLst>
                </a:gridCol>
                <a:gridCol w="2030113">
                  <a:extLst>
                    <a:ext uri="{9D8B030D-6E8A-4147-A177-3AD203B41FA5}">
                      <a16:colId xmlns:a16="http://schemas.microsoft.com/office/drawing/2014/main" val="1671910586"/>
                    </a:ext>
                  </a:extLst>
                </a:gridCol>
              </a:tblGrid>
              <a:tr h="406413">
                <a:tc>
                  <a:txBody>
                    <a:bodyPr/>
                    <a:lstStyle/>
                    <a:p>
                      <a:r>
                        <a:rPr lang="en-US" sz="1800" dirty="0"/>
                        <a:t>Probability of EBIT</a:t>
                      </a:r>
                      <a:endParaRPr lang="en-ZA" sz="1800" dirty="0"/>
                    </a:p>
                  </a:txBody>
                  <a:tcPr/>
                </a:tc>
                <a:tc>
                  <a:txBody>
                    <a:bodyPr/>
                    <a:lstStyle/>
                    <a:p>
                      <a:pPr algn="ctr"/>
                      <a:r>
                        <a:rPr lang="en-US" sz="1800" dirty="0"/>
                        <a:t>0.2</a:t>
                      </a:r>
                    </a:p>
                    <a:p>
                      <a:pPr algn="ctr"/>
                      <a:r>
                        <a:rPr lang="en-US" sz="1800" dirty="0"/>
                        <a:t>(Recession)</a:t>
                      </a:r>
                      <a:endParaRPr lang="en-ZA" sz="1800" dirty="0"/>
                    </a:p>
                  </a:txBody>
                  <a:tcPr/>
                </a:tc>
                <a:tc>
                  <a:txBody>
                    <a:bodyPr/>
                    <a:lstStyle/>
                    <a:p>
                      <a:pPr algn="ctr"/>
                      <a:r>
                        <a:rPr lang="en-US" sz="1800" dirty="0"/>
                        <a:t>0.6</a:t>
                      </a:r>
                    </a:p>
                    <a:p>
                      <a:pPr algn="ctr"/>
                      <a:r>
                        <a:rPr lang="en-US" sz="1800" dirty="0"/>
                        <a:t>(Normal)</a:t>
                      </a:r>
                      <a:endParaRPr lang="en-ZA" sz="1800" dirty="0"/>
                    </a:p>
                  </a:txBody>
                  <a:tcPr/>
                </a:tc>
                <a:tc>
                  <a:txBody>
                    <a:bodyPr/>
                    <a:lstStyle/>
                    <a:p>
                      <a:pPr algn="ctr"/>
                      <a:r>
                        <a:rPr lang="en-US" sz="1800" dirty="0"/>
                        <a:t>0.2</a:t>
                      </a:r>
                    </a:p>
                    <a:p>
                      <a:pPr algn="ctr"/>
                      <a:r>
                        <a:rPr lang="en-US" sz="1800" dirty="0"/>
                        <a:t>(Boom)</a:t>
                      </a:r>
                      <a:endParaRPr lang="en-ZA" sz="1800" dirty="0"/>
                    </a:p>
                  </a:txBody>
                  <a:tcPr/>
                </a:tc>
                <a:extLst>
                  <a:ext uri="{0D108BD9-81ED-4DB2-BD59-A6C34878D82A}">
                    <a16:rowId xmlns:a16="http://schemas.microsoft.com/office/drawing/2014/main" val="3670925188"/>
                  </a:ext>
                </a:extLst>
              </a:tr>
              <a:tr h="406413">
                <a:tc>
                  <a:txBody>
                    <a:bodyPr/>
                    <a:lstStyle/>
                    <a:p>
                      <a:r>
                        <a:rPr lang="en-US" sz="1800" dirty="0"/>
                        <a:t>EBIT</a:t>
                      </a:r>
                      <a:endParaRPr lang="en-ZA" sz="1800" dirty="0"/>
                    </a:p>
                  </a:txBody>
                  <a:tcPr/>
                </a:tc>
                <a:tc>
                  <a:txBody>
                    <a:bodyPr/>
                    <a:lstStyle/>
                    <a:p>
                      <a:pPr algn="r"/>
                      <a:r>
                        <a:rPr lang="en-US" sz="1800" dirty="0"/>
                        <a:t>R1 400 00</a:t>
                      </a:r>
                      <a:endParaRPr lang="en-ZA" sz="1800" dirty="0"/>
                    </a:p>
                  </a:txBody>
                  <a:tcPr/>
                </a:tc>
                <a:tc>
                  <a:txBody>
                    <a:bodyPr/>
                    <a:lstStyle/>
                    <a:p>
                      <a:pPr algn="r"/>
                      <a:r>
                        <a:rPr lang="en-US" sz="1800" dirty="0"/>
                        <a:t>R2 600 000</a:t>
                      </a:r>
                      <a:endParaRPr lang="en-ZA" sz="1800" dirty="0"/>
                    </a:p>
                  </a:txBody>
                  <a:tcPr/>
                </a:tc>
                <a:tc>
                  <a:txBody>
                    <a:bodyPr/>
                    <a:lstStyle/>
                    <a:p>
                      <a:pPr algn="r"/>
                      <a:r>
                        <a:rPr lang="en-US" sz="1800" dirty="0"/>
                        <a:t>R3 800 000</a:t>
                      </a:r>
                      <a:endParaRPr lang="en-ZA" sz="1800" dirty="0"/>
                    </a:p>
                  </a:txBody>
                  <a:tcPr/>
                </a:tc>
                <a:extLst>
                  <a:ext uri="{0D108BD9-81ED-4DB2-BD59-A6C34878D82A}">
                    <a16:rowId xmlns:a16="http://schemas.microsoft.com/office/drawing/2014/main" val="3554167102"/>
                  </a:ext>
                </a:extLst>
              </a:tr>
              <a:tr h="406413">
                <a:tc>
                  <a:txBody>
                    <a:bodyPr/>
                    <a:lstStyle/>
                    <a:p>
                      <a:r>
                        <a:rPr lang="en-US" sz="1800" dirty="0"/>
                        <a:t>Less: Interest</a:t>
                      </a:r>
                      <a:endParaRPr lang="en-ZA" sz="1800" dirty="0"/>
                    </a:p>
                  </a:txBody>
                  <a:tcPr/>
                </a:tc>
                <a:tc>
                  <a:txBody>
                    <a:bodyPr/>
                    <a:lstStyle/>
                    <a:p>
                      <a:pPr algn="r"/>
                      <a:r>
                        <a:rPr lang="en-US" sz="1800" dirty="0"/>
                        <a:t>200 000</a:t>
                      </a:r>
                      <a:endParaRPr lang="en-ZA" sz="1800" dirty="0"/>
                    </a:p>
                  </a:txBody>
                  <a:tcPr/>
                </a:tc>
                <a:tc>
                  <a:txBody>
                    <a:bodyPr/>
                    <a:lstStyle/>
                    <a:p>
                      <a:pPr algn="r"/>
                      <a:r>
                        <a:rPr lang="en-US" sz="1800" dirty="0"/>
                        <a:t>200 000</a:t>
                      </a:r>
                      <a:endParaRPr lang="en-ZA" sz="1800" dirty="0"/>
                    </a:p>
                  </a:txBody>
                  <a:tcPr/>
                </a:tc>
                <a:tc>
                  <a:txBody>
                    <a:bodyPr/>
                    <a:lstStyle/>
                    <a:p>
                      <a:pPr algn="r"/>
                      <a:r>
                        <a:rPr lang="en-US" sz="1800" dirty="0"/>
                        <a:t>200 000</a:t>
                      </a:r>
                      <a:endParaRPr lang="en-ZA" sz="1800" dirty="0"/>
                    </a:p>
                  </a:txBody>
                  <a:tcPr/>
                </a:tc>
                <a:extLst>
                  <a:ext uri="{0D108BD9-81ED-4DB2-BD59-A6C34878D82A}">
                    <a16:rowId xmlns:a16="http://schemas.microsoft.com/office/drawing/2014/main" val="2618912740"/>
                  </a:ext>
                </a:extLst>
              </a:tr>
              <a:tr h="406413">
                <a:tc>
                  <a:txBody>
                    <a:bodyPr/>
                    <a:lstStyle/>
                    <a:p>
                      <a:r>
                        <a:rPr lang="en-US" sz="1800" dirty="0"/>
                        <a:t>EBT</a:t>
                      </a:r>
                      <a:endParaRPr lang="en-ZA" sz="1800" dirty="0"/>
                    </a:p>
                  </a:txBody>
                  <a:tcPr/>
                </a:tc>
                <a:tc>
                  <a:txBody>
                    <a:bodyPr/>
                    <a:lstStyle/>
                    <a:p>
                      <a:pPr algn="r"/>
                      <a:r>
                        <a:rPr lang="en-US" sz="1800" dirty="0"/>
                        <a:t>1 200 000</a:t>
                      </a:r>
                      <a:endParaRPr lang="en-ZA" sz="1800" dirty="0"/>
                    </a:p>
                  </a:txBody>
                  <a:tcPr/>
                </a:tc>
                <a:tc>
                  <a:txBody>
                    <a:bodyPr/>
                    <a:lstStyle/>
                    <a:p>
                      <a:pPr algn="r"/>
                      <a:r>
                        <a:rPr lang="en-US" sz="1800" dirty="0"/>
                        <a:t>2 400 000</a:t>
                      </a:r>
                      <a:endParaRPr lang="en-ZA" sz="1800" dirty="0"/>
                    </a:p>
                  </a:txBody>
                  <a:tcPr/>
                </a:tc>
                <a:tc>
                  <a:txBody>
                    <a:bodyPr/>
                    <a:lstStyle/>
                    <a:p>
                      <a:pPr algn="r"/>
                      <a:r>
                        <a:rPr lang="en-US" sz="1800" dirty="0"/>
                        <a:t>3 600 000</a:t>
                      </a:r>
                      <a:endParaRPr lang="en-ZA" sz="1800" dirty="0"/>
                    </a:p>
                  </a:txBody>
                  <a:tcPr/>
                </a:tc>
                <a:extLst>
                  <a:ext uri="{0D108BD9-81ED-4DB2-BD59-A6C34878D82A}">
                    <a16:rowId xmlns:a16="http://schemas.microsoft.com/office/drawing/2014/main" val="270723026"/>
                  </a:ext>
                </a:extLst>
              </a:tr>
              <a:tr h="406413">
                <a:tc>
                  <a:txBody>
                    <a:bodyPr/>
                    <a:lstStyle/>
                    <a:p>
                      <a:r>
                        <a:rPr lang="en-US" sz="1800" dirty="0"/>
                        <a:t>Less: Taxes (27%)</a:t>
                      </a:r>
                      <a:endParaRPr lang="en-ZA" sz="1800" dirty="0"/>
                    </a:p>
                  </a:txBody>
                  <a:tcPr/>
                </a:tc>
                <a:tc>
                  <a:txBody>
                    <a:bodyPr/>
                    <a:lstStyle/>
                    <a:p>
                      <a:pPr algn="r"/>
                      <a:r>
                        <a:rPr lang="en-US" sz="1800" dirty="0"/>
                        <a:t>324 000</a:t>
                      </a:r>
                      <a:endParaRPr lang="en-ZA" sz="1800" dirty="0"/>
                    </a:p>
                  </a:txBody>
                  <a:tcPr/>
                </a:tc>
                <a:tc>
                  <a:txBody>
                    <a:bodyPr/>
                    <a:lstStyle/>
                    <a:p>
                      <a:pPr algn="r"/>
                      <a:r>
                        <a:rPr lang="en-US" sz="1800" dirty="0"/>
                        <a:t>648 000</a:t>
                      </a:r>
                      <a:endParaRPr lang="en-ZA" sz="1800" dirty="0"/>
                    </a:p>
                  </a:txBody>
                  <a:tcPr/>
                </a:tc>
                <a:tc>
                  <a:txBody>
                    <a:bodyPr/>
                    <a:lstStyle/>
                    <a:p>
                      <a:pPr algn="r"/>
                      <a:r>
                        <a:rPr lang="en-US" sz="1800" dirty="0"/>
                        <a:t>972 000</a:t>
                      </a:r>
                      <a:endParaRPr lang="en-ZA" sz="1800" dirty="0"/>
                    </a:p>
                  </a:txBody>
                  <a:tcPr/>
                </a:tc>
                <a:extLst>
                  <a:ext uri="{0D108BD9-81ED-4DB2-BD59-A6C34878D82A}">
                    <a16:rowId xmlns:a16="http://schemas.microsoft.com/office/drawing/2014/main" val="2300705331"/>
                  </a:ext>
                </a:extLst>
              </a:tr>
              <a:tr h="406413">
                <a:tc>
                  <a:txBody>
                    <a:bodyPr/>
                    <a:lstStyle/>
                    <a:p>
                      <a:r>
                        <a:rPr lang="en-US" sz="1800" dirty="0"/>
                        <a:t>EAT</a:t>
                      </a:r>
                      <a:endParaRPr lang="en-ZA" sz="1800" dirty="0"/>
                    </a:p>
                  </a:txBody>
                  <a:tcPr/>
                </a:tc>
                <a:tc>
                  <a:txBody>
                    <a:bodyPr/>
                    <a:lstStyle/>
                    <a:p>
                      <a:pPr algn="r"/>
                      <a:r>
                        <a:rPr lang="en-US" sz="1800" dirty="0"/>
                        <a:t>876 000</a:t>
                      </a:r>
                      <a:endParaRPr lang="en-ZA" sz="1800" dirty="0"/>
                    </a:p>
                  </a:txBody>
                  <a:tcPr/>
                </a:tc>
                <a:tc>
                  <a:txBody>
                    <a:bodyPr/>
                    <a:lstStyle/>
                    <a:p>
                      <a:pPr algn="r"/>
                      <a:r>
                        <a:rPr lang="en-US" sz="1800" dirty="0"/>
                        <a:t>1 752 000</a:t>
                      </a:r>
                      <a:endParaRPr lang="en-ZA" sz="1800" dirty="0"/>
                    </a:p>
                  </a:txBody>
                  <a:tcPr/>
                </a:tc>
                <a:tc>
                  <a:txBody>
                    <a:bodyPr/>
                    <a:lstStyle/>
                    <a:p>
                      <a:pPr algn="r"/>
                      <a:r>
                        <a:rPr lang="en-US" sz="1800" dirty="0"/>
                        <a:t>2 628 000</a:t>
                      </a:r>
                      <a:endParaRPr lang="en-ZA" sz="1800" dirty="0"/>
                    </a:p>
                  </a:txBody>
                  <a:tcPr/>
                </a:tc>
                <a:extLst>
                  <a:ext uri="{0D108BD9-81ED-4DB2-BD59-A6C34878D82A}">
                    <a16:rowId xmlns:a16="http://schemas.microsoft.com/office/drawing/2014/main" val="1049295116"/>
                  </a:ext>
                </a:extLst>
              </a:tr>
              <a:tr h="406413">
                <a:tc>
                  <a:txBody>
                    <a:bodyPr/>
                    <a:lstStyle/>
                    <a:p>
                      <a:r>
                        <a:rPr lang="en-US" sz="1800" dirty="0"/>
                        <a:t>Earnings per share (EPS)</a:t>
                      </a:r>
                      <a:endParaRPr lang="en-ZA" sz="1800" dirty="0"/>
                    </a:p>
                  </a:txBody>
                  <a:tcPr/>
                </a:tc>
                <a:tc>
                  <a:txBody>
                    <a:bodyPr/>
                    <a:lstStyle/>
                    <a:p>
                      <a:pPr algn="r"/>
                      <a:r>
                        <a:rPr lang="en-US" sz="1800" dirty="0"/>
                        <a:t>R2.92</a:t>
                      </a:r>
                      <a:endParaRPr lang="en-ZA" sz="1800" dirty="0"/>
                    </a:p>
                  </a:txBody>
                  <a:tcPr/>
                </a:tc>
                <a:tc>
                  <a:txBody>
                    <a:bodyPr/>
                    <a:lstStyle/>
                    <a:p>
                      <a:pPr algn="r"/>
                      <a:r>
                        <a:rPr lang="en-US" sz="1800" dirty="0"/>
                        <a:t>R5.84</a:t>
                      </a:r>
                      <a:endParaRPr lang="en-ZA" sz="1800" dirty="0"/>
                    </a:p>
                  </a:txBody>
                  <a:tcPr/>
                </a:tc>
                <a:tc>
                  <a:txBody>
                    <a:bodyPr/>
                    <a:lstStyle/>
                    <a:p>
                      <a:pPr algn="r"/>
                      <a:r>
                        <a:rPr lang="en-US" sz="1800" dirty="0"/>
                        <a:t>R8.76</a:t>
                      </a:r>
                      <a:endParaRPr lang="en-ZA" sz="1800" dirty="0"/>
                    </a:p>
                  </a:txBody>
                  <a:tcPr/>
                </a:tc>
                <a:extLst>
                  <a:ext uri="{0D108BD9-81ED-4DB2-BD59-A6C34878D82A}">
                    <a16:rowId xmlns:a16="http://schemas.microsoft.com/office/drawing/2014/main" val="818995423"/>
                  </a:ext>
                </a:extLst>
              </a:tr>
              <a:tr h="406413">
                <a:tc>
                  <a:txBody>
                    <a:bodyPr/>
                    <a:lstStyle/>
                    <a:p>
                      <a:r>
                        <a:rPr lang="en-US" sz="1800" dirty="0"/>
                        <a:t>Expected EPS</a:t>
                      </a:r>
                      <a:endParaRPr lang="en-ZA" sz="1800" dirty="0"/>
                    </a:p>
                  </a:txBody>
                  <a:tcPr/>
                </a:tc>
                <a:tc gridSpan="3">
                  <a:txBody>
                    <a:bodyPr/>
                    <a:lstStyle/>
                    <a:p>
                      <a:pPr algn="l"/>
                      <a:r>
                        <a:rPr lang="en-US" sz="1800" baseline="-25000" dirty="0"/>
                        <a:t>     N</a:t>
                      </a:r>
                    </a:p>
                    <a:p>
                      <a:pPr algn="l"/>
                      <a:r>
                        <a:rPr lang="en-US" sz="1800" dirty="0"/>
                        <a:t>= </a:t>
                      </a:r>
                      <a:r>
                        <a:rPr lang="el-GR" sz="1800" dirty="0"/>
                        <a:t>Σ</a:t>
                      </a:r>
                      <a:r>
                        <a:rPr lang="en-US" sz="1800" dirty="0" err="1"/>
                        <a:t>EPS</a:t>
                      </a:r>
                      <a:r>
                        <a:rPr lang="en-US" sz="1800" baseline="-25000" dirty="0" err="1"/>
                        <a:t>t</a:t>
                      </a:r>
                      <a:r>
                        <a:rPr lang="en-US" sz="1800" dirty="0"/>
                        <a:t> x P</a:t>
                      </a:r>
                      <a:r>
                        <a:rPr lang="en-US" sz="1800" baseline="-25000" dirty="0"/>
                        <a:t>t</a:t>
                      </a:r>
                    </a:p>
                    <a:p>
                      <a:pPr algn="l"/>
                      <a:r>
                        <a:rPr lang="en-US" sz="1800" baseline="-25000" dirty="0"/>
                        <a:t>    </a:t>
                      </a:r>
                      <a:r>
                        <a:rPr lang="en-US" sz="1800" baseline="30000" dirty="0"/>
                        <a:t>t=1</a:t>
                      </a:r>
                    </a:p>
                    <a:p>
                      <a:pPr algn="l"/>
                      <a:r>
                        <a:rPr lang="en-US" sz="1800" dirty="0"/>
                        <a:t>=(0.2 x R2.92) + (0.6 x R5.84) + (0.2 x R8.76) = </a:t>
                      </a:r>
                      <a:r>
                        <a:rPr lang="en-US" sz="1800" b="1" kern="1200" dirty="0">
                          <a:solidFill>
                            <a:srgbClr val="990000"/>
                          </a:solidFill>
                          <a:latin typeface="+mn-lt"/>
                          <a:ea typeface="+mn-ea"/>
                          <a:cs typeface="+mn-cs"/>
                        </a:rPr>
                        <a:t>R5.84</a:t>
                      </a:r>
                      <a:endParaRPr lang="en-ZA" sz="1800" b="1" kern="1200" dirty="0">
                        <a:solidFill>
                          <a:srgbClr val="990000"/>
                        </a:solidFill>
                        <a:latin typeface="+mn-lt"/>
                        <a:ea typeface="+mn-ea"/>
                        <a:cs typeface="+mn-cs"/>
                      </a:endParaRPr>
                    </a:p>
                  </a:txBody>
                  <a:tcPr/>
                </a:tc>
                <a:tc hMerge="1">
                  <a:txBody>
                    <a:bodyPr/>
                    <a:lstStyle/>
                    <a:p>
                      <a:pPr algn="r"/>
                      <a:endParaRPr lang="en-ZA" sz="1800" dirty="0"/>
                    </a:p>
                  </a:txBody>
                  <a:tcPr/>
                </a:tc>
                <a:tc hMerge="1">
                  <a:txBody>
                    <a:bodyPr/>
                    <a:lstStyle/>
                    <a:p>
                      <a:pPr algn="r"/>
                      <a:endParaRPr lang="en-ZA" sz="1800" dirty="0"/>
                    </a:p>
                  </a:txBody>
                  <a:tcPr/>
                </a:tc>
                <a:extLst>
                  <a:ext uri="{0D108BD9-81ED-4DB2-BD59-A6C34878D82A}">
                    <a16:rowId xmlns:a16="http://schemas.microsoft.com/office/drawing/2014/main" val="3275593972"/>
                  </a:ext>
                </a:extLst>
              </a:tr>
            </a:tbl>
          </a:graphicData>
        </a:graphic>
      </p:graphicFrame>
    </p:spTree>
    <p:custDataLst>
      <p:tags r:id="rId1"/>
    </p:custDataLst>
    <p:extLst>
      <p:ext uri="{BB962C8B-B14F-4D97-AF65-F5344CB8AC3E}">
        <p14:creationId xmlns:p14="http://schemas.microsoft.com/office/powerpoint/2010/main" val="884624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15</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60% debt ratio</a:t>
            </a:r>
          </a:p>
        </p:txBody>
      </p:sp>
      <p:graphicFrame>
        <p:nvGraphicFramePr>
          <p:cNvPr id="6" name="Table 5">
            <a:extLst>
              <a:ext uri="{FF2B5EF4-FFF2-40B4-BE49-F238E27FC236}">
                <a16:creationId xmlns:a16="http://schemas.microsoft.com/office/drawing/2014/main" id="{926544B0-5E83-E698-256A-BF303CAAAEA8}"/>
              </a:ext>
            </a:extLst>
          </p:cNvPr>
          <p:cNvGraphicFramePr>
            <a:graphicFrameLocks noGrp="1"/>
          </p:cNvGraphicFramePr>
          <p:nvPr>
            <p:extLst>
              <p:ext uri="{D42A27DB-BD31-4B8C-83A1-F6EECF244321}">
                <p14:modId xmlns:p14="http://schemas.microsoft.com/office/powerpoint/2010/main" val="3182827477"/>
              </p:ext>
            </p:extLst>
          </p:nvPr>
        </p:nvGraphicFramePr>
        <p:xfrm>
          <a:off x="135599" y="2001429"/>
          <a:ext cx="8856000" cy="4358718"/>
        </p:xfrm>
        <a:graphic>
          <a:graphicData uri="http://schemas.openxmlformats.org/drawingml/2006/table">
            <a:tbl>
              <a:tblPr firstRow="1" bandRow="1">
                <a:tableStyleId>{5C22544A-7EE6-4342-B048-85BDC9FD1C3A}</a:tableStyleId>
              </a:tblPr>
              <a:tblGrid>
                <a:gridCol w="2765661">
                  <a:extLst>
                    <a:ext uri="{9D8B030D-6E8A-4147-A177-3AD203B41FA5}">
                      <a16:colId xmlns:a16="http://schemas.microsoft.com/office/drawing/2014/main" val="2094799449"/>
                    </a:ext>
                  </a:extLst>
                </a:gridCol>
                <a:gridCol w="2030113">
                  <a:extLst>
                    <a:ext uri="{9D8B030D-6E8A-4147-A177-3AD203B41FA5}">
                      <a16:colId xmlns:a16="http://schemas.microsoft.com/office/drawing/2014/main" val="229568527"/>
                    </a:ext>
                  </a:extLst>
                </a:gridCol>
                <a:gridCol w="2030113">
                  <a:extLst>
                    <a:ext uri="{9D8B030D-6E8A-4147-A177-3AD203B41FA5}">
                      <a16:colId xmlns:a16="http://schemas.microsoft.com/office/drawing/2014/main" val="1443225844"/>
                    </a:ext>
                  </a:extLst>
                </a:gridCol>
                <a:gridCol w="2030113">
                  <a:extLst>
                    <a:ext uri="{9D8B030D-6E8A-4147-A177-3AD203B41FA5}">
                      <a16:colId xmlns:a16="http://schemas.microsoft.com/office/drawing/2014/main" val="1671910586"/>
                    </a:ext>
                  </a:extLst>
                </a:gridCol>
              </a:tblGrid>
              <a:tr h="406413">
                <a:tc>
                  <a:txBody>
                    <a:bodyPr/>
                    <a:lstStyle/>
                    <a:p>
                      <a:r>
                        <a:rPr lang="en-US" sz="1800" dirty="0"/>
                        <a:t>Probability of EBIT</a:t>
                      </a:r>
                      <a:endParaRPr lang="en-ZA" sz="1800" dirty="0"/>
                    </a:p>
                  </a:txBody>
                  <a:tcPr/>
                </a:tc>
                <a:tc>
                  <a:txBody>
                    <a:bodyPr/>
                    <a:lstStyle/>
                    <a:p>
                      <a:pPr algn="ctr"/>
                      <a:r>
                        <a:rPr lang="en-US" sz="1800" dirty="0"/>
                        <a:t>0.2</a:t>
                      </a:r>
                    </a:p>
                    <a:p>
                      <a:pPr algn="ctr"/>
                      <a:r>
                        <a:rPr lang="en-US" sz="1800" dirty="0"/>
                        <a:t>(Recession)</a:t>
                      </a:r>
                      <a:endParaRPr lang="en-ZA" sz="1800" dirty="0"/>
                    </a:p>
                  </a:txBody>
                  <a:tcPr/>
                </a:tc>
                <a:tc>
                  <a:txBody>
                    <a:bodyPr/>
                    <a:lstStyle/>
                    <a:p>
                      <a:pPr algn="ctr"/>
                      <a:r>
                        <a:rPr lang="en-US" sz="1800" dirty="0"/>
                        <a:t>0.6</a:t>
                      </a:r>
                    </a:p>
                    <a:p>
                      <a:pPr algn="ctr"/>
                      <a:r>
                        <a:rPr lang="en-US" sz="1800" dirty="0"/>
                        <a:t>(Normal)</a:t>
                      </a:r>
                      <a:endParaRPr lang="en-ZA" sz="1800" dirty="0"/>
                    </a:p>
                  </a:txBody>
                  <a:tcPr/>
                </a:tc>
                <a:tc>
                  <a:txBody>
                    <a:bodyPr/>
                    <a:lstStyle/>
                    <a:p>
                      <a:pPr algn="ctr"/>
                      <a:r>
                        <a:rPr lang="en-US" sz="1800" dirty="0"/>
                        <a:t>0.2</a:t>
                      </a:r>
                    </a:p>
                    <a:p>
                      <a:pPr algn="ctr"/>
                      <a:r>
                        <a:rPr lang="en-US" sz="1800" dirty="0"/>
                        <a:t>(Boom)</a:t>
                      </a:r>
                      <a:endParaRPr lang="en-ZA" sz="1800" dirty="0"/>
                    </a:p>
                  </a:txBody>
                  <a:tcPr/>
                </a:tc>
                <a:extLst>
                  <a:ext uri="{0D108BD9-81ED-4DB2-BD59-A6C34878D82A}">
                    <a16:rowId xmlns:a16="http://schemas.microsoft.com/office/drawing/2014/main" val="3670925188"/>
                  </a:ext>
                </a:extLst>
              </a:tr>
              <a:tr h="406413">
                <a:tc>
                  <a:txBody>
                    <a:bodyPr/>
                    <a:lstStyle/>
                    <a:p>
                      <a:r>
                        <a:rPr lang="en-US" sz="1800" dirty="0"/>
                        <a:t>EBIT</a:t>
                      </a:r>
                      <a:endParaRPr lang="en-ZA" sz="1800" dirty="0"/>
                    </a:p>
                  </a:txBody>
                  <a:tcPr/>
                </a:tc>
                <a:tc>
                  <a:txBody>
                    <a:bodyPr/>
                    <a:lstStyle/>
                    <a:p>
                      <a:pPr algn="r"/>
                      <a:r>
                        <a:rPr lang="en-US" sz="1800" dirty="0"/>
                        <a:t>R1 400 00</a:t>
                      </a:r>
                      <a:endParaRPr lang="en-ZA" sz="1800" dirty="0"/>
                    </a:p>
                  </a:txBody>
                  <a:tcPr/>
                </a:tc>
                <a:tc>
                  <a:txBody>
                    <a:bodyPr/>
                    <a:lstStyle/>
                    <a:p>
                      <a:pPr algn="r"/>
                      <a:r>
                        <a:rPr lang="en-US" sz="1800" dirty="0"/>
                        <a:t>R2 600 000</a:t>
                      </a:r>
                      <a:endParaRPr lang="en-ZA" sz="1800" dirty="0"/>
                    </a:p>
                  </a:txBody>
                  <a:tcPr/>
                </a:tc>
                <a:tc>
                  <a:txBody>
                    <a:bodyPr/>
                    <a:lstStyle/>
                    <a:p>
                      <a:pPr algn="r"/>
                      <a:r>
                        <a:rPr lang="en-US" sz="1800" dirty="0"/>
                        <a:t>R3 800 000</a:t>
                      </a:r>
                      <a:endParaRPr lang="en-ZA" sz="1800" dirty="0"/>
                    </a:p>
                  </a:txBody>
                  <a:tcPr/>
                </a:tc>
                <a:extLst>
                  <a:ext uri="{0D108BD9-81ED-4DB2-BD59-A6C34878D82A}">
                    <a16:rowId xmlns:a16="http://schemas.microsoft.com/office/drawing/2014/main" val="3554167102"/>
                  </a:ext>
                </a:extLst>
              </a:tr>
              <a:tr h="406413">
                <a:tc>
                  <a:txBody>
                    <a:bodyPr/>
                    <a:lstStyle/>
                    <a:p>
                      <a:r>
                        <a:rPr lang="en-US" sz="1800" dirty="0"/>
                        <a:t>Less: Interest</a:t>
                      </a:r>
                      <a:endParaRPr lang="en-ZA" sz="1800" dirty="0"/>
                    </a:p>
                  </a:txBody>
                  <a:tcPr/>
                </a:tc>
                <a:tc>
                  <a:txBody>
                    <a:bodyPr/>
                    <a:lstStyle/>
                    <a:p>
                      <a:pPr algn="r"/>
                      <a:r>
                        <a:rPr lang="en-US" sz="1800" dirty="0"/>
                        <a:t>360 000</a:t>
                      </a:r>
                      <a:endParaRPr lang="en-ZA" sz="1800" dirty="0"/>
                    </a:p>
                  </a:txBody>
                  <a:tcPr/>
                </a:tc>
                <a:tc>
                  <a:txBody>
                    <a:bodyPr/>
                    <a:lstStyle/>
                    <a:p>
                      <a:pPr algn="r"/>
                      <a:r>
                        <a:rPr lang="en-US" sz="1800" dirty="0"/>
                        <a:t>360 000</a:t>
                      </a:r>
                      <a:endParaRPr lang="en-ZA" sz="1800" dirty="0"/>
                    </a:p>
                  </a:txBody>
                  <a:tcPr/>
                </a:tc>
                <a:tc>
                  <a:txBody>
                    <a:bodyPr/>
                    <a:lstStyle/>
                    <a:p>
                      <a:pPr algn="r"/>
                      <a:r>
                        <a:rPr lang="en-US" sz="1800" dirty="0"/>
                        <a:t>360 000</a:t>
                      </a:r>
                      <a:endParaRPr lang="en-ZA" sz="1800" dirty="0"/>
                    </a:p>
                  </a:txBody>
                  <a:tcPr/>
                </a:tc>
                <a:extLst>
                  <a:ext uri="{0D108BD9-81ED-4DB2-BD59-A6C34878D82A}">
                    <a16:rowId xmlns:a16="http://schemas.microsoft.com/office/drawing/2014/main" val="2618912740"/>
                  </a:ext>
                </a:extLst>
              </a:tr>
              <a:tr h="406413">
                <a:tc>
                  <a:txBody>
                    <a:bodyPr/>
                    <a:lstStyle/>
                    <a:p>
                      <a:r>
                        <a:rPr lang="en-US" sz="1800" dirty="0"/>
                        <a:t>EBT</a:t>
                      </a:r>
                      <a:endParaRPr lang="en-ZA" sz="1800" dirty="0"/>
                    </a:p>
                  </a:txBody>
                  <a:tcPr/>
                </a:tc>
                <a:tc>
                  <a:txBody>
                    <a:bodyPr/>
                    <a:lstStyle/>
                    <a:p>
                      <a:pPr algn="r"/>
                      <a:r>
                        <a:rPr lang="en-US" sz="1800" dirty="0"/>
                        <a:t>1 040 000</a:t>
                      </a:r>
                      <a:endParaRPr lang="en-ZA" sz="1800" dirty="0"/>
                    </a:p>
                  </a:txBody>
                  <a:tcPr/>
                </a:tc>
                <a:tc>
                  <a:txBody>
                    <a:bodyPr/>
                    <a:lstStyle/>
                    <a:p>
                      <a:pPr algn="r"/>
                      <a:r>
                        <a:rPr lang="en-US" sz="1800" dirty="0"/>
                        <a:t>2 240 000</a:t>
                      </a:r>
                      <a:endParaRPr lang="en-ZA" sz="1800" dirty="0"/>
                    </a:p>
                  </a:txBody>
                  <a:tcPr/>
                </a:tc>
                <a:tc>
                  <a:txBody>
                    <a:bodyPr/>
                    <a:lstStyle/>
                    <a:p>
                      <a:pPr algn="r"/>
                      <a:r>
                        <a:rPr lang="en-US" sz="1800" dirty="0"/>
                        <a:t>3 440 000</a:t>
                      </a:r>
                      <a:endParaRPr lang="en-ZA" sz="1800" dirty="0"/>
                    </a:p>
                  </a:txBody>
                  <a:tcPr/>
                </a:tc>
                <a:extLst>
                  <a:ext uri="{0D108BD9-81ED-4DB2-BD59-A6C34878D82A}">
                    <a16:rowId xmlns:a16="http://schemas.microsoft.com/office/drawing/2014/main" val="270723026"/>
                  </a:ext>
                </a:extLst>
              </a:tr>
              <a:tr h="406413">
                <a:tc>
                  <a:txBody>
                    <a:bodyPr/>
                    <a:lstStyle/>
                    <a:p>
                      <a:r>
                        <a:rPr lang="en-US" sz="1800" dirty="0"/>
                        <a:t>Less: Taxes (27%)</a:t>
                      </a:r>
                      <a:endParaRPr lang="en-ZA" sz="1800" dirty="0"/>
                    </a:p>
                  </a:txBody>
                  <a:tcPr/>
                </a:tc>
                <a:tc>
                  <a:txBody>
                    <a:bodyPr/>
                    <a:lstStyle/>
                    <a:p>
                      <a:pPr algn="r"/>
                      <a:r>
                        <a:rPr lang="en-US" sz="1800" dirty="0"/>
                        <a:t>280 000</a:t>
                      </a:r>
                      <a:endParaRPr lang="en-ZA" sz="1800" dirty="0"/>
                    </a:p>
                  </a:txBody>
                  <a:tcPr/>
                </a:tc>
                <a:tc>
                  <a:txBody>
                    <a:bodyPr/>
                    <a:lstStyle/>
                    <a:p>
                      <a:pPr algn="r"/>
                      <a:r>
                        <a:rPr lang="en-US" sz="1800" dirty="0"/>
                        <a:t>604 800</a:t>
                      </a:r>
                      <a:endParaRPr lang="en-ZA" sz="1800" dirty="0"/>
                    </a:p>
                  </a:txBody>
                  <a:tcPr/>
                </a:tc>
                <a:tc>
                  <a:txBody>
                    <a:bodyPr/>
                    <a:lstStyle/>
                    <a:p>
                      <a:pPr algn="r"/>
                      <a:r>
                        <a:rPr lang="en-US" sz="1800" dirty="0"/>
                        <a:t>928 800</a:t>
                      </a:r>
                      <a:endParaRPr lang="en-ZA" sz="1800" dirty="0"/>
                    </a:p>
                  </a:txBody>
                  <a:tcPr/>
                </a:tc>
                <a:extLst>
                  <a:ext uri="{0D108BD9-81ED-4DB2-BD59-A6C34878D82A}">
                    <a16:rowId xmlns:a16="http://schemas.microsoft.com/office/drawing/2014/main" val="2300705331"/>
                  </a:ext>
                </a:extLst>
              </a:tr>
              <a:tr h="406413">
                <a:tc>
                  <a:txBody>
                    <a:bodyPr/>
                    <a:lstStyle/>
                    <a:p>
                      <a:r>
                        <a:rPr lang="en-US" sz="1800" dirty="0"/>
                        <a:t>EAT</a:t>
                      </a:r>
                      <a:endParaRPr lang="en-ZA" sz="1800" dirty="0"/>
                    </a:p>
                  </a:txBody>
                  <a:tcPr/>
                </a:tc>
                <a:tc>
                  <a:txBody>
                    <a:bodyPr/>
                    <a:lstStyle/>
                    <a:p>
                      <a:pPr algn="r"/>
                      <a:r>
                        <a:rPr lang="en-US" sz="1800" dirty="0"/>
                        <a:t>759 200</a:t>
                      </a:r>
                      <a:endParaRPr lang="en-ZA" sz="1800" dirty="0"/>
                    </a:p>
                  </a:txBody>
                  <a:tcPr/>
                </a:tc>
                <a:tc>
                  <a:txBody>
                    <a:bodyPr/>
                    <a:lstStyle/>
                    <a:p>
                      <a:pPr algn="r"/>
                      <a:r>
                        <a:rPr lang="en-US" sz="1800" dirty="0"/>
                        <a:t>1 635 200</a:t>
                      </a:r>
                      <a:endParaRPr lang="en-ZA" sz="1800" dirty="0"/>
                    </a:p>
                  </a:txBody>
                  <a:tcPr/>
                </a:tc>
                <a:tc>
                  <a:txBody>
                    <a:bodyPr/>
                    <a:lstStyle/>
                    <a:p>
                      <a:pPr algn="r"/>
                      <a:r>
                        <a:rPr lang="en-US" sz="1800" dirty="0"/>
                        <a:t>2 511 200</a:t>
                      </a:r>
                      <a:endParaRPr lang="en-ZA" sz="1800" dirty="0"/>
                    </a:p>
                  </a:txBody>
                  <a:tcPr/>
                </a:tc>
                <a:extLst>
                  <a:ext uri="{0D108BD9-81ED-4DB2-BD59-A6C34878D82A}">
                    <a16:rowId xmlns:a16="http://schemas.microsoft.com/office/drawing/2014/main" val="1049295116"/>
                  </a:ext>
                </a:extLst>
              </a:tr>
              <a:tr h="406413">
                <a:tc>
                  <a:txBody>
                    <a:bodyPr/>
                    <a:lstStyle/>
                    <a:p>
                      <a:r>
                        <a:rPr lang="en-US" sz="1800" dirty="0"/>
                        <a:t>Earnings per share (EPS)</a:t>
                      </a:r>
                      <a:endParaRPr lang="en-ZA" sz="1800" dirty="0"/>
                    </a:p>
                  </a:txBody>
                  <a:tcPr/>
                </a:tc>
                <a:tc>
                  <a:txBody>
                    <a:bodyPr/>
                    <a:lstStyle/>
                    <a:p>
                      <a:pPr algn="r"/>
                      <a:r>
                        <a:rPr lang="en-US" sz="1800" dirty="0"/>
                        <a:t>R3.80</a:t>
                      </a:r>
                      <a:endParaRPr lang="en-ZA" sz="1800" dirty="0"/>
                    </a:p>
                  </a:txBody>
                  <a:tcPr/>
                </a:tc>
                <a:tc>
                  <a:txBody>
                    <a:bodyPr/>
                    <a:lstStyle/>
                    <a:p>
                      <a:pPr algn="r"/>
                      <a:r>
                        <a:rPr lang="en-US" sz="1800" dirty="0"/>
                        <a:t>R8.18</a:t>
                      </a:r>
                      <a:endParaRPr lang="en-ZA" sz="1800" dirty="0"/>
                    </a:p>
                  </a:txBody>
                  <a:tcPr/>
                </a:tc>
                <a:tc>
                  <a:txBody>
                    <a:bodyPr/>
                    <a:lstStyle/>
                    <a:p>
                      <a:pPr algn="r"/>
                      <a:r>
                        <a:rPr lang="en-US" sz="1800" dirty="0"/>
                        <a:t>R12.56</a:t>
                      </a:r>
                      <a:endParaRPr lang="en-ZA" sz="1800" dirty="0"/>
                    </a:p>
                  </a:txBody>
                  <a:tcPr/>
                </a:tc>
                <a:extLst>
                  <a:ext uri="{0D108BD9-81ED-4DB2-BD59-A6C34878D82A}">
                    <a16:rowId xmlns:a16="http://schemas.microsoft.com/office/drawing/2014/main" val="818995423"/>
                  </a:ext>
                </a:extLst>
              </a:tr>
              <a:tr h="406413">
                <a:tc>
                  <a:txBody>
                    <a:bodyPr/>
                    <a:lstStyle/>
                    <a:p>
                      <a:r>
                        <a:rPr lang="en-US" sz="1800" dirty="0"/>
                        <a:t>Expected EPS</a:t>
                      </a:r>
                      <a:endParaRPr lang="en-ZA" sz="1800" dirty="0"/>
                    </a:p>
                  </a:txBody>
                  <a:tcPr/>
                </a:tc>
                <a:tc gridSpan="3">
                  <a:txBody>
                    <a:bodyPr/>
                    <a:lstStyle/>
                    <a:p>
                      <a:pPr algn="l"/>
                      <a:r>
                        <a:rPr lang="en-US" sz="1800" baseline="-25000" dirty="0"/>
                        <a:t>     N</a:t>
                      </a:r>
                    </a:p>
                    <a:p>
                      <a:pPr algn="l"/>
                      <a:r>
                        <a:rPr lang="en-US" sz="1800" dirty="0"/>
                        <a:t>= </a:t>
                      </a:r>
                      <a:r>
                        <a:rPr lang="el-GR" sz="1800" dirty="0"/>
                        <a:t>Σ</a:t>
                      </a:r>
                      <a:r>
                        <a:rPr lang="en-US" sz="1800" dirty="0" err="1"/>
                        <a:t>EPS</a:t>
                      </a:r>
                      <a:r>
                        <a:rPr lang="en-US" sz="1800" baseline="-25000" dirty="0" err="1"/>
                        <a:t>t</a:t>
                      </a:r>
                      <a:r>
                        <a:rPr lang="en-US" sz="1800" dirty="0"/>
                        <a:t> x P</a:t>
                      </a:r>
                      <a:r>
                        <a:rPr lang="en-US" sz="1800" baseline="-25000" dirty="0"/>
                        <a:t>t</a:t>
                      </a:r>
                    </a:p>
                    <a:p>
                      <a:pPr algn="l"/>
                      <a:r>
                        <a:rPr lang="en-US" sz="1800" baseline="-25000" dirty="0"/>
                        <a:t>    </a:t>
                      </a:r>
                      <a:r>
                        <a:rPr lang="en-US" sz="1800" baseline="30000" dirty="0"/>
                        <a:t>t=1</a:t>
                      </a:r>
                    </a:p>
                    <a:p>
                      <a:pPr algn="l"/>
                      <a:r>
                        <a:rPr lang="en-US" sz="1800" dirty="0"/>
                        <a:t>=(0.2 x R3.80) + (0.6 x R8.18) + (0.2 x R12.56) = </a:t>
                      </a:r>
                      <a:r>
                        <a:rPr lang="en-US" sz="1800" b="1" dirty="0">
                          <a:solidFill>
                            <a:srgbClr val="990000"/>
                          </a:solidFill>
                        </a:rPr>
                        <a:t>R8.18</a:t>
                      </a:r>
                      <a:endParaRPr lang="en-ZA" sz="1800" b="1" dirty="0">
                        <a:solidFill>
                          <a:srgbClr val="990000"/>
                        </a:solidFill>
                      </a:endParaRPr>
                    </a:p>
                  </a:txBody>
                  <a:tcPr/>
                </a:tc>
                <a:tc hMerge="1">
                  <a:txBody>
                    <a:bodyPr/>
                    <a:lstStyle/>
                    <a:p>
                      <a:pPr algn="r"/>
                      <a:endParaRPr lang="en-ZA" sz="1800" dirty="0"/>
                    </a:p>
                  </a:txBody>
                  <a:tcPr/>
                </a:tc>
                <a:tc hMerge="1">
                  <a:txBody>
                    <a:bodyPr/>
                    <a:lstStyle/>
                    <a:p>
                      <a:pPr algn="r"/>
                      <a:endParaRPr lang="en-ZA" sz="1800" dirty="0"/>
                    </a:p>
                  </a:txBody>
                  <a:tcPr/>
                </a:tc>
                <a:extLst>
                  <a:ext uri="{0D108BD9-81ED-4DB2-BD59-A6C34878D82A}">
                    <a16:rowId xmlns:a16="http://schemas.microsoft.com/office/drawing/2014/main" val="3275593972"/>
                  </a:ext>
                </a:extLst>
              </a:tr>
            </a:tbl>
          </a:graphicData>
        </a:graphic>
      </p:graphicFrame>
    </p:spTree>
    <p:custDataLst>
      <p:tags r:id="rId1"/>
    </p:custDataLst>
    <p:extLst>
      <p:ext uri="{BB962C8B-B14F-4D97-AF65-F5344CB8AC3E}">
        <p14:creationId xmlns:p14="http://schemas.microsoft.com/office/powerpoint/2010/main" val="830518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16</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Expected EPSs calculated for each debt level – now what?</a:t>
            </a:r>
          </a:p>
          <a:p>
            <a:pPr marL="717550" algn="just">
              <a:lnSpc>
                <a:spcPct val="105000"/>
              </a:lnSpc>
              <a:buSzPct val="100000"/>
              <a:buFont typeface="Wingdings" panose="05000000000000000000" pitchFamily="2" charset="2"/>
              <a:buChar char="§"/>
            </a:pPr>
            <a:r>
              <a:rPr lang="en-US" sz="2400" dirty="0">
                <a:latin typeface="+mj-lt"/>
              </a:rPr>
              <a:t>Aim – shareholders’ wealth </a:t>
            </a:r>
            <a:r>
              <a:rPr lang="en-US" sz="2400" dirty="0" err="1">
                <a:latin typeface="+mj-lt"/>
              </a:rPr>
              <a:t>maximisation</a:t>
            </a:r>
            <a:endParaRPr lang="en-US" sz="2400" dirty="0">
              <a:latin typeface="+mj-lt"/>
            </a:endParaRPr>
          </a:p>
          <a:p>
            <a:pPr marL="717550" algn="just">
              <a:lnSpc>
                <a:spcPct val="105000"/>
              </a:lnSpc>
              <a:buSzPct val="100000"/>
              <a:buFont typeface="Wingdings" panose="05000000000000000000" pitchFamily="2" charset="2"/>
              <a:buChar char="§"/>
            </a:pPr>
            <a:r>
              <a:rPr lang="en-US" sz="2400" dirty="0">
                <a:latin typeface="+mj-lt"/>
              </a:rPr>
              <a:t>Highest share price preferred</a:t>
            </a:r>
          </a:p>
          <a:p>
            <a:pPr marL="717550" algn="just">
              <a:lnSpc>
                <a:spcPct val="105000"/>
              </a:lnSpc>
              <a:buSzPct val="100000"/>
              <a:buFont typeface="Wingdings" panose="05000000000000000000" pitchFamily="2" charset="2"/>
              <a:buChar char="§"/>
            </a:pPr>
            <a:r>
              <a:rPr lang="en-US" sz="2400" dirty="0">
                <a:latin typeface="+mj-lt"/>
              </a:rPr>
              <a:t>How do we calculate the share price again?</a:t>
            </a:r>
          </a:p>
          <a:p>
            <a:pPr marL="0" indent="0" algn="just">
              <a:lnSpc>
                <a:spcPct val="105000"/>
              </a:lnSpc>
              <a:buSzPct val="100000"/>
              <a:buNone/>
            </a:pPr>
            <a:r>
              <a:rPr lang="en-US" sz="2400" dirty="0">
                <a:latin typeface="+mj-lt"/>
              </a:rPr>
              <a:t>	</a:t>
            </a:r>
            <a:r>
              <a:rPr lang="en-US" sz="11500" dirty="0">
                <a:latin typeface="+mj-lt"/>
              </a:rPr>
              <a:t>P</a:t>
            </a:r>
            <a:r>
              <a:rPr lang="en-US" sz="11500" baseline="-25000" dirty="0">
                <a:latin typeface="+mj-lt"/>
              </a:rPr>
              <a:t>0</a:t>
            </a:r>
            <a:r>
              <a:rPr lang="en-US" sz="11500" dirty="0">
                <a:latin typeface="+mj-lt"/>
              </a:rPr>
              <a:t>	= D / k</a:t>
            </a:r>
          </a:p>
          <a:p>
            <a:pPr marL="0" indent="0" algn="just">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2755299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17</a:t>
            </a:fld>
            <a:endParaRPr lang="en-US">
              <a:solidFill>
                <a:schemeClr val="tx1"/>
              </a:solidFill>
            </a:endParaRPr>
          </a:p>
        </p:txBody>
      </p:sp>
      <p:sp>
        <p:nvSpPr>
          <p:cNvPr id="4" name="Rectangle 5">
            <a:extLst>
              <a:ext uri="{FF2B5EF4-FFF2-40B4-BE49-F238E27FC236}">
                <a16:creationId xmlns:a16="http://schemas.microsoft.com/office/drawing/2014/main" id="{7341E97C-2383-8C62-F457-19B283E2119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EBIT-EPS approach (cont.)</a:t>
            </a:r>
          </a:p>
          <a:p>
            <a:pPr algn="just">
              <a:lnSpc>
                <a:spcPct val="105000"/>
              </a:lnSpc>
              <a:buSzPct val="100000"/>
              <a:buFont typeface="Arial" panose="020B0604020202020204" pitchFamily="34" charset="0"/>
              <a:buChar char="•"/>
            </a:pPr>
            <a:r>
              <a:rPr lang="en-US" sz="2400" dirty="0">
                <a:latin typeface="+mj-lt"/>
              </a:rPr>
              <a:t>Assume following cost of equity taking risks into account</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r>
              <a:rPr lang="en-US" sz="2400" dirty="0">
                <a:latin typeface="+mj-lt"/>
              </a:rPr>
              <a:t>But what if the cost of equity not given?</a:t>
            </a:r>
          </a:p>
          <a:p>
            <a:pPr algn="just">
              <a:lnSpc>
                <a:spcPct val="105000"/>
              </a:lnSpc>
              <a:buSzPct val="100000"/>
              <a:buFont typeface="Arial" panose="020B0604020202020204" pitchFamily="34" charset="0"/>
              <a:buChar char="•"/>
            </a:pPr>
            <a:r>
              <a:rPr lang="en-US" sz="2400" dirty="0">
                <a:latin typeface="+mj-lt"/>
              </a:rPr>
              <a:t>Use SML</a:t>
            </a:r>
          </a:p>
          <a:p>
            <a:pPr marL="0" indent="0" algn="just">
              <a:lnSpc>
                <a:spcPct val="105000"/>
              </a:lnSpc>
              <a:buSzPct val="100000"/>
              <a:buNone/>
            </a:pPr>
            <a:r>
              <a:rPr lang="en-US" sz="2400" dirty="0">
                <a:latin typeface="+mj-lt"/>
              </a:rPr>
              <a:t>	</a:t>
            </a:r>
            <a:r>
              <a:rPr lang="en-US" sz="2400" dirty="0" err="1">
                <a:latin typeface="+mj-lt"/>
              </a:rPr>
              <a:t>k</a:t>
            </a:r>
            <a:r>
              <a:rPr lang="en-US" sz="2400" baseline="-25000" dirty="0" err="1">
                <a:latin typeface="+mj-lt"/>
              </a:rPr>
              <a:t>E</a:t>
            </a:r>
            <a:r>
              <a:rPr lang="en-US" sz="2400" dirty="0">
                <a:latin typeface="+mj-lt"/>
              </a:rPr>
              <a:t>	= R</a:t>
            </a:r>
            <a:r>
              <a:rPr lang="en-US" sz="2400" baseline="-25000" dirty="0">
                <a:latin typeface="+mj-lt"/>
              </a:rPr>
              <a:t>RF</a:t>
            </a:r>
            <a:r>
              <a:rPr lang="en-US" sz="2400" dirty="0">
                <a:latin typeface="+mj-lt"/>
              </a:rPr>
              <a:t> + </a:t>
            </a:r>
            <a:r>
              <a:rPr lang="el-GR" sz="2400" dirty="0">
                <a:latin typeface="+mj-lt"/>
              </a:rPr>
              <a:t>β</a:t>
            </a:r>
            <a:r>
              <a:rPr lang="en-US" sz="2400" dirty="0">
                <a:latin typeface="+mj-lt"/>
              </a:rPr>
              <a:t>(R</a:t>
            </a:r>
            <a:r>
              <a:rPr lang="en-US" sz="2400" baseline="-25000" dirty="0">
                <a:latin typeface="+mj-lt"/>
              </a:rPr>
              <a:t>M</a:t>
            </a:r>
            <a:r>
              <a:rPr lang="en-US" sz="2400" dirty="0">
                <a:latin typeface="+mj-lt"/>
              </a:rPr>
              <a:t> – R</a:t>
            </a:r>
            <a:r>
              <a:rPr lang="en-US" sz="2400" baseline="-25000" dirty="0">
                <a:latin typeface="+mj-lt"/>
              </a:rPr>
              <a:t>RF</a:t>
            </a:r>
            <a:r>
              <a:rPr lang="en-US" sz="2400" dirty="0">
                <a:latin typeface="+mj-lt"/>
              </a:rPr>
              <a:t>)</a:t>
            </a:r>
          </a:p>
        </p:txBody>
      </p:sp>
      <p:graphicFrame>
        <p:nvGraphicFramePr>
          <p:cNvPr id="2" name="Table 1">
            <a:extLst>
              <a:ext uri="{FF2B5EF4-FFF2-40B4-BE49-F238E27FC236}">
                <a16:creationId xmlns:a16="http://schemas.microsoft.com/office/drawing/2014/main" id="{4381E66A-16CB-2DA6-73F8-943E88491E2C}"/>
              </a:ext>
            </a:extLst>
          </p:cNvPr>
          <p:cNvGraphicFramePr>
            <a:graphicFrameLocks noGrp="1"/>
          </p:cNvGraphicFramePr>
          <p:nvPr>
            <p:extLst>
              <p:ext uri="{D42A27DB-BD31-4B8C-83A1-F6EECF244321}">
                <p14:modId xmlns:p14="http://schemas.microsoft.com/office/powerpoint/2010/main" val="644095344"/>
              </p:ext>
            </p:extLst>
          </p:nvPr>
        </p:nvGraphicFramePr>
        <p:xfrm>
          <a:off x="228600" y="1986455"/>
          <a:ext cx="8763000" cy="228600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596028959"/>
                    </a:ext>
                  </a:extLst>
                </a:gridCol>
                <a:gridCol w="1447800">
                  <a:extLst>
                    <a:ext uri="{9D8B030D-6E8A-4147-A177-3AD203B41FA5}">
                      <a16:colId xmlns:a16="http://schemas.microsoft.com/office/drawing/2014/main" val="340680491"/>
                    </a:ext>
                  </a:extLst>
                </a:gridCol>
                <a:gridCol w="1447800">
                  <a:extLst>
                    <a:ext uri="{9D8B030D-6E8A-4147-A177-3AD203B41FA5}">
                      <a16:colId xmlns:a16="http://schemas.microsoft.com/office/drawing/2014/main" val="1742231610"/>
                    </a:ext>
                  </a:extLst>
                </a:gridCol>
                <a:gridCol w="3886200">
                  <a:extLst>
                    <a:ext uri="{9D8B030D-6E8A-4147-A177-3AD203B41FA5}">
                      <a16:colId xmlns:a16="http://schemas.microsoft.com/office/drawing/2014/main" val="1747980929"/>
                    </a:ext>
                  </a:extLst>
                </a:gridCol>
              </a:tblGrid>
              <a:tr h="370840">
                <a:tc>
                  <a:txBody>
                    <a:bodyPr/>
                    <a:lstStyle/>
                    <a:p>
                      <a:pPr algn="ctr"/>
                      <a:r>
                        <a:rPr lang="en-US" sz="2400" dirty="0"/>
                        <a:t>Debt ratio</a:t>
                      </a:r>
                    </a:p>
                  </a:txBody>
                  <a:tcPr/>
                </a:tc>
                <a:tc>
                  <a:txBody>
                    <a:bodyPr/>
                    <a:lstStyle/>
                    <a:p>
                      <a:pPr algn="ctr"/>
                      <a:r>
                        <a:rPr lang="en-US" sz="2400" dirty="0"/>
                        <a:t>EPS</a:t>
                      </a:r>
                      <a:endParaRPr lang="en-ZA" sz="2400" dirty="0"/>
                    </a:p>
                  </a:txBody>
                  <a:tcPr/>
                </a:tc>
                <a:tc>
                  <a:txBody>
                    <a:bodyPr/>
                    <a:lstStyle/>
                    <a:p>
                      <a:pPr algn="ctr"/>
                      <a:r>
                        <a:rPr lang="en-US" sz="2400" dirty="0"/>
                        <a:t>k</a:t>
                      </a:r>
                      <a:endParaRPr lang="en-ZA" sz="2400" dirty="0"/>
                    </a:p>
                  </a:txBody>
                  <a:tcPr/>
                </a:tc>
                <a:tc>
                  <a:txBody>
                    <a:bodyPr/>
                    <a:lstStyle/>
                    <a:p>
                      <a:pPr algn="ctr"/>
                      <a:r>
                        <a:rPr lang="en-US" sz="2400" dirty="0"/>
                        <a:t>P</a:t>
                      </a:r>
                      <a:r>
                        <a:rPr lang="en-US" sz="2400" baseline="-25000" dirty="0"/>
                        <a:t>0</a:t>
                      </a:r>
                      <a:endParaRPr lang="en-ZA" sz="2400" baseline="-25000" dirty="0"/>
                    </a:p>
                  </a:txBody>
                  <a:tcPr/>
                </a:tc>
                <a:extLst>
                  <a:ext uri="{0D108BD9-81ED-4DB2-BD59-A6C34878D82A}">
                    <a16:rowId xmlns:a16="http://schemas.microsoft.com/office/drawing/2014/main" val="836125700"/>
                  </a:ext>
                </a:extLst>
              </a:tr>
              <a:tr h="370840">
                <a:tc>
                  <a:txBody>
                    <a:bodyPr/>
                    <a:lstStyle/>
                    <a:p>
                      <a:pPr algn="ctr"/>
                      <a:r>
                        <a:rPr lang="en-US" sz="2400" dirty="0"/>
                        <a:t>0%</a:t>
                      </a:r>
                      <a:endParaRPr lang="en-ZA" sz="2400" dirty="0"/>
                    </a:p>
                  </a:txBody>
                  <a:tcPr/>
                </a:tc>
                <a:tc>
                  <a:txBody>
                    <a:bodyPr/>
                    <a:lstStyle/>
                    <a:p>
                      <a:pPr algn="ctr"/>
                      <a:r>
                        <a:rPr lang="en-US" sz="2400" dirty="0"/>
                        <a:t>3.80</a:t>
                      </a:r>
                      <a:endParaRPr lang="en-ZA" sz="2400" dirty="0"/>
                    </a:p>
                  </a:txBody>
                  <a:tcPr/>
                </a:tc>
                <a:tc>
                  <a:txBody>
                    <a:bodyPr/>
                    <a:lstStyle/>
                    <a:p>
                      <a:pPr algn="ctr"/>
                      <a:r>
                        <a:rPr lang="en-US" sz="2400" dirty="0"/>
                        <a:t>12%</a:t>
                      </a:r>
                      <a:endParaRPr lang="en-ZA" sz="2400" dirty="0"/>
                    </a:p>
                  </a:txBody>
                  <a:tcPr/>
                </a:tc>
                <a:tc>
                  <a:txBody>
                    <a:bodyPr/>
                    <a:lstStyle/>
                    <a:p>
                      <a:pPr algn="ctr"/>
                      <a:r>
                        <a:rPr lang="en-US" sz="2400" dirty="0"/>
                        <a:t>3.80 / 0.12 = </a:t>
                      </a:r>
                      <a:r>
                        <a:rPr lang="en-US" sz="2400" b="0" dirty="0"/>
                        <a:t>R31.67</a:t>
                      </a:r>
                      <a:endParaRPr lang="en-ZA" sz="2400" b="0" dirty="0"/>
                    </a:p>
                  </a:txBody>
                  <a:tcPr/>
                </a:tc>
                <a:extLst>
                  <a:ext uri="{0D108BD9-81ED-4DB2-BD59-A6C34878D82A}">
                    <a16:rowId xmlns:a16="http://schemas.microsoft.com/office/drawing/2014/main" val="2495214359"/>
                  </a:ext>
                </a:extLst>
              </a:tr>
              <a:tr h="370840">
                <a:tc>
                  <a:txBody>
                    <a:bodyPr/>
                    <a:lstStyle/>
                    <a:p>
                      <a:pPr algn="ctr"/>
                      <a:r>
                        <a:rPr lang="en-US" sz="2400" dirty="0"/>
                        <a:t>20%</a:t>
                      </a:r>
                      <a:endParaRPr lang="en-ZA" sz="2400" dirty="0"/>
                    </a:p>
                  </a:txBody>
                  <a:tcPr/>
                </a:tc>
                <a:tc>
                  <a:txBody>
                    <a:bodyPr/>
                    <a:lstStyle/>
                    <a:p>
                      <a:pPr algn="ctr"/>
                      <a:r>
                        <a:rPr lang="en-US" sz="2400" dirty="0"/>
                        <a:t>4.60</a:t>
                      </a:r>
                      <a:endParaRPr lang="en-ZA" sz="2400" dirty="0"/>
                    </a:p>
                  </a:txBody>
                  <a:tcPr/>
                </a:tc>
                <a:tc>
                  <a:txBody>
                    <a:bodyPr/>
                    <a:lstStyle/>
                    <a:p>
                      <a:pPr algn="ctr"/>
                      <a:r>
                        <a:rPr lang="en-US" sz="2400" dirty="0"/>
                        <a:t>13%</a:t>
                      </a:r>
                      <a:endParaRPr lang="en-ZA" sz="2400" dirty="0"/>
                    </a:p>
                  </a:txBody>
                  <a:tcPr/>
                </a:tc>
                <a:tc>
                  <a:txBody>
                    <a:bodyPr/>
                    <a:lstStyle/>
                    <a:p>
                      <a:pPr algn="ctr"/>
                      <a:r>
                        <a:rPr lang="en-US" sz="2400" dirty="0"/>
                        <a:t>4.60 / 0.13 = R35.38</a:t>
                      </a:r>
                      <a:endParaRPr lang="en-ZA" sz="2400" dirty="0"/>
                    </a:p>
                  </a:txBody>
                  <a:tcPr/>
                </a:tc>
                <a:extLst>
                  <a:ext uri="{0D108BD9-81ED-4DB2-BD59-A6C34878D82A}">
                    <a16:rowId xmlns:a16="http://schemas.microsoft.com/office/drawing/2014/main" val="2588049934"/>
                  </a:ext>
                </a:extLst>
              </a:tr>
              <a:tr h="370840">
                <a:tc>
                  <a:txBody>
                    <a:bodyPr/>
                    <a:lstStyle/>
                    <a:p>
                      <a:pPr algn="ctr"/>
                      <a:r>
                        <a:rPr lang="en-US" sz="2400" dirty="0"/>
                        <a:t>40%</a:t>
                      </a:r>
                      <a:endParaRPr lang="en-ZA" sz="2400" dirty="0"/>
                    </a:p>
                  </a:txBody>
                  <a:tcPr/>
                </a:tc>
                <a:tc>
                  <a:txBody>
                    <a:bodyPr/>
                    <a:lstStyle/>
                    <a:p>
                      <a:pPr algn="ctr"/>
                      <a:r>
                        <a:rPr lang="en-US" sz="2400" dirty="0"/>
                        <a:t>5.84</a:t>
                      </a:r>
                      <a:endParaRPr lang="en-ZA" sz="2400" dirty="0"/>
                    </a:p>
                  </a:txBody>
                  <a:tcPr/>
                </a:tc>
                <a:tc>
                  <a:txBody>
                    <a:bodyPr/>
                    <a:lstStyle/>
                    <a:p>
                      <a:pPr algn="ctr"/>
                      <a:r>
                        <a:rPr lang="en-US" sz="2400" dirty="0"/>
                        <a:t>16%</a:t>
                      </a:r>
                      <a:endParaRPr lang="en-ZA" sz="2400" dirty="0"/>
                    </a:p>
                  </a:txBody>
                  <a:tcPr/>
                </a:tc>
                <a:tc>
                  <a:txBody>
                    <a:bodyPr/>
                    <a:lstStyle/>
                    <a:p>
                      <a:pPr algn="ctr"/>
                      <a:r>
                        <a:rPr lang="en-US" sz="2400" dirty="0"/>
                        <a:t>5.84 / 0.16 = </a:t>
                      </a:r>
                      <a:r>
                        <a:rPr lang="en-US" sz="2400" b="1" dirty="0">
                          <a:solidFill>
                            <a:srgbClr val="990000"/>
                          </a:solidFill>
                        </a:rPr>
                        <a:t>R36.50</a:t>
                      </a:r>
                      <a:endParaRPr lang="en-ZA" sz="2400" b="1" dirty="0">
                        <a:solidFill>
                          <a:srgbClr val="990000"/>
                        </a:solidFill>
                      </a:endParaRPr>
                    </a:p>
                  </a:txBody>
                  <a:tcPr/>
                </a:tc>
                <a:extLst>
                  <a:ext uri="{0D108BD9-81ED-4DB2-BD59-A6C34878D82A}">
                    <a16:rowId xmlns:a16="http://schemas.microsoft.com/office/drawing/2014/main" val="1895749360"/>
                  </a:ext>
                </a:extLst>
              </a:tr>
              <a:tr h="370840">
                <a:tc>
                  <a:txBody>
                    <a:bodyPr/>
                    <a:lstStyle/>
                    <a:p>
                      <a:pPr algn="ctr"/>
                      <a:r>
                        <a:rPr lang="en-US" sz="2400" dirty="0"/>
                        <a:t>60%</a:t>
                      </a:r>
                      <a:endParaRPr lang="en-ZA" sz="2400" dirty="0"/>
                    </a:p>
                  </a:txBody>
                  <a:tcPr/>
                </a:tc>
                <a:tc>
                  <a:txBody>
                    <a:bodyPr/>
                    <a:lstStyle/>
                    <a:p>
                      <a:pPr algn="ctr"/>
                      <a:r>
                        <a:rPr lang="en-US" sz="2400" dirty="0"/>
                        <a:t>8.18</a:t>
                      </a:r>
                      <a:endParaRPr lang="en-ZA" sz="2400" dirty="0"/>
                    </a:p>
                  </a:txBody>
                  <a:tcPr/>
                </a:tc>
                <a:tc>
                  <a:txBody>
                    <a:bodyPr/>
                    <a:lstStyle/>
                    <a:p>
                      <a:pPr algn="ctr"/>
                      <a:r>
                        <a:rPr lang="en-US" sz="2400" dirty="0"/>
                        <a:t>23%</a:t>
                      </a:r>
                      <a:endParaRPr lang="en-ZA" sz="2400" dirty="0"/>
                    </a:p>
                  </a:txBody>
                  <a:tcPr/>
                </a:tc>
                <a:tc>
                  <a:txBody>
                    <a:bodyPr/>
                    <a:lstStyle/>
                    <a:p>
                      <a:pPr algn="ctr"/>
                      <a:r>
                        <a:rPr lang="en-US" sz="2400" dirty="0"/>
                        <a:t>8.18 / 0.23 = R35.57</a:t>
                      </a:r>
                      <a:endParaRPr lang="en-ZA" sz="2400" dirty="0"/>
                    </a:p>
                  </a:txBody>
                  <a:tcPr/>
                </a:tc>
                <a:extLst>
                  <a:ext uri="{0D108BD9-81ED-4DB2-BD59-A6C34878D82A}">
                    <a16:rowId xmlns:a16="http://schemas.microsoft.com/office/drawing/2014/main" val="3452513844"/>
                  </a:ext>
                </a:extLst>
              </a:tr>
            </a:tbl>
          </a:graphicData>
        </a:graphic>
      </p:graphicFrame>
    </p:spTree>
    <p:custDataLst>
      <p:tags r:id="rId1"/>
    </p:custDataLst>
    <p:extLst>
      <p:ext uri="{BB962C8B-B14F-4D97-AF65-F5344CB8AC3E}">
        <p14:creationId xmlns:p14="http://schemas.microsoft.com/office/powerpoint/2010/main" val="2699854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DCBAFD-221F-6AB5-2E97-999C90916E95}"/>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DF72C5-D02B-F577-0348-3DD1554A7984}"/>
              </a:ext>
            </a:extLst>
          </p:cNvPr>
          <p:cNvSpPr>
            <a:spLocks noGrp="1" noChangeArrowheads="1"/>
          </p:cNvSpPr>
          <p:nvPr>
            <p:ph type="title"/>
          </p:nvPr>
        </p:nvSpPr>
        <p:spPr>
          <a:xfrm>
            <a:off x="228600" y="10510"/>
            <a:ext cx="8763000" cy="1143000"/>
          </a:xfrm>
        </p:spPr>
        <p:txBody>
          <a:bodyPr/>
          <a:lstStyle/>
          <a:p>
            <a:r>
              <a:rPr lang="en-US">
                <a:solidFill>
                  <a:schemeClr val="tx2"/>
                </a:solidFill>
              </a:rPr>
              <a:t>Financial leverage and return (cont.)</a:t>
            </a:r>
            <a:endParaRPr lang="en-US" dirty="0">
              <a:solidFill>
                <a:schemeClr val="tx2"/>
              </a:solidFill>
            </a:endParaRPr>
          </a:p>
        </p:txBody>
      </p:sp>
      <p:sp>
        <p:nvSpPr>
          <p:cNvPr id="3" name="Slide Number Placeholder 2">
            <a:extLst>
              <a:ext uri="{FF2B5EF4-FFF2-40B4-BE49-F238E27FC236}">
                <a16:creationId xmlns:a16="http://schemas.microsoft.com/office/drawing/2014/main" id="{7CF7A43D-98F5-7213-F9FB-4F99DA7C43E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18</a:t>
            </a:fld>
            <a:endParaRPr lang="en-US">
              <a:solidFill>
                <a:schemeClr val="tx1"/>
              </a:solidFill>
            </a:endParaRPr>
          </a:p>
        </p:txBody>
      </p:sp>
      <p:sp>
        <p:nvSpPr>
          <p:cNvPr id="9" name="Rectangle 5">
            <a:extLst>
              <a:ext uri="{FF2B5EF4-FFF2-40B4-BE49-F238E27FC236}">
                <a16:creationId xmlns:a16="http://schemas.microsoft.com/office/drawing/2014/main" id="{7D7A2801-E9E8-2896-9465-636CBF29FED7}"/>
              </a:ext>
            </a:extLst>
          </p:cNvPr>
          <p:cNvSpPr>
            <a:spLocks noGrp="1" noChangeArrowheads="1"/>
          </p:cNvSpPr>
          <p:nvPr>
            <p:ph idx="1"/>
          </p:nvPr>
        </p:nvSpPr>
        <p:spPr>
          <a:xfrm>
            <a:off x="259976" y="990600"/>
            <a:ext cx="8655424" cy="5247290"/>
          </a:xfrm>
        </p:spPr>
        <p:txBody>
          <a:bodyPr/>
          <a:lstStyle/>
          <a:p>
            <a:pPr marL="0" indent="0" algn="just">
              <a:lnSpc>
                <a:spcPct val="105000"/>
              </a:lnSpc>
              <a:buSzPct val="100000"/>
              <a:buNone/>
            </a:pPr>
            <a:r>
              <a:rPr lang="en-US" sz="2400" dirty="0">
                <a:latin typeface="+mj-lt"/>
              </a:rPr>
              <a:t>Figure 16.7:	Estimated share price and EPS for alternative 			capital structures</a:t>
            </a:r>
          </a:p>
        </p:txBody>
      </p:sp>
    </p:spTree>
    <p:custDataLst>
      <p:tags r:id="rId1"/>
    </p:custDataLst>
    <p:extLst>
      <p:ext uri="{BB962C8B-B14F-4D97-AF65-F5344CB8AC3E}">
        <p14:creationId xmlns:p14="http://schemas.microsoft.com/office/powerpoint/2010/main" val="2363140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C1C205-9A29-28A3-3076-45F29639991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0F88938-4591-9822-F4E1-4F86761A20EA}"/>
              </a:ext>
            </a:extLst>
          </p:cNvPr>
          <p:cNvSpPr>
            <a:spLocks noGrp="1" noChangeArrowheads="1"/>
          </p:cNvSpPr>
          <p:nvPr>
            <p:ph type="title"/>
          </p:nvPr>
        </p:nvSpPr>
        <p:spPr>
          <a:xfrm>
            <a:off x="228600" y="10510"/>
            <a:ext cx="8763000" cy="1143000"/>
          </a:xfrm>
        </p:spPr>
        <p:txBody>
          <a:bodyPr/>
          <a:lstStyle/>
          <a:p>
            <a:r>
              <a:rPr lang="en-US" dirty="0">
                <a:solidFill>
                  <a:schemeClr val="tx2"/>
                </a:solidFill>
              </a:rPr>
              <a:t>Other important considerations</a:t>
            </a:r>
          </a:p>
        </p:txBody>
      </p:sp>
      <p:sp>
        <p:nvSpPr>
          <p:cNvPr id="3" name="Slide Number Placeholder 2">
            <a:extLst>
              <a:ext uri="{FF2B5EF4-FFF2-40B4-BE49-F238E27FC236}">
                <a16:creationId xmlns:a16="http://schemas.microsoft.com/office/drawing/2014/main" id="{899AF1E6-B961-4BA7-BC52-35D392085D8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19</a:t>
            </a:fld>
            <a:endParaRPr lang="en-US">
              <a:solidFill>
                <a:schemeClr val="tx1"/>
              </a:solidFill>
            </a:endParaRPr>
          </a:p>
        </p:txBody>
      </p:sp>
      <p:sp>
        <p:nvSpPr>
          <p:cNvPr id="4" name="Rectangle 5">
            <a:extLst>
              <a:ext uri="{FF2B5EF4-FFF2-40B4-BE49-F238E27FC236}">
                <a16:creationId xmlns:a16="http://schemas.microsoft.com/office/drawing/2014/main" id="{4662474B-F2A7-AE6F-ECE6-C2E624C74113}"/>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Suitability</a:t>
            </a:r>
          </a:p>
          <a:p>
            <a:pPr marL="717550" algn="just">
              <a:lnSpc>
                <a:spcPct val="105000"/>
              </a:lnSpc>
              <a:buSzPct val="100000"/>
              <a:buFont typeface="Wingdings" panose="05000000000000000000" pitchFamily="2" charset="2"/>
              <a:buChar char="§"/>
            </a:pPr>
            <a:r>
              <a:rPr lang="en-US" sz="2400" dirty="0">
                <a:latin typeface="+mj-lt"/>
              </a:rPr>
              <a:t>Compatibility of fund types in relation to nature of assets financed</a:t>
            </a:r>
          </a:p>
          <a:p>
            <a:pPr marL="717550" algn="just">
              <a:lnSpc>
                <a:spcPct val="105000"/>
              </a:lnSpc>
              <a:buSzPct val="100000"/>
              <a:buFont typeface="Wingdings" panose="05000000000000000000" pitchFamily="2" charset="2"/>
              <a:buChar char="§"/>
            </a:pPr>
            <a:r>
              <a:rPr lang="en-US" sz="2400" dirty="0">
                <a:latin typeface="+mj-lt"/>
              </a:rPr>
              <a:t>Permanent assets – permanent funds (long-term funds)</a:t>
            </a:r>
          </a:p>
          <a:p>
            <a:pPr algn="just">
              <a:lnSpc>
                <a:spcPct val="105000"/>
              </a:lnSpc>
              <a:buSzPct val="100000"/>
              <a:buFont typeface="Arial" panose="020B0604020202020204" pitchFamily="34" charset="0"/>
              <a:buChar char="•"/>
            </a:pPr>
            <a:r>
              <a:rPr lang="en-US" sz="2400" dirty="0">
                <a:latin typeface="+mj-lt"/>
              </a:rPr>
              <a:t>Control</a:t>
            </a:r>
          </a:p>
          <a:p>
            <a:pPr marL="717550" algn="just">
              <a:lnSpc>
                <a:spcPct val="105000"/>
              </a:lnSpc>
              <a:buSzPct val="100000"/>
              <a:buFont typeface="Wingdings" panose="05000000000000000000" pitchFamily="2" charset="2"/>
              <a:buChar char="§"/>
            </a:pPr>
            <a:r>
              <a:rPr lang="en-US" sz="2400" dirty="0">
                <a:latin typeface="+mj-lt"/>
              </a:rPr>
              <a:t>Issue of ordinary shares – loss of control</a:t>
            </a:r>
          </a:p>
          <a:p>
            <a:pPr marL="717550" algn="just">
              <a:lnSpc>
                <a:spcPct val="105000"/>
              </a:lnSpc>
              <a:buSzPct val="100000"/>
              <a:buFont typeface="Wingdings" panose="05000000000000000000" pitchFamily="2" charset="2"/>
              <a:buChar char="§"/>
            </a:pPr>
            <a:r>
              <a:rPr lang="en-US" sz="2400" dirty="0">
                <a:latin typeface="+mj-lt"/>
              </a:rPr>
              <a:t>Obtaining debt – keep control</a:t>
            </a:r>
          </a:p>
          <a:p>
            <a:pPr algn="just">
              <a:lnSpc>
                <a:spcPct val="105000"/>
              </a:lnSpc>
              <a:buSzPct val="100000"/>
              <a:buFont typeface="Arial" panose="020B0604020202020204" pitchFamily="34" charset="0"/>
              <a:buChar char="•"/>
            </a:pPr>
            <a:r>
              <a:rPr lang="en-US" sz="2400" dirty="0">
                <a:latin typeface="+mj-lt"/>
              </a:rPr>
              <a:t>Flexibility</a:t>
            </a:r>
          </a:p>
          <a:p>
            <a:pPr marL="717550" algn="just">
              <a:lnSpc>
                <a:spcPct val="105000"/>
              </a:lnSpc>
              <a:buSzPct val="100000"/>
              <a:buFont typeface="Wingdings" panose="05000000000000000000" pitchFamily="2" charset="2"/>
              <a:buChar char="§"/>
            </a:pPr>
            <a:r>
              <a:rPr lang="en-US" sz="2400" dirty="0">
                <a:latin typeface="+mj-lt"/>
              </a:rPr>
              <a:t>Ability to adjust sources of funds   or   to changes in major need of funds</a:t>
            </a:r>
          </a:p>
          <a:p>
            <a:pPr algn="just">
              <a:lnSpc>
                <a:spcPct val="105000"/>
              </a:lnSpc>
              <a:buSzPct val="100000"/>
              <a:buFont typeface="Arial" panose="020B0604020202020204" pitchFamily="34" charset="0"/>
              <a:buChar char="•"/>
            </a:pPr>
            <a:r>
              <a:rPr lang="en-US" sz="2400" dirty="0">
                <a:latin typeface="+mj-lt"/>
              </a:rPr>
              <a:t>Timing</a:t>
            </a:r>
          </a:p>
          <a:p>
            <a:pPr marL="717550" algn="just">
              <a:lnSpc>
                <a:spcPct val="105000"/>
              </a:lnSpc>
              <a:buSzPct val="100000"/>
              <a:buFont typeface="Wingdings" panose="05000000000000000000" pitchFamily="2" charset="2"/>
              <a:buChar char="§"/>
            </a:pPr>
            <a:r>
              <a:rPr lang="en-US" sz="2400" dirty="0">
                <a:latin typeface="+mj-lt"/>
              </a:rPr>
              <a:t>Seize opportunities</a:t>
            </a:r>
          </a:p>
          <a:p>
            <a:pPr marL="0" indent="0" algn="just">
              <a:lnSpc>
                <a:spcPct val="105000"/>
              </a:lnSpc>
              <a:buSzPct val="100000"/>
              <a:buNone/>
            </a:pPr>
            <a:endParaRPr lang="en-US" sz="2400" dirty="0">
              <a:latin typeface="+mj-lt"/>
            </a:endParaRPr>
          </a:p>
        </p:txBody>
      </p:sp>
      <p:sp>
        <p:nvSpPr>
          <p:cNvPr id="2" name="Arrow: Up 1">
            <a:extLst>
              <a:ext uri="{FF2B5EF4-FFF2-40B4-BE49-F238E27FC236}">
                <a16:creationId xmlns:a16="http://schemas.microsoft.com/office/drawing/2014/main" id="{4E154E02-66D7-CD19-F6B8-08408F2F027C}"/>
              </a:ext>
            </a:extLst>
          </p:cNvPr>
          <p:cNvSpPr/>
          <p:nvPr/>
        </p:nvSpPr>
        <p:spPr bwMode="auto">
          <a:xfrm>
            <a:off x="5943600" y="4648201"/>
            <a:ext cx="152400" cy="324000"/>
          </a:xfrm>
          <a:prstGeom prs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5" name="Arrow: Up 4">
            <a:extLst>
              <a:ext uri="{FF2B5EF4-FFF2-40B4-BE49-F238E27FC236}">
                <a16:creationId xmlns:a16="http://schemas.microsoft.com/office/drawing/2014/main" id="{D2AFF1A8-B520-593F-95EF-CBE9DB11D05E}"/>
              </a:ext>
            </a:extLst>
          </p:cNvPr>
          <p:cNvSpPr/>
          <p:nvPr/>
        </p:nvSpPr>
        <p:spPr bwMode="auto">
          <a:xfrm rot="10800000">
            <a:off x="6553200" y="4648200"/>
            <a:ext cx="152400" cy="324000"/>
          </a:xfrm>
          <a:prstGeom prs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1603475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515078-4279-1693-7D14-4C032399CA3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DC22DB0-48E7-96A0-6778-FDA8C79AC57D}"/>
              </a:ext>
            </a:extLst>
          </p:cNvPr>
          <p:cNvSpPr>
            <a:spLocks noGrp="1" noChangeArrowheads="1"/>
          </p:cNvSpPr>
          <p:nvPr>
            <p:ph type="title"/>
          </p:nvPr>
        </p:nvSpPr>
        <p:spPr>
          <a:xfrm>
            <a:off x="228600" y="10510"/>
            <a:ext cx="8763000" cy="1143000"/>
          </a:xfrm>
        </p:spPr>
        <p:txBody>
          <a:bodyPr/>
          <a:lstStyle/>
          <a:p>
            <a:r>
              <a:rPr lang="en-US" dirty="0">
                <a:solidFill>
                  <a:schemeClr val="tx2"/>
                </a:solidFill>
              </a:rPr>
              <a:t>Other important considerations (cont.)</a:t>
            </a:r>
          </a:p>
        </p:txBody>
      </p:sp>
      <p:sp>
        <p:nvSpPr>
          <p:cNvPr id="3" name="Slide Number Placeholder 2">
            <a:extLst>
              <a:ext uri="{FF2B5EF4-FFF2-40B4-BE49-F238E27FC236}">
                <a16:creationId xmlns:a16="http://schemas.microsoft.com/office/drawing/2014/main" id="{67CE0075-4942-D3F9-ADF6-A32D316F26B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20</a:t>
            </a:fld>
            <a:endParaRPr lang="en-US">
              <a:solidFill>
                <a:schemeClr val="tx1"/>
              </a:solidFill>
            </a:endParaRPr>
          </a:p>
        </p:txBody>
      </p:sp>
      <p:sp>
        <p:nvSpPr>
          <p:cNvPr id="4" name="Rectangle 5">
            <a:extLst>
              <a:ext uri="{FF2B5EF4-FFF2-40B4-BE49-F238E27FC236}">
                <a16:creationId xmlns:a16="http://schemas.microsoft.com/office/drawing/2014/main" id="{782706B5-0322-5B65-C998-5FFFAF4452A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Characteristics of the economy</a:t>
            </a:r>
          </a:p>
          <a:p>
            <a:pPr marL="717550" algn="just">
              <a:lnSpc>
                <a:spcPct val="105000"/>
              </a:lnSpc>
              <a:buSzPct val="100000"/>
              <a:buFont typeface="Wingdings" panose="05000000000000000000" pitchFamily="2" charset="2"/>
              <a:buChar char="§"/>
            </a:pPr>
            <a:r>
              <a:rPr lang="en-US" sz="2400" dirty="0">
                <a:latin typeface="+mj-lt"/>
              </a:rPr>
              <a:t>Level of business activity – level of business risk increase may imply that the need for assets and finance of assets may grow</a:t>
            </a:r>
          </a:p>
          <a:p>
            <a:pPr marL="717550" algn="just">
              <a:lnSpc>
                <a:spcPct val="105000"/>
              </a:lnSpc>
              <a:buSzPct val="100000"/>
              <a:buFont typeface="Wingdings" panose="05000000000000000000" pitchFamily="2" charset="2"/>
              <a:buChar char="§"/>
            </a:pPr>
            <a:r>
              <a:rPr lang="en-US" sz="2400" dirty="0">
                <a:latin typeface="+mj-lt"/>
              </a:rPr>
              <a:t>Money and capital markets – money market for ST financing, capital market for LT financing; consider outlook of markets</a:t>
            </a:r>
          </a:p>
          <a:p>
            <a:pPr marL="717550" algn="just">
              <a:lnSpc>
                <a:spcPct val="105000"/>
              </a:lnSpc>
              <a:buSzPct val="100000"/>
              <a:buFont typeface="Wingdings" panose="05000000000000000000" pitchFamily="2" charset="2"/>
              <a:buChar char="§"/>
            </a:pPr>
            <a:r>
              <a:rPr lang="en-US" sz="2400" dirty="0">
                <a:latin typeface="+mj-lt"/>
              </a:rPr>
              <a:t>Taxes – interest on debt is tax-deductible</a:t>
            </a:r>
          </a:p>
        </p:txBody>
      </p:sp>
    </p:spTree>
    <p:custDataLst>
      <p:tags r:id="rId1"/>
    </p:custDataLst>
    <p:extLst>
      <p:ext uri="{BB962C8B-B14F-4D97-AF65-F5344CB8AC3E}">
        <p14:creationId xmlns:p14="http://schemas.microsoft.com/office/powerpoint/2010/main" val="4103842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515078-4279-1693-7D14-4C032399CA3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DC22DB0-48E7-96A0-6778-FDA8C79AC57D}"/>
              </a:ext>
            </a:extLst>
          </p:cNvPr>
          <p:cNvSpPr>
            <a:spLocks noGrp="1" noChangeArrowheads="1"/>
          </p:cNvSpPr>
          <p:nvPr>
            <p:ph type="title"/>
          </p:nvPr>
        </p:nvSpPr>
        <p:spPr>
          <a:xfrm>
            <a:off x="228600" y="10510"/>
            <a:ext cx="8763000" cy="1143000"/>
          </a:xfrm>
        </p:spPr>
        <p:txBody>
          <a:bodyPr/>
          <a:lstStyle/>
          <a:p>
            <a:r>
              <a:rPr lang="en-US" dirty="0">
                <a:solidFill>
                  <a:schemeClr val="tx2"/>
                </a:solidFill>
              </a:rPr>
              <a:t>Other important considerations (cont.)</a:t>
            </a:r>
          </a:p>
        </p:txBody>
      </p:sp>
      <p:sp>
        <p:nvSpPr>
          <p:cNvPr id="3" name="Slide Number Placeholder 2">
            <a:extLst>
              <a:ext uri="{FF2B5EF4-FFF2-40B4-BE49-F238E27FC236}">
                <a16:creationId xmlns:a16="http://schemas.microsoft.com/office/drawing/2014/main" id="{67CE0075-4942-D3F9-ADF6-A32D316F26B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21</a:t>
            </a:fld>
            <a:endParaRPr lang="en-US">
              <a:solidFill>
                <a:schemeClr val="tx1"/>
              </a:solidFill>
            </a:endParaRPr>
          </a:p>
        </p:txBody>
      </p:sp>
      <p:sp>
        <p:nvSpPr>
          <p:cNvPr id="4" name="Rectangle 5">
            <a:extLst>
              <a:ext uri="{FF2B5EF4-FFF2-40B4-BE49-F238E27FC236}">
                <a16:creationId xmlns:a16="http://schemas.microsoft.com/office/drawing/2014/main" id="{782706B5-0322-5B65-C998-5FFFAF4452A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Characteristics of the industry</a:t>
            </a:r>
          </a:p>
          <a:p>
            <a:pPr marL="717550" algn="just">
              <a:lnSpc>
                <a:spcPct val="105000"/>
              </a:lnSpc>
              <a:buSzPct val="100000"/>
              <a:buFont typeface="Wingdings" panose="05000000000000000000" pitchFamily="2" charset="2"/>
              <a:buChar char="§"/>
            </a:pPr>
            <a:r>
              <a:rPr lang="en-US" sz="2400" dirty="0">
                <a:latin typeface="+mj-lt"/>
              </a:rPr>
              <a:t>Seasonal variations – seasonal movements use ST finance</a:t>
            </a:r>
          </a:p>
          <a:p>
            <a:pPr marL="717550" algn="just">
              <a:lnSpc>
                <a:spcPct val="105000"/>
              </a:lnSpc>
              <a:buSzPct val="100000"/>
              <a:buFont typeface="Wingdings" panose="05000000000000000000" pitchFamily="2" charset="2"/>
              <a:buChar char="§"/>
            </a:pPr>
            <a:r>
              <a:rPr lang="en-US" sz="2400" dirty="0">
                <a:latin typeface="+mj-lt"/>
              </a:rPr>
              <a:t>Cyclical variations – beta &gt; 1</a:t>
            </a:r>
          </a:p>
          <a:p>
            <a:pPr marL="717550" algn="just">
              <a:lnSpc>
                <a:spcPct val="105000"/>
              </a:lnSpc>
              <a:buSzPct val="100000"/>
              <a:buFont typeface="Wingdings" panose="05000000000000000000" pitchFamily="2" charset="2"/>
              <a:buChar char="§"/>
            </a:pPr>
            <a:r>
              <a:rPr lang="en-US" sz="2400" dirty="0">
                <a:latin typeface="+mj-lt"/>
              </a:rPr>
              <a:t>Flexibility and risk – especially NB if sales vary widely over business cycle</a:t>
            </a:r>
          </a:p>
          <a:p>
            <a:pPr marL="717550" algn="just">
              <a:lnSpc>
                <a:spcPct val="105000"/>
              </a:lnSpc>
              <a:buSzPct val="100000"/>
              <a:buFont typeface="Wingdings" panose="05000000000000000000" pitchFamily="2" charset="2"/>
              <a:buChar char="§"/>
            </a:pPr>
            <a:r>
              <a:rPr lang="en-US" sz="2400" dirty="0">
                <a:latin typeface="+mj-lt"/>
              </a:rPr>
              <a:t>Nature of competition – the more competitive, the higher the risk, the more expensive debt financing will be</a:t>
            </a:r>
          </a:p>
          <a:p>
            <a:pPr marL="717550" algn="just">
              <a:lnSpc>
                <a:spcPct val="105000"/>
              </a:lnSpc>
              <a:buSzPct val="100000"/>
              <a:buFont typeface="Wingdings" panose="05000000000000000000" pitchFamily="2" charset="2"/>
              <a:buChar char="§"/>
            </a:pPr>
            <a:r>
              <a:rPr lang="en-US" sz="2400" dirty="0">
                <a:latin typeface="+mj-lt"/>
              </a:rPr>
              <a:t>Stages in the life cycle – start-up, growth, maturity, decline stages – risk differs in each stage</a:t>
            </a:r>
          </a:p>
        </p:txBody>
      </p:sp>
    </p:spTree>
    <p:custDataLst>
      <p:tags r:id="rId1"/>
    </p:custDataLst>
    <p:extLst>
      <p:ext uri="{BB962C8B-B14F-4D97-AF65-F5344CB8AC3E}">
        <p14:creationId xmlns:p14="http://schemas.microsoft.com/office/powerpoint/2010/main" val="800515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515078-4279-1693-7D14-4C032399CA3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DC22DB0-48E7-96A0-6778-FDA8C79AC57D}"/>
              </a:ext>
            </a:extLst>
          </p:cNvPr>
          <p:cNvSpPr>
            <a:spLocks noGrp="1" noChangeArrowheads="1"/>
          </p:cNvSpPr>
          <p:nvPr>
            <p:ph type="title"/>
          </p:nvPr>
        </p:nvSpPr>
        <p:spPr>
          <a:xfrm>
            <a:off x="228600" y="10510"/>
            <a:ext cx="8763000" cy="1143000"/>
          </a:xfrm>
        </p:spPr>
        <p:txBody>
          <a:bodyPr/>
          <a:lstStyle/>
          <a:p>
            <a:r>
              <a:rPr lang="en-US" dirty="0">
                <a:solidFill>
                  <a:schemeClr val="tx2"/>
                </a:solidFill>
              </a:rPr>
              <a:t>Other important considerations (cont.)</a:t>
            </a:r>
          </a:p>
        </p:txBody>
      </p:sp>
      <p:sp>
        <p:nvSpPr>
          <p:cNvPr id="3" name="Slide Number Placeholder 2">
            <a:extLst>
              <a:ext uri="{FF2B5EF4-FFF2-40B4-BE49-F238E27FC236}">
                <a16:creationId xmlns:a16="http://schemas.microsoft.com/office/drawing/2014/main" id="{67CE0075-4942-D3F9-ADF6-A32D316F26B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22</a:t>
            </a:fld>
            <a:endParaRPr lang="en-US">
              <a:solidFill>
                <a:schemeClr val="tx1"/>
              </a:solidFill>
            </a:endParaRPr>
          </a:p>
        </p:txBody>
      </p:sp>
      <p:sp>
        <p:nvSpPr>
          <p:cNvPr id="4" name="Rectangle 5">
            <a:extLst>
              <a:ext uri="{FF2B5EF4-FFF2-40B4-BE49-F238E27FC236}">
                <a16:creationId xmlns:a16="http://schemas.microsoft.com/office/drawing/2014/main" id="{782706B5-0322-5B65-C998-5FFFAF4452A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Characteristics of the firm</a:t>
            </a:r>
          </a:p>
          <a:p>
            <a:pPr marL="717550" algn="just">
              <a:lnSpc>
                <a:spcPct val="105000"/>
              </a:lnSpc>
              <a:buSzPct val="100000"/>
              <a:buFont typeface="Wingdings" panose="05000000000000000000" pitchFamily="2" charset="2"/>
              <a:buChar char="§"/>
            </a:pPr>
            <a:r>
              <a:rPr lang="en-US" sz="2400" dirty="0">
                <a:latin typeface="+mj-lt"/>
              </a:rPr>
              <a:t>Form of the firm – sole proprietorship vs partnership vs private vs public companies</a:t>
            </a:r>
          </a:p>
          <a:p>
            <a:pPr marL="717550" algn="just">
              <a:lnSpc>
                <a:spcPct val="105000"/>
              </a:lnSpc>
              <a:buSzPct val="100000"/>
              <a:buFont typeface="Wingdings" panose="05000000000000000000" pitchFamily="2" charset="2"/>
              <a:buChar char="§"/>
            </a:pPr>
            <a:r>
              <a:rPr lang="en-US" sz="2400" dirty="0">
                <a:latin typeface="+mj-lt"/>
              </a:rPr>
              <a:t>Size – small firms use more own funds, large firms may access debt financing easier</a:t>
            </a:r>
          </a:p>
          <a:p>
            <a:pPr marL="717550" algn="just">
              <a:lnSpc>
                <a:spcPct val="105000"/>
              </a:lnSpc>
              <a:buSzPct val="100000"/>
              <a:buFont typeface="Wingdings" panose="05000000000000000000" pitchFamily="2" charset="2"/>
              <a:buChar char="§"/>
            </a:pPr>
            <a:r>
              <a:rPr lang="en-US" sz="2400" dirty="0">
                <a:latin typeface="+mj-lt"/>
              </a:rPr>
              <a:t>Creditworthiness – the higher the creditworthiness (rating) , the greater the possibility  of obtaining external finance</a:t>
            </a:r>
          </a:p>
        </p:txBody>
      </p:sp>
    </p:spTree>
    <p:custDataLst>
      <p:tags r:id="rId1"/>
    </p:custDataLst>
    <p:extLst>
      <p:ext uri="{BB962C8B-B14F-4D97-AF65-F5344CB8AC3E}">
        <p14:creationId xmlns:p14="http://schemas.microsoft.com/office/powerpoint/2010/main" val="908941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solidFill>
                  <a:schemeClr val="tx2"/>
                </a:solidFill>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1</a:t>
            </a:r>
            <a:r>
              <a:rPr lang="en-US" sz="2800" dirty="0">
                <a:solidFill>
                  <a:prstClr val="black"/>
                </a:solidFill>
                <a:latin typeface="Tahoma"/>
                <a:ea typeface="ＭＳ Ｐゴシック"/>
              </a:rPr>
              <a:t>6 part 2</a:t>
            </a:r>
            <a:endParaRPr kumimoji="0" lang="en-US" sz="2800" b="0" i="0" u="none" strike="noStrike" kern="1200" cap="none" spc="0" normalizeH="0" baseline="0" noProof="0" dirty="0">
              <a:ln>
                <a:noFill/>
              </a:ln>
              <a:solidFill>
                <a:prstClr val="black"/>
              </a:solidFill>
              <a:effectLst/>
              <a:uLnTx/>
              <a:uFillTx/>
              <a:latin typeface="Tahoma"/>
              <a:ea typeface="ＭＳ Ｐゴシック"/>
            </a:endParaRPr>
          </a:p>
          <a:p>
            <a:pPr marL="796925" marR="0" lvl="0" indent="-457200" algn="l" defTabSz="914400" rtl="0" eaLnBrk="0" fontAlgn="base" latinLnBrk="0" hangingPunct="0">
              <a:lnSpc>
                <a:spcPct val="100000"/>
              </a:lnSpc>
              <a:spcBef>
                <a:spcPts val="0"/>
              </a:spcBef>
              <a:spcAft>
                <a:spcPts val="600"/>
              </a:spcAft>
              <a:buClr>
                <a:srgbClr val="1F497D"/>
              </a:buClr>
              <a:buSzPct val="100000"/>
              <a:buFont typeface="Wingdings" panose="05000000000000000000" pitchFamily="2" charset="2"/>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796925" marR="0" lvl="0" indent="-457200" algn="l" defTabSz="914400" rtl="0" eaLnBrk="0" fontAlgn="base" latinLnBrk="0" hangingPunct="0">
              <a:lnSpc>
                <a:spcPct val="100000"/>
              </a:lnSpc>
              <a:spcBef>
                <a:spcPts val="0"/>
              </a:spcBef>
              <a:spcAft>
                <a:spcPts val="600"/>
              </a:spcAft>
              <a:buClr>
                <a:srgbClr val="1F497D"/>
              </a:buClr>
              <a:buSzPct val="100000"/>
              <a:buFont typeface="Wingdings" panose="05000000000000000000" pitchFamily="2" charset="2"/>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 relating to the content already covered</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18</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8013</TotalTime>
  <Words>1705</Words>
  <Application>Microsoft Office PowerPoint</Application>
  <PresentationFormat>On-screen Show (4:3)</PresentationFormat>
  <Paragraphs>387</Paragraphs>
  <Slides>23</Slides>
  <Notes>23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Symbol</vt:lpstr>
      <vt:lpstr>Tahoma</vt:lpstr>
      <vt:lpstr>Times</vt:lpstr>
      <vt:lpstr>Wingdings</vt:lpstr>
      <vt:lpstr>Wingdings 2</vt:lpstr>
      <vt:lpstr>Blank Presentation</vt:lpstr>
      <vt:lpstr>1_Blank Presentation</vt:lpstr>
      <vt:lpstr>PowerPoint Presentation</vt:lpstr>
      <vt:lpstr>Learning outcomes: Chapter 16</vt:lpstr>
      <vt:lpstr>The firm’s capital structure</vt:lpstr>
      <vt:lpstr>Financial leverage and return</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Financial leverage and return (cont.)</vt:lpstr>
      <vt:lpstr>Other important considerations</vt:lpstr>
      <vt:lpstr>Other important considerations (cont.)</vt:lpstr>
      <vt:lpstr>Other important considerations (cont.)</vt:lpstr>
      <vt:lpstr>Other important considerations (cont.)</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Reviewer</cp:lastModifiedBy>
  <cp:revision>1019</cp:revision>
  <cp:lastPrinted>2024-02-16T14:16:15Z</cp:lastPrinted>
  <dcterms:created xsi:type="dcterms:W3CDTF">2010-03-21T13:43:06Z</dcterms:created>
  <dcterms:modified xsi:type="dcterms:W3CDTF">2026-05-12T06:51:31Z</dcterms:modified>
</cp:coreProperties>
</file>