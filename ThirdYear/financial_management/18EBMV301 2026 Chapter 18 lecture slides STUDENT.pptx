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4" r:id="rId2"/>
    <p:sldMasterId id="2147483677" r:id="rId3"/>
  </p:sldMasterIdLst>
  <p:notesMasterIdLst>
    <p:notesMasterId r:id="rId34"/>
  </p:notesMasterIdLst>
  <p:handoutMasterIdLst>
    <p:handoutMasterId r:id="rId35"/>
  </p:handoutMasterIdLst>
  <p:sldIdLst>
    <p:sldId id="283" r:id="rId4"/>
    <p:sldId id="291" r:id="rId5"/>
    <p:sldId id="383" r:id="rId6"/>
    <p:sldId id="472" r:id="rId7"/>
    <p:sldId id="340" r:id="rId8"/>
    <p:sldId id="366" r:id="rId9"/>
    <p:sldId id="367" r:id="rId10"/>
    <p:sldId id="368" r:id="rId11"/>
    <p:sldId id="373" r:id="rId12"/>
    <p:sldId id="370" r:id="rId13"/>
    <p:sldId id="371" r:id="rId14"/>
    <p:sldId id="377" r:id="rId15"/>
    <p:sldId id="349" r:id="rId16"/>
    <p:sldId id="471" r:id="rId17"/>
    <p:sldId id="406" r:id="rId18"/>
    <p:sldId id="476" r:id="rId19"/>
    <p:sldId id="350" r:id="rId20"/>
    <p:sldId id="396" r:id="rId21"/>
    <p:sldId id="352" r:id="rId22"/>
    <p:sldId id="474" r:id="rId23"/>
    <p:sldId id="397" r:id="rId24"/>
    <p:sldId id="475" r:id="rId25"/>
    <p:sldId id="398" r:id="rId26"/>
    <p:sldId id="399" r:id="rId27"/>
    <p:sldId id="400" r:id="rId28"/>
    <p:sldId id="401" r:id="rId29"/>
    <p:sldId id="403" r:id="rId30"/>
    <p:sldId id="404" r:id="rId31"/>
    <p:sldId id="405" r:id="rId32"/>
    <p:sldId id="335" r:id="rId33"/>
  </p:sldIdLst>
  <p:sldSz cx="9144000" cy="6858000" type="screen4x3"/>
  <p:notesSz cx="6858000" cy="9945688"/>
  <p:custDataLst>
    <p:tags r:id="rId36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 Plessis, Darius" initials="dPD" lastIdx="2" clrIdx="0"/>
  <p:cmAuthor id="2" name="Wepener van der Walt" initials="WvdW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00677B"/>
    <a:srgbClr val="D69249"/>
    <a:srgbClr val="ADB3BF"/>
    <a:srgbClr val="D63A17"/>
    <a:srgbClr val="FDF1BB"/>
    <a:srgbClr val="FDF4C9"/>
    <a:srgbClr val="A2A871"/>
    <a:srgbClr val="9DA900"/>
    <a:srgbClr val="94A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4660"/>
  </p:normalViewPr>
  <p:slideViewPr>
    <p:cSldViewPr showGuides="1">
      <p:cViewPr varScale="1">
        <p:scale>
          <a:sx n="87" d="100"/>
          <a:sy n="87" d="100"/>
        </p:scale>
        <p:origin x="115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42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tman, Chantal (Prof) (Summerstrand Campus South)" userId="b3444f73-21d4-4d22-b260-75b64de2b6d6" providerId="ADAL" clId="{82100628-89FA-4494-92A0-08C71B573A19}"/>
    <pc:docChg chg="custSel modSld">
      <pc:chgData name="Rootman, Chantal (Prof) (Summerstrand Campus South)" userId="b3444f73-21d4-4d22-b260-75b64de2b6d6" providerId="ADAL" clId="{82100628-89FA-4494-92A0-08C71B573A19}" dt="2026-02-27T10:42:20.217" v="3" actId="478"/>
      <pc:docMkLst>
        <pc:docMk/>
      </pc:docMkLst>
      <pc:sldChg chg="delSp mod">
        <pc:chgData name="Rootman, Chantal (Prof) (Summerstrand Campus South)" userId="b3444f73-21d4-4d22-b260-75b64de2b6d6" providerId="ADAL" clId="{82100628-89FA-4494-92A0-08C71B573A19}" dt="2026-02-27T10:42:07.663" v="0" actId="478"/>
        <pc:sldMkLst>
          <pc:docMk/>
          <pc:sldMk cId="1067134094" sldId="283"/>
        </pc:sldMkLst>
      </pc:sldChg>
      <pc:sldChg chg="delSp mod">
        <pc:chgData name="Rootman, Chantal (Prof) (Summerstrand Campus South)" userId="b3444f73-21d4-4d22-b260-75b64de2b6d6" providerId="ADAL" clId="{82100628-89FA-4494-92A0-08C71B573A19}" dt="2026-02-27T10:42:18.039" v="2" actId="478"/>
        <pc:sldMkLst>
          <pc:docMk/>
          <pc:sldMk cId="3751338416" sldId="406"/>
        </pc:sldMkLst>
      </pc:sldChg>
      <pc:sldChg chg="delSp mod">
        <pc:chgData name="Rootman, Chantal (Prof) (Summerstrand Campus South)" userId="b3444f73-21d4-4d22-b260-75b64de2b6d6" providerId="ADAL" clId="{82100628-89FA-4494-92A0-08C71B573A19}" dt="2026-02-27T10:42:20.217" v="3" actId="478"/>
        <pc:sldMkLst>
          <pc:docMk/>
          <pc:sldMk cId="82299196" sldId="476"/>
        </pc:sldMkLst>
      </pc:sldChg>
    </pc:docChg>
  </pc:docChgLst>
  <pc:docChgLst>
    <pc:chgData name="Rootman, Chantal (Prof) (Summerstrand Campus South)" userId="b3444f73-21d4-4d22-b260-75b64de2b6d6" providerId="ADAL" clId="{98EAFCF1-45FE-429F-88D0-A0390D2D0BFB}"/>
    <pc:docChg chg="custSel modSld">
      <pc:chgData name="Rootman, Chantal (Prof) (Summerstrand Campus South)" userId="b3444f73-21d4-4d22-b260-75b64de2b6d6" providerId="ADAL" clId="{98EAFCF1-45FE-429F-88D0-A0390D2D0BFB}" dt="2026-05-15T11:08:12.210" v="104" actId="20577"/>
      <pc:docMkLst>
        <pc:docMk/>
      </pc:docMkLst>
      <pc:sldChg chg="modSp mod">
        <pc:chgData name="Rootman, Chantal (Prof) (Summerstrand Campus South)" userId="b3444f73-21d4-4d22-b260-75b64de2b6d6" providerId="ADAL" clId="{98EAFCF1-45FE-429F-88D0-A0390D2D0BFB}" dt="2026-05-15T11:07:27.435" v="42" actId="6549"/>
        <pc:sldMkLst>
          <pc:docMk/>
          <pc:sldMk cId="1067134094" sldId="283"/>
        </pc:sldMkLst>
        <pc:spChg chg="mod">
          <ac:chgData name="Rootman, Chantal (Prof) (Summerstrand Campus South)" userId="b3444f73-21d4-4d22-b260-75b64de2b6d6" providerId="ADAL" clId="{98EAFCF1-45FE-429F-88D0-A0390D2D0BFB}" dt="2026-05-15T11:07:27.435" v="42" actId="6549"/>
          <ac:spMkLst>
            <pc:docMk/>
            <pc:sldMk cId="1067134094" sldId="283"/>
            <ac:spMk id="4101" creationId="{00000000-0000-0000-0000-000000000000}"/>
          </ac:spMkLst>
        </pc:spChg>
      </pc:sldChg>
      <pc:sldChg chg="modSp">
        <pc:chgData name="Rootman, Chantal (Prof) (Summerstrand Campus South)" userId="b3444f73-21d4-4d22-b260-75b64de2b6d6" providerId="ADAL" clId="{98EAFCF1-45FE-429F-88D0-A0390D2D0BFB}" dt="2026-05-15T11:07:53.976" v="74" actId="20577"/>
        <pc:sldMkLst>
          <pc:docMk/>
          <pc:sldMk cId="870656167" sldId="350"/>
        </pc:sldMkLst>
        <pc:spChg chg="mod">
          <ac:chgData name="Rootman, Chantal (Prof) (Summerstrand Campus South)" userId="b3444f73-21d4-4d22-b260-75b64de2b6d6" providerId="ADAL" clId="{98EAFCF1-45FE-429F-88D0-A0390D2D0BFB}" dt="2026-05-15T11:07:53.976" v="74" actId="20577"/>
          <ac:spMkLst>
            <pc:docMk/>
            <pc:sldMk cId="870656167" sldId="350"/>
            <ac:spMk id="6" creationId="{00000000-0000-0000-0000-000000000000}"/>
          </ac:spMkLst>
        </pc:spChg>
      </pc:sldChg>
      <pc:sldChg chg="modSp mod">
        <pc:chgData name="Rootman, Chantal (Prof) (Summerstrand Campus South)" userId="b3444f73-21d4-4d22-b260-75b64de2b6d6" providerId="ADAL" clId="{98EAFCF1-45FE-429F-88D0-A0390D2D0BFB}" dt="2026-05-15T11:08:12.210" v="104" actId="20577"/>
        <pc:sldMkLst>
          <pc:docMk/>
          <pc:sldMk cId="1058610182" sldId="396"/>
        </pc:sldMkLst>
        <pc:spChg chg="mod">
          <ac:chgData name="Rootman, Chantal (Prof) (Summerstrand Campus South)" userId="b3444f73-21d4-4d22-b260-75b64de2b6d6" providerId="ADAL" clId="{98EAFCF1-45FE-429F-88D0-A0390D2D0BFB}" dt="2026-05-15T11:08:12.210" v="104" actId="20577"/>
          <ac:spMkLst>
            <pc:docMk/>
            <pc:sldMk cId="1058610182" sldId="396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903A18-4839-8D4F-8ABB-4D063655F5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086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1" y="0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2975" y="746125"/>
            <a:ext cx="497205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1" y="9448403"/>
            <a:ext cx="2971800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70" tIns="45935" rIns="91870" bIns="45935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00996E8-5341-8848-B47C-0F512A8E3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3353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4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782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6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160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0BEA5B-DB78-4703-9340-D6C6ED17ABD1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78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27404E-1701-485E-98DA-17CBACD77B2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554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27404E-1701-485E-98DA-17CBACD77B2B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421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D4332F-FF78-48F9-AA75-F8B01B67D0D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66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D7B2A1-0E96-4CD0-8CFA-C1E6E890F54D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143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BBD559-0621-4C22-9AAA-9516D437EF5D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724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1CA002-C062-41F7-845A-431B0BCD2F8F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578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DBD8499-11F6-4996-98F4-2BAD43567A55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045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7EF1216-D212-4F7A-B8B6-FA8DF884E8E9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614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290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407FD9-B960-428E-81DA-660439CD80B8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514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32F2B-75AB-58A0-1482-287338A1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0B8C453A-1F0C-9436-90B8-B5C26CFBB4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407FD9-B960-428E-81DA-660439CD80B8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43CD6DD-0A13-FB2F-14A3-888FE96E20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0DC88E4-B978-A738-36E0-04A15BB12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5149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2CED92-3C8E-43A0-BD36-3A4D009832E0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3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2CED92-3C8E-43A0-BD36-3A4D009832E0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3437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973DFB-783C-485A-B7E4-E7AA09ABAA76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942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50913" y="752475"/>
            <a:ext cx="4956175" cy="37163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1" y="4724203"/>
            <a:ext cx="5029200" cy="4475559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137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391CD7-1B10-4990-A9B8-792DB2B73F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744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391CD7-1B10-4990-A9B8-792DB2B73F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6349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01ED5A-4062-4A8E-BD26-7B293D7A96B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857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D77C0E-CE0B-4C44-8105-E52C401C1460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2220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E02856-9A5D-4791-ACDB-69FCB3890176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592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FEA17E0-0E0E-4201-BC17-9DC3867FB28E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969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501215-1C26-402E-B28C-9DBA1B147E3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304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72225C-20BA-4174-BF75-526E73AF8C41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953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65D79C1-755A-430D-81E8-59B42F248E6D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  <a:cs typeface="Arial" panose="020B0604020202020204" pitchFamily="34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  <a:cs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039" y="4717137"/>
            <a:ext cx="4982422" cy="44693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ZA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8344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918698"/>
            <a:fld id="{73303AEE-F764-0E46-AFB6-085D8FECA2EE}" type="slidenum">
              <a:rPr lang="en-US">
                <a:solidFill>
                  <a:srgbClr val="000000"/>
                </a:solidFill>
              </a:rPr>
              <a:pPr defTabSz="918698"/>
              <a:t>30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9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7772400" cy="1470025"/>
          </a:xfrm>
        </p:spPr>
        <p:txBody>
          <a:bodyPr/>
          <a:lstStyle>
            <a:lvl1pPr>
              <a:defRPr b="0" cap="none" spc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E0EE7-581C-F445-BDC6-E24C5F5F02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C6F65-9470-3143-AA4D-A7FCF6DFB4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60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C5801-AA14-4D1A-A09C-9A7B708D243D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0C429-FEEA-7C46-811F-BB6B290A1B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30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E7E0EE7-581C-F445-BDC6-E24C5F5F02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5C6B5-DD21-4288-8561-AE356B15015C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6F7B1-1F54-DC45-AA19-AF96705266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631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59354-B95F-440D-8860-EF55DC073CE5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3F0B62-EB7C-4C4C-9663-BBBCE6538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9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4B58B-DB37-4B77-A33E-10DE74417EED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9D31C-B9FB-A342-BD45-9C454D027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3016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2792B-6D6E-426B-AC0C-C6FEF743363F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9A667-37E8-0F44-9A2C-CCFACA3E43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2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EDE5F5-1C57-47D5-852C-555C0AFFE31C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6AF9B5-D6E4-DD42-9360-8089314394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68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A1D04-25F2-4213-979E-6BF08363A9FC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CEB52-F4EC-F746-83D7-E3FE51B4A0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55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F2C86-7BFE-466F-80DB-F7397FFB5C35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EA789-1832-954F-943E-958C915F84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38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2624-D27F-4068-A9A7-8BF922128060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57250E-25D6-4747-832C-D993B00481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4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93FD7-5D95-4EB5-9D95-C3616D7FED50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E7CE9-E929-6C4E-9651-8733B1382B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602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D32DAC-1C69-402C-AC50-7D9759DFBFB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9810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itle templat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81000"/>
            <a:ext cx="7772400" cy="1470025"/>
          </a:xfrm>
        </p:spPr>
        <p:txBody>
          <a:bodyPr/>
          <a:lstStyle>
            <a:lvl1pPr>
              <a:defR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80F4C-D20F-4E42-B892-F50B035922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29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F1490-F315-E146-BF40-8863287273B9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388B48C-AF25-9349-ADFB-BD16EC0885F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005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BBECB-0074-FC49-9A48-26640A89A3ED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B778E-DC55-6144-B0FD-F5749176D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590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6C88B-6580-E14A-B992-CE9915710923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DA76C-2B4B-6545-A920-3D8F125715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480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9A8116-1F18-1E42-91BA-2CBF8DE2A17E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89F4A-1641-3243-B0F2-B62025ED1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92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70A47-6485-A144-9590-E8D90DC6D983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DC54625-CEE0-144D-A62C-0850D4B07F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79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7D436C-A1D4-6740-99C6-BAF1A1FDB226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88647-DB58-7949-A3C3-D22AAACDF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86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AE36E-17CF-8E4C-AAD1-F144DA40D7B0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CA742-6BD8-D644-9A08-4E2349E933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998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F98664-083E-3545-8427-DCB4D14C53D8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A657B-BED3-B74F-8FAA-DCAE9C1772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433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41C0-7E57-1749-A0B9-445380D9442E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6CACE6-98F4-6B42-A1BE-2672BD8DED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09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304800"/>
            <a:ext cx="219075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4800"/>
            <a:ext cx="641985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C8AB2-8660-2E47-8715-945FD1C3E0A4}" type="datetime1">
              <a:rPr lang="en-US"/>
              <a:pPr>
                <a:defRPr/>
              </a:pPr>
              <a:t>5/15/2026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D1517-D7A9-FF4E-9494-5F159047D0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448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97D32DAC-1C69-402C-AC50-7D9759DFBFB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978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A1720AD-FDE0-49DA-9374-2B2FC9527FE1}" type="datetime1">
              <a:rPr lang="en-US" smtClean="0"/>
              <a:t>5/15/2026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46C6F65-9470-3143-AA4D-A7FCF6DFB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13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FIN Blue.jpg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943" cy="6858000"/>
          </a:xfrm>
          <a:prstGeom prst="rect">
            <a:avLst/>
          </a:prstGeom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4800"/>
            <a:ext cx="876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477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120CADE-E3FB-F44E-95E7-FBAA39822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55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itchFamily="1" charset="0"/>
          <a:ea typeface="ＭＳ Ｐゴシック" pitchFamily="1" charset="-128"/>
        </a:defRPr>
      </a:lvl9pPr>
    </p:titleStyle>
    <p:bodyStyle>
      <a:lvl1pPr marL="342900" indent="-3429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2"/>
        <a:buChar char="u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Wingdings 2" charset="2"/>
        <a:buChar char="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5000"/>
        </a:lnSpc>
        <a:spcBef>
          <a:spcPct val="20000"/>
        </a:spcBef>
        <a:spcAft>
          <a:spcPct val="0"/>
        </a:spcAft>
        <a:buClr>
          <a:schemeClr val="tx2"/>
        </a:buClr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5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5466312" y="2286000"/>
            <a:ext cx="3124200" cy="107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>
            <a:spAutoFit/>
          </a:bodyPr>
          <a:lstStyle/>
          <a:p>
            <a:pPr lvl="0" algn="ctr" defTabSz="912813" eaLnBrk="1" hangingPunct="1">
              <a:spcBef>
                <a:spcPct val="50000"/>
              </a:spcBef>
              <a:defRPr/>
            </a:pPr>
            <a:r>
              <a:rPr lang="en-ZA" sz="3200" b="1" dirty="0">
                <a:solidFill>
                  <a:srgbClr val="28287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Dividend policy</a:t>
            </a:r>
            <a:endParaRPr lang="en-GB" sz="3200" b="1" dirty="0">
              <a:solidFill>
                <a:srgbClr val="28287A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4339457" y="101304"/>
            <a:ext cx="5113283" cy="1132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/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Chapter 18</a:t>
            </a:r>
          </a:p>
        </p:txBody>
      </p:sp>
      <p:sp>
        <p:nvSpPr>
          <p:cNvPr id="4101" name="Rectangle 6"/>
          <p:cNvSpPr>
            <a:spLocks noChangeArrowheads="1"/>
          </p:cNvSpPr>
          <p:nvPr/>
        </p:nvSpPr>
        <p:spPr bwMode="auto">
          <a:xfrm>
            <a:off x="4742050" y="5387788"/>
            <a:ext cx="4424362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/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Slides by Prof C Rootman, </a:t>
            </a:r>
          </a:p>
          <a:p>
            <a:pPr lvl="0" algn="ctr" defTabSz="912813" eaLnBrk="1" hangingPunct="1"/>
            <a:r>
              <a:rPr lang="en-GB" sz="2000" b="1" dirty="0">
                <a:solidFill>
                  <a:srgbClr val="28287A"/>
                </a:solidFill>
                <a:latin typeface="+mn-lt"/>
                <a:ea typeface="+mn-ea"/>
                <a:cs typeface="Arial" charset="0"/>
              </a:rPr>
              <a:t>Dr S Watson, Ms E Kobese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28287A"/>
                </a:solidFill>
                <a:effectLst/>
                <a:uLnTx/>
                <a:uFillTx/>
                <a:latin typeface="+mn-lt"/>
                <a:ea typeface="+mn-ea"/>
                <a:cs typeface="Arial" charset="0"/>
              </a:rPr>
              <a:t> &amp; Ms N Maliwa</a:t>
            </a:r>
          </a:p>
        </p:txBody>
      </p:sp>
    </p:spTree>
    <p:extLst>
      <p:ext uri="{BB962C8B-B14F-4D97-AF65-F5344CB8AC3E}">
        <p14:creationId xmlns:p14="http://schemas.microsoft.com/office/powerpoint/2010/main" val="106713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269"/>
    </mc:Choice>
    <mc:Fallback xmlns="">
      <p:transition spd="slow" advTm="7626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90500" y="76200"/>
            <a:ext cx="8763000" cy="685800"/>
          </a:xfrm>
        </p:spPr>
        <p:txBody>
          <a:bodyPr/>
          <a:lstStyle/>
          <a:p>
            <a:r>
              <a:rPr lang="en-US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outcomes: Chapter 18</a:t>
            </a:r>
            <a:endParaRPr lang="en-US" sz="28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9400" name="Rectangle 1032"/>
          <p:cNvSpPr>
            <a:spLocks noGrp="1" noChangeArrowheads="1"/>
          </p:cNvSpPr>
          <p:nvPr>
            <p:ph idx="1"/>
          </p:nvPr>
        </p:nvSpPr>
        <p:spPr>
          <a:xfrm>
            <a:off x="217394" y="914400"/>
            <a:ext cx="8762999" cy="5791200"/>
          </a:xfrm>
        </p:spPr>
        <p:txBody>
          <a:bodyPr/>
          <a:lstStyle/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distinguish between the various forms of dividends</a:t>
            </a:r>
            <a:endParaRPr lang="en-Z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describe the cash dividend payment processes</a:t>
            </a:r>
            <a:endParaRPr lang="en-Z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illustrate the influence of cash dividends, share dividends and share splits on the value of the firm</a:t>
            </a:r>
            <a:endParaRPr lang="en-Z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evaluate the factors that influence dividend policy</a:t>
            </a:r>
            <a:endParaRPr lang="en-Z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apply a residual dividend policy</a:t>
            </a:r>
            <a:endParaRPr lang="en-ZA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  <a:tabLst>
                <a:tab pos="431800" algn="l"/>
              </a:tabLst>
            </a:pPr>
            <a:r>
              <a:rPr lang="en-ZA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debate whether dividends have an influence on a firm’s share price</a:t>
            </a:r>
            <a:r>
              <a:rPr lang="en-ZA" sz="2400" dirty="0">
                <a:effectLst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2</a:t>
            </a:fld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00EC7C80-3FF3-4C82-5516-5F548C696ED1}"/>
                  </a:ext>
                </a:extLst>
              </p:cNvPr>
              <p:cNvSpPr txBox="1"/>
              <p:nvPr/>
            </p:nvSpPr>
            <p:spPr bwMode="auto">
              <a:xfrm>
                <a:off x="4464050" y="4762500"/>
                <a:ext cx="3048000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Z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 = </m:t>
                      </m:r>
                      <m:nary>
                        <m:naryPr>
                          <m:chr m:val="∑"/>
                          <m:ctrlP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 = 1</m:t>
                          </m:r>
                        </m:sub>
                        <m:sup>
                          <m:r>
                            <a:rPr lang="en-Z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Z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𝐷𝑃</m:t>
                              </m:r>
                              <m:sSub>
                                <m:sSub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ZA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1 + 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ZA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00EC7C80-3FF3-4C82-5516-5F548C696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4050" y="4762500"/>
                <a:ext cx="30480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36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523"/>
    </mc:Choice>
    <mc:Fallback xmlns="">
      <p:transition spd="slow" advTm="735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791200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@ end of fin year: Board of Directors to decide how best to </a:t>
            </a:r>
            <a:r>
              <a:rPr lang="en-US" sz="2400" dirty="0" err="1">
                <a:latin typeface="+mj-lt"/>
              </a:rPr>
              <a:t>utilise</a:t>
            </a:r>
            <a:r>
              <a:rPr lang="en-US" sz="2400" dirty="0">
                <a:latin typeface="+mj-lt"/>
              </a:rPr>
              <a:t> the firm’s earning after tax (EAT)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Remember Ch 5…only 2 things firm can do with EAT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R/E     (form of internal financing/equity)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Pay out dividends    (focus of THIS </a:t>
            </a:r>
            <a:r>
              <a:rPr lang="en-US" sz="2400" dirty="0" err="1">
                <a:latin typeface="+mj-lt"/>
              </a:rPr>
              <a:t>ch</a:t>
            </a:r>
            <a:r>
              <a:rPr lang="en-US" sz="2400" dirty="0">
                <a:latin typeface="+mj-lt"/>
              </a:rPr>
              <a:t>)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Dividends: amount from EAT approved by BOD to be paid out to shareholders to compensate these investors for taking the risk of investing in the firm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If have Pref shares: declare Pref div first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R/E vs div…influence fin position and fin performance; influence investments, financing, growth, ratios, CF, etc.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3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563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Introduction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990600"/>
            <a:ext cx="8655424" cy="5791200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Decision also depends on having enough capital to finance firm (@ lowest possible cost…)</a:t>
            </a:r>
          </a:p>
          <a:p>
            <a:pPr marL="742950" marR="0" lvl="1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More costs effective using R/E than it is to issue new bonds or new pref./ord. shares</a:t>
            </a:r>
          </a:p>
          <a:p>
            <a:pPr marL="400050" marR="0" lvl="1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   Remember Ch 5?! 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k</a:t>
            </a:r>
            <a:r>
              <a:rPr kumimoji="0" lang="en-US" altLang="en-US" sz="2400" b="1" i="0" u="none" strike="noStrike" kern="0" cap="none" spc="0" normalizeH="0" baseline="-25000" noProof="0" dirty="0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i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 &lt;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k</a:t>
            </a:r>
            <a:r>
              <a:rPr kumimoji="0" lang="en-US" altLang="en-US" sz="2400" b="1" i="0" u="none" strike="noStrike" kern="0" cap="none" spc="0" normalizeH="0" baseline="-25000" noProof="0" dirty="0" err="1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p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 &lt; </a:t>
            </a:r>
            <a:r>
              <a:rPr kumimoji="0" lang="en-US" altLang="en-US" sz="2400" b="1" i="0" u="none" strike="noStrike" kern="0" cap="none" spc="0" normalizeH="0" baseline="0" noProof="0" dirty="0" err="1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k</a:t>
            </a:r>
            <a:r>
              <a:rPr kumimoji="0" lang="en-US" altLang="en-US" sz="2400" b="1" i="0" u="none" strike="noStrike" kern="0" cap="none" spc="0" normalizeH="0" baseline="-25000" noProof="0" dirty="0" err="1">
                <a:ln>
                  <a:noFill/>
                </a:ln>
                <a:effectLst/>
                <a:highlight>
                  <a:srgbClr val="99CCFF"/>
                </a:highlight>
                <a:uLnTx/>
                <a:uFillTx/>
                <a:latin typeface="Tahoma"/>
                <a:ea typeface="+mn-ea"/>
                <a:cs typeface="+mn-cs"/>
              </a:rPr>
              <a:t>n</a:t>
            </a:r>
            <a:endParaRPr kumimoji="0" lang="en-US" altLang="en-US" sz="2400" b="1" i="0" u="none" strike="noStrike" kern="0" cap="none" spc="0" normalizeH="0" baseline="-25000" noProof="0" dirty="0">
              <a:ln>
                <a:noFill/>
              </a:ln>
              <a:effectLst/>
              <a:highlight>
                <a:srgbClr val="99CCFF"/>
              </a:highlight>
              <a:uLnTx/>
              <a:uFillTx/>
              <a:latin typeface="Tahoma"/>
              <a:ea typeface="+mn-ea"/>
              <a:cs typeface="+mn-cs"/>
            </a:endParaRPr>
          </a:p>
          <a:p>
            <a:pPr marL="717550" marR="0" lvl="1" indent="-3175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None/>
              <a:tabLst/>
              <a:defRPr/>
            </a:pPr>
            <a:r>
              <a:rPr lang="en-US" altLang="en-US" sz="2400" b="1" baseline="-25000" dirty="0">
                <a:latin typeface="Tahoma"/>
                <a:cs typeface="+mn-cs"/>
              </a:rPr>
              <a:t>      </a:t>
            </a:r>
          </a:p>
          <a:p>
            <a:pPr marL="717550" marR="0" lvl="1" indent="-3175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None/>
              <a:tabLst/>
              <a:defRPr/>
            </a:pPr>
            <a:r>
              <a:rPr lang="en-US" altLang="en-US" sz="2400" b="1" baseline="-25000" dirty="0">
                <a:solidFill>
                  <a:prstClr val="black"/>
                </a:solidFill>
                <a:latin typeface="Tahoma"/>
                <a:ea typeface="ＭＳ Ｐゴシック"/>
                <a:cs typeface="+mn-cs"/>
              </a:rPr>
              <a:t>	</a:t>
            </a:r>
            <a:r>
              <a:rPr lang="en-US" altLang="en-US" sz="2000" dirty="0">
                <a:solidFill>
                  <a:prstClr val="black"/>
                </a:solidFill>
                <a:latin typeface="Tahoma"/>
                <a:ea typeface="ＭＳ Ｐゴシック"/>
              </a:rPr>
              <a:t>Cost of debt (after-tax) lower than cost of pref. shares, and cost of pref. shares lower than cost of ordinary shares</a:t>
            </a:r>
          </a:p>
          <a:p>
            <a:pPr marL="717550" marR="0" lvl="1" indent="-3175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None/>
              <a:tabLst/>
              <a:defRPr/>
            </a:pPr>
            <a:r>
              <a:rPr lang="en-US" altLang="en-US" sz="2000" dirty="0">
                <a:solidFill>
                  <a:prstClr val="black"/>
                </a:solidFill>
                <a:latin typeface="Tahoma"/>
                <a:ea typeface="ＭＳ Ｐゴシック"/>
              </a:rPr>
              <a:t>	Cost of ordinary shares always the highest… Do you still know why?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solidFill>
                <a:prstClr val="black"/>
              </a:solidFill>
              <a:latin typeface="Tahoma"/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7E0EE7-581C-F445-BDC6-E24C5F5F02F8}" type="slidenum">
              <a:rPr lang="en-US" smtClean="0">
                <a:solidFill>
                  <a:schemeClr val="tx1"/>
                </a:solidFill>
              </a:rPr>
              <a:pPr>
                <a:defRPr/>
              </a:pPr>
              <a:t>4</a:t>
            </a:fld>
            <a:endParaRPr lang="en-US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848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1B1DFE-5C5C-4894-841B-98B771029AE4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820150" cy="981075"/>
          </a:xfrm>
        </p:spPr>
        <p:txBody>
          <a:bodyPr/>
          <a:lstStyle/>
          <a:p>
            <a:pPr eaLnBrk="1" hangingPunct="1"/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dirty="0">
              <a:solidFill>
                <a:srgbClr val="000066"/>
              </a:solidFill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69325" cy="5805487"/>
          </a:xfrm>
        </p:spPr>
        <p:txBody>
          <a:bodyPr/>
          <a:lstStyle/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Three major financial management decision making areas in Ch 1: investment, financing and working capital decisions</a:t>
            </a:r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en-ZA" sz="2000" dirty="0"/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Investment (Ch 9 &amp; Ch 12</a:t>
            </a:r>
            <a:r>
              <a:rPr kumimoji="0" lang="en-ZA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–</a:t>
            </a:r>
            <a:r>
              <a:rPr lang="en-ZA" sz="2400" dirty="0"/>
              <a:t>14); financing (</a:t>
            </a:r>
            <a:r>
              <a:rPr lang="en-ZA" sz="2400" dirty="0" err="1"/>
              <a:t>Chs</a:t>
            </a:r>
            <a:r>
              <a:rPr lang="en-ZA" sz="2400" dirty="0"/>
              <a:t> 8, 15); in Ch 8 we looked at share valuation and the influence of dividends on a share’s value (dividend growth model) … in this </a:t>
            </a:r>
            <a:r>
              <a:rPr lang="en-ZA" sz="2400" dirty="0" err="1"/>
              <a:t>ch</a:t>
            </a:r>
            <a:r>
              <a:rPr lang="en-ZA" sz="2400" dirty="0"/>
              <a:t> we specifically consider dividend decisions</a:t>
            </a:r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en-ZA" sz="2000" dirty="0"/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The value (current price) of a share depends on the sum of the PVs of its future expected cash flows (</a:t>
            </a:r>
            <a:r>
              <a:rPr lang="en-ZA" sz="2400" b="1" dirty="0">
                <a:solidFill>
                  <a:srgbClr val="800080"/>
                </a:solidFill>
              </a:rPr>
              <a:t>dividends</a:t>
            </a:r>
            <a:r>
              <a:rPr lang="en-ZA" sz="2400" dirty="0"/>
              <a:t>) discounted at an appropriate rate (Ch 1 &amp; Ch 8)</a:t>
            </a:r>
          </a:p>
          <a:p>
            <a:pPr algn="just">
              <a:lnSpc>
                <a:spcPct val="90000"/>
              </a:lnSpc>
              <a:buFontTx/>
              <a:buNone/>
              <a:defRPr/>
            </a:pPr>
            <a:r>
              <a:rPr lang="en-ZA" sz="2400" dirty="0"/>
              <a:t>					</a:t>
            </a:r>
          </a:p>
          <a:p>
            <a:pPr algn="just">
              <a:lnSpc>
                <a:spcPct val="90000"/>
              </a:lnSpc>
              <a:buFontTx/>
              <a:buNone/>
              <a:defRPr/>
            </a:pPr>
            <a:r>
              <a:rPr lang="en-ZA" sz="2400" dirty="0"/>
              <a:t>					 	 </a:t>
            </a:r>
            <a:r>
              <a:rPr lang="en-ZA" sz="2400" dirty="0">
                <a:latin typeface="Times New Roman" pitchFamily="18" charset="0"/>
              </a:rPr>
              <a:t>P</a:t>
            </a:r>
            <a:r>
              <a:rPr lang="en-ZA" sz="2400" baseline="-25000" dirty="0">
                <a:latin typeface="Times New Roman" pitchFamily="18" charset="0"/>
              </a:rPr>
              <a:t>0</a:t>
            </a:r>
            <a:r>
              <a:rPr lang="en-ZA" sz="2400" dirty="0">
                <a:latin typeface="Times New Roman" pitchFamily="18" charset="0"/>
              </a:rPr>
              <a:t> = D</a:t>
            </a:r>
            <a:r>
              <a:rPr lang="en-ZA" sz="2400" baseline="-25000" dirty="0">
                <a:latin typeface="Times New Roman" pitchFamily="18" charset="0"/>
              </a:rPr>
              <a:t>1</a:t>
            </a:r>
            <a:r>
              <a:rPr lang="en-ZA" sz="2400" dirty="0">
                <a:latin typeface="Times New Roman" pitchFamily="18" charset="0"/>
              </a:rPr>
              <a:t> / (k – g)</a:t>
            </a:r>
          </a:p>
          <a:p>
            <a:pPr marL="533400" indent="-533400" algn="just">
              <a:buFontTx/>
              <a:buNone/>
              <a:defRPr/>
            </a:pPr>
            <a:endParaRPr lang="en-US" sz="2400" dirty="0"/>
          </a:p>
        </p:txBody>
      </p:sp>
      <p:graphicFrame>
        <p:nvGraphicFramePr>
          <p:cNvPr id="225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780992"/>
              </p:ext>
            </p:extLst>
          </p:nvPr>
        </p:nvGraphicFramePr>
        <p:xfrm>
          <a:off x="1447800" y="5562600"/>
          <a:ext cx="3048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02865" imgH="457002" progId="Equation.3">
                  <p:embed/>
                </p:oleObj>
              </mc:Choice>
              <mc:Fallback>
                <p:oleObj name="Equation" r:id="rId3" imgW="1002865" imgH="457002" progId="Equation.3">
                  <p:embed/>
                  <p:pic>
                    <p:nvPicPr>
                      <p:cNvPr id="2253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562600"/>
                        <a:ext cx="30480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3045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B1146-8555-4543-BA49-E236AFED150F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820150" cy="981075"/>
          </a:xfrm>
        </p:spPr>
        <p:txBody>
          <a:bodyPr/>
          <a:lstStyle/>
          <a:p>
            <a:pPr eaLnBrk="1" hangingPunct="1"/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dirty="0">
              <a:solidFill>
                <a:srgbClr val="000066"/>
              </a:solidFill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69325" cy="5805487"/>
          </a:xfrm>
        </p:spPr>
        <p:txBody>
          <a:bodyPr/>
          <a:lstStyle/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Need a balance: optimal dividend policy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ZA" sz="1800" dirty="0"/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Should a firm pay out as much as possible to its shareholders in the form dividends? Remember: this will </a:t>
            </a:r>
            <a:r>
              <a:rPr lang="en-ZA" sz="2400" dirty="0">
                <a:sym typeface="Wingdings" pitchFamily="2" charset="2"/>
              </a:rPr>
              <a:t> P</a:t>
            </a:r>
            <a:r>
              <a:rPr lang="en-ZA" sz="2400" baseline="-25000" dirty="0">
                <a:sym typeface="Wingdings" pitchFamily="2" charset="2"/>
              </a:rPr>
              <a:t>0</a:t>
            </a:r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en-ZA" sz="1800" dirty="0"/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Should a firm plough back as much of its earnings as possible instead of paying dividends? (to use for investments to ultimately/”later” improve growth)</a:t>
            </a:r>
            <a:endParaRPr lang="en-ZA" sz="2400" dirty="0">
              <a:sym typeface="Wingdings" pitchFamily="2" charset="2"/>
            </a:endParaRPr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en-ZA" sz="1800" dirty="0"/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Thus, the major question: should the firm pay out money to its shareholders (in dividend form), or should the firm keep that money and invest it for its shareholders (to “gain later”)?		</a:t>
            </a:r>
          </a:p>
          <a:p>
            <a:pPr algn="just">
              <a:lnSpc>
                <a:spcPct val="90000"/>
              </a:lnSpc>
              <a:buFontTx/>
              <a:buNone/>
              <a:defRPr/>
            </a:pPr>
            <a:r>
              <a:rPr lang="en-ZA" sz="2400" dirty="0"/>
              <a:t>				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793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B1146-8555-4543-BA49-E236AFED150F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820150" cy="981075"/>
          </a:xfrm>
        </p:spPr>
        <p:txBody>
          <a:bodyPr/>
          <a:lstStyle/>
          <a:p>
            <a:pPr eaLnBrk="1" hangingPunct="1"/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dirty="0">
              <a:solidFill>
                <a:srgbClr val="000066"/>
              </a:solidFill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569325" cy="5805487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Cash dividend results in cash outflow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Firms make provision for bad economic times by retaining more of EAT (rather than paying dividends)</a:t>
            </a:r>
          </a:p>
          <a:p>
            <a:pPr marL="742950" marR="0" lvl="1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Vs many business opportunities next year: R/E more, so have enough capital for the investments…pay lower or no dividends </a:t>
            </a:r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endParaRPr lang="en-ZA" sz="2400" dirty="0"/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>
                <a:solidFill>
                  <a:prstClr val="black"/>
                </a:solidFill>
                <a:latin typeface="Tahoma"/>
                <a:ea typeface="ＭＳ Ｐゴシック"/>
              </a:rPr>
              <a:t>Balance between current dividends and future growth that maximises the share price</a:t>
            </a:r>
            <a:endParaRPr lang="en-GB" sz="2400" dirty="0">
              <a:solidFill>
                <a:prstClr val="black"/>
              </a:solidFill>
              <a:latin typeface="Tahoma"/>
              <a:ea typeface="ＭＳ Ｐゴシック"/>
            </a:endParaRP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endParaRPr lang="en-ZA" sz="1800" dirty="0"/>
          </a:p>
          <a:p>
            <a:pPr algn="just">
              <a:lnSpc>
                <a:spcPct val="90000"/>
              </a:lnSpc>
              <a:buSzPct val="100000"/>
              <a:buFont typeface="Arial" panose="020B0604020202020204" pitchFamily="34" charset="0"/>
              <a:buChar char="•"/>
              <a:defRPr/>
            </a:pPr>
            <a:r>
              <a:rPr lang="en-ZA" sz="2400" dirty="0"/>
              <a:t>This chapter’s discussion is still part of capital structuring (continue from Ch 16) decisions, since we will see influences on firms’ equity sections of their statements of financial positions: dividends and share repurchases				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685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9937F0E-8A91-4D8C-B107-8A5B4165C9DF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-26988"/>
            <a:ext cx="87630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dirty="0">
              <a:solidFill>
                <a:srgbClr val="000066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77812" y="906572"/>
            <a:ext cx="8588375" cy="5978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Dividend policy question: should the firm pay out a large % of its earnings now or just a small % or nothing at all (in which case dividend payout ratio = 0% and the plowback/retention ratio = 100%)? </a:t>
            </a: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Dividend irrelevance vs </a:t>
            </a: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relevance… Dividends MATTER! </a:t>
            </a:r>
            <a:r>
              <a:rPr lang="en-US" sz="2000" dirty="0">
                <a:solidFill>
                  <a:prstClr val="black"/>
                </a:solidFill>
                <a:latin typeface="Tahoma"/>
                <a:ea typeface="ＭＳ Ｐゴシック"/>
              </a:rPr>
              <a:t>(understand TB pg. 403)</a:t>
            </a: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Dividend policy therefore refers to management’s decision as to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time pattern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of dividend payouts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So…</a:t>
            </a: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High DPS vs low DPS?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+mn-cs"/>
              </a:rPr>
              <a:t>Between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two companies with same general earning power and position in an industry, one paying larger dividend will almost always sell at a higher price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  <a:p>
            <a:pPr marL="763588" lvl="1" indent="-363538" algn="just">
              <a:buClr>
                <a:srgbClr val="1F497D"/>
              </a:buClr>
              <a:buFontTx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33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762FE92-B0A7-459B-BE48-36D5D7E50E31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6988"/>
            <a:ext cx="88392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1066800"/>
            <a:ext cx="8534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Desire for current income</a:t>
            </a: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 by shareholders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Investors with substantial current consumption needs prefer high current dividends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Example: Pension funds that need to meet needs of their retired members for a fixed monthly income prefer investments offering higher dividend yields 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814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9B5886-D032-433C-8B02-A5AE573C8BEF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6988"/>
            <a:ext cx="88392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59396" name="Rectangle 3"/>
          <p:cNvSpPr txBox="1">
            <a:spLocks noChangeArrowheads="1"/>
          </p:cNvSpPr>
          <p:nvPr/>
        </p:nvSpPr>
        <p:spPr bwMode="auto">
          <a:xfrm>
            <a:off x="304800" y="990600"/>
            <a:ext cx="8382000" cy="5714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Real-world factors which might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favour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low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dividend payout policy…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Investors pay tax (10%) on capital gains when transaction occurs (tax payment deferred to a later date …)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Tx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Investors pay tax (20%) on dividends received … known as withholding tax … company paying dividends withhold 20% of dividend payout and then pay it over to SARS on behalf of investors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Tx/>
              <a:buChar char="•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57188" marR="0" lvl="0" indent="-35718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What is the impact of this on companies’ dividend payout decisions? </a:t>
            </a:r>
          </a:p>
          <a:p>
            <a:pPr marL="630238" marR="0" lvl="1" indent="-1730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Now,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companies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might prefer to pay out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high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dividends,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investors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might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not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…</a:t>
            </a:r>
          </a:p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4914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F2D955-DDA2-47AC-AB4B-5E733BF24ECB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6988"/>
            <a:ext cx="88392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0825" y="1143000"/>
            <a:ext cx="866457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However, since payment of capital gains tax is deferred until such time as shares are sold, on TVM considerations,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shareholders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might prefer capital gains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Does this lead to a policy of paying no dividends?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No, dividend policy depends on various factors, including individual and corporate tax rates and flotation costs</a:t>
            </a:r>
          </a:p>
          <a:p>
            <a:pPr marL="34925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Flotation costs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also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favours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lower dividend payouts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– higher costs to raise new equity capital, so rather retain earnings, therefore inclined to have a lower payout</a:t>
            </a:r>
          </a:p>
        </p:txBody>
      </p:sp>
    </p:spTree>
    <p:extLst>
      <p:ext uri="{BB962C8B-B14F-4D97-AF65-F5344CB8AC3E}">
        <p14:creationId xmlns:p14="http://schemas.microsoft.com/office/powerpoint/2010/main" val="382994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27D221-6C41-4E26-B8C6-3D146B549FA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26988"/>
            <a:ext cx="8839200" cy="1143001"/>
          </a:xfrm>
        </p:spPr>
        <p:txBody>
          <a:bodyPr/>
          <a:lstStyle/>
          <a:p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73732" name="Rectangle 3"/>
          <p:cNvSpPr txBox="1">
            <a:spLocks noChangeArrowheads="1"/>
          </p:cNvSpPr>
          <p:nvPr/>
        </p:nvSpPr>
        <p:spPr bwMode="auto">
          <a:xfrm>
            <a:off x="381000" y="1143000"/>
            <a:ext cx="83820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There is also a </a:t>
            </a:r>
            <a:r>
              <a:rPr kumimoji="0" lang="en-GB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drawback to paying high dividends </a:t>
            </a: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… firm will have less internally generated equity. If firm wants to maintain its capital structure while funding positive </a:t>
            </a:r>
            <a:r>
              <a:rPr kumimoji="0" lang="en-GB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NPV</a:t>
            </a: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projects, it might </a:t>
            </a:r>
            <a:r>
              <a:rPr kumimoji="0" lang="en-GB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have to issue new shares</a:t>
            </a: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– which comes at a </a:t>
            </a:r>
            <a:r>
              <a:rPr kumimoji="0" lang="en-GB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cost </a:t>
            </a: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…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 other words, firms with higher dividend payouts rely more heavily on external funding … however, most firms want to minimise need to sell new equity (it is expensive; recall cost of equity k</a:t>
            </a:r>
            <a:r>
              <a:rPr lang="en-ZA" altLang="en-US" sz="2400" baseline="-25000" dirty="0">
                <a:solidFill>
                  <a:prstClr val="black"/>
                </a:solidFill>
                <a:latin typeface="Tahoma"/>
              </a:rPr>
              <a:t>n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and flotation costs, Ch</a:t>
            </a:r>
            <a:r>
              <a:rPr lang="en-ZA" altLang="en-US" sz="2400" dirty="0">
                <a:solidFill>
                  <a:prstClr val="black"/>
                </a:solidFill>
                <a:latin typeface="Tahoma"/>
              </a:rPr>
              <a:t> 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15 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sym typeface="Wingdings" panose="05000000000000000000" pitchFamily="2" charset="2"/>
              </a:rPr>
              <a:t>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 addition, most firms want to 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maintain their current capital structures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(“mix” of capital sources as explained in Ch 16)</a:t>
            </a: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2947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F267CC-A136-4728-B68A-B27EC9C3B5C5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6988"/>
            <a:ext cx="8915400" cy="1143001"/>
          </a:xfrm>
        </p:spPr>
        <p:txBody>
          <a:bodyPr/>
          <a:lstStyle/>
          <a:p>
            <a:r>
              <a: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/>
                <a:ea typeface="ＭＳ Ｐゴシック"/>
              </a:rPr>
              <a:t>Introduction (cont.)</a:t>
            </a:r>
            <a:endParaRPr lang="en-US" altLang="en-US" dirty="0">
              <a:solidFill>
                <a:srgbClr val="000066"/>
              </a:solidFill>
            </a:endParaRPr>
          </a:p>
        </p:txBody>
      </p:sp>
      <p:sp>
        <p:nvSpPr>
          <p:cNvPr id="40964" name="Rectangle 3"/>
          <p:cNvSpPr txBox="1">
            <a:spLocks noChangeArrowheads="1"/>
          </p:cNvSpPr>
          <p:nvPr/>
        </p:nvSpPr>
        <p:spPr bwMode="auto">
          <a:xfrm>
            <a:off x="293688" y="1255713"/>
            <a:ext cx="8545512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3538" indent="-363538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34766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63538" marR="0" lvl="0" indent="-363538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Decision to </a:t>
            </a:r>
            <a:r>
              <a:rPr lang="en-US" altLang="en-US" sz="2400" dirty="0">
                <a:solidFill>
                  <a:prstClr val="black"/>
                </a:solidFill>
                <a:latin typeface="Tahoma"/>
              </a:rPr>
              <a:t>pay dividends lies with BOD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When declared: becomes an obligation that must be paid</a:t>
            </a:r>
          </a:p>
          <a:p>
            <a:pPr marL="363538" marR="0" lvl="0" indent="-363538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63538" marR="0" lvl="0" indent="-363538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Dividend amount expressed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 terms of cents per share (dividends per share: DPS)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711200" marR="0" lvl="1" indent="-347663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as a % of the market price (dividend yield: 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</a:t>
            </a:r>
            <a:r>
              <a:rPr kumimoji="0" lang="en-ZA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1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/P</a:t>
            </a:r>
            <a:r>
              <a:rPr kumimoji="0" lang="en-ZA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0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)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711200" marR="0" lvl="1" indent="-347663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as a % of EAT or earnings per share (dividend payout ratio)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043973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Forms of dividends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1066800"/>
            <a:ext cx="8655424" cy="5715000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Cash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Regular: Paid declared and paid regularly (i.e. quarterly basis)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Increasing dividends? Can be attempt to signal to investors that firm is growing (Signaling theory) 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Special dividends: Paid irregularly to make once-off, extra </a:t>
            </a:r>
            <a:r>
              <a:rPr lang="en-US" sz="2400" dirty="0" err="1">
                <a:latin typeface="+mj-lt"/>
              </a:rPr>
              <a:t>pmt</a:t>
            </a:r>
            <a:r>
              <a:rPr lang="en-US" sz="2400" dirty="0">
                <a:latin typeface="+mj-lt"/>
              </a:rPr>
              <a:t>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Dividend reinvestment plans: Shareholders can convert dividends into shares (use amount paid as dividends to purchase additional shares instead)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Liquidating dividends: Paid when a company dissolves and distributes all previously undistributed earning to shareholders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+mj-lt"/>
            </a:endParaRPr>
          </a:p>
          <a:p>
            <a:pPr marL="400050" lvl="1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725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604A34-01B1-4F16-B455-6684A986D143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6988"/>
            <a:ext cx="89154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Forms of dividends  (cont.) – Cash div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pmt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processes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2AACF-2B3C-50F7-1709-4CFC855F6AE1}"/>
              </a:ext>
            </a:extLst>
          </p:cNvPr>
          <p:cNvSpPr txBox="1"/>
          <p:nvPr/>
        </p:nvSpPr>
        <p:spPr>
          <a:xfrm>
            <a:off x="-107156" y="6562943"/>
            <a:ext cx="716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3537" marR="0" lvl="1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Source: https://spurcorporation.com/investor-hub/shareholder-information/.pdf</a:t>
            </a:r>
          </a:p>
        </p:txBody>
      </p:sp>
    </p:spTree>
    <p:extLst>
      <p:ext uri="{BB962C8B-B14F-4D97-AF65-F5344CB8AC3E}">
        <p14:creationId xmlns:p14="http://schemas.microsoft.com/office/powerpoint/2010/main" val="3751338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3A9A-E36D-2862-196D-69DE4272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F7D1CD9F-B2C6-328E-EEAD-91B39A648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604A34-01B1-4F16-B455-6684A986D143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9934B5C-1B0D-738A-2C93-B0715D8F6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-26988"/>
            <a:ext cx="89154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Forms of dividends  (cont.) – Cash div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pmt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processes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3A043A-43C0-5571-DC09-DF31D0467F5C}"/>
              </a:ext>
            </a:extLst>
          </p:cNvPr>
          <p:cNvSpPr txBox="1"/>
          <p:nvPr/>
        </p:nvSpPr>
        <p:spPr>
          <a:xfrm>
            <a:off x="-107156" y="6562943"/>
            <a:ext cx="716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3537" marR="0" lvl="1" indent="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None/>
              <a:tabLst/>
              <a:defRPr/>
            </a:pPr>
            <a:r>
              <a: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Source: https://spurcorporation.com/investor-hub/shareholder-information/.pdf</a:t>
            </a:r>
          </a:p>
        </p:txBody>
      </p:sp>
    </p:spTree>
    <p:extLst>
      <p:ext uri="{BB962C8B-B14F-4D97-AF65-F5344CB8AC3E}">
        <p14:creationId xmlns:p14="http://schemas.microsoft.com/office/powerpoint/2010/main" val="82299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40AC79-6076-492E-82D1-B9C234C5BF88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Forms of dividends  (cont.) – Cash div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pmt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processes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52400" y="1145321"/>
            <a:ext cx="8656638" cy="604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Declaration date (</a:t>
            </a:r>
            <a:r>
              <a:rPr lang="en-ZA" sz="2400" b="1" dirty="0">
                <a:solidFill>
                  <a:srgbClr val="800080"/>
                </a:solidFill>
                <a:latin typeface="Tahoma"/>
                <a:ea typeface="ＭＳ Ｐゴシック"/>
              </a:rPr>
              <a:t>24 February 2026)</a:t>
            </a:r>
            <a:endParaRPr kumimoji="0" lang="en-ZA" sz="24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Board of directors passes a resolution to pay a specific dividend per share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Must be 14 days before ex-dividend date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Ex-dividend date (</a:t>
            </a:r>
            <a:r>
              <a:rPr lang="en-ZA" sz="2400" b="1" noProof="0" dirty="0">
                <a:solidFill>
                  <a:srgbClr val="800080"/>
                </a:solidFill>
                <a:latin typeface="Tahoma"/>
                <a:ea typeface="ＭＳ Ｐゴシック"/>
              </a:rPr>
              <a:t>18 March 2026</a:t>
            </a: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)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To make sure the dividend payments go to the right shareholders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Right to receive the next divided payment no longer goes with the share – that is, when new shareholders will not receive this declared (next) dividend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2060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If share purchased </a:t>
            </a: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on or after this date previous shareholder</a:t>
            </a: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will receive dividend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65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40AC79-6076-492E-82D1-B9C234C5BF88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Forms of dividends  (cont.) – Cash div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pmt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processes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43681" y="1116013"/>
            <a:ext cx="8656638" cy="587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ZA" sz="2400" b="1" dirty="0" err="1">
                <a:solidFill>
                  <a:srgbClr val="800080"/>
                </a:solidFill>
                <a:latin typeface="Tahoma"/>
                <a:ea typeface="ＭＳ Ｐゴシック"/>
              </a:rPr>
              <a:t>Reco</a:t>
            </a:r>
            <a:r>
              <a:rPr kumimoji="0" lang="en-ZA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rd</a:t>
            </a: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 date (20 March 2026)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Company closes its share transfer books and produces a list of shareholders: these are the shareholders who will receive the next dividend payment</a:t>
            </a:r>
          </a:p>
          <a:p>
            <a:pPr marL="363538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 charset="-128"/>
                <a:cs typeface="+mn-cs"/>
              </a:rPr>
              <a:t>Date of payment (</a:t>
            </a:r>
            <a:r>
              <a:rPr lang="en-ZA" sz="2400" b="1" dirty="0">
                <a:solidFill>
                  <a:srgbClr val="800080"/>
                </a:solidFill>
                <a:latin typeface="Tahoma"/>
                <a:ea typeface="ＭＳ Ｐゴシック" charset="-128"/>
              </a:rPr>
              <a:t>23 March 2026</a:t>
            </a:r>
            <a:r>
              <a:rPr kumimoji="0" lang="en-ZA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 charset="-128"/>
                <a:cs typeface="+mn-cs"/>
              </a:rPr>
              <a:t>)</a:t>
            </a:r>
          </a:p>
          <a:p>
            <a:pPr marL="10493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+mn-cs"/>
              </a:rPr>
              <a:t>Dividend paid electronically to shareholders listed in the company share register at the close of business on the ex-dividend date</a:t>
            </a:r>
          </a:p>
          <a:p>
            <a:pPr marL="706438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61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92163B-BE52-432E-9AB4-3827A6CB3EC2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Forms of dividends  (cont.) – Cash div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pmt</a:t>
            </a: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 processes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47108" name="Rectangle 3"/>
          <p:cNvSpPr txBox="1">
            <a:spLocks noChangeArrowheads="1"/>
          </p:cNvSpPr>
          <p:nvPr/>
        </p:nvSpPr>
        <p:spPr bwMode="auto">
          <a:xfrm>
            <a:off x="250825" y="1279525"/>
            <a:ext cx="8713788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The value (current price) of a share depends on the sum of the PVs of its future expected cash flows (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dividends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) discounted at an appropriate rate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Since the dividend is valuable, the price of the share will be affected with it goes “ex” i.e. when it reaches ex-dividend date …</a:t>
            </a:r>
          </a:p>
          <a:p>
            <a:pPr marL="74295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Share will be worth less (since won’t receive div if buy it now), probably with an amount equal to the dividend</a:t>
            </a:r>
          </a:p>
          <a:p>
            <a:pPr marL="742950" marR="0" lvl="1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Thus, we expect that the value of a share will decrease by the dividend amount when the share goes ex-dividend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6845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" y="10510"/>
            <a:ext cx="8763000" cy="114300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Forms of dividends (cont.)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idx="1"/>
          </p:nvPr>
        </p:nvSpPr>
        <p:spPr>
          <a:xfrm>
            <a:off x="259976" y="1066800"/>
            <a:ext cx="8655424" cy="5715000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latin typeface="+mj-lt"/>
              </a:rPr>
              <a:t>Share repurchases (buyback)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+mj-lt"/>
              </a:rPr>
              <a:t>Firm use cash to buy back some of its own shares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lang="en-US" sz="2400" dirty="0">
              <a:latin typeface="+mj-l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Share dividends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Shareholders given more ordinary shares rather than being paid cash dividend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Given shares in relation to their shareholding prior to</a:t>
            </a: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 it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No change in firm’s assets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Firm does not actually pay out cash dividend, investor ends up with more shares without any purchase &amp; postpone div tax and CGT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Share splits (stock splits) 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Change in # of shares</a:t>
            </a:r>
          </a:p>
          <a:p>
            <a:pPr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ahoma"/>
                <a:ea typeface="ＭＳ Ｐゴシック"/>
              </a:rPr>
              <a:t>Aim to change price, liquidity; EPS and DPS will decline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endParaRPr lang="en-US" sz="2400" dirty="0">
              <a:latin typeface="+mj-lt"/>
            </a:endParaRPr>
          </a:p>
          <a:p>
            <a:pPr marL="400050" lvl="1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ＭＳ Ｐゴシック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7E0EE7-581C-F445-BDC6-E24C5F5F02F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869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69"/>
    </mc:Choice>
    <mc:Fallback xmlns="">
      <p:transition spd="slow" advTm="7666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F05EE8-BFC1-4114-8D0B-3746ACAC57AE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6988"/>
            <a:ext cx="89154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Factors influencing dividend policy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75780" name="Rectangle 3"/>
          <p:cNvSpPr txBox="1">
            <a:spLocks noChangeArrowheads="1"/>
          </p:cNvSpPr>
          <p:nvPr/>
        </p:nvSpPr>
        <p:spPr bwMode="auto">
          <a:xfrm>
            <a:off x="304800" y="1219200"/>
            <a:ext cx="84582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 practice, most firms follow a “compromise” dividend policy, based on the following goals: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Avoid cutting back on positive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NPV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projects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Avoid dividend cuts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Avoid the need to sell new equity (k</a:t>
            </a:r>
            <a:r>
              <a:rPr lang="en-US" altLang="en-US" sz="2400" baseline="-25000" dirty="0">
                <a:solidFill>
                  <a:prstClr val="black"/>
                </a:solidFill>
                <a:latin typeface="Tahoma"/>
              </a:rPr>
              <a:t>n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… cost of equity from Ch</a:t>
            </a:r>
            <a:r>
              <a:rPr lang="en-US" altLang="en-US" sz="2400" dirty="0">
                <a:solidFill>
                  <a:prstClr val="black"/>
                </a:solidFill>
                <a:latin typeface="Tahoma"/>
              </a:rPr>
              <a:t> 15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)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Maintain a target debt/equity ratio (Ch 16)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Maintain a target payout ratio</a:t>
            </a:r>
          </a:p>
          <a:p>
            <a:pPr marL="914400" marR="0" lvl="1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28228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F05EE8-BFC1-4114-8D0B-3746ACAC57AE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6988"/>
            <a:ext cx="89154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Factors influencing dividend policy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75780" name="Rectangle 3"/>
          <p:cNvSpPr txBox="1">
            <a:spLocks noChangeArrowheads="1"/>
          </p:cNvSpPr>
          <p:nvPr/>
        </p:nvSpPr>
        <p:spPr bwMode="auto">
          <a:xfrm>
            <a:off x="304800" y="914400"/>
            <a:ext cx="84582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33400" indent="-5334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(Some of these have been discussed in the introduction of this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ch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)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Taxation of dividends in SA</a:t>
            </a:r>
          </a:p>
          <a:p>
            <a:pPr lvl="1" indent="-533400" algn="just">
              <a:spcBef>
                <a:spcPts val="0"/>
              </a:spcBef>
              <a:buClr>
                <a:srgbClr val="1F497D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solidFill>
                  <a:prstClr val="black"/>
                </a:solidFill>
                <a:latin typeface="Tahoma"/>
              </a:rPr>
              <a:t>Mentioned in Ch 8</a:t>
            </a:r>
          </a:p>
          <a:p>
            <a:pPr lvl="1" indent="-533400" algn="just">
              <a:spcBef>
                <a:spcPts val="0"/>
              </a:spcBef>
              <a:buClr>
                <a:srgbClr val="1F497D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Shareholder receiving dividend is taxed at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20%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: Withheld by company (and paid over to SARS), net dividend paid to shareholder</a:t>
            </a:r>
          </a:p>
          <a:p>
            <a:pPr lvl="1" indent="-533400" algn="just">
              <a:spcBef>
                <a:spcPts val="0"/>
              </a:spcBef>
              <a:buClr>
                <a:srgbClr val="1F497D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Double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taxation system: Earnings taxed (whether div or not) AND again taxed when paid as dividends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ahoma"/>
              </a:rPr>
              <a:t>Liquidity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Investment opportunities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2400" dirty="0">
                <a:solidFill>
                  <a:prstClr val="black"/>
                </a:solidFill>
                <a:latin typeface="Tahoma"/>
              </a:rPr>
              <a:t>Investor considerations (Cost of equity: Shareholders want something in return… div &amp; CG) </a:t>
            </a:r>
          </a:p>
          <a:p>
            <a:pPr marL="533400" marR="0" lvl="0" indent="-533400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Market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78154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7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5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57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04F1316-5259-4FAE-A16C-AFB0D822D97B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77828" name="Rectangle 3"/>
          <p:cNvSpPr txBox="1">
            <a:spLocks noChangeArrowheads="1"/>
          </p:cNvSpPr>
          <p:nvPr/>
        </p:nvSpPr>
        <p:spPr bwMode="auto">
          <a:xfrm>
            <a:off x="250825" y="1143000"/>
            <a:ext cx="8583613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11200" indent="-34766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Establishing a dividend policy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Usually firm has goal to have target payout ratio (fraction of profits or % firm expects to pay as dividends under ordinary circumstances)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Target payout ratio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: firm’s long-term desired dividend-to-profits ratio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Residual dividend policy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Firm pays dividends only after meeting its investment needs, while maintaining a desired debt/equity ratio</a:t>
            </a: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Left over is called residual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3362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7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8CA531-08D9-4D2B-9D84-26DBBD719C6D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7987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50825" y="1143000"/>
            <a:ext cx="8569325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63538" marR="0" lvl="0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Procedure to calculate residual dividends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Identify amount of funds that can be generated without selling new equity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Decide whether dividend will be paid (compare total amount that can be generated without selling new equity with the planned capital spending)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Z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Funds needed &lt; funds generated, dividend (residual) will be paid; thus, portion of profits not needed to finance new projects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Z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838200" marR="0" lvl="1" indent="-3810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  <a:p>
            <a:pPr marL="838200" marR="0" lvl="1" indent="-3810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  <a:p>
            <a:pPr marL="838200" marR="0" lvl="1" indent="-3810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862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B14BE4-7D5C-4B5A-8E45-798CED278B20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990600"/>
            <a:ext cx="83820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Generally: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Young, fast-growing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companies (with many investment opportunities) employ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low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payout ratio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Older, slower-growing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companies (with fewer profitable investment opportunities) in more mature industries employ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high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 payout ratio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  <a:cs typeface="+mn-cs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A strict residual dividend policy might lead to a very unstable dividend policy (which could be concerning for shareholders)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If investment opportunities in one year quite high, dividends would be low or zero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If investment opportunities in next period less promising, dividends might be high</a:t>
            </a:r>
          </a:p>
        </p:txBody>
      </p:sp>
    </p:spTree>
    <p:extLst>
      <p:ext uri="{BB962C8B-B14F-4D97-AF65-F5344CB8AC3E}">
        <p14:creationId xmlns:p14="http://schemas.microsoft.com/office/powerpoint/2010/main" val="249020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1540261-6844-4C46-9F5B-1D5B639CB171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81000" y="1066800"/>
            <a:ext cx="83058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  <a:cs typeface="+mn-cs"/>
              </a:rPr>
              <a:t>Therefore, firms may also use other dividend policies</a:t>
            </a: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Stable dividend amount:</a:t>
            </a:r>
          </a:p>
          <a:p>
            <a:pPr marL="1074738" marR="0" lvl="1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Same fixed dividend per share (DPS), regardless of level of earnings for year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  <a:p>
            <a:pPr marL="711200" marR="0" lvl="1" indent="-347663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Stable growth/Constant payout ratio</a:t>
            </a:r>
          </a:p>
          <a:p>
            <a:pPr marL="1074738" marR="0" lvl="1" indent="-363538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  <a:cs typeface="Arial" charset="0"/>
              </a:rPr>
              <a:t>Fixed proportion (%) of profits will be paid out in form of dividends (if profits rise, dividends will increase)</a:t>
            </a:r>
          </a:p>
          <a:p>
            <a:pPr marL="711200" marR="0" lvl="1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91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12FF6D-7C86-4418-8909-C4823D69A393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26988"/>
            <a:ext cx="89154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88068" name="Rectangle 3"/>
          <p:cNvSpPr txBox="1">
            <a:spLocks noChangeArrowheads="1"/>
          </p:cNvSpPr>
          <p:nvPr/>
        </p:nvSpPr>
        <p:spPr bwMode="auto">
          <a:xfrm>
            <a:off x="323850" y="1219200"/>
            <a:ext cx="84391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Residual dividend policy example: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Satgell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Industries (cell phones) follows a strict residual dividend policy. The company has a capital budget of         R3 million. It has a target capital structure which consists of 30% debt and 70% equity. The company forecasts that its net income will be R3 500 000. What will the company's </a:t>
            </a:r>
            <a:r>
              <a:rPr kumimoji="0" lang="en-ZA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payout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ratio be this year?</a:t>
            </a: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19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3729E6-AC29-42DA-A61A-9612304DCA54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9011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90116" name="Rectangle 3"/>
          <p:cNvSpPr txBox="1">
            <a:spLocks noChangeArrowheads="1"/>
          </p:cNvSpPr>
          <p:nvPr/>
        </p:nvSpPr>
        <p:spPr bwMode="auto">
          <a:xfrm>
            <a:off x="323850" y="1143000"/>
            <a:ext cx="83629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Payout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ratio = Dividend / </a:t>
            </a:r>
            <a:r>
              <a:rPr kumimoji="0" lang="en-ZA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NPAT</a:t>
            </a:r>
            <a:endParaRPr kumimoji="0" lang="en-ZA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So, we need to calculate dividend first …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Residual dividends = Net income – equity required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So, we need to calculate equity required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ZA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1F497D"/>
              </a:buClr>
              <a:buSzTx/>
              <a:buFontTx/>
              <a:buChar char="•"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Three steps to the answer …</a:t>
            </a: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769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8488" y="64087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D51E6F-DB74-427D-8C07-76218613CFC7}" type="slidenum">
              <a:rPr kumimoji="0" lang="en-GB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  <p:sp>
        <p:nvSpPr>
          <p:cNvPr id="9216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-26988"/>
            <a:ext cx="8991600" cy="1143001"/>
          </a:xfrm>
        </p:spPr>
        <p:txBody>
          <a:bodyPr/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Dividend policies (cont.)</a:t>
            </a:r>
            <a:endParaRPr lang="en-US" altLang="en-US" b="1" dirty="0">
              <a:solidFill>
                <a:srgbClr val="000066"/>
              </a:solidFill>
            </a:endParaRPr>
          </a:p>
        </p:txBody>
      </p:sp>
      <p:sp>
        <p:nvSpPr>
          <p:cNvPr id="92164" name="Rectangle 3"/>
          <p:cNvSpPr txBox="1">
            <a:spLocks noChangeArrowheads="1"/>
          </p:cNvSpPr>
          <p:nvPr/>
        </p:nvSpPr>
        <p:spPr bwMode="auto">
          <a:xfrm>
            <a:off x="381000" y="914400"/>
            <a:ext cx="83820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Step 1: How much equity will be necessary?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70% of the total financing will be equity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= 0.7 x 3 000 000 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= R2 100 000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Step 2: Determine the residual dividend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Residual dividends 	= Net income – equity required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				= 3 500 000 – 2 100 000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				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= R1 400 000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ZA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Step 3: Determine the </a:t>
            </a:r>
            <a:r>
              <a:rPr kumimoji="0" lang="en-ZA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payout</a:t>
            </a: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ratio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</a:t>
            </a:r>
            <a:r>
              <a:rPr kumimoji="0" lang="en-ZA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Payout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ratio 	= Dividend / Net income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			= 1 400 000 / 3 500 000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			= 40%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	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Thus, </a:t>
            </a:r>
            <a:r>
              <a:rPr kumimoji="0" lang="en-ZA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Satgell</a:t>
            </a:r>
            <a:r>
              <a:rPr kumimoji="0" lang="en-ZA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 charset="-128"/>
              </a:rPr>
              <a:t> Industries will pay out 40% of its Net income in the form of dividends</a:t>
            </a:r>
            <a:endParaRPr kumimoji="0" lang="en-GB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 charset="-128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Arial" panose="020B0604020202020204" pitchFamily="34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2366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21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21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1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21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1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16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21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21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21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216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F821DC-48D2-104C-8B58-C959D857C485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-128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charset="-128"/>
            </a:endParaRPr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 bwMode="auto">
          <a:xfrm>
            <a:off x="228600" y="0"/>
            <a:ext cx="8677701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ＭＳ Ｐゴシック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  <a:cs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ahoma" pitchFamily="1" charset="0"/>
                <a:ea typeface="ＭＳ Ｐゴシック" pitchFamily="1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ahoma"/>
                <a:ea typeface="ＭＳ Ｐゴシック"/>
              </a:rPr>
              <a:t>Preparation for next session</a:t>
            </a:r>
          </a:p>
        </p:txBody>
      </p:sp>
      <p:sp>
        <p:nvSpPr>
          <p:cNvPr id="19" name="Rectangle 7"/>
          <p:cNvSpPr txBox="1">
            <a:spLocks noChangeArrowheads="1"/>
          </p:cNvSpPr>
          <p:nvPr/>
        </p:nvSpPr>
        <p:spPr>
          <a:xfrm>
            <a:off x="304799" y="1066800"/>
            <a:ext cx="8601501" cy="55626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2"/>
              <a:buChar char="u"/>
              <a:defRPr sz="3200">
                <a:solidFill>
                  <a:schemeClr val="tx1"/>
                </a:solidFill>
                <a:latin typeface="+mn-lt"/>
                <a:ea typeface="+mn-ea"/>
                <a:cs typeface="ＭＳ Ｐゴシック" charset="-128"/>
              </a:defRPr>
            </a:lvl1pPr>
            <a:lvl2pPr marL="742950" indent="-28575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 2" charset="2"/>
              <a:buChar char="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5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Work through Chapter 18</a:t>
            </a: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Questions in study guide</a:t>
            </a: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ＭＳ Ｐゴシック"/>
              </a:rPr>
              <a:t>Problems at the end of the chapter</a:t>
            </a:r>
          </a:p>
          <a:p>
            <a:pPr marL="796925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kern="0" dirty="0">
                <a:solidFill>
                  <a:srgbClr val="FF0000"/>
                </a:solidFill>
                <a:latin typeface="Tahoma"/>
                <a:ea typeface="ＭＳ Ｐゴシック"/>
              </a:rPr>
              <a:t>Be ready for the revision and module overview (including exam guidelines)… 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SzPct val="100000"/>
              <a:buFont typeface="Wingdings" charset="2"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1F497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964624409"/>
      </p:ext>
    </p:extLst>
  </p:cSld>
  <p:clrMapOvr>
    <a:masterClrMapping/>
  </p:clrMapOvr>
  <p:transition advTm="56488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1|7.7|19|3.7"/>
</p:tagLst>
</file>

<file path=ppt/theme/theme1.xml><?xml version="1.0" encoding="utf-8"?>
<a:theme xmlns:a="http://schemas.openxmlformats.org/drawingml/2006/main" name="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ank Presentation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277CA4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5569</TotalTime>
  <Words>2462</Words>
  <Application>Microsoft Office PowerPoint</Application>
  <PresentationFormat>On-screen Show (4:3)</PresentationFormat>
  <Paragraphs>285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Arial</vt:lpstr>
      <vt:lpstr>Cambria Math</vt:lpstr>
      <vt:lpstr>Symbol</vt:lpstr>
      <vt:lpstr>Tahoma</vt:lpstr>
      <vt:lpstr>Times</vt:lpstr>
      <vt:lpstr>Times New Roman</vt:lpstr>
      <vt:lpstr>Wingdings</vt:lpstr>
      <vt:lpstr>Wingdings 2</vt:lpstr>
      <vt:lpstr>Blank Presentation</vt:lpstr>
      <vt:lpstr>1_Blank Presentation</vt:lpstr>
      <vt:lpstr>2_Blank Presentation</vt:lpstr>
      <vt:lpstr>Equation</vt:lpstr>
      <vt:lpstr>PowerPoint Presentation</vt:lpstr>
      <vt:lpstr>Learning outcomes: Chapter 18</vt:lpstr>
      <vt:lpstr>Introduction</vt:lpstr>
      <vt:lpstr>Introduction (cont.)</vt:lpstr>
      <vt:lpstr>Introduction (cont.)</vt:lpstr>
      <vt:lpstr>Introduction (cont.)</vt:lpstr>
      <vt:lpstr>Introduction (cont.)</vt:lpstr>
      <vt:lpstr>Introduction (cont.)</vt:lpstr>
      <vt:lpstr>Introduction (cont.)</vt:lpstr>
      <vt:lpstr>Introduction (cont.)</vt:lpstr>
      <vt:lpstr>Introduction (cont.)</vt:lpstr>
      <vt:lpstr>Introduction (cont.)</vt:lpstr>
      <vt:lpstr>Introduction (cont.)</vt:lpstr>
      <vt:lpstr>Forms of dividends</vt:lpstr>
      <vt:lpstr>Forms of dividends  (cont.) – Cash div pmt processes</vt:lpstr>
      <vt:lpstr>Forms of dividends  (cont.) – Cash div pmt processes</vt:lpstr>
      <vt:lpstr>Forms of dividends  (cont.) – Cash div pmt processes</vt:lpstr>
      <vt:lpstr>Forms of dividends  (cont.) – Cash div pmt processes</vt:lpstr>
      <vt:lpstr>Forms of dividends  (cont.) – Cash div pmt processes</vt:lpstr>
      <vt:lpstr>Forms of dividends (cont.)</vt:lpstr>
      <vt:lpstr>Factors influencing dividend policy</vt:lpstr>
      <vt:lpstr>Factors influencing dividend policy (cont.)</vt:lpstr>
      <vt:lpstr>Dividend policies</vt:lpstr>
      <vt:lpstr>Dividend policies (cont.)</vt:lpstr>
      <vt:lpstr>Dividend policies (cont.)</vt:lpstr>
      <vt:lpstr>Dividend policies (cont.)</vt:lpstr>
      <vt:lpstr>Dividend policies (cont.)</vt:lpstr>
      <vt:lpstr>Dividend policies (cont.)</vt:lpstr>
      <vt:lpstr>Dividend policies (cont.)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Finance</dc:title>
  <dc:creator>Susan Cook</dc:creator>
  <cp:lastModifiedBy>Rootman, Chantal (Prof) (Summerstrand Campus South)</cp:lastModifiedBy>
  <cp:revision>357</cp:revision>
  <cp:lastPrinted>2022-02-09T10:40:55Z</cp:lastPrinted>
  <dcterms:created xsi:type="dcterms:W3CDTF">2010-03-21T13:43:06Z</dcterms:created>
  <dcterms:modified xsi:type="dcterms:W3CDTF">2026-05-15T11:08:14Z</dcterms:modified>
</cp:coreProperties>
</file>