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ags/tag1.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autoCompressPictures="0">
  <p:sldMasterIdLst>
    <p:sldMasterId id="2147483971" r:id="rId1"/>
    <p:sldMasterId id="2147483978" r:id="rId2"/>
  </p:sldMasterIdLst>
  <p:notesMasterIdLst>
    <p:notesMasterId r:id="rId15"/>
  </p:notesMasterIdLst>
  <p:handoutMasterIdLst>
    <p:handoutMasterId r:id="rId16"/>
  </p:handoutMasterIdLst>
  <p:sldIdLst>
    <p:sldId id="271" r:id="rId3"/>
    <p:sldId id="272" r:id="rId4"/>
    <p:sldId id="284" r:id="rId5"/>
    <p:sldId id="273" r:id="rId6"/>
    <p:sldId id="274" r:id="rId7"/>
    <p:sldId id="281" r:id="rId8"/>
    <p:sldId id="282" r:id="rId9"/>
    <p:sldId id="290" r:id="rId10"/>
    <p:sldId id="291" r:id="rId11"/>
    <p:sldId id="292" r:id="rId12"/>
    <p:sldId id="293" r:id="rId13"/>
    <p:sldId id="294" r:id="rId14"/>
  </p:sldIdLst>
  <p:sldSz cx="12192000" cy="6858000"/>
  <p:notesSz cx="6797675" cy="9926638"/>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433F5734-E6F9-42F7-8709-70029D9D9B81}">
          <p14:sldIdLst>
            <p14:sldId id="271"/>
            <p14:sldId id="272"/>
            <p14:sldId id="284"/>
            <p14:sldId id="273"/>
            <p14:sldId id="274"/>
            <p14:sldId id="281"/>
            <p14:sldId id="282"/>
            <p14:sldId id="290"/>
            <p14:sldId id="291"/>
            <p14:sldId id="292"/>
            <p14:sldId id="293"/>
            <p14:sldId id="29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6C3B"/>
    <a:srgbClr val="C0E5D0"/>
    <a:srgbClr val="001333"/>
    <a:srgbClr val="6C284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4F783B3-D480-4CF2-A6F6-1A17F84F7C61}" v="2" dt="2026-05-20T11:55:28.76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78141" autoAdjust="0"/>
  </p:normalViewPr>
  <p:slideViewPr>
    <p:cSldViewPr snapToGrid="0">
      <p:cViewPr varScale="1">
        <p:scale>
          <a:sx n="79" d="100"/>
          <a:sy n="79" d="100"/>
        </p:scale>
        <p:origin x="802" y="48"/>
      </p:cViewPr>
      <p:guideLst/>
    </p:cSldViewPr>
  </p:slideViewPr>
  <p:notesTextViewPr>
    <p:cViewPr>
      <p:scale>
        <a:sx n="1" d="1"/>
        <a:sy n="1" d="1"/>
      </p:scale>
      <p:origin x="0" y="-1565"/>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viewProps" Target="viewProps.xml"/><Relationship Id="rId3" Type="http://schemas.openxmlformats.org/officeDocument/2006/relationships/slide" Target="slides/slide1.xml"/><Relationship Id="rId21" Type="http://schemas.microsoft.com/office/2016/11/relationships/changesInfo" Target="changesInfos/changesInfo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handoutMaster" Target="handoutMasters/handout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notesMaster" Target="notesMasters/notesMaster1.xml"/><Relationship Id="rId10" Type="http://schemas.openxmlformats.org/officeDocument/2006/relationships/slide" Target="slides/slide8.xml"/><Relationship Id="rId19"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Izu, Lydia, (Mrs) (s225342642)" userId="b2bc9d54-c1df-41d0-85c4-52362a5ddf80" providerId="ADAL" clId="{39FD8708-20D3-4675-A4C1-C833E2B6C583}"/>
    <pc:docChg chg="undo custSel modSld">
      <pc:chgData name="Izu, Lydia, (Mrs) (s225342642)" userId="b2bc9d54-c1df-41d0-85c4-52362a5ddf80" providerId="ADAL" clId="{39FD8708-20D3-4675-A4C1-C833E2B6C583}" dt="2026-05-20T12:00:48.742" v="1297" actId="20577"/>
      <pc:docMkLst>
        <pc:docMk/>
      </pc:docMkLst>
      <pc:sldChg chg="modSp mod">
        <pc:chgData name="Izu, Lydia, (Mrs) (s225342642)" userId="b2bc9d54-c1df-41d0-85c4-52362a5ddf80" providerId="ADAL" clId="{39FD8708-20D3-4675-A4C1-C833E2B6C583}" dt="2026-05-19T07:46:24.674" v="26" actId="20577"/>
        <pc:sldMkLst>
          <pc:docMk/>
          <pc:sldMk cId="3510760573" sldId="271"/>
        </pc:sldMkLst>
        <pc:spChg chg="mod">
          <ac:chgData name="Izu, Lydia, (Mrs) (s225342642)" userId="b2bc9d54-c1df-41d0-85c4-52362a5ddf80" providerId="ADAL" clId="{39FD8708-20D3-4675-A4C1-C833E2B6C583}" dt="2026-05-19T07:46:24.674" v="26" actId="20577"/>
          <ac:spMkLst>
            <pc:docMk/>
            <pc:sldMk cId="3510760573" sldId="271"/>
            <ac:spMk id="28" creationId="{B8583709-595F-4CE2-B8B0-C47733F186E5}"/>
          </ac:spMkLst>
        </pc:spChg>
      </pc:sldChg>
      <pc:sldChg chg="modSp mod">
        <pc:chgData name="Izu, Lydia, (Mrs) (s225342642)" userId="b2bc9d54-c1df-41d0-85c4-52362a5ddf80" providerId="ADAL" clId="{39FD8708-20D3-4675-A4C1-C833E2B6C583}" dt="2026-05-19T07:47:10.101" v="38" actId="20577"/>
        <pc:sldMkLst>
          <pc:docMk/>
          <pc:sldMk cId="1490428108" sldId="272"/>
        </pc:sldMkLst>
        <pc:spChg chg="mod">
          <ac:chgData name="Izu, Lydia, (Mrs) (s225342642)" userId="b2bc9d54-c1df-41d0-85c4-52362a5ddf80" providerId="ADAL" clId="{39FD8708-20D3-4675-A4C1-C833E2B6C583}" dt="2026-05-13T20:02:32.145" v="14"/>
          <ac:spMkLst>
            <pc:docMk/>
            <pc:sldMk cId="1490428108" sldId="272"/>
            <ac:spMk id="13" creationId="{00000000-0000-0000-0000-000000000000}"/>
          </ac:spMkLst>
        </pc:spChg>
        <pc:spChg chg="mod">
          <ac:chgData name="Izu, Lydia, (Mrs) (s225342642)" userId="b2bc9d54-c1df-41d0-85c4-52362a5ddf80" providerId="ADAL" clId="{39FD8708-20D3-4675-A4C1-C833E2B6C583}" dt="2026-05-19T07:47:10.101" v="38" actId="20577"/>
          <ac:spMkLst>
            <pc:docMk/>
            <pc:sldMk cId="1490428108" sldId="272"/>
            <ac:spMk id="24" creationId="{807780DA-3DDC-4F72-8073-85CEA0FC1ABE}"/>
          </ac:spMkLst>
        </pc:spChg>
      </pc:sldChg>
      <pc:sldChg chg="modSp mod modNotesTx">
        <pc:chgData name="Izu, Lydia, (Mrs) (s225342642)" userId="b2bc9d54-c1df-41d0-85c4-52362a5ddf80" providerId="ADAL" clId="{39FD8708-20D3-4675-A4C1-C833E2B6C583}" dt="2026-05-19T08:35:38.013" v="552" actId="20577"/>
        <pc:sldMkLst>
          <pc:docMk/>
          <pc:sldMk cId="945047036" sldId="273"/>
        </pc:sldMkLst>
        <pc:spChg chg="mod">
          <ac:chgData name="Izu, Lydia, (Mrs) (s225342642)" userId="b2bc9d54-c1df-41d0-85c4-52362a5ddf80" providerId="ADAL" clId="{39FD8708-20D3-4675-A4C1-C833E2B6C583}" dt="2026-05-13T20:02:59.891" v="16"/>
          <ac:spMkLst>
            <pc:docMk/>
            <pc:sldMk cId="945047036" sldId="273"/>
            <ac:spMk id="8" creationId="{A985F3D3-B3FF-48F7-984B-1E145CE76B2E}"/>
          </ac:spMkLst>
        </pc:spChg>
        <pc:spChg chg="mod">
          <ac:chgData name="Izu, Lydia, (Mrs) (s225342642)" userId="b2bc9d54-c1df-41d0-85c4-52362a5ddf80" providerId="ADAL" clId="{39FD8708-20D3-4675-A4C1-C833E2B6C583}" dt="2026-05-19T07:59:36.086" v="39" actId="20577"/>
          <ac:spMkLst>
            <pc:docMk/>
            <pc:sldMk cId="945047036" sldId="273"/>
            <ac:spMk id="23" creationId="{8A6FE3B2-C405-4700-869F-FCC9D9B0F7E5}"/>
          </ac:spMkLst>
        </pc:spChg>
      </pc:sldChg>
      <pc:sldChg chg="modSp mod modNotesTx">
        <pc:chgData name="Izu, Lydia, (Mrs) (s225342642)" userId="b2bc9d54-c1df-41d0-85c4-52362a5ddf80" providerId="ADAL" clId="{39FD8708-20D3-4675-A4C1-C833E2B6C583}" dt="2026-05-19T08:39:52.191" v="667" actId="20577"/>
        <pc:sldMkLst>
          <pc:docMk/>
          <pc:sldMk cId="2559013565" sldId="274"/>
        </pc:sldMkLst>
        <pc:spChg chg="mod">
          <ac:chgData name="Izu, Lydia, (Mrs) (s225342642)" userId="b2bc9d54-c1df-41d0-85c4-52362a5ddf80" providerId="ADAL" clId="{39FD8708-20D3-4675-A4C1-C833E2B6C583}" dt="2026-05-13T20:02:03.298" v="7" actId="20577"/>
          <ac:spMkLst>
            <pc:docMk/>
            <pc:sldMk cId="2559013565" sldId="274"/>
            <ac:spMk id="8" creationId="{736911C1-66BE-459F-A976-2A42ADCF058F}"/>
          </ac:spMkLst>
        </pc:spChg>
      </pc:sldChg>
      <pc:sldChg chg="modSp modNotesTx">
        <pc:chgData name="Izu, Lydia, (Mrs) (s225342642)" userId="b2bc9d54-c1df-41d0-85c4-52362a5ddf80" providerId="ADAL" clId="{39FD8708-20D3-4675-A4C1-C833E2B6C583}" dt="2026-05-19T08:50:10.446" v="749" actId="20577"/>
        <pc:sldMkLst>
          <pc:docMk/>
          <pc:sldMk cId="3012604195" sldId="281"/>
        </pc:sldMkLst>
        <pc:spChg chg="mod">
          <ac:chgData name="Izu, Lydia, (Mrs) (s225342642)" userId="b2bc9d54-c1df-41d0-85c4-52362a5ddf80" providerId="ADAL" clId="{39FD8708-20D3-4675-A4C1-C833E2B6C583}" dt="2026-05-13T20:03:08.049" v="17"/>
          <ac:spMkLst>
            <pc:docMk/>
            <pc:sldMk cId="3012604195" sldId="281"/>
            <ac:spMk id="8" creationId="{CCBC316D-313E-45F7-A710-DFD0365B14C3}"/>
          </ac:spMkLst>
        </pc:spChg>
      </pc:sldChg>
      <pc:sldChg chg="modSp mod modNotesTx">
        <pc:chgData name="Izu, Lydia, (Mrs) (s225342642)" userId="b2bc9d54-c1df-41d0-85c4-52362a5ddf80" providerId="ADAL" clId="{39FD8708-20D3-4675-A4C1-C833E2B6C583}" dt="2026-05-19T09:40:17.392" v="1035" actId="20577"/>
        <pc:sldMkLst>
          <pc:docMk/>
          <pc:sldMk cId="3870406636" sldId="282"/>
        </pc:sldMkLst>
        <pc:spChg chg="mod">
          <ac:chgData name="Izu, Lydia, (Mrs) (s225342642)" userId="b2bc9d54-c1df-41d0-85c4-52362a5ddf80" providerId="ADAL" clId="{39FD8708-20D3-4675-A4C1-C833E2B6C583}" dt="2026-05-19T09:35:15.896" v="995" actId="20577"/>
          <ac:spMkLst>
            <pc:docMk/>
            <pc:sldMk cId="3870406636" sldId="282"/>
            <ac:spMk id="2" creationId="{46556CA2-9E05-46CD-A44C-3C77582B429E}"/>
          </ac:spMkLst>
        </pc:spChg>
        <pc:spChg chg="mod">
          <ac:chgData name="Izu, Lydia, (Mrs) (s225342642)" userId="b2bc9d54-c1df-41d0-85c4-52362a5ddf80" providerId="ADAL" clId="{39FD8708-20D3-4675-A4C1-C833E2B6C583}" dt="2026-05-13T20:03:14.748" v="18"/>
          <ac:spMkLst>
            <pc:docMk/>
            <pc:sldMk cId="3870406636" sldId="282"/>
            <ac:spMk id="8" creationId="{042D3306-DEB5-44AA-BCF3-AD2B47887DF2}"/>
          </ac:spMkLst>
        </pc:spChg>
      </pc:sldChg>
      <pc:sldChg chg="modSp modNotesTx">
        <pc:chgData name="Izu, Lydia, (Mrs) (s225342642)" userId="b2bc9d54-c1df-41d0-85c4-52362a5ddf80" providerId="ADAL" clId="{39FD8708-20D3-4675-A4C1-C833E2B6C583}" dt="2026-05-20T12:00:48.742" v="1297" actId="20577"/>
        <pc:sldMkLst>
          <pc:docMk/>
          <pc:sldMk cId="3671927410" sldId="284"/>
        </pc:sldMkLst>
        <pc:spChg chg="mod">
          <ac:chgData name="Izu, Lydia, (Mrs) (s225342642)" userId="b2bc9d54-c1df-41d0-85c4-52362a5ddf80" providerId="ADAL" clId="{39FD8708-20D3-4675-A4C1-C833E2B6C583}" dt="2026-05-13T20:02:40.625" v="15"/>
          <ac:spMkLst>
            <pc:docMk/>
            <pc:sldMk cId="3671927410" sldId="284"/>
            <ac:spMk id="9" creationId="{CBEA7631-D31E-4670-81A4-6F9FEAB8CFB8}"/>
          </ac:spMkLst>
        </pc:spChg>
      </pc:sldChg>
      <pc:sldChg chg="modSp modNotesTx">
        <pc:chgData name="Izu, Lydia, (Mrs) (s225342642)" userId="b2bc9d54-c1df-41d0-85c4-52362a5ddf80" providerId="ADAL" clId="{39FD8708-20D3-4675-A4C1-C833E2B6C583}" dt="2026-05-19T10:22:38.916" v="1104" actId="20577"/>
        <pc:sldMkLst>
          <pc:docMk/>
          <pc:sldMk cId="2991464748" sldId="290"/>
        </pc:sldMkLst>
        <pc:spChg chg="mod">
          <ac:chgData name="Izu, Lydia, (Mrs) (s225342642)" userId="b2bc9d54-c1df-41d0-85c4-52362a5ddf80" providerId="ADAL" clId="{39FD8708-20D3-4675-A4C1-C833E2B6C583}" dt="2026-05-13T20:03:20.108" v="19"/>
          <ac:spMkLst>
            <pc:docMk/>
            <pc:sldMk cId="2991464748" sldId="290"/>
            <ac:spMk id="9" creationId="{8B66EF59-5094-43C4-9BC8-CA1FC0A31591}"/>
          </ac:spMkLst>
        </pc:spChg>
      </pc:sldChg>
      <pc:sldChg chg="modSp modNotesTx">
        <pc:chgData name="Izu, Lydia, (Mrs) (s225342642)" userId="b2bc9d54-c1df-41d0-85c4-52362a5ddf80" providerId="ADAL" clId="{39FD8708-20D3-4675-A4C1-C833E2B6C583}" dt="2026-05-19T10:37:37.294" v="1155" actId="20577"/>
        <pc:sldMkLst>
          <pc:docMk/>
          <pc:sldMk cId="2747628889" sldId="291"/>
        </pc:sldMkLst>
        <pc:spChg chg="mod">
          <ac:chgData name="Izu, Lydia, (Mrs) (s225342642)" userId="b2bc9d54-c1df-41d0-85c4-52362a5ddf80" providerId="ADAL" clId="{39FD8708-20D3-4675-A4C1-C833E2B6C583}" dt="2026-05-13T20:03:26.913" v="20"/>
          <ac:spMkLst>
            <pc:docMk/>
            <pc:sldMk cId="2747628889" sldId="291"/>
            <ac:spMk id="8" creationId="{320D4A15-B288-4C3F-A5CB-02B21F6698C4}"/>
          </ac:spMkLst>
        </pc:spChg>
      </pc:sldChg>
      <pc:sldChg chg="modSp modNotesTx">
        <pc:chgData name="Izu, Lydia, (Mrs) (s225342642)" userId="b2bc9d54-c1df-41d0-85c4-52362a5ddf80" providerId="ADAL" clId="{39FD8708-20D3-4675-A4C1-C833E2B6C583}" dt="2026-05-19T10:42:26.861" v="1202" actId="12"/>
        <pc:sldMkLst>
          <pc:docMk/>
          <pc:sldMk cId="2139195560" sldId="292"/>
        </pc:sldMkLst>
        <pc:spChg chg="mod">
          <ac:chgData name="Izu, Lydia, (Mrs) (s225342642)" userId="b2bc9d54-c1df-41d0-85c4-52362a5ddf80" providerId="ADAL" clId="{39FD8708-20D3-4675-A4C1-C833E2B6C583}" dt="2026-05-13T20:03:36.062" v="21"/>
          <ac:spMkLst>
            <pc:docMk/>
            <pc:sldMk cId="2139195560" sldId="292"/>
            <ac:spMk id="9" creationId="{3F860364-BF7F-4C5E-B53D-890592B92C5E}"/>
          </ac:spMkLst>
        </pc:spChg>
      </pc:sldChg>
      <pc:sldChg chg="modSp modNotesTx">
        <pc:chgData name="Izu, Lydia, (Mrs) (s225342642)" userId="b2bc9d54-c1df-41d0-85c4-52362a5ddf80" providerId="ADAL" clId="{39FD8708-20D3-4675-A4C1-C833E2B6C583}" dt="2026-05-19T10:46:35.625" v="1212" actId="12"/>
        <pc:sldMkLst>
          <pc:docMk/>
          <pc:sldMk cId="2880333925" sldId="293"/>
        </pc:sldMkLst>
        <pc:spChg chg="mod">
          <ac:chgData name="Izu, Lydia, (Mrs) (s225342642)" userId="b2bc9d54-c1df-41d0-85c4-52362a5ddf80" providerId="ADAL" clId="{39FD8708-20D3-4675-A4C1-C833E2B6C583}" dt="2026-05-13T20:03:43.011" v="22"/>
          <ac:spMkLst>
            <pc:docMk/>
            <pc:sldMk cId="2880333925" sldId="293"/>
            <ac:spMk id="8" creationId="{4FED5389-DA35-4BD3-8159-5EF7B85BB922}"/>
          </ac:spMkLst>
        </pc:spChg>
      </pc:sldChg>
      <pc:sldChg chg="modSp mod modNotesTx">
        <pc:chgData name="Izu, Lydia, (Mrs) (s225342642)" userId="b2bc9d54-c1df-41d0-85c4-52362a5ddf80" providerId="ADAL" clId="{39FD8708-20D3-4675-A4C1-C833E2B6C583}" dt="2026-05-20T11:51:17.817" v="1217" actId="20577"/>
        <pc:sldMkLst>
          <pc:docMk/>
          <pc:sldMk cId="3674501138" sldId="294"/>
        </pc:sldMkLst>
        <pc:spChg chg="mod">
          <ac:chgData name="Izu, Lydia, (Mrs) (s225342642)" userId="b2bc9d54-c1df-41d0-85c4-52362a5ddf80" providerId="ADAL" clId="{39FD8708-20D3-4675-A4C1-C833E2B6C583}" dt="2026-05-13T20:03:48.818" v="23"/>
          <ac:spMkLst>
            <pc:docMk/>
            <pc:sldMk cId="3674501138" sldId="294"/>
            <ac:spMk id="8" creationId="{1F1F17D8-54C0-4CB0-A802-593DA246B95B}"/>
          </ac:spMkLst>
        </pc:spChg>
        <pc:spChg chg="mod">
          <ac:chgData name="Izu, Lydia, (Mrs) (s225342642)" userId="b2bc9d54-c1df-41d0-85c4-52362a5ddf80" providerId="ADAL" clId="{39FD8708-20D3-4675-A4C1-C833E2B6C583}" dt="2026-05-19T08:19:03.857" v="417" actId="20577"/>
          <ac:spMkLst>
            <pc:docMk/>
            <pc:sldMk cId="3674501138" sldId="294"/>
            <ac:spMk id="10" creationId="{B30E281C-F002-4A9A-8174-C381AE20A64C}"/>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5659" cy="498056"/>
          </a:xfrm>
          <a:prstGeom prst="rect">
            <a:avLst/>
          </a:prstGeom>
        </p:spPr>
        <p:txBody>
          <a:bodyPr vert="horz" lIns="91440" tIns="45720" rIns="91440" bIns="45720" rtlCol="0"/>
          <a:lstStyle>
            <a:lvl1pPr algn="l">
              <a:defRPr sz="1200"/>
            </a:lvl1pPr>
          </a:lstStyle>
          <a:p>
            <a:endParaRPr lang="en-ZA"/>
          </a:p>
        </p:txBody>
      </p:sp>
      <p:sp>
        <p:nvSpPr>
          <p:cNvPr id="3" name="Date Placeholder 2"/>
          <p:cNvSpPr>
            <a:spLocks noGrp="1"/>
          </p:cNvSpPr>
          <p:nvPr>
            <p:ph type="dt" sz="quarter" idx="1"/>
          </p:nvPr>
        </p:nvSpPr>
        <p:spPr>
          <a:xfrm>
            <a:off x="3850443" y="0"/>
            <a:ext cx="2945659" cy="498056"/>
          </a:xfrm>
          <a:prstGeom prst="rect">
            <a:avLst/>
          </a:prstGeom>
        </p:spPr>
        <p:txBody>
          <a:bodyPr vert="horz" lIns="91440" tIns="45720" rIns="91440" bIns="45720" rtlCol="0"/>
          <a:lstStyle>
            <a:lvl1pPr algn="r">
              <a:defRPr sz="1200"/>
            </a:lvl1pPr>
          </a:lstStyle>
          <a:p>
            <a:fld id="{A69A06C1-2FDE-4237-8795-EEF084D894FD}" type="datetimeFigureOut">
              <a:rPr lang="en-ZA" smtClean="0"/>
              <a:t>2026/05/20</a:t>
            </a:fld>
            <a:endParaRPr lang="en-ZA"/>
          </a:p>
        </p:txBody>
      </p:sp>
      <p:sp>
        <p:nvSpPr>
          <p:cNvPr id="4" name="Footer Placeholder 3"/>
          <p:cNvSpPr>
            <a:spLocks noGrp="1"/>
          </p:cNvSpPr>
          <p:nvPr>
            <p:ph type="ftr" sz="quarter" idx="2"/>
          </p:nvPr>
        </p:nvSpPr>
        <p:spPr>
          <a:xfrm>
            <a:off x="0" y="9428584"/>
            <a:ext cx="2945659" cy="498055"/>
          </a:xfrm>
          <a:prstGeom prst="rect">
            <a:avLst/>
          </a:prstGeom>
        </p:spPr>
        <p:txBody>
          <a:bodyPr vert="horz" lIns="91440" tIns="45720" rIns="91440" bIns="45720" rtlCol="0" anchor="b"/>
          <a:lstStyle>
            <a:lvl1pPr algn="l">
              <a:defRPr sz="1200"/>
            </a:lvl1pPr>
          </a:lstStyle>
          <a:p>
            <a:endParaRPr lang="en-ZA"/>
          </a:p>
        </p:txBody>
      </p:sp>
      <p:sp>
        <p:nvSpPr>
          <p:cNvPr id="5" name="Slide Number Placeholder 4"/>
          <p:cNvSpPr>
            <a:spLocks noGrp="1"/>
          </p:cNvSpPr>
          <p:nvPr>
            <p:ph type="sldNum" sz="quarter" idx="3"/>
          </p:nvPr>
        </p:nvSpPr>
        <p:spPr>
          <a:xfrm>
            <a:off x="3850443" y="9428584"/>
            <a:ext cx="2945659" cy="498055"/>
          </a:xfrm>
          <a:prstGeom prst="rect">
            <a:avLst/>
          </a:prstGeom>
        </p:spPr>
        <p:txBody>
          <a:bodyPr vert="horz" lIns="91440" tIns="45720" rIns="91440" bIns="45720" rtlCol="0" anchor="b"/>
          <a:lstStyle>
            <a:lvl1pPr algn="r">
              <a:defRPr sz="1200"/>
            </a:lvl1pPr>
          </a:lstStyle>
          <a:p>
            <a:fld id="{E6E65371-5E63-4257-B029-6DF179F0F7B9}" type="slidenum">
              <a:rPr lang="en-ZA" smtClean="0"/>
              <a:t>‹#›</a:t>
            </a:fld>
            <a:endParaRPr lang="en-ZA"/>
          </a:p>
        </p:txBody>
      </p:sp>
    </p:spTree>
    <p:extLst>
      <p:ext uri="{BB962C8B-B14F-4D97-AF65-F5344CB8AC3E}">
        <p14:creationId xmlns:p14="http://schemas.microsoft.com/office/powerpoint/2010/main" val="63565548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5659" cy="498056"/>
          </a:xfrm>
          <a:prstGeom prst="rect">
            <a:avLst/>
          </a:prstGeom>
        </p:spPr>
        <p:txBody>
          <a:bodyPr vert="horz" lIns="91440" tIns="45720" rIns="91440" bIns="45720" rtlCol="0"/>
          <a:lstStyle>
            <a:lvl1pPr algn="l">
              <a:defRPr sz="1200"/>
            </a:lvl1pPr>
          </a:lstStyle>
          <a:p>
            <a:endParaRPr lang="en-ZA"/>
          </a:p>
        </p:txBody>
      </p:sp>
      <p:sp>
        <p:nvSpPr>
          <p:cNvPr id="3" name="Date Placeholder 2"/>
          <p:cNvSpPr>
            <a:spLocks noGrp="1"/>
          </p:cNvSpPr>
          <p:nvPr>
            <p:ph type="dt" idx="1"/>
          </p:nvPr>
        </p:nvSpPr>
        <p:spPr>
          <a:xfrm>
            <a:off x="3850443" y="0"/>
            <a:ext cx="2945659" cy="498056"/>
          </a:xfrm>
          <a:prstGeom prst="rect">
            <a:avLst/>
          </a:prstGeom>
        </p:spPr>
        <p:txBody>
          <a:bodyPr vert="horz" lIns="91440" tIns="45720" rIns="91440" bIns="45720" rtlCol="0"/>
          <a:lstStyle>
            <a:lvl1pPr algn="r">
              <a:defRPr sz="1200"/>
            </a:lvl1pPr>
          </a:lstStyle>
          <a:p>
            <a:fld id="{F4215A52-B37F-4928-9A67-E2A120D955CE}" type="datetimeFigureOut">
              <a:rPr lang="en-ZA" smtClean="0"/>
              <a:t>2026/05/20</a:t>
            </a:fld>
            <a:endParaRPr lang="en-ZA"/>
          </a:p>
        </p:txBody>
      </p:sp>
      <p:sp>
        <p:nvSpPr>
          <p:cNvPr id="4" name="Slide Image Placeholder 3"/>
          <p:cNvSpPr>
            <a:spLocks noGrp="1" noRot="1" noChangeAspect="1"/>
          </p:cNvSpPr>
          <p:nvPr>
            <p:ph type="sldImg" idx="2"/>
          </p:nvPr>
        </p:nvSpPr>
        <p:spPr>
          <a:xfrm>
            <a:off x="422275" y="1241425"/>
            <a:ext cx="5953125" cy="3349625"/>
          </a:xfrm>
          <a:prstGeom prst="rect">
            <a:avLst/>
          </a:prstGeom>
          <a:noFill/>
          <a:ln w="12700">
            <a:solidFill>
              <a:prstClr val="black"/>
            </a:solidFill>
          </a:ln>
        </p:spPr>
        <p:txBody>
          <a:bodyPr vert="horz" lIns="91440" tIns="45720" rIns="91440" bIns="45720" rtlCol="0" anchor="ctr"/>
          <a:lstStyle/>
          <a:p>
            <a:endParaRPr lang="en-ZA"/>
          </a:p>
        </p:txBody>
      </p:sp>
      <p:sp>
        <p:nvSpPr>
          <p:cNvPr id="5" name="Notes Placeholder 4"/>
          <p:cNvSpPr>
            <a:spLocks noGrp="1"/>
          </p:cNvSpPr>
          <p:nvPr>
            <p:ph type="body" sz="quarter" idx="3"/>
          </p:nvPr>
        </p:nvSpPr>
        <p:spPr>
          <a:xfrm>
            <a:off x="679768" y="4777194"/>
            <a:ext cx="5438140" cy="3908614"/>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6" name="Footer Placeholder 5"/>
          <p:cNvSpPr>
            <a:spLocks noGrp="1"/>
          </p:cNvSpPr>
          <p:nvPr>
            <p:ph type="ftr" sz="quarter" idx="4"/>
          </p:nvPr>
        </p:nvSpPr>
        <p:spPr>
          <a:xfrm>
            <a:off x="0" y="9428584"/>
            <a:ext cx="2945659" cy="498055"/>
          </a:xfrm>
          <a:prstGeom prst="rect">
            <a:avLst/>
          </a:prstGeom>
        </p:spPr>
        <p:txBody>
          <a:bodyPr vert="horz" lIns="91440" tIns="45720" rIns="91440" bIns="45720" rtlCol="0" anchor="b"/>
          <a:lstStyle>
            <a:lvl1pPr algn="l">
              <a:defRPr sz="1200"/>
            </a:lvl1pPr>
          </a:lstStyle>
          <a:p>
            <a:endParaRPr lang="en-ZA"/>
          </a:p>
        </p:txBody>
      </p:sp>
      <p:sp>
        <p:nvSpPr>
          <p:cNvPr id="7" name="Slide Number Placeholder 6"/>
          <p:cNvSpPr>
            <a:spLocks noGrp="1"/>
          </p:cNvSpPr>
          <p:nvPr>
            <p:ph type="sldNum" sz="quarter" idx="5"/>
          </p:nvPr>
        </p:nvSpPr>
        <p:spPr>
          <a:xfrm>
            <a:off x="3850443" y="9428584"/>
            <a:ext cx="2945659" cy="498055"/>
          </a:xfrm>
          <a:prstGeom prst="rect">
            <a:avLst/>
          </a:prstGeom>
        </p:spPr>
        <p:txBody>
          <a:bodyPr vert="horz" lIns="91440" tIns="45720" rIns="91440" bIns="45720" rtlCol="0" anchor="b"/>
          <a:lstStyle>
            <a:lvl1pPr algn="r">
              <a:defRPr sz="1200"/>
            </a:lvl1pPr>
          </a:lstStyle>
          <a:p>
            <a:fld id="{2F1A90E2-B811-4D7C-8742-E98222CB5259}" type="slidenum">
              <a:rPr lang="en-ZA" smtClean="0"/>
              <a:t>‹#›</a:t>
            </a:fld>
            <a:endParaRPr lang="en-ZA"/>
          </a:p>
        </p:txBody>
      </p:sp>
    </p:spTree>
    <p:extLst>
      <p:ext uri="{BB962C8B-B14F-4D97-AF65-F5344CB8AC3E}">
        <p14:creationId xmlns:p14="http://schemas.microsoft.com/office/powerpoint/2010/main" val="33309210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71500" y="1336675"/>
            <a:ext cx="6413500" cy="3608388"/>
          </a:xfrm>
        </p:spPr>
      </p:sp>
      <p:sp>
        <p:nvSpPr>
          <p:cNvPr id="3" name="Notes Placeholder 2"/>
          <p:cNvSpPr>
            <a:spLocks noGrp="1"/>
          </p:cNvSpPr>
          <p:nvPr>
            <p:ph type="body" idx="1"/>
          </p:nvPr>
        </p:nvSpPr>
        <p:spPr/>
        <p:txBody>
          <a:bodyPr/>
          <a:lstStyle/>
          <a:p>
            <a:endParaRPr lang="en-ZA" baseline="0"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3C25B52-C3CA-46A6-B6DA-339428C65AA2}" type="slidenum">
              <a:rPr kumimoji="0" lang="en-ZA"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ZA"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32187327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Technology alone does not automatically create business success. Firms gain sustainable competitive advantage when technology is aligned with strategy, value creation, customer needs, operational efficiency, and long-term positioning.</a:t>
            </a:r>
            <a:br>
              <a:rPr lang="en-GB" dirty="0"/>
            </a:br>
            <a:r>
              <a:rPr lang="en-GB" dirty="0"/>
              <a:t>This topic showed that technology becomes valuable when it supports business strategy and helps firms create sustainable competitive advantage. Firms do not compete only through technology itself, but through how they strategically use technology to create value, improve operations, strengthen customer relationships, and position themselves differently from competitors.</a:t>
            </a:r>
          </a:p>
          <a:p>
            <a:r>
              <a:rPr lang="en-GB" dirty="0"/>
              <a:t>Concepts such as operational effectiveness and strategic positioning demonstrate how firms use technology either to perform activities better or to create a unique market position. Brand, scale, switching costs, timing, and data can strengthen a firm’s competitive position over time.</a:t>
            </a:r>
          </a:p>
          <a:p>
            <a:r>
              <a:rPr lang="en-GB" dirty="0"/>
              <a:t>Sustainable advantage is often difficult to achieve because competitors can imitate technologies. This is why firms focus on resources and capabilities that are difficult to copy, such as strong brands, ecosystems, customer data, network effects, and imitation-resistant value chains. Concepts such as Porter’s Five Forces and the Resource-Based View help understand how firms protect and sustain their market position. Porter’s Five Forces showed how technology can influence industry competition through rivalry, barriers to entry, customer power, supplier power, and substitute products or services. The Resource-Based View (RBV) showed how firms can use technology, data, brand, skills, and organisational capabilities as strategic resources that may support sustainable competitive advantage when they are valuable, rare, difficult to imitate, and non-substitutable.</a:t>
            </a:r>
          </a:p>
          <a:p>
            <a:r>
              <a:rPr lang="en-GB" dirty="0"/>
              <a:t>The key takeaway from this topic is that successful firms do not simply adopt technology. They strategically integrate technology into their business model, operations, customer engagement, and long-term competitive strategy.</a:t>
            </a:r>
          </a:p>
          <a:p>
            <a:endParaRPr lang="en-ZA" dirty="0"/>
          </a:p>
          <a:p>
            <a:r>
              <a:rPr lang="en-ZA" b="1" dirty="0"/>
              <a:t>Notes to remember when you study for your EMA (and later contexts):</a:t>
            </a:r>
            <a:br>
              <a:rPr lang="en-ZA" b="1" dirty="0"/>
            </a:br>
            <a:r>
              <a:rPr lang="en-GB" dirty="0"/>
              <a:t>Technology alone does not automatically create business success or sustainable competitive advantage. Firms gain a competitive advantage when technology is strategically aligned with business goals, customer value, operations, and market positioning.</a:t>
            </a:r>
          </a:p>
          <a:p>
            <a:r>
              <a:rPr lang="en-GB" dirty="0"/>
              <a:t>Throughout this topic, we explored how firms use technology to:</a:t>
            </a:r>
          </a:p>
          <a:p>
            <a:r>
              <a:rPr lang="en-GB" dirty="0"/>
              <a:t>improve operational effectiveness, </a:t>
            </a:r>
          </a:p>
          <a:p>
            <a:pPr marL="171450" indent="-171450">
              <a:buFont typeface="Arial" panose="020B0604020202020204" pitchFamily="34" charset="0"/>
              <a:buChar char="•"/>
            </a:pPr>
            <a:r>
              <a:rPr lang="en-GB" dirty="0"/>
              <a:t>create unique strategic positions, </a:t>
            </a:r>
          </a:p>
          <a:p>
            <a:pPr marL="171450" indent="-171450">
              <a:buFont typeface="Arial" panose="020B0604020202020204" pitchFamily="34" charset="0"/>
              <a:buChar char="•"/>
            </a:pPr>
            <a:r>
              <a:rPr lang="en-GB" dirty="0"/>
              <a:t>strengthen brands, </a:t>
            </a:r>
          </a:p>
          <a:p>
            <a:pPr marL="171450" indent="-171450">
              <a:buFont typeface="Arial" panose="020B0604020202020204" pitchFamily="34" charset="0"/>
              <a:buChar char="•"/>
            </a:pPr>
            <a:r>
              <a:rPr lang="en-GB" dirty="0"/>
              <a:t>scale operations, </a:t>
            </a:r>
          </a:p>
          <a:p>
            <a:pPr marL="171450" indent="-171450">
              <a:buFont typeface="Arial" panose="020B0604020202020204" pitchFamily="34" charset="0"/>
              <a:buChar char="•"/>
            </a:pPr>
            <a:r>
              <a:rPr lang="en-GB" dirty="0"/>
              <a:t>build switching costs, </a:t>
            </a:r>
          </a:p>
          <a:p>
            <a:pPr marL="171450" indent="-171450">
              <a:buFont typeface="Arial" panose="020B0604020202020204" pitchFamily="34" charset="0"/>
              <a:buChar char="•"/>
            </a:pPr>
            <a:r>
              <a:rPr lang="en-GB" dirty="0"/>
              <a:t>leverage customer data, </a:t>
            </a:r>
          </a:p>
          <a:p>
            <a:pPr marL="171450" indent="-171450">
              <a:buFont typeface="Arial" panose="020B0604020202020204" pitchFamily="34" charset="0"/>
              <a:buChar char="•"/>
            </a:pPr>
            <a:r>
              <a:rPr lang="en-GB" dirty="0"/>
              <a:t>and create resources and capabilities that are difficult for competitors to imitate. </a:t>
            </a:r>
          </a:p>
          <a:p>
            <a:r>
              <a:rPr lang="en-GB" dirty="0"/>
              <a:t>Frameworks such as Porter’s Five Forces and the Resource-Based View help understand how firms sustain competitive advantage in competitive markets.</a:t>
            </a:r>
            <a:br>
              <a:rPr lang="en-GB" dirty="0"/>
            </a:br>
            <a:r>
              <a:rPr lang="en-GB" dirty="0"/>
              <a:t>Through Porter’s Five Forces, one can understand that technological change can:</a:t>
            </a:r>
          </a:p>
          <a:p>
            <a:pPr marL="171450" indent="-171450">
              <a:buFont typeface="Arial" panose="020B0604020202020204" pitchFamily="34" charset="0"/>
              <a:buChar char="•"/>
            </a:pPr>
            <a:r>
              <a:rPr lang="en-GB" dirty="0"/>
              <a:t>increase rivalry among competitors, </a:t>
            </a:r>
          </a:p>
          <a:p>
            <a:pPr marL="171450" indent="-171450">
              <a:buFont typeface="Arial" panose="020B0604020202020204" pitchFamily="34" charset="0"/>
              <a:buChar char="•"/>
            </a:pPr>
            <a:r>
              <a:rPr lang="en-GB" dirty="0"/>
              <a:t>lower barriers to entry for new firms, </a:t>
            </a:r>
          </a:p>
          <a:p>
            <a:pPr marL="171450" indent="-171450">
              <a:buFont typeface="Arial" panose="020B0604020202020204" pitchFamily="34" charset="0"/>
              <a:buChar char="•"/>
            </a:pPr>
            <a:r>
              <a:rPr lang="en-GB" dirty="0"/>
              <a:t>increase customer power through greater access to information, </a:t>
            </a:r>
          </a:p>
          <a:p>
            <a:pPr marL="171450" indent="-171450">
              <a:buFont typeface="Arial" panose="020B0604020202020204" pitchFamily="34" charset="0"/>
              <a:buChar char="•"/>
            </a:pPr>
            <a:r>
              <a:rPr lang="en-GB" dirty="0"/>
              <a:t>create substitute products and services, </a:t>
            </a:r>
          </a:p>
          <a:p>
            <a:pPr marL="171450" indent="-171450">
              <a:buFont typeface="Arial" panose="020B0604020202020204" pitchFamily="34" charset="0"/>
              <a:buChar char="•"/>
            </a:pPr>
            <a:r>
              <a:rPr lang="en-GB" dirty="0"/>
              <a:t>and change supplier relationships and industry structures. </a:t>
            </a:r>
          </a:p>
          <a:p>
            <a:r>
              <a:rPr lang="en-GB" dirty="0"/>
              <a:t>For businesses, this means firms must continuously innovate, adapt, and strategically use technology to remain competitive in rapidly changing markets.</a:t>
            </a:r>
          </a:p>
          <a:p>
            <a:endParaRPr lang="en-GB" b="1" dirty="0"/>
          </a:p>
          <a:p>
            <a:r>
              <a:rPr lang="en-GB" b="1" dirty="0"/>
              <a:t>For revision and EMA preparation, focus not only on defining concepts, but also on explaining:</a:t>
            </a:r>
          </a:p>
          <a:p>
            <a:pPr marL="171450" indent="-171450">
              <a:buFont typeface="Arial" panose="020B0604020202020204" pitchFamily="34" charset="0"/>
              <a:buChar char="•"/>
            </a:pPr>
            <a:r>
              <a:rPr lang="en-GB" dirty="0"/>
              <a:t>how the concepts apply in real businesses, </a:t>
            </a:r>
          </a:p>
          <a:p>
            <a:pPr marL="171450" indent="-171450">
              <a:buFont typeface="Arial" panose="020B0604020202020204" pitchFamily="34" charset="0"/>
              <a:buChar char="•"/>
            </a:pPr>
            <a:r>
              <a:rPr lang="en-GB" dirty="0"/>
              <a:t>how technology supports strategy, </a:t>
            </a:r>
          </a:p>
          <a:p>
            <a:pPr marL="171450" indent="-171450">
              <a:buFont typeface="Arial" panose="020B0604020202020204" pitchFamily="34" charset="0"/>
              <a:buChar char="•"/>
            </a:pPr>
            <a:r>
              <a:rPr lang="en-GB" dirty="0"/>
              <a:t>and what opportunities or challenges the technology creates for firms.</a:t>
            </a:r>
          </a:p>
          <a:p>
            <a:endParaRPr lang="en-ZA" dirty="0"/>
          </a:p>
        </p:txBody>
      </p:sp>
      <p:sp>
        <p:nvSpPr>
          <p:cNvPr id="4" name="Slide Number Placeholder 3"/>
          <p:cNvSpPr>
            <a:spLocks noGrp="1"/>
          </p:cNvSpPr>
          <p:nvPr>
            <p:ph type="sldNum" sz="quarter" idx="5"/>
          </p:nvPr>
        </p:nvSpPr>
        <p:spPr/>
        <p:txBody>
          <a:bodyPr/>
          <a:lstStyle/>
          <a:p>
            <a:fld id="{2F1A90E2-B811-4D7C-8742-E98222CB5259}" type="slidenum">
              <a:rPr lang="en-ZA" smtClean="0"/>
              <a:t>3</a:t>
            </a:fld>
            <a:endParaRPr lang="en-ZA"/>
          </a:p>
        </p:txBody>
      </p:sp>
    </p:spTree>
    <p:extLst>
      <p:ext uri="{BB962C8B-B14F-4D97-AF65-F5344CB8AC3E}">
        <p14:creationId xmlns:p14="http://schemas.microsoft.com/office/powerpoint/2010/main" val="332599964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 FreshDirect case study demonstrates how technology can be used strategically to redesign operations and create competitive advantage, rather than simply automate existing processes.</a:t>
            </a:r>
          </a:p>
          <a:p>
            <a:endParaRPr lang="en-GB" dirty="0"/>
          </a:p>
          <a:p>
            <a:r>
              <a:rPr lang="en-GB" dirty="0"/>
              <a:t>FreshDirect combined technology, data, supply chain management, and operational innovation to create an ultra-efficient grocery delivery model that competitors struggled to imitate. The company improved freshness, reduced waste, increased inventory turnover, strengthened supplier relationships, and enhanced delivery efficiency.</a:t>
            </a:r>
          </a:p>
          <a:p>
            <a:endParaRPr lang="en-GB" b="1" dirty="0"/>
          </a:p>
          <a:p>
            <a:r>
              <a:rPr lang="en-GB" b="1" dirty="0"/>
              <a:t>Important lessons from this case include:</a:t>
            </a:r>
          </a:p>
          <a:p>
            <a:pPr marL="171450" indent="-171450">
              <a:buFont typeface="Arial" panose="020B0604020202020204" pitchFamily="34" charset="0"/>
              <a:buChar char="•"/>
            </a:pPr>
            <a:r>
              <a:rPr lang="en-GB" dirty="0"/>
              <a:t>Technology can improve operational effectiveness and lower costs. </a:t>
            </a:r>
          </a:p>
          <a:p>
            <a:pPr marL="171450" indent="-171450">
              <a:buFont typeface="Arial" panose="020B0604020202020204" pitchFamily="34" charset="0"/>
              <a:buChar char="•"/>
            </a:pPr>
            <a:r>
              <a:rPr lang="en-GB" dirty="0"/>
              <a:t>Data sharing can strengthen relationships with suppliers and improve decision-making. </a:t>
            </a:r>
          </a:p>
          <a:p>
            <a:pPr marL="171450" indent="-171450">
              <a:buFont typeface="Arial" panose="020B0604020202020204" pitchFamily="34" charset="0"/>
              <a:buChar char="•"/>
            </a:pPr>
            <a:r>
              <a:rPr lang="en-GB" dirty="0"/>
              <a:t>Artificial intelligence and automation can optimise inventory, storage, and logistics. </a:t>
            </a:r>
          </a:p>
          <a:p>
            <a:pPr marL="171450" indent="-171450">
              <a:buFont typeface="Arial" panose="020B0604020202020204" pitchFamily="34" charset="0"/>
              <a:buChar char="•"/>
            </a:pPr>
            <a:r>
              <a:rPr lang="en-GB" dirty="0"/>
              <a:t>Faster inventory turnover improves freshness and profitability. </a:t>
            </a:r>
          </a:p>
          <a:p>
            <a:pPr marL="171450" indent="-171450">
              <a:buFont typeface="Arial" panose="020B0604020202020204" pitchFamily="34" charset="0"/>
              <a:buChar char="•"/>
            </a:pPr>
            <a:r>
              <a:rPr lang="en-GB" dirty="0"/>
              <a:t>Competitive advantage is stronger when multiple activities work together as part of an integrated business model. </a:t>
            </a:r>
          </a:p>
          <a:p>
            <a:endParaRPr lang="en-GB" dirty="0"/>
          </a:p>
          <a:p>
            <a:r>
              <a:rPr lang="en-GB" dirty="0"/>
              <a:t>For revision and EMA preparation, focus on understanding:</a:t>
            </a:r>
          </a:p>
          <a:p>
            <a:pPr marL="171450" indent="-171450">
              <a:buFont typeface="Arial" panose="020B0604020202020204" pitchFamily="34" charset="0"/>
              <a:buChar char="•"/>
            </a:pPr>
            <a:r>
              <a:rPr lang="en-GB" dirty="0"/>
              <a:t>how technology supported FreshDirect’s business strategy, </a:t>
            </a:r>
          </a:p>
          <a:p>
            <a:pPr marL="171450" indent="-171450">
              <a:buFont typeface="Arial" panose="020B0604020202020204" pitchFamily="34" charset="0"/>
              <a:buChar char="•"/>
            </a:pPr>
            <a:r>
              <a:rPr lang="en-GB" dirty="0"/>
              <a:t>how operational innovations created value, </a:t>
            </a:r>
          </a:p>
          <a:p>
            <a:pPr marL="171450" indent="-171450">
              <a:buFont typeface="Arial" panose="020B0604020202020204" pitchFamily="34" charset="0"/>
              <a:buChar char="•"/>
            </a:pPr>
            <a:r>
              <a:rPr lang="en-GB" dirty="0"/>
              <a:t>and why the FreshDirect model was difficult for traditional grocery stores or delivery firms to imitate.</a:t>
            </a:r>
          </a:p>
          <a:p>
            <a:endParaRPr lang="en-ZA" dirty="0"/>
          </a:p>
        </p:txBody>
      </p:sp>
      <p:sp>
        <p:nvSpPr>
          <p:cNvPr id="4" name="Slide Number Placeholder 3"/>
          <p:cNvSpPr>
            <a:spLocks noGrp="1"/>
          </p:cNvSpPr>
          <p:nvPr>
            <p:ph type="sldNum" sz="quarter" idx="5"/>
          </p:nvPr>
        </p:nvSpPr>
        <p:spPr/>
        <p:txBody>
          <a:bodyPr/>
          <a:lstStyle/>
          <a:p>
            <a:fld id="{2F1A90E2-B811-4D7C-8742-E98222CB5259}" type="slidenum">
              <a:rPr lang="en-ZA" smtClean="0"/>
              <a:t>4</a:t>
            </a:fld>
            <a:endParaRPr lang="en-ZA"/>
          </a:p>
        </p:txBody>
      </p:sp>
    </p:spTree>
    <p:extLst>
      <p:ext uri="{BB962C8B-B14F-4D97-AF65-F5344CB8AC3E}">
        <p14:creationId xmlns:p14="http://schemas.microsoft.com/office/powerpoint/2010/main" val="381571204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 Zara case demonstrates how firms can use technology, data, and tightly coordinated operations to create speed, responsiveness, and competitive advantage in highly competitive industries.</a:t>
            </a:r>
          </a:p>
          <a:p>
            <a:endParaRPr lang="en-GB" dirty="0"/>
          </a:p>
          <a:p>
            <a:r>
              <a:rPr lang="en-GB" dirty="0"/>
              <a:t>Zara’s success is not based solely on fashion design, but on an integrated business model in which stores, designers, manufacturers, suppliers, and logistics systems continuously share information and respond quickly to customer demand. Technology supports the entire value chain, from in-store data collection to production, inventory management, and global distribution.</a:t>
            </a:r>
          </a:p>
          <a:p>
            <a:endParaRPr lang="en-GB" b="1" dirty="0"/>
          </a:p>
          <a:p>
            <a:r>
              <a:rPr lang="en-GB" b="1" dirty="0"/>
              <a:t>Important lessons from this case include:</a:t>
            </a:r>
          </a:p>
          <a:p>
            <a:r>
              <a:rPr lang="en-GB" dirty="0"/>
              <a:t>Data collected from stores helps Zara quickly identify customer preferences and market trends. </a:t>
            </a:r>
          </a:p>
          <a:p>
            <a:pPr marL="171450" indent="-171450">
              <a:buFont typeface="Arial" panose="020B0604020202020204" pitchFamily="34" charset="0"/>
              <a:buChar char="•"/>
            </a:pPr>
            <a:r>
              <a:rPr lang="en-GB" dirty="0"/>
              <a:t>Technology enables faster decision-making and rapid movement from design to production. </a:t>
            </a:r>
          </a:p>
          <a:p>
            <a:pPr marL="171450" indent="-171450">
              <a:buFont typeface="Arial" panose="020B0604020202020204" pitchFamily="34" charset="0"/>
              <a:buChar char="•"/>
            </a:pPr>
            <a:r>
              <a:rPr lang="en-GB" dirty="0"/>
              <a:t>Limited production runs create scarcity and reduce excess inventory. </a:t>
            </a:r>
          </a:p>
          <a:p>
            <a:pPr marL="171450" indent="-171450">
              <a:buFont typeface="Arial" panose="020B0604020202020204" pitchFamily="34" charset="0"/>
              <a:buChar char="•"/>
            </a:pPr>
            <a:r>
              <a:rPr lang="en-GB" dirty="0"/>
              <a:t>RFID tags and inventory optimisation improve stock visibility and logistics efficiency. </a:t>
            </a:r>
          </a:p>
          <a:p>
            <a:pPr marL="171450" indent="-171450">
              <a:buFont typeface="Arial" panose="020B0604020202020204" pitchFamily="34" charset="0"/>
              <a:buChar char="•"/>
            </a:pPr>
            <a:r>
              <a:rPr lang="en-GB" dirty="0"/>
              <a:t>Vertical integration allows Zara to maintain greater control over production and supply chain activities. </a:t>
            </a:r>
          </a:p>
          <a:p>
            <a:pPr marL="171450" indent="-171450">
              <a:buFont typeface="Arial" panose="020B0604020202020204" pitchFamily="34" charset="0"/>
              <a:buChar char="•"/>
            </a:pPr>
            <a:r>
              <a:rPr lang="en-GB" dirty="0"/>
              <a:t>Omni-channel strategies integrate physical stores and digital platforms to improve customer experience and convenience. </a:t>
            </a:r>
          </a:p>
          <a:p>
            <a:endParaRPr lang="en-GB" b="1" dirty="0"/>
          </a:p>
          <a:p>
            <a:r>
              <a:rPr lang="en-GB" b="1" dirty="0"/>
              <a:t>For revision and EMA preparation, focus on understanding:</a:t>
            </a:r>
          </a:p>
          <a:p>
            <a:pPr marL="171450" indent="-171450">
              <a:buFont typeface="Arial" panose="020B0604020202020204" pitchFamily="34" charset="0"/>
              <a:buChar char="•"/>
            </a:pPr>
            <a:r>
              <a:rPr lang="en-GB" dirty="0"/>
              <a:t>how Zara strategically uses technology across its operations, </a:t>
            </a:r>
          </a:p>
          <a:p>
            <a:pPr marL="171450" indent="-171450">
              <a:buFont typeface="Arial" panose="020B0604020202020204" pitchFamily="34" charset="0"/>
              <a:buChar char="•"/>
            </a:pPr>
            <a:r>
              <a:rPr lang="en-GB" dirty="0"/>
              <a:t>how operational speed and coordination create competitive advantage, </a:t>
            </a:r>
          </a:p>
          <a:p>
            <a:pPr marL="171450" indent="-171450">
              <a:buFont typeface="Arial" panose="020B0604020202020204" pitchFamily="34" charset="0"/>
              <a:buChar char="•"/>
            </a:pPr>
            <a:r>
              <a:rPr lang="en-GB" dirty="0"/>
              <a:t>and why Zara’s integrated supply chain and data-driven model are difficult for competitors to imitate.</a:t>
            </a:r>
          </a:p>
          <a:p>
            <a:pPr marL="171450" indent="-171450">
              <a:buFont typeface="Arial" panose="020B0604020202020204" pitchFamily="34" charset="0"/>
              <a:buChar char="•"/>
            </a:pPr>
            <a:endParaRPr lang="en-GB" dirty="0"/>
          </a:p>
          <a:p>
            <a:pPr marL="0" indent="0">
              <a:buFont typeface="Arial" panose="020B0604020202020204" pitchFamily="34" charset="0"/>
              <a:buNone/>
            </a:pPr>
            <a:r>
              <a:rPr lang="en-GB" dirty="0"/>
              <a:t>This will help in applying the selected concepts to your chosen businesses or industries.</a:t>
            </a:r>
          </a:p>
          <a:p>
            <a:endParaRPr lang="en-ZA" dirty="0"/>
          </a:p>
        </p:txBody>
      </p:sp>
      <p:sp>
        <p:nvSpPr>
          <p:cNvPr id="4" name="Slide Number Placeholder 3"/>
          <p:cNvSpPr>
            <a:spLocks noGrp="1"/>
          </p:cNvSpPr>
          <p:nvPr>
            <p:ph type="sldNum" sz="quarter" idx="5"/>
          </p:nvPr>
        </p:nvSpPr>
        <p:spPr/>
        <p:txBody>
          <a:bodyPr/>
          <a:lstStyle/>
          <a:p>
            <a:fld id="{2F1A90E2-B811-4D7C-8742-E98222CB5259}" type="slidenum">
              <a:rPr lang="en-ZA" smtClean="0"/>
              <a:t>5</a:t>
            </a:fld>
            <a:endParaRPr lang="en-ZA"/>
          </a:p>
        </p:txBody>
      </p:sp>
    </p:spTree>
    <p:extLst>
      <p:ext uri="{BB962C8B-B14F-4D97-AF65-F5344CB8AC3E}">
        <p14:creationId xmlns:p14="http://schemas.microsoft.com/office/powerpoint/2010/main" val="91011261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Moore’s Law states that the number of transistors that can fit onto a microchip doubles approximately every two years, resulting in computing becoming more powerful, faster, and cheaper over time.</a:t>
            </a:r>
            <a:br>
              <a:rPr lang="en-GB" dirty="0"/>
            </a:br>
            <a:r>
              <a:rPr lang="en-GB" dirty="0"/>
              <a:t>This topic demonstrated how rapid technological advancement continues to make computing faster, smaller, more powerful, and cheaper, creating new opportunities and challenges for businesses and society.</a:t>
            </a:r>
          </a:p>
          <a:p>
            <a:r>
              <a:rPr lang="en-GB" dirty="0"/>
              <a:t>Moore’s Law helped explain why processing power and technological capability have increased rapidly over time, while the cost of computing has decreased. Advancements in processors, storage, cloud computing, mobile technologies, and the Internet have transformed how firms operate, compete, communicate, and innovate.</a:t>
            </a:r>
          </a:p>
          <a:p>
            <a:endParaRPr lang="en-GB" b="1" dirty="0"/>
          </a:p>
          <a:p>
            <a:r>
              <a:rPr lang="en-GB" b="1" dirty="0"/>
              <a:t>Important lessons from this topic include:</a:t>
            </a:r>
          </a:p>
          <a:p>
            <a:pPr marL="171450" indent="-171450">
              <a:buFont typeface="Arial" panose="020B0604020202020204" pitchFamily="34" charset="0"/>
              <a:buChar char="•"/>
            </a:pPr>
            <a:r>
              <a:rPr lang="en-GB" dirty="0"/>
              <a:t>Businesses continuously adapt to rapidly changing technologies. </a:t>
            </a:r>
          </a:p>
          <a:p>
            <a:pPr marL="171450" indent="-171450">
              <a:buFont typeface="Arial" panose="020B0604020202020204" pitchFamily="34" charset="0"/>
              <a:buChar char="•"/>
            </a:pPr>
            <a:r>
              <a:rPr lang="en-GB" dirty="0"/>
              <a:t>Faster and cheaper computing enables innovations such as cloud services, AI, mobile platforms, and the Internet of Things (IoT). </a:t>
            </a:r>
          </a:p>
          <a:p>
            <a:pPr marL="171450" indent="-171450">
              <a:buFont typeface="Arial" panose="020B0604020202020204" pitchFamily="34" charset="0"/>
              <a:buChar char="•"/>
            </a:pPr>
            <a:r>
              <a:rPr lang="en-GB" dirty="0"/>
              <a:t>Waves of computing show the evolution from mainframes, to PCs, to mobile, cloud, and smart connected devices. </a:t>
            </a:r>
          </a:p>
          <a:p>
            <a:pPr marL="171450" indent="-171450">
              <a:buFont typeface="Arial" panose="020B0604020202020204" pitchFamily="34" charset="0"/>
              <a:buChar char="•"/>
            </a:pPr>
            <a:r>
              <a:rPr lang="en-GB" dirty="0"/>
              <a:t>The Internet of Things expands connectivity by linking physical devices, sensors, and systems to the Internet. </a:t>
            </a:r>
          </a:p>
          <a:p>
            <a:pPr marL="171450" indent="-171450">
              <a:buFont typeface="Arial" panose="020B0604020202020204" pitchFamily="34" charset="0"/>
              <a:buChar char="•"/>
            </a:pPr>
            <a:r>
              <a:rPr lang="en-GB" dirty="0"/>
              <a:t>Managers must make strategic decisions about technology adoption, upgrades, investment, and innovation timing. </a:t>
            </a:r>
          </a:p>
          <a:p>
            <a:pPr marL="171450" indent="-171450">
              <a:buFont typeface="Arial" panose="020B0604020202020204" pitchFamily="34" charset="0"/>
              <a:buChar char="•"/>
            </a:pPr>
            <a:r>
              <a:rPr lang="en-GB" dirty="0"/>
              <a:t>Rapid technological change also creates challenges such as e-waste, sustainability concerns, and pressure to constantly update systems and devices. </a:t>
            </a:r>
          </a:p>
          <a:p>
            <a:endParaRPr lang="en-GB" dirty="0"/>
          </a:p>
          <a:p>
            <a:r>
              <a:rPr lang="en-GB" b="1" dirty="0"/>
              <a:t>For revision and EMA preparation, focus on understanding (and explaining if you choose this concept):</a:t>
            </a:r>
          </a:p>
          <a:p>
            <a:pPr marL="171450" indent="-171450">
              <a:buFont typeface="Arial" panose="020B0604020202020204" pitchFamily="34" charset="0"/>
              <a:buChar char="•"/>
            </a:pPr>
            <a:r>
              <a:rPr lang="en-GB" dirty="0"/>
              <a:t>how advances in computing influence businesses and industries, </a:t>
            </a:r>
          </a:p>
          <a:p>
            <a:pPr marL="171450" indent="-171450">
              <a:buFont typeface="Arial" panose="020B0604020202020204" pitchFamily="34" charset="0"/>
              <a:buChar char="•"/>
            </a:pPr>
            <a:r>
              <a:rPr lang="en-GB" dirty="0"/>
              <a:t>how firms leverage technological improvements strategically, </a:t>
            </a:r>
          </a:p>
          <a:p>
            <a:pPr marL="171450" indent="-171450">
              <a:buFont typeface="Arial" panose="020B0604020202020204" pitchFamily="34" charset="0"/>
              <a:buChar char="•"/>
            </a:pPr>
            <a:r>
              <a:rPr lang="en-GB" dirty="0"/>
              <a:t>and the opportunities and challenges created by continuous technological change.</a:t>
            </a:r>
          </a:p>
          <a:p>
            <a:pPr algn="l"/>
            <a:endParaRPr lang="en-ZA" dirty="0"/>
          </a:p>
        </p:txBody>
      </p:sp>
      <p:sp>
        <p:nvSpPr>
          <p:cNvPr id="4" name="Slide Number Placeholder 3"/>
          <p:cNvSpPr>
            <a:spLocks noGrp="1"/>
          </p:cNvSpPr>
          <p:nvPr>
            <p:ph type="sldNum" sz="quarter" idx="5"/>
          </p:nvPr>
        </p:nvSpPr>
        <p:spPr/>
        <p:txBody>
          <a:bodyPr/>
          <a:lstStyle/>
          <a:p>
            <a:fld id="{2F1A90E2-B811-4D7C-8742-E98222CB5259}" type="slidenum">
              <a:rPr lang="en-ZA" smtClean="0"/>
              <a:t>6</a:t>
            </a:fld>
            <a:endParaRPr lang="en-ZA"/>
          </a:p>
        </p:txBody>
      </p:sp>
    </p:spTree>
    <p:extLst>
      <p:ext uri="{BB962C8B-B14F-4D97-AF65-F5344CB8AC3E}">
        <p14:creationId xmlns:p14="http://schemas.microsoft.com/office/powerpoint/2010/main" val="249356456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0" i="0" kern="1200" dirty="0">
                <a:solidFill>
                  <a:schemeClr val="tx1"/>
                </a:solidFill>
                <a:effectLst/>
                <a:latin typeface="+mn-lt"/>
                <a:ea typeface="+mn-ea"/>
                <a:cs typeface="+mn-cs"/>
              </a:rPr>
              <a:t>According to Christensen, disruptive technologies are innovations that initially address niche markets or serve a less demanding customer base. However, over time, they improve and evolve to the point where they surpass existing solutions in performance, ultimately disrupting the market/industry status quo and gaining mainstream adoption.</a:t>
            </a:r>
          </a:p>
          <a:p>
            <a:endParaRPr lang="en-GB" sz="1200" b="0" i="0" kern="1200" dirty="0">
              <a:solidFill>
                <a:schemeClr val="tx1"/>
              </a:solidFill>
              <a:effectLst/>
              <a:latin typeface="+mn-lt"/>
              <a:ea typeface="+mn-ea"/>
              <a:cs typeface="+mn-cs"/>
            </a:endParaRPr>
          </a:p>
          <a:p>
            <a:r>
              <a:rPr lang="en-GB" dirty="0"/>
              <a:t>Disruptive innovation refers to innovations that significantly change industries, markets, customer behaviour, or business models. These innovations often begin as simpler, cheaper, or more accessible alternatives, but over time, they improve and challenge established firms and traditional ways of doing business.</a:t>
            </a:r>
          </a:p>
          <a:p>
            <a:endParaRPr lang="en-GB" dirty="0"/>
          </a:p>
          <a:p>
            <a:r>
              <a:rPr lang="en-GB" dirty="0"/>
              <a:t>This topic/concept showed that large firms do not always fail because they lack resources or intelligence. Many fail because they ignore emerging technologies, underestimate changing customer needs, or remain too committed to existing business models and successful products.</a:t>
            </a:r>
          </a:p>
          <a:p>
            <a:endParaRPr lang="en-GB" b="1" dirty="0"/>
          </a:p>
          <a:p>
            <a:r>
              <a:rPr lang="en-GB" b="1" dirty="0"/>
              <a:t>Important lessons from this topic include:</a:t>
            </a:r>
          </a:p>
          <a:p>
            <a:pPr marL="171450" indent="-171450">
              <a:buFont typeface="Arial" panose="020B0604020202020204" pitchFamily="34" charset="0"/>
              <a:buChar char="•"/>
            </a:pPr>
            <a:r>
              <a:rPr lang="en-GB" dirty="0"/>
              <a:t>Disruptive innovations often start in overlooked or smaller markets before improving and expanding.</a:t>
            </a:r>
          </a:p>
          <a:p>
            <a:pPr marL="171450" indent="-171450">
              <a:buFont typeface="Arial" panose="020B0604020202020204" pitchFamily="34" charset="0"/>
              <a:buChar char="•"/>
            </a:pPr>
            <a:r>
              <a:rPr lang="en-GB" dirty="0"/>
              <a:t>Large firms may fail because they underestimate emerging innovations or remain too committed to existing products and business models.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dirty="0"/>
              <a:t>Established firms may struggle to respond because disruption can threaten their current profits and operations. </a:t>
            </a:r>
          </a:p>
          <a:p>
            <a:pPr marL="171450" indent="-171450">
              <a:buFont typeface="Arial" panose="020B0604020202020204" pitchFamily="34" charset="0"/>
              <a:buChar char="•"/>
            </a:pPr>
            <a:r>
              <a:rPr lang="en-GB" dirty="0"/>
              <a:t>Innovation graphs help explain how initially weaker technologies can improve over time and eventually outperform dominant technologies.</a:t>
            </a:r>
          </a:p>
          <a:p>
            <a:pPr marL="171450" indent="-171450">
              <a:buFont typeface="Arial" panose="020B0604020202020204" pitchFamily="34" charset="0"/>
              <a:buChar char="•"/>
            </a:pPr>
            <a:r>
              <a:rPr lang="en-GB" dirty="0"/>
              <a:t>Firms must continuously monitor technological trends, changing customer behaviour, and new business models. </a:t>
            </a:r>
          </a:p>
          <a:p>
            <a:pPr marL="171450" indent="-171450">
              <a:buFont typeface="Arial" panose="020B0604020202020204" pitchFamily="34" charset="0"/>
              <a:buChar char="•"/>
            </a:pPr>
            <a:r>
              <a:rPr lang="en-GB" dirty="0"/>
              <a:t>Responding to disruptive innovation may require firms to adapt business models, processes, and strategies rather than simply improving existing products. </a:t>
            </a:r>
          </a:p>
          <a:p>
            <a:endParaRPr lang="en-GB" dirty="0"/>
          </a:p>
          <a:p>
            <a:r>
              <a:rPr lang="en-GB" b="1" dirty="0"/>
              <a:t>Examples discussed in class include:</a:t>
            </a:r>
          </a:p>
          <a:p>
            <a:pPr marL="171450" indent="-171450">
              <a:buFont typeface="Arial" panose="020B0604020202020204" pitchFamily="34" charset="0"/>
              <a:buChar char="•"/>
            </a:pPr>
            <a:r>
              <a:rPr lang="en-GB" dirty="0"/>
              <a:t>Netflix disrupting traditional video rental and television models, </a:t>
            </a:r>
          </a:p>
          <a:p>
            <a:pPr marL="171450" indent="-171450">
              <a:buFont typeface="Arial" panose="020B0604020202020204" pitchFamily="34" charset="0"/>
              <a:buChar char="•"/>
            </a:pPr>
            <a:r>
              <a:rPr lang="en-GB" dirty="0"/>
              <a:t>Smartphones disrupting cameras, music players, GPS devices, and other standalone technologies. </a:t>
            </a:r>
          </a:p>
          <a:p>
            <a:endParaRPr lang="en-GB" b="1" dirty="0"/>
          </a:p>
          <a:p>
            <a:r>
              <a:rPr lang="en-GB" b="1" dirty="0"/>
              <a:t>For revision and EMA preparation, focus on understanding or explaining (depending on chosen concepts):</a:t>
            </a:r>
          </a:p>
          <a:p>
            <a:pPr marL="171450" indent="-171450">
              <a:buFont typeface="Arial" panose="020B0604020202020204" pitchFamily="34" charset="0"/>
              <a:buChar char="•"/>
            </a:pPr>
            <a:r>
              <a:rPr lang="en-GB" dirty="0"/>
              <a:t>what makes an innovation disruptive? </a:t>
            </a:r>
          </a:p>
          <a:p>
            <a:pPr marL="171450" indent="-171450">
              <a:buFont typeface="Arial" panose="020B0604020202020204" pitchFamily="34" charset="0"/>
              <a:buChar char="•"/>
            </a:pPr>
            <a:r>
              <a:rPr lang="en-GB" dirty="0"/>
              <a:t>why firms struggle to respond to disruption, </a:t>
            </a:r>
          </a:p>
          <a:p>
            <a:pPr marL="171450" indent="-171450">
              <a:buFont typeface="Arial" panose="020B0604020202020204" pitchFamily="34" charset="0"/>
              <a:buChar char="•"/>
            </a:pPr>
            <a:r>
              <a:rPr lang="en-GB" dirty="0"/>
              <a:t>how disruption affects industries and business models, </a:t>
            </a:r>
          </a:p>
          <a:p>
            <a:pPr marL="171450" indent="-171450">
              <a:buFont typeface="Arial" panose="020B0604020202020204" pitchFamily="34" charset="0"/>
              <a:buChar char="•"/>
            </a:pPr>
            <a:r>
              <a:rPr lang="en-GB" dirty="0"/>
              <a:t>and how firms can strategically recognise and respond to disruptive innovations.</a:t>
            </a:r>
          </a:p>
          <a:p>
            <a:endParaRPr lang="en-ZA" dirty="0"/>
          </a:p>
        </p:txBody>
      </p:sp>
      <p:sp>
        <p:nvSpPr>
          <p:cNvPr id="4" name="Slide Number Placeholder 3"/>
          <p:cNvSpPr>
            <a:spLocks noGrp="1"/>
          </p:cNvSpPr>
          <p:nvPr>
            <p:ph type="sldNum" sz="quarter" idx="5"/>
          </p:nvPr>
        </p:nvSpPr>
        <p:spPr/>
        <p:txBody>
          <a:bodyPr/>
          <a:lstStyle/>
          <a:p>
            <a:fld id="{2F1A90E2-B811-4D7C-8742-E98222CB5259}" type="slidenum">
              <a:rPr lang="en-ZA" smtClean="0"/>
              <a:t>7</a:t>
            </a:fld>
            <a:endParaRPr lang="en-ZA"/>
          </a:p>
        </p:txBody>
      </p:sp>
    </p:spTree>
    <p:extLst>
      <p:ext uri="{BB962C8B-B14F-4D97-AF65-F5344CB8AC3E}">
        <p14:creationId xmlns:p14="http://schemas.microsoft.com/office/powerpoint/2010/main" val="394350000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 Amazon case demonstrates how firms can use technology, scale, logistics, data, and continuous expansion strategies to build a highly integrated and dominant digital business ecosystem.</a:t>
            </a:r>
          </a:p>
          <a:p>
            <a:r>
              <a:rPr lang="en-GB" dirty="0"/>
              <a:t>Amazon grew from an online bookstore into a global technology and platform company by continuously expanding into new markets, improving operational efficiency, and strategically leveraging technology. The “Amazon wheel of growth” showed how lower prices, operational efficiency, wider product selection, customer experience, and increased traffic reinforce one another to drive continuous growth.</a:t>
            </a:r>
          </a:p>
          <a:p>
            <a:endParaRPr lang="en-GB" dirty="0"/>
          </a:p>
          <a:p>
            <a:r>
              <a:rPr lang="en-GB" b="1" dirty="0"/>
              <a:t>Important lessons from this topic include:</a:t>
            </a:r>
          </a:p>
          <a:p>
            <a:pPr marL="171450" indent="-171450">
              <a:buFont typeface="Arial" panose="020B0604020202020204" pitchFamily="34" charset="0"/>
              <a:buChar char="•"/>
            </a:pPr>
            <a:r>
              <a:rPr lang="en-GB" dirty="0"/>
              <a:t>Technology and automation can significantly improve warehouse and logistics efficiency. </a:t>
            </a:r>
          </a:p>
          <a:p>
            <a:pPr marL="171450" indent="-171450">
              <a:buFont typeface="Arial" panose="020B0604020202020204" pitchFamily="34" charset="0"/>
              <a:buChar char="•"/>
            </a:pPr>
            <a:r>
              <a:rPr lang="en-GB" dirty="0"/>
              <a:t>Data and analytics help optimise inventory, delivery, recommendations, and customer experience. </a:t>
            </a:r>
          </a:p>
          <a:p>
            <a:pPr marL="171450" indent="-171450">
              <a:buFont typeface="Arial" panose="020B0604020202020204" pitchFamily="34" charset="0"/>
              <a:buChar char="•"/>
            </a:pPr>
            <a:r>
              <a:rPr lang="en-GB" dirty="0"/>
              <a:t>Acquisitions and expansions allow firms to enter new industries and strengthen ecosystems. </a:t>
            </a:r>
          </a:p>
          <a:p>
            <a:pPr marL="171450" indent="-171450">
              <a:buFont typeface="Arial" panose="020B0604020202020204" pitchFamily="34" charset="0"/>
              <a:buChar char="•"/>
            </a:pPr>
            <a:r>
              <a:rPr lang="en-GB" dirty="0"/>
              <a:t>Amazon Web Services (AWS) demonstrated how firms can transform internal technological capabilities into profitable business services. </a:t>
            </a:r>
          </a:p>
          <a:p>
            <a:pPr marL="171450" indent="-171450">
              <a:buFont typeface="Arial" panose="020B0604020202020204" pitchFamily="34" charset="0"/>
              <a:buChar char="•"/>
            </a:pPr>
            <a:r>
              <a:rPr lang="en-GB" dirty="0"/>
              <a:t>Amazon’s negative cash conversion cycle showed how efficient operations and fast customer payments can improve cash flow and growth potential. </a:t>
            </a:r>
          </a:p>
          <a:p>
            <a:pPr marL="171450" indent="-171450">
              <a:buFont typeface="Arial" panose="020B0604020202020204" pitchFamily="34" charset="0"/>
              <a:buChar char="•"/>
            </a:pPr>
            <a:r>
              <a:rPr lang="en-GB" dirty="0"/>
              <a:t>Channel pressure and conflict can arise when firms in the same ecosystem become both partners and competitors, creating tension over pricing, customer access, distribution, and platform control. </a:t>
            </a:r>
            <a:r>
              <a:rPr lang="en-GB" b="1" dirty="0"/>
              <a:t>Channel pressure and conflict</a:t>
            </a:r>
            <a:r>
              <a:rPr lang="en-GB" dirty="0"/>
              <a:t> occurs when firms within the same distribution or platform ecosystem become both partners and competitors, creating tension over market power, customer access, pricing, or control of digital channels (e.g., Amazon versus publishers, retailers, and suppliers). For example, Amazon sells books through Kindle and also operates its own publishing division. Traditional booksellers such as Barnes &amp; Noble viewed Amazon as a direct competitor and stopped carrying some Amazon-published titles. Walmart and Target also stopped selling Kindle devices because they feared Amazon would use the Kindle ecosystem to pull customers away from physical retail stores.</a:t>
            </a:r>
          </a:p>
          <a:p>
            <a:pPr marL="0" indent="0">
              <a:buFont typeface="Arial" panose="020B0604020202020204" pitchFamily="34" charset="0"/>
              <a:buNone/>
            </a:pPr>
            <a:endParaRPr lang="en-GB" dirty="0"/>
          </a:p>
          <a:p>
            <a:r>
              <a:rPr lang="en-GB" dirty="0"/>
              <a:t>The topic also highlighted how Amazon strategically expanded beyond retail into cloud computing, digital media, smart devices, logistics, and platform services. AWS became especially important because even rival firms such as Netflix, Dropbox, and Salesforce relied on Amazon’s cloud infrastructure, demonstrating Amazon’s influence within the broader digital economy.</a:t>
            </a:r>
          </a:p>
          <a:p>
            <a:r>
              <a:rPr lang="en-GB" b="1" dirty="0"/>
              <a:t>For revision and EMA preparation, focus on understanding and/or explaining:</a:t>
            </a:r>
          </a:p>
          <a:p>
            <a:pPr marL="171450" indent="-171450">
              <a:buFont typeface="Arial" panose="020B0604020202020204" pitchFamily="34" charset="0"/>
              <a:buChar char="•"/>
            </a:pPr>
            <a:r>
              <a:rPr lang="en-GB" dirty="0"/>
              <a:t>how Amazon strategically uses technology and data,</a:t>
            </a:r>
          </a:p>
          <a:p>
            <a:pPr marL="171450" indent="-171450">
              <a:buFont typeface="Arial" panose="020B0604020202020204" pitchFamily="34" charset="0"/>
              <a:buChar char="•"/>
            </a:pPr>
            <a:r>
              <a:rPr lang="en-GB" dirty="0"/>
              <a:t>how operational efficiency supports competitive advantage,</a:t>
            </a:r>
          </a:p>
          <a:p>
            <a:pPr marL="171450" indent="-171450">
              <a:buFont typeface="Arial" panose="020B0604020202020204" pitchFamily="34" charset="0"/>
              <a:buChar char="•"/>
            </a:pPr>
            <a:r>
              <a:rPr lang="en-GB" dirty="0"/>
              <a:t>how AWS creates new business opportunities,</a:t>
            </a:r>
          </a:p>
          <a:p>
            <a:pPr marL="171450" indent="-171450">
              <a:buFont typeface="Arial" panose="020B0604020202020204" pitchFamily="34" charset="0"/>
              <a:buChar char="•"/>
            </a:pPr>
            <a:r>
              <a:rPr lang="en-GB" dirty="0"/>
              <a:t>and how Amazon’s scale and platform power create both opportunities and tensions/pressure/conflicts for partners, suppliers, and competitors.</a:t>
            </a:r>
            <a:endParaRPr lang="en-ZA" dirty="0"/>
          </a:p>
        </p:txBody>
      </p:sp>
      <p:sp>
        <p:nvSpPr>
          <p:cNvPr id="4" name="Slide Number Placeholder 3"/>
          <p:cNvSpPr>
            <a:spLocks noGrp="1"/>
          </p:cNvSpPr>
          <p:nvPr>
            <p:ph type="sldNum" sz="quarter" idx="5"/>
          </p:nvPr>
        </p:nvSpPr>
        <p:spPr/>
        <p:txBody>
          <a:bodyPr/>
          <a:lstStyle/>
          <a:p>
            <a:fld id="{2F1A90E2-B811-4D7C-8742-E98222CB5259}" type="slidenum">
              <a:rPr lang="en-ZA" smtClean="0"/>
              <a:t>8</a:t>
            </a:fld>
            <a:endParaRPr lang="en-ZA"/>
          </a:p>
        </p:txBody>
      </p:sp>
    </p:spTree>
    <p:extLst>
      <p:ext uri="{BB962C8B-B14F-4D97-AF65-F5344CB8AC3E}">
        <p14:creationId xmlns:p14="http://schemas.microsoft.com/office/powerpoint/2010/main" val="163855609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Network effects occur when the value of a product, service, or platform increases as more people use it. In digital markets, growth in users can strengthen market dominance, increase switching costs, and attract complementary products and services.</a:t>
            </a:r>
          </a:p>
          <a:p>
            <a:r>
              <a:rPr lang="en-GB" b="1" dirty="0"/>
              <a:t>Important concepts from this topic include:</a:t>
            </a:r>
          </a:p>
          <a:p>
            <a:r>
              <a:rPr lang="en-GB" b="1" dirty="0"/>
              <a:t>Network externalities / Metcalfe’s Law</a:t>
            </a:r>
            <a:r>
              <a:rPr lang="en-GB" dirty="0"/>
              <a:t>: The usefulness and value of a network increase as the number of connected users grows. </a:t>
            </a:r>
          </a:p>
          <a:p>
            <a:r>
              <a:rPr lang="en-GB" b="1" dirty="0"/>
              <a:t>Sources of network value</a:t>
            </a:r>
            <a:r>
              <a:rPr lang="en-GB" dirty="0"/>
              <a:t>: </a:t>
            </a:r>
          </a:p>
          <a:p>
            <a:pPr lvl="1"/>
            <a:r>
              <a:rPr lang="en-GB" b="1" dirty="0"/>
              <a:t>Exchange value</a:t>
            </a:r>
            <a:r>
              <a:rPr lang="en-GB" dirty="0"/>
              <a:t>: More users increase opportunities for interaction and transactions (e.g., WhatsApp, Facebook Marketplace). </a:t>
            </a:r>
          </a:p>
          <a:p>
            <a:pPr lvl="1"/>
            <a:r>
              <a:rPr lang="en-GB" b="1" dirty="0"/>
              <a:t>Staying power</a:t>
            </a:r>
            <a:r>
              <a:rPr lang="en-GB" dirty="0"/>
              <a:t>: Large user bases create confidence that the platform will survive and continue improving. </a:t>
            </a:r>
          </a:p>
          <a:p>
            <a:pPr lvl="1"/>
            <a:r>
              <a:rPr lang="en-GB" b="1" dirty="0"/>
              <a:t>Complementary benefits</a:t>
            </a:r>
            <a:r>
              <a:rPr lang="en-GB" dirty="0"/>
              <a:t>: Additional products and services develop around dominant platforms (e.g., iOS and Android apps). </a:t>
            </a:r>
          </a:p>
          <a:p>
            <a:r>
              <a:rPr lang="en-GB" b="1" dirty="0"/>
              <a:t>Switching costs</a:t>
            </a:r>
            <a:r>
              <a:rPr lang="en-GB" dirty="0"/>
              <a:t>: Users may resist moving to another platform because of lost data, contacts, habits, compatibility, or purchased content. </a:t>
            </a:r>
          </a:p>
          <a:p>
            <a:r>
              <a:rPr lang="en-GB" b="1" dirty="0"/>
              <a:t>Network structure</a:t>
            </a:r>
            <a:r>
              <a:rPr lang="en-GB" dirty="0"/>
              <a:t>: Networks can be one-sided, two-sided, or multi-sided depending on how users and partners interact (e.g., Uber connects drivers and passengers). </a:t>
            </a:r>
          </a:p>
          <a:p>
            <a:r>
              <a:rPr lang="en-GB" b="1" dirty="0"/>
              <a:t>Market differences</a:t>
            </a:r>
            <a:r>
              <a:rPr lang="en-GB" dirty="0"/>
              <a:t>: Network markets often move toward monopoly or oligopoly because users prefer platforms where most people already are. </a:t>
            </a:r>
          </a:p>
          <a:p>
            <a:r>
              <a:rPr lang="en-GB" b="1" dirty="0"/>
              <a:t>Battling with the leader</a:t>
            </a:r>
            <a:r>
              <a:rPr lang="en-GB" dirty="0"/>
              <a:t>: New entrants must often offer significantly superior value to overcome installed base advantages, switching costs, and complementary ecosystems. This is linked to technological leapfrogging. </a:t>
            </a:r>
          </a:p>
          <a:p>
            <a:r>
              <a:rPr lang="en-GB" b="1" dirty="0"/>
              <a:t>Congestion effects</a:t>
            </a:r>
            <a:r>
              <a:rPr lang="en-GB" dirty="0"/>
              <a:t>: Too many users can reduce value when systems become overloaded or crowded (e.g., network outages, slow platforms, overloaded mobile networks). </a:t>
            </a:r>
          </a:p>
          <a:p>
            <a:r>
              <a:rPr lang="en-GB" b="1" dirty="0"/>
              <a:t>Strategies for competing in network markets</a:t>
            </a:r>
            <a:r>
              <a:rPr lang="en-GB" dirty="0"/>
              <a:t> include moving early, subsidising adoption, encouraging complementary products, leveraging backward compatibility, forming partnerships, and using viral growth strategies.</a:t>
            </a:r>
          </a:p>
          <a:p>
            <a:r>
              <a:rPr lang="en-GB" dirty="0"/>
              <a:t> </a:t>
            </a:r>
          </a:p>
          <a:p>
            <a:r>
              <a:rPr lang="en-GB" b="1" dirty="0"/>
              <a:t>For EMA preparation, focus on understanding and explaining:</a:t>
            </a:r>
          </a:p>
          <a:p>
            <a:pPr marL="171450" indent="-171450">
              <a:buFont typeface="Arial" panose="020B0604020202020204" pitchFamily="34" charset="0"/>
              <a:buChar char="•"/>
            </a:pPr>
            <a:r>
              <a:rPr lang="en-GB" dirty="0"/>
              <a:t>how network effects create competitive advantage, </a:t>
            </a:r>
          </a:p>
          <a:p>
            <a:pPr marL="171450" indent="-171450">
              <a:buFont typeface="Arial" panose="020B0604020202020204" pitchFamily="34" charset="0"/>
              <a:buChar char="•"/>
            </a:pPr>
            <a:r>
              <a:rPr lang="en-GB" dirty="0"/>
              <a:t>why dominant digital platforms become difficult to challenge, </a:t>
            </a:r>
          </a:p>
          <a:p>
            <a:pPr marL="171450" indent="-171450">
              <a:buFont typeface="Arial" panose="020B0604020202020204" pitchFamily="34" charset="0"/>
              <a:buChar char="•"/>
            </a:pPr>
            <a:r>
              <a:rPr lang="en-GB" dirty="0"/>
              <a:t>how switching costs and complementary ecosystems strengthen market leaders, </a:t>
            </a:r>
          </a:p>
          <a:p>
            <a:pPr marL="171450" indent="-171450">
              <a:buFont typeface="Arial" panose="020B0604020202020204" pitchFamily="34" charset="0"/>
              <a:buChar char="•"/>
            </a:pPr>
            <a:r>
              <a:rPr lang="en-GB" dirty="0"/>
              <a:t>and how firms use compatibility, innovation, and partnerships to compete in network markets.</a:t>
            </a:r>
          </a:p>
          <a:p>
            <a:endParaRPr lang="en-ZA" dirty="0"/>
          </a:p>
        </p:txBody>
      </p:sp>
      <p:sp>
        <p:nvSpPr>
          <p:cNvPr id="4" name="Slide Number Placeholder 3"/>
          <p:cNvSpPr>
            <a:spLocks noGrp="1"/>
          </p:cNvSpPr>
          <p:nvPr>
            <p:ph type="sldNum" sz="quarter" idx="5"/>
          </p:nvPr>
        </p:nvSpPr>
        <p:spPr/>
        <p:txBody>
          <a:bodyPr/>
          <a:lstStyle/>
          <a:p>
            <a:fld id="{2F1A90E2-B811-4D7C-8742-E98222CB5259}" type="slidenum">
              <a:rPr lang="en-ZA" smtClean="0"/>
              <a:t>9</a:t>
            </a:fld>
            <a:endParaRPr lang="en-ZA"/>
          </a:p>
        </p:txBody>
      </p:sp>
    </p:spTree>
    <p:extLst>
      <p:ext uri="{BB962C8B-B14F-4D97-AF65-F5344CB8AC3E}">
        <p14:creationId xmlns:p14="http://schemas.microsoft.com/office/powerpoint/2010/main" val="406766149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Social media technologies allow individuals, communities, and businesses to create, share, discuss, and distribute content digitally and interactively. Social media is not only a communication tool, but also a strategic business platform for branding, customer engagement, advertising, innovation, collaboration, and data generation.</a:t>
            </a:r>
          </a:p>
          <a:p>
            <a:r>
              <a:rPr lang="en-GB" b="1" dirty="0"/>
              <a:t>Important concepts from this topic include:</a:t>
            </a:r>
          </a:p>
          <a:p>
            <a:r>
              <a:rPr lang="en-GB" b="1" dirty="0"/>
              <a:t>Social media</a:t>
            </a:r>
            <a:r>
              <a:rPr lang="en-GB" dirty="0"/>
              <a:t>: Digital platforms that enable interaction, communication, content sharing, networking, and community building. </a:t>
            </a:r>
          </a:p>
          <a:p>
            <a:r>
              <a:rPr lang="en-GB" b="1" dirty="0"/>
              <a:t>Key tools of social media</a:t>
            </a:r>
            <a:r>
              <a:rPr lang="en-GB" dirty="0"/>
              <a:t>: </a:t>
            </a:r>
          </a:p>
          <a:p>
            <a:pPr marL="628650" lvl="1" indent="-171450">
              <a:buFont typeface="Arial" panose="020B0604020202020204" pitchFamily="34" charset="0"/>
              <a:buChar char="•"/>
            </a:pPr>
            <a:r>
              <a:rPr lang="en-GB" dirty="0"/>
              <a:t>Social networking platforms (Facebook, LinkedIn) </a:t>
            </a:r>
          </a:p>
          <a:p>
            <a:pPr marL="628650" lvl="1" indent="-171450">
              <a:buFont typeface="Arial" panose="020B0604020202020204" pitchFamily="34" charset="0"/>
              <a:buChar char="•"/>
            </a:pPr>
            <a:r>
              <a:rPr lang="en-GB" dirty="0"/>
              <a:t>Media sharing platforms (YouTube, TikTok, Instagram) </a:t>
            </a:r>
          </a:p>
          <a:p>
            <a:pPr marL="628650" lvl="1" indent="-171450">
              <a:buFont typeface="Arial" panose="020B0604020202020204" pitchFamily="34" charset="0"/>
              <a:buChar char="•"/>
            </a:pPr>
            <a:r>
              <a:rPr lang="en-GB" dirty="0"/>
              <a:t>Microblogging and discussion platforms (X/Twitter, Reddit) </a:t>
            </a:r>
          </a:p>
          <a:p>
            <a:pPr marL="628650" lvl="1" indent="-171450">
              <a:buFont typeface="Arial" panose="020B0604020202020204" pitchFamily="34" charset="0"/>
              <a:buChar char="•"/>
            </a:pPr>
            <a:r>
              <a:rPr lang="en-GB" dirty="0"/>
              <a:t>Collaborative and community platforms (Wikipedia, GitHub) </a:t>
            </a:r>
          </a:p>
          <a:p>
            <a:pPr marL="628650" lvl="1" indent="-171450">
              <a:buFont typeface="Arial" panose="020B0604020202020204" pitchFamily="34" charset="0"/>
              <a:buChar char="•"/>
            </a:pPr>
            <a:r>
              <a:rPr lang="en-GB" dirty="0"/>
              <a:t>Messaging and communication platforms (WhatsApp, Slack) </a:t>
            </a:r>
          </a:p>
          <a:p>
            <a:pPr marL="171450" indent="-171450">
              <a:buFont typeface="Arial" panose="020B0604020202020204" pitchFamily="34" charset="0"/>
              <a:buChar char="•"/>
            </a:pPr>
            <a:r>
              <a:rPr lang="en-GB" b="1" dirty="0"/>
              <a:t>User-generated content (UGC)</a:t>
            </a:r>
            <a:r>
              <a:rPr lang="en-GB" dirty="0"/>
              <a:t>: Content created by users rather than firms, including reviews, comments, videos, posts, hashtags, ratings, and memes. UGC can strongly influence brand reputation, customer trust, and purchasing decisions. </a:t>
            </a:r>
          </a:p>
          <a:p>
            <a:pPr marL="171450" indent="-171450">
              <a:buFont typeface="Arial" panose="020B0604020202020204" pitchFamily="34" charset="0"/>
              <a:buChar char="•"/>
            </a:pPr>
            <a:r>
              <a:rPr lang="en-GB" b="1" dirty="0"/>
              <a:t>Social Media Awareness and Response Teams (SMART)</a:t>
            </a:r>
            <a:r>
              <a:rPr lang="en-GB" dirty="0"/>
              <a:t>: Organisational teams responsible for monitoring online conversations, identifying trends or crises, engaging customers, and responding quickly to reputational or operational issues. </a:t>
            </a:r>
          </a:p>
          <a:p>
            <a:pPr marL="171450" indent="-171450">
              <a:buFont typeface="Arial" panose="020B0604020202020204" pitchFamily="34" charset="0"/>
              <a:buChar char="•"/>
            </a:pPr>
            <a:r>
              <a:rPr lang="en-GB" b="1" dirty="0"/>
              <a:t>Policies and guidelines</a:t>
            </a:r>
            <a:r>
              <a:rPr lang="en-GB" dirty="0"/>
              <a:t>: Organisations need social media policies to address issues such as privacy, misinformation, professionalism, cyberbullying, ethics, copyright, security, and responsible employee conduct online. </a:t>
            </a:r>
          </a:p>
          <a:p>
            <a:r>
              <a:rPr lang="en-GB" dirty="0"/>
              <a:t>The topic also showed how firms strategically use social media for:</a:t>
            </a:r>
          </a:p>
          <a:p>
            <a:pPr marL="171450" indent="-171450">
              <a:buFont typeface="Arial" panose="020B0604020202020204" pitchFamily="34" charset="0"/>
              <a:buChar char="•"/>
            </a:pPr>
            <a:r>
              <a:rPr lang="en-GB" dirty="0"/>
              <a:t>targeted advertising, </a:t>
            </a:r>
          </a:p>
          <a:p>
            <a:pPr marL="171450" indent="-171450">
              <a:buFont typeface="Arial" panose="020B0604020202020204" pitchFamily="34" charset="0"/>
              <a:buChar char="•"/>
            </a:pPr>
            <a:r>
              <a:rPr lang="en-GB" dirty="0"/>
              <a:t>customer engagement, </a:t>
            </a:r>
          </a:p>
          <a:p>
            <a:pPr marL="171450" indent="-171450">
              <a:buFont typeface="Arial" panose="020B0604020202020204" pitchFamily="34" charset="0"/>
              <a:buChar char="•"/>
            </a:pPr>
            <a:r>
              <a:rPr lang="en-GB" dirty="0"/>
              <a:t>viral marketing, </a:t>
            </a:r>
          </a:p>
          <a:p>
            <a:pPr marL="171450" indent="-171450">
              <a:buFont typeface="Arial" panose="020B0604020202020204" pitchFamily="34" charset="0"/>
              <a:buChar char="•"/>
            </a:pPr>
            <a:r>
              <a:rPr lang="en-GB" dirty="0"/>
              <a:t>community building, </a:t>
            </a:r>
          </a:p>
          <a:p>
            <a:pPr marL="171450" indent="-171450">
              <a:buFont typeface="Arial" panose="020B0604020202020204" pitchFamily="34" charset="0"/>
              <a:buChar char="•"/>
            </a:pPr>
            <a:r>
              <a:rPr lang="en-GB" dirty="0"/>
              <a:t>social relevance and humour, </a:t>
            </a:r>
          </a:p>
          <a:p>
            <a:pPr marL="171450" indent="-171450">
              <a:buFont typeface="Arial" panose="020B0604020202020204" pitchFamily="34" charset="0"/>
              <a:buChar char="•"/>
            </a:pPr>
            <a:r>
              <a:rPr lang="en-GB" dirty="0"/>
              <a:t>corporate social responsibility, </a:t>
            </a:r>
          </a:p>
          <a:p>
            <a:pPr marL="171450" indent="-171450">
              <a:buFont typeface="Arial" panose="020B0604020202020204" pitchFamily="34" charset="0"/>
              <a:buChar char="•"/>
            </a:pPr>
            <a:r>
              <a:rPr lang="en-GB" dirty="0"/>
              <a:t>and influencer or peer-based promotion. </a:t>
            </a:r>
          </a:p>
          <a:p>
            <a:endParaRPr lang="en-GB" b="1" dirty="0"/>
          </a:p>
          <a:p>
            <a:r>
              <a:rPr lang="en-GB" b="1" dirty="0"/>
              <a:t>For EMA preparation, focus on understanding and, where applicable, explaining:</a:t>
            </a:r>
          </a:p>
          <a:p>
            <a:pPr marL="171450" indent="-171450">
              <a:buFont typeface="Arial" panose="020B0604020202020204" pitchFamily="34" charset="0"/>
              <a:buChar char="•"/>
            </a:pPr>
            <a:r>
              <a:rPr lang="en-GB" dirty="0"/>
              <a:t>how social media technologies create business value, </a:t>
            </a:r>
          </a:p>
          <a:p>
            <a:pPr marL="171450" indent="-171450">
              <a:buFont typeface="Arial" panose="020B0604020202020204" pitchFamily="34" charset="0"/>
              <a:buChar char="•"/>
            </a:pPr>
            <a:r>
              <a:rPr lang="en-GB" dirty="0"/>
              <a:t>how firms use user-generated content and online communities strategically, </a:t>
            </a:r>
          </a:p>
          <a:p>
            <a:pPr marL="171450" indent="-171450">
              <a:buFont typeface="Arial" panose="020B0604020202020204" pitchFamily="34" charset="0"/>
              <a:buChar char="•"/>
            </a:pPr>
            <a:r>
              <a:rPr lang="en-GB" dirty="0"/>
              <a:t>the opportunities and risks of social media, </a:t>
            </a:r>
          </a:p>
          <a:p>
            <a:pPr marL="171450" indent="-171450">
              <a:buFont typeface="Arial" panose="020B0604020202020204" pitchFamily="34" charset="0"/>
              <a:buChar char="•"/>
            </a:pPr>
            <a:r>
              <a:rPr lang="en-GB" dirty="0"/>
              <a:t>and the importance of governance, monitoring, and responsible social media management. </a:t>
            </a:r>
          </a:p>
          <a:p>
            <a:endParaRPr lang="en-ZA" dirty="0"/>
          </a:p>
        </p:txBody>
      </p:sp>
      <p:sp>
        <p:nvSpPr>
          <p:cNvPr id="4" name="Slide Number Placeholder 3"/>
          <p:cNvSpPr>
            <a:spLocks noGrp="1"/>
          </p:cNvSpPr>
          <p:nvPr>
            <p:ph type="sldNum" sz="quarter" idx="5"/>
          </p:nvPr>
        </p:nvSpPr>
        <p:spPr/>
        <p:txBody>
          <a:bodyPr/>
          <a:lstStyle/>
          <a:p>
            <a:fld id="{2F1A90E2-B811-4D7C-8742-E98222CB5259}" type="slidenum">
              <a:rPr lang="en-ZA" smtClean="0"/>
              <a:t>10</a:t>
            </a:fld>
            <a:endParaRPr lang="en-ZA"/>
          </a:p>
        </p:txBody>
      </p:sp>
    </p:spTree>
    <p:extLst>
      <p:ext uri="{BB962C8B-B14F-4D97-AF65-F5344CB8AC3E}">
        <p14:creationId xmlns:p14="http://schemas.microsoft.com/office/powerpoint/2010/main" val="300971888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 sharing economy and collaborative consumption refer to digital business models where platforms use technology to connect people so they can share, rent, exchange, or access goods and services rather than own them outright. Platforms such as Airbnb and Uber demonstrate how digital technologies, mobile apps, ratings systems, data, and network effects transformed traditional industries.</a:t>
            </a:r>
          </a:p>
          <a:p>
            <a:r>
              <a:rPr lang="en-GB" b="1" dirty="0"/>
              <a:t>Important concepts from this topic include:</a:t>
            </a:r>
          </a:p>
          <a:p>
            <a:pPr marL="171450" indent="-171450">
              <a:buFont typeface="Arial" panose="020B0604020202020204" pitchFamily="34" charset="0"/>
              <a:buChar char="•"/>
            </a:pPr>
            <a:r>
              <a:rPr lang="en-GB" b="1" dirty="0"/>
              <a:t>Sharing economy</a:t>
            </a:r>
            <a:r>
              <a:rPr lang="en-GB" dirty="0"/>
              <a:t>: Economic systems where digital platforms connect individuals to share underutilised assets, services, or resources. </a:t>
            </a:r>
          </a:p>
          <a:p>
            <a:pPr marL="171450" indent="-171450">
              <a:buFont typeface="Arial" panose="020B0604020202020204" pitchFamily="34" charset="0"/>
              <a:buChar char="•"/>
            </a:pPr>
            <a:r>
              <a:rPr lang="en-GB" b="1" dirty="0"/>
              <a:t>Collaborative consumption</a:t>
            </a:r>
            <a:r>
              <a:rPr lang="en-GB" dirty="0"/>
              <a:t>: Consumers access or use products and services temporarily instead of permanently owning them. </a:t>
            </a:r>
          </a:p>
          <a:p>
            <a:pPr marL="171450" indent="-171450">
              <a:buFont typeface="Arial" panose="020B0604020202020204" pitchFamily="34" charset="0"/>
              <a:buChar char="•"/>
            </a:pPr>
            <a:r>
              <a:rPr lang="en-GB" b="1" dirty="0"/>
              <a:t>Factors fuelling the sharing economy</a:t>
            </a:r>
            <a:r>
              <a:rPr lang="en-GB" dirty="0"/>
              <a:t>: </a:t>
            </a:r>
          </a:p>
          <a:p>
            <a:pPr marL="628650" lvl="1" indent="-171450">
              <a:buFont typeface="Arial" panose="020B0604020202020204" pitchFamily="34" charset="0"/>
              <a:buChar char="•"/>
            </a:pPr>
            <a:r>
              <a:rPr lang="en-GB" dirty="0"/>
              <a:t>Smartphones and mobile apps </a:t>
            </a:r>
          </a:p>
          <a:p>
            <a:pPr marL="628650" lvl="1" indent="-171450">
              <a:buFont typeface="Arial" panose="020B0604020202020204" pitchFamily="34" charset="0"/>
              <a:buChar char="•"/>
            </a:pPr>
            <a:r>
              <a:rPr lang="en-GB" dirty="0"/>
              <a:t>GPS and digital payment systems </a:t>
            </a:r>
          </a:p>
          <a:p>
            <a:pPr marL="628650" lvl="1" indent="-171450">
              <a:buFont typeface="Arial" panose="020B0604020202020204" pitchFamily="34" charset="0"/>
              <a:buChar char="•"/>
            </a:pPr>
            <a:r>
              <a:rPr lang="en-GB" dirty="0"/>
              <a:t>Social media and online reviews </a:t>
            </a:r>
          </a:p>
          <a:p>
            <a:pPr marL="628650" lvl="1" indent="-171450">
              <a:buFont typeface="Arial" panose="020B0604020202020204" pitchFamily="34" charset="0"/>
              <a:buChar char="•"/>
            </a:pPr>
            <a:r>
              <a:rPr lang="en-GB" dirty="0"/>
              <a:t>Trust and reputation systems </a:t>
            </a:r>
          </a:p>
          <a:p>
            <a:pPr marL="628650" lvl="1" indent="-171450">
              <a:buFont typeface="Arial" panose="020B0604020202020204" pitchFamily="34" charset="0"/>
              <a:buChar char="•"/>
            </a:pPr>
            <a:r>
              <a:rPr lang="en-GB" dirty="0"/>
              <a:t>Lower transaction costs </a:t>
            </a:r>
          </a:p>
          <a:p>
            <a:pPr marL="628650" lvl="1" indent="-171450">
              <a:buFont typeface="Arial" panose="020B0604020202020204" pitchFamily="34" charset="0"/>
              <a:buChar char="•"/>
            </a:pPr>
            <a:r>
              <a:rPr lang="en-GB" dirty="0"/>
              <a:t>Network effects and platform growth </a:t>
            </a:r>
          </a:p>
          <a:p>
            <a:pPr marL="171450" indent="-171450">
              <a:buFont typeface="Arial" panose="020B0604020202020204" pitchFamily="34" charset="0"/>
              <a:buChar char="•"/>
            </a:pPr>
            <a:r>
              <a:rPr lang="en-GB" b="1" dirty="0"/>
              <a:t>Winning in electronic markets</a:t>
            </a:r>
            <a:r>
              <a:rPr lang="en-GB" dirty="0"/>
              <a:t>: </a:t>
            </a:r>
          </a:p>
          <a:p>
            <a:pPr marL="628650" lvl="1" indent="-171450">
              <a:buFont typeface="Arial" panose="020B0604020202020204" pitchFamily="34" charset="0"/>
              <a:buChar char="•"/>
            </a:pPr>
            <a:r>
              <a:rPr lang="en-GB" dirty="0"/>
              <a:t>Convenience </a:t>
            </a:r>
          </a:p>
          <a:p>
            <a:pPr marL="628650" lvl="1" indent="-171450">
              <a:buFont typeface="Arial" panose="020B0604020202020204" pitchFamily="34" charset="0"/>
              <a:buChar char="•"/>
            </a:pPr>
            <a:r>
              <a:rPr lang="en-GB" dirty="0"/>
              <a:t>Platform scale </a:t>
            </a:r>
          </a:p>
          <a:p>
            <a:pPr marL="628650" lvl="1" indent="-171450">
              <a:buFont typeface="Arial" panose="020B0604020202020204" pitchFamily="34" charset="0"/>
              <a:buChar char="•"/>
            </a:pPr>
            <a:r>
              <a:rPr lang="en-GB" dirty="0"/>
              <a:t>Data-driven matching </a:t>
            </a:r>
          </a:p>
          <a:p>
            <a:pPr marL="628650" lvl="1" indent="-171450">
              <a:buFont typeface="Arial" panose="020B0604020202020204" pitchFamily="34" charset="0"/>
              <a:buChar char="•"/>
            </a:pPr>
            <a:r>
              <a:rPr lang="en-GB" dirty="0"/>
              <a:t>User trust and ratings </a:t>
            </a:r>
          </a:p>
          <a:p>
            <a:pPr marL="628650" lvl="1" indent="-171450">
              <a:buFont typeface="Arial" panose="020B0604020202020204" pitchFamily="34" charset="0"/>
              <a:buChar char="•"/>
            </a:pPr>
            <a:r>
              <a:rPr lang="en-GB" dirty="0"/>
              <a:t>Fast and efficient service delivery </a:t>
            </a:r>
          </a:p>
          <a:p>
            <a:pPr marL="171450" indent="-171450">
              <a:buFont typeface="Arial" panose="020B0604020202020204" pitchFamily="34" charset="0"/>
              <a:buChar char="•"/>
            </a:pPr>
            <a:r>
              <a:rPr lang="en-GB" b="1" dirty="0"/>
              <a:t>Trust, safety, and regulation challenges</a:t>
            </a:r>
            <a:r>
              <a:rPr lang="en-GB" dirty="0"/>
              <a:t>: </a:t>
            </a:r>
          </a:p>
          <a:p>
            <a:pPr marL="628650" lvl="1" indent="-171450">
              <a:buFont typeface="Arial" panose="020B0604020202020204" pitchFamily="34" charset="0"/>
              <a:buChar char="•"/>
            </a:pPr>
            <a:r>
              <a:rPr lang="en-GB" dirty="0"/>
              <a:t>User safety concerns </a:t>
            </a:r>
          </a:p>
          <a:p>
            <a:pPr marL="628650" lvl="1" indent="-171450">
              <a:buFont typeface="Arial" panose="020B0604020202020204" pitchFamily="34" charset="0"/>
              <a:buChar char="•"/>
            </a:pPr>
            <a:r>
              <a:rPr lang="en-GB" dirty="0"/>
              <a:t>Fraud and fake reviews </a:t>
            </a:r>
          </a:p>
          <a:p>
            <a:pPr marL="628650" lvl="1" indent="-171450">
              <a:buFont typeface="Arial" panose="020B0604020202020204" pitchFamily="34" charset="0"/>
              <a:buChar char="•"/>
            </a:pPr>
            <a:r>
              <a:rPr lang="en-GB" dirty="0"/>
              <a:t>Worker rights and labour issues </a:t>
            </a:r>
          </a:p>
          <a:p>
            <a:pPr marL="628650" lvl="1" indent="-171450">
              <a:buFont typeface="Arial" panose="020B0604020202020204" pitchFamily="34" charset="0"/>
              <a:buChar char="•"/>
            </a:pPr>
            <a:r>
              <a:rPr lang="en-GB" dirty="0"/>
              <a:t>Taxation and legal compliance </a:t>
            </a:r>
          </a:p>
          <a:p>
            <a:pPr marL="628650" lvl="1" indent="-171450">
              <a:buFont typeface="Arial" panose="020B0604020202020204" pitchFamily="34" charset="0"/>
              <a:buChar char="•"/>
            </a:pPr>
            <a:r>
              <a:rPr lang="en-GB" dirty="0"/>
              <a:t>Data privacy and platform accountability </a:t>
            </a:r>
          </a:p>
          <a:p>
            <a:pPr marL="171450" indent="-171450">
              <a:buFont typeface="Arial" panose="020B0604020202020204" pitchFamily="34" charset="0"/>
              <a:buChar char="•"/>
            </a:pPr>
            <a:r>
              <a:rPr lang="en-GB" b="1" dirty="0"/>
              <a:t>Collaboration with established players</a:t>
            </a:r>
            <a:r>
              <a:rPr lang="en-GB" dirty="0"/>
              <a:t>: </a:t>
            </a:r>
          </a:p>
          <a:p>
            <a:pPr lvl="1"/>
            <a:r>
              <a:rPr lang="en-GB" dirty="0"/>
              <a:t>Some sharing economy firms partner with hotels, transport providers, payment companies, and governments to strengthen legitimacy and scale. </a:t>
            </a:r>
          </a:p>
          <a:p>
            <a:r>
              <a:rPr lang="en-GB" b="1" dirty="0"/>
              <a:t>Airbnb</a:t>
            </a:r>
            <a:r>
              <a:rPr lang="en-GB" dirty="0"/>
              <a:t>: </a:t>
            </a:r>
          </a:p>
          <a:p>
            <a:pPr lvl="1"/>
            <a:r>
              <a:rPr lang="en-GB" dirty="0"/>
              <a:t>Demonstrates collaborative consumption by allowing individuals to rent accommodation to others through a digital platform. </a:t>
            </a:r>
          </a:p>
          <a:p>
            <a:pPr lvl="1"/>
            <a:r>
              <a:rPr lang="en-GB" dirty="0"/>
              <a:t>Relies heavily on ratings, trust systems, reviews, and network effects. </a:t>
            </a:r>
          </a:p>
          <a:p>
            <a:r>
              <a:rPr lang="en-GB" b="1" dirty="0"/>
              <a:t>Uber</a:t>
            </a:r>
            <a:r>
              <a:rPr lang="en-GB" dirty="0"/>
              <a:t>: </a:t>
            </a:r>
          </a:p>
          <a:p>
            <a:pPr lvl="1"/>
            <a:r>
              <a:rPr lang="en-GB" dirty="0"/>
              <a:t>Uses digital platforms, GPS, algorithms, and mobile payments to connect drivers and riders efficiently. </a:t>
            </a:r>
          </a:p>
          <a:p>
            <a:pPr lvl="1"/>
            <a:r>
              <a:rPr lang="en-GB" dirty="0"/>
              <a:t>Demonstrates platform-based coordination, dynamic pricing, and data-driven operations. </a:t>
            </a:r>
          </a:p>
          <a:p>
            <a:r>
              <a:rPr lang="en-GB" dirty="0"/>
              <a:t>For EMA preparation, students should focus on explaining:</a:t>
            </a:r>
          </a:p>
          <a:p>
            <a:r>
              <a:rPr lang="en-GB" dirty="0"/>
              <a:t>how digital platforms enable the sharing economy, </a:t>
            </a:r>
          </a:p>
          <a:p>
            <a:r>
              <a:rPr lang="en-GB" dirty="0"/>
              <a:t>how trust and reputation systems create value, </a:t>
            </a:r>
          </a:p>
          <a:p>
            <a:r>
              <a:rPr lang="en-GB" dirty="0"/>
              <a:t>how network effects strengthen platform businesses, </a:t>
            </a:r>
          </a:p>
          <a:p>
            <a:r>
              <a:rPr lang="en-GB" dirty="0"/>
              <a:t>and the opportunities and challenges these business models create for firms, users, regulators, and traditional industries.</a:t>
            </a:r>
          </a:p>
          <a:p>
            <a:endParaRPr lang="en-ZA" dirty="0"/>
          </a:p>
        </p:txBody>
      </p:sp>
      <p:sp>
        <p:nvSpPr>
          <p:cNvPr id="4" name="Slide Number Placeholder 3"/>
          <p:cNvSpPr>
            <a:spLocks noGrp="1"/>
          </p:cNvSpPr>
          <p:nvPr>
            <p:ph type="sldNum" sz="quarter" idx="5"/>
          </p:nvPr>
        </p:nvSpPr>
        <p:spPr/>
        <p:txBody>
          <a:bodyPr/>
          <a:lstStyle/>
          <a:p>
            <a:fld id="{2F1A90E2-B811-4D7C-8742-E98222CB5259}" type="slidenum">
              <a:rPr lang="en-ZA" smtClean="0"/>
              <a:t>11</a:t>
            </a:fld>
            <a:endParaRPr lang="en-ZA"/>
          </a:p>
        </p:txBody>
      </p:sp>
    </p:spTree>
    <p:extLst>
      <p:ext uri="{BB962C8B-B14F-4D97-AF65-F5344CB8AC3E}">
        <p14:creationId xmlns:p14="http://schemas.microsoft.com/office/powerpoint/2010/main" val="405207739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ZA" dirty="0"/>
          </a:p>
        </p:txBody>
      </p:sp>
      <p:sp>
        <p:nvSpPr>
          <p:cNvPr id="4" name="Slide Number Placeholder 3"/>
          <p:cNvSpPr>
            <a:spLocks noGrp="1"/>
          </p:cNvSpPr>
          <p:nvPr>
            <p:ph type="sldNum" sz="quarter" idx="5"/>
          </p:nvPr>
        </p:nvSpPr>
        <p:spPr/>
        <p:txBody>
          <a:bodyPr/>
          <a:lstStyle/>
          <a:p>
            <a:fld id="{2F1A90E2-B811-4D7C-8742-E98222CB5259}" type="slidenum">
              <a:rPr lang="en-ZA" smtClean="0"/>
              <a:t>12</a:t>
            </a:fld>
            <a:endParaRPr lang="en-ZA"/>
          </a:p>
        </p:txBody>
      </p:sp>
    </p:spTree>
    <p:extLst>
      <p:ext uri="{BB962C8B-B14F-4D97-AF65-F5344CB8AC3E}">
        <p14:creationId xmlns:p14="http://schemas.microsoft.com/office/powerpoint/2010/main" val="7025074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5168" y="2125980"/>
            <a:ext cx="10371907" cy="276999"/>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1830337" y="3840480"/>
            <a:ext cx="8541571" cy="276999"/>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defRPr sz="642" b="0" i="0">
                <a:solidFill>
                  <a:schemeClr val="tx1"/>
                </a:solidFill>
                <a:latin typeface="Times New Roman"/>
                <a:cs typeface="Times New Roman"/>
              </a:defRPr>
            </a:lvl1pPr>
          </a:lstStyle>
          <a:p>
            <a:pPr marL="8146">
              <a:lnSpc>
                <a:spcPts val="767"/>
              </a:lnSpc>
            </a:pPr>
            <a:r>
              <a:rPr lang="en-US" spc="-4"/>
              <a:t>TAX3_05_Taxable benefits (week 2)_Assignment</a:t>
            </a:r>
            <a:r>
              <a:rPr lang="en-US" spc="29"/>
              <a:t> </a:t>
            </a:r>
            <a:r>
              <a:rPr lang="en-US" spc="-25"/>
              <a:t>2020</a:t>
            </a:r>
            <a:endParaRPr lang="en-US" spc="-25" dirty="0"/>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5/20/2026</a:t>
            </a:fld>
            <a:endParaRPr lang="en-US" dirty="0"/>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dirty="0"/>
          </a:p>
        </p:txBody>
      </p:sp>
    </p:spTree>
    <p:extLst>
      <p:ext uri="{BB962C8B-B14F-4D97-AF65-F5344CB8AC3E}">
        <p14:creationId xmlns:p14="http://schemas.microsoft.com/office/powerpoint/2010/main" val="41941015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a:lvl1pPr>
          </a:lstStyle>
          <a:p>
            <a:endParaRPr/>
          </a:p>
        </p:txBody>
      </p:sp>
      <p:sp>
        <p:nvSpPr>
          <p:cNvPr id="3" name="Holder 3"/>
          <p:cNvSpPr>
            <a:spLocks noGrp="1"/>
          </p:cNvSpPr>
          <p:nvPr>
            <p:ph type="body" idx="1"/>
          </p:nvPr>
        </p:nvSpPr>
        <p:spPr/>
        <p:txBody>
          <a:bodyPr lIns="0" tIns="0" rIns="0" bIns="0"/>
          <a:lstStyle>
            <a:lvl1pPr>
              <a:defRPr/>
            </a:lvl1pPr>
          </a:lstStyle>
          <a:p>
            <a:endParaRPr/>
          </a:p>
        </p:txBody>
      </p:sp>
      <p:sp>
        <p:nvSpPr>
          <p:cNvPr id="4" name="Holder 4"/>
          <p:cNvSpPr>
            <a:spLocks noGrp="1"/>
          </p:cNvSpPr>
          <p:nvPr>
            <p:ph type="ftr" sz="quarter" idx="5"/>
          </p:nvPr>
        </p:nvSpPr>
        <p:spPr/>
        <p:txBody>
          <a:bodyPr lIns="0" tIns="0" rIns="0" bIns="0"/>
          <a:lstStyle>
            <a:lvl1pPr>
              <a:defRPr sz="642" b="0" i="0">
                <a:solidFill>
                  <a:schemeClr val="tx1"/>
                </a:solidFill>
                <a:latin typeface="Times New Roman"/>
                <a:cs typeface="Times New Roman"/>
              </a:defRPr>
            </a:lvl1pPr>
          </a:lstStyle>
          <a:p>
            <a:pPr marL="8146">
              <a:lnSpc>
                <a:spcPts val="767"/>
              </a:lnSpc>
            </a:pPr>
            <a:r>
              <a:rPr lang="en-US" spc="-4"/>
              <a:t>TAX3_05_Taxable benefits (week 2)_Assignment</a:t>
            </a:r>
            <a:r>
              <a:rPr lang="en-US" spc="29"/>
              <a:t> </a:t>
            </a:r>
            <a:r>
              <a:rPr lang="en-US" spc="-25"/>
              <a:t>2020</a:t>
            </a:r>
            <a:endParaRPr lang="en-US" spc="-25" dirty="0"/>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5/20/2026</a:t>
            </a:fld>
            <a:endParaRPr lang="en-US" dirty="0"/>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dirty="0"/>
          </a:p>
        </p:txBody>
      </p:sp>
    </p:spTree>
    <p:extLst>
      <p:ext uri="{BB962C8B-B14F-4D97-AF65-F5344CB8AC3E}">
        <p14:creationId xmlns:p14="http://schemas.microsoft.com/office/powerpoint/2010/main" val="16794091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a:lvl1pPr>
          </a:lstStyle>
          <a:p>
            <a:endParaRPr/>
          </a:p>
        </p:txBody>
      </p:sp>
      <p:sp>
        <p:nvSpPr>
          <p:cNvPr id="3" name="Holder 3"/>
          <p:cNvSpPr>
            <a:spLocks noGrp="1"/>
          </p:cNvSpPr>
          <p:nvPr>
            <p:ph sz="half" idx="2"/>
          </p:nvPr>
        </p:nvSpPr>
        <p:spPr>
          <a:xfrm>
            <a:off x="610112" y="1577340"/>
            <a:ext cx="5307976" cy="276999"/>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84156" y="1577340"/>
            <a:ext cx="5307976" cy="276999"/>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642" b="0" i="0">
                <a:solidFill>
                  <a:schemeClr val="tx1"/>
                </a:solidFill>
                <a:latin typeface="Times New Roman"/>
                <a:cs typeface="Times New Roman"/>
              </a:defRPr>
            </a:lvl1pPr>
          </a:lstStyle>
          <a:p>
            <a:pPr marL="8146">
              <a:lnSpc>
                <a:spcPts val="767"/>
              </a:lnSpc>
            </a:pPr>
            <a:r>
              <a:rPr lang="en-US" spc="-4"/>
              <a:t>TAX3_05_Taxable benefits (week 2)_Assignment</a:t>
            </a:r>
            <a:r>
              <a:rPr lang="en-US" spc="29"/>
              <a:t> </a:t>
            </a:r>
            <a:r>
              <a:rPr lang="en-US" spc="-25"/>
              <a:t>2020</a:t>
            </a:r>
            <a:endParaRPr lang="en-US" spc="-25" dirty="0"/>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5/20/2026</a:t>
            </a:fld>
            <a:endParaRPr lang="en-US" dirty="0"/>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dirty="0"/>
          </a:p>
        </p:txBody>
      </p:sp>
    </p:spTree>
    <p:extLst>
      <p:ext uri="{BB962C8B-B14F-4D97-AF65-F5344CB8AC3E}">
        <p14:creationId xmlns:p14="http://schemas.microsoft.com/office/powerpoint/2010/main" val="363335819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a:lvl1pPr>
          </a:lstStyle>
          <a:p>
            <a:endParaRPr/>
          </a:p>
        </p:txBody>
      </p:sp>
      <p:sp>
        <p:nvSpPr>
          <p:cNvPr id="3" name="Holder 3"/>
          <p:cNvSpPr>
            <a:spLocks noGrp="1"/>
          </p:cNvSpPr>
          <p:nvPr>
            <p:ph type="ftr" sz="quarter" idx="5"/>
          </p:nvPr>
        </p:nvSpPr>
        <p:spPr/>
        <p:txBody>
          <a:bodyPr lIns="0" tIns="0" rIns="0" bIns="0"/>
          <a:lstStyle>
            <a:lvl1pPr>
              <a:defRPr sz="642" b="0" i="0">
                <a:solidFill>
                  <a:schemeClr val="tx1"/>
                </a:solidFill>
                <a:latin typeface="Times New Roman"/>
                <a:cs typeface="Times New Roman"/>
              </a:defRPr>
            </a:lvl1pPr>
          </a:lstStyle>
          <a:p>
            <a:pPr marL="8146">
              <a:lnSpc>
                <a:spcPts val="767"/>
              </a:lnSpc>
            </a:pPr>
            <a:r>
              <a:rPr lang="en-US" spc="-4"/>
              <a:t>TAX3_05_Taxable benefits (week 2)_Assignment</a:t>
            </a:r>
            <a:r>
              <a:rPr lang="en-US" spc="29"/>
              <a:t> </a:t>
            </a:r>
            <a:r>
              <a:rPr lang="en-US" spc="-25"/>
              <a:t>2020</a:t>
            </a:r>
            <a:endParaRPr lang="en-US" spc="-25" dirty="0"/>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5/20/2026</a:t>
            </a:fld>
            <a:endParaRPr lang="en-US" dirty="0"/>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dirty="0"/>
          </a:p>
        </p:txBody>
      </p:sp>
    </p:spTree>
    <p:extLst>
      <p:ext uri="{BB962C8B-B14F-4D97-AF65-F5344CB8AC3E}">
        <p14:creationId xmlns:p14="http://schemas.microsoft.com/office/powerpoint/2010/main" val="9437725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defRPr sz="642" b="0" i="0">
                <a:solidFill>
                  <a:schemeClr val="tx1"/>
                </a:solidFill>
                <a:latin typeface="Times New Roman"/>
                <a:cs typeface="Times New Roman"/>
              </a:defRPr>
            </a:lvl1pPr>
          </a:lstStyle>
          <a:p>
            <a:pPr marL="8146">
              <a:lnSpc>
                <a:spcPts val="767"/>
              </a:lnSpc>
            </a:pPr>
            <a:r>
              <a:rPr lang="en-US" spc="-4"/>
              <a:t>TAX3_05_Taxable benefits (week 2)_Assignment</a:t>
            </a:r>
            <a:r>
              <a:rPr lang="en-US" spc="29"/>
              <a:t> </a:t>
            </a:r>
            <a:r>
              <a:rPr lang="en-US" spc="-25"/>
              <a:t>2020</a:t>
            </a:r>
            <a:endParaRPr lang="en-US" spc="-25" dirty="0"/>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5/20/2026</a:t>
            </a:fld>
            <a:endParaRPr lang="en-US" dirty="0"/>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dirty="0"/>
          </a:p>
        </p:txBody>
      </p:sp>
    </p:spTree>
    <p:extLst>
      <p:ext uri="{BB962C8B-B14F-4D97-AF65-F5344CB8AC3E}">
        <p14:creationId xmlns:p14="http://schemas.microsoft.com/office/powerpoint/2010/main" val="27961340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
  <p:cSld name="1_Title Slid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C8880ABF-1AA7-4028-9041-99126220A96D}"/>
              </a:ext>
            </a:extLst>
          </p:cNvPr>
          <p:cNvSpPr/>
          <p:nvPr/>
        </p:nvSpPr>
        <p:spPr>
          <a:xfrm>
            <a:off x="0" y="-2116"/>
            <a:ext cx="12192000" cy="6860117"/>
          </a:xfrm>
          <a:prstGeom prst="rect">
            <a:avLst/>
          </a:prstGeom>
          <a:blipFill>
            <a:blip r:embed="rId2"/>
            <a:stretch>
              <a:fillRect/>
            </a:stretch>
          </a:blip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hangingPunct="1">
              <a:defRPr/>
            </a:pPr>
            <a:endParaRPr lang="en-US" sz="1696" dirty="0">
              <a:latin typeface="Tw Cen MT" panose="020B0602020104020603" pitchFamily="34" charset="0"/>
            </a:endParaRPr>
          </a:p>
        </p:txBody>
      </p:sp>
      <p:sp>
        <p:nvSpPr>
          <p:cNvPr id="5" name="Rectangle 4">
            <a:extLst>
              <a:ext uri="{FF2B5EF4-FFF2-40B4-BE49-F238E27FC236}">
                <a16:creationId xmlns:a16="http://schemas.microsoft.com/office/drawing/2014/main" id="{CE161964-889E-460B-9A07-0EB4238CB284}"/>
              </a:ext>
            </a:extLst>
          </p:cNvPr>
          <p:cNvSpPr/>
          <p:nvPr/>
        </p:nvSpPr>
        <p:spPr>
          <a:xfrm>
            <a:off x="0" y="6692901"/>
            <a:ext cx="12192000" cy="165100"/>
          </a:xfrm>
          <a:prstGeom prst="rect">
            <a:avLst/>
          </a:prstGeom>
          <a:solidFill>
            <a:srgbClr val="6C284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ZA" sz="1696" dirty="0">
              <a:latin typeface="Tw Cen MT" panose="020B0602020104020603" pitchFamily="34" charset="0"/>
            </a:endParaRPr>
          </a:p>
        </p:txBody>
      </p:sp>
      <p:sp>
        <p:nvSpPr>
          <p:cNvPr id="3074" name="Rectangle 2"/>
          <p:cNvSpPr>
            <a:spLocks noGrp="1" noChangeArrowheads="1"/>
          </p:cNvSpPr>
          <p:nvPr>
            <p:ph type="ctrTitle"/>
          </p:nvPr>
        </p:nvSpPr>
        <p:spPr>
          <a:xfrm>
            <a:off x="815414" y="3717033"/>
            <a:ext cx="10465163" cy="293612"/>
          </a:xfrm>
        </p:spPr>
        <p:txBody>
          <a:bodyPr/>
          <a:lstStyle>
            <a:lvl1pPr algn="ctr">
              <a:defRPr sz="1908">
                <a:solidFill>
                  <a:schemeClr val="bg1"/>
                </a:solidFill>
              </a:defRPr>
            </a:lvl1pPr>
          </a:lstStyle>
          <a:p>
            <a:r>
              <a:rPr lang="en-US"/>
              <a:t>Click to edit Master title style</a:t>
            </a:r>
            <a:endParaRPr lang="en-GB" dirty="0"/>
          </a:p>
        </p:txBody>
      </p:sp>
      <p:sp>
        <p:nvSpPr>
          <p:cNvPr id="3075" name="Rectangle 3"/>
          <p:cNvSpPr>
            <a:spLocks noGrp="1" noChangeArrowheads="1"/>
          </p:cNvSpPr>
          <p:nvPr>
            <p:ph type="subTitle" idx="1"/>
          </p:nvPr>
        </p:nvSpPr>
        <p:spPr>
          <a:xfrm>
            <a:off x="815414" y="4509121"/>
            <a:ext cx="10465163" cy="276999"/>
          </a:xfrm>
        </p:spPr>
        <p:txBody>
          <a:bodyPr/>
          <a:lstStyle>
            <a:lvl1pPr marL="0" indent="0" algn="ctr">
              <a:buFont typeface="Wingdings" pitchFamily="2" charset="2"/>
              <a:buNone/>
              <a:defRPr>
                <a:solidFill>
                  <a:schemeClr val="bg1"/>
                </a:solidFill>
              </a:defRPr>
            </a:lvl1pPr>
          </a:lstStyle>
          <a:p>
            <a:r>
              <a:rPr lang="en-US"/>
              <a:t>Click to edit Master subtitle style</a:t>
            </a:r>
            <a:endParaRPr lang="en-GB" dirty="0"/>
          </a:p>
        </p:txBody>
      </p:sp>
    </p:spTree>
    <p:extLst>
      <p:ext uri="{BB962C8B-B14F-4D97-AF65-F5344CB8AC3E}">
        <p14:creationId xmlns:p14="http://schemas.microsoft.com/office/powerpoint/2010/main" val="2208165811"/>
      </p:ext>
    </p:extLst>
  </p:cSld>
  <p:clrMapOvr>
    <a:masterClrMapping/>
  </p:clrMapOvr>
  <p:transition spd="slow">
    <p:push dir="u"/>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457200" y="1420283"/>
            <a:ext cx="5181600" cy="980017"/>
          </a:xfrm>
        </p:spPr>
        <p:txBody>
          <a:bodyPr/>
          <a:lstStyle/>
          <a:p>
            <a:r>
              <a:rPr lang="en-US"/>
              <a:t>Click to edit Master title style</a:t>
            </a:r>
          </a:p>
        </p:txBody>
      </p:sp>
      <p:sp>
        <p:nvSpPr>
          <p:cNvPr id="3" name="Subtitle 2"/>
          <p:cNvSpPr>
            <a:spLocks noGrp="1"/>
          </p:cNvSpPr>
          <p:nvPr>
            <p:ph type="subTitle" idx="1"/>
          </p:nvPr>
        </p:nvSpPr>
        <p:spPr>
          <a:xfrm>
            <a:off x="914400" y="2590800"/>
            <a:ext cx="4267200" cy="1168400"/>
          </a:xfrm>
        </p:spPr>
        <p:txBody>
          <a:bodyPr/>
          <a:lstStyle>
            <a:lvl1pPr marL="0" indent="0" algn="ctr">
              <a:buNone/>
              <a:defRPr>
                <a:solidFill>
                  <a:schemeClr val="tx1">
                    <a:tint val="75000"/>
                  </a:schemeClr>
                </a:solidFill>
              </a:defRPr>
            </a:lvl1pPr>
            <a:lvl2pPr marL="304815" indent="0" algn="ctr">
              <a:buNone/>
              <a:defRPr>
                <a:solidFill>
                  <a:schemeClr val="tx1">
                    <a:tint val="75000"/>
                  </a:schemeClr>
                </a:solidFill>
              </a:defRPr>
            </a:lvl2pPr>
            <a:lvl3pPr marL="609630" indent="0" algn="ctr">
              <a:buNone/>
              <a:defRPr>
                <a:solidFill>
                  <a:schemeClr val="tx1">
                    <a:tint val="75000"/>
                  </a:schemeClr>
                </a:solidFill>
              </a:defRPr>
            </a:lvl3pPr>
            <a:lvl4pPr marL="914446" indent="0" algn="ctr">
              <a:buNone/>
              <a:defRPr>
                <a:solidFill>
                  <a:schemeClr val="tx1">
                    <a:tint val="75000"/>
                  </a:schemeClr>
                </a:solidFill>
              </a:defRPr>
            </a:lvl4pPr>
            <a:lvl5pPr marL="1219261" indent="0" algn="ctr">
              <a:buNone/>
              <a:defRPr>
                <a:solidFill>
                  <a:schemeClr val="tx1">
                    <a:tint val="75000"/>
                  </a:schemeClr>
                </a:solidFill>
              </a:defRPr>
            </a:lvl5pPr>
            <a:lvl6pPr marL="1524076" indent="0" algn="ctr">
              <a:buNone/>
              <a:defRPr>
                <a:solidFill>
                  <a:schemeClr val="tx1">
                    <a:tint val="75000"/>
                  </a:schemeClr>
                </a:solidFill>
              </a:defRPr>
            </a:lvl6pPr>
            <a:lvl7pPr marL="1828891" indent="0" algn="ctr">
              <a:buNone/>
              <a:defRPr>
                <a:solidFill>
                  <a:schemeClr val="tx1">
                    <a:tint val="75000"/>
                  </a:schemeClr>
                </a:solidFill>
              </a:defRPr>
            </a:lvl7pPr>
            <a:lvl8pPr marL="2133707" indent="0" algn="ctr">
              <a:buNone/>
              <a:defRPr>
                <a:solidFill>
                  <a:schemeClr val="tx1">
                    <a:tint val="75000"/>
                  </a:schemeClr>
                </a:solidFill>
              </a:defRPr>
            </a:lvl8pPr>
            <a:lvl9pPr marL="2438522"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5/20/2026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8530448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0397873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481542" y="2937934"/>
            <a:ext cx="5181600" cy="908050"/>
          </a:xfrm>
        </p:spPr>
        <p:txBody>
          <a:bodyPr anchor="t"/>
          <a:lstStyle>
            <a:lvl1pPr algn="l">
              <a:defRPr sz="2667" b="1" cap="all"/>
            </a:lvl1pPr>
          </a:lstStyle>
          <a:p>
            <a:r>
              <a:rPr lang="en-US"/>
              <a:t>Click to edit Master title style</a:t>
            </a:r>
          </a:p>
        </p:txBody>
      </p:sp>
      <p:sp>
        <p:nvSpPr>
          <p:cNvPr id="3" name="Text Placeholder 2"/>
          <p:cNvSpPr>
            <a:spLocks noGrp="1"/>
          </p:cNvSpPr>
          <p:nvPr>
            <p:ph type="body" idx="1"/>
          </p:nvPr>
        </p:nvSpPr>
        <p:spPr>
          <a:xfrm>
            <a:off x="481542" y="1937809"/>
            <a:ext cx="5181600" cy="1000125"/>
          </a:xfrm>
        </p:spPr>
        <p:txBody>
          <a:bodyPr anchor="b"/>
          <a:lstStyle>
            <a:lvl1pPr marL="0" indent="0">
              <a:buNone/>
              <a:defRPr sz="1333">
                <a:solidFill>
                  <a:schemeClr val="tx1">
                    <a:tint val="75000"/>
                  </a:schemeClr>
                </a:solidFill>
              </a:defRPr>
            </a:lvl1pPr>
            <a:lvl2pPr marL="304815" indent="0">
              <a:buNone/>
              <a:defRPr sz="1200">
                <a:solidFill>
                  <a:schemeClr val="tx1">
                    <a:tint val="75000"/>
                  </a:schemeClr>
                </a:solidFill>
              </a:defRPr>
            </a:lvl2pPr>
            <a:lvl3pPr marL="609630" indent="0">
              <a:buNone/>
              <a:defRPr sz="1067">
                <a:solidFill>
                  <a:schemeClr val="tx1">
                    <a:tint val="75000"/>
                  </a:schemeClr>
                </a:solidFill>
              </a:defRPr>
            </a:lvl3pPr>
            <a:lvl4pPr marL="914446" indent="0">
              <a:buNone/>
              <a:defRPr sz="933">
                <a:solidFill>
                  <a:schemeClr val="tx1">
                    <a:tint val="75000"/>
                  </a:schemeClr>
                </a:solidFill>
              </a:defRPr>
            </a:lvl4pPr>
            <a:lvl5pPr marL="1219261" indent="0">
              <a:buNone/>
              <a:defRPr sz="933">
                <a:solidFill>
                  <a:schemeClr val="tx1">
                    <a:tint val="75000"/>
                  </a:schemeClr>
                </a:solidFill>
              </a:defRPr>
            </a:lvl5pPr>
            <a:lvl6pPr marL="1524076" indent="0">
              <a:buNone/>
              <a:defRPr sz="933">
                <a:solidFill>
                  <a:schemeClr val="tx1">
                    <a:tint val="75000"/>
                  </a:schemeClr>
                </a:solidFill>
              </a:defRPr>
            </a:lvl6pPr>
            <a:lvl7pPr marL="1828891" indent="0">
              <a:buNone/>
              <a:defRPr sz="933">
                <a:solidFill>
                  <a:schemeClr val="tx1">
                    <a:tint val="75000"/>
                  </a:schemeClr>
                </a:solidFill>
              </a:defRPr>
            </a:lvl7pPr>
            <a:lvl8pPr marL="2133707" indent="0">
              <a:buNone/>
              <a:defRPr sz="933">
                <a:solidFill>
                  <a:schemeClr val="tx1">
                    <a:tint val="75000"/>
                  </a:schemeClr>
                </a:solidFill>
              </a:defRPr>
            </a:lvl8pPr>
            <a:lvl9pPr marL="2438522" indent="0">
              <a:buNone/>
              <a:defRPr sz="933">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5/20/2026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3420060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304800" y="1066800"/>
            <a:ext cx="2692400" cy="3017309"/>
          </a:xfrm>
        </p:spPr>
        <p:txBody>
          <a:bodyPr/>
          <a:lstStyle>
            <a:lvl1pPr>
              <a:defRPr sz="1867"/>
            </a:lvl1pPr>
            <a:lvl2pPr>
              <a:defRPr sz="1600"/>
            </a:lvl2pPr>
            <a:lvl3pPr>
              <a:defRPr sz="1333"/>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3098800" y="1066800"/>
            <a:ext cx="2692400" cy="3017309"/>
          </a:xfrm>
        </p:spPr>
        <p:txBody>
          <a:bodyPr/>
          <a:lstStyle>
            <a:lvl1pPr>
              <a:defRPr sz="1867"/>
            </a:lvl1pPr>
            <a:lvl2pPr>
              <a:defRPr sz="1600"/>
            </a:lvl2pPr>
            <a:lvl3pPr>
              <a:defRPr sz="1333"/>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5/20/2026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12235429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304800" y="1023409"/>
            <a:ext cx="2693459" cy="426508"/>
          </a:xfrm>
        </p:spPr>
        <p:txBody>
          <a:bodyPr anchor="b"/>
          <a:lstStyle>
            <a:lvl1pPr marL="0" indent="0">
              <a:buNone/>
              <a:defRPr sz="1600" b="1"/>
            </a:lvl1pPr>
            <a:lvl2pPr marL="304815" indent="0">
              <a:buNone/>
              <a:defRPr sz="1333" b="1"/>
            </a:lvl2pPr>
            <a:lvl3pPr marL="609630" indent="0">
              <a:buNone/>
              <a:defRPr sz="1200" b="1"/>
            </a:lvl3pPr>
            <a:lvl4pPr marL="914446" indent="0">
              <a:buNone/>
              <a:defRPr sz="1067" b="1"/>
            </a:lvl4pPr>
            <a:lvl5pPr marL="1219261" indent="0">
              <a:buNone/>
              <a:defRPr sz="1067" b="1"/>
            </a:lvl5pPr>
            <a:lvl6pPr marL="1524076" indent="0">
              <a:buNone/>
              <a:defRPr sz="1067" b="1"/>
            </a:lvl6pPr>
            <a:lvl7pPr marL="1828891" indent="0">
              <a:buNone/>
              <a:defRPr sz="1067" b="1"/>
            </a:lvl7pPr>
            <a:lvl8pPr marL="2133707" indent="0">
              <a:buNone/>
              <a:defRPr sz="1067" b="1"/>
            </a:lvl8pPr>
            <a:lvl9pPr marL="2438522" indent="0">
              <a:buNone/>
              <a:defRPr sz="1067" b="1"/>
            </a:lvl9pPr>
          </a:lstStyle>
          <a:p>
            <a:pPr lvl="0"/>
            <a:r>
              <a:rPr lang="en-US"/>
              <a:t>Click to edit Master text styles</a:t>
            </a:r>
          </a:p>
        </p:txBody>
      </p:sp>
      <p:sp>
        <p:nvSpPr>
          <p:cNvPr id="4" name="Content Placeholder 3"/>
          <p:cNvSpPr>
            <a:spLocks noGrp="1"/>
          </p:cNvSpPr>
          <p:nvPr>
            <p:ph sz="half" idx="2"/>
          </p:nvPr>
        </p:nvSpPr>
        <p:spPr>
          <a:xfrm>
            <a:off x="304800" y="1449917"/>
            <a:ext cx="2693459" cy="2634192"/>
          </a:xfrm>
        </p:spPr>
        <p:txBody>
          <a:bodyPr/>
          <a:lstStyle>
            <a:lvl1pPr>
              <a:defRPr sz="1600"/>
            </a:lvl1pPr>
            <a:lvl2pPr>
              <a:defRPr sz="1333"/>
            </a:lvl2pPr>
            <a:lvl3pPr>
              <a:defRPr sz="1200"/>
            </a:lvl3pPr>
            <a:lvl4pPr>
              <a:defRPr sz="1067"/>
            </a:lvl4pPr>
            <a:lvl5pPr>
              <a:defRPr sz="1067"/>
            </a:lvl5pPr>
            <a:lvl6pPr>
              <a:defRPr sz="1067"/>
            </a:lvl6pPr>
            <a:lvl7pPr>
              <a:defRPr sz="1067"/>
            </a:lvl7pPr>
            <a:lvl8pPr>
              <a:defRPr sz="1067"/>
            </a:lvl8pPr>
            <a:lvl9pPr>
              <a:defRPr sz="1067"/>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3096684" y="1023409"/>
            <a:ext cx="2694517" cy="426508"/>
          </a:xfrm>
        </p:spPr>
        <p:txBody>
          <a:bodyPr anchor="b"/>
          <a:lstStyle>
            <a:lvl1pPr marL="0" indent="0">
              <a:buNone/>
              <a:defRPr sz="1600" b="1"/>
            </a:lvl1pPr>
            <a:lvl2pPr marL="304815" indent="0">
              <a:buNone/>
              <a:defRPr sz="1333" b="1"/>
            </a:lvl2pPr>
            <a:lvl3pPr marL="609630" indent="0">
              <a:buNone/>
              <a:defRPr sz="1200" b="1"/>
            </a:lvl3pPr>
            <a:lvl4pPr marL="914446" indent="0">
              <a:buNone/>
              <a:defRPr sz="1067" b="1"/>
            </a:lvl4pPr>
            <a:lvl5pPr marL="1219261" indent="0">
              <a:buNone/>
              <a:defRPr sz="1067" b="1"/>
            </a:lvl5pPr>
            <a:lvl6pPr marL="1524076" indent="0">
              <a:buNone/>
              <a:defRPr sz="1067" b="1"/>
            </a:lvl6pPr>
            <a:lvl7pPr marL="1828891" indent="0">
              <a:buNone/>
              <a:defRPr sz="1067" b="1"/>
            </a:lvl7pPr>
            <a:lvl8pPr marL="2133707" indent="0">
              <a:buNone/>
              <a:defRPr sz="1067" b="1"/>
            </a:lvl8pPr>
            <a:lvl9pPr marL="2438522" indent="0">
              <a:buNone/>
              <a:defRPr sz="1067" b="1"/>
            </a:lvl9pPr>
          </a:lstStyle>
          <a:p>
            <a:pPr lvl="0"/>
            <a:r>
              <a:rPr lang="en-US"/>
              <a:t>Click to edit Master text styles</a:t>
            </a:r>
          </a:p>
        </p:txBody>
      </p:sp>
      <p:sp>
        <p:nvSpPr>
          <p:cNvPr id="6" name="Content Placeholder 5"/>
          <p:cNvSpPr>
            <a:spLocks noGrp="1"/>
          </p:cNvSpPr>
          <p:nvPr>
            <p:ph sz="quarter" idx="4"/>
          </p:nvPr>
        </p:nvSpPr>
        <p:spPr>
          <a:xfrm>
            <a:off x="3096684" y="1449917"/>
            <a:ext cx="2694517" cy="2634192"/>
          </a:xfrm>
        </p:spPr>
        <p:txBody>
          <a:bodyPr/>
          <a:lstStyle>
            <a:lvl1pPr>
              <a:defRPr sz="1600"/>
            </a:lvl1pPr>
            <a:lvl2pPr>
              <a:defRPr sz="1333"/>
            </a:lvl2pPr>
            <a:lvl3pPr>
              <a:defRPr sz="1200"/>
            </a:lvl3pPr>
            <a:lvl4pPr>
              <a:defRPr sz="1067"/>
            </a:lvl4pPr>
            <a:lvl5pPr>
              <a:defRPr sz="1067"/>
            </a:lvl5pPr>
            <a:lvl6pPr>
              <a:defRPr sz="1067"/>
            </a:lvl6pPr>
            <a:lvl7pPr>
              <a:defRPr sz="1067"/>
            </a:lvl7pPr>
            <a:lvl8pPr>
              <a:defRPr sz="1067"/>
            </a:lvl8pPr>
            <a:lvl9pPr>
              <a:defRPr sz="1067"/>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5/20/2026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26017156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5/20/2026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17070248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5/20/2026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54468863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04800" y="182033"/>
            <a:ext cx="2005542" cy="774700"/>
          </a:xfrm>
        </p:spPr>
        <p:txBody>
          <a:bodyPr anchor="b"/>
          <a:lstStyle>
            <a:lvl1pPr algn="l">
              <a:defRPr sz="1333" b="1"/>
            </a:lvl1pPr>
          </a:lstStyle>
          <a:p>
            <a:r>
              <a:rPr lang="en-US"/>
              <a:t>Click to edit Master title style</a:t>
            </a:r>
          </a:p>
        </p:txBody>
      </p:sp>
      <p:sp>
        <p:nvSpPr>
          <p:cNvPr id="3" name="Content Placeholder 2"/>
          <p:cNvSpPr>
            <a:spLocks noGrp="1"/>
          </p:cNvSpPr>
          <p:nvPr>
            <p:ph idx="1"/>
          </p:nvPr>
        </p:nvSpPr>
        <p:spPr>
          <a:xfrm>
            <a:off x="2383367" y="182034"/>
            <a:ext cx="3407833" cy="3902075"/>
          </a:xfrm>
        </p:spPr>
        <p:txBody>
          <a:bodyPr/>
          <a:lstStyle>
            <a:lvl1pPr>
              <a:defRPr sz="2133"/>
            </a:lvl1pPr>
            <a:lvl2pPr>
              <a:defRPr sz="1867"/>
            </a:lvl2pPr>
            <a:lvl3pPr>
              <a:defRPr sz="1600"/>
            </a:lvl3pPr>
            <a:lvl4pPr>
              <a:defRPr sz="1333"/>
            </a:lvl4pPr>
            <a:lvl5pPr>
              <a:defRPr sz="1333"/>
            </a:lvl5pPr>
            <a:lvl6pPr>
              <a:defRPr sz="1333"/>
            </a:lvl6pPr>
            <a:lvl7pPr>
              <a:defRPr sz="1333"/>
            </a:lvl7pPr>
            <a:lvl8pPr>
              <a:defRPr sz="1333"/>
            </a:lvl8pPr>
            <a:lvl9pPr>
              <a:defRPr sz="133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304800" y="956734"/>
            <a:ext cx="2005542" cy="3127375"/>
          </a:xfrm>
        </p:spPr>
        <p:txBody>
          <a:bodyPr/>
          <a:lstStyle>
            <a:lvl1pPr marL="0" indent="0">
              <a:buNone/>
              <a:defRPr sz="933"/>
            </a:lvl1pPr>
            <a:lvl2pPr marL="304815" indent="0">
              <a:buNone/>
              <a:defRPr sz="800"/>
            </a:lvl2pPr>
            <a:lvl3pPr marL="609630" indent="0">
              <a:buNone/>
              <a:defRPr sz="667"/>
            </a:lvl3pPr>
            <a:lvl4pPr marL="914446" indent="0">
              <a:buNone/>
              <a:defRPr sz="600"/>
            </a:lvl4pPr>
            <a:lvl5pPr marL="1219261" indent="0">
              <a:buNone/>
              <a:defRPr sz="600"/>
            </a:lvl5pPr>
            <a:lvl6pPr marL="1524076" indent="0">
              <a:buNone/>
              <a:defRPr sz="600"/>
            </a:lvl6pPr>
            <a:lvl7pPr marL="1828891" indent="0">
              <a:buNone/>
              <a:defRPr sz="600"/>
            </a:lvl7pPr>
            <a:lvl8pPr marL="2133707" indent="0">
              <a:buNone/>
              <a:defRPr sz="600"/>
            </a:lvl8pPr>
            <a:lvl9pPr marL="2438522" indent="0">
              <a:buNone/>
              <a:defRPr sz="6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14407493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94859" y="3200400"/>
            <a:ext cx="3657600" cy="377825"/>
          </a:xfrm>
        </p:spPr>
        <p:txBody>
          <a:bodyPr anchor="b"/>
          <a:lstStyle>
            <a:lvl1pPr algn="l">
              <a:defRPr sz="1333" b="1"/>
            </a:lvl1pPr>
          </a:lstStyle>
          <a:p>
            <a:r>
              <a:rPr lang="en-US"/>
              <a:t>Click to edit Master title style</a:t>
            </a:r>
          </a:p>
        </p:txBody>
      </p:sp>
      <p:sp>
        <p:nvSpPr>
          <p:cNvPr id="3" name="Picture Placeholder 2"/>
          <p:cNvSpPr>
            <a:spLocks noGrp="1"/>
          </p:cNvSpPr>
          <p:nvPr>
            <p:ph type="pic" idx="1"/>
          </p:nvPr>
        </p:nvSpPr>
        <p:spPr>
          <a:xfrm>
            <a:off x="1194859" y="408517"/>
            <a:ext cx="3657600" cy="2743200"/>
          </a:xfrm>
        </p:spPr>
        <p:txBody>
          <a:bodyPr/>
          <a:lstStyle>
            <a:lvl1pPr marL="0" indent="0">
              <a:buNone/>
              <a:defRPr sz="2133"/>
            </a:lvl1pPr>
            <a:lvl2pPr marL="304815" indent="0">
              <a:buNone/>
              <a:defRPr sz="1867"/>
            </a:lvl2pPr>
            <a:lvl3pPr marL="609630" indent="0">
              <a:buNone/>
              <a:defRPr sz="1600"/>
            </a:lvl3pPr>
            <a:lvl4pPr marL="914446" indent="0">
              <a:buNone/>
              <a:defRPr sz="1333"/>
            </a:lvl4pPr>
            <a:lvl5pPr marL="1219261" indent="0">
              <a:buNone/>
              <a:defRPr sz="1333"/>
            </a:lvl5pPr>
            <a:lvl6pPr marL="1524076" indent="0">
              <a:buNone/>
              <a:defRPr sz="1333"/>
            </a:lvl6pPr>
            <a:lvl7pPr marL="1828891" indent="0">
              <a:buNone/>
              <a:defRPr sz="1333"/>
            </a:lvl7pPr>
            <a:lvl8pPr marL="2133707" indent="0">
              <a:buNone/>
              <a:defRPr sz="1333"/>
            </a:lvl8pPr>
            <a:lvl9pPr marL="2438522" indent="0">
              <a:buNone/>
              <a:defRPr sz="1333"/>
            </a:lvl9pPr>
          </a:lstStyle>
          <a:p>
            <a:endParaRPr lang="en-US"/>
          </a:p>
        </p:txBody>
      </p:sp>
      <p:sp>
        <p:nvSpPr>
          <p:cNvPr id="4" name="Text Placeholder 3"/>
          <p:cNvSpPr>
            <a:spLocks noGrp="1"/>
          </p:cNvSpPr>
          <p:nvPr>
            <p:ph type="body" sz="half" idx="2"/>
          </p:nvPr>
        </p:nvSpPr>
        <p:spPr>
          <a:xfrm>
            <a:off x="1194859" y="3578225"/>
            <a:ext cx="3657600" cy="536575"/>
          </a:xfrm>
        </p:spPr>
        <p:txBody>
          <a:bodyPr/>
          <a:lstStyle>
            <a:lvl1pPr marL="0" indent="0">
              <a:buNone/>
              <a:defRPr sz="933"/>
            </a:lvl1pPr>
            <a:lvl2pPr marL="304815" indent="0">
              <a:buNone/>
              <a:defRPr sz="800"/>
            </a:lvl2pPr>
            <a:lvl3pPr marL="609630" indent="0">
              <a:buNone/>
              <a:defRPr sz="667"/>
            </a:lvl3pPr>
            <a:lvl4pPr marL="914446" indent="0">
              <a:buNone/>
              <a:defRPr sz="600"/>
            </a:lvl4pPr>
            <a:lvl5pPr marL="1219261" indent="0">
              <a:buNone/>
              <a:defRPr sz="600"/>
            </a:lvl5pPr>
            <a:lvl6pPr marL="1524076" indent="0">
              <a:buNone/>
              <a:defRPr sz="600"/>
            </a:lvl6pPr>
            <a:lvl7pPr marL="1828891" indent="0">
              <a:buNone/>
              <a:defRPr sz="600"/>
            </a:lvl7pPr>
            <a:lvl8pPr marL="2133707" indent="0">
              <a:buNone/>
              <a:defRPr sz="600"/>
            </a:lvl8pPr>
            <a:lvl9pPr marL="2438522" indent="0">
              <a:buNone/>
              <a:defRPr sz="6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25782114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06339000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419600" y="183092"/>
            <a:ext cx="1371600" cy="3901017"/>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304800" y="183092"/>
            <a:ext cx="4013200" cy="39010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120418032"/>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4.xml"/><Relationship Id="rId3" Type="http://schemas.openxmlformats.org/officeDocument/2006/relationships/slideLayout" Target="../slideLayouts/slideLayout9.xml"/><Relationship Id="rId7" Type="http://schemas.openxmlformats.org/officeDocument/2006/relationships/slideLayout" Target="../slideLayouts/slideLayout13.xml"/><Relationship Id="rId12" Type="http://schemas.openxmlformats.org/officeDocument/2006/relationships/theme" Target="../theme/theme2.xml"/><Relationship Id="rId2" Type="http://schemas.openxmlformats.org/officeDocument/2006/relationships/slideLayout" Target="../slideLayouts/slideLayout8.xml"/><Relationship Id="rId1" Type="http://schemas.openxmlformats.org/officeDocument/2006/relationships/slideLayout" Target="../slideLayouts/slideLayout7.xml"/><Relationship Id="rId6" Type="http://schemas.openxmlformats.org/officeDocument/2006/relationships/slideLayout" Target="../slideLayouts/slideLayout12.xml"/><Relationship Id="rId11" Type="http://schemas.openxmlformats.org/officeDocument/2006/relationships/slideLayout" Target="../slideLayouts/slideLayout17.xml"/><Relationship Id="rId5" Type="http://schemas.openxmlformats.org/officeDocument/2006/relationships/slideLayout" Target="../slideLayouts/slideLayout11.xml"/><Relationship Id="rId10" Type="http://schemas.openxmlformats.org/officeDocument/2006/relationships/slideLayout" Target="../slideLayouts/slideLayout16.xml"/><Relationship Id="rId4" Type="http://schemas.openxmlformats.org/officeDocument/2006/relationships/slideLayout" Target="../slideLayouts/slideLayout10.xml"/><Relationship Id="rId9" Type="http://schemas.openxmlformats.org/officeDocument/2006/relationships/slideLayout" Target="../slideLayouts/slideLayout1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610114" y="274320"/>
            <a:ext cx="10982020" cy="276999"/>
          </a:xfrm>
          <a:prstGeom prst="rect">
            <a:avLst/>
          </a:prstGeom>
        </p:spPr>
        <p:txBody>
          <a:bodyPr wrap="square" lIns="0" tIns="0" rIns="0" bIns="0">
            <a:spAutoFit/>
          </a:bodyPr>
          <a:lstStyle>
            <a:lvl1pPr>
              <a:defRPr/>
            </a:lvl1pPr>
          </a:lstStyle>
          <a:p>
            <a:endParaRPr/>
          </a:p>
        </p:txBody>
      </p:sp>
      <p:sp>
        <p:nvSpPr>
          <p:cNvPr id="3" name="Holder 3"/>
          <p:cNvSpPr>
            <a:spLocks noGrp="1"/>
          </p:cNvSpPr>
          <p:nvPr>
            <p:ph type="body" idx="1"/>
          </p:nvPr>
        </p:nvSpPr>
        <p:spPr>
          <a:xfrm>
            <a:off x="610114" y="1577340"/>
            <a:ext cx="10982020" cy="276999"/>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a:xfrm>
            <a:off x="1147483" y="6483749"/>
            <a:ext cx="4651402" cy="96245"/>
          </a:xfrm>
          <a:prstGeom prst="rect">
            <a:avLst/>
          </a:prstGeom>
        </p:spPr>
        <p:txBody>
          <a:bodyPr wrap="square" lIns="0" tIns="0" rIns="0" bIns="0">
            <a:spAutoFit/>
          </a:bodyPr>
          <a:lstStyle>
            <a:lvl1pPr>
              <a:defRPr sz="642" b="0" i="0">
                <a:solidFill>
                  <a:schemeClr val="tx1"/>
                </a:solidFill>
                <a:latin typeface="Times New Roman"/>
                <a:cs typeface="Times New Roman"/>
              </a:defRPr>
            </a:lvl1pPr>
          </a:lstStyle>
          <a:p>
            <a:pPr marL="8146">
              <a:lnSpc>
                <a:spcPts val="767"/>
              </a:lnSpc>
            </a:pPr>
            <a:r>
              <a:rPr lang="en-US" spc="-4"/>
              <a:t>TAX3_05_Taxable benefits (week 2)_Assignment</a:t>
            </a:r>
            <a:r>
              <a:rPr lang="en-US" spc="29"/>
              <a:t> </a:t>
            </a:r>
            <a:r>
              <a:rPr lang="en-US" spc="-25"/>
              <a:t>2020</a:t>
            </a:r>
            <a:endParaRPr lang="en-US" spc="-25" dirty="0"/>
          </a:p>
        </p:txBody>
      </p:sp>
      <p:sp>
        <p:nvSpPr>
          <p:cNvPr id="5" name="Holder 5"/>
          <p:cNvSpPr>
            <a:spLocks noGrp="1"/>
          </p:cNvSpPr>
          <p:nvPr>
            <p:ph type="dt" sz="half" idx="6"/>
          </p:nvPr>
        </p:nvSpPr>
        <p:spPr>
          <a:xfrm>
            <a:off x="610112" y="6377940"/>
            <a:ext cx="2806516" cy="276999"/>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5/20/2026</a:t>
            </a:fld>
            <a:endParaRPr lang="en-US" dirty="0"/>
          </a:p>
        </p:txBody>
      </p:sp>
      <p:sp>
        <p:nvSpPr>
          <p:cNvPr id="6" name="Holder 6"/>
          <p:cNvSpPr>
            <a:spLocks noGrp="1"/>
          </p:cNvSpPr>
          <p:nvPr>
            <p:ph type="sldNum" sz="quarter" idx="7"/>
          </p:nvPr>
        </p:nvSpPr>
        <p:spPr>
          <a:xfrm>
            <a:off x="8785618" y="6377940"/>
            <a:ext cx="2806516" cy="276999"/>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dirty="0"/>
          </a:p>
        </p:txBody>
      </p:sp>
    </p:spTree>
    <p:extLst>
      <p:ext uri="{BB962C8B-B14F-4D97-AF65-F5344CB8AC3E}">
        <p14:creationId xmlns:p14="http://schemas.microsoft.com/office/powerpoint/2010/main" val="3748289696"/>
      </p:ext>
    </p:extLst>
  </p:cSld>
  <p:clrMap bg1="lt1" tx1="dk1" bg2="lt2" tx2="dk2" accent1="accent1" accent2="accent2" accent3="accent3" accent4="accent4" accent5="accent5" accent6="accent6" hlink="hlink" folHlink="folHlink"/>
  <p:sldLayoutIdLst>
    <p:sldLayoutId id="2147483972" r:id="rId1"/>
    <p:sldLayoutId id="2147483973" r:id="rId2"/>
    <p:sldLayoutId id="2147483974" r:id="rId3"/>
    <p:sldLayoutId id="2147483975" r:id="rId4"/>
    <p:sldLayoutId id="2147483976" r:id="rId5"/>
    <p:sldLayoutId id="2147483977" r:id="rId6"/>
  </p:sldLayoutIdLst>
  <p:txStyles>
    <p:titleStyle>
      <a:lvl1pPr>
        <a:defRPr>
          <a:latin typeface="+mj-lt"/>
          <a:ea typeface="+mj-ea"/>
          <a:cs typeface="+mj-cs"/>
        </a:defRPr>
      </a:lvl1pPr>
    </p:titleStyle>
    <p:bodyStyle>
      <a:lvl1pPr marL="0">
        <a:defRPr>
          <a:latin typeface="+mn-lt"/>
          <a:ea typeface="+mn-ea"/>
          <a:cs typeface="+mn-cs"/>
        </a:defRPr>
      </a:lvl1pPr>
      <a:lvl2pPr marL="293248">
        <a:defRPr>
          <a:latin typeface="+mn-lt"/>
          <a:ea typeface="+mn-ea"/>
          <a:cs typeface="+mn-cs"/>
        </a:defRPr>
      </a:lvl2pPr>
      <a:lvl3pPr marL="586497">
        <a:defRPr>
          <a:latin typeface="+mn-lt"/>
          <a:ea typeface="+mn-ea"/>
          <a:cs typeface="+mn-cs"/>
        </a:defRPr>
      </a:lvl3pPr>
      <a:lvl4pPr marL="879746">
        <a:defRPr>
          <a:latin typeface="+mn-lt"/>
          <a:ea typeface="+mn-ea"/>
          <a:cs typeface="+mn-cs"/>
        </a:defRPr>
      </a:lvl4pPr>
      <a:lvl5pPr marL="1172994">
        <a:defRPr>
          <a:latin typeface="+mn-lt"/>
          <a:ea typeface="+mn-ea"/>
          <a:cs typeface="+mn-cs"/>
        </a:defRPr>
      </a:lvl5pPr>
      <a:lvl6pPr marL="1466242">
        <a:defRPr>
          <a:latin typeface="+mn-lt"/>
          <a:ea typeface="+mn-ea"/>
          <a:cs typeface="+mn-cs"/>
        </a:defRPr>
      </a:lvl6pPr>
      <a:lvl7pPr marL="1759491">
        <a:defRPr>
          <a:latin typeface="+mn-lt"/>
          <a:ea typeface="+mn-ea"/>
          <a:cs typeface="+mn-cs"/>
        </a:defRPr>
      </a:lvl7pPr>
      <a:lvl8pPr marL="2052740">
        <a:defRPr>
          <a:latin typeface="+mn-lt"/>
          <a:ea typeface="+mn-ea"/>
          <a:cs typeface="+mn-cs"/>
        </a:defRPr>
      </a:lvl8pPr>
      <a:lvl9pPr marL="2345988">
        <a:defRPr>
          <a:latin typeface="+mn-lt"/>
          <a:ea typeface="+mn-ea"/>
          <a:cs typeface="+mn-cs"/>
        </a:defRPr>
      </a:lvl9pPr>
    </p:bodyStyle>
    <p:otherStyle>
      <a:lvl1pPr marL="0">
        <a:defRPr>
          <a:latin typeface="+mn-lt"/>
          <a:ea typeface="+mn-ea"/>
          <a:cs typeface="+mn-cs"/>
        </a:defRPr>
      </a:lvl1pPr>
      <a:lvl2pPr marL="293248">
        <a:defRPr>
          <a:latin typeface="+mn-lt"/>
          <a:ea typeface="+mn-ea"/>
          <a:cs typeface="+mn-cs"/>
        </a:defRPr>
      </a:lvl2pPr>
      <a:lvl3pPr marL="586497">
        <a:defRPr>
          <a:latin typeface="+mn-lt"/>
          <a:ea typeface="+mn-ea"/>
          <a:cs typeface="+mn-cs"/>
        </a:defRPr>
      </a:lvl3pPr>
      <a:lvl4pPr marL="879746">
        <a:defRPr>
          <a:latin typeface="+mn-lt"/>
          <a:ea typeface="+mn-ea"/>
          <a:cs typeface="+mn-cs"/>
        </a:defRPr>
      </a:lvl4pPr>
      <a:lvl5pPr marL="1172994">
        <a:defRPr>
          <a:latin typeface="+mn-lt"/>
          <a:ea typeface="+mn-ea"/>
          <a:cs typeface="+mn-cs"/>
        </a:defRPr>
      </a:lvl5pPr>
      <a:lvl6pPr marL="1466242">
        <a:defRPr>
          <a:latin typeface="+mn-lt"/>
          <a:ea typeface="+mn-ea"/>
          <a:cs typeface="+mn-cs"/>
        </a:defRPr>
      </a:lvl6pPr>
      <a:lvl7pPr marL="1759491">
        <a:defRPr>
          <a:latin typeface="+mn-lt"/>
          <a:ea typeface="+mn-ea"/>
          <a:cs typeface="+mn-cs"/>
        </a:defRPr>
      </a:lvl7pPr>
      <a:lvl8pPr marL="2052740">
        <a:defRPr>
          <a:latin typeface="+mn-lt"/>
          <a:ea typeface="+mn-ea"/>
          <a:cs typeface="+mn-cs"/>
        </a:defRPr>
      </a:lvl8pPr>
      <a:lvl9pPr marL="2345988">
        <a:defRPr>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04800" y="183092"/>
            <a:ext cx="5486400" cy="762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304800" y="1066800"/>
            <a:ext cx="5486400" cy="3017309"/>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304800" y="4237567"/>
            <a:ext cx="1422400" cy="243417"/>
          </a:xfrm>
          <a:prstGeom prst="rect">
            <a:avLst/>
          </a:prstGeom>
        </p:spPr>
        <p:txBody>
          <a:bodyPr vert="horz" lIns="91440" tIns="45720" rIns="91440" bIns="45720" rtlCol="0" anchor="ctr"/>
          <a:lstStyle>
            <a:lvl1pPr algn="l">
              <a:defRPr sz="800">
                <a:solidFill>
                  <a:schemeClr val="tx1">
                    <a:tint val="75000"/>
                  </a:schemeClr>
                </a:solidFill>
              </a:defRPr>
            </a:lvl1pPr>
          </a:lstStyle>
          <a:p>
            <a:fld id="{1D8BD707-D9CF-40AE-B4C6-C98DA3205C09}" type="datetimeFigureOut">
              <a:rPr lang="en-US" smtClean="0"/>
              <a:pPr/>
              <a:t>5/20/2026</a:t>
            </a:fld>
            <a:endParaRPr lang="en-US"/>
          </a:p>
        </p:txBody>
      </p:sp>
      <p:sp>
        <p:nvSpPr>
          <p:cNvPr id="5" name="Footer Placeholder 4"/>
          <p:cNvSpPr>
            <a:spLocks noGrp="1"/>
          </p:cNvSpPr>
          <p:nvPr>
            <p:ph type="ftr" sz="quarter" idx="3"/>
          </p:nvPr>
        </p:nvSpPr>
        <p:spPr>
          <a:xfrm>
            <a:off x="2082800" y="4237567"/>
            <a:ext cx="1930400" cy="243417"/>
          </a:xfrm>
          <a:prstGeom prst="rect">
            <a:avLst/>
          </a:prstGeom>
        </p:spPr>
        <p:txBody>
          <a:bodyPr vert="horz" lIns="91440" tIns="45720" rIns="91440" bIns="45720" rtlCol="0" anchor="ctr"/>
          <a:lstStyle>
            <a:lvl1pPr algn="ctr">
              <a:defRPr sz="8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4368800" y="4237567"/>
            <a:ext cx="1422400" cy="243417"/>
          </a:xfrm>
          <a:prstGeom prst="rect">
            <a:avLst/>
          </a:prstGeom>
        </p:spPr>
        <p:txBody>
          <a:bodyPr vert="horz" lIns="91440" tIns="45720" rIns="91440" bIns="45720" rtlCol="0" anchor="ctr"/>
          <a:lstStyle>
            <a:lvl1pPr algn="r">
              <a:defRPr sz="800">
                <a:solidFill>
                  <a:schemeClr val="tx1">
                    <a:tint val="75000"/>
                  </a:schemeClr>
                </a:solidFill>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721931602"/>
      </p:ext>
    </p:extLst>
  </p:cSld>
  <p:clrMap bg1="lt1" tx1="dk1" bg2="lt2" tx2="dk2" accent1="accent1" accent2="accent2" accent3="accent3" accent4="accent4" accent5="accent5" accent6="accent6" hlink="hlink" folHlink="folHlink"/>
  <p:sldLayoutIdLst>
    <p:sldLayoutId id="2147483979" r:id="rId1"/>
    <p:sldLayoutId id="2147483980" r:id="rId2"/>
    <p:sldLayoutId id="2147483981" r:id="rId3"/>
    <p:sldLayoutId id="2147483982" r:id="rId4"/>
    <p:sldLayoutId id="2147483983" r:id="rId5"/>
    <p:sldLayoutId id="2147483984" r:id="rId6"/>
    <p:sldLayoutId id="2147483985" r:id="rId7"/>
    <p:sldLayoutId id="2147483986" r:id="rId8"/>
    <p:sldLayoutId id="2147483987" r:id="rId9"/>
    <p:sldLayoutId id="2147483988" r:id="rId10"/>
    <p:sldLayoutId id="2147483989" r:id="rId11"/>
  </p:sldLayoutIdLst>
  <p:txStyles>
    <p:titleStyle>
      <a:lvl1pPr algn="ctr" defTabSz="609630" rtl="0" eaLnBrk="1" latinLnBrk="0" hangingPunct="1">
        <a:spcBef>
          <a:spcPct val="0"/>
        </a:spcBef>
        <a:buNone/>
        <a:defRPr sz="2933" kern="1200">
          <a:solidFill>
            <a:schemeClr val="tx1"/>
          </a:solidFill>
          <a:latin typeface="+mj-lt"/>
          <a:ea typeface="+mj-ea"/>
          <a:cs typeface="+mj-cs"/>
        </a:defRPr>
      </a:lvl1pPr>
    </p:titleStyle>
    <p:bodyStyle>
      <a:lvl1pPr marL="228611" indent="-228611" algn="l" defTabSz="609630" rtl="0" eaLnBrk="1" latinLnBrk="0" hangingPunct="1">
        <a:spcBef>
          <a:spcPct val="20000"/>
        </a:spcBef>
        <a:buFont typeface="Arial" pitchFamily="34" charset="0"/>
        <a:buChar char="•"/>
        <a:defRPr sz="2133" kern="1200">
          <a:solidFill>
            <a:schemeClr val="tx1"/>
          </a:solidFill>
          <a:latin typeface="+mn-lt"/>
          <a:ea typeface="+mn-ea"/>
          <a:cs typeface="+mn-cs"/>
        </a:defRPr>
      </a:lvl1pPr>
      <a:lvl2pPr marL="495325" indent="-190510" algn="l" defTabSz="609630" rtl="0" eaLnBrk="1" latinLnBrk="0" hangingPunct="1">
        <a:spcBef>
          <a:spcPct val="20000"/>
        </a:spcBef>
        <a:buFont typeface="Arial" pitchFamily="34" charset="0"/>
        <a:buChar char="–"/>
        <a:defRPr sz="1867" kern="1200">
          <a:solidFill>
            <a:schemeClr val="tx1"/>
          </a:solidFill>
          <a:latin typeface="+mn-lt"/>
          <a:ea typeface="+mn-ea"/>
          <a:cs typeface="+mn-cs"/>
        </a:defRPr>
      </a:lvl2pPr>
      <a:lvl3pPr marL="762038" indent="-152408" algn="l" defTabSz="609630" rtl="0" eaLnBrk="1" latinLnBrk="0" hangingPunct="1">
        <a:spcBef>
          <a:spcPct val="20000"/>
        </a:spcBef>
        <a:buFont typeface="Arial" pitchFamily="34" charset="0"/>
        <a:buChar char="•"/>
        <a:defRPr sz="1600" kern="1200">
          <a:solidFill>
            <a:schemeClr val="tx1"/>
          </a:solidFill>
          <a:latin typeface="+mn-lt"/>
          <a:ea typeface="+mn-ea"/>
          <a:cs typeface="+mn-cs"/>
        </a:defRPr>
      </a:lvl3pPr>
      <a:lvl4pPr marL="1066853"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4pPr>
      <a:lvl5pPr marL="137166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5pPr>
      <a:lvl6pPr marL="167648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6pPr>
      <a:lvl7pPr marL="198129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7pPr>
      <a:lvl8pPr marL="228611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8pPr>
      <a:lvl9pPr marL="2590930"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9pPr>
    </p:bodyStyle>
    <p:otherStyle>
      <a:defPPr>
        <a:defRPr lang="en-US"/>
      </a:defPPr>
      <a:lvl1pPr marL="0" algn="l" defTabSz="609630" rtl="0" eaLnBrk="1" latinLnBrk="0" hangingPunct="1">
        <a:defRPr sz="1200" kern="1200">
          <a:solidFill>
            <a:schemeClr val="tx1"/>
          </a:solidFill>
          <a:latin typeface="+mn-lt"/>
          <a:ea typeface="+mn-ea"/>
          <a:cs typeface="+mn-cs"/>
        </a:defRPr>
      </a:lvl1pPr>
      <a:lvl2pPr marL="304815" algn="l" defTabSz="609630" rtl="0" eaLnBrk="1" latinLnBrk="0" hangingPunct="1">
        <a:defRPr sz="1200" kern="1200">
          <a:solidFill>
            <a:schemeClr val="tx1"/>
          </a:solidFill>
          <a:latin typeface="+mn-lt"/>
          <a:ea typeface="+mn-ea"/>
          <a:cs typeface="+mn-cs"/>
        </a:defRPr>
      </a:lvl2pPr>
      <a:lvl3pPr marL="609630" algn="l" defTabSz="609630" rtl="0" eaLnBrk="1" latinLnBrk="0" hangingPunct="1">
        <a:defRPr sz="1200" kern="1200">
          <a:solidFill>
            <a:schemeClr val="tx1"/>
          </a:solidFill>
          <a:latin typeface="+mn-lt"/>
          <a:ea typeface="+mn-ea"/>
          <a:cs typeface="+mn-cs"/>
        </a:defRPr>
      </a:lvl3pPr>
      <a:lvl4pPr marL="914446" algn="l" defTabSz="609630" rtl="0" eaLnBrk="1" latinLnBrk="0" hangingPunct="1">
        <a:defRPr sz="1200" kern="1200">
          <a:solidFill>
            <a:schemeClr val="tx1"/>
          </a:solidFill>
          <a:latin typeface="+mn-lt"/>
          <a:ea typeface="+mn-ea"/>
          <a:cs typeface="+mn-cs"/>
        </a:defRPr>
      </a:lvl4pPr>
      <a:lvl5pPr marL="1219261" algn="l" defTabSz="609630" rtl="0" eaLnBrk="1" latinLnBrk="0" hangingPunct="1">
        <a:defRPr sz="1200" kern="1200">
          <a:solidFill>
            <a:schemeClr val="tx1"/>
          </a:solidFill>
          <a:latin typeface="+mn-lt"/>
          <a:ea typeface="+mn-ea"/>
          <a:cs typeface="+mn-cs"/>
        </a:defRPr>
      </a:lvl5pPr>
      <a:lvl6pPr marL="1524076" algn="l" defTabSz="609630" rtl="0" eaLnBrk="1" latinLnBrk="0" hangingPunct="1">
        <a:defRPr sz="1200" kern="1200">
          <a:solidFill>
            <a:schemeClr val="tx1"/>
          </a:solidFill>
          <a:latin typeface="+mn-lt"/>
          <a:ea typeface="+mn-ea"/>
          <a:cs typeface="+mn-cs"/>
        </a:defRPr>
      </a:lvl6pPr>
      <a:lvl7pPr marL="1828891" algn="l" defTabSz="609630" rtl="0" eaLnBrk="1" latinLnBrk="0" hangingPunct="1">
        <a:defRPr sz="1200" kern="1200">
          <a:solidFill>
            <a:schemeClr val="tx1"/>
          </a:solidFill>
          <a:latin typeface="+mn-lt"/>
          <a:ea typeface="+mn-ea"/>
          <a:cs typeface="+mn-cs"/>
        </a:defRPr>
      </a:lvl7pPr>
      <a:lvl8pPr marL="2133707" algn="l" defTabSz="609630" rtl="0" eaLnBrk="1" latinLnBrk="0" hangingPunct="1">
        <a:defRPr sz="1200" kern="1200">
          <a:solidFill>
            <a:schemeClr val="tx1"/>
          </a:solidFill>
          <a:latin typeface="+mn-lt"/>
          <a:ea typeface="+mn-ea"/>
          <a:cs typeface="+mn-cs"/>
        </a:defRPr>
      </a:lvl8pPr>
      <a:lvl9pPr marL="2438522" algn="l" defTabSz="609630" rtl="0" eaLnBrk="1" latinLnBrk="0" hangingPunct="1">
        <a:defRPr sz="12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6.xml"/><Relationship Id="rId1" Type="http://schemas.openxmlformats.org/officeDocument/2006/relationships/tags" Target="../tags/tag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BE8AA9BD-5B28-4BB1-803B-54BB6E1B0DE1}"/>
              </a:ext>
            </a:extLst>
          </p:cNvPr>
          <p:cNvSpPr txBox="1"/>
          <p:nvPr/>
        </p:nvSpPr>
        <p:spPr>
          <a:xfrm>
            <a:off x="2916464" y="2063709"/>
            <a:ext cx="6359072" cy="1168910"/>
          </a:xfrm>
          <a:prstGeom prst="rect">
            <a:avLst/>
          </a:prstGeom>
          <a:noFill/>
        </p:spPr>
        <p:txBody>
          <a:bodyPr wrap="square" rtlCol="0">
            <a:spAutoFit/>
          </a:bodyPr>
          <a:lstStyle/>
          <a:p>
            <a:pPr lvl="0" algn="ctr" defTabSz="829909"/>
            <a:r>
              <a:rPr kumimoji="0" lang="en-US" sz="3498" b="0" i="0" u="none" strike="noStrike" kern="1200" cap="none" spc="0" normalizeH="0" baseline="0" noProof="0" dirty="0">
                <a:ln>
                  <a:noFill/>
                </a:ln>
                <a:solidFill>
                  <a:srgbClr val="FFB51B"/>
                </a:solidFill>
                <a:effectLst/>
                <a:uLnTx/>
                <a:uFillTx/>
                <a:latin typeface="Tw Cen MT" panose="020B0602020104020603" pitchFamily="34" charset="0"/>
                <a:ea typeface="+mn-ea"/>
                <a:cs typeface="+mn-cs"/>
              </a:rPr>
              <a:t>MANAGEMENT </a:t>
            </a:r>
            <a:r>
              <a:rPr lang="en-US" sz="3498" dirty="0">
                <a:solidFill>
                  <a:srgbClr val="FFB51B"/>
                </a:solidFill>
                <a:latin typeface="Tw Cen MT" panose="020B0602020104020603" pitchFamily="34" charset="0"/>
              </a:rPr>
              <a:t>INFORMATION SYSTEMS (WRBV301)</a:t>
            </a:r>
            <a:endParaRPr kumimoji="0" lang="en-US" sz="3498" b="0" i="0" u="none" strike="noStrike" kern="1200" cap="none" spc="0" normalizeH="0" baseline="0" noProof="0" dirty="0">
              <a:ln>
                <a:noFill/>
              </a:ln>
              <a:solidFill>
                <a:srgbClr val="FFB51B"/>
              </a:solidFill>
              <a:effectLst/>
              <a:uLnTx/>
              <a:uFillTx/>
              <a:latin typeface="Tw Cen MT" panose="020B0602020104020603" pitchFamily="34" charset="0"/>
              <a:ea typeface="+mn-ea"/>
              <a:cs typeface="+mn-cs"/>
            </a:endParaRPr>
          </a:p>
        </p:txBody>
      </p:sp>
      <p:sp>
        <p:nvSpPr>
          <p:cNvPr id="28" name="TextBox 27">
            <a:extLst>
              <a:ext uri="{FF2B5EF4-FFF2-40B4-BE49-F238E27FC236}">
                <a16:creationId xmlns:a16="http://schemas.microsoft.com/office/drawing/2014/main" id="{B8583709-595F-4CE2-B8B0-C47733F186E5}"/>
              </a:ext>
            </a:extLst>
          </p:cNvPr>
          <p:cNvSpPr txBox="1"/>
          <p:nvPr/>
        </p:nvSpPr>
        <p:spPr>
          <a:xfrm>
            <a:off x="1776046" y="3625381"/>
            <a:ext cx="9082454" cy="791114"/>
          </a:xfrm>
          <a:prstGeom prst="rect">
            <a:avLst/>
          </a:prstGeom>
          <a:noFill/>
        </p:spPr>
        <p:txBody>
          <a:bodyPr wrap="square" rtlCol="0">
            <a:spAutoFit/>
          </a:bodyPr>
          <a:lstStyle/>
          <a:p>
            <a:pPr marL="0" marR="0" lvl="0" indent="0" algn="ctr" defTabSz="829909" rtl="0" eaLnBrk="1" fontAlgn="auto" latinLnBrk="0" hangingPunct="1">
              <a:lnSpc>
                <a:spcPct val="100000"/>
              </a:lnSpc>
              <a:spcBef>
                <a:spcPts val="0"/>
              </a:spcBef>
              <a:spcAft>
                <a:spcPts val="0"/>
              </a:spcAft>
              <a:buClrTx/>
              <a:buSzTx/>
              <a:buFontTx/>
              <a:buNone/>
              <a:tabLst/>
              <a:defRPr/>
            </a:pPr>
            <a:r>
              <a:rPr lang="en-GB" sz="2541" dirty="0">
                <a:solidFill>
                  <a:prstClr val="white"/>
                </a:solidFill>
                <a:latin typeface="Tw Cen MT" panose="020B0602020104020603" pitchFamily="34" charset="0"/>
              </a:rPr>
              <a:t>Wrap Up</a:t>
            </a:r>
            <a:endParaRPr kumimoji="0" lang="en-US" sz="2541" b="0" i="0" u="none" strike="noStrike" kern="1200" cap="none" spc="0" normalizeH="0" baseline="0" noProof="0" dirty="0">
              <a:ln>
                <a:noFill/>
              </a:ln>
              <a:solidFill>
                <a:prstClr val="white"/>
              </a:solidFill>
              <a:effectLst/>
              <a:uLnTx/>
              <a:uFillTx/>
              <a:latin typeface="Tw Cen MT" panose="020B0602020104020603" pitchFamily="34" charset="0"/>
              <a:ea typeface="+mn-ea"/>
              <a:cs typeface="+mn-cs"/>
            </a:endParaRPr>
          </a:p>
          <a:p>
            <a:pPr marL="0" marR="0" lvl="0" indent="0" algn="ctr" defTabSz="829909" rtl="0" eaLnBrk="1" fontAlgn="auto" latinLnBrk="0" hangingPunct="1">
              <a:lnSpc>
                <a:spcPct val="100000"/>
              </a:lnSpc>
              <a:spcBef>
                <a:spcPts val="0"/>
              </a:spcBef>
              <a:spcAft>
                <a:spcPts val="0"/>
              </a:spcAft>
              <a:buClrTx/>
              <a:buSzTx/>
              <a:buFontTx/>
              <a:buNone/>
              <a:tabLst/>
              <a:defRPr/>
            </a:pPr>
            <a:r>
              <a:rPr lang="en-US" sz="2000" dirty="0">
                <a:solidFill>
                  <a:prstClr val="white"/>
                </a:solidFill>
                <a:latin typeface="Tw Cen MT" panose="020B0602020104020603" pitchFamily="34" charset="0"/>
              </a:rPr>
              <a:t>20 May 2026</a:t>
            </a:r>
            <a:endParaRPr kumimoji="0" lang="en-US" sz="2000" b="0" i="0" u="none" strike="noStrike" kern="1200" cap="none" spc="0" normalizeH="0" baseline="0" noProof="0" dirty="0">
              <a:ln>
                <a:noFill/>
              </a:ln>
              <a:solidFill>
                <a:prstClr val="white"/>
              </a:solidFill>
              <a:effectLst/>
              <a:uLnTx/>
              <a:uFillTx/>
              <a:latin typeface="Tw Cen MT" panose="020B0602020104020603" pitchFamily="34" charset="0"/>
              <a:ea typeface="+mn-ea"/>
              <a:cs typeface="+mn-cs"/>
            </a:endParaRPr>
          </a:p>
        </p:txBody>
      </p:sp>
      <p:sp>
        <p:nvSpPr>
          <p:cNvPr id="3" name="Oval 2">
            <a:extLst>
              <a:ext uri="{FF2B5EF4-FFF2-40B4-BE49-F238E27FC236}">
                <a16:creationId xmlns:a16="http://schemas.microsoft.com/office/drawing/2014/main" id="{747270A3-B0F1-410C-855D-5C823309F8CD}"/>
              </a:ext>
            </a:extLst>
          </p:cNvPr>
          <p:cNvSpPr/>
          <p:nvPr/>
        </p:nvSpPr>
        <p:spPr>
          <a:xfrm>
            <a:off x="10955045" y="204186"/>
            <a:ext cx="540000" cy="468000"/>
          </a:xfrm>
          <a:prstGeom prst="ellipse">
            <a:avLst/>
          </a:prstGeom>
          <a:solidFill>
            <a:srgbClr val="006C3B"/>
          </a:solidFill>
          <a:ln>
            <a:solidFill>
              <a:srgbClr val="006C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dirty="0"/>
              <a:t>I</a:t>
            </a:r>
            <a:endParaRPr lang="en-ZA" sz="1400" dirty="0"/>
          </a:p>
        </p:txBody>
      </p:sp>
      <p:sp>
        <p:nvSpPr>
          <p:cNvPr id="2" name="Rectangle 1">
            <a:extLst>
              <a:ext uri="{FF2B5EF4-FFF2-40B4-BE49-F238E27FC236}">
                <a16:creationId xmlns:a16="http://schemas.microsoft.com/office/drawing/2014/main" id="{4AAF58FC-77A7-42A9-838F-FB29B9DB858B}"/>
              </a:ext>
            </a:extLst>
          </p:cNvPr>
          <p:cNvSpPr/>
          <p:nvPr/>
        </p:nvSpPr>
        <p:spPr>
          <a:xfrm>
            <a:off x="8878" y="6649374"/>
            <a:ext cx="12168000" cy="208625"/>
          </a:xfrm>
          <a:prstGeom prst="rect">
            <a:avLst/>
          </a:prstGeom>
          <a:solidFill>
            <a:srgbClr val="006C3B"/>
          </a:solidFill>
          <a:ln>
            <a:solidFill>
              <a:srgbClr val="006C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a:p>
        </p:txBody>
      </p:sp>
    </p:spTree>
    <p:custDataLst>
      <p:tags r:id="rId1"/>
    </p:custDataLst>
    <p:extLst>
      <p:ext uri="{BB962C8B-B14F-4D97-AF65-F5344CB8AC3E}">
        <p14:creationId xmlns:p14="http://schemas.microsoft.com/office/powerpoint/2010/main" val="3510760573"/>
      </p:ext>
    </p:extLst>
  </p:cSld>
  <p:clrMapOvr>
    <a:masterClrMapping/>
  </p:clrMapOvr>
  <p:transition spd="slow">
    <p:push dir="u"/>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1" name="Picture 20">
            <a:extLst>
              <a:ext uri="{FF2B5EF4-FFF2-40B4-BE49-F238E27FC236}">
                <a16:creationId xmlns:a16="http://schemas.microsoft.com/office/drawing/2014/main" id="{BACFB3DE-2320-4C6A-B3EE-473868C19823}"/>
              </a:ext>
            </a:extLst>
          </p:cNvPr>
          <p:cNvPicPr>
            <a:picLocks noChangeAspect="1"/>
          </p:cNvPicPr>
          <p:nvPr/>
        </p:nvPicPr>
        <p:blipFill>
          <a:blip r:embed="rId2"/>
          <a:stretch>
            <a:fillRect/>
          </a:stretch>
        </p:blipFill>
        <p:spPr>
          <a:xfrm>
            <a:off x="0" y="-9606"/>
            <a:ext cx="3278725" cy="6858000"/>
          </a:xfrm>
          <a:prstGeom prst="rect">
            <a:avLst/>
          </a:prstGeom>
        </p:spPr>
      </p:pic>
      <p:sp>
        <p:nvSpPr>
          <p:cNvPr id="2" name="TextBox 2"/>
          <p:cNvSpPr txBox="1"/>
          <p:nvPr/>
        </p:nvSpPr>
        <p:spPr>
          <a:xfrm>
            <a:off x="131035" y="2561353"/>
            <a:ext cx="3956206" cy="1641475"/>
          </a:xfrm>
          <a:prstGeom prst="rect">
            <a:avLst/>
          </a:prstGeom>
        </p:spPr>
        <p:txBody>
          <a:bodyPr lIns="0" tIns="0" rIns="0" bIns="0" rtlCol="0" anchor="t">
            <a:spAutoFit/>
          </a:bodyPr>
          <a:lstStyle/>
          <a:p>
            <a:pPr defTabSz="609630">
              <a:lnSpc>
                <a:spcPts val="6400"/>
              </a:lnSpc>
            </a:pPr>
            <a:r>
              <a:rPr lang="en-US" sz="5334" b="1" dirty="0">
                <a:solidFill>
                  <a:schemeClr val="bg1">
                    <a:lumMod val="85000"/>
                  </a:schemeClr>
                </a:solidFill>
                <a:latin typeface="Tw Cen MT" panose="020B0602020104020603" pitchFamily="34" charset="0"/>
              </a:rPr>
              <a:t>Module Overview</a:t>
            </a:r>
            <a:endParaRPr lang="en-US" sz="5334" b="1" dirty="0">
              <a:solidFill>
                <a:schemeClr val="bg1">
                  <a:lumMod val="85000"/>
                </a:schemeClr>
              </a:solidFill>
              <a:latin typeface="Tw Cen MT" panose="020B0602020104020603" pitchFamily="34" charset="0"/>
              <a:cs typeface="Aharoni" panose="02010803020104030203" pitchFamily="2" charset="-79"/>
            </a:endParaRPr>
          </a:p>
        </p:txBody>
      </p:sp>
      <p:sp>
        <p:nvSpPr>
          <p:cNvPr id="13" name="TextBox 13"/>
          <p:cNvSpPr txBox="1"/>
          <p:nvPr/>
        </p:nvSpPr>
        <p:spPr>
          <a:xfrm rot="16200000">
            <a:off x="10042132" y="5452308"/>
            <a:ext cx="3908857" cy="252249"/>
          </a:xfrm>
          <a:prstGeom prst="rect">
            <a:avLst/>
          </a:prstGeom>
        </p:spPr>
        <p:txBody>
          <a:bodyPr lIns="0" tIns="0" rIns="0" bIns="0" rtlCol="0" anchor="t">
            <a:spAutoFit/>
          </a:bodyPr>
          <a:lstStyle/>
          <a:p>
            <a:pPr algn="r" defTabSz="609630">
              <a:lnSpc>
                <a:spcPts val="2239"/>
              </a:lnSpc>
              <a:spcBef>
                <a:spcPct val="0"/>
              </a:spcBef>
            </a:pPr>
            <a:r>
              <a:rPr lang="en-US" sz="1200" dirty="0">
                <a:solidFill>
                  <a:srgbClr val="1B1B1B"/>
                </a:solidFill>
                <a:latin typeface="Halant Medium"/>
              </a:rPr>
              <a:t>Wrap Up| 20 May 2026</a:t>
            </a:r>
          </a:p>
        </p:txBody>
      </p:sp>
      <p:sp>
        <p:nvSpPr>
          <p:cNvPr id="22" name="Oval 21">
            <a:extLst>
              <a:ext uri="{FF2B5EF4-FFF2-40B4-BE49-F238E27FC236}">
                <a16:creationId xmlns:a16="http://schemas.microsoft.com/office/drawing/2014/main" id="{506A5A5E-5043-4597-96FD-2936492D798C}"/>
              </a:ext>
            </a:extLst>
          </p:cNvPr>
          <p:cNvSpPr/>
          <p:nvPr/>
        </p:nvSpPr>
        <p:spPr>
          <a:xfrm>
            <a:off x="10955045" y="204186"/>
            <a:ext cx="540000" cy="468000"/>
          </a:xfrm>
          <a:prstGeom prst="ellipse">
            <a:avLst/>
          </a:prstGeom>
          <a:solidFill>
            <a:srgbClr val="006C3B"/>
          </a:solidFill>
          <a:ln>
            <a:solidFill>
              <a:srgbClr val="006C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dirty="0"/>
              <a:t>II</a:t>
            </a:r>
            <a:endParaRPr lang="en-ZA" sz="1400" dirty="0"/>
          </a:p>
        </p:txBody>
      </p:sp>
      <p:sp>
        <p:nvSpPr>
          <p:cNvPr id="23" name="Rectangle 22">
            <a:extLst>
              <a:ext uri="{FF2B5EF4-FFF2-40B4-BE49-F238E27FC236}">
                <a16:creationId xmlns:a16="http://schemas.microsoft.com/office/drawing/2014/main" id="{DF6F76A7-9694-4CBC-863B-39D3F0042EEE}"/>
              </a:ext>
            </a:extLst>
          </p:cNvPr>
          <p:cNvSpPr/>
          <p:nvPr/>
        </p:nvSpPr>
        <p:spPr>
          <a:xfrm>
            <a:off x="7666" y="6702610"/>
            <a:ext cx="12168000" cy="180000"/>
          </a:xfrm>
          <a:prstGeom prst="rect">
            <a:avLst/>
          </a:prstGeom>
          <a:solidFill>
            <a:srgbClr val="006C3B"/>
          </a:solidFill>
          <a:ln>
            <a:solidFill>
              <a:srgbClr val="006C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24" name="TextBox 23">
            <a:extLst>
              <a:ext uri="{FF2B5EF4-FFF2-40B4-BE49-F238E27FC236}">
                <a16:creationId xmlns:a16="http://schemas.microsoft.com/office/drawing/2014/main" id="{807780DA-3DDC-4F72-8073-85CEA0FC1ABE}"/>
              </a:ext>
            </a:extLst>
          </p:cNvPr>
          <p:cNvSpPr txBox="1"/>
          <p:nvPr/>
        </p:nvSpPr>
        <p:spPr>
          <a:xfrm>
            <a:off x="3402166" y="603238"/>
            <a:ext cx="8594394" cy="5632311"/>
          </a:xfrm>
          <a:prstGeom prst="rect">
            <a:avLst/>
          </a:prstGeom>
          <a:noFill/>
        </p:spPr>
        <p:txBody>
          <a:bodyPr wrap="square">
            <a:spAutoFit/>
          </a:bodyPr>
          <a:lstStyle/>
          <a:p>
            <a:pPr marL="571500" indent="-571500">
              <a:buClr>
                <a:srgbClr val="006C3B"/>
              </a:buClr>
              <a:buFont typeface="Arial" panose="020B0604020202020204" pitchFamily="34" charset="0"/>
              <a:buChar char="•"/>
            </a:pPr>
            <a:r>
              <a:rPr lang="en-GB" sz="3600" dirty="0">
                <a:latin typeface="Tw Cen MT" panose="020B0602020104020603" pitchFamily="34" charset="0"/>
              </a:rPr>
              <a:t>Technology and Strategy</a:t>
            </a:r>
          </a:p>
          <a:p>
            <a:pPr marL="571500" indent="-571500">
              <a:buClr>
                <a:srgbClr val="006C3B"/>
              </a:buClr>
              <a:buFont typeface="Arial" panose="020B0604020202020204" pitchFamily="34" charset="0"/>
              <a:buChar char="•"/>
            </a:pPr>
            <a:r>
              <a:rPr lang="en-GB" sz="3600" dirty="0" err="1">
                <a:latin typeface="Tw Cen MT" panose="020B0602020104020603" pitchFamily="34" charset="0"/>
              </a:rPr>
              <a:t>FreshDirect</a:t>
            </a:r>
            <a:r>
              <a:rPr lang="en-GB" sz="3600" dirty="0">
                <a:latin typeface="Tw Cen MT" panose="020B0602020104020603" pitchFamily="34" charset="0"/>
              </a:rPr>
              <a:t> Case Study </a:t>
            </a:r>
          </a:p>
          <a:p>
            <a:pPr marL="571500" indent="-571500">
              <a:buClr>
                <a:srgbClr val="006C3B"/>
              </a:buClr>
              <a:buFont typeface="Arial" panose="020B0604020202020204" pitchFamily="34" charset="0"/>
              <a:buChar char="•"/>
            </a:pPr>
            <a:r>
              <a:rPr lang="en-GB" sz="3600" dirty="0">
                <a:latin typeface="Tw Cen MT" panose="020B0602020104020603" pitchFamily="34" charset="0"/>
              </a:rPr>
              <a:t>Zara (and Shein)</a:t>
            </a:r>
          </a:p>
          <a:p>
            <a:pPr marL="571500" indent="-571500">
              <a:buClr>
                <a:srgbClr val="006C3B"/>
              </a:buClr>
              <a:buFont typeface="Arial" panose="020B0604020202020204" pitchFamily="34" charset="0"/>
              <a:buChar char="•"/>
            </a:pPr>
            <a:r>
              <a:rPr lang="en-GB" sz="3600" dirty="0">
                <a:latin typeface="Tw Cen MT" panose="020B0602020104020603" pitchFamily="34" charset="0"/>
              </a:rPr>
              <a:t>Faster and Cheaper IT</a:t>
            </a:r>
          </a:p>
          <a:p>
            <a:pPr marL="571500" indent="-571500">
              <a:buClr>
                <a:srgbClr val="006C3B"/>
              </a:buClr>
              <a:buFont typeface="Arial" panose="020B0604020202020204" pitchFamily="34" charset="0"/>
              <a:buChar char="•"/>
            </a:pPr>
            <a:r>
              <a:rPr lang="en-GB" sz="3600" dirty="0">
                <a:latin typeface="Tw Cen MT" panose="020B0602020104020603" pitchFamily="34" charset="0"/>
              </a:rPr>
              <a:t>Disruptive Innovations</a:t>
            </a:r>
          </a:p>
          <a:p>
            <a:pPr marL="571500" indent="-571500">
              <a:buClr>
                <a:srgbClr val="006C3B"/>
              </a:buClr>
              <a:buFont typeface="Arial" panose="020B0604020202020204" pitchFamily="34" charset="0"/>
              <a:buChar char="•"/>
            </a:pPr>
            <a:r>
              <a:rPr lang="en-GB" sz="3600" dirty="0">
                <a:latin typeface="Tw Cen MT" panose="020B0602020104020603" pitchFamily="34" charset="0"/>
              </a:rPr>
              <a:t>Learning from Amazon</a:t>
            </a:r>
          </a:p>
          <a:p>
            <a:pPr marL="571500" indent="-571500">
              <a:buClr>
                <a:srgbClr val="006C3B"/>
              </a:buClr>
              <a:buFont typeface="Arial" panose="020B0604020202020204" pitchFamily="34" charset="0"/>
              <a:buChar char="•"/>
            </a:pPr>
            <a:r>
              <a:rPr lang="en-GB" sz="3600" dirty="0">
                <a:latin typeface="Tw Cen MT" panose="020B0602020104020603" pitchFamily="34" charset="0"/>
              </a:rPr>
              <a:t>Network Effects</a:t>
            </a:r>
          </a:p>
          <a:p>
            <a:pPr marL="571500" indent="-571500">
              <a:buClr>
                <a:srgbClr val="006C3B"/>
              </a:buClr>
              <a:buFont typeface="Arial" panose="020B0604020202020204" pitchFamily="34" charset="0"/>
              <a:buChar char="•"/>
            </a:pPr>
            <a:r>
              <a:rPr lang="en-GB" sz="3600" dirty="0">
                <a:latin typeface="Tw Cen MT" panose="020B0602020104020603" pitchFamily="34" charset="0"/>
              </a:rPr>
              <a:t>Social Technologies</a:t>
            </a:r>
          </a:p>
          <a:p>
            <a:pPr marL="571500" indent="-571500">
              <a:buClr>
                <a:srgbClr val="006C3B"/>
              </a:buClr>
              <a:buFont typeface="Arial" panose="020B0604020202020204" pitchFamily="34" charset="0"/>
              <a:buChar char="•"/>
            </a:pPr>
            <a:r>
              <a:rPr lang="en-GB" sz="3600" dirty="0">
                <a:latin typeface="Tw Cen MT" panose="020B0602020104020603" pitchFamily="34" charset="0"/>
              </a:rPr>
              <a:t>Sharing Economy, Collaborative Consumption and Efficient Markets</a:t>
            </a:r>
          </a:p>
        </p:txBody>
      </p:sp>
    </p:spTree>
    <p:extLst>
      <p:ext uri="{BB962C8B-B14F-4D97-AF65-F5344CB8AC3E}">
        <p14:creationId xmlns:p14="http://schemas.microsoft.com/office/powerpoint/2010/main" val="14904281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1" name="Picture 20">
            <a:extLst>
              <a:ext uri="{FF2B5EF4-FFF2-40B4-BE49-F238E27FC236}">
                <a16:creationId xmlns:a16="http://schemas.microsoft.com/office/drawing/2014/main" id="{BACFB3DE-2320-4C6A-B3EE-473868C19823}"/>
              </a:ext>
            </a:extLst>
          </p:cNvPr>
          <p:cNvPicPr>
            <a:picLocks noChangeAspect="1"/>
          </p:cNvPicPr>
          <p:nvPr/>
        </p:nvPicPr>
        <p:blipFill>
          <a:blip r:embed="rId3"/>
          <a:stretch>
            <a:fillRect/>
          </a:stretch>
        </p:blipFill>
        <p:spPr>
          <a:xfrm>
            <a:off x="0" y="-9606"/>
            <a:ext cx="3278725" cy="6858000"/>
          </a:xfrm>
          <a:prstGeom prst="rect">
            <a:avLst/>
          </a:prstGeom>
        </p:spPr>
      </p:pic>
      <p:sp>
        <p:nvSpPr>
          <p:cNvPr id="34" name="TextBox 2">
            <a:extLst>
              <a:ext uri="{FF2B5EF4-FFF2-40B4-BE49-F238E27FC236}">
                <a16:creationId xmlns:a16="http://schemas.microsoft.com/office/drawing/2014/main" id="{74F77639-4627-4280-A447-310CD9B63EA4}"/>
              </a:ext>
            </a:extLst>
          </p:cNvPr>
          <p:cNvSpPr txBox="1"/>
          <p:nvPr/>
        </p:nvSpPr>
        <p:spPr>
          <a:xfrm>
            <a:off x="-36619" y="1873763"/>
            <a:ext cx="3369448" cy="1600887"/>
          </a:xfrm>
          <a:prstGeom prst="rect">
            <a:avLst/>
          </a:prstGeom>
        </p:spPr>
        <p:txBody>
          <a:bodyPr wrap="square" lIns="0" tIns="0" rIns="0" bIns="0" rtlCol="0" anchor="t">
            <a:spAutoFit/>
          </a:bodyPr>
          <a:lstStyle/>
          <a:p>
            <a:pPr algn="ctr" defTabSz="609630">
              <a:lnSpc>
                <a:spcPts val="6400"/>
              </a:lnSpc>
            </a:pPr>
            <a:r>
              <a:rPr lang="en-US" sz="4800" b="1" dirty="0">
                <a:solidFill>
                  <a:schemeClr val="bg1">
                    <a:lumMod val="85000"/>
                  </a:schemeClr>
                </a:solidFill>
                <a:latin typeface="Tw Cen MT" panose="020B0602020104020603" pitchFamily="34" charset="0"/>
              </a:rPr>
              <a:t>Technology and Strategy</a:t>
            </a:r>
          </a:p>
        </p:txBody>
      </p:sp>
      <p:sp>
        <p:nvSpPr>
          <p:cNvPr id="22" name="Oval 21">
            <a:extLst>
              <a:ext uri="{FF2B5EF4-FFF2-40B4-BE49-F238E27FC236}">
                <a16:creationId xmlns:a16="http://schemas.microsoft.com/office/drawing/2014/main" id="{D725B13D-641A-4BCD-8179-C6561052B127}"/>
              </a:ext>
            </a:extLst>
          </p:cNvPr>
          <p:cNvSpPr/>
          <p:nvPr/>
        </p:nvSpPr>
        <p:spPr>
          <a:xfrm>
            <a:off x="10955045" y="204186"/>
            <a:ext cx="540000" cy="468000"/>
          </a:xfrm>
          <a:prstGeom prst="ellipse">
            <a:avLst/>
          </a:prstGeom>
          <a:solidFill>
            <a:srgbClr val="006C3B"/>
          </a:solidFill>
          <a:ln>
            <a:solidFill>
              <a:srgbClr val="006C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dirty="0"/>
              <a:t>III</a:t>
            </a:r>
            <a:endParaRPr lang="en-ZA" sz="1400" dirty="0"/>
          </a:p>
        </p:txBody>
      </p:sp>
      <p:sp>
        <p:nvSpPr>
          <p:cNvPr id="24" name="Rectangle 23">
            <a:extLst>
              <a:ext uri="{FF2B5EF4-FFF2-40B4-BE49-F238E27FC236}">
                <a16:creationId xmlns:a16="http://schemas.microsoft.com/office/drawing/2014/main" id="{D944D119-6AF6-4AE7-837A-D1E5F81984AA}"/>
              </a:ext>
            </a:extLst>
          </p:cNvPr>
          <p:cNvSpPr/>
          <p:nvPr/>
        </p:nvSpPr>
        <p:spPr>
          <a:xfrm>
            <a:off x="8878" y="6702642"/>
            <a:ext cx="12168000" cy="180000"/>
          </a:xfrm>
          <a:prstGeom prst="rect">
            <a:avLst/>
          </a:prstGeom>
          <a:solidFill>
            <a:srgbClr val="006C3B"/>
          </a:solidFill>
          <a:ln>
            <a:solidFill>
              <a:srgbClr val="006C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30" name="TextBox 29">
            <a:extLst>
              <a:ext uri="{FF2B5EF4-FFF2-40B4-BE49-F238E27FC236}">
                <a16:creationId xmlns:a16="http://schemas.microsoft.com/office/drawing/2014/main" id="{75796C62-397A-4228-89DF-56E860829F36}"/>
              </a:ext>
            </a:extLst>
          </p:cNvPr>
          <p:cNvSpPr txBox="1"/>
          <p:nvPr/>
        </p:nvSpPr>
        <p:spPr>
          <a:xfrm>
            <a:off x="3494462" y="672186"/>
            <a:ext cx="8823267" cy="5016758"/>
          </a:xfrm>
          <a:prstGeom prst="rect">
            <a:avLst/>
          </a:prstGeom>
          <a:noFill/>
        </p:spPr>
        <p:txBody>
          <a:bodyPr wrap="square">
            <a:spAutoFit/>
          </a:bodyPr>
          <a:lstStyle/>
          <a:p>
            <a:pPr marL="285750" indent="-285750">
              <a:buClr>
                <a:srgbClr val="006C3B"/>
              </a:buClr>
              <a:buFont typeface="Arial" panose="020B0604020202020204" pitchFamily="34" charset="0"/>
              <a:buChar char="•"/>
            </a:pPr>
            <a:r>
              <a:rPr lang="en-GB" sz="3200" dirty="0">
                <a:latin typeface="Tw Cen MT" panose="020B0602020104020603" pitchFamily="34" charset="0"/>
              </a:rPr>
              <a:t>Sustainable Competitive advantage</a:t>
            </a:r>
          </a:p>
          <a:p>
            <a:pPr marL="285750" indent="-285750">
              <a:buClr>
                <a:srgbClr val="006C3B"/>
              </a:buClr>
              <a:buFont typeface="Arial" panose="020B0604020202020204" pitchFamily="34" charset="0"/>
              <a:buChar char="•"/>
            </a:pPr>
            <a:r>
              <a:rPr lang="en-GB" sz="3200" dirty="0">
                <a:latin typeface="Tw Cen MT" panose="020B0602020104020603" pitchFamily="34" charset="0"/>
              </a:rPr>
              <a:t>Operational effectiveness</a:t>
            </a:r>
          </a:p>
          <a:p>
            <a:pPr marL="285750" indent="-285750">
              <a:buClr>
                <a:srgbClr val="006C3B"/>
              </a:buClr>
              <a:buFont typeface="Arial" panose="020B0604020202020204" pitchFamily="34" charset="0"/>
              <a:buChar char="•"/>
            </a:pPr>
            <a:r>
              <a:rPr lang="en-GB" sz="3200" dirty="0">
                <a:latin typeface="Tw Cen MT" panose="020B0602020104020603" pitchFamily="34" charset="0"/>
              </a:rPr>
              <a:t>Strategic positioning</a:t>
            </a:r>
          </a:p>
          <a:p>
            <a:pPr marL="285750" indent="-285750">
              <a:buClr>
                <a:srgbClr val="006C3B"/>
              </a:buClr>
              <a:buFont typeface="Arial" panose="020B0604020202020204" pitchFamily="34" charset="0"/>
              <a:buChar char="•"/>
            </a:pPr>
            <a:r>
              <a:rPr lang="en-GB" sz="3200" dirty="0">
                <a:latin typeface="Tw Cen MT" panose="020B0602020104020603" pitchFamily="34" charset="0"/>
              </a:rPr>
              <a:t>Brand</a:t>
            </a:r>
          </a:p>
          <a:p>
            <a:pPr marL="285750" indent="-285750">
              <a:buClr>
                <a:srgbClr val="006C3B"/>
              </a:buClr>
              <a:buFont typeface="Arial" panose="020B0604020202020204" pitchFamily="34" charset="0"/>
              <a:buChar char="•"/>
            </a:pPr>
            <a:r>
              <a:rPr lang="en-GB" sz="3200" dirty="0">
                <a:latin typeface="Tw Cen MT" panose="020B0602020104020603" pitchFamily="34" charset="0"/>
              </a:rPr>
              <a:t>Scale</a:t>
            </a:r>
          </a:p>
          <a:p>
            <a:pPr marL="285750" indent="-285750">
              <a:buClr>
                <a:srgbClr val="006C3B"/>
              </a:buClr>
              <a:buFont typeface="Arial" panose="020B0604020202020204" pitchFamily="34" charset="0"/>
              <a:buChar char="•"/>
            </a:pPr>
            <a:r>
              <a:rPr lang="en-GB" sz="3200" dirty="0">
                <a:latin typeface="Tw Cen MT" panose="020B0602020104020603" pitchFamily="34" charset="0"/>
              </a:rPr>
              <a:t>Porter’s five force</a:t>
            </a:r>
          </a:p>
          <a:p>
            <a:pPr marL="285750" indent="-285750">
              <a:buClr>
                <a:srgbClr val="006C3B"/>
              </a:buClr>
              <a:buFont typeface="Arial" panose="020B0604020202020204" pitchFamily="34" charset="0"/>
              <a:buChar char="•"/>
            </a:pPr>
            <a:r>
              <a:rPr lang="en-GB" sz="3200" dirty="0">
                <a:latin typeface="Tw Cen MT" panose="020B0602020104020603" pitchFamily="34" charset="0"/>
              </a:rPr>
              <a:t>Resource-based view of competitive advantage</a:t>
            </a:r>
          </a:p>
          <a:p>
            <a:pPr marL="285750" indent="-285750">
              <a:buClr>
                <a:srgbClr val="006C3B"/>
              </a:buClr>
              <a:buFont typeface="Arial" panose="020B0604020202020204" pitchFamily="34" charset="0"/>
              <a:buChar char="•"/>
            </a:pPr>
            <a:r>
              <a:rPr lang="en-GB" sz="3200" dirty="0">
                <a:latin typeface="Tw Cen MT" panose="020B0602020104020603" pitchFamily="34" charset="0"/>
              </a:rPr>
              <a:t>Imitation-resistant Value chain</a:t>
            </a:r>
          </a:p>
          <a:p>
            <a:pPr marL="285750" indent="-285750">
              <a:buClr>
                <a:srgbClr val="006C3B"/>
              </a:buClr>
              <a:buFont typeface="Arial" panose="020B0604020202020204" pitchFamily="34" charset="0"/>
              <a:buChar char="•"/>
            </a:pPr>
            <a:r>
              <a:rPr lang="en-GB" sz="3200" dirty="0">
                <a:latin typeface="Tw Cen MT" panose="020B0602020104020603" pitchFamily="34" charset="0"/>
              </a:rPr>
              <a:t>Switching costs and data</a:t>
            </a:r>
          </a:p>
          <a:p>
            <a:pPr marL="285750" indent="-285750">
              <a:buClr>
                <a:srgbClr val="006C3B"/>
              </a:buClr>
              <a:buFont typeface="Arial" panose="020B0604020202020204" pitchFamily="34" charset="0"/>
              <a:buChar char="•"/>
            </a:pPr>
            <a:r>
              <a:rPr lang="en-GB" sz="3200" dirty="0">
                <a:latin typeface="Tw Cen MT" panose="020B0602020104020603" pitchFamily="34" charset="0"/>
              </a:rPr>
              <a:t>Timing and Technology</a:t>
            </a:r>
          </a:p>
        </p:txBody>
      </p:sp>
      <p:sp>
        <p:nvSpPr>
          <p:cNvPr id="9" name="TextBox 13">
            <a:extLst>
              <a:ext uri="{FF2B5EF4-FFF2-40B4-BE49-F238E27FC236}">
                <a16:creationId xmlns:a16="http://schemas.microsoft.com/office/drawing/2014/main" id="{CBEA7631-D31E-4670-81A4-6F9FEAB8CFB8}"/>
              </a:ext>
            </a:extLst>
          </p:cNvPr>
          <p:cNvSpPr txBox="1"/>
          <p:nvPr/>
        </p:nvSpPr>
        <p:spPr>
          <a:xfrm rot="16200000">
            <a:off x="10042132" y="5452308"/>
            <a:ext cx="3908857" cy="252249"/>
          </a:xfrm>
          <a:prstGeom prst="rect">
            <a:avLst/>
          </a:prstGeom>
        </p:spPr>
        <p:txBody>
          <a:bodyPr lIns="0" tIns="0" rIns="0" bIns="0" rtlCol="0" anchor="t">
            <a:spAutoFit/>
          </a:bodyPr>
          <a:lstStyle/>
          <a:p>
            <a:pPr algn="r" defTabSz="609630">
              <a:lnSpc>
                <a:spcPts val="2239"/>
              </a:lnSpc>
              <a:spcBef>
                <a:spcPct val="0"/>
              </a:spcBef>
            </a:pPr>
            <a:r>
              <a:rPr lang="en-US" sz="1200" dirty="0">
                <a:solidFill>
                  <a:srgbClr val="1B1B1B"/>
                </a:solidFill>
                <a:latin typeface="Halant Medium"/>
              </a:rPr>
              <a:t>Wrap Up| 20 May 2026</a:t>
            </a:r>
          </a:p>
        </p:txBody>
      </p:sp>
    </p:spTree>
    <p:extLst>
      <p:ext uri="{BB962C8B-B14F-4D97-AF65-F5344CB8AC3E}">
        <p14:creationId xmlns:p14="http://schemas.microsoft.com/office/powerpoint/2010/main" val="367192741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1" name="Picture 20">
            <a:extLst>
              <a:ext uri="{FF2B5EF4-FFF2-40B4-BE49-F238E27FC236}">
                <a16:creationId xmlns:a16="http://schemas.microsoft.com/office/drawing/2014/main" id="{BACFB3DE-2320-4C6A-B3EE-473868C19823}"/>
              </a:ext>
            </a:extLst>
          </p:cNvPr>
          <p:cNvPicPr>
            <a:picLocks noChangeAspect="1"/>
          </p:cNvPicPr>
          <p:nvPr/>
        </p:nvPicPr>
        <p:blipFill>
          <a:blip r:embed="rId3"/>
          <a:stretch>
            <a:fillRect/>
          </a:stretch>
        </p:blipFill>
        <p:spPr>
          <a:xfrm>
            <a:off x="0" y="-9606"/>
            <a:ext cx="3278725" cy="6858000"/>
          </a:xfrm>
          <a:prstGeom prst="rect">
            <a:avLst/>
          </a:prstGeom>
        </p:spPr>
      </p:pic>
      <p:sp>
        <p:nvSpPr>
          <p:cNvPr id="34" name="TextBox 2">
            <a:extLst>
              <a:ext uri="{FF2B5EF4-FFF2-40B4-BE49-F238E27FC236}">
                <a16:creationId xmlns:a16="http://schemas.microsoft.com/office/drawing/2014/main" id="{74F77639-4627-4280-A447-310CD9B63EA4}"/>
              </a:ext>
            </a:extLst>
          </p:cNvPr>
          <p:cNvSpPr txBox="1"/>
          <p:nvPr/>
        </p:nvSpPr>
        <p:spPr>
          <a:xfrm>
            <a:off x="205592" y="2184175"/>
            <a:ext cx="3140239" cy="1594283"/>
          </a:xfrm>
          <a:prstGeom prst="rect">
            <a:avLst/>
          </a:prstGeom>
        </p:spPr>
        <p:txBody>
          <a:bodyPr wrap="square" lIns="0" tIns="0" rIns="0" bIns="0" rtlCol="0" anchor="t">
            <a:spAutoFit/>
          </a:bodyPr>
          <a:lstStyle/>
          <a:p>
            <a:pPr defTabSz="609630">
              <a:lnSpc>
                <a:spcPts val="6400"/>
              </a:lnSpc>
            </a:pPr>
            <a:r>
              <a:rPr lang="en-US" sz="4800" b="1" dirty="0" err="1">
                <a:solidFill>
                  <a:schemeClr val="bg1">
                    <a:lumMod val="85000"/>
                  </a:schemeClr>
                </a:solidFill>
                <a:latin typeface="Tw Cen MT" panose="020B0602020104020603" pitchFamily="34" charset="0"/>
              </a:rPr>
              <a:t>FreshDirect</a:t>
            </a:r>
            <a:r>
              <a:rPr lang="en-US" sz="4800" b="1" dirty="0">
                <a:solidFill>
                  <a:schemeClr val="bg1">
                    <a:lumMod val="85000"/>
                  </a:schemeClr>
                </a:solidFill>
                <a:latin typeface="Tw Cen MT" panose="020B0602020104020603" pitchFamily="34" charset="0"/>
              </a:rPr>
              <a:t> Case Study </a:t>
            </a:r>
          </a:p>
        </p:txBody>
      </p:sp>
      <p:sp>
        <p:nvSpPr>
          <p:cNvPr id="16" name="Oval 15">
            <a:extLst>
              <a:ext uri="{FF2B5EF4-FFF2-40B4-BE49-F238E27FC236}">
                <a16:creationId xmlns:a16="http://schemas.microsoft.com/office/drawing/2014/main" id="{0F0784C1-87B0-404C-BEA0-D8CD27BC2159}"/>
              </a:ext>
            </a:extLst>
          </p:cNvPr>
          <p:cNvSpPr/>
          <p:nvPr/>
        </p:nvSpPr>
        <p:spPr>
          <a:xfrm>
            <a:off x="10955045" y="204186"/>
            <a:ext cx="540000" cy="468000"/>
          </a:xfrm>
          <a:prstGeom prst="ellipse">
            <a:avLst/>
          </a:prstGeom>
          <a:solidFill>
            <a:srgbClr val="006C3B"/>
          </a:solidFill>
          <a:ln>
            <a:solidFill>
              <a:srgbClr val="006C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dirty="0"/>
              <a:t>IV</a:t>
            </a:r>
            <a:endParaRPr lang="en-ZA" sz="1400" dirty="0"/>
          </a:p>
        </p:txBody>
      </p:sp>
      <p:sp>
        <p:nvSpPr>
          <p:cNvPr id="18" name="Rectangle 17">
            <a:extLst>
              <a:ext uri="{FF2B5EF4-FFF2-40B4-BE49-F238E27FC236}">
                <a16:creationId xmlns:a16="http://schemas.microsoft.com/office/drawing/2014/main" id="{8968E881-B586-4720-8441-F2508363FF93}"/>
              </a:ext>
            </a:extLst>
          </p:cNvPr>
          <p:cNvSpPr/>
          <p:nvPr/>
        </p:nvSpPr>
        <p:spPr>
          <a:xfrm>
            <a:off x="12000" y="6698591"/>
            <a:ext cx="12168000" cy="180000"/>
          </a:xfrm>
          <a:prstGeom prst="rect">
            <a:avLst/>
          </a:prstGeom>
          <a:solidFill>
            <a:srgbClr val="006C3B"/>
          </a:solidFill>
          <a:ln>
            <a:solidFill>
              <a:srgbClr val="006C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23" name="Content Placeholder 2">
            <a:extLst>
              <a:ext uri="{FF2B5EF4-FFF2-40B4-BE49-F238E27FC236}">
                <a16:creationId xmlns:a16="http://schemas.microsoft.com/office/drawing/2014/main" id="{8A6FE3B2-C405-4700-869F-FCC9D9B0F7E5}"/>
              </a:ext>
            </a:extLst>
          </p:cNvPr>
          <p:cNvSpPr txBox="1">
            <a:spLocks/>
          </p:cNvSpPr>
          <p:nvPr/>
        </p:nvSpPr>
        <p:spPr>
          <a:xfrm>
            <a:off x="3570233" y="657588"/>
            <a:ext cx="7941589" cy="5869462"/>
          </a:xfrm>
          <a:prstGeom prst="rect">
            <a:avLst/>
          </a:prstGeom>
        </p:spPr>
        <p:txBody>
          <a:bodyPr vert="horz" lIns="91440" tIns="45720" rIns="91440" bIns="45720" rtlCol="0" anchor="ctr">
            <a:normAutofit fontScale="70000" lnSpcReduction="20000"/>
          </a:bodyPr>
          <a:lstStyle>
            <a:lvl1pPr marL="182880" indent="-182880" algn="l" defTabSz="914400" rtl="0" eaLnBrk="1" latinLnBrk="0" hangingPunct="1">
              <a:lnSpc>
                <a:spcPct val="90000"/>
              </a:lnSpc>
              <a:spcBef>
                <a:spcPts val="1200"/>
              </a:spcBef>
              <a:buClr>
                <a:schemeClr val="accent1"/>
              </a:buClr>
              <a:buFont typeface="Wingdings 2" pitchFamily="18" charset="2"/>
              <a:buChar char=""/>
              <a:defRPr sz="3600" kern="1200">
                <a:solidFill>
                  <a:schemeClr val="tx1">
                    <a:lumMod val="65000"/>
                    <a:lumOff val="35000"/>
                  </a:schemeClr>
                </a:solidFill>
                <a:latin typeface="+mn-lt"/>
                <a:ea typeface="+mn-ea"/>
                <a:cs typeface="+mn-cs"/>
              </a:defRPr>
            </a:lvl1pPr>
            <a:lvl2pPr marL="6858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3200" kern="1200">
                <a:solidFill>
                  <a:schemeClr val="tx1">
                    <a:lumMod val="65000"/>
                    <a:lumOff val="35000"/>
                  </a:schemeClr>
                </a:solidFill>
                <a:latin typeface="+mn-lt"/>
                <a:ea typeface="+mn-ea"/>
                <a:cs typeface="+mn-cs"/>
              </a:defRPr>
            </a:lvl2pPr>
            <a:lvl3pPr marL="11430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2800" kern="1200">
                <a:solidFill>
                  <a:schemeClr val="tx1">
                    <a:lumMod val="65000"/>
                    <a:lumOff val="35000"/>
                  </a:schemeClr>
                </a:solidFill>
                <a:latin typeface="+mn-lt"/>
                <a:ea typeface="+mn-ea"/>
                <a:cs typeface="+mn-cs"/>
              </a:defRPr>
            </a:lvl3pPr>
            <a:lvl4pPr marL="16002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2400" kern="1200">
                <a:solidFill>
                  <a:schemeClr val="tx1">
                    <a:lumMod val="65000"/>
                    <a:lumOff val="35000"/>
                  </a:schemeClr>
                </a:solidFill>
                <a:latin typeface="+mn-lt"/>
                <a:ea typeface="+mn-ea"/>
                <a:cs typeface="+mn-cs"/>
              </a:defRPr>
            </a:lvl4pPr>
            <a:lvl5pPr marL="20574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2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6pPr>
            <a:lvl7pPr marL="29718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7pPr>
            <a:lvl8pPr marL="34290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8pPr>
            <a:lvl9pPr marL="38862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9pPr>
          </a:lstStyle>
          <a:p>
            <a:pPr marL="182880" marR="0" lvl="0" indent="-182880" algn="l" defTabSz="914400" rtl="0" eaLnBrk="1" fontAlgn="auto" latinLnBrk="0" hangingPunct="1">
              <a:lnSpc>
                <a:spcPct val="90000"/>
              </a:lnSpc>
              <a:spcBef>
                <a:spcPts val="1200"/>
              </a:spcBef>
              <a:spcAft>
                <a:spcPts val="0"/>
              </a:spcAft>
              <a:buClr>
                <a:srgbClr val="006C3B"/>
              </a:buClr>
              <a:buSzTx/>
              <a:buFont typeface="Wingdings 2" pitchFamily="18" charset="2"/>
              <a:buChar char=""/>
              <a:tabLst/>
              <a:defRPr/>
            </a:pPr>
            <a:r>
              <a:rPr kumimoji="0" lang="en-GB" sz="4100" b="0" i="0" u="none" strike="noStrike" kern="1200" cap="none" spc="0" normalizeH="0" baseline="0" noProof="0" dirty="0">
                <a:ln>
                  <a:noFill/>
                </a:ln>
                <a:solidFill>
                  <a:schemeClr val="tx1"/>
                </a:solidFill>
                <a:effectLst/>
                <a:uLnTx/>
                <a:uFillTx/>
                <a:latin typeface="Tw Cen MT" panose="020B0602020104020603" pitchFamily="34" charset="0"/>
              </a:rPr>
              <a:t>Used technology to craft an ultra-efficient model that provides farm-to-table freshness, massive product choice, and supply chain savings that neither traditional grocery stores, nor delivery firms, can match. </a:t>
            </a:r>
          </a:p>
          <a:p>
            <a:pPr marL="182880" marR="0" lvl="0" indent="-182880" algn="l" defTabSz="914400" rtl="0" eaLnBrk="1" fontAlgn="auto" latinLnBrk="0" hangingPunct="1">
              <a:lnSpc>
                <a:spcPct val="90000"/>
              </a:lnSpc>
              <a:spcBef>
                <a:spcPts val="1200"/>
              </a:spcBef>
              <a:spcAft>
                <a:spcPts val="0"/>
              </a:spcAft>
              <a:buClr>
                <a:srgbClr val="006C3B"/>
              </a:buClr>
              <a:buSzTx/>
              <a:buFont typeface="Wingdings 2" pitchFamily="18" charset="2"/>
              <a:buChar char=""/>
              <a:tabLst/>
              <a:defRPr/>
            </a:pPr>
            <a:r>
              <a:rPr kumimoji="0" lang="en-GB" sz="4100" b="0" i="0" u="none" strike="noStrike" kern="1200" cap="none" spc="0" normalizeH="0" baseline="0" noProof="0" dirty="0">
                <a:ln>
                  <a:noFill/>
                </a:ln>
                <a:solidFill>
                  <a:schemeClr val="tx1"/>
                </a:solidFill>
                <a:effectLst/>
                <a:uLnTx/>
                <a:uFillTx/>
                <a:latin typeface="Tw Cen MT" panose="020B0602020104020603" pitchFamily="34" charset="0"/>
              </a:rPr>
              <a:t>The </a:t>
            </a:r>
            <a:r>
              <a:rPr kumimoji="0" lang="en-GB" sz="4100" b="0" i="0" u="none" strike="noStrike" kern="1200" cap="none" spc="0" normalizeH="0" baseline="0" noProof="0" dirty="0" err="1">
                <a:ln>
                  <a:noFill/>
                </a:ln>
                <a:solidFill>
                  <a:schemeClr val="tx1"/>
                </a:solidFill>
                <a:effectLst/>
                <a:uLnTx/>
                <a:uFillTx/>
                <a:latin typeface="Tw Cen MT" panose="020B0602020104020603" pitchFamily="34" charset="0"/>
              </a:rPr>
              <a:t>FreshDirect</a:t>
            </a:r>
            <a:r>
              <a:rPr kumimoji="0" lang="en-GB" sz="4100" b="0" i="0" u="none" strike="noStrike" kern="1200" cap="none" spc="0" normalizeH="0" baseline="0" noProof="0" dirty="0">
                <a:ln>
                  <a:noFill/>
                </a:ln>
                <a:solidFill>
                  <a:schemeClr val="tx1"/>
                </a:solidFill>
                <a:effectLst/>
                <a:uLnTx/>
                <a:uFillTx/>
                <a:latin typeface="Tw Cen MT" panose="020B0602020104020603" pitchFamily="34" charset="0"/>
              </a:rPr>
              <a:t> model provides innovations such as:</a:t>
            </a:r>
          </a:p>
          <a:p>
            <a:pPr lvl="1">
              <a:spcBef>
                <a:spcPts val="1200"/>
              </a:spcBef>
              <a:spcAft>
                <a:spcPts val="0"/>
              </a:spcAft>
              <a:buClr>
                <a:srgbClr val="006C3B"/>
              </a:buClr>
              <a:defRPr/>
            </a:pPr>
            <a:r>
              <a:rPr kumimoji="0" lang="en-GB" sz="3400" b="0" i="0" u="none" strike="noStrike" kern="1200" cap="none" spc="0" normalizeH="0" baseline="0" noProof="0" dirty="0">
                <a:ln>
                  <a:noFill/>
                </a:ln>
                <a:solidFill>
                  <a:schemeClr val="tx1"/>
                </a:solidFill>
                <a:effectLst/>
                <a:uLnTx/>
                <a:uFillTx/>
                <a:latin typeface="Tw Cen MT" panose="020B0602020104020603" pitchFamily="34" charset="0"/>
              </a:rPr>
              <a:t>Worker shifts are highly efficient</a:t>
            </a:r>
          </a:p>
          <a:p>
            <a:pPr lvl="1">
              <a:spcBef>
                <a:spcPts val="1200"/>
              </a:spcBef>
              <a:spcAft>
                <a:spcPts val="0"/>
              </a:spcAft>
              <a:buClr>
                <a:srgbClr val="006C3B"/>
              </a:buClr>
              <a:defRPr/>
            </a:pPr>
            <a:r>
              <a:rPr kumimoji="0" lang="en-GB" sz="3400" b="0" i="0" u="none" strike="noStrike" kern="1200" cap="none" spc="0" normalizeH="0" baseline="0" noProof="0" dirty="0">
                <a:ln>
                  <a:noFill/>
                </a:ln>
                <a:solidFill>
                  <a:schemeClr val="tx1"/>
                </a:solidFill>
                <a:effectLst/>
                <a:uLnTx/>
                <a:uFillTx/>
                <a:latin typeface="Tw Cen MT" panose="020B0602020104020603" pitchFamily="34" charset="0"/>
              </a:rPr>
              <a:t>Firm buys and prepares its own goods</a:t>
            </a:r>
          </a:p>
          <a:p>
            <a:pPr lvl="1">
              <a:spcBef>
                <a:spcPts val="1200"/>
              </a:spcBef>
              <a:spcAft>
                <a:spcPts val="0"/>
              </a:spcAft>
              <a:buClr>
                <a:srgbClr val="006C3B"/>
              </a:buClr>
              <a:defRPr/>
            </a:pPr>
            <a:r>
              <a:rPr kumimoji="0" lang="en-GB" sz="3400" b="0" i="0" u="none" strike="noStrike" kern="1200" cap="none" spc="0" normalizeH="0" baseline="0" noProof="0" dirty="0">
                <a:ln>
                  <a:noFill/>
                </a:ln>
                <a:solidFill>
                  <a:schemeClr val="tx1"/>
                </a:solidFill>
                <a:effectLst/>
                <a:uLnTx/>
                <a:uFillTx/>
                <a:latin typeface="Tw Cen MT" panose="020B0602020104020603" pitchFamily="34" charset="0"/>
              </a:rPr>
              <a:t>Higher inventory turns: Number of times inventory is sold or used during a given period.</a:t>
            </a:r>
          </a:p>
          <a:p>
            <a:pPr lvl="1">
              <a:spcBef>
                <a:spcPts val="1200"/>
              </a:spcBef>
              <a:spcAft>
                <a:spcPts val="0"/>
              </a:spcAft>
              <a:buClr>
                <a:srgbClr val="006C3B"/>
              </a:buClr>
              <a:defRPr/>
            </a:pPr>
            <a:r>
              <a:rPr kumimoji="0" lang="en-GB" sz="3400" b="0" i="0" u="none" strike="noStrike" kern="1200" cap="none" spc="0" normalizeH="0" baseline="0" noProof="0" dirty="0">
                <a:ln>
                  <a:noFill/>
                </a:ln>
                <a:solidFill>
                  <a:schemeClr val="tx1"/>
                </a:solidFill>
                <a:effectLst/>
                <a:uLnTx/>
                <a:uFillTx/>
                <a:latin typeface="Tw Cen MT" panose="020B0602020104020603" pitchFamily="34" charset="0"/>
              </a:rPr>
              <a:t>Use of artificial intelligence and climate-controlled rooms</a:t>
            </a:r>
          </a:p>
          <a:p>
            <a:pPr lvl="1">
              <a:spcBef>
                <a:spcPts val="1200"/>
              </a:spcBef>
              <a:spcAft>
                <a:spcPts val="0"/>
              </a:spcAft>
              <a:buClr>
                <a:srgbClr val="006C3B"/>
              </a:buClr>
              <a:defRPr/>
            </a:pPr>
            <a:r>
              <a:rPr kumimoji="0" lang="en-GB" sz="3400" b="0" i="0" u="none" strike="noStrike" kern="1200" cap="none" spc="0" normalizeH="0" baseline="0" noProof="0" dirty="0">
                <a:ln>
                  <a:noFill/>
                </a:ln>
                <a:solidFill>
                  <a:schemeClr val="tx1"/>
                </a:solidFill>
                <a:effectLst/>
                <a:uLnTx/>
                <a:uFillTx/>
                <a:latin typeface="Tw Cen MT" panose="020B0602020104020603" pitchFamily="34" charset="0"/>
              </a:rPr>
              <a:t>In exchange, they receive more favourable supplier terms</a:t>
            </a:r>
          </a:p>
          <a:p>
            <a:pPr lvl="1">
              <a:spcBef>
                <a:spcPts val="1200"/>
              </a:spcBef>
              <a:spcAft>
                <a:spcPts val="0"/>
              </a:spcAft>
              <a:buClr>
                <a:srgbClr val="006C3B"/>
              </a:buClr>
              <a:defRPr/>
            </a:pPr>
            <a:r>
              <a:rPr kumimoji="0" lang="en-GB" sz="3400" b="0" i="0" u="none" strike="noStrike" kern="1200" cap="none" spc="0" normalizeH="0" baseline="0" noProof="0" dirty="0">
                <a:ln>
                  <a:noFill/>
                </a:ln>
                <a:solidFill>
                  <a:schemeClr val="tx1"/>
                </a:solidFill>
                <a:effectLst/>
                <a:uLnTx/>
                <a:uFillTx/>
                <a:latin typeface="Tw Cen MT" panose="020B0602020104020603" pitchFamily="34" charset="0"/>
              </a:rPr>
              <a:t>Sharing data to improve supplier sales and operations</a:t>
            </a:r>
          </a:p>
          <a:p>
            <a:pPr lvl="1">
              <a:spcBef>
                <a:spcPts val="1200"/>
              </a:spcBef>
              <a:spcAft>
                <a:spcPts val="0"/>
              </a:spcAft>
              <a:buClr>
                <a:srgbClr val="006C3B"/>
              </a:buClr>
              <a:defRPr/>
            </a:pPr>
            <a:r>
              <a:rPr kumimoji="0" lang="en-GB" sz="3400" b="0" i="0" u="none" strike="noStrike" kern="1200" cap="none" spc="0" normalizeH="0" baseline="0" noProof="0" dirty="0">
                <a:ln>
                  <a:noFill/>
                </a:ln>
                <a:solidFill>
                  <a:schemeClr val="tx1"/>
                </a:solidFill>
                <a:effectLst/>
                <a:uLnTx/>
                <a:uFillTx/>
                <a:latin typeface="Tw Cen MT" panose="020B0602020104020603" pitchFamily="34" charset="0"/>
              </a:rPr>
              <a:t>Paying in days rather than in weeks</a:t>
            </a:r>
          </a:p>
          <a:p>
            <a:pPr marL="685800" marR="0" lvl="1" indent="-182880" algn="l" defTabSz="914400" rtl="0" eaLnBrk="1" fontAlgn="auto" latinLnBrk="0" hangingPunct="1">
              <a:lnSpc>
                <a:spcPct val="90000"/>
              </a:lnSpc>
              <a:spcBef>
                <a:spcPts val="250"/>
              </a:spcBef>
              <a:spcAft>
                <a:spcPts val="250"/>
              </a:spcAft>
              <a:buClr>
                <a:srgbClr val="C0504D"/>
              </a:buClr>
              <a:buSzTx/>
              <a:buFont typeface="Wingdings 2" pitchFamily="18" charset="2"/>
              <a:buChar char=""/>
              <a:tabLst/>
              <a:defRPr/>
            </a:pPr>
            <a:endParaRPr kumimoji="0" lang="en-ZA" sz="3200" b="0" i="0" u="none" strike="noStrike" kern="1200" cap="none" spc="0" normalizeH="0" baseline="0" noProof="0" dirty="0">
              <a:ln>
                <a:noFill/>
              </a:ln>
              <a:solidFill>
                <a:sysClr val="windowText" lastClr="000000">
                  <a:lumMod val="65000"/>
                  <a:lumOff val="35000"/>
                </a:sysClr>
              </a:solidFill>
              <a:effectLst/>
              <a:uLnTx/>
              <a:uFillTx/>
              <a:latin typeface="Corbel" panose="020B0503020204020204"/>
              <a:ea typeface="+mn-ea"/>
              <a:cs typeface="+mn-cs"/>
            </a:endParaRPr>
          </a:p>
        </p:txBody>
      </p:sp>
      <p:sp>
        <p:nvSpPr>
          <p:cNvPr id="8" name="TextBox 13">
            <a:extLst>
              <a:ext uri="{FF2B5EF4-FFF2-40B4-BE49-F238E27FC236}">
                <a16:creationId xmlns:a16="http://schemas.microsoft.com/office/drawing/2014/main" id="{A985F3D3-B3FF-48F7-984B-1E145CE76B2E}"/>
              </a:ext>
            </a:extLst>
          </p:cNvPr>
          <p:cNvSpPr txBox="1"/>
          <p:nvPr/>
        </p:nvSpPr>
        <p:spPr>
          <a:xfrm rot="16200000">
            <a:off x="10042132" y="5452308"/>
            <a:ext cx="3908857" cy="252249"/>
          </a:xfrm>
          <a:prstGeom prst="rect">
            <a:avLst/>
          </a:prstGeom>
        </p:spPr>
        <p:txBody>
          <a:bodyPr lIns="0" tIns="0" rIns="0" bIns="0" rtlCol="0" anchor="t">
            <a:spAutoFit/>
          </a:bodyPr>
          <a:lstStyle/>
          <a:p>
            <a:pPr algn="r" defTabSz="609630">
              <a:lnSpc>
                <a:spcPts val="2239"/>
              </a:lnSpc>
              <a:spcBef>
                <a:spcPct val="0"/>
              </a:spcBef>
            </a:pPr>
            <a:r>
              <a:rPr lang="en-US" sz="1200" dirty="0">
                <a:solidFill>
                  <a:srgbClr val="1B1B1B"/>
                </a:solidFill>
                <a:latin typeface="Halant Medium"/>
              </a:rPr>
              <a:t>Wrap Up| 20 May 2026</a:t>
            </a:r>
          </a:p>
        </p:txBody>
      </p:sp>
    </p:spTree>
    <p:extLst>
      <p:ext uri="{BB962C8B-B14F-4D97-AF65-F5344CB8AC3E}">
        <p14:creationId xmlns:p14="http://schemas.microsoft.com/office/powerpoint/2010/main" val="94504703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1" name="Picture 20">
            <a:extLst>
              <a:ext uri="{FF2B5EF4-FFF2-40B4-BE49-F238E27FC236}">
                <a16:creationId xmlns:a16="http://schemas.microsoft.com/office/drawing/2014/main" id="{BACFB3DE-2320-4C6A-B3EE-473868C19823}"/>
              </a:ext>
            </a:extLst>
          </p:cNvPr>
          <p:cNvPicPr>
            <a:picLocks noChangeAspect="1"/>
          </p:cNvPicPr>
          <p:nvPr/>
        </p:nvPicPr>
        <p:blipFill>
          <a:blip r:embed="rId3"/>
          <a:stretch>
            <a:fillRect/>
          </a:stretch>
        </p:blipFill>
        <p:spPr>
          <a:xfrm>
            <a:off x="0" y="-9606"/>
            <a:ext cx="3278725" cy="6858000"/>
          </a:xfrm>
          <a:prstGeom prst="rect">
            <a:avLst/>
          </a:prstGeom>
        </p:spPr>
      </p:pic>
      <p:sp>
        <p:nvSpPr>
          <p:cNvPr id="34" name="TextBox 2">
            <a:extLst>
              <a:ext uri="{FF2B5EF4-FFF2-40B4-BE49-F238E27FC236}">
                <a16:creationId xmlns:a16="http://schemas.microsoft.com/office/drawing/2014/main" id="{74F77639-4627-4280-A447-310CD9B63EA4}"/>
              </a:ext>
            </a:extLst>
          </p:cNvPr>
          <p:cNvSpPr txBox="1"/>
          <p:nvPr/>
        </p:nvSpPr>
        <p:spPr>
          <a:xfrm>
            <a:off x="-338741" y="2142042"/>
            <a:ext cx="3956206" cy="692497"/>
          </a:xfrm>
          <a:prstGeom prst="rect">
            <a:avLst/>
          </a:prstGeom>
        </p:spPr>
        <p:txBody>
          <a:bodyPr lIns="0" tIns="0" rIns="0" bIns="0" rtlCol="0" anchor="t">
            <a:spAutoFit/>
          </a:bodyPr>
          <a:lstStyle/>
          <a:p>
            <a:pPr algn="ctr" defTabSz="609630"/>
            <a:r>
              <a:rPr lang="en-GB" sz="4500" b="1" dirty="0">
                <a:solidFill>
                  <a:schemeClr val="bg1">
                    <a:lumMod val="85000"/>
                  </a:schemeClr>
                </a:solidFill>
                <a:latin typeface="Tw Cen MT" panose="020B0602020104020603" pitchFamily="34" charset="0"/>
              </a:rPr>
              <a:t>Zara</a:t>
            </a:r>
          </a:p>
        </p:txBody>
      </p:sp>
      <p:sp>
        <p:nvSpPr>
          <p:cNvPr id="112" name="Oval 111">
            <a:extLst>
              <a:ext uri="{FF2B5EF4-FFF2-40B4-BE49-F238E27FC236}">
                <a16:creationId xmlns:a16="http://schemas.microsoft.com/office/drawing/2014/main" id="{490BD17F-D8A3-4786-8A16-629F3D7A22B0}"/>
              </a:ext>
            </a:extLst>
          </p:cNvPr>
          <p:cNvSpPr/>
          <p:nvPr/>
        </p:nvSpPr>
        <p:spPr>
          <a:xfrm>
            <a:off x="10955045" y="204186"/>
            <a:ext cx="540000" cy="468000"/>
          </a:xfrm>
          <a:prstGeom prst="ellipse">
            <a:avLst/>
          </a:prstGeom>
          <a:solidFill>
            <a:srgbClr val="006C3B"/>
          </a:solidFill>
          <a:ln>
            <a:solidFill>
              <a:srgbClr val="006C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dirty="0"/>
              <a:t>V</a:t>
            </a:r>
            <a:endParaRPr lang="en-ZA" sz="1400" dirty="0"/>
          </a:p>
        </p:txBody>
      </p:sp>
      <p:sp>
        <p:nvSpPr>
          <p:cNvPr id="24" name="Rectangle 23">
            <a:extLst>
              <a:ext uri="{FF2B5EF4-FFF2-40B4-BE49-F238E27FC236}">
                <a16:creationId xmlns:a16="http://schemas.microsoft.com/office/drawing/2014/main" id="{BCDC1D76-78B2-489D-9067-D9D3DB168F69}"/>
              </a:ext>
            </a:extLst>
          </p:cNvPr>
          <p:cNvSpPr/>
          <p:nvPr/>
        </p:nvSpPr>
        <p:spPr>
          <a:xfrm>
            <a:off x="8878" y="6702642"/>
            <a:ext cx="12168000" cy="180000"/>
          </a:xfrm>
          <a:prstGeom prst="rect">
            <a:avLst/>
          </a:prstGeom>
          <a:solidFill>
            <a:srgbClr val="006C3B"/>
          </a:solidFill>
          <a:ln>
            <a:solidFill>
              <a:srgbClr val="006C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9" name="Content Placeholder 2">
            <a:extLst>
              <a:ext uri="{FF2B5EF4-FFF2-40B4-BE49-F238E27FC236}">
                <a16:creationId xmlns:a16="http://schemas.microsoft.com/office/drawing/2014/main" id="{72BB178F-CDDF-45D5-8E6B-37EB84DFD7C7}"/>
              </a:ext>
            </a:extLst>
          </p:cNvPr>
          <p:cNvSpPr txBox="1">
            <a:spLocks/>
          </p:cNvSpPr>
          <p:nvPr/>
        </p:nvSpPr>
        <p:spPr>
          <a:xfrm>
            <a:off x="3869267" y="486888"/>
            <a:ext cx="7823535" cy="5869462"/>
          </a:xfrm>
          <a:prstGeom prst="rect">
            <a:avLst/>
          </a:prstGeom>
        </p:spPr>
        <p:txBody>
          <a:bodyPr vert="horz" lIns="91440" tIns="45720" rIns="91440" bIns="45720" rtlCol="0" anchor="ctr">
            <a:noAutofit/>
          </a:bodyPr>
          <a:lstStyle>
            <a:lvl1pPr marL="182880" indent="-182880" algn="l" defTabSz="914400" rtl="0" eaLnBrk="1" latinLnBrk="0" hangingPunct="1">
              <a:lnSpc>
                <a:spcPct val="90000"/>
              </a:lnSpc>
              <a:spcBef>
                <a:spcPts val="1200"/>
              </a:spcBef>
              <a:buClr>
                <a:schemeClr val="accent1"/>
              </a:buClr>
              <a:buFont typeface="Wingdings 2" pitchFamily="18" charset="2"/>
              <a:buChar char=""/>
              <a:defRPr sz="3600" kern="1200">
                <a:solidFill>
                  <a:schemeClr val="tx1">
                    <a:lumMod val="65000"/>
                    <a:lumOff val="35000"/>
                  </a:schemeClr>
                </a:solidFill>
                <a:latin typeface="+mn-lt"/>
                <a:ea typeface="+mn-ea"/>
                <a:cs typeface="+mn-cs"/>
              </a:defRPr>
            </a:lvl1pPr>
            <a:lvl2pPr marL="6858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3200" kern="1200">
                <a:solidFill>
                  <a:schemeClr val="tx1">
                    <a:lumMod val="65000"/>
                    <a:lumOff val="35000"/>
                  </a:schemeClr>
                </a:solidFill>
                <a:latin typeface="+mn-lt"/>
                <a:ea typeface="+mn-ea"/>
                <a:cs typeface="+mn-cs"/>
              </a:defRPr>
            </a:lvl2pPr>
            <a:lvl3pPr marL="11430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2800" kern="1200">
                <a:solidFill>
                  <a:schemeClr val="tx1">
                    <a:lumMod val="65000"/>
                    <a:lumOff val="35000"/>
                  </a:schemeClr>
                </a:solidFill>
                <a:latin typeface="+mn-lt"/>
                <a:ea typeface="+mn-ea"/>
                <a:cs typeface="+mn-cs"/>
              </a:defRPr>
            </a:lvl3pPr>
            <a:lvl4pPr marL="16002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2400" kern="1200">
                <a:solidFill>
                  <a:schemeClr val="tx1">
                    <a:lumMod val="65000"/>
                    <a:lumOff val="35000"/>
                  </a:schemeClr>
                </a:solidFill>
                <a:latin typeface="+mn-lt"/>
                <a:ea typeface="+mn-ea"/>
                <a:cs typeface="+mn-cs"/>
              </a:defRPr>
            </a:lvl4pPr>
            <a:lvl5pPr marL="20574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2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6pPr>
            <a:lvl7pPr marL="29718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7pPr>
            <a:lvl8pPr marL="34290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8pPr>
            <a:lvl9pPr marL="38862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9pPr>
          </a:lstStyle>
          <a:p>
            <a:pPr marL="182880" marR="0" lvl="0" indent="-182880" algn="l" defTabSz="914400" rtl="0" eaLnBrk="1" fontAlgn="auto" latinLnBrk="0" hangingPunct="1">
              <a:lnSpc>
                <a:spcPct val="90000"/>
              </a:lnSpc>
              <a:spcBef>
                <a:spcPts val="1200"/>
              </a:spcBef>
              <a:spcAft>
                <a:spcPts val="0"/>
              </a:spcAft>
              <a:buClr>
                <a:srgbClr val="006C3B"/>
              </a:buClr>
              <a:buSzTx/>
              <a:buFont typeface="Wingdings 2" pitchFamily="18" charset="2"/>
              <a:buChar char=""/>
              <a:tabLst/>
              <a:defRPr/>
            </a:pPr>
            <a:r>
              <a:rPr kumimoji="0" lang="en-GB" b="0" i="0" u="none" strike="noStrike" kern="1200" cap="none" spc="0" normalizeH="0" baseline="0" noProof="0" dirty="0">
                <a:ln>
                  <a:noFill/>
                </a:ln>
                <a:solidFill>
                  <a:schemeClr val="tx1"/>
                </a:solidFill>
                <a:effectLst/>
                <a:uLnTx/>
                <a:uFillTx/>
                <a:latin typeface="Tw Cen MT" panose="020B0602020104020603" pitchFamily="34" charset="0"/>
              </a:rPr>
              <a:t>Zara Operations</a:t>
            </a:r>
          </a:p>
          <a:p>
            <a:pPr lvl="1">
              <a:spcBef>
                <a:spcPts val="1200"/>
              </a:spcBef>
              <a:spcAft>
                <a:spcPts val="0"/>
              </a:spcAft>
              <a:buClr>
                <a:srgbClr val="006C3B"/>
              </a:buClr>
              <a:defRPr/>
            </a:pPr>
            <a:r>
              <a:rPr lang="en-GB" sz="2800" dirty="0">
                <a:solidFill>
                  <a:schemeClr val="tx1"/>
                </a:solidFill>
                <a:latin typeface="Tw Cen MT" panose="020B0602020104020603" pitchFamily="34" charset="0"/>
              </a:rPr>
              <a:t>In store – use of technology, staff scheduling, data gathering, limited production runs</a:t>
            </a:r>
          </a:p>
          <a:p>
            <a:pPr lvl="1">
              <a:spcBef>
                <a:spcPts val="1200"/>
              </a:spcBef>
              <a:spcAft>
                <a:spcPts val="0"/>
              </a:spcAft>
              <a:buClr>
                <a:srgbClr val="006C3B"/>
              </a:buClr>
              <a:defRPr/>
            </a:pPr>
            <a:r>
              <a:rPr kumimoji="0" lang="en-GB" sz="2800" b="0" i="0" u="none" strike="noStrike" kern="1200" cap="none" spc="0" normalizeH="0" baseline="0" noProof="0" dirty="0">
                <a:ln>
                  <a:noFill/>
                </a:ln>
                <a:solidFill>
                  <a:schemeClr val="tx1"/>
                </a:solidFill>
                <a:effectLst/>
                <a:uLnTx/>
                <a:uFillTx/>
                <a:latin typeface="Tw Cen MT" panose="020B0602020104020603" pitchFamily="34" charset="0"/>
              </a:rPr>
              <a:t>Design – data gathered is used to make design decisions even store front design decisions, team rotations and younger designers employed</a:t>
            </a:r>
          </a:p>
          <a:p>
            <a:pPr lvl="1">
              <a:spcBef>
                <a:spcPts val="1200"/>
              </a:spcBef>
              <a:spcAft>
                <a:spcPts val="0"/>
              </a:spcAft>
              <a:buClr>
                <a:srgbClr val="006C3B"/>
              </a:buClr>
              <a:defRPr/>
            </a:pPr>
            <a:r>
              <a:rPr lang="en-GB" sz="2800" dirty="0">
                <a:solidFill>
                  <a:schemeClr val="tx1"/>
                </a:solidFill>
                <a:latin typeface="Tw Cen MT" panose="020B0602020104020603" pitchFamily="34" charset="0"/>
              </a:rPr>
              <a:t>Manufacturing and Logistics – design to production in 15 days, inventory optimisation, RFID tags, technology-orchestrated coordination of suppliers, Just-in-time manufacturing, finely tuned logistics.</a:t>
            </a:r>
          </a:p>
          <a:p>
            <a:pPr marL="182880" marR="0" lvl="0" indent="-182880" algn="l" defTabSz="914400" rtl="0" eaLnBrk="1" fontAlgn="auto" latinLnBrk="0" hangingPunct="1">
              <a:lnSpc>
                <a:spcPct val="90000"/>
              </a:lnSpc>
              <a:spcBef>
                <a:spcPts val="1200"/>
              </a:spcBef>
              <a:spcAft>
                <a:spcPts val="0"/>
              </a:spcAft>
              <a:buClr>
                <a:srgbClr val="006C3B"/>
              </a:buClr>
              <a:buSzTx/>
              <a:buFont typeface="Wingdings 2" pitchFamily="18" charset="2"/>
              <a:buChar char=""/>
              <a:tabLst/>
              <a:defRPr/>
            </a:pPr>
            <a:r>
              <a:rPr lang="en-GB" dirty="0">
                <a:solidFill>
                  <a:schemeClr val="tx1"/>
                </a:solidFill>
                <a:latin typeface="Tw Cen MT" panose="020B0602020104020603" pitchFamily="34" charset="0"/>
              </a:rPr>
              <a:t>Vertical Integration</a:t>
            </a:r>
          </a:p>
          <a:p>
            <a:pPr marL="182880" marR="0" lvl="0" indent="-182880" algn="l" defTabSz="914400" rtl="0" eaLnBrk="1" fontAlgn="auto" latinLnBrk="0" hangingPunct="1">
              <a:lnSpc>
                <a:spcPct val="90000"/>
              </a:lnSpc>
              <a:spcBef>
                <a:spcPts val="1200"/>
              </a:spcBef>
              <a:spcAft>
                <a:spcPts val="0"/>
              </a:spcAft>
              <a:buClr>
                <a:srgbClr val="006C3B"/>
              </a:buClr>
              <a:buSzTx/>
              <a:buFont typeface="Wingdings 2" pitchFamily="18" charset="2"/>
              <a:buChar char=""/>
              <a:tabLst/>
              <a:defRPr/>
            </a:pPr>
            <a:r>
              <a:rPr lang="en-GB" dirty="0">
                <a:solidFill>
                  <a:schemeClr val="tx1"/>
                </a:solidFill>
                <a:latin typeface="Tw Cen MT" panose="020B0602020104020603" pitchFamily="34" charset="0"/>
              </a:rPr>
              <a:t>Omni-channel strategy</a:t>
            </a:r>
          </a:p>
          <a:p>
            <a:pPr marL="182880" marR="0" lvl="0" indent="-182880" algn="l" defTabSz="914400" rtl="0" eaLnBrk="1" fontAlgn="auto" latinLnBrk="0" hangingPunct="1">
              <a:lnSpc>
                <a:spcPct val="90000"/>
              </a:lnSpc>
              <a:spcBef>
                <a:spcPts val="1200"/>
              </a:spcBef>
              <a:spcAft>
                <a:spcPts val="0"/>
              </a:spcAft>
              <a:buClr>
                <a:srgbClr val="006C3B"/>
              </a:buClr>
              <a:buSzTx/>
              <a:buFont typeface="Wingdings 2" pitchFamily="18" charset="2"/>
              <a:buChar char=""/>
              <a:tabLst/>
              <a:defRPr/>
            </a:pPr>
            <a:endParaRPr kumimoji="0" lang="en-ZA" b="0" i="0" u="none" strike="noStrike" kern="1200" cap="none" spc="0" normalizeH="0" baseline="0" noProof="0" dirty="0">
              <a:ln>
                <a:noFill/>
              </a:ln>
              <a:solidFill>
                <a:schemeClr val="tx1"/>
              </a:solidFill>
              <a:effectLst/>
              <a:uLnTx/>
              <a:uFillTx/>
              <a:latin typeface="Tw Cen MT" panose="020B0602020104020603" pitchFamily="34" charset="0"/>
            </a:endParaRPr>
          </a:p>
        </p:txBody>
      </p:sp>
      <p:sp>
        <p:nvSpPr>
          <p:cNvPr id="8" name="TextBox 13">
            <a:extLst>
              <a:ext uri="{FF2B5EF4-FFF2-40B4-BE49-F238E27FC236}">
                <a16:creationId xmlns:a16="http://schemas.microsoft.com/office/drawing/2014/main" id="{736911C1-66BE-459F-A976-2A42ADCF058F}"/>
              </a:ext>
            </a:extLst>
          </p:cNvPr>
          <p:cNvSpPr txBox="1"/>
          <p:nvPr/>
        </p:nvSpPr>
        <p:spPr>
          <a:xfrm rot="16200000">
            <a:off x="10042132" y="5452308"/>
            <a:ext cx="3908857" cy="252249"/>
          </a:xfrm>
          <a:prstGeom prst="rect">
            <a:avLst/>
          </a:prstGeom>
        </p:spPr>
        <p:txBody>
          <a:bodyPr lIns="0" tIns="0" rIns="0" bIns="0" rtlCol="0" anchor="t">
            <a:spAutoFit/>
          </a:bodyPr>
          <a:lstStyle/>
          <a:p>
            <a:pPr algn="r" defTabSz="609630">
              <a:lnSpc>
                <a:spcPts val="2239"/>
              </a:lnSpc>
              <a:spcBef>
                <a:spcPct val="0"/>
              </a:spcBef>
            </a:pPr>
            <a:r>
              <a:rPr lang="en-US" sz="1200" dirty="0">
                <a:solidFill>
                  <a:srgbClr val="1B1B1B"/>
                </a:solidFill>
                <a:latin typeface="Halant Medium"/>
              </a:rPr>
              <a:t>Wrap Up| 20 May 2026</a:t>
            </a:r>
          </a:p>
        </p:txBody>
      </p:sp>
    </p:spTree>
    <p:extLst>
      <p:ext uri="{BB962C8B-B14F-4D97-AF65-F5344CB8AC3E}">
        <p14:creationId xmlns:p14="http://schemas.microsoft.com/office/powerpoint/2010/main" val="25590135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1" name="Picture 20">
            <a:extLst>
              <a:ext uri="{FF2B5EF4-FFF2-40B4-BE49-F238E27FC236}">
                <a16:creationId xmlns:a16="http://schemas.microsoft.com/office/drawing/2014/main" id="{BACFB3DE-2320-4C6A-B3EE-473868C19823}"/>
              </a:ext>
            </a:extLst>
          </p:cNvPr>
          <p:cNvPicPr>
            <a:picLocks noChangeAspect="1"/>
          </p:cNvPicPr>
          <p:nvPr/>
        </p:nvPicPr>
        <p:blipFill>
          <a:blip r:embed="rId3"/>
          <a:stretch>
            <a:fillRect/>
          </a:stretch>
        </p:blipFill>
        <p:spPr>
          <a:xfrm>
            <a:off x="0" y="-9606"/>
            <a:ext cx="3278725" cy="6858000"/>
          </a:xfrm>
          <a:prstGeom prst="rect">
            <a:avLst/>
          </a:prstGeom>
        </p:spPr>
      </p:pic>
      <p:sp>
        <p:nvSpPr>
          <p:cNvPr id="34" name="TextBox 2">
            <a:extLst>
              <a:ext uri="{FF2B5EF4-FFF2-40B4-BE49-F238E27FC236}">
                <a16:creationId xmlns:a16="http://schemas.microsoft.com/office/drawing/2014/main" id="{74F77639-4627-4280-A447-310CD9B63EA4}"/>
              </a:ext>
            </a:extLst>
          </p:cNvPr>
          <p:cNvSpPr txBox="1"/>
          <p:nvPr/>
        </p:nvSpPr>
        <p:spPr>
          <a:xfrm>
            <a:off x="38342" y="1459339"/>
            <a:ext cx="3132846" cy="1384995"/>
          </a:xfrm>
          <a:prstGeom prst="rect">
            <a:avLst/>
          </a:prstGeom>
        </p:spPr>
        <p:txBody>
          <a:bodyPr wrap="square" lIns="0" tIns="0" rIns="0" bIns="0" rtlCol="0" anchor="t">
            <a:spAutoFit/>
          </a:bodyPr>
          <a:lstStyle/>
          <a:p>
            <a:pPr algn="ctr" defTabSz="609630"/>
            <a:r>
              <a:rPr lang="en-GB" sz="4500" b="1" dirty="0">
                <a:solidFill>
                  <a:schemeClr val="bg1">
                    <a:lumMod val="85000"/>
                  </a:schemeClr>
                </a:solidFill>
                <a:latin typeface="Tw Cen MT" panose="020B0602020104020603" pitchFamily="34" charset="0"/>
              </a:rPr>
              <a:t>Faster and Cheaper IT</a:t>
            </a:r>
          </a:p>
        </p:txBody>
      </p:sp>
      <p:sp>
        <p:nvSpPr>
          <p:cNvPr id="32" name="Oval 31">
            <a:extLst>
              <a:ext uri="{FF2B5EF4-FFF2-40B4-BE49-F238E27FC236}">
                <a16:creationId xmlns:a16="http://schemas.microsoft.com/office/drawing/2014/main" id="{19049F43-33AE-4D91-9801-CFE1B23ABE95}"/>
              </a:ext>
            </a:extLst>
          </p:cNvPr>
          <p:cNvSpPr/>
          <p:nvPr/>
        </p:nvSpPr>
        <p:spPr>
          <a:xfrm>
            <a:off x="10964387" y="178214"/>
            <a:ext cx="540000" cy="468000"/>
          </a:xfrm>
          <a:prstGeom prst="ellipse">
            <a:avLst/>
          </a:prstGeom>
          <a:solidFill>
            <a:srgbClr val="006C3B"/>
          </a:solidFill>
          <a:ln>
            <a:solidFill>
              <a:srgbClr val="006C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dirty="0"/>
              <a:t>VI</a:t>
            </a:r>
            <a:endParaRPr lang="en-ZA" sz="1400" dirty="0"/>
          </a:p>
        </p:txBody>
      </p:sp>
      <p:sp>
        <p:nvSpPr>
          <p:cNvPr id="24" name="Rectangle 23">
            <a:extLst>
              <a:ext uri="{FF2B5EF4-FFF2-40B4-BE49-F238E27FC236}">
                <a16:creationId xmlns:a16="http://schemas.microsoft.com/office/drawing/2014/main" id="{67FFFAEC-23B7-4BEF-992E-DA872773D34B}"/>
              </a:ext>
            </a:extLst>
          </p:cNvPr>
          <p:cNvSpPr/>
          <p:nvPr/>
        </p:nvSpPr>
        <p:spPr>
          <a:xfrm>
            <a:off x="8878" y="6720398"/>
            <a:ext cx="12168000" cy="180000"/>
          </a:xfrm>
          <a:prstGeom prst="rect">
            <a:avLst/>
          </a:prstGeom>
          <a:solidFill>
            <a:srgbClr val="006C3B"/>
          </a:solidFill>
          <a:ln>
            <a:solidFill>
              <a:srgbClr val="006C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2" name="TextBox 1">
            <a:extLst>
              <a:ext uri="{FF2B5EF4-FFF2-40B4-BE49-F238E27FC236}">
                <a16:creationId xmlns:a16="http://schemas.microsoft.com/office/drawing/2014/main" id="{B72D84DF-4CE7-4676-94E6-BB1464204783}"/>
              </a:ext>
            </a:extLst>
          </p:cNvPr>
          <p:cNvSpPr txBox="1"/>
          <p:nvPr/>
        </p:nvSpPr>
        <p:spPr>
          <a:xfrm>
            <a:off x="3657600" y="1459339"/>
            <a:ext cx="8212836" cy="4524315"/>
          </a:xfrm>
          <a:prstGeom prst="rect">
            <a:avLst/>
          </a:prstGeom>
          <a:noFill/>
        </p:spPr>
        <p:txBody>
          <a:bodyPr wrap="square" rtlCol="0">
            <a:spAutoFit/>
          </a:bodyPr>
          <a:lstStyle/>
          <a:p>
            <a:pPr marL="457200" indent="-457200">
              <a:buClr>
                <a:srgbClr val="006C3B"/>
              </a:buClr>
              <a:buFont typeface="Arial" panose="020B0604020202020204" pitchFamily="34" charset="0"/>
              <a:buChar char="•"/>
            </a:pPr>
            <a:r>
              <a:rPr lang="en-GB" sz="3200" dirty="0">
                <a:latin typeface="Tw Cen MT" panose="020B0602020104020603" pitchFamily="34" charset="0"/>
              </a:rPr>
              <a:t>Moore’s law</a:t>
            </a:r>
          </a:p>
          <a:p>
            <a:pPr marL="457200" indent="-457200">
              <a:buClr>
                <a:srgbClr val="006C3B"/>
              </a:buClr>
              <a:buFont typeface="Arial" panose="020B0604020202020204" pitchFamily="34" charset="0"/>
              <a:buChar char="•"/>
            </a:pPr>
            <a:r>
              <a:rPr lang="en-GB" sz="3200" dirty="0">
                <a:latin typeface="Tw Cen MT" panose="020B0602020104020603" pitchFamily="34" charset="0"/>
              </a:rPr>
              <a:t>Advancing rate of technology – processor, storage and Internet</a:t>
            </a:r>
          </a:p>
          <a:p>
            <a:pPr marL="457200" indent="-457200">
              <a:buClr>
                <a:srgbClr val="006C3B"/>
              </a:buClr>
              <a:buFont typeface="Arial" panose="020B0604020202020204" pitchFamily="34" charset="0"/>
              <a:buChar char="•"/>
            </a:pPr>
            <a:r>
              <a:rPr lang="en-GB" sz="3200" dirty="0">
                <a:latin typeface="Tw Cen MT" panose="020B0602020104020603" pitchFamily="34" charset="0"/>
              </a:rPr>
              <a:t>Waves of Computing</a:t>
            </a:r>
          </a:p>
          <a:p>
            <a:pPr marL="457200" indent="-457200">
              <a:buClr>
                <a:srgbClr val="006C3B"/>
              </a:buClr>
              <a:buFont typeface="Arial" panose="020B0604020202020204" pitchFamily="34" charset="0"/>
              <a:buChar char="•"/>
            </a:pPr>
            <a:r>
              <a:rPr lang="en-GB" sz="3200" dirty="0">
                <a:latin typeface="Tw Cen MT" panose="020B0602020104020603" pitchFamily="34" charset="0"/>
              </a:rPr>
              <a:t>Internet of things</a:t>
            </a:r>
          </a:p>
          <a:p>
            <a:pPr marL="457200" indent="-457200">
              <a:buClr>
                <a:srgbClr val="006C3B"/>
              </a:buClr>
              <a:buFont typeface="Arial" panose="020B0604020202020204" pitchFamily="34" charset="0"/>
              <a:buChar char="•"/>
            </a:pPr>
            <a:r>
              <a:rPr lang="en-GB" sz="3200" dirty="0">
                <a:latin typeface="Tw Cen MT" panose="020B0602020104020603" pitchFamily="34" charset="0"/>
              </a:rPr>
              <a:t>Moore’s Law and management</a:t>
            </a:r>
          </a:p>
          <a:p>
            <a:pPr marL="457200" indent="-457200">
              <a:buClr>
                <a:srgbClr val="006C3B"/>
              </a:buClr>
              <a:buFont typeface="Arial" panose="020B0604020202020204" pitchFamily="34" charset="0"/>
              <a:buChar char="•"/>
            </a:pPr>
            <a:r>
              <a:rPr lang="en-GB" sz="3200" dirty="0">
                <a:latin typeface="Tw Cen MT" panose="020B0602020104020603" pitchFamily="34" charset="0"/>
              </a:rPr>
              <a:t>Threat to Moore’s Law</a:t>
            </a:r>
          </a:p>
          <a:p>
            <a:pPr marL="457200" indent="-457200">
              <a:buClr>
                <a:srgbClr val="006C3B"/>
              </a:buClr>
              <a:buFont typeface="Arial" panose="020B0604020202020204" pitchFamily="34" charset="0"/>
              <a:buChar char="•"/>
            </a:pPr>
            <a:r>
              <a:rPr lang="en-GB" sz="3200" dirty="0">
                <a:latin typeface="Tw Cen MT" panose="020B0602020104020603" pitchFamily="34" charset="0"/>
              </a:rPr>
              <a:t>Overcoming Moore’s Law</a:t>
            </a:r>
          </a:p>
          <a:p>
            <a:pPr marL="457200" indent="-457200">
              <a:buClr>
                <a:srgbClr val="006C3B"/>
              </a:buClr>
              <a:buFont typeface="Arial" panose="020B0604020202020204" pitchFamily="34" charset="0"/>
              <a:buChar char="•"/>
            </a:pPr>
            <a:r>
              <a:rPr lang="en-GB" sz="3200" dirty="0">
                <a:latin typeface="Tw Cen MT" panose="020B0602020104020603" pitchFamily="34" charset="0"/>
              </a:rPr>
              <a:t>E-waste</a:t>
            </a:r>
            <a:endParaRPr lang="en-ZA" sz="3200" dirty="0">
              <a:latin typeface="Tw Cen MT" panose="020B0602020104020603" pitchFamily="34" charset="0"/>
            </a:endParaRPr>
          </a:p>
        </p:txBody>
      </p:sp>
      <p:sp>
        <p:nvSpPr>
          <p:cNvPr id="8" name="TextBox 13">
            <a:extLst>
              <a:ext uri="{FF2B5EF4-FFF2-40B4-BE49-F238E27FC236}">
                <a16:creationId xmlns:a16="http://schemas.microsoft.com/office/drawing/2014/main" id="{CCBC316D-313E-45F7-A710-DFD0365B14C3}"/>
              </a:ext>
            </a:extLst>
          </p:cNvPr>
          <p:cNvSpPr txBox="1"/>
          <p:nvPr/>
        </p:nvSpPr>
        <p:spPr>
          <a:xfrm rot="16200000">
            <a:off x="10042132" y="5452308"/>
            <a:ext cx="3908857" cy="252249"/>
          </a:xfrm>
          <a:prstGeom prst="rect">
            <a:avLst/>
          </a:prstGeom>
        </p:spPr>
        <p:txBody>
          <a:bodyPr lIns="0" tIns="0" rIns="0" bIns="0" rtlCol="0" anchor="t">
            <a:spAutoFit/>
          </a:bodyPr>
          <a:lstStyle/>
          <a:p>
            <a:pPr algn="r" defTabSz="609630">
              <a:lnSpc>
                <a:spcPts val="2239"/>
              </a:lnSpc>
              <a:spcBef>
                <a:spcPct val="0"/>
              </a:spcBef>
            </a:pPr>
            <a:r>
              <a:rPr lang="en-US" sz="1200" dirty="0">
                <a:solidFill>
                  <a:srgbClr val="1B1B1B"/>
                </a:solidFill>
                <a:latin typeface="Halant Medium"/>
              </a:rPr>
              <a:t>Wrap Up| 20 May 2026</a:t>
            </a:r>
          </a:p>
        </p:txBody>
      </p:sp>
    </p:spTree>
    <p:extLst>
      <p:ext uri="{BB962C8B-B14F-4D97-AF65-F5344CB8AC3E}">
        <p14:creationId xmlns:p14="http://schemas.microsoft.com/office/powerpoint/2010/main" val="301260419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1" name="Picture 20">
            <a:extLst>
              <a:ext uri="{FF2B5EF4-FFF2-40B4-BE49-F238E27FC236}">
                <a16:creationId xmlns:a16="http://schemas.microsoft.com/office/drawing/2014/main" id="{BACFB3DE-2320-4C6A-B3EE-473868C19823}"/>
              </a:ext>
            </a:extLst>
          </p:cNvPr>
          <p:cNvPicPr>
            <a:picLocks noChangeAspect="1"/>
          </p:cNvPicPr>
          <p:nvPr/>
        </p:nvPicPr>
        <p:blipFill>
          <a:blip r:embed="rId3"/>
          <a:stretch>
            <a:fillRect/>
          </a:stretch>
        </p:blipFill>
        <p:spPr>
          <a:xfrm>
            <a:off x="0" y="-9606"/>
            <a:ext cx="3278725" cy="6858000"/>
          </a:xfrm>
          <a:prstGeom prst="rect">
            <a:avLst/>
          </a:prstGeom>
        </p:spPr>
      </p:pic>
      <p:sp>
        <p:nvSpPr>
          <p:cNvPr id="34" name="TextBox 2">
            <a:extLst>
              <a:ext uri="{FF2B5EF4-FFF2-40B4-BE49-F238E27FC236}">
                <a16:creationId xmlns:a16="http://schemas.microsoft.com/office/drawing/2014/main" id="{74F77639-4627-4280-A447-310CD9B63EA4}"/>
              </a:ext>
            </a:extLst>
          </p:cNvPr>
          <p:cNvSpPr txBox="1"/>
          <p:nvPr/>
        </p:nvSpPr>
        <p:spPr>
          <a:xfrm>
            <a:off x="-342767" y="1965961"/>
            <a:ext cx="3956206" cy="1384995"/>
          </a:xfrm>
          <a:prstGeom prst="rect">
            <a:avLst/>
          </a:prstGeom>
        </p:spPr>
        <p:txBody>
          <a:bodyPr lIns="0" tIns="0" rIns="0" bIns="0" rtlCol="0" anchor="t">
            <a:spAutoFit/>
          </a:bodyPr>
          <a:lstStyle/>
          <a:p>
            <a:pPr algn="ctr" defTabSz="609630"/>
            <a:r>
              <a:rPr lang="en-GB" sz="4500" b="1" dirty="0">
                <a:solidFill>
                  <a:schemeClr val="bg1">
                    <a:lumMod val="85000"/>
                  </a:schemeClr>
                </a:solidFill>
                <a:latin typeface="Tw Cen MT" panose="020B0602020104020603" pitchFamily="34" charset="0"/>
              </a:rPr>
              <a:t>Disruptive Innovations</a:t>
            </a:r>
          </a:p>
        </p:txBody>
      </p:sp>
      <p:sp>
        <p:nvSpPr>
          <p:cNvPr id="42" name="Oval 41">
            <a:extLst>
              <a:ext uri="{FF2B5EF4-FFF2-40B4-BE49-F238E27FC236}">
                <a16:creationId xmlns:a16="http://schemas.microsoft.com/office/drawing/2014/main" id="{0CD0C02F-2531-4725-8623-6493DB5A8E48}"/>
              </a:ext>
            </a:extLst>
          </p:cNvPr>
          <p:cNvSpPr/>
          <p:nvPr/>
        </p:nvSpPr>
        <p:spPr>
          <a:xfrm>
            <a:off x="10955045" y="204186"/>
            <a:ext cx="540000" cy="468000"/>
          </a:xfrm>
          <a:prstGeom prst="ellipse">
            <a:avLst/>
          </a:prstGeom>
          <a:solidFill>
            <a:srgbClr val="006C3B"/>
          </a:solidFill>
          <a:ln>
            <a:solidFill>
              <a:srgbClr val="006C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dirty="0"/>
              <a:t>VII</a:t>
            </a:r>
            <a:endParaRPr lang="en-ZA" sz="1400" dirty="0"/>
          </a:p>
        </p:txBody>
      </p:sp>
      <p:sp>
        <p:nvSpPr>
          <p:cNvPr id="26" name="Rectangle 25">
            <a:extLst>
              <a:ext uri="{FF2B5EF4-FFF2-40B4-BE49-F238E27FC236}">
                <a16:creationId xmlns:a16="http://schemas.microsoft.com/office/drawing/2014/main" id="{71CEA837-8B71-493B-86BC-7CBF4B62F56B}"/>
              </a:ext>
            </a:extLst>
          </p:cNvPr>
          <p:cNvSpPr/>
          <p:nvPr/>
        </p:nvSpPr>
        <p:spPr>
          <a:xfrm>
            <a:off x="8878" y="6711517"/>
            <a:ext cx="12168000" cy="180000"/>
          </a:xfrm>
          <a:prstGeom prst="rect">
            <a:avLst/>
          </a:prstGeom>
          <a:solidFill>
            <a:srgbClr val="006C3B"/>
          </a:solidFill>
          <a:ln>
            <a:solidFill>
              <a:srgbClr val="006C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2" name="TextBox 1">
            <a:extLst>
              <a:ext uri="{FF2B5EF4-FFF2-40B4-BE49-F238E27FC236}">
                <a16:creationId xmlns:a16="http://schemas.microsoft.com/office/drawing/2014/main" id="{46556CA2-9E05-46CD-A44C-3C77582B429E}"/>
              </a:ext>
            </a:extLst>
          </p:cNvPr>
          <p:cNvSpPr txBox="1"/>
          <p:nvPr/>
        </p:nvSpPr>
        <p:spPr>
          <a:xfrm>
            <a:off x="3726180" y="1360170"/>
            <a:ext cx="7978140" cy="4031873"/>
          </a:xfrm>
          <a:prstGeom prst="rect">
            <a:avLst/>
          </a:prstGeom>
          <a:noFill/>
        </p:spPr>
        <p:txBody>
          <a:bodyPr wrap="square" rtlCol="0">
            <a:spAutoFit/>
          </a:bodyPr>
          <a:lstStyle/>
          <a:p>
            <a:pPr marL="457200" indent="-457200">
              <a:buClr>
                <a:srgbClr val="006C3B"/>
              </a:buClr>
              <a:buFont typeface="Arial" panose="020B0604020202020204" pitchFamily="34" charset="0"/>
              <a:buChar char="•"/>
            </a:pPr>
            <a:r>
              <a:rPr lang="en-GB" sz="3200" dirty="0">
                <a:latin typeface="Tw Cen MT" panose="020B0602020104020603" pitchFamily="34" charset="0"/>
              </a:rPr>
              <a:t>What are disruptive innovations?</a:t>
            </a:r>
          </a:p>
          <a:p>
            <a:pPr marL="457200" indent="-457200">
              <a:buClr>
                <a:srgbClr val="006C3B"/>
              </a:buClr>
              <a:buFont typeface="Arial" panose="020B0604020202020204" pitchFamily="34" charset="0"/>
              <a:buChar char="•"/>
            </a:pPr>
            <a:r>
              <a:rPr lang="en-GB" sz="3200" dirty="0">
                <a:latin typeface="Tw Cen MT" panose="020B0602020104020603" pitchFamily="34" charset="0"/>
              </a:rPr>
              <a:t>Characteristics</a:t>
            </a:r>
          </a:p>
          <a:p>
            <a:pPr marL="457200" indent="-457200">
              <a:buClr>
                <a:srgbClr val="006C3B"/>
              </a:buClr>
              <a:buFont typeface="Arial" panose="020B0604020202020204" pitchFamily="34" charset="0"/>
              <a:buChar char="•"/>
            </a:pPr>
            <a:r>
              <a:rPr lang="en-GB" sz="3200" dirty="0">
                <a:latin typeface="Tw Cen MT" panose="020B0602020104020603" pitchFamily="34" charset="0"/>
              </a:rPr>
              <a:t>Innovation graph</a:t>
            </a:r>
          </a:p>
          <a:p>
            <a:pPr marL="457200" indent="-457200">
              <a:buClr>
                <a:srgbClr val="006C3B"/>
              </a:buClr>
              <a:buFont typeface="Arial" panose="020B0604020202020204" pitchFamily="34" charset="0"/>
              <a:buChar char="•"/>
            </a:pPr>
            <a:r>
              <a:rPr lang="en-GB" sz="3200" dirty="0">
                <a:latin typeface="Tw Cen MT" panose="020B0602020104020603" pitchFamily="34" charset="0"/>
              </a:rPr>
              <a:t>Why big firms fail</a:t>
            </a:r>
          </a:p>
          <a:p>
            <a:pPr marL="457200" indent="-457200">
              <a:buClr>
                <a:srgbClr val="006C3B"/>
              </a:buClr>
              <a:buFont typeface="Arial" panose="020B0604020202020204" pitchFamily="34" charset="0"/>
              <a:buChar char="•"/>
            </a:pPr>
            <a:r>
              <a:rPr lang="en-GB" sz="3200" dirty="0">
                <a:latin typeface="Tw Cen MT" panose="020B0602020104020603" pitchFamily="34" charset="0"/>
              </a:rPr>
              <a:t>Recognising disruptive innovations</a:t>
            </a:r>
          </a:p>
          <a:p>
            <a:pPr marL="457200" indent="-457200">
              <a:buClr>
                <a:srgbClr val="006C3B"/>
              </a:buClr>
              <a:buFont typeface="Arial" panose="020B0604020202020204" pitchFamily="34" charset="0"/>
              <a:buChar char="•"/>
            </a:pPr>
            <a:r>
              <a:rPr lang="en-GB" sz="3200" dirty="0">
                <a:latin typeface="Tw Cen MT" panose="020B0602020104020603" pitchFamily="34" charset="0"/>
              </a:rPr>
              <a:t>Responding to disruptive innovations</a:t>
            </a:r>
          </a:p>
          <a:p>
            <a:pPr marL="457200" indent="-457200">
              <a:buClr>
                <a:srgbClr val="006C3B"/>
              </a:buClr>
              <a:buFont typeface="Arial" panose="020B0604020202020204" pitchFamily="34" charset="0"/>
              <a:buChar char="•"/>
            </a:pPr>
            <a:r>
              <a:rPr lang="en-GB" sz="3200" dirty="0">
                <a:latin typeface="Tw Cen MT" panose="020B0602020104020603" pitchFamily="34" charset="0"/>
              </a:rPr>
              <a:t>Disrupting technology vs sustaining innovations and efficiency innovations</a:t>
            </a:r>
            <a:endParaRPr lang="en-ZA" sz="3200" dirty="0">
              <a:latin typeface="Tw Cen MT" panose="020B0602020104020603" pitchFamily="34" charset="0"/>
            </a:endParaRPr>
          </a:p>
        </p:txBody>
      </p:sp>
      <p:sp>
        <p:nvSpPr>
          <p:cNvPr id="8" name="TextBox 13">
            <a:extLst>
              <a:ext uri="{FF2B5EF4-FFF2-40B4-BE49-F238E27FC236}">
                <a16:creationId xmlns:a16="http://schemas.microsoft.com/office/drawing/2014/main" id="{042D3306-DEB5-44AA-BCF3-AD2B47887DF2}"/>
              </a:ext>
            </a:extLst>
          </p:cNvPr>
          <p:cNvSpPr txBox="1"/>
          <p:nvPr/>
        </p:nvSpPr>
        <p:spPr>
          <a:xfrm rot="16200000">
            <a:off x="10042132" y="5452308"/>
            <a:ext cx="3908857" cy="252249"/>
          </a:xfrm>
          <a:prstGeom prst="rect">
            <a:avLst/>
          </a:prstGeom>
        </p:spPr>
        <p:txBody>
          <a:bodyPr lIns="0" tIns="0" rIns="0" bIns="0" rtlCol="0" anchor="t">
            <a:spAutoFit/>
          </a:bodyPr>
          <a:lstStyle/>
          <a:p>
            <a:pPr algn="r" defTabSz="609630">
              <a:lnSpc>
                <a:spcPts val="2239"/>
              </a:lnSpc>
              <a:spcBef>
                <a:spcPct val="0"/>
              </a:spcBef>
            </a:pPr>
            <a:r>
              <a:rPr lang="en-US" sz="1200" dirty="0">
                <a:solidFill>
                  <a:srgbClr val="1B1B1B"/>
                </a:solidFill>
                <a:latin typeface="Halant Medium"/>
              </a:rPr>
              <a:t>Wrap Up| 20 May 2026</a:t>
            </a:r>
          </a:p>
        </p:txBody>
      </p:sp>
    </p:spTree>
    <p:extLst>
      <p:ext uri="{BB962C8B-B14F-4D97-AF65-F5344CB8AC3E}">
        <p14:creationId xmlns:p14="http://schemas.microsoft.com/office/powerpoint/2010/main" val="387040663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1" name="Picture 20">
            <a:extLst>
              <a:ext uri="{FF2B5EF4-FFF2-40B4-BE49-F238E27FC236}">
                <a16:creationId xmlns:a16="http://schemas.microsoft.com/office/drawing/2014/main" id="{BACFB3DE-2320-4C6A-B3EE-473868C19823}"/>
              </a:ext>
            </a:extLst>
          </p:cNvPr>
          <p:cNvPicPr>
            <a:picLocks noChangeAspect="1"/>
          </p:cNvPicPr>
          <p:nvPr/>
        </p:nvPicPr>
        <p:blipFill>
          <a:blip r:embed="rId3"/>
          <a:stretch>
            <a:fillRect/>
          </a:stretch>
        </p:blipFill>
        <p:spPr>
          <a:xfrm>
            <a:off x="0" y="-9606"/>
            <a:ext cx="3278725" cy="6858000"/>
          </a:xfrm>
          <a:prstGeom prst="rect">
            <a:avLst/>
          </a:prstGeom>
        </p:spPr>
      </p:pic>
      <p:sp>
        <p:nvSpPr>
          <p:cNvPr id="34" name="TextBox 2">
            <a:extLst>
              <a:ext uri="{FF2B5EF4-FFF2-40B4-BE49-F238E27FC236}">
                <a16:creationId xmlns:a16="http://schemas.microsoft.com/office/drawing/2014/main" id="{74F77639-4627-4280-A447-310CD9B63EA4}"/>
              </a:ext>
            </a:extLst>
          </p:cNvPr>
          <p:cNvSpPr txBox="1"/>
          <p:nvPr/>
        </p:nvSpPr>
        <p:spPr>
          <a:xfrm>
            <a:off x="293370" y="2038634"/>
            <a:ext cx="2745752" cy="2421625"/>
          </a:xfrm>
          <a:prstGeom prst="rect">
            <a:avLst/>
          </a:prstGeom>
        </p:spPr>
        <p:txBody>
          <a:bodyPr wrap="square" lIns="0" tIns="0" rIns="0" bIns="0" rtlCol="0" anchor="t">
            <a:spAutoFit/>
          </a:bodyPr>
          <a:lstStyle/>
          <a:p>
            <a:pPr defTabSz="609630">
              <a:lnSpc>
                <a:spcPts val="6400"/>
              </a:lnSpc>
            </a:pPr>
            <a:r>
              <a:rPr lang="en-GB" sz="5000" b="1" dirty="0">
                <a:solidFill>
                  <a:schemeClr val="bg1">
                    <a:lumMod val="85000"/>
                  </a:schemeClr>
                </a:solidFill>
                <a:latin typeface="Tw Cen MT" panose="020B0602020104020603" pitchFamily="34" charset="0"/>
              </a:rPr>
              <a:t>Learning </a:t>
            </a:r>
          </a:p>
          <a:p>
            <a:pPr defTabSz="609630">
              <a:lnSpc>
                <a:spcPts val="6400"/>
              </a:lnSpc>
            </a:pPr>
            <a:r>
              <a:rPr lang="en-GB" sz="5000" b="1" dirty="0">
                <a:solidFill>
                  <a:schemeClr val="bg1">
                    <a:lumMod val="85000"/>
                  </a:schemeClr>
                </a:solidFill>
                <a:latin typeface="Tw Cen MT" panose="020B0602020104020603" pitchFamily="34" charset="0"/>
              </a:rPr>
              <a:t>from </a:t>
            </a:r>
          </a:p>
          <a:p>
            <a:pPr defTabSz="609630">
              <a:lnSpc>
                <a:spcPts val="6400"/>
              </a:lnSpc>
            </a:pPr>
            <a:r>
              <a:rPr lang="en-GB" sz="5000" b="1" dirty="0">
                <a:solidFill>
                  <a:schemeClr val="bg1">
                    <a:lumMod val="85000"/>
                  </a:schemeClr>
                </a:solidFill>
                <a:latin typeface="Tw Cen MT" panose="020B0602020104020603" pitchFamily="34" charset="0"/>
              </a:rPr>
              <a:t>Amazon</a:t>
            </a:r>
          </a:p>
        </p:txBody>
      </p:sp>
      <p:sp>
        <p:nvSpPr>
          <p:cNvPr id="18" name="Rectangle 17">
            <a:extLst>
              <a:ext uri="{FF2B5EF4-FFF2-40B4-BE49-F238E27FC236}">
                <a16:creationId xmlns:a16="http://schemas.microsoft.com/office/drawing/2014/main" id="{A53BA024-EFD3-4AC3-B707-0F899A9BC43E}"/>
              </a:ext>
            </a:extLst>
          </p:cNvPr>
          <p:cNvSpPr/>
          <p:nvPr/>
        </p:nvSpPr>
        <p:spPr>
          <a:xfrm>
            <a:off x="8878" y="6720398"/>
            <a:ext cx="12168000" cy="180000"/>
          </a:xfrm>
          <a:prstGeom prst="rect">
            <a:avLst/>
          </a:prstGeom>
          <a:solidFill>
            <a:srgbClr val="006C3B"/>
          </a:solidFill>
          <a:ln>
            <a:solidFill>
              <a:srgbClr val="006C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20" name="Oval 19">
            <a:extLst>
              <a:ext uri="{FF2B5EF4-FFF2-40B4-BE49-F238E27FC236}">
                <a16:creationId xmlns:a16="http://schemas.microsoft.com/office/drawing/2014/main" id="{A389E1A0-8EAF-473F-B685-96A6CCFE08A3}"/>
              </a:ext>
            </a:extLst>
          </p:cNvPr>
          <p:cNvSpPr/>
          <p:nvPr/>
        </p:nvSpPr>
        <p:spPr>
          <a:xfrm>
            <a:off x="10955045" y="204185"/>
            <a:ext cx="594804" cy="577050"/>
          </a:xfrm>
          <a:prstGeom prst="ellipse">
            <a:avLst/>
          </a:prstGeom>
          <a:solidFill>
            <a:srgbClr val="006C3B"/>
          </a:solidFill>
          <a:ln>
            <a:solidFill>
              <a:srgbClr val="006C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dirty="0"/>
              <a:t>VIII</a:t>
            </a:r>
            <a:endParaRPr lang="en-ZA" sz="1400" dirty="0"/>
          </a:p>
        </p:txBody>
      </p:sp>
      <p:sp>
        <p:nvSpPr>
          <p:cNvPr id="10" name="TextBox 9">
            <a:extLst>
              <a:ext uri="{FF2B5EF4-FFF2-40B4-BE49-F238E27FC236}">
                <a16:creationId xmlns:a16="http://schemas.microsoft.com/office/drawing/2014/main" id="{07C2E90F-7C8A-48CB-B595-0E39EBDC4826}"/>
              </a:ext>
            </a:extLst>
          </p:cNvPr>
          <p:cNvSpPr txBox="1"/>
          <p:nvPr/>
        </p:nvSpPr>
        <p:spPr>
          <a:xfrm>
            <a:off x="3422416" y="764510"/>
            <a:ext cx="8476214" cy="5282985"/>
          </a:xfrm>
          <a:prstGeom prst="rect">
            <a:avLst/>
          </a:prstGeom>
          <a:noFill/>
        </p:spPr>
        <p:txBody>
          <a:bodyPr wrap="square">
            <a:spAutoFit/>
          </a:bodyPr>
          <a:lstStyle/>
          <a:p>
            <a:pPr marL="571500" marR="0" lvl="0" indent="-571500" algn="l" defTabSz="914400" rtl="0" eaLnBrk="1" fontAlgn="auto" latinLnBrk="0" hangingPunct="1">
              <a:lnSpc>
                <a:spcPct val="90000"/>
              </a:lnSpc>
              <a:spcBef>
                <a:spcPts val="1200"/>
              </a:spcBef>
              <a:spcAft>
                <a:spcPts val="0"/>
              </a:spcAft>
              <a:buClr>
                <a:srgbClr val="006C3B"/>
              </a:buClr>
              <a:buSzTx/>
              <a:buFont typeface="Arial" panose="020B0604020202020204" pitchFamily="34" charset="0"/>
              <a:buChar char="•"/>
              <a:tabLst/>
              <a:defRPr/>
            </a:pPr>
            <a:r>
              <a:rPr kumimoji="0" lang="en-GB" sz="3300" b="0" i="0" u="none" strike="noStrike" kern="1200" cap="none" spc="0" normalizeH="0" baseline="0" noProof="0" dirty="0">
                <a:ln>
                  <a:noFill/>
                </a:ln>
                <a:effectLst/>
                <a:uLnTx/>
                <a:uFillTx/>
                <a:latin typeface="Tw Cen MT" panose="020B0602020104020603" pitchFamily="34" charset="0"/>
              </a:rPr>
              <a:t>Overview of Amazon</a:t>
            </a:r>
          </a:p>
          <a:p>
            <a:pPr marL="571500" marR="0" lvl="0" indent="-571500" algn="l" defTabSz="914400" rtl="0" eaLnBrk="1" fontAlgn="auto" latinLnBrk="0" hangingPunct="1">
              <a:lnSpc>
                <a:spcPct val="90000"/>
              </a:lnSpc>
              <a:spcBef>
                <a:spcPts val="1200"/>
              </a:spcBef>
              <a:spcAft>
                <a:spcPts val="0"/>
              </a:spcAft>
              <a:buClr>
                <a:srgbClr val="006C3B"/>
              </a:buClr>
              <a:buSzTx/>
              <a:buFont typeface="Arial" panose="020B0604020202020204" pitchFamily="34" charset="0"/>
              <a:buChar char="•"/>
              <a:tabLst/>
              <a:defRPr/>
            </a:pPr>
            <a:r>
              <a:rPr kumimoji="0" lang="en-GB" sz="3300" b="0" i="0" u="none" strike="noStrike" kern="1200" cap="none" spc="0" normalizeH="0" baseline="0" noProof="0" dirty="0">
                <a:ln>
                  <a:noFill/>
                </a:ln>
                <a:effectLst/>
                <a:uLnTx/>
                <a:uFillTx/>
                <a:latin typeface="Tw Cen MT" panose="020B0602020104020603" pitchFamily="34" charset="0"/>
              </a:rPr>
              <a:t>Amazon’s wheel of growth</a:t>
            </a:r>
          </a:p>
          <a:p>
            <a:pPr marL="571500" marR="0" lvl="0" indent="-571500" algn="l" defTabSz="914400" rtl="0" eaLnBrk="1" fontAlgn="auto" latinLnBrk="0" hangingPunct="1">
              <a:lnSpc>
                <a:spcPct val="90000"/>
              </a:lnSpc>
              <a:spcBef>
                <a:spcPts val="1200"/>
              </a:spcBef>
              <a:spcAft>
                <a:spcPts val="0"/>
              </a:spcAft>
              <a:buClr>
                <a:srgbClr val="006C3B"/>
              </a:buClr>
              <a:buSzTx/>
              <a:buFont typeface="Arial" panose="020B0604020202020204" pitchFamily="34" charset="0"/>
              <a:buChar char="•"/>
              <a:tabLst/>
              <a:defRPr/>
            </a:pPr>
            <a:r>
              <a:rPr kumimoji="0" lang="en-GB" sz="3300" b="0" i="0" u="none" strike="noStrike" kern="1200" cap="none" spc="0" normalizeH="0" baseline="0" noProof="0" dirty="0">
                <a:ln>
                  <a:noFill/>
                </a:ln>
                <a:effectLst/>
                <a:uLnTx/>
                <a:uFillTx/>
                <a:latin typeface="Tw Cen MT" panose="020B0602020104020603" pitchFamily="34" charset="0"/>
              </a:rPr>
              <a:t>Acquisitions and expansions</a:t>
            </a:r>
          </a:p>
          <a:p>
            <a:pPr marL="571500" marR="0" lvl="0" indent="-571500" algn="l" defTabSz="914400" rtl="0" eaLnBrk="1" fontAlgn="auto" latinLnBrk="0" hangingPunct="1">
              <a:lnSpc>
                <a:spcPct val="90000"/>
              </a:lnSpc>
              <a:spcBef>
                <a:spcPts val="1200"/>
              </a:spcBef>
              <a:spcAft>
                <a:spcPts val="0"/>
              </a:spcAft>
              <a:buClr>
                <a:srgbClr val="006C3B"/>
              </a:buClr>
              <a:buSzTx/>
              <a:buFont typeface="Arial" panose="020B0604020202020204" pitchFamily="34" charset="0"/>
              <a:buChar char="•"/>
              <a:tabLst/>
              <a:defRPr/>
            </a:pPr>
            <a:r>
              <a:rPr kumimoji="0" lang="en-GB" sz="3300" b="0" i="0" u="none" strike="noStrike" kern="1200" cap="none" spc="0" normalizeH="0" baseline="0" noProof="0" dirty="0">
                <a:ln>
                  <a:noFill/>
                </a:ln>
                <a:effectLst/>
                <a:uLnTx/>
                <a:uFillTx/>
                <a:latin typeface="Tw Cen MT" panose="020B0602020104020603" pitchFamily="34" charset="0"/>
              </a:rPr>
              <a:t>Warehouse efficiency</a:t>
            </a:r>
          </a:p>
          <a:p>
            <a:pPr marL="571500" marR="0" lvl="0" indent="-571500" algn="l" defTabSz="914400" rtl="0" eaLnBrk="1" fontAlgn="auto" latinLnBrk="0" hangingPunct="1">
              <a:lnSpc>
                <a:spcPct val="90000"/>
              </a:lnSpc>
              <a:spcBef>
                <a:spcPts val="1200"/>
              </a:spcBef>
              <a:spcAft>
                <a:spcPts val="0"/>
              </a:spcAft>
              <a:buClr>
                <a:srgbClr val="006C3B"/>
              </a:buClr>
              <a:buSzTx/>
              <a:buFont typeface="Arial" panose="020B0604020202020204" pitchFamily="34" charset="0"/>
              <a:buChar char="•"/>
              <a:tabLst/>
              <a:defRPr/>
            </a:pPr>
            <a:r>
              <a:rPr kumimoji="0" lang="en-GB" sz="3300" b="0" i="0" u="none" strike="noStrike" kern="1200" cap="none" spc="0" normalizeH="0" baseline="0" noProof="0" dirty="0">
                <a:ln>
                  <a:noFill/>
                </a:ln>
                <a:effectLst/>
                <a:uLnTx/>
                <a:uFillTx/>
                <a:latin typeface="Tw Cen MT" panose="020B0602020104020603" pitchFamily="34" charset="0"/>
              </a:rPr>
              <a:t>Cash conversion cycle and Negative cash conversion cycle</a:t>
            </a:r>
          </a:p>
          <a:p>
            <a:pPr marL="571500" marR="0" lvl="0" indent="-571500" algn="l" defTabSz="914400" rtl="0" eaLnBrk="1" fontAlgn="auto" latinLnBrk="0" hangingPunct="1">
              <a:lnSpc>
                <a:spcPct val="90000"/>
              </a:lnSpc>
              <a:spcBef>
                <a:spcPts val="1200"/>
              </a:spcBef>
              <a:spcAft>
                <a:spcPts val="0"/>
              </a:spcAft>
              <a:buClr>
                <a:srgbClr val="006C3B"/>
              </a:buClr>
              <a:buSzTx/>
              <a:buFont typeface="Arial" panose="020B0604020202020204" pitchFamily="34" charset="0"/>
              <a:buChar char="•"/>
              <a:tabLst/>
              <a:defRPr/>
            </a:pPr>
            <a:r>
              <a:rPr kumimoji="0" lang="en-GB" sz="3300" b="0" i="0" u="none" strike="noStrike" kern="1200" cap="none" spc="0" normalizeH="0" baseline="0" noProof="0" dirty="0">
                <a:ln>
                  <a:noFill/>
                </a:ln>
                <a:effectLst/>
                <a:uLnTx/>
                <a:uFillTx/>
                <a:latin typeface="Tw Cen MT" panose="020B0602020104020603" pitchFamily="34" charset="0"/>
              </a:rPr>
              <a:t>Channel pressure and conflict</a:t>
            </a:r>
          </a:p>
          <a:p>
            <a:pPr marL="571500" marR="0" lvl="0" indent="-571500" algn="l" defTabSz="914400" rtl="0" eaLnBrk="1" fontAlgn="auto" latinLnBrk="0" hangingPunct="1">
              <a:lnSpc>
                <a:spcPct val="90000"/>
              </a:lnSpc>
              <a:spcBef>
                <a:spcPts val="1200"/>
              </a:spcBef>
              <a:spcAft>
                <a:spcPts val="0"/>
              </a:spcAft>
              <a:buClr>
                <a:srgbClr val="006C3B"/>
              </a:buClr>
              <a:buSzTx/>
              <a:buFont typeface="Arial" panose="020B0604020202020204" pitchFamily="34" charset="0"/>
              <a:buChar char="•"/>
              <a:tabLst/>
              <a:defRPr/>
            </a:pPr>
            <a:r>
              <a:rPr lang="en-GB" sz="3300" dirty="0">
                <a:latin typeface="Tw Cen MT" panose="020B0602020104020603" pitchFamily="34" charset="0"/>
              </a:rPr>
              <a:t>Cloud computing – Amazon web services</a:t>
            </a:r>
            <a:endParaRPr kumimoji="0" lang="en-GB" sz="3300" b="0" i="0" u="none" strike="noStrike" kern="1200" cap="none" spc="0" normalizeH="0" baseline="0" noProof="0" dirty="0">
              <a:ln>
                <a:noFill/>
              </a:ln>
              <a:effectLst/>
              <a:uLnTx/>
              <a:uFillTx/>
              <a:latin typeface="Tw Cen MT" panose="020B0602020104020603" pitchFamily="34" charset="0"/>
            </a:endParaRPr>
          </a:p>
          <a:p>
            <a:pPr marL="571500" marR="0" lvl="0" indent="-571500" algn="l" defTabSz="914400" rtl="0" eaLnBrk="1" fontAlgn="auto" latinLnBrk="0" hangingPunct="1">
              <a:lnSpc>
                <a:spcPct val="90000"/>
              </a:lnSpc>
              <a:spcBef>
                <a:spcPts val="1200"/>
              </a:spcBef>
              <a:spcAft>
                <a:spcPts val="0"/>
              </a:spcAft>
              <a:buClr>
                <a:srgbClr val="006C3B"/>
              </a:buClr>
              <a:buSzTx/>
              <a:buFont typeface="Arial" panose="020B0604020202020204" pitchFamily="34" charset="0"/>
              <a:buChar char="•"/>
              <a:tabLst/>
              <a:defRPr/>
            </a:pPr>
            <a:endParaRPr kumimoji="0" lang="en-GB" sz="3300" b="0" i="0" u="none" strike="noStrike" kern="1200" cap="none" spc="0" normalizeH="0" baseline="0" noProof="0" dirty="0">
              <a:ln>
                <a:noFill/>
              </a:ln>
              <a:effectLst/>
              <a:uLnTx/>
              <a:uFillTx/>
              <a:latin typeface="Tw Cen MT" panose="020B0602020104020603" pitchFamily="34" charset="0"/>
            </a:endParaRPr>
          </a:p>
        </p:txBody>
      </p:sp>
      <p:sp>
        <p:nvSpPr>
          <p:cNvPr id="9" name="TextBox 13">
            <a:extLst>
              <a:ext uri="{FF2B5EF4-FFF2-40B4-BE49-F238E27FC236}">
                <a16:creationId xmlns:a16="http://schemas.microsoft.com/office/drawing/2014/main" id="{8B66EF59-5094-43C4-9BC8-CA1FC0A31591}"/>
              </a:ext>
            </a:extLst>
          </p:cNvPr>
          <p:cNvSpPr txBox="1"/>
          <p:nvPr/>
        </p:nvSpPr>
        <p:spPr>
          <a:xfrm rot="16200000">
            <a:off x="10042132" y="5452308"/>
            <a:ext cx="3908857" cy="252249"/>
          </a:xfrm>
          <a:prstGeom prst="rect">
            <a:avLst/>
          </a:prstGeom>
        </p:spPr>
        <p:txBody>
          <a:bodyPr lIns="0" tIns="0" rIns="0" bIns="0" rtlCol="0" anchor="t">
            <a:spAutoFit/>
          </a:bodyPr>
          <a:lstStyle/>
          <a:p>
            <a:pPr algn="r" defTabSz="609630">
              <a:lnSpc>
                <a:spcPts val="2239"/>
              </a:lnSpc>
              <a:spcBef>
                <a:spcPct val="0"/>
              </a:spcBef>
            </a:pPr>
            <a:r>
              <a:rPr lang="en-US" sz="1200" dirty="0">
                <a:solidFill>
                  <a:srgbClr val="1B1B1B"/>
                </a:solidFill>
                <a:latin typeface="Halant Medium"/>
              </a:rPr>
              <a:t>Wrap Up| 20 May 2026</a:t>
            </a:r>
          </a:p>
        </p:txBody>
      </p:sp>
    </p:spTree>
    <p:extLst>
      <p:ext uri="{BB962C8B-B14F-4D97-AF65-F5344CB8AC3E}">
        <p14:creationId xmlns:p14="http://schemas.microsoft.com/office/powerpoint/2010/main" val="299146474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1" name="Picture 20">
            <a:extLst>
              <a:ext uri="{FF2B5EF4-FFF2-40B4-BE49-F238E27FC236}">
                <a16:creationId xmlns:a16="http://schemas.microsoft.com/office/drawing/2014/main" id="{BACFB3DE-2320-4C6A-B3EE-473868C19823}"/>
              </a:ext>
            </a:extLst>
          </p:cNvPr>
          <p:cNvPicPr>
            <a:picLocks noChangeAspect="1"/>
          </p:cNvPicPr>
          <p:nvPr/>
        </p:nvPicPr>
        <p:blipFill>
          <a:blip r:embed="rId3"/>
          <a:stretch>
            <a:fillRect/>
          </a:stretch>
        </p:blipFill>
        <p:spPr>
          <a:xfrm>
            <a:off x="0" y="-9606"/>
            <a:ext cx="3278725" cy="6858000"/>
          </a:xfrm>
          <a:prstGeom prst="rect">
            <a:avLst/>
          </a:prstGeom>
        </p:spPr>
      </p:pic>
      <p:sp>
        <p:nvSpPr>
          <p:cNvPr id="34" name="TextBox 2">
            <a:extLst>
              <a:ext uri="{FF2B5EF4-FFF2-40B4-BE49-F238E27FC236}">
                <a16:creationId xmlns:a16="http://schemas.microsoft.com/office/drawing/2014/main" id="{74F77639-4627-4280-A447-310CD9B63EA4}"/>
              </a:ext>
            </a:extLst>
          </p:cNvPr>
          <p:cNvSpPr txBox="1"/>
          <p:nvPr/>
        </p:nvSpPr>
        <p:spPr>
          <a:xfrm>
            <a:off x="302874" y="1678894"/>
            <a:ext cx="2737506" cy="1641475"/>
          </a:xfrm>
          <a:prstGeom prst="rect">
            <a:avLst/>
          </a:prstGeom>
        </p:spPr>
        <p:txBody>
          <a:bodyPr wrap="square" lIns="0" tIns="0" rIns="0" bIns="0" rtlCol="0" anchor="t">
            <a:spAutoFit/>
          </a:bodyPr>
          <a:lstStyle/>
          <a:p>
            <a:pPr defTabSz="609630">
              <a:lnSpc>
                <a:spcPts val="6400"/>
              </a:lnSpc>
            </a:pPr>
            <a:r>
              <a:rPr lang="en-US" sz="5334" b="1" dirty="0">
                <a:solidFill>
                  <a:schemeClr val="bg1">
                    <a:lumMod val="85000"/>
                  </a:schemeClr>
                </a:solidFill>
                <a:latin typeface="Tw Cen MT" panose="020B0602020104020603" pitchFamily="34" charset="0"/>
              </a:rPr>
              <a:t>Network Effects</a:t>
            </a:r>
          </a:p>
        </p:txBody>
      </p:sp>
      <p:sp>
        <p:nvSpPr>
          <p:cNvPr id="18" name="Rectangle 17">
            <a:extLst>
              <a:ext uri="{FF2B5EF4-FFF2-40B4-BE49-F238E27FC236}">
                <a16:creationId xmlns:a16="http://schemas.microsoft.com/office/drawing/2014/main" id="{A53BA024-EFD3-4AC3-B707-0F899A9BC43E}"/>
              </a:ext>
            </a:extLst>
          </p:cNvPr>
          <p:cNvSpPr/>
          <p:nvPr/>
        </p:nvSpPr>
        <p:spPr>
          <a:xfrm>
            <a:off x="8878" y="6720398"/>
            <a:ext cx="12168000" cy="180000"/>
          </a:xfrm>
          <a:prstGeom prst="rect">
            <a:avLst/>
          </a:prstGeom>
          <a:solidFill>
            <a:srgbClr val="006C3B"/>
          </a:solidFill>
          <a:ln>
            <a:solidFill>
              <a:srgbClr val="006C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20" name="Oval 19">
            <a:extLst>
              <a:ext uri="{FF2B5EF4-FFF2-40B4-BE49-F238E27FC236}">
                <a16:creationId xmlns:a16="http://schemas.microsoft.com/office/drawing/2014/main" id="{A389E1A0-8EAF-473F-B685-96A6CCFE08A3}"/>
              </a:ext>
            </a:extLst>
          </p:cNvPr>
          <p:cNvSpPr/>
          <p:nvPr/>
        </p:nvSpPr>
        <p:spPr>
          <a:xfrm>
            <a:off x="10955045" y="204185"/>
            <a:ext cx="594804" cy="577050"/>
          </a:xfrm>
          <a:prstGeom prst="ellipse">
            <a:avLst/>
          </a:prstGeom>
          <a:solidFill>
            <a:srgbClr val="006C3B"/>
          </a:solidFill>
          <a:ln>
            <a:solidFill>
              <a:srgbClr val="006C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dirty="0"/>
              <a:t>IX</a:t>
            </a:r>
            <a:endParaRPr lang="en-ZA" sz="1400" dirty="0"/>
          </a:p>
        </p:txBody>
      </p:sp>
      <p:sp>
        <p:nvSpPr>
          <p:cNvPr id="10" name="TextBox 9">
            <a:extLst>
              <a:ext uri="{FF2B5EF4-FFF2-40B4-BE49-F238E27FC236}">
                <a16:creationId xmlns:a16="http://schemas.microsoft.com/office/drawing/2014/main" id="{F68E5BF5-329C-4042-BDD3-93BD55FEDDD2}"/>
              </a:ext>
            </a:extLst>
          </p:cNvPr>
          <p:cNvSpPr txBox="1"/>
          <p:nvPr/>
        </p:nvSpPr>
        <p:spPr>
          <a:xfrm>
            <a:off x="3438349" y="681773"/>
            <a:ext cx="8272462" cy="6218625"/>
          </a:xfrm>
          <a:prstGeom prst="rect">
            <a:avLst/>
          </a:prstGeom>
          <a:noFill/>
        </p:spPr>
        <p:txBody>
          <a:bodyPr wrap="square">
            <a:spAutoFit/>
          </a:bodyPr>
          <a:lstStyle/>
          <a:p>
            <a:pPr marL="182880" marR="0" lvl="0" indent="-182880" algn="l" defTabSz="914400" rtl="0" eaLnBrk="1" fontAlgn="auto" latinLnBrk="0" hangingPunct="1">
              <a:lnSpc>
                <a:spcPct val="90000"/>
              </a:lnSpc>
              <a:spcBef>
                <a:spcPts val="1200"/>
              </a:spcBef>
              <a:spcAft>
                <a:spcPts val="0"/>
              </a:spcAft>
              <a:buClr>
                <a:srgbClr val="006C3B"/>
              </a:buClr>
              <a:buSzTx/>
              <a:buFont typeface="Wingdings 2" pitchFamily="18" charset="2"/>
              <a:buChar char=""/>
              <a:tabLst/>
              <a:defRPr/>
            </a:pPr>
            <a:r>
              <a:rPr kumimoji="0" lang="en-ZA" sz="3200" b="0" i="0" u="none" strike="noStrike" kern="1200" cap="none" spc="0" normalizeH="0" baseline="0" noProof="0" dirty="0">
                <a:ln>
                  <a:noFill/>
                </a:ln>
                <a:effectLst/>
                <a:uLnTx/>
                <a:uFillTx/>
                <a:latin typeface="Tw Cen MT" panose="020B0602020104020603" pitchFamily="34" charset="0"/>
              </a:rPr>
              <a:t>What is network effects?</a:t>
            </a:r>
          </a:p>
          <a:p>
            <a:pPr marL="685800" marR="0" lvl="1" indent="-182880" algn="l" defTabSz="914400" rtl="0" eaLnBrk="1" fontAlgn="auto" latinLnBrk="0" hangingPunct="1">
              <a:lnSpc>
                <a:spcPct val="90000"/>
              </a:lnSpc>
              <a:spcBef>
                <a:spcPts val="250"/>
              </a:spcBef>
              <a:spcAft>
                <a:spcPts val="250"/>
              </a:spcAft>
              <a:buClr>
                <a:srgbClr val="006C3B"/>
              </a:buClr>
              <a:buSzTx/>
              <a:buFont typeface="Wingdings 2" pitchFamily="18" charset="2"/>
              <a:buChar char=""/>
              <a:tabLst/>
              <a:defRPr/>
            </a:pPr>
            <a:r>
              <a:rPr kumimoji="0" lang="en-ZA" sz="2800" b="0" i="0" u="none" strike="noStrike" kern="1200" cap="none" spc="0" normalizeH="0" baseline="0" noProof="0" dirty="0">
                <a:ln>
                  <a:noFill/>
                </a:ln>
                <a:effectLst/>
                <a:uLnTx/>
                <a:uFillTx/>
                <a:latin typeface="Tw Cen MT" panose="020B0602020104020603" pitchFamily="34" charset="0"/>
              </a:rPr>
              <a:t>Network externalities/Metcalfe’s Law</a:t>
            </a:r>
          </a:p>
          <a:p>
            <a:pPr marL="182880" marR="0" lvl="0" indent="-182880" algn="l" defTabSz="914400" rtl="0" eaLnBrk="1" fontAlgn="auto" latinLnBrk="0" hangingPunct="1">
              <a:lnSpc>
                <a:spcPct val="90000"/>
              </a:lnSpc>
              <a:spcBef>
                <a:spcPts val="1200"/>
              </a:spcBef>
              <a:spcAft>
                <a:spcPts val="0"/>
              </a:spcAft>
              <a:buClr>
                <a:srgbClr val="006C3B"/>
              </a:buClr>
              <a:buSzTx/>
              <a:buFont typeface="Wingdings 2" pitchFamily="18" charset="2"/>
              <a:buChar char=""/>
              <a:tabLst/>
              <a:defRPr/>
            </a:pPr>
            <a:r>
              <a:rPr kumimoji="0" lang="en-ZA" sz="3200" b="0" i="0" u="none" strike="noStrike" kern="1200" cap="none" spc="0" normalizeH="0" baseline="0" noProof="0" dirty="0">
                <a:ln>
                  <a:noFill/>
                </a:ln>
                <a:effectLst/>
                <a:uLnTx/>
                <a:uFillTx/>
                <a:latin typeface="Tw Cen MT" panose="020B0602020104020603" pitchFamily="34" charset="0"/>
              </a:rPr>
              <a:t>Source of value for network effects</a:t>
            </a:r>
          </a:p>
          <a:p>
            <a:pPr marL="685800" marR="0" lvl="1" indent="-182880" algn="l" defTabSz="914400" rtl="0" eaLnBrk="1" fontAlgn="auto" latinLnBrk="0" hangingPunct="1">
              <a:lnSpc>
                <a:spcPct val="90000"/>
              </a:lnSpc>
              <a:spcBef>
                <a:spcPts val="250"/>
              </a:spcBef>
              <a:spcAft>
                <a:spcPts val="250"/>
              </a:spcAft>
              <a:buClr>
                <a:srgbClr val="006C3B"/>
              </a:buClr>
              <a:buSzTx/>
              <a:buFont typeface="Wingdings 2" pitchFamily="18" charset="2"/>
              <a:buChar char=""/>
              <a:tabLst/>
              <a:defRPr/>
            </a:pPr>
            <a:r>
              <a:rPr kumimoji="0" lang="en-ZA" sz="2800" b="0" i="0" u="none" strike="noStrike" kern="1200" cap="none" spc="0" normalizeH="0" baseline="0" noProof="0" dirty="0">
                <a:ln>
                  <a:noFill/>
                </a:ln>
                <a:effectLst/>
                <a:uLnTx/>
                <a:uFillTx/>
                <a:latin typeface="Tw Cen MT" panose="020B0602020104020603" pitchFamily="34" charset="0"/>
              </a:rPr>
              <a:t>Exchange, staying power and complementary benefits</a:t>
            </a:r>
          </a:p>
          <a:p>
            <a:pPr marL="182880" marR="0" lvl="0" indent="-182880" algn="l" defTabSz="914400" rtl="0" eaLnBrk="1" fontAlgn="auto" latinLnBrk="0" hangingPunct="1">
              <a:lnSpc>
                <a:spcPct val="90000"/>
              </a:lnSpc>
              <a:spcBef>
                <a:spcPts val="1200"/>
              </a:spcBef>
              <a:spcAft>
                <a:spcPts val="0"/>
              </a:spcAft>
              <a:buClr>
                <a:srgbClr val="006C3B"/>
              </a:buClr>
              <a:buSzTx/>
              <a:buFont typeface="Wingdings 2" pitchFamily="18" charset="2"/>
              <a:buChar char=""/>
              <a:tabLst/>
              <a:defRPr/>
            </a:pPr>
            <a:r>
              <a:rPr kumimoji="0" lang="en-ZA" sz="3200" b="0" i="0" u="none" strike="noStrike" kern="1200" cap="none" spc="0" normalizeH="0" baseline="0" noProof="0" dirty="0">
                <a:ln>
                  <a:noFill/>
                </a:ln>
                <a:effectLst/>
                <a:uLnTx/>
                <a:uFillTx/>
                <a:latin typeface="Tw Cen MT" panose="020B0602020104020603" pitchFamily="34" charset="0"/>
              </a:rPr>
              <a:t>Switching cost</a:t>
            </a:r>
          </a:p>
          <a:p>
            <a:pPr marL="228600" indent="-182880" defTabSz="914400">
              <a:lnSpc>
                <a:spcPct val="90000"/>
              </a:lnSpc>
              <a:spcBef>
                <a:spcPts val="250"/>
              </a:spcBef>
              <a:spcAft>
                <a:spcPts val="250"/>
              </a:spcAft>
              <a:buClr>
                <a:srgbClr val="006C3B"/>
              </a:buClr>
              <a:buFont typeface="Wingdings 2" pitchFamily="18" charset="2"/>
              <a:buChar char=""/>
              <a:defRPr/>
            </a:pPr>
            <a:r>
              <a:rPr kumimoji="0" lang="en-ZA" sz="3200" b="0" i="0" u="none" strike="noStrike" kern="1200" cap="none" spc="0" normalizeH="0" baseline="0" noProof="0" dirty="0">
                <a:ln>
                  <a:noFill/>
                </a:ln>
                <a:effectLst/>
                <a:uLnTx/>
                <a:uFillTx/>
                <a:latin typeface="Tw Cen MT" panose="020B0602020104020603" pitchFamily="34" charset="0"/>
              </a:rPr>
              <a:t>Network structure</a:t>
            </a:r>
          </a:p>
          <a:p>
            <a:pPr marL="228600" indent="-182880" defTabSz="914400">
              <a:lnSpc>
                <a:spcPct val="90000"/>
              </a:lnSpc>
              <a:spcBef>
                <a:spcPts val="250"/>
              </a:spcBef>
              <a:spcAft>
                <a:spcPts val="250"/>
              </a:spcAft>
              <a:buClr>
                <a:srgbClr val="006C3B"/>
              </a:buClr>
              <a:buFont typeface="Wingdings 2" pitchFamily="18" charset="2"/>
              <a:buChar char=""/>
              <a:defRPr/>
            </a:pPr>
            <a:r>
              <a:rPr lang="en-ZA" sz="3200" dirty="0">
                <a:latin typeface="Tw Cen MT" panose="020B0602020104020603" pitchFamily="34" charset="0"/>
              </a:rPr>
              <a:t>Market differences</a:t>
            </a:r>
          </a:p>
          <a:p>
            <a:pPr marL="228600" indent="-182880" defTabSz="914400">
              <a:lnSpc>
                <a:spcPct val="90000"/>
              </a:lnSpc>
              <a:spcBef>
                <a:spcPts val="250"/>
              </a:spcBef>
              <a:spcAft>
                <a:spcPts val="250"/>
              </a:spcAft>
              <a:buClr>
                <a:srgbClr val="006C3B"/>
              </a:buClr>
              <a:buFont typeface="Wingdings 2" pitchFamily="18" charset="2"/>
              <a:buChar char=""/>
              <a:defRPr/>
            </a:pPr>
            <a:r>
              <a:rPr kumimoji="0" lang="en-ZA" sz="3200" b="0" i="0" u="none" strike="noStrike" kern="1200" cap="none" spc="0" normalizeH="0" baseline="0" noProof="0" dirty="0">
                <a:ln>
                  <a:noFill/>
                </a:ln>
                <a:effectLst/>
                <a:uLnTx/>
                <a:uFillTx/>
                <a:latin typeface="Tw Cen MT" panose="020B0602020104020603" pitchFamily="34" charset="0"/>
              </a:rPr>
              <a:t>Battling with the leader</a:t>
            </a:r>
          </a:p>
          <a:p>
            <a:pPr marL="228600" indent="-182880" defTabSz="914400">
              <a:lnSpc>
                <a:spcPct val="90000"/>
              </a:lnSpc>
              <a:spcBef>
                <a:spcPts val="250"/>
              </a:spcBef>
              <a:spcAft>
                <a:spcPts val="250"/>
              </a:spcAft>
              <a:buClr>
                <a:srgbClr val="006C3B"/>
              </a:buClr>
              <a:buFont typeface="Wingdings 2" pitchFamily="18" charset="2"/>
              <a:buChar char=""/>
              <a:defRPr/>
            </a:pPr>
            <a:r>
              <a:rPr lang="en-ZA" sz="3200" dirty="0">
                <a:latin typeface="Tw Cen MT" panose="020B0602020104020603" pitchFamily="34" charset="0"/>
              </a:rPr>
              <a:t>Congestion effects</a:t>
            </a:r>
          </a:p>
          <a:p>
            <a:pPr marL="228600" indent="-182880" defTabSz="914400">
              <a:lnSpc>
                <a:spcPct val="90000"/>
              </a:lnSpc>
              <a:spcBef>
                <a:spcPts val="250"/>
              </a:spcBef>
              <a:spcAft>
                <a:spcPts val="250"/>
              </a:spcAft>
              <a:buClr>
                <a:srgbClr val="006C3B"/>
              </a:buClr>
              <a:buFont typeface="Wingdings 2" pitchFamily="18" charset="2"/>
              <a:buChar char=""/>
              <a:defRPr/>
            </a:pPr>
            <a:r>
              <a:rPr kumimoji="0" lang="en-ZA" sz="3200" b="0" i="0" u="none" strike="noStrike" kern="1200" cap="none" spc="0" normalizeH="0" baseline="0" noProof="0" dirty="0">
                <a:ln>
                  <a:noFill/>
                </a:ln>
                <a:effectLst/>
                <a:uLnTx/>
                <a:uFillTx/>
                <a:latin typeface="Tw Cen MT" panose="020B0602020104020603" pitchFamily="34" charset="0"/>
              </a:rPr>
              <a:t>Strategies for competing in network effects markets</a:t>
            </a:r>
          </a:p>
        </p:txBody>
      </p:sp>
      <p:sp>
        <p:nvSpPr>
          <p:cNvPr id="8" name="TextBox 13">
            <a:extLst>
              <a:ext uri="{FF2B5EF4-FFF2-40B4-BE49-F238E27FC236}">
                <a16:creationId xmlns:a16="http://schemas.microsoft.com/office/drawing/2014/main" id="{320D4A15-B288-4C3F-A5CB-02B21F6698C4}"/>
              </a:ext>
            </a:extLst>
          </p:cNvPr>
          <p:cNvSpPr txBox="1"/>
          <p:nvPr/>
        </p:nvSpPr>
        <p:spPr>
          <a:xfrm rot="16200000">
            <a:off x="10042132" y="5452308"/>
            <a:ext cx="3908857" cy="252249"/>
          </a:xfrm>
          <a:prstGeom prst="rect">
            <a:avLst/>
          </a:prstGeom>
        </p:spPr>
        <p:txBody>
          <a:bodyPr lIns="0" tIns="0" rIns="0" bIns="0" rtlCol="0" anchor="t">
            <a:spAutoFit/>
          </a:bodyPr>
          <a:lstStyle/>
          <a:p>
            <a:pPr algn="r" defTabSz="609630">
              <a:lnSpc>
                <a:spcPts val="2239"/>
              </a:lnSpc>
              <a:spcBef>
                <a:spcPct val="0"/>
              </a:spcBef>
            </a:pPr>
            <a:r>
              <a:rPr lang="en-US" sz="1200" dirty="0">
                <a:solidFill>
                  <a:srgbClr val="1B1B1B"/>
                </a:solidFill>
                <a:latin typeface="Halant Medium"/>
              </a:rPr>
              <a:t>Wrap Up| 20 May 2026</a:t>
            </a:r>
          </a:p>
        </p:txBody>
      </p:sp>
    </p:spTree>
    <p:extLst>
      <p:ext uri="{BB962C8B-B14F-4D97-AF65-F5344CB8AC3E}">
        <p14:creationId xmlns:p14="http://schemas.microsoft.com/office/powerpoint/2010/main" val="274762888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1" name="Picture 20">
            <a:extLst>
              <a:ext uri="{FF2B5EF4-FFF2-40B4-BE49-F238E27FC236}">
                <a16:creationId xmlns:a16="http://schemas.microsoft.com/office/drawing/2014/main" id="{BACFB3DE-2320-4C6A-B3EE-473868C19823}"/>
              </a:ext>
            </a:extLst>
          </p:cNvPr>
          <p:cNvPicPr>
            <a:picLocks noChangeAspect="1"/>
          </p:cNvPicPr>
          <p:nvPr/>
        </p:nvPicPr>
        <p:blipFill>
          <a:blip r:embed="rId3"/>
          <a:stretch>
            <a:fillRect/>
          </a:stretch>
        </p:blipFill>
        <p:spPr>
          <a:xfrm>
            <a:off x="0" y="-9606"/>
            <a:ext cx="3531870" cy="6858000"/>
          </a:xfrm>
          <a:prstGeom prst="rect">
            <a:avLst/>
          </a:prstGeom>
        </p:spPr>
      </p:pic>
      <p:sp>
        <p:nvSpPr>
          <p:cNvPr id="34" name="TextBox 2">
            <a:extLst>
              <a:ext uri="{FF2B5EF4-FFF2-40B4-BE49-F238E27FC236}">
                <a16:creationId xmlns:a16="http://schemas.microsoft.com/office/drawing/2014/main" id="{74F77639-4627-4280-A447-310CD9B63EA4}"/>
              </a:ext>
            </a:extLst>
          </p:cNvPr>
          <p:cNvSpPr txBox="1"/>
          <p:nvPr/>
        </p:nvSpPr>
        <p:spPr>
          <a:xfrm>
            <a:off x="307111" y="2180345"/>
            <a:ext cx="3251856" cy="1584408"/>
          </a:xfrm>
          <a:prstGeom prst="rect">
            <a:avLst/>
          </a:prstGeom>
        </p:spPr>
        <p:txBody>
          <a:bodyPr wrap="square" lIns="0" tIns="0" rIns="0" bIns="0" rtlCol="0" anchor="t">
            <a:spAutoFit/>
          </a:bodyPr>
          <a:lstStyle/>
          <a:p>
            <a:pPr defTabSz="609630">
              <a:lnSpc>
                <a:spcPts val="6400"/>
              </a:lnSpc>
            </a:pPr>
            <a:r>
              <a:rPr lang="en-GB" sz="4500" b="1" dirty="0">
                <a:solidFill>
                  <a:schemeClr val="bg1">
                    <a:lumMod val="85000"/>
                  </a:schemeClr>
                </a:solidFill>
                <a:latin typeface="Tw Cen MT" panose="020B0602020104020603" pitchFamily="34" charset="0"/>
              </a:rPr>
              <a:t>Social Technologies</a:t>
            </a:r>
            <a:endParaRPr lang="en-US" sz="4500" b="1" dirty="0">
              <a:solidFill>
                <a:schemeClr val="bg1">
                  <a:lumMod val="85000"/>
                </a:schemeClr>
              </a:solidFill>
              <a:latin typeface="Tw Cen MT" panose="020B0602020104020603" pitchFamily="34" charset="0"/>
              <a:cs typeface="Aharoni" panose="02010803020104030203" pitchFamily="2" charset="-79"/>
            </a:endParaRPr>
          </a:p>
        </p:txBody>
      </p:sp>
      <p:sp>
        <p:nvSpPr>
          <p:cNvPr id="18" name="Rectangle 17">
            <a:extLst>
              <a:ext uri="{FF2B5EF4-FFF2-40B4-BE49-F238E27FC236}">
                <a16:creationId xmlns:a16="http://schemas.microsoft.com/office/drawing/2014/main" id="{A53BA024-EFD3-4AC3-B707-0F899A9BC43E}"/>
              </a:ext>
            </a:extLst>
          </p:cNvPr>
          <p:cNvSpPr/>
          <p:nvPr/>
        </p:nvSpPr>
        <p:spPr>
          <a:xfrm>
            <a:off x="8878" y="6720398"/>
            <a:ext cx="12168000" cy="180000"/>
          </a:xfrm>
          <a:prstGeom prst="rect">
            <a:avLst/>
          </a:prstGeom>
          <a:solidFill>
            <a:srgbClr val="006C3B"/>
          </a:solidFill>
          <a:ln>
            <a:solidFill>
              <a:srgbClr val="006C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20" name="Oval 19">
            <a:extLst>
              <a:ext uri="{FF2B5EF4-FFF2-40B4-BE49-F238E27FC236}">
                <a16:creationId xmlns:a16="http://schemas.microsoft.com/office/drawing/2014/main" id="{A389E1A0-8EAF-473F-B685-96A6CCFE08A3}"/>
              </a:ext>
            </a:extLst>
          </p:cNvPr>
          <p:cNvSpPr/>
          <p:nvPr/>
        </p:nvSpPr>
        <p:spPr>
          <a:xfrm>
            <a:off x="10955045" y="204185"/>
            <a:ext cx="594804" cy="577050"/>
          </a:xfrm>
          <a:prstGeom prst="ellipse">
            <a:avLst/>
          </a:prstGeom>
          <a:solidFill>
            <a:srgbClr val="006C3B"/>
          </a:solidFill>
          <a:ln>
            <a:solidFill>
              <a:srgbClr val="006C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dirty="0"/>
              <a:t>X</a:t>
            </a:r>
            <a:endParaRPr lang="en-ZA" sz="1400" dirty="0"/>
          </a:p>
        </p:txBody>
      </p:sp>
      <p:sp>
        <p:nvSpPr>
          <p:cNvPr id="10" name="TextBox 9">
            <a:extLst>
              <a:ext uri="{FF2B5EF4-FFF2-40B4-BE49-F238E27FC236}">
                <a16:creationId xmlns:a16="http://schemas.microsoft.com/office/drawing/2014/main" id="{2D65BAC4-7291-4EF6-97CF-E40A7AB7716B}"/>
              </a:ext>
            </a:extLst>
          </p:cNvPr>
          <p:cNvSpPr txBox="1"/>
          <p:nvPr/>
        </p:nvSpPr>
        <p:spPr>
          <a:xfrm>
            <a:off x="3724098" y="1446954"/>
            <a:ext cx="8272462" cy="3699474"/>
          </a:xfrm>
          <a:prstGeom prst="rect">
            <a:avLst/>
          </a:prstGeom>
          <a:noFill/>
        </p:spPr>
        <p:txBody>
          <a:bodyPr wrap="square">
            <a:spAutoFit/>
          </a:bodyPr>
          <a:lstStyle/>
          <a:p>
            <a:pPr marL="182880" marR="0" lvl="0" indent="-182880" algn="l" defTabSz="914400" rtl="0" eaLnBrk="1" fontAlgn="auto" latinLnBrk="0" hangingPunct="1">
              <a:lnSpc>
                <a:spcPct val="90000"/>
              </a:lnSpc>
              <a:spcBef>
                <a:spcPts val="1200"/>
              </a:spcBef>
              <a:spcAft>
                <a:spcPts val="0"/>
              </a:spcAft>
              <a:buClr>
                <a:srgbClr val="006C3B"/>
              </a:buClr>
              <a:buSzTx/>
              <a:buFont typeface="Wingdings 2" pitchFamily="18" charset="2"/>
              <a:buChar char=""/>
              <a:tabLst/>
              <a:defRPr/>
            </a:pPr>
            <a:r>
              <a:rPr kumimoji="0" lang="en-ZA" sz="3600" b="0" i="0" u="none" strike="noStrike" kern="1200" cap="none" spc="0" normalizeH="0" baseline="0" noProof="0" dirty="0">
                <a:ln>
                  <a:noFill/>
                </a:ln>
                <a:effectLst/>
                <a:uLnTx/>
                <a:uFillTx/>
                <a:latin typeface="Tw Cen MT" panose="020B0602020104020603" pitchFamily="34" charset="0"/>
              </a:rPr>
              <a:t>What is social media?</a:t>
            </a:r>
          </a:p>
          <a:p>
            <a:pPr marL="182880" marR="0" lvl="0" indent="-182880" algn="l" defTabSz="914400" rtl="0" eaLnBrk="1" fontAlgn="auto" latinLnBrk="0" hangingPunct="1">
              <a:lnSpc>
                <a:spcPct val="90000"/>
              </a:lnSpc>
              <a:spcBef>
                <a:spcPts val="1200"/>
              </a:spcBef>
              <a:spcAft>
                <a:spcPts val="0"/>
              </a:spcAft>
              <a:buClr>
                <a:srgbClr val="006C3B"/>
              </a:buClr>
              <a:buSzTx/>
              <a:buFont typeface="Wingdings 2" pitchFamily="18" charset="2"/>
              <a:buChar char=""/>
              <a:tabLst/>
              <a:defRPr/>
            </a:pPr>
            <a:r>
              <a:rPr kumimoji="0" lang="en-ZA" sz="3600" b="0" i="0" u="none" strike="noStrike" kern="1200" cap="none" spc="0" normalizeH="0" baseline="0" noProof="0" dirty="0">
                <a:ln>
                  <a:noFill/>
                </a:ln>
                <a:effectLst/>
                <a:uLnTx/>
                <a:uFillTx/>
                <a:latin typeface="Tw Cen MT" panose="020B0602020104020603" pitchFamily="34" charset="0"/>
              </a:rPr>
              <a:t>Key tools of social media</a:t>
            </a:r>
          </a:p>
          <a:p>
            <a:pPr marL="182880" marR="0" lvl="0" indent="-182880" algn="l" defTabSz="914400" rtl="0" eaLnBrk="1" fontAlgn="auto" latinLnBrk="0" hangingPunct="1">
              <a:lnSpc>
                <a:spcPct val="90000"/>
              </a:lnSpc>
              <a:spcBef>
                <a:spcPts val="1200"/>
              </a:spcBef>
              <a:spcAft>
                <a:spcPts val="0"/>
              </a:spcAft>
              <a:buClr>
                <a:srgbClr val="006C3B"/>
              </a:buClr>
              <a:buSzTx/>
              <a:buFont typeface="Wingdings 2" pitchFamily="18" charset="2"/>
              <a:buChar char=""/>
              <a:tabLst/>
              <a:defRPr/>
            </a:pPr>
            <a:r>
              <a:rPr kumimoji="0" lang="en-ZA" sz="3600" b="0" i="0" u="none" strike="noStrike" kern="1200" cap="none" spc="0" normalizeH="0" baseline="0" noProof="0" dirty="0">
                <a:ln>
                  <a:noFill/>
                </a:ln>
                <a:effectLst/>
                <a:uLnTx/>
                <a:uFillTx/>
                <a:latin typeface="Tw Cen MT" panose="020B0602020104020603" pitchFamily="34" charset="0"/>
              </a:rPr>
              <a:t>User-generated content</a:t>
            </a:r>
          </a:p>
          <a:p>
            <a:pPr marL="182880" marR="0" lvl="0" indent="-182880" algn="l" defTabSz="914400" rtl="0" eaLnBrk="1" fontAlgn="auto" latinLnBrk="0" hangingPunct="1">
              <a:lnSpc>
                <a:spcPct val="90000"/>
              </a:lnSpc>
              <a:spcBef>
                <a:spcPts val="1200"/>
              </a:spcBef>
              <a:spcAft>
                <a:spcPts val="0"/>
              </a:spcAft>
              <a:buClr>
                <a:srgbClr val="006C3B"/>
              </a:buClr>
              <a:buSzTx/>
              <a:buFont typeface="Wingdings 2" pitchFamily="18" charset="2"/>
              <a:buChar char=""/>
              <a:tabLst/>
              <a:defRPr/>
            </a:pPr>
            <a:r>
              <a:rPr kumimoji="0" lang="en-GB" sz="3600" b="0" i="0" u="none" strike="noStrike" kern="1200" cap="none" spc="0" normalizeH="0" baseline="0" noProof="0" dirty="0">
                <a:ln>
                  <a:noFill/>
                </a:ln>
                <a:effectLst/>
                <a:uLnTx/>
                <a:uFillTx/>
                <a:latin typeface="Tw Cen MT" panose="020B0602020104020603" pitchFamily="34" charset="0"/>
              </a:rPr>
              <a:t>Social Media Awareness and Response Team</a:t>
            </a:r>
          </a:p>
          <a:p>
            <a:pPr marL="182880" marR="0" lvl="0" indent="-182880" algn="l" defTabSz="914400" rtl="0" eaLnBrk="1" fontAlgn="auto" latinLnBrk="0" hangingPunct="1">
              <a:lnSpc>
                <a:spcPct val="90000"/>
              </a:lnSpc>
              <a:spcBef>
                <a:spcPts val="1200"/>
              </a:spcBef>
              <a:spcAft>
                <a:spcPts val="0"/>
              </a:spcAft>
              <a:buClr>
                <a:srgbClr val="006C3B"/>
              </a:buClr>
              <a:buSzTx/>
              <a:buFont typeface="Wingdings 2" pitchFamily="18" charset="2"/>
              <a:buChar char=""/>
              <a:tabLst/>
              <a:defRPr/>
            </a:pPr>
            <a:r>
              <a:rPr kumimoji="0" lang="en-GB" sz="3600" b="0" i="0" u="none" strike="noStrike" kern="1200" cap="none" spc="0" normalizeH="0" baseline="0" noProof="0" dirty="0">
                <a:ln>
                  <a:noFill/>
                </a:ln>
                <a:effectLst/>
                <a:uLnTx/>
                <a:uFillTx/>
                <a:latin typeface="Tw Cen MT" panose="020B0602020104020603" pitchFamily="34" charset="0"/>
              </a:rPr>
              <a:t>Issues for Policies and Guidelines</a:t>
            </a:r>
          </a:p>
        </p:txBody>
      </p:sp>
      <p:sp>
        <p:nvSpPr>
          <p:cNvPr id="9" name="TextBox 13">
            <a:extLst>
              <a:ext uri="{FF2B5EF4-FFF2-40B4-BE49-F238E27FC236}">
                <a16:creationId xmlns:a16="http://schemas.microsoft.com/office/drawing/2014/main" id="{3F860364-BF7F-4C5E-B53D-890592B92C5E}"/>
              </a:ext>
            </a:extLst>
          </p:cNvPr>
          <p:cNvSpPr txBox="1"/>
          <p:nvPr/>
        </p:nvSpPr>
        <p:spPr>
          <a:xfrm rot="16200000">
            <a:off x="10042132" y="5452308"/>
            <a:ext cx="3908857" cy="252249"/>
          </a:xfrm>
          <a:prstGeom prst="rect">
            <a:avLst/>
          </a:prstGeom>
        </p:spPr>
        <p:txBody>
          <a:bodyPr lIns="0" tIns="0" rIns="0" bIns="0" rtlCol="0" anchor="t">
            <a:spAutoFit/>
          </a:bodyPr>
          <a:lstStyle/>
          <a:p>
            <a:pPr algn="r" defTabSz="609630">
              <a:lnSpc>
                <a:spcPts val="2239"/>
              </a:lnSpc>
              <a:spcBef>
                <a:spcPct val="0"/>
              </a:spcBef>
            </a:pPr>
            <a:r>
              <a:rPr lang="en-US" sz="1200" dirty="0">
                <a:solidFill>
                  <a:srgbClr val="1B1B1B"/>
                </a:solidFill>
                <a:latin typeface="Halant Medium"/>
              </a:rPr>
              <a:t>Wrap Up| 20 May 2026</a:t>
            </a:r>
          </a:p>
        </p:txBody>
      </p:sp>
    </p:spTree>
    <p:extLst>
      <p:ext uri="{BB962C8B-B14F-4D97-AF65-F5344CB8AC3E}">
        <p14:creationId xmlns:p14="http://schemas.microsoft.com/office/powerpoint/2010/main" val="213919556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1" name="Picture 20">
            <a:extLst>
              <a:ext uri="{FF2B5EF4-FFF2-40B4-BE49-F238E27FC236}">
                <a16:creationId xmlns:a16="http://schemas.microsoft.com/office/drawing/2014/main" id="{BACFB3DE-2320-4C6A-B3EE-473868C19823}"/>
              </a:ext>
            </a:extLst>
          </p:cNvPr>
          <p:cNvPicPr>
            <a:picLocks noChangeAspect="1"/>
          </p:cNvPicPr>
          <p:nvPr/>
        </p:nvPicPr>
        <p:blipFill>
          <a:blip r:embed="rId3"/>
          <a:stretch>
            <a:fillRect/>
          </a:stretch>
        </p:blipFill>
        <p:spPr>
          <a:xfrm>
            <a:off x="0" y="-9606"/>
            <a:ext cx="3278725" cy="6858000"/>
          </a:xfrm>
          <a:prstGeom prst="rect">
            <a:avLst/>
          </a:prstGeom>
        </p:spPr>
      </p:pic>
      <p:sp>
        <p:nvSpPr>
          <p:cNvPr id="34" name="TextBox 2">
            <a:extLst>
              <a:ext uri="{FF2B5EF4-FFF2-40B4-BE49-F238E27FC236}">
                <a16:creationId xmlns:a16="http://schemas.microsoft.com/office/drawing/2014/main" id="{74F77639-4627-4280-A447-310CD9B63EA4}"/>
              </a:ext>
            </a:extLst>
          </p:cNvPr>
          <p:cNvSpPr txBox="1"/>
          <p:nvPr/>
        </p:nvSpPr>
        <p:spPr>
          <a:xfrm>
            <a:off x="45006" y="1060205"/>
            <a:ext cx="3956206" cy="3225883"/>
          </a:xfrm>
          <a:prstGeom prst="rect">
            <a:avLst/>
          </a:prstGeom>
        </p:spPr>
        <p:txBody>
          <a:bodyPr lIns="0" tIns="0" rIns="0" bIns="0" rtlCol="0" anchor="t">
            <a:spAutoFit/>
          </a:bodyPr>
          <a:lstStyle/>
          <a:p>
            <a:pPr defTabSz="609630">
              <a:lnSpc>
                <a:spcPts val="6400"/>
              </a:lnSpc>
            </a:pPr>
            <a:r>
              <a:rPr lang="en-GB" sz="4500" b="1" dirty="0">
                <a:solidFill>
                  <a:schemeClr val="bg1">
                    <a:lumMod val="85000"/>
                  </a:schemeClr>
                </a:solidFill>
                <a:latin typeface="Tw Cen MT" panose="020B0602020104020603" pitchFamily="34" charset="0"/>
              </a:rPr>
              <a:t>Sharing Economy &amp; Collaborative consumption</a:t>
            </a:r>
            <a:endParaRPr lang="en-US" sz="4500" b="1" dirty="0">
              <a:solidFill>
                <a:schemeClr val="bg1">
                  <a:lumMod val="85000"/>
                </a:schemeClr>
              </a:solidFill>
              <a:latin typeface="Tw Cen MT" panose="020B0602020104020603" pitchFamily="34" charset="0"/>
              <a:cs typeface="Aharoni" panose="02010803020104030203" pitchFamily="2" charset="-79"/>
            </a:endParaRPr>
          </a:p>
        </p:txBody>
      </p:sp>
      <p:sp>
        <p:nvSpPr>
          <p:cNvPr id="18" name="Rectangle 17">
            <a:extLst>
              <a:ext uri="{FF2B5EF4-FFF2-40B4-BE49-F238E27FC236}">
                <a16:creationId xmlns:a16="http://schemas.microsoft.com/office/drawing/2014/main" id="{A53BA024-EFD3-4AC3-B707-0F899A9BC43E}"/>
              </a:ext>
            </a:extLst>
          </p:cNvPr>
          <p:cNvSpPr/>
          <p:nvPr/>
        </p:nvSpPr>
        <p:spPr>
          <a:xfrm>
            <a:off x="8878" y="6720398"/>
            <a:ext cx="12168000" cy="180000"/>
          </a:xfrm>
          <a:prstGeom prst="rect">
            <a:avLst/>
          </a:prstGeom>
          <a:solidFill>
            <a:srgbClr val="006C3B"/>
          </a:solidFill>
          <a:ln>
            <a:solidFill>
              <a:srgbClr val="006C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20" name="Oval 19">
            <a:extLst>
              <a:ext uri="{FF2B5EF4-FFF2-40B4-BE49-F238E27FC236}">
                <a16:creationId xmlns:a16="http://schemas.microsoft.com/office/drawing/2014/main" id="{A389E1A0-8EAF-473F-B685-96A6CCFE08A3}"/>
              </a:ext>
            </a:extLst>
          </p:cNvPr>
          <p:cNvSpPr/>
          <p:nvPr/>
        </p:nvSpPr>
        <p:spPr>
          <a:xfrm>
            <a:off x="10955045" y="204185"/>
            <a:ext cx="594804" cy="577050"/>
          </a:xfrm>
          <a:prstGeom prst="ellipse">
            <a:avLst/>
          </a:prstGeom>
          <a:solidFill>
            <a:srgbClr val="006C3B"/>
          </a:solidFill>
          <a:ln>
            <a:solidFill>
              <a:srgbClr val="006C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dirty="0"/>
              <a:t>XI</a:t>
            </a:r>
            <a:endParaRPr lang="en-ZA" sz="1400" dirty="0"/>
          </a:p>
        </p:txBody>
      </p:sp>
      <p:sp>
        <p:nvSpPr>
          <p:cNvPr id="9" name="Content Placeholder 5">
            <a:extLst>
              <a:ext uri="{FF2B5EF4-FFF2-40B4-BE49-F238E27FC236}">
                <a16:creationId xmlns:a16="http://schemas.microsoft.com/office/drawing/2014/main" id="{DAD91E07-BD5B-481A-9670-2B0C5848FC47}"/>
              </a:ext>
            </a:extLst>
          </p:cNvPr>
          <p:cNvSpPr txBox="1">
            <a:spLocks/>
          </p:cNvSpPr>
          <p:nvPr/>
        </p:nvSpPr>
        <p:spPr>
          <a:xfrm>
            <a:off x="3703320" y="951550"/>
            <a:ext cx="7771008" cy="5120640"/>
          </a:xfrm>
          <a:prstGeom prst="rect">
            <a:avLst/>
          </a:prstGeom>
        </p:spPr>
        <p:txBody>
          <a:bodyPr>
            <a:normAutofit/>
          </a:bodyPr>
          <a:lstStyle>
            <a:lvl1pPr marL="228611" indent="-228611" algn="l" defTabSz="609630" rtl="0" eaLnBrk="1" latinLnBrk="0" hangingPunct="1">
              <a:spcBef>
                <a:spcPct val="20000"/>
              </a:spcBef>
              <a:buFont typeface="Arial" pitchFamily="34" charset="0"/>
              <a:buChar char="•"/>
              <a:defRPr sz="2133" kern="1200">
                <a:solidFill>
                  <a:schemeClr val="tx1"/>
                </a:solidFill>
                <a:latin typeface="+mn-lt"/>
                <a:ea typeface="+mn-ea"/>
                <a:cs typeface="+mn-cs"/>
              </a:defRPr>
            </a:lvl1pPr>
            <a:lvl2pPr marL="495325" indent="-190510" algn="l" defTabSz="609630" rtl="0" eaLnBrk="1" latinLnBrk="0" hangingPunct="1">
              <a:spcBef>
                <a:spcPct val="20000"/>
              </a:spcBef>
              <a:buFont typeface="Arial" pitchFamily="34" charset="0"/>
              <a:buChar char="–"/>
              <a:defRPr sz="1867" kern="1200">
                <a:solidFill>
                  <a:schemeClr val="tx1"/>
                </a:solidFill>
                <a:latin typeface="+mn-lt"/>
                <a:ea typeface="+mn-ea"/>
                <a:cs typeface="+mn-cs"/>
              </a:defRPr>
            </a:lvl2pPr>
            <a:lvl3pPr marL="762038" indent="-152408" algn="l" defTabSz="609630" rtl="0" eaLnBrk="1" latinLnBrk="0" hangingPunct="1">
              <a:spcBef>
                <a:spcPct val="20000"/>
              </a:spcBef>
              <a:buFont typeface="Arial" pitchFamily="34" charset="0"/>
              <a:buChar char="•"/>
              <a:defRPr sz="1600" kern="1200">
                <a:solidFill>
                  <a:schemeClr val="tx1"/>
                </a:solidFill>
                <a:latin typeface="+mn-lt"/>
                <a:ea typeface="+mn-ea"/>
                <a:cs typeface="+mn-cs"/>
              </a:defRPr>
            </a:lvl3pPr>
            <a:lvl4pPr marL="1066853"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4pPr>
            <a:lvl5pPr marL="137166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5pPr>
            <a:lvl6pPr marL="167648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6pPr>
            <a:lvl7pPr marL="198129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7pPr>
            <a:lvl8pPr marL="228611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8pPr>
            <a:lvl9pPr marL="2590930"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9pPr>
          </a:lstStyle>
          <a:p>
            <a:pPr>
              <a:buClr>
                <a:srgbClr val="006C3B"/>
              </a:buClr>
            </a:pPr>
            <a:r>
              <a:rPr lang="en-ZA" sz="3200" dirty="0">
                <a:latin typeface="Tw Cen MT" panose="020B0602020104020603" pitchFamily="34" charset="0"/>
              </a:rPr>
              <a:t>Understand the concepts</a:t>
            </a:r>
          </a:p>
          <a:p>
            <a:pPr>
              <a:buClr>
                <a:srgbClr val="006C3B"/>
              </a:buClr>
            </a:pPr>
            <a:r>
              <a:rPr lang="en-ZA" sz="3200" dirty="0">
                <a:latin typeface="Tw Cen MT" panose="020B0602020104020603" pitchFamily="34" charset="0"/>
              </a:rPr>
              <a:t>Factor fuelling sharing economy</a:t>
            </a:r>
          </a:p>
          <a:p>
            <a:pPr>
              <a:buClr>
                <a:srgbClr val="006C3B"/>
              </a:buClr>
            </a:pPr>
            <a:r>
              <a:rPr lang="en-ZA" sz="3200" dirty="0">
                <a:latin typeface="Tw Cen MT" panose="020B0602020104020603" pitchFamily="34" charset="0"/>
              </a:rPr>
              <a:t>Wining in electronic markets</a:t>
            </a:r>
          </a:p>
          <a:p>
            <a:pPr>
              <a:buClr>
                <a:srgbClr val="006C3B"/>
              </a:buClr>
            </a:pPr>
            <a:r>
              <a:rPr lang="en-GB" sz="3200" dirty="0">
                <a:latin typeface="Tw Cen MT" panose="020B0602020104020603" pitchFamily="34" charset="0"/>
              </a:rPr>
              <a:t>Challenges of trust, safety and regulations</a:t>
            </a:r>
          </a:p>
          <a:p>
            <a:pPr>
              <a:buClr>
                <a:srgbClr val="006C3B"/>
              </a:buClr>
            </a:pPr>
            <a:r>
              <a:rPr lang="en-GB" sz="3200" dirty="0">
                <a:latin typeface="Tw Cen MT" panose="020B0602020104020603" pitchFamily="34" charset="0"/>
              </a:rPr>
              <a:t>Collaboration with established players</a:t>
            </a:r>
          </a:p>
          <a:p>
            <a:pPr>
              <a:buClr>
                <a:srgbClr val="006C3B"/>
              </a:buClr>
            </a:pPr>
            <a:r>
              <a:rPr lang="en-GB" sz="3200" dirty="0">
                <a:latin typeface="Tw Cen MT" panose="020B0602020104020603" pitchFamily="34" charset="0"/>
              </a:rPr>
              <a:t>Airbnb</a:t>
            </a:r>
          </a:p>
          <a:p>
            <a:pPr>
              <a:buClr>
                <a:srgbClr val="006C3B"/>
              </a:buClr>
            </a:pPr>
            <a:r>
              <a:rPr lang="en-GB" sz="3200" dirty="0">
                <a:latin typeface="Tw Cen MT" panose="020B0602020104020603" pitchFamily="34" charset="0"/>
              </a:rPr>
              <a:t>Uber</a:t>
            </a:r>
            <a:endParaRPr lang="en-ZA" sz="3200" dirty="0">
              <a:latin typeface="Tw Cen MT" panose="020B0602020104020603" pitchFamily="34" charset="0"/>
            </a:endParaRPr>
          </a:p>
        </p:txBody>
      </p:sp>
      <p:sp>
        <p:nvSpPr>
          <p:cNvPr id="8" name="TextBox 13">
            <a:extLst>
              <a:ext uri="{FF2B5EF4-FFF2-40B4-BE49-F238E27FC236}">
                <a16:creationId xmlns:a16="http://schemas.microsoft.com/office/drawing/2014/main" id="{4FED5389-DA35-4BD3-8159-5EF7B85BB922}"/>
              </a:ext>
            </a:extLst>
          </p:cNvPr>
          <p:cNvSpPr txBox="1"/>
          <p:nvPr/>
        </p:nvSpPr>
        <p:spPr>
          <a:xfrm rot="16200000">
            <a:off x="10042132" y="5452308"/>
            <a:ext cx="3908857" cy="252249"/>
          </a:xfrm>
          <a:prstGeom prst="rect">
            <a:avLst/>
          </a:prstGeom>
        </p:spPr>
        <p:txBody>
          <a:bodyPr lIns="0" tIns="0" rIns="0" bIns="0" rtlCol="0" anchor="t">
            <a:spAutoFit/>
          </a:bodyPr>
          <a:lstStyle/>
          <a:p>
            <a:pPr algn="r" defTabSz="609630">
              <a:lnSpc>
                <a:spcPts val="2239"/>
              </a:lnSpc>
              <a:spcBef>
                <a:spcPct val="0"/>
              </a:spcBef>
            </a:pPr>
            <a:r>
              <a:rPr lang="en-US" sz="1200" dirty="0">
                <a:solidFill>
                  <a:srgbClr val="1B1B1B"/>
                </a:solidFill>
                <a:latin typeface="Halant Medium"/>
              </a:rPr>
              <a:t>Wrap Up| 20 May 2026</a:t>
            </a:r>
          </a:p>
        </p:txBody>
      </p:sp>
    </p:spTree>
    <p:extLst>
      <p:ext uri="{BB962C8B-B14F-4D97-AF65-F5344CB8AC3E}">
        <p14:creationId xmlns:p14="http://schemas.microsoft.com/office/powerpoint/2010/main" val="288033392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1" name="Picture 20">
            <a:extLst>
              <a:ext uri="{FF2B5EF4-FFF2-40B4-BE49-F238E27FC236}">
                <a16:creationId xmlns:a16="http://schemas.microsoft.com/office/drawing/2014/main" id="{BACFB3DE-2320-4C6A-B3EE-473868C19823}"/>
              </a:ext>
            </a:extLst>
          </p:cNvPr>
          <p:cNvPicPr>
            <a:picLocks noChangeAspect="1"/>
          </p:cNvPicPr>
          <p:nvPr/>
        </p:nvPicPr>
        <p:blipFill>
          <a:blip r:embed="rId3"/>
          <a:stretch>
            <a:fillRect/>
          </a:stretch>
        </p:blipFill>
        <p:spPr>
          <a:xfrm>
            <a:off x="0" y="-9606"/>
            <a:ext cx="3278725" cy="6858000"/>
          </a:xfrm>
          <a:prstGeom prst="rect">
            <a:avLst/>
          </a:prstGeom>
        </p:spPr>
      </p:pic>
      <p:sp>
        <p:nvSpPr>
          <p:cNvPr id="34" name="TextBox 2">
            <a:extLst>
              <a:ext uri="{FF2B5EF4-FFF2-40B4-BE49-F238E27FC236}">
                <a16:creationId xmlns:a16="http://schemas.microsoft.com/office/drawing/2014/main" id="{74F77639-4627-4280-A447-310CD9B63EA4}"/>
              </a:ext>
            </a:extLst>
          </p:cNvPr>
          <p:cNvSpPr txBox="1"/>
          <p:nvPr/>
        </p:nvSpPr>
        <p:spPr>
          <a:xfrm>
            <a:off x="168976" y="2152823"/>
            <a:ext cx="2940772" cy="2405146"/>
          </a:xfrm>
          <a:prstGeom prst="rect">
            <a:avLst/>
          </a:prstGeom>
        </p:spPr>
        <p:txBody>
          <a:bodyPr wrap="square" lIns="0" tIns="0" rIns="0" bIns="0" rtlCol="0" anchor="t">
            <a:spAutoFit/>
          </a:bodyPr>
          <a:lstStyle/>
          <a:p>
            <a:pPr defTabSz="609630">
              <a:lnSpc>
                <a:spcPts val="6400"/>
              </a:lnSpc>
            </a:pPr>
            <a:r>
              <a:rPr lang="en-GB" sz="4500" b="1" dirty="0">
                <a:solidFill>
                  <a:schemeClr val="bg1">
                    <a:lumMod val="85000"/>
                  </a:schemeClr>
                </a:solidFill>
                <a:latin typeface="Tw Cen MT" panose="020B0602020104020603" pitchFamily="34" charset="0"/>
              </a:rPr>
              <a:t>End of </a:t>
            </a:r>
          </a:p>
          <a:p>
            <a:pPr defTabSz="609630">
              <a:lnSpc>
                <a:spcPts val="6400"/>
              </a:lnSpc>
            </a:pPr>
            <a:r>
              <a:rPr lang="en-GB" sz="4500" b="1" dirty="0">
                <a:solidFill>
                  <a:schemeClr val="bg1">
                    <a:lumMod val="85000"/>
                  </a:schemeClr>
                </a:solidFill>
                <a:latin typeface="Tw Cen MT" panose="020B0602020104020603" pitchFamily="34" charset="0"/>
              </a:rPr>
              <a:t>Module Assessment</a:t>
            </a:r>
            <a:endParaRPr lang="en-US" sz="4500" b="1" dirty="0">
              <a:solidFill>
                <a:schemeClr val="bg1">
                  <a:lumMod val="85000"/>
                </a:schemeClr>
              </a:solidFill>
              <a:latin typeface="Tw Cen MT" panose="020B0602020104020603" pitchFamily="34" charset="0"/>
              <a:cs typeface="Aharoni" panose="02010803020104030203" pitchFamily="2" charset="-79"/>
            </a:endParaRPr>
          </a:p>
        </p:txBody>
      </p:sp>
      <p:sp>
        <p:nvSpPr>
          <p:cNvPr id="18" name="Rectangle 17">
            <a:extLst>
              <a:ext uri="{FF2B5EF4-FFF2-40B4-BE49-F238E27FC236}">
                <a16:creationId xmlns:a16="http://schemas.microsoft.com/office/drawing/2014/main" id="{A53BA024-EFD3-4AC3-B707-0F899A9BC43E}"/>
              </a:ext>
            </a:extLst>
          </p:cNvPr>
          <p:cNvSpPr/>
          <p:nvPr/>
        </p:nvSpPr>
        <p:spPr>
          <a:xfrm>
            <a:off x="8878" y="6720398"/>
            <a:ext cx="12168000" cy="180000"/>
          </a:xfrm>
          <a:prstGeom prst="rect">
            <a:avLst/>
          </a:prstGeom>
          <a:solidFill>
            <a:srgbClr val="006C3B"/>
          </a:solidFill>
          <a:ln>
            <a:solidFill>
              <a:srgbClr val="006C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20" name="Oval 19">
            <a:extLst>
              <a:ext uri="{FF2B5EF4-FFF2-40B4-BE49-F238E27FC236}">
                <a16:creationId xmlns:a16="http://schemas.microsoft.com/office/drawing/2014/main" id="{A389E1A0-8EAF-473F-B685-96A6CCFE08A3}"/>
              </a:ext>
            </a:extLst>
          </p:cNvPr>
          <p:cNvSpPr/>
          <p:nvPr/>
        </p:nvSpPr>
        <p:spPr>
          <a:xfrm>
            <a:off x="10955045" y="204185"/>
            <a:ext cx="594804" cy="577050"/>
          </a:xfrm>
          <a:prstGeom prst="ellipse">
            <a:avLst/>
          </a:prstGeom>
          <a:solidFill>
            <a:srgbClr val="006C3B"/>
          </a:solidFill>
          <a:ln>
            <a:solidFill>
              <a:srgbClr val="006C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dirty="0"/>
              <a:t>XII</a:t>
            </a:r>
            <a:endParaRPr lang="en-ZA" sz="1400" dirty="0"/>
          </a:p>
        </p:txBody>
      </p:sp>
      <p:sp>
        <p:nvSpPr>
          <p:cNvPr id="10" name="TextBox 9">
            <a:extLst>
              <a:ext uri="{FF2B5EF4-FFF2-40B4-BE49-F238E27FC236}">
                <a16:creationId xmlns:a16="http://schemas.microsoft.com/office/drawing/2014/main" id="{B30E281C-F002-4A9A-8174-C381AE20A64C}"/>
              </a:ext>
            </a:extLst>
          </p:cNvPr>
          <p:cNvSpPr txBox="1"/>
          <p:nvPr/>
        </p:nvSpPr>
        <p:spPr>
          <a:xfrm>
            <a:off x="3376117" y="524915"/>
            <a:ext cx="8489880" cy="6093976"/>
          </a:xfrm>
          <a:prstGeom prst="rect">
            <a:avLst/>
          </a:prstGeom>
          <a:noFill/>
        </p:spPr>
        <p:txBody>
          <a:bodyPr wrap="square">
            <a:spAutoFit/>
          </a:bodyPr>
          <a:lstStyle/>
          <a:p>
            <a:pPr marL="285750" lvl="0" indent="-285750">
              <a:buClr>
                <a:srgbClr val="006C3B"/>
              </a:buClr>
              <a:buFont typeface="Arial" panose="020B0604020202020204" pitchFamily="34" charset="0"/>
              <a:buChar char="•"/>
              <a:tabLst>
                <a:tab pos="228600" algn="l"/>
              </a:tabLst>
            </a:pPr>
            <a:r>
              <a:rPr lang="en-GB" sz="2400" dirty="0">
                <a:effectLst/>
                <a:latin typeface="Tw Cen MT" panose="020B0602020104020603" pitchFamily="34" charset="0"/>
                <a:ea typeface="Times New Roman" panose="02020603050405020304" pitchFamily="18" charset="0"/>
              </a:rPr>
              <a:t>Explain theory concepts with practical examples (Four concepts).</a:t>
            </a:r>
          </a:p>
          <a:p>
            <a:pPr marL="285750" lvl="0" indent="-285750">
              <a:buClr>
                <a:srgbClr val="006C3B"/>
              </a:buClr>
              <a:buFont typeface="Arial" panose="020B0604020202020204" pitchFamily="34" charset="0"/>
              <a:buChar char="•"/>
              <a:tabLst>
                <a:tab pos="228600" algn="l"/>
              </a:tabLst>
            </a:pPr>
            <a:r>
              <a:rPr lang="en-GB" sz="2400" dirty="0">
                <a:effectLst/>
                <a:latin typeface="Tw Cen MT" panose="020B0602020104020603" pitchFamily="34" charset="0"/>
                <a:ea typeface="Times New Roman" panose="02020603050405020304" pitchFamily="18" charset="0"/>
              </a:rPr>
              <a:t>Apply theory to chosen businesses or industries.</a:t>
            </a:r>
          </a:p>
          <a:p>
            <a:pPr marL="285750" lvl="0" indent="-285750">
              <a:buClr>
                <a:srgbClr val="006C3B"/>
              </a:buClr>
              <a:buFont typeface="Arial" panose="020B0604020202020204" pitchFamily="34" charset="0"/>
              <a:buChar char="•"/>
              <a:tabLst>
                <a:tab pos="228600" algn="l"/>
              </a:tabLst>
            </a:pPr>
            <a:r>
              <a:rPr lang="en-GB" sz="2400" dirty="0">
                <a:effectLst/>
                <a:latin typeface="Tw Cen MT" panose="020B0602020104020603" pitchFamily="34" charset="0"/>
                <a:ea typeface="Times New Roman" panose="02020603050405020304" pitchFamily="18" charset="0"/>
              </a:rPr>
              <a:t>Every explanation should be accompanied by an example of what the business is doing. Challenges and opportunities based on the concepts (e.g., network effects’ benefits/challenges for a business/industry).</a:t>
            </a:r>
          </a:p>
          <a:p>
            <a:pPr marL="285750" lvl="0" indent="-285750">
              <a:buClr>
                <a:srgbClr val="006C3B"/>
              </a:buClr>
              <a:buFont typeface="Arial" panose="020B0604020202020204" pitchFamily="34" charset="0"/>
              <a:buChar char="•"/>
              <a:tabLst>
                <a:tab pos="228600" algn="l"/>
              </a:tabLst>
            </a:pPr>
            <a:r>
              <a:rPr lang="en-GB" sz="2400" dirty="0">
                <a:effectLst/>
                <a:latin typeface="Tw Cen MT" panose="020B0602020104020603" pitchFamily="34" charset="0"/>
                <a:ea typeface="Times New Roman" panose="02020603050405020304" pitchFamily="18" charset="0"/>
              </a:rPr>
              <a:t>EMA submitted with ‘Turnitin’.</a:t>
            </a:r>
          </a:p>
          <a:p>
            <a:pPr marL="285750" lvl="0" indent="-285750">
              <a:buClr>
                <a:srgbClr val="006C3B"/>
              </a:buClr>
              <a:buFont typeface="Arial" panose="020B0604020202020204" pitchFamily="34" charset="0"/>
              <a:buChar char="•"/>
              <a:tabLst>
                <a:tab pos="228600" algn="l"/>
              </a:tabLst>
            </a:pPr>
            <a:r>
              <a:rPr lang="en-GB" sz="2400" dirty="0">
                <a:effectLst/>
                <a:latin typeface="Tw Cen MT" panose="020B0602020104020603" pitchFamily="34" charset="0"/>
                <a:ea typeface="Times New Roman" panose="02020603050405020304" pitchFamily="18" charset="0"/>
              </a:rPr>
              <a:t>Aim for a similarity percentage of 10 and below.</a:t>
            </a:r>
          </a:p>
          <a:p>
            <a:pPr marL="285750" lvl="0" indent="-285750">
              <a:buClr>
                <a:srgbClr val="006C3B"/>
              </a:buClr>
              <a:buFont typeface="Arial" panose="020B0604020202020204" pitchFamily="34" charset="0"/>
              <a:buChar char="•"/>
              <a:tabLst>
                <a:tab pos="228600" algn="l"/>
              </a:tabLst>
            </a:pPr>
            <a:r>
              <a:rPr lang="en-GB" sz="2400" dirty="0">
                <a:latin typeface="Tw Cen MT" panose="020B0602020104020603" pitchFamily="34" charset="0"/>
                <a:ea typeface="Times New Roman" panose="02020603050405020304" pitchFamily="18" charset="0"/>
              </a:rPr>
              <a:t>AI-content detection percentage 30 and below, but this will be treated on a case-by-case basis.</a:t>
            </a:r>
            <a:endParaRPr lang="en-GB" sz="2400" dirty="0">
              <a:effectLst/>
              <a:latin typeface="Tw Cen MT" panose="020B0602020104020603" pitchFamily="34" charset="0"/>
              <a:ea typeface="Times New Roman" panose="02020603050405020304" pitchFamily="18" charset="0"/>
            </a:endParaRPr>
          </a:p>
          <a:p>
            <a:pPr marL="285750" lvl="0" indent="-285750">
              <a:buClr>
                <a:srgbClr val="006C3B"/>
              </a:buClr>
              <a:buFont typeface="Arial" panose="020B0604020202020204" pitchFamily="34" charset="0"/>
              <a:buChar char="•"/>
              <a:tabLst>
                <a:tab pos="228600" algn="l"/>
              </a:tabLst>
            </a:pPr>
            <a:r>
              <a:rPr lang="en-GB" sz="2400" dirty="0">
                <a:effectLst/>
                <a:latin typeface="Tw Cen MT" panose="020B0602020104020603" pitchFamily="34" charset="0"/>
                <a:ea typeface="Times New Roman" panose="02020603050405020304" pitchFamily="18" charset="0"/>
              </a:rPr>
              <a:t>Cite in the text, especially definitions of terms and explanations from websites and textbooks.</a:t>
            </a:r>
          </a:p>
          <a:p>
            <a:pPr marL="285750" lvl="0" indent="-285750">
              <a:buClr>
                <a:srgbClr val="006C3B"/>
              </a:buClr>
              <a:buFont typeface="Arial" panose="020B0604020202020204" pitchFamily="34" charset="0"/>
              <a:buChar char="•"/>
              <a:tabLst>
                <a:tab pos="228600" algn="l"/>
              </a:tabLst>
            </a:pPr>
            <a:r>
              <a:rPr lang="en-GB" sz="2400" dirty="0">
                <a:effectLst/>
                <a:latin typeface="Tw Cen MT" panose="020B0602020104020603" pitchFamily="34" charset="0"/>
                <a:ea typeface="Times New Roman" panose="02020603050405020304" pitchFamily="18" charset="0"/>
              </a:rPr>
              <a:t>Include a list of references.</a:t>
            </a:r>
          </a:p>
          <a:p>
            <a:pPr marL="285750" lvl="0" indent="-285750">
              <a:buClr>
                <a:srgbClr val="006C3B"/>
              </a:buClr>
              <a:buFont typeface="Arial" panose="020B0604020202020204" pitchFamily="34" charset="0"/>
              <a:buChar char="•"/>
              <a:tabLst>
                <a:tab pos="228600" algn="l"/>
              </a:tabLst>
            </a:pPr>
            <a:r>
              <a:rPr lang="en-GB" sz="2400" dirty="0">
                <a:effectLst/>
                <a:latin typeface="Tw Cen MT" panose="020B0602020104020603" pitchFamily="34" charset="0"/>
                <a:ea typeface="Times New Roman" panose="02020603050405020304" pitchFamily="18" charset="0"/>
              </a:rPr>
              <a:t>10% penalty if in-text citations or references are missing.</a:t>
            </a:r>
          </a:p>
          <a:p>
            <a:pPr marL="285750" lvl="0" indent="-285750">
              <a:buClr>
                <a:srgbClr val="006C3B"/>
              </a:buClr>
              <a:buFont typeface="Arial" panose="020B0604020202020204" pitchFamily="34" charset="0"/>
              <a:buChar char="•"/>
              <a:tabLst>
                <a:tab pos="228600" algn="l"/>
              </a:tabLst>
            </a:pPr>
            <a:r>
              <a:rPr lang="en-GB" sz="2400" dirty="0">
                <a:latin typeface="Tw Cen MT" panose="020B0602020104020603" pitchFamily="34" charset="0"/>
                <a:ea typeface="Times New Roman" panose="02020603050405020304" pitchFamily="18" charset="0"/>
              </a:rPr>
              <a:t>No draft submissions. Submission is due 29</a:t>
            </a:r>
            <a:r>
              <a:rPr lang="en-GB" sz="2400" baseline="30000" dirty="0">
                <a:latin typeface="Tw Cen MT" panose="020B0602020104020603" pitchFamily="34" charset="0"/>
                <a:ea typeface="Times New Roman" panose="02020603050405020304" pitchFamily="18" charset="0"/>
              </a:rPr>
              <a:t>th</a:t>
            </a:r>
            <a:r>
              <a:rPr lang="en-GB" sz="2400" dirty="0">
                <a:latin typeface="Tw Cen MT" panose="020B0602020104020603" pitchFamily="34" charset="0"/>
                <a:ea typeface="Times New Roman" panose="02020603050405020304" pitchFamily="18" charset="0"/>
              </a:rPr>
              <a:t> May, at 5pm.</a:t>
            </a:r>
            <a:endParaRPr lang="en-GB" sz="2400" dirty="0">
              <a:effectLst/>
              <a:latin typeface="Tw Cen MT" panose="020B0602020104020603" pitchFamily="34" charset="0"/>
              <a:ea typeface="Times New Roman" panose="02020603050405020304" pitchFamily="18" charset="0"/>
            </a:endParaRPr>
          </a:p>
          <a:p>
            <a:pPr marL="285750" indent="-285750">
              <a:buClr>
                <a:srgbClr val="006C3B"/>
              </a:buClr>
              <a:buFont typeface="Arial" panose="020B0604020202020204" pitchFamily="34" charset="0"/>
              <a:buChar char="•"/>
              <a:tabLst>
                <a:tab pos="228600" algn="l"/>
              </a:tabLst>
            </a:pPr>
            <a:endParaRPr lang="en-GB" sz="3000" dirty="0">
              <a:latin typeface="Tw Cen MT" panose="020B0602020104020603" pitchFamily="34" charset="0"/>
              <a:ea typeface="Times New Roman" panose="02020603050405020304" pitchFamily="18" charset="0"/>
            </a:endParaRPr>
          </a:p>
        </p:txBody>
      </p:sp>
      <p:sp>
        <p:nvSpPr>
          <p:cNvPr id="8" name="TextBox 13">
            <a:extLst>
              <a:ext uri="{FF2B5EF4-FFF2-40B4-BE49-F238E27FC236}">
                <a16:creationId xmlns:a16="http://schemas.microsoft.com/office/drawing/2014/main" id="{1F1F17D8-54C0-4CB0-A802-593DA246B95B}"/>
              </a:ext>
            </a:extLst>
          </p:cNvPr>
          <p:cNvSpPr txBox="1"/>
          <p:nvPr/>
        </p:nvSpPr>
        <p:spPr>
          <a:xfrm rot="16200000">
            <a:off x="10042132" y="5452308"/>
            <a:ext cx="3908857" cy="252249"/>
          </a:xfrm>
          <a:prstGeom prst="rect">
            <a:avLst/>
          </a:prstGeom>
        </p:spPr>
        <p:txBody>
          <a:bodyPr lIns="0" tIns="0" rIns="0" bIns="0" rtlCol="0" anchor="t">
            <a:spAutoFit/>
          </a:bodyPr>
          <a:lstStyle/>
          <a:p>
            <a:pPr algn="r" defTabSz="609630">
              <a:lnSpc>
                <a:spcPts val="2239"/>
              </a:lnSpc>
              <a:spcBef>
                <a:spcPct val="0"/>
              </a:spcBef>
            </a:pPr>
            <a:r>
              <a:rPr lang="en-US" sz="1200" dirty="0">
                <a:solidFill>
                  <a:srgbClr val="1B1B1B"/>
                </a:solidFill>
                <a:latin typeface="Halant Medium"/>
              </a:rPr>
              <a:t>Wrap Up| 20 May 2026</a:t>
            </a:r>
          </a:p>
        </p:txBody>
      </p:sp>
    </p:spTree>
    <p:extLst>
      <p:ext uri="{BB962C8B-B14F-4D97-AF65-F5344CB8AC3E}">
        <p14:creationId xmlns:p14="http://schemas.microsoft.com/office/powerpoint/2010/main" val="3674501138"/>
      </p:ext>
    </p:extLst>
  </p:cSld>
  <p:clrMapOvr>
    <a:masterClrMapping/>
  </p:clrMapOvr>
  <mc:AlternateContent xmlns:mc="http://schemas.openxmlformats.org/markup-compatibility/2006" xmlns:p14="http://schemas.microsoft.com/office/powerpoint/2010/main">
    <mc:Choice Requires="p14">
      <p:transition spd="slow" p14:dur="2000" advTm="11879"/>
    </mc:Choice>
    <mc:Fallback xmlns="">
      <p:transition spd="slow" advTm="11879"/>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TIMING" val="|2.1"/>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Theme1</Template>
  <TotalTime>5369</TotalTime>
  <Words>3729</Words>
  <Application>Microsoft Office PowerPoint</Application>
  <PresentationFormat>Widescreen</PresentationFormat>
  <Paragraphs>334</Paragraphs>
  <Slides>12</Slides>
  <Notes>11</Notes>
  <HiddenSlides>0</HiddenSlides>
  <MMClips>0</MMClips>
  <ScaleCrop>false</ScaleCrop>
  <HeadingPairs>
    <vt:vector size="6" baseType="variant">
      <vt:variant>
        <vt:lpstr>Fonts Used</vt:lpstr>
      </vt:variant>
      <vt:variant>
        <vt:i4>8</vt:i4>
      </vt:variant>
      <vt:variant>
        <vt:lpstr>Theme</vt:lpstr>
      </vt:variant>
      <vt:variant>
        <vt:i4>2</vt:i4>
      </vt:variant>
      <vt:variant>
        <vt:lpstr>Slide Titles</vt:lpstr>
      </vt:variant>
      <vt:variant>
        <vt:i4>12</vt:i4>
      </vt:variant>
    </vt:vector>
  </HeadingPairs>
  <TitlesOfParts>
    <vt:vector size="22" baseType="lpstr">
      <vt:lpstr>Arial</vt:lpstr>
      <vt:lpstr>Calibri</vt:lpstr>
      <vt:lpstr>Corbel</vt:lpstr>
      <vt:lpstr>Halant Medium</vt:lpstr>
      <vt:lpstr>Times New Roman</vt:lpstr>
      <vt:lpstr>Tw Cen MT</vt:lpstr>
      <vt:lpstr>Wingdings</vt:lpstr>
      <vt:lpstr>Wingdings 2</vt:lpstr>
      <vt:lpstr>Office Theme</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NMMU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01: INtroduction</dc:title>
  <dc:creator>van der Post, Leda (Dr) (Summerstrand Campus South);Fashoro, Ifeoluwapo, (Dr) (s215283317)</dc:creator>
  <cp:lastModifiedBy>Izu, Lydia, (Mrs) (s225342642)</cp:lastModifiedBy>
  <cp:revision>149</cp:revision>
  <cp:lastPrinted>2018-02-06T09:17:43Z</cp:lastPrinted>
  <dcterms:created xsi:type="dcterms:W3CDTF">2016-02-01T08:21:05Z</dcterms:created>
  <dcterms:modified xsi:type="dcterms:W3CDTF">2026-05-20T12:00:51Z</dcterms:modified>
</cp:coreProperties>
</file>