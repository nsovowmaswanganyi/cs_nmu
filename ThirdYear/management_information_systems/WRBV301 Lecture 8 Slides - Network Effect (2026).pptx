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1" r:id="rId2"/>
    <p:sldId id="291" r:id="rId3"/>
    <p:sldId id="295" r:id="rId4"/>
    <p:sldId id="273" r:id="rId5"/>
    <p:sldId id="284" r:id="rId6"/>
    <p:sldId id="285" r:id="rId7"/>
    <p:sldId id="281" r:id="rId8"/>
    <p:sldId id="282" r:id="rId9"/>
    <p:sldId id="286" r:id="rId10"/>
    <p:sldId id="274" r:id="rId11"/>
    <p:sldId id="275" r:id="rId12"/>
    <p:sldId id="276" r:id="rId13"/>
    <p:sldId id="293" r:id="rId14"/>
    <p:sldId id="294" r:id="rId15"/>
    <p:sldId id="292"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333"/>
    <a:srgbClr val="006C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70A22F-2417-4AB9-AAB6-91ED69DD9820}" v="5" dt="2026-04-15T06:37:36.2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5254" autoAdjust="0"/>
  </p:normalViewPr>
  <p:slideViewPr>
    <p:cSldViewPr snapToGrid="0">
      <p:cViewPr varScale="1">
        <p:scale>
          <a:sx n="66" d="100"/>
          <a:sy n="66" d="100"/>
        </p:scale>
        <p:origin x="1330" y="58"/>
      </p:cViewPr>
      <p:guideLst/>
    </p:cSldViewPr>
  </p:slideViewPr>
  <p:notesTextViewPr>
    <p:cViewPr>
      <p:scale>
        <a:sx n="3" d="2"/>
        <a:sy n="3" d="2"/>
      </p:scale>
      <p:origin x="0" y="-5"/>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zu, Lydia, (Mrs) (s225342642)" userId="b2bc9d54-c1df-41d0-85c4-52362a5ddf80" providerId="ADAL" clId="{39FD8708-20D3-4675-A4C1-C833E2B6C583}"/>
    <pc:docChg chg="undo redo custSel addSld delSld modSld sldOrd modShowInfo">
      <pc:chgData name="Izu, Lydia, (Mrs) (s225342642)" userId="b2bc9d54-c1df-41d0-85c4-52362a5ddf80" providerId="ADAL" clId="{39FD8708-20D3-4675-A4C1-C833E2B6C583}" dt="2026-04-15T07:07:39.658" v="4235" actId="2744"/>
      <pc:docMkLst>
        <pc:docMk/>
      </pc:docMkLst>
      <pc:sldChg chg="modSp mod">
        <pc:chgData name="Izu, Lydia, (Mrs) (s225342642)" userId="b2bc9d54-c1df-41d0-85c4-52362a5ddf80" providerId="ADAL" clId="{39FD8708-20D3-4675-A4C1-C833E2B6C583}" dt="2026-04-13T09:35:22.451" v="6" actId="20577"/>
        <pc:sldMkLst>
          <pc:docMk/>
          <pc:sldMk cId="3510760573" sldId="271"/>
        </pc:sldMkLst>
        <pc:spChg chg="mod">
          <ac:chgData name="Izu, Lydia, (Mrs) (s225342642)" userId="b2bc9d54-c1df-41d0-85c4-52362a5ddf80" providerId="ADAL" clId="{39FD8708-20D3-4675-A4C1-C833E2B6C583}" dt="2026-04-13T09:35:22.451" v="6" actId="20577"/>
          <ac:spMkLst>
            <pc:docMk/>
            <pc:sldMk cId="3510760573" sldId="271"/>
            <ac:spMk id="28" creationId="{B8583709-595F-4CE2-B8B0-C47733F186E5}"/>
          </ac:spMkLst>
        </pc:spChg>
      </pc:sldChg>
      <pc:sldChg chg="modNotesTx">
        <pc:chgData name="Izu, Lydia, (Mrs) (s225342642)" userId="b2bc9d54-c1df-41d0-85c4-52362a5ddf80" providerId="ADAL" clId="{39FD8708-20D3-4675-A4C1-C833E2B6C583}" dt="2026-04-13T11:39:23.534" v="1697" actId="20577"/>
        <pc:sldMkLst>
          <pc:docMk/>
          <pc:sldMk cId="945047036" sldId="273"/>
        </pc:sldMkLst>
      </pc:sldChg>
      <pc:sldChg chg="modNotesTx">
        <pc:chgData name="Izu, Lydia, (Mrs) (s225342642)" userId="b2bc9d54-c1df-41d0-85c4-52362a5ddf80" providerId="ADAL" clId="{39FD8708-20D3-4675-A4C1-C833E2B6C583}" dt="2026-04-13T18:52:02.310" v="3781" actId="20577"/>
        <pc:sldMkLst>
          <pc:docMk/>
          <pc:sldMk cId="208518521" sldId="274"/>
        </pc:sldMkLst>
      </pc:sldChg>
      <pc:sldChg chg="modNotesTx">
        <pc:chgData name="Izu, Lydia, (Mrs) (s225342642)" userId="b2bc9d54-c1df-41d0-85c4-52362a5ddf80" providerId="ADAL" clId="{39FD8708-20D3-4675-A4C1-C833E2B6C583}" dt="2026-04-13T19:05:50.140" v="4085" actId="20577"/>
        <pc:sldMkLst>
          <pc:docMk/>
          <pc:sldMk cId="2179840865" sldId="275"/>
        </pc:sldMkLst>
      </pc:sldChg>
      <pc:sldChg chg="modSp mod modNotesTx">
        <pc:chgData name="Izu, Lydia, (Mrs) (s225342642)" userId="b2bc9d54-c1df-41d0-85c4-52362a5ddf80" providerId="ADAL" clId="{39FD8708-20D3-4675-A4C1-C833E2B6C583}" dt="2026-04-15T06:40:48.850" v="4234" actId="20577"/>
        <pc:sldMkLst>
          <pc:docMk/>
          <pc:sldMk cId="522845683" sldId="276"/>
        </pc:sldMkLst>
        <pc:spChg chg="mod">
          <ac:chgData name="Izu, Lydia, (Mrs) (s225342642)" userId="b2bc9d54-c1df-41d0-85c4-52362a5ddf80" providerId="ADAL" clId="{39FD8708-20D3-4675-A4C1-C833E2B6C583}" dt="2026-04-15T06:40:48.850" v="4234" actId="20577"/>
          <ac:spMkLst>
            <pc:docMk/>
            <pc:sldMk cId="522845683" sldId="276"/>
            <ac:spMk id="11" creationId="{1700E452-DEBA-4E69-8027-0B5CA82DED38}"/>
          </ac:spMkLst>
        </pc:spChg>
      </pc:sldChg>
      <pc:sldChg chg="modSp mod">
        <pc:chgData name="Izu, Lydia, (Mrs) (s225342642)" userId="b2bc9d54-c1df-41d0-85c4-52362a5ddf80" providerId="ADAL" clId="{39FD8708-20D3-4675-A4C1-C833E2B6C583}" dt="2026-04-13T09:39:11.109" v="221" actId="20577"/>
        <pc:sldMkLst>
          <pc:docMk/>
          <pc:sldMk cId="3870406636" sldId="282"/>
        </pc:sldMkLst>
        <pc:spChg chg="mod">
          <ac:chgData name="Izu, Lydia, (Mrs) (s225342642)" userId="b2bc9d54-c1df-41d0-85c4-52362a5ddf80" providerId="ADAL" clId="{39FD8708-20D3-4675-A4C1-C833E2B6C583}" dt="2026-04-13T09:39:11.109" v="221" actId="20577"/>
          <ac:spMkLst>
            <pc:docMk/>
            <pc:sldMk cId="3870406636" sldId="282"/>
            <ac:spMk id="29" creationId="{2F0CAEC0-B04F-42F9-828E-12DA05CA6202}"/>
          </ac:spMkLst>
        </pc:spChg>
      </pc:sldChg>
      <pc:sldChg chg="modSp mod modNotesTx">
        <pc:chgData name="Izu, Lydia, (Mrs) (s225342642)" userId="b2bc9d54-c1df-41d0-85c4-52362a5ddf80" providerId="ADAL" clId="{39FD8708-20D3-4675-A4C1-C833E2B6C583}" dt="2026-04-15T06:38:01.392" v="4224" actId="255"/>
        <pc:sldMkLst>
          <pc:docMk/>
          <pc:sldMk cId="3671927410" sldId="284"/>
        </pc:sldMkLst>
        <pc:spChg chg="mod">
          <ac:chgData name="Izu, Lydia, (Mrs) (s225342642)" userId="b2bc9d54-c1df-41d0-85c4-52362a5ddf80" providerId="ADAL" clId="{39FD8708-20D3-4675-A4C1-C833E2B6C583}" dt="2026-04-15T06:38:01.392" v="4224" actId="255"/>
          <ac:spMkLst>
            <pc:docMk/>
            <pc:sldMk cId="3671927410" sldId="284"/>
            <ac:spMk id="19" creationId="{CF7B4864-9AB8-4665-A69B-E4DCAB70D61C}"/>
          </ac:spMkLst>
        </pc:spChg>
      </pc:sldChg>
      <pc:sldChg chg="modNotesTx">
        <pc:chgData name="Izu, Lydia, (Mrs) (s225342642)" userId="b2bc9d54-c1df-41d0-85c4-52362a5ddf80" providerId="ADAL" clId="{39FD8708-20D3-4675-A4C1-C833E2B6C583}" dt="2026-04-13T17:08:48.452" v="2935" actId="20577"/>
        <pc:sldMkLst>
          <pc:docMk/>
          <pc:sldMk cId="2559013565" sldId="285"/>
        </pc:sldMkLst>
      </pc:sldChg>
      <pc:sldChg chg="modSp mod modNotesTx">
        <pc:chgData name="Izu, Lydia, (Mrs) (s225342642)" userId="b2bc9d54-c1df-41d0-85c4-52362a5ddf80" providerId="ADAL" clId="{39FD8708-20D3-4675-A4C1-C833E2B6C583}" dt="2026-04-15T06:40:31.750" v="4225" actId="20577"/>
        <pc:sldMkLst>
          <pc:docMk/>
          <pc:sldMk cId="2781636540" sldId="286"/>
        </pc:sldMkLst>
        <pc:spChg chg="mod">
          <ac:chgData name="Izu, Lydia, (Mrs) (s225342642)" userId="b2bc9d54-c1df-41d0-85c4-52362a5ddf80" providerId="ADAL" clId="{39FD8708-20D3-4675-A4C1-C833E2B6C583}" dt="2026-04-15T06:40:31.750" v="4225" actId="20577"/>
          <ac:spMkLst>
            <pc:docMk/>
            <pc:sldMk cId="2781636540" sldId="286"/>
            <ac:spMk id="17" creationId="{92098B12-9374-450E-9294-4B2C1013551F}"/>
          </ac:spMkLst>
        </pc:spChg>
      </pc:sldChg>
      <pc:sldChg chg="addSp delSp modSp mod">
        <pc:chgData name="Izu, Lydia, (Mrs) (s225342642)" userId="b2bc9d54-c1df-41d0-85c4-52362a5ddf80" providerId="ADAL" clId="{39FD8708-20D3-4675-A4C1-C833E2B6C583}" dt="2026-04-15T06:35:46.374" v="4210" actId="20577"/>
        <pc:sldMkLst>
          <pc:docMk/>
          <pc:sldMk cId="3854123321" sldId="291"/>
        </pc:sldMkLst>
        <pc:spChg chg="mod">
          <ac:chgData name="Izu, Lydia, (Mrs) (s225342642)" userId="b2bc9d54-c1df-41d0-85c4-52362a5ddf80" providerId="ADAL" clId="{39FD8708-20D3-4675-A4C1-C833E2B6C583}" dt="2026-04-13T18:54:54.626" v="3789"/>
          <ac:spMkLst>
            <pc:docMk/>
            <pc:sldMk cId="3854123321" sldId="291"/>
            <ac:spMk id="2" creationId="{74B0B8F5-9319-9E84-E535-C3A52997A369}"/>
          </ac:spMkLst>
        </pc:spChg>
        <pc:spChg chg="add mod">
          <ac:chgData name="Izu, Lydia, (Mrs) (s225342642)" userId="b2bc9d54-c1df-41d0-85c4-52362a5ddf80" providerId="ADAL" clId="{39FD8708-20D3-4675-A4C1-C833E2B6C583}" dt="2026-04-13T18:55:14.708" v="3792" actId="1076"/>
          <ac:spMkLst>
            <pc:docMk/>
            <pc:sldMk cId="3854123321" sldId="291"/>
            <ac:spMk id="3" creationId="{F47E827F-6BDE-87F9-AB89-782CBDA66938}"/>
          </ac:spMkLst>
        </pc:spChg>
        <pc:spChg chg="add mod">
          <ac:chgData name="Izu, Lydia, (Mrs) (s225342642)" userId="b2bc9d54-c1df-41d0-85c4-52362a5ddf80" providerId="ADAL" clId="{39FD8708-20D3-4675-A4C1-C833E2B6C583}" dt="2026-04-15T06:35:46.374" v="4210" actId="20577"/>
          <ac:spMkLst>
            <pc:docMk/>
            <pc:sldMk cId="3854123321" sldId="291"/>
            <ac:spMk id="4" creationId="{252B62FA-5C2A-6863-0B37-3E5CC567129D}"/>
          </ac:spMkLst>
        </pc:spChg>
        <pc:spChg chg="mod">
          <ac:chgData name="Izu, Lydia, (Mrs) (s225342642)" userId="b2bc9d54-c1df-41d0-85c4-52362a5ddf80" providerId="ADAL" clId="{39FD8708-20D3-4675-A4C1-C833E2B6C583}" dt="2026-04-13T18:55:06.940" v="3791" actId="20577"/>
          <ac:spMkLst>
            <pc:docMk/>
            <pc:sldMk cId="3854123321" sldId="291"/>
            <ac:spMk id="22" creationId="{DE75BE17-73D7-1F4F-00ED-330A9D4E3EC9}"/>
          </ac:spMkLst>
        </pc:spChg>
      </pc:sldChg>
      <pc:sldChg chg="addSp modSp add mod setBg">
        <pc:chgData name="Izu, Lydia, (Mrs) (s225342642)" userId="b2bc9d54-c1df-41d0-85c4-52362a5ddf80" providerId="ADAL" clId="{39FD8708-20D3-4675-A4C1-C833E2B6C583}" dt="2026-04-13T14:33:05.924" v="2764" actId="27636"/>
        <pc:sldMkLst>
          <pc:docMk/>
          <pc:sldMk cId="2336564553" sldId="292"/>
        </pc:sldMkLst>
        <pc:spChg chg="add mod">
          <ac:chgData name="Izu, Lydia, (Mrs) (s225342642)" userId="b2bc9d54-c1df-41d0-85c4-52362a5ddf80" providerId="ADAL" clId="{39FD8708-20D3-4675-A4C1-C833E2B6C583}" dt="2026-04-13T11:19:16.953" v="1238" actId="208"/>
          <ac:spMkLst>
            <pc:docMk/>
            <pc:sldMk cId="2336564553" sldId="292"/>
            <ac:spMk id="2" creationId="{5B2E778B-D984-7FF3-D80E-26CA4A6B5526}"/>
          </ac:spMkLst>
        </pc:spChg>
        <pc:spChg chg="add mod">
          <ac:chgData name="Izu, Lydia, (Mrs) (s225342642)" userId="b2bc9d54-c1df-41d0-85c4-52362a5ddf80" providerId="ADAL" clId="{39FD8708-20D3-4675-A4C1-C833E2B6C583}" dt="2026-04-13T11:19:16.968" v="1246"/>
          <ac:spMkLst>
            <pc:docMk/>
            <pc:sldMk cId="2336564553" sldId="292"/>
            <ac:spMk id="3" creationId="{9864B9A6-1C15-86C7-C644-B9E8440A4BD4}"/>
          </ac:spMkLst>
        </pc:spChg>
        <pc:spChg chg="add mod">
          <ac:chgData name="Izu, Lydia, (Mrs) (s225342642)" userId="b2bc9d54-c1df-41d0-85c4-52362a5ddf80" providerId="ADAL" clId="{39FD8708-20D3-4675-A4C1-C833E2B6C583}" dt="2026-04-13T14:33:05.924" v="2764" actId="27636"/>
          <ac:spMkLst>
            <pc:docMk/>
            <pc:sldMk cId="2336564553" sldId="292"/>
            <ac:spMk id="4" creationId="{BECFE6DE-496A-E449-8A35-0E5C7D85DEFC}"/>
          </ac:spMkLst>
        </pc:spChg>
        <pc:spChg chg="add mod">
          <ac:chgData name="Izu, Lydia, (Mrs) (s225342642)" userId="b2bc9d54-c1df-41d0-85c4-52362a5ddf80" providerId="ADAL" clId="{39FD8708-20D3-4675-A4C1-C833E2B6C583}" dt="2026-04-13T14:33:05.919" v="2763" actId="27636"/>
          <ac:spMkLst>
            <pc:docMk/>
            <pc:sldMk cId="2336564553" sldId="292"/>
            <ac:spMk id="7" creationId="{C09B98DA-1234-3F7C-FF3F-40567272A8F5}"/>
          </ac:spMkLst>
        </pc:spChg>
        <pc:picChg chg="add mod">
          <ac:chgData name="Izu, Lydia, (Mrs) (s225342642)" userId="b2bc9d54-c1df-41d0-85c4-52362a5ddf80" providerId="ADAL" clId="{39FD8708-20D3-4675-A4C1-C833E2B6C583}" dt="2026-04-13T11:19:17.063" v="1261"/>
          <ac:picMkLst>
            <pc:docMk/>
            <pc:sldMk cId="2336564553" sldId="292"/>
            <ac:picMk id="6" creationId="{29E9C612-ED7C-AA23-A123-A4A78358D657}"/>
          </ac:picMkLst>
        </pc:picChg>
        <pc:picChg chg="add mod">
          <ac:chgData name="Izu, Lydia, (Mrs) (s225342642)" userId="b2bc9d54-c1df-41d0-85c4-52362a5ddf80" providerId="ADAL" clId="{39FD8708-20D3-4675-A4C1-C833E2B6C583}" dt="2026-04-13T11:19:17.105" v="1279"/>
          <ac:picMkLst>
            <pc:docMk/>
            <pc:sldMk cId="2336564553" sldId="292"/>
            <ac:picMk id="9" creationId="{74588285-CA81-1E43-49FB-73F92F2E5399}"/>
          </ac:picMkLst>
        </pc:picChg>
      </pc:sldChg>
      <pc:sldChg chg="addSp modSp add mod setBg">
        <pc:chgData name="Izu, Lydia, (Mrs) (s225342642)" userId="b2bc9d54-c1df-41d0-85c4-52362a5ddf80" providerId="ADAL" clId="{39FD8708-20D3-4675-A4C1-C833E2B6C583}" dt="2026-04-13T14:33:05.898" v="2762" actId="27636"/>
        <pc:sldMkLst>
          <pc:docMk/>
          <pc:sldMk cId="185224997" sldId="293"/>
        </pc:sldMkLst>
        <pc:spChg chg="add mod">
          <ac:chgData name="Izu, Lydia, (Mrs) (s225342642)" userId="b2bc9d54-c1df-41d0-85c4-52362a5ddf80" providerId="ADAL" clId="{39FD8708-20D3-4675-A4C1-C833E2B6C583}" dt="2026-04-13T11:20:13.576" v="1286" actId="208"/>
          <ac:spMkLst>
            <pc:docMk/>
            <pc:sldMk cId="185224997" sldId="293"/>
            <ac:spMk id="2" creationId="{677E4A19-845A-FE00-E4E4-0C51719EFBEB}"/>
          </ac:spMkLst>
        </pc:spChg>
        <pc:spChg chg="add mod">
          <ac:chgData name="Izu, Lydia, (Mrs) (s225342642)" userId="b2bc9d54-c1df-41d0-85c4-52362a5ddf80" providerId="ADAL" clId="{39FD8708-20D3-4675-A4C1-C833E2B6C583}" dt="2026-04-13T11:20:13.589" v="1294"/>
          <ac:spMkLst>
            <pc:docMk/>
            <pc:sldMk cId="185224997" sldId="293"/>
            <ac:spMk id="3" creationId="{7BD2CA9A-737F-483F-80D3-84528A953F07}"/>
          </ac:spMkLst>
        </pc:spChg>
        <pc:spChg chg="add mod">
          <ac:chgData name="Izu, Lydia, (Mrs) (s225342642)" userId="b2bc9d54-c1df-41d0-85c4-52362a5ddf80" providerId="ADAL" clId="{39FD8708-20D3-4675-A4C1-C833E2B6C583}" dt="2026-04-13T14:33:05.898" v="2762" actId="27636"/>
          <ac:spMkLst>
            <pc:docMk/>
            <pc:sldMk cId="185224997" sldId="293"/>
            <ac:spMk id="4" creationId="{DBD4C759-23B6-1B55-1E7D-591ABEB00C76}"/>
          </ac:spMkLst>
        </pc:spChg>
        <pc:spChg chg="add mod">
          <ac:chgData name="Izu, Lydia, (Mrs) (s225342642)" userId="b2bc9d54-c1df-41d0-85c4-52362a5ddf80" providerId="ADAL" clId="{39FD8708-20D3-4675-A4C1-C833E2B6C583}" dt="2026-04-13T14:33:05.892" v="2761" actId="27636"/>
          <ac:spMkLst>
            <pc:docMk/>
            <pc:sldMk cId="185224997" sldId="293"/>
            <ac:spMk id="7" creationId="{2E1A8C3F-728A-FEFA-5241-F43EB8C554DF}"/>
          </ac:spMkLst>
        </pc:spChg>
        <pc:picChg chg="add mod">
          <ac:chgData name="Izu, Lydia, (Mrs) (s225342642)" userId="b2bc9d54-c1df-41d0-85c4-52362a5ddf80" providerId="ADAL" clId="{39FD8708-20D3-4675-A4C1-C833E2B6C583}" dt="2026-04-13T11:20:13.616" v="1309"/>
          <ac:picMkLst>
            <pc:docMk/>
            <pc:sldMk cId="185224997" sldId="293"/>
            <ac:picMk id="6" creationId="{7D3BB9A5-4C5A-3BE1-D137-4B32279BEC11}"/>
          </ac:picMkLst>
        </pc:picChg>
        <pc:picChg chg="add mod">
          <ac:chgData name="Izu, Lydia, (Mrs) (s225342642)" userId="b2bc9d54-c1df-41d0-85c4-52362a5ddf80" providerId="ADAL" clId="{39FD8708-20D3-4675-A4C1-C833E2B6C583}" dt="2026-04-13T11:20:13.650" v="1327"/>
          <ac:picMkLst>
            <pc:docMk/>
            <pc:sldMk cId="185224997" sldId="293"/>
            <ac:picMk id="9" creationId="{700F90F7-4556-FD05-3261-96E57D26613B}"/>
          </ac:picMkLst>
        </pc:picChg>
      </pc:sldChg>
      <pc:sldChg chg="addSp modSp add mod ord setBg">
        <pc:chgData name="Izu, Lydia, (Mrs) (s225342642)" userId="b2bc9d54-c1df-41d0-85c4-52362a5ddf80" providerId="ADAL" clId="{39FD8708-20D3-4675-A4C1-C833E2B6C583}" dt="2026-04-13T11:21:11.532" v="1379" actId="27636"/>
        <pc:sldMkLst>
          <pc:docMk/>
          <pc:sldMk cId="921679489" sldId="294"/>
        </pc:sldMkLst>
        <pc:spChg chg="add mod">
          <ac:chgData name="Izu, Lydia, (Mrs) (s225342642)" userId="b2bc9d54-c1df-41d0-85c4-52362a5ddf80" providerId="ADAL" clId="{39FD8708-20D3-4675-A4C1-C833E2B6C583}" dt="2026-04-13T11:20:39.751" v="1334" actId="208"/>
          <ac:spMkLst>
            <pc:docMk/>
            <pc:sldMk cId="921679489" sldId="294"/>
            <ac:spMk id="2" creationId="{AF4C97BE-43BA-7683-0E07-8303A145ABC3}"/>
          </ac:spMkLst>
        </pc:spChg>
        <pc:spChg chg="add mod">
          <ac:chgData name="Izu, Lydia, (Mrs) (s225342642)" userId="b2bc9d54-c1df-41d0-85c4-52362a5ddf80" providerId="ADAL" clId="{39FD8708-20D3-4675-A4C1-C833E2B6C583}" dt="2026-04-13T11:20:39.762" v="1342"/>
          <ac:spMkLst>
            <pc:docMk/>
            <pc:sldMk cId="921679489" sldId="294"/>
            <ac:spMk id="3" creationId="{2081731D-9A6E-52B7-F3EE-6353E3AF0EA8}"/>
          </ac:spMkLst>
        </pc:spChg>
        <pc:spChg chg="add mod">
          <ac:chgData name="Izu, Lydia, (Mrs) (s225342642)" userId="b2bc9d54-c1df-41d0-85c4-52362a5ddf80" providerId="ADAL" clId="{39FD8708-20D3-4675-A4C1-C833E2B6C583}" dt="2026-04-13T11:21:11.527" v="1378" actId="27636"/>
          <ac:spMkLst>
            <pc:docMk/>
            <pc:sldMk cId="921679489" sldId="294"/>
            <ac:spMk id="4" creationId="{141C683A-41A9-BBBE-A3BA-D7BD21359F20}"/>
          </ac:spMkLst>
        </pc:spChg>
        <pc:spChg chg="add mod">
          <ac:chgData name="Izu, Lydia, (Mrs) (s225342642)" userId="b2bc9d54-c1df-41d0-85c4-52362a5ddf80" providerId="ADAL" clId="{39FD8708-20D3-4675-A4C1-C833E2B6C583}" dt="2026-04-13T11:21:11.532" v="1379" actId="27636"/>
          <ac:spMkLst>
            <pc:docMk/>
            <pc:sldMk cId="921679489" sldId="294"/>
            <ac:spMk id="7" creationId="{6BC19E64-C402-EFF2-747D-4A38E275161F}"/>
          </ac:spMkLst>
        </pc:spChg>
        <pc:picChg chg="add mod">
          <ac:chgData name="Izu, Lydia, (Mrs) (s225342642)" userId="b2bc9d54-c1df-41d0-85c4-52362a5ddf80" providerId="ADAL" clId="{39FD8708-20D3-4675-A4C1-C833E2B6C583}" dt="2026-04-13T11:20:39.784" v="1357"/>
          <ac:picMkLst>
            <pc:docMk/>
            <pc:sldMk cId="921679489" sldId="294"/>
            <ac:picMk id="6" creationId="{B893482E-18CD-C1DF-CA54-80214659CD16}"/>
          </ac:picMkLst>
        </pc:picChg>
        <pc:picChg chg="add mod">
          <ac:chgData name="Izu, Lydia, (Mrs) (s225342642)" userId="b2bc9d54-c1df-41d0-85c4-52362a5ddf80" providerId="ADAL" clId="{39FD8708-20D3-4675-A4C1-C833E2B6C583}" dt="2026-04-13T11:20:39.811" v="1375"/>
          <ac:picMkLst>
            <pc:docMk/>
            <pc:sldMk cId="921679489" sldId="294"/>
            <ac:picMk id="9" creationId="{890CC654-6BFB-2667-5A57-61A5A62A5042}"/>
          </ac:picMkLst>
        </pc:picChg>
      </pc:sldChg>
      <pc:sldChg chg="add">
        <pc:chgData name="Izu, Lydia, (Mrs) (s225342642)" userId="b2bc9d54-c1df-41d0-85c4-52362a5ddf80" providerId="ADAL" clId="{39FD8708-20D3-4675-A4C1-C833E2B6C583}" dt="2026-04-13T18:54:11.013" v="3784" actId="2890"/>
        <pc:sldMkLst>
          <pc:docMk/>
          <pc:sldMk cId="2360767190" sldId="2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386961-5104-49A2-A716-00E565D53723}" type="datetimeFigureOut">
              <a:rPr lang="en-ZA" smtClean="0"/>
              <a:t>2026/04/15</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5278F0-A024-4434-A33E-87208FC19B1D}" type="slidenum">
              <a:rPr lang="en-ZA" smtClean="0"/>
              <a:t>‹#›</a:t>
            </a:fld>
            <a:endParaRPr lang="en-ZA"/>
          </a:p>
        </p:txBody>
      </p:sp>
    </p:spTree>
    <p:extLst>
      <p:ext uri="{BB962C8B-B14F-4D97-AF65-F5344CB8AC3E}">
        <p14:creationId xmlns:p14="http://schemas.microsoft.com/office/powerpoint/2010/main" val="3786342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1336675"/>
            <a:ext cx="6413500" cy="3608388"/>
          </a:xfrm>
        </p:spPr>
      </p:sp>
      <p:sp>
        <p:nvSpPr>
          <p:cNvPr id="3" name="Notes Placeholder 2"/>
          <p:cNvSpPr>
            <a:spLocks noGrp="1"/>
          </p:cNvSpPr>
          <p:nvPr>
            <p:ph type="body" idx="1"/>
          </p:nvPr>
        </p:nvSpPr>
        <p:spPr/>
        <p:txBody>
          <a:bodyPr/>
          <a:lstStyle/>
          <a:p>
            <a:endParaRPr lang="en-ZA"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C25B52-C3CA-46A6-B6DA-339428C65AA2}" type="slidenum">
              <a:rPr kumimoji="0" lang="en-Z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Z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1873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CD5278F0-A024-4434-A33E-87208FC19B1D}" type="slidenum">
              <a:rPr lang="en-ZA" smtClean="0"/>
              <a:t>2</a:t>
            </a:fld>
            <a:endParaRPr lang="en-ZA"/>
          </a:p>
        </p:txBody>
      </p:sp>
    </p:spTree>
    <p:extLst>
      <p:ext uri="{BB962C8B-B14F-4D97-AF65-F5344CB8AC3E}">
        <p14:creationId xmlns:p14="http://schemas.microsoft.com/office/powerpoint/2010/main" val="2667771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A85B1-51A4-E7A2-31FB-454374177E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8AADD-0014-88C4-0AE5-7858F85B6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2D2A4-61B7-A213-22AD-158B651897DC}"/>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DA9DCAAE-B2E2-59AF-EFB8-D6A03E4D75C1}"/>
              </a:ext>
            </a:extLst>
          </p:cNvPr>
          <p:cNvSpPr>
            <a:spLocks noGrp="1"/>
          </p:cNvSpPr>
          <p:nvPr>
            <p:ph type="sldNum" sz="quarter" idx="5"/>
          </p:nvPr>
        </p:nvSpPr>
        <p:spPr/>
        <p:txBody>
          <a:bodyPr/>
          <a:lstStyle/>
          <a:p>
            <a:fld id="{CD5278F0-A024-4434-A33E-87208FC19B1D}" type="slidenum">
              <a:rPr lang="en-ZA" smtClean="0"/>
              <a:t>3</a:t>
            </a:fld>
            <a:endParaRPr lang="en-ZA"/>
          </a:p>
        </p:txBody>
      </p:sp>
    </p:spTree>
    <p:extLst>
      <p:ext uri="{BB962C8B-B14F-4D97-AF65-F5344CB8AC3E}">
        <p14:creationId xmlns:p14="http://schemas.microsoft.com/office/powerpoint/2010/main" val="2986777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Would you join a social media platform where none of your friends is on?</a:t>
            </a:r>
          </a:p>
          <a:p>
            <a:endParaRPr lang="en-GB" b="1" dirty="0"/>
          </a:p>
          <a:p>
            <a:r>
              <a:rPr lang="en-GB" dirty="0"/>
              <a:t>Products and services that are subject to network effects create a self-reinforcing cycle, which then leads to dominance, winner takes most/all effect, or monopoly and oligopoly. More users, more value and more users </a:t>
            </a:r>
            <a:r>
              <a:rPr lang="en-GB" dirty="0" err="1"/>
              <a:t>e.g</a:t>
            </a:r>
            <a:r>
              <a:rPr lang="en-GB" dirty="0"/>
              <a:t>, Amazon e-commerce platform.</a:t>
            </a:r>
          </a:p>
          <a:p>
            <a:r>
              <a:rPr lang="en-GB" dirty="0"/>
              <a:t>Hence, a product with network effects is valuable because of its users, not just its features.</a:t>
            </a:r>
          </a:p>
          <a:p>
            <a:endParaRPr lang="en-GB" dirty="0"/>
          </a:p>
          <a:p>
            <a:r>
              <a:rPr lang="en-GB" b="1" dirty="0"/>
              <a:t>However…</a:t>
            </a:r>
          </a:p>
          <a:p>
            <a:r>
              <a:rPr lang="en-GB" dirty="0"/>
              <a:t>Most products do not become more valuable simply because more people use them, </a:t>
            </a:r>
            <a:r>
              <a:rPr lang="en-GB" dirty="0" err="1"/>
              <a:t>i.e</a:t>
            </a:r>
            <a:r>
              <a:rPr lang="en-GB" dirty="0"/>
              <a:t>, not subject to network effects. For example, it does not matter how many others use the same socks or household items. However, for some products and services, the value depends heavily on how many people or organisations are using them. This is where network effects come into play.</a:t>
            </a:r>
          </a:p>
          <a:p>
            <a:r>
              <a:rPr lang="en-GB" dirty="0"/>
              <a:t>In practice, people choose products such as social media platforms, gaming consoles, e-readers, or even electric vehicles based on how widely they are used. A messaging app is only useful if others are on it, a gaming console is more valuable if it has more players and games, and an e-reader is more attractive if it supports widely available content. Similarly, technologies that fail to gain enough users, such as HD DVD or Windows phones, tend to disappear because they lack this network-driven value.</a:t>
            </a:r>
          </a:p>
          <a:p>
            <a:r>
              <a:rPr lang="en-GB" dirty="0"/>
              <a:t>Network effects become even more powerful when not only users but also other firms contribute to the system, known as platform or platform firms. Platforms are products or services that enable other software, applications, and complementary goods to be developed and integrated, creating a more complete ecosystem of value-added offerings. Examples include Windows, iOS, Kindle, and the systems that allow developers to build apps for Facebook. Platforms such as Apple’s iOS or Amazon create ecosystems where developers, content providers, and service partners add value, making the platform more attractive as it grows. This is why many of the world’s most valuable firms are platform-based businesses that benefit from strong network effects.</a:t>
            </a:r>
          </a:p>
          <a:p>
            <a:endParaRPr lang="en-GB" b="1" dirty="0"/>
          </a:p>
          <a:p>
            <a:endParaRPr lang="en-GB" b="1" dirty="0"/>
          </a:p>
          <a:p>
            <a:r>
              <a:rPr lang="en-GB" b="1" dirty="0"/>
              <a:t>What Network effect is not about:</a:t>
            </a:r>
          </a:p>
          <a:p>
            <a:r>
              <a:rPr lang="en-GB" b="1" dirty="0"/>
              <a:t>Network in network effect does not refer to wired or wireless connections of pieces of electronics or people. </a:t>
            </a:r>
            <a:r>
              <a:rPr lang="en-GB" sz="1200" b="0" i="0" u="none" strike="noStrike" kern="1200" baseline="0" dirty="0">
                <a:solidFill>
                  <a:schemeClr val="tx1"/>
                </a:solidFill>
                <a:latin typeface="+mn-lt"/>
                <a:ea typeface="+mn-ea"/>
                <a:cs typeface="+mn-cs"/>
              </a:rPr>
              <a:t>But to a common user base that can communicate and share with one another</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1. Think of several products or services subject to network effects. What factors do you believe</a:t>
            </a:r>
          </a:p>
          <a:p>
            <a:r>
              <a:rPr lang="en-GB" sz="1200" b="0" i="0" u="none" strike="noStrike" kern="1200" baseline="0" dirty="0">
                <a:solidFill>
                  <a:schemeClr val="tx1"/>
                </a:solidFill>
                <a:latin typeface="+mn-lt"/>
                <a:ea typeface="+mn-ea"/>
                <a:cs typeface="+mn-cs"/>
              </a:rPr>
              <a:t>helped each of these efforts (products and services) achieve dominance?</a:t>
            </a:r>
          </a:p>
          <a:p>
            <a:r>
              <a:rPr lang="en-GB" sz="1200" b="0" i="0" u="none" strike="noStrike" kern="1200" baseline="0" dirty="0">
                <a:solidFill>
                  <a:schemeClr val="tx1"/>
                </a:solidFill>
                <a:latin typeface="+mn-lt"/>
                <a:ea typeface="+mn-ea"/>
                <a:cs typeface="+mn-cs"/>
              </a:rPr>
              <a:t>2. Which firm do you suspect has stronger end-user network effects: Google’s online search</a:t>
            </a:r>
          </a:p>
          <a:p>
            <a:r>
              <a:rPr lang="en-GB" sz="1200" b="0" i="0" u="none" strike="noStrike" kern="1200" baseline="0" dirty="0">
                <a:solidFill>
                  <a:schemeClr val="tx1"/>
                </a:solidFill>
                <a:latin typeface="+mn-lt"/>
                <a:ea typeface="+mn-ea"/>
                <a:cs typeface="+mn-cs"/>
              </a:rPr>
              <a:t>tool or Microsoft’s Windows operating system? Why?</a:t>
            </a:r>
          </a:p>
          <a:p>
            <a:br>
              <a:rPr lang="en-GB" b="1" dirty="0"/>
            </a:br>
            <a:endParaRPr lang="en-ZA" dirty="0"/>
          </a:p>
        </p:txBody>
      </p:sp>
      <p:sp>
        <p:nvSpPr>
          <p:cNvPr id="4" name="Slide Number Placeholder 3"/>
          <p:cNvSpPr>
            <a:spLocks noGrp="1"/>
          </p:cNvSpPr>
          <p:nvPr>
            <p:ph type="sldNum" sz="quarter" idx="5"/>
          </p:nvPr>
        </p:nvSpPr>
        <p:spPr/>
        <p:txBody>
          <a:bodyPr/>
          <a:lstStyle/>
          <a:p>
            <a:fld id="{2F1A90E2-B811-4D7C-8742-E98222CB5259}" type="slidenum">
              <a:rPr lang="en-ZA" smtClean="0"/>
              <a:t>4</a:t>
            </a:fld>
            <a:endParaRPr lang="en-ZA"/>
          </a:p>
        </p:txBody>
      </p:sp>
    </p:spTree>
    <p:extLst>
      <p:ext uri="{BB962C8B-B14F-4D97-AF65-F5344CB8AC3E}">
        <p14:creationId xmlns:p14="http://schemas.microsoft.com/office/powerpoint/2010/main" val="503360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When network effects are present, a product or service becomes more valuable as more people use it, and this value comes from three main sources: exchange, staying power, and complementary benefits.</a:t>
            </a:r>
          </a:p>
          <a:p>
            <a:r>
              <a:rPr lang="en-GB" b="1" dirty="0"/>
              <a:t>Exchange opportunities</a:t>
            </a:r>
            <a:r>
              <a:rPr lang="en-GB" dirty="0"/>
              <a:t> refer to the ability of users to interact, communicate, or share with others. The more users there are, the more opportunities exist for meaningful interaction, which increases the usefulness of the product or service. Products that are subject to network effects must allow </a:t>
            </a:r>
            <a:r>
              <a:rPr lang="en-GB" b="1" dirty="0"/>
              <a:t>exchange </a:t>
            </a:r>
            <a:r>
              <a:rPr lang="en-GB" b="0" dirty="0"/>
              <a:t>or support exchange opportunities</a:t>
            </a:r>
            <a:r>
              <a:rPr lang="en-GB" dirty="0"/>
              <a:t>!</a:t>
            </a:r>
          </a:p>
          <a:p>
            <a:r>
              <a:rPr lang="en-GB" b="1" dirty="0"/>
              <a:t>Staying power</a:t>
            </a:r>
            <a:r>
              <a:rPr lang="en-GB" dirty="0"/>
              <a:t> refers to the likelihood that a product or service will continue to exist and be supported over time. A larger user base signals stability, which gives users confidence to adopt and remain on the platform. Creates switching costs in the process.</a:t>
            </a:r>
          </a:p>
          <a:p>
            <a:r>
              <a:rPr lang="en-GB" b="1" dirty="0"/>
              <a:t>Complementary benefits</a:t>
            </a:r>
            <a:r>
              <a:rPr lang="en-GB" dirty="0"/>
              <a:t> come from additional products or services that enhance the main offering, making it more complete. As more users join, more firms are encouraged to provide these complementary offerings, further increasing value.</a:t>
            </a:r>
          </a:p>
          <a:p>
            <a:endParaRPr lang="en-GB" dirty="0"/>
          </a:p>
          <a:p>
            <a:r>
              <a:rPr lang="en-GB" b="1" dirty="0"/>
              <a:t>Network effects market characteristics:</a:t>
            </a:r>
            <a:br>
              <a:rPr lang="en-GB" b="1" dirty="0"/>
            </a:br>
            <a:r>
              <a:rPr lang="en-GB" dirty="0"/>
              <a:t>These sources or values and associated dynamics shape market behaviour. The market characteristics of network effects or products subject to it are early competition that often leads to rapid adoption, where users follow others in a bandwagon effect. So, network effect can cause early competition in the market and create a bandwagon tendency for consumers in that market. Over time, this can result in one or a few firms dominating the market, which is known as market monopoly. This is why the “best” product does not always win, as success depends on building a strong network (user-base) rather than just superior features. This dynamic is linked to brand or product and service perception.</a:t>
            </a:r>
          </a:p>
          <a:p>
            <a:r>
              <a:rPr lang="en-GB" dirty="0"/>
              <a:t>Finally, network effects influence innovation. Once a dominant standard emerges, competition against it becomes more difficult, but innovation within that standard increases as firms and developers build improvements and complementary offerings around it.</a:t>
            </a:r>
          </a:p>
          <a:p>
            <a:endParaRPr lang="en-ZA" dirty="0"/>
          </a:p>
        </p:txBody>
      </p:sp>
      <p:sp>
        <p:nvSpPr>
          <p:cNvPr id="4" name="Slide Number Placeholder 3"/>
          <p:cNvSpPr>
            <a:spLocks noGrp="1"/>
          </p:cNvSpPr>
          <p:nvPr>
            <p:ph type="sldNum" sz="quarter" idx="5"/>
          </p:nvPr>
        </p:nvSpPr>
        <p:spPr/>
        <p:txBody>
          <a:bodyPr/>
          <a:lstStyle/>
          <a:p>
            <a:fld id="{CD5278F0-A024-4434-A33E-87208FC19B1D}" type="slidenum">
              <a:rPr lang="en-ZA" smtClean="0"/>
              <a:t>5</a:t>
            </a:fld>
            <a:endParaRPr lang="en-ZA"/>
          </a:p>
        </p:txBody>
      </p:sp>
    </p:spTree>
    <p:extLst>
      <p:ext uri="{BB962C8B-B14F-4D97-AF65-F5344CB8AC3E}">
        <p14:creationId xmlns:p14="http://schemas.microsoft.com/office/powerpoint/2010/main" val="1953993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a:t>
            </a:r>
            <a:r>
              <a:rPr lang="en-GB" b="1" dirty="0"/>
              <a:t>exchange</a:t>
            </a:r>
            <a:r>
              <a:rPr lang="en-GB" dirty="0"/>
              <a:t> means the product becomes useful because people can interact or share with others. </a:t>
            </a:r>
            <a:r>
              <a:rPr lang="en-GB" b="1" dirty="0"/>
              <a:t>For example</a:t>
            </a:r>
            <a:r>
              <a:rPr lang="en-GB" dirty="0"/>
              <a:t>, a social media platform like Instagram is not very useful if only one person uses it, but as more people join, users can communicate, share content, and engage with a larger network, making the platform more valuable.</a:t>
            </a:r>
          </a:p>
          <a:p>
            <a:r>
              <a:rPr lang="en-GB" dirty="0"/>
              <a:t>Second, </a:t>
            </a:r>
            <a:r>
              <a:rPr lang="en-GB" b="1" dirty="0"/>
              <a:t>staying power</a:t>
            </a:r>
            <a:r>
              <a:rPr lang="en-GB" dirty="0"/>
              <a:t> refers to the confidence that a product or service will continue to exist and be supported over time. Users are more likely to choose a platform that already has many users because it is less likely to fail. This also links to switching costs, where users invest time, data, and effort into a system, making it harder for them to move to another platform. </a:t>
            </a:r>
            <a:r>
              <a:rPr lang="en-GB" b="1" dirty="0"/>
              <a:t>A good example </a:t>
            </a:r>
            <a:r>
              <a:rPr lang="en-GB" dirty="0"/>
              <a:t>is the choice between Amazon Kindle and Barnes &amp; Noble Nook. When users were deciding which e-reader to buy, they were not only thinking about the device itself, but also about what would happen after purchase. With Kindle, users could see that Amazon had a large number of users, a strong ecosystem, and a dominant position in the market. This suggested that Kindle would continue to be supported with new books, updates, and services.</a:t>
            </a:r>
          </a:p>
          <a:p>
            <a:r>
              <a:rPr lang="en-GB" dirty="0"/>
              <a:t>In contrast, Nook had fewer users and a weaker market presence, which created uncertainty about whether it would survive in the long term. If the platform failed, users risked losing access to books, updates, and support.</a:t>
            </a:r>
          </a:p>
          <a:p>
            <a:r>
              <a:rPr lang="en-GB" dirty="0"/>
              <a:t>This becomes even more important because users invest in the platform over time by buying books, setting preferences, and learning how to use the device. The more they invest, the harder it becomes to switch to another platform. As a result, users tend to choose the option with stronger staying power, and once they commit, they are more likely to remain with it.  </a:t>
            </a:r>
            <a:r>
              <a:rPr lang="en-GB" b="1" dirty="0"/>
              <a:t>A thought: </a:t>
            </a:r>
            <a:r>
              <a:rPr lang="en-GB" dirty="0"/>
              <a:t>Imagine buying 50 books on a platform. Would you choose the one that might disappear in two years, or the one that is clearly dominating the market?</a:t>
            </a:r>
          </a:p>
          <a:p>
            <a:endParaRPr lang="en-GB" dirty="0"/>
          </a:p>
          <a:p>
            <a:r>
              <a:rPr lang="en-GB" dirty="0"/>
              <a:t>Third, </a:t>
            </a:r>
            <a:r>
              <a:rPr lang="en-GB" b="1" dirty="0"/>
              <a:t>complementary benefits</a:t>
            </a:r>
            <a:r>
              <a:rPr lang="en-GB" dirty="0"/>
              <a:t> come from additional products and services that enhance the main offering, making it more complete. For example, platforms like iOS or Android become more valuable because of the many apps, accessories, and services built around them. These complementary offerings attract even more users, further strengthening the network. </a:t>
            </a:r>
            <a:r>
              <a:rPr lang="en-GB" b="1" dirty="0"/>
              <a:t>A strong example </a:t>
            </a:r>
            <a:r>
              <a:rPr lang="en-GB" dirty="0"/>
              <a:t>is Apple’s iOS platform, which becomes more valuable because of the wide range of apps, accessories, and services developed by other firms. These complementary offerings improve the user experience and attract even more users, further strengthening the network.</a:t>
            </a:r>
          </a:p>
          <a:p>
            <a:endParaRPr lang="en-GB" dirty="0"/>
          </a:p>
          <a:p>
            <a:r>
              <a:rPr lang="en-GB" dirty="0"/>
              <a:t>Platforms (</a:t>
            </a:r>
            <a:r>
              <a:rPr lang="en-GB" sz="1200" b="0" i="0" u="none" strike="noStrike" kern="1200" baseline="0" dirty="0">
                <a:solidFill>
                  <a:schemeClr val="tx1"/>
                </a:solidFill>
                <a:latin typeface="+mn-lt"/>
                <a:ea typeface="+mn-ea"/>
                <a:cs typeface="+mn-cs"/>
              </a:rPr>
              <a:t>Products and services) encourage the offering of complementary goods. </a:t>
            </a:r>
            <a:r>
              <a:rPr lang="en-GB" dirty="0"/>
              <a:t>Network effects become even more powerful when not only users but also other firms contribute to the system, known as platform or platform firms. Platforms are products or services that enable other software, applications, and complementary goods to be developed and integrated, creating a more complete ecosystem of value-added offerings. Examples include Windows, iOS, Kindle, and the systems that allow developers to build apps for Facebook. Platforms such as Apple’s iOS or Amazon create ecosystems where developers, content providers, and service partners add value, making the platform more attractive as it grows. This is why many of the world’s most valuable firms are platform-based businesses that benefit from strong network effects.</a:t>
            </a:r>
          </a:p>
          <a:p>
            <a:endParaRPr lang="en-GB" dirty="0"/>
          </a:p>
          <a:p>
            <a:r>
              <a:rPr lang="en-GB" dirty="0"/>
              <a:t>A strong example of </a:t>
            </a:r>
            <a:r>
              <a:rPr lang="en-GB" b="1" dirty="0"/>
              <a:t>complementary benefits enhanced by platforms</a:t>
            </a:r>
            <a:r>
              <a:rPr lang="en-GB" dirty="0"/>
              <a:t> is Apple’s iOS platform, where the value of owning an iPhone increases because of the wide range of additional products and services built around it. Apple does not create all of these itself. Instead, it provides tools such as APIs that allow other firms to develop complementary offerings, which together create a more complete and valuable ecosystem.</a:t>
            </a:r>
          </a:p>
          <a:p>
            <a:r>
              <a:rPr lang="en-GB" dirty="0"/>
              <a:t>For example, the iOS ecosystem includes </a:t>
            </a:r>
            <a:r>
              <a:rPr lang="en-GB" b="1" dirty="0"/>
              <a:t>millions of apps</a:t>
            </a:r>
            <a:r>
              <a:rPr lang="en-GB" dirty="0"/>
              <a:t> in the App Store, covering areas such as banking, entertainment, fitness, education, and communication. These apps are developed by external companies that invest their own time and resources because they can reach a large base of iPhone users.</a:t>
            </a:r>
          </a:p>
          <a:p>
            <a:r>
              <a:rPr lang="en-GB" dirty="0"/>
              <a:t>Beyond apps, there is also a large </a:t>
            </a:r>
            <a:r>
              <a:rPr lang="en-GB" b="1" dirty="0"/>
              <a:t>hardware ecosystem</a:t>
            </a:r>
            <a:r>
              <a:rPr lang="en-GB" dirty="0"/>
              <a:t>. Over ninety brands produce hundreds of speaker systems that connect to iPhones. Apple’s </a:t>
            </a:r>
            <a:r>
              <a:rPr lang="en-GB" b="1" dirty="0"/>
              <a:t>CarPlay</a:t>
            </a:r>
            <a:r>
              <a:rPr lang="en-GB" dirty="0"/>
              <a:t> allows car manufacturers like Ford and Ferrari to integrate iPhone features such as navigation, messaging, and music into vehicle dashboards. In the home, </a:t>
            </a:r>
            <a:r>
              <a:rPr lang="en-GB" b="1" dirty="0"/>
              <a:t>HomeKit</a:t>
            </a:r>
            <a:r>
              <a:rPr lang="en-GB" dirty="0"/>
              <a:t> enables iPhones to control smart devices like lights, locks, and security cameras, while </a:t>
            </a:r>
            <a:r>
              <a:rPr lang="en-GB" b="1" dirty="0"/>
              <a:t>HealthKit</a:t>
            </a:r>
            <a:r>
              <a:rPr lang="en-GB" dirty="0"/>
              <a:t> connects with fitness trackers and health apps. Devices like the </a:t>
            </a:r>
            <a:r>
              <a:rPr lang="en-GB" b="1" dirty="0"/>
              <a:t>Apple Watch</a:t>
            </a:r>
            <a:r>
              <a:rPr lang="en-GB" dirty="0"/>
              <a:t> extend the functionality of the iPhone, making it more useful in everyday activities.</a:t>
            </a:r>
          </a:p>
          <a:p>
            <a:r>
              <a:rPr lang="en-GB" dirty="0"/>
              <a:t>Apple also builds complementary </a:t>
            </a:r>
            <a:r>
              <a:rPr lang="en-GB" b="1" dirty="0"/>
              <a:t>services</a:t>
            </a:r>
            <a:r>
              <a:rPr lang="en-GB" dirty="0"/>
              <a:t> such as Apple Pay, iCloud, Apple Music, and messaging features that allow payments or shared activities within apps. These services integrate tightly with third-party apps, making the overall experience smoother and more valuable.</a:t>
            </a:r>
          </a:p>
          <a:p>
            <a:r>
              <a:rPr lang="en-GB" dirty="0"/>
              <a:t>The key dynamic is that </a:t>
            </a:r>
            <a:r>
              <a:rPr lang="en-GB" b="1" dirty="0"/>
              <a:t>more iPhone users attract more developers and partners</a:t>
            </a:r>
            <a:r>
              <a:rPr lang="en-GB" dirty="0"/>
              <a:t>, who then create more apps, devices, and services. These complementary offerings make the platform more attractive, which in turn attracts even more users. This cycle strengthens the network and makes it difficult for competing platforms to match the same level of completeness and value.</a:t>
            </a:r>
          </a:p>
          <a:p>
            <a:endParaRPr lang="en-GB" dirty="0"/>
          </a:p>
          <a:p>
            <a:r>
              <a:rPr lang="en-GB" dirty="0"/>
              <a:t>In practice, these three sources of value, exchange, staying power, and complementary benefits, work together to strengthen network effects. As more users join, interaction increases, which attracts more firms to provide complementary products. As users and developers invest time and effort into the platform, switching becomes more difficult, increasing its staying power. Over time, this creates a strong, self-reinforcing cycle that makes it increasingly difficult for competitors to challenge the dominant network. As a result, firms that build strong networks often dominate the market, and even better products may fail if they cannot build a large enough user base.</a:t>
            </a:r>
          </a:p>
          <a:p>
            <a:endParaRPr lang="en-ZA" dirty="0"/>
          </a:p>
        </p:txBody>
      </p:sp>
      <p:sp>
        <p:nvSpPr>
          <p:cNvPr id="4" name="Slide Number Placeholder 3"/>
          <p:cNvSpPr>
            <a:spLocks noGrp="1"/>
          </p:cNvSpPr>
          <p:nvPr>
            <p:ph type="sldNum" sz="quarter" idx="5"/>
          </p:nvPr>
        </p:nvSpPr>
        <p:spPr/>
        <p:txBody>
          <a:bodyPr/>
          <a:lstStyle/>
          <a:p>
            <a:fld id="{CD5278F0-A024-4434-A33E-87208FC19B1D}" type="slidenum">
              <a:rPr lang="en-ZA" smtClean="0"/>
              <a:t>6</a:t>
            </a:fld>
            <a:endParaRPr lang="en-ZA"/>
          </a:p>
        </p:txBody>
      </p:sp>
    </p:spTree>
    <p:extLst>
      <p:ext uri="{BB962C8B-B14F-4D97-AF65-F5344CB8AC3E}">
        <p14:creationId xmlns:p14="http://schemas.microsoft.com/office/powerpoint/2010/main" val="3706127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long-term viability of a </a:t>
            </a:r>
            <a:r>
              <a:rPr lang="en-ZA" sz="1200" b="0" i="0" u="none" strike="noStrike" kern="1200" baseline="0" dirty="0">
                <a:solidFill>
                  <a:schemeClr val="tx1"/>
                </a:solidFill>
                <a:latin typeface="+mn-lt"/>
                <a:ea typeface="+mn-ea"/>
                <a:cs typeface="+mn-cs"/>
              </a:rPr>
              <a:t>product or service is linked to </a:t>
            </a:r>
            <a:r>
              <a:rPr lang="en-GB" sz="1200" b="0" i="0" u="none" strike="noStrike" kern="1200" baseline="0" dirty="0">
                <a:solidFill>
                  <a:schemeClr val="tx1"/>
                </a:solidFill>
                <a:latin typeface="+mn-lt"/>
                <a:ea typeface="+mn-ea"/>
                <a:cs typeface="+mn-cs"/>
              </a:rPr>
              <a:t>the cost a consumer incurs when moving from one</a:t>
            </a:r>
          </a:p>
          <a:p>
            <a:r>
              <a:rPr lang="en-ZA" sz="1200" b="0" i="0" u="none" strike="noStrike" kern="1200" baseline="0" dirty="0">
                <a:solidFill>
                  <a:schemeClr val="tx1"/>
                </a:solidFill>
                <a:latin typeface="+mn-lt"/>
                <a:ea typeface="+mn-ea"/>
                <a:cs typeface="+mn-cs"/>
              </a:rPr>
              <a:t>product to another, which is the switching cost that strengthens the value of network effects as a strategic asset. Other terms, such as sticky, friction, lock-in, barnacles (stay firm customers), (not butterflies – fly away customers), are ways firms describe switching costs, especially when they create staying power.</a:t>
            </a:r>
            <a:endParaRPr lang="en-ZA" dirty="0"/>
          </a:p>
          <a:p>
            <a:endParaRPr lang="en-ZA" dirty="0"/>
          </a:p>
        </p:txBody>
      </p:sp>
      <p:sp>
        <p:nvSpPr>
          <p:cNvPr id="4" name="Slide Number Placeholder 3"/>
          <p:cNvSpPr>
            <a:spLocks noGrp="1"/>
          </p:cNvSpPr>
          <p:nvPr>
            <p:ph type="sldNum" sz="quarter" idx="5"/>
          </p:nvPr>
        </p:nvSpPr>
        <p:spPr/>
        <p:txBody>
          <a:bodyPr/>
          <a:lstStyle/>
          <a:p>
            <a:fld id="{CD5278F0-A024-4434-A33E-87208FC19B1D}" type="slidenum">
              <a:rPr lang="en-ZA" smtClean="0"/>
              <a:t>7</a:t>
            </a:fld>
            <a:endParaRPr lang="en-ZA"/>
          </a:p>
        </p:txBody>
      </p:sp>
    </p:spTree>
    <p:extLst>
      <p:ext uri="{BB962C8B-B14F-4D97-AF65-F5344CB8AC3E}">
        <p14:creationId xmlns:p14="http://schemas.microsoft.com/office/powerpoint/2010/main" val="2373933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understand how network effects work in practice, it is important to look at the </a:t>
            </a:r>
            <a:r>
              <a:rPr lang="en-GB" b="1" dirty="0"/>
              <a:t>structure of the network</a:t>
            </a:r>
            <a:r>
              <a:rPr lang="en-GB" dirty="0"/>
              <a:t>, which determines where the value comes from.</a:t>
            </a:r>
          </a:p>
          <a:p>
            <a:r>
              <a:rPr lang="en-GB" dirty="0"/>
              <a:t>Some networks are </a:t>
            </a:r>
            <a:r>
              <a:rPr lang="en-GB" b="1" dirty="0"/>
              <a:t>one-sided</a:t>
            </a:r>
            <a:r>
              <a:rPr lang="en-GB" dirty="0"/>
              <a:t>, meaning their value comes mainly from a single group of users interacting with each other. A good example is messaging platforms. People choose apps like WhatsApp or Instagram not because of features alone, but because of how many people they can reach. The more users join, the more valuable the platform becomes, as each new user increases the number of possible connections.</a:t>
            </a:r>
          </a:p>
          <a:p>
            <a:r>
              <a:rPr lang="en-GB" dirty="0"/>
              <a:t>Other networks are </a:t>
            </a:r>
            <a:r>
              <a:rPr lang="en-GB" b="1" dirty="0"/>
              <a:t>two-sided</a:t>
            </a:r>
            <a:r>
              <a:rPr lang="en-GB" dirty="0"/>
              <a:t>, where value depends on two different groups that rely on each other. Video game consoles are a clear example. Players buy a console based on the number of available games, while developers create games for consoles that have many players. Each side attracts the other, creating a cycle of mutual growth.</a:t>
            </a:r>
          </a:p>
          <a:p>
            <a:r>
              <a:rPr lang="en-GB" dirty="0"/>
              <a:t>A similar dynamic exists in </a:t>
            </a:r>
            <a:r>
              <a:rPr lang="en-GB" b="1" dirty="0"/>
              <a:t>mobile payment systems</a:t>
            </a:r>
            <a:r>
              <a:rPr lang="en-GB" dirty="0"/>
              <a:t> like Apple Pay. The more consumers use the service, the more businesses are willing to accept it, and as more businesses accept it, more consumers are encouraged to use it. However, building this kind of network is difficult at the start, because both sides need a reason to join. Firms often use incentives to solve this, such as rewards programmes like Starbucks did, or by leveraging existing platforms, as Apple did with its large base of iPhone users.</a:t>
            </a:r>
          </a:p>
          <a:p>
            <a:r>
              <a:rPr lang="en-GB" dirty="0"/>
              <a:t>In some cases, networks combine both structures. For example, Xbox benefits from </a:t>
            </a:r>
            <a:r>
              <a:rPr lang="en-GB" b="1" dirty="0"/>
              <a:t>two-sided effects</a:t>
            </a:r>
            <a:r>
              <a:rPr lang="en-GB" dirty="0"/>
              <a:t> between gamers and developers, but also from </a:t>
            </a:r>
            <a:r>
              <a:rPr lang="en-GB" b="1" dirty="0"/>
              <a:t>one-sided effects</a:t>
            </a:r>
            <a:r>
              <a:rPr lang="en-GB" dirty="0"/>
              <a:t> when players join Xbox Live to play with friends.</a:t>
            </a:r>
          </a:p>
          <a:p>
            <a:r>
              <a:rPr lang="en-GB" dirty="0"/>
              <a:t>A powerful real-world example of a two-sided network is the </a:t>
            </a:r>
            <a:r>
              <a:rPr lang="en-GB" b="1" dirty="0"/>
              <a:t>electric vehicle market</a:t>
            </a:r>
            <a:r>
              <a:rPr lang="en-GB" dirty="0"/>
              <a:t>. EV adoption depends not only on car buyers but also on the availability of charging stations. Tesla gained an advantage by building both sides of the network early. It had a large number of users and a widespread, reliable charging infrastructure, making its system more attractive than competing standards. As more drivers adopted Tesla, more charging stations were built, and as more stations became available, even more users were attracted. Eventually, other car manufacturers and charging providers began adopting Tesla’s standard, reinforcing its dominance.</a:t>
            </a:r>
          </a:p>
          <a:p>
            <a:r>
              <a:rPr lang="en-GB" dirty="0"/>
              <a:t>Overall, whether one-sided or two-sided, network effects create </a:t>
            </a:r>
            <a:r>
              <a:rPr lang="en-GB" b="1" dirty="0"/>
              <a:t>self-reinforcing cycles</a:t>
            </a:r>
            <a:r>
              <a:rPr lang="en-GB" dirty="0"/>
              <a:t>. As more participants join one or both sides of a network, value increases, adoption accelerates, and it becomes increasingly difficult for competitors to catch up.</a:t>
            </a:r>
          </a:p>
          <a:p>
            <a:endParaRPr lang="en-ZA" dirty="0"/>
          </a:p>
        </p:txBody>
      </p:sp>
      <p:sp>
        <p:nvSpPr>
          <p:cNvPr id="4" name="Slide Number Placeholder 3"/>
          <p:cNvSpPr>
            <a:spLocks noGrp="1"/>
          </p:cNvSpPr>
          <p:nvPr>
            <p:ph type="sldNum" sz="quarter" idx="5"/>
          </p:nvPr>
        </p:nvSpPr>
        <p:spPr/>
        <p:txBody>
          <a:bodyPr/>
          <a:lstStyle/>
          <a:p>
            <a:fld id="{CD5278F0-A024-4434-A33E-87208FC19B1D}" type="slidenum">
              <a:rPr lang="en-ZA" smtClean="0"/>
              <a:t>8</a:t>
            </a:fld>
            <a:endParaRPr lang="en-ZA"/>
          </a:p>
        </p:txBody>
      </p:sp>
    </p:spTree>
    <p:extLst>
      <p:ext uri="{BB962C8B-B14F-4D97-AF65-F5344CB8AC3E}">
        <p14:creationId xmlns:p14="http://schemas.microsoft.com/office/powerpoint/2010/main" val="2891701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market differences explain how markets behave when network effects are present.</a:t>
            </a:r>
          </a:p>
          <a:p>
            <a:r>
              <a:rPr lang="en-GB" dirty="0"/>
              <a:t>In the early stages, there is usually </a:t>
            </a:r>
            <a:r>
              <a:rPr lang="en-GB" b="1" dirty="0"/>
              <a:t>fierce competition</a:t>
            </a:r>
            <a:r>
              <a:rPr lang="en-GB" dirty="0"/>
              <a:t> between different firms trying to build a user base. For example, in the early days of social media, platforms like Myspace, Facebook, and others competed intensely. At this stage, no clear winner exists yet.</a:t>
            </a:r>
          </a:p>
          <a:p>
            <a:r>
              <a:rPr lang="en-GB" dirty="0"/>
              <a:t>However, once one firm starts to pull ahead and becomes the </a:t>
            </a:r>
            <a:r>
              <a:rPr lang="en-GB" b="1" dirty="0"/>
              <a:t>clear leader</a:t>
            </a:r>
            <a:r>
              <a:rPr lang="en-GB" dirty="0"/>
              <a:t>, the market begins to tip in its favour. This happens because more users join the leading platform simply because others are already there. For instance, Facebook eventually became dominant because people joined where their friends already were.</a:t>
            </a:r>
          </a:p>
          <a:p>
            <a:r>
              <a:rPr lang="en-GB" dirty="0"/>
              <a:t>As a result, markets with network effects often move toward a </a:t>
            </a:r>
            <a:r>
              <a:rPr lang="en-GB" b="1" dirty="0"/>
              <a:t>monopoly or near-monopoly</a:t>
            </a:r>
            <a:r>
              <a:rPr lang="en-GB" dirty="0"/>
              <a:t>, where one firm dominates. A good example is WhatsApp in messaging or Google in search. These platforms became dominant not just because of features, but because of their large user base and ecosystem.</a:t>
            </a:r>
          </a:p>
          <a:p>
            <a:r>
              <a:rPr lang="en-GB" dirty="0"/>
              <a:t>In some cases, the market may settle into an </a:t>
            </a:r>
            <a:r>
              <a:rPr lang="en-GB" b="1" dirty="0"/>
              <a:t>oligopoly</a:t>
            </a:r>
            <a:r>
              <a:rPr lang="en-GB" dirty="0"/>
              <a:t>, where a few firms dominate. For example, mobile operating systems are largely controlled by iOS and Android, where both benefit from strong networks of users and developers.</a:t>
            </a:r>
          </a:p>
          <a:p>
            <a:r>
              <a:rPr lang="en-GB" dirty="0"/>
              <a:t>Importantly, the </a:t>
            </a:r>
            <a:r>
              <a:rPr lang="en-GB" b="1" dirty="0"/>
              <a:t>leading firm does not always have the best product</a:t>
            </a:r>
            <a:r>
              <a:rPr lang="en-GB" dirty="0"/>
              <a:t>. A good example is the competition between VHS (by JVC) and Betamax (by Sony), which were incompatible. Betamax was considered technically superior, but VHS became the standard because it built a larger network of users and content providers. Incompatibility fosters network effect and dominance; you could not mix Betamax and VHS, but chose one of the two, so once one gained more users because of more movies and movie hours on the technology (VHS), the other struggled to survive. </a:t>
            </a:r>
          </a:p>
          <a:p>
            <a:r>
              <a:rPr lang="en-GB" dirty="0"/>
              <a:t>The Betamax and VHS example shows how </a:t>
            </a:r>
            <a:r>
              <a:rPr lang="en-GB" b="1" dirty="0"/>
              <a:t>complementary benefits and platforms depend on compatibility</a:t>
            </a:r>
            <a:r>
              <a:rPr lang="en-GB" dirty="0"/>
              <a:t>.</a:t>
            </a:r>
          </a:p>
          <a:p>
            <a:r>
              <a:rPr lang="en-GB" dirty="0"/>
              <a:t>Each format acted like a </a:t>
            </a:r>
            <a:r>
              <a:rPr lang="en-GB" b="1" dirty="0"/>
              <a:t>platform</a:t>
            </a:r>
            <a:r>
              <a:rPr lang="en-GB" dirty="0"/>
              <a:t>, and the movies, video rental stores, and manufacturers producing tapes and players were the </a:t>
            </a:r>
            <a:r>
              <a:rPr lang="en-GB" b="1" dirty="0"/>
              <a:t>complementary products</a:t>
            </a:r>
            <a:r>
              <a:rPr lang="en-GB" dirty="0"/>
              <a:t>. These complementary products only worked within their specific system. A VHS tape could only play on a VHS machine, and a Betamax tape could only play on a Betamax machine.</a:t>
            </a:r>
          </a:p>
          <a:p>
            <a:r>
              <a:rPr lang="en-GB" dirty="0"/>
              <a:t>Because of this, content producers and retailers had to choose which platform to support. Most chose VHS because it had more users. As a result, VHS gained more movies, more availability in rental stores, and more supporting products. This made VHS more attractive to new users, reinforcing its growth.</a:t>
            </a:r>
          </a:p>
          <a:p>
            <a:r>
              <a:rPr lang="en-GB" b="1" dirty="0"/>
              <a:t>The key dynamic to understand as well is that:</a:t>
            </a:r>
          </a:p>
          <a:p>
            <a:r>
              <a:rPr lang="en-GB" dirty="0"/>
              <a:t>Complementary products follow the largest user base, and compatibility determines where those products can be used.</a:t>
            </a:r>
          </a:p>
          <a:p>
            <a:r>
              <a:rPr lang="en-GB" dirty="0"/>
              <a:t>Platforms like iOS or Android work the same way today. Apps, accessories, and services are designed to be compatible with a specific platform. The more compatible complementary products a platform has, the more complete and valuable it becomes to users. So, compatibility is what allows complementary benefits to exist, and these complementary benefits are what strengthen network effects and help one platform dominate. Complementary products only add value if they are compatible with the platform. Betamax was a video recording technology, but it lost out not because it was bad, but because it did not build the strongest ecosystem. This shows why even a technically superior system can lose if it fails to build a strong network of users and complementary products.</a:t>
            </a:r>
          </a:p>
          <a:p>
            <a:endParaRPr lang="en-GB" dirty="0"/>
          </a:p>
          <a:p>
            <a:r>
              <a:rPr lang="en-GB" dirty="0"/>
              <a:t>A similar example is how Microsoft Windows became dominant over other operating systems (Mac OS, Linux), not necessarily because it was the best, but because it had more users and software support.</a:t>
            </a:r>
          </a:p>
          <a:p>
            <a:endParaRPr lang="en-GB" dirty="0"/>
          </a:p>
          <a:p>
            <a:endParaRPr lang="en-GB" dirty="0"/>
          </a:p>
          <a:p>
            <a:r>
              <a:rPr lang="en-GB" dirty="0"/>
              <a:t>The key idea is that </a:t>
            </a:r>
            <a:r>
              <a:rPr lang="en-GB" b="1" dirty="0"/>
              <a:t>network size and ecosystem often matter more than product quality</a:t>
            </a:r>
            <a:r>
              <a:rPr lang="en-GB" dirty="0"/>
              <a:t>, because once a firm builds a strong network, it becomes very difficult for competitors to catch up.</a:t>
            </a:r>
          </a:p>
          <a:p>
            <a:r>
              <a:rPr lang="en-GB" b="1" dirty="0"/>
              <a:t>A thought: </a:t>
            </a:r>
            <a:r>
              <a:rPr lang="en-GB" dirty="0"/>
              <a:t>Imagine choosing a phone where none of your apps works, or a laptop where your university software does not run/not compatible. Even if the device is better, you won’t choose it. Technology alone does not win markets; networks do</a:t>
            </a:r>
          </a:p>
          <a:p>
            <a:endParaRPr lang="en-ZA" dirty="0"/>
          </a:p>
        </p:txBody>
      </p:sp>
      <p:sp>
        <p:nvSpPr>
          <p:cNvPr id="4" name="Slide Number Placeholder 3"/>
          <p:cNvSpPr>
            <a:spLocks noGrp="1"/>
          </p:cNvSpPr>
          <p:nvPr>
            <p:ph type="sldNum" sz="quarter" idx="5"/>
          </p:nvPr>
        </p:nvSpPr>
        <p:spPr/>
        <p:txBody>
          <a:bodyPr/>
          <a:lstStyle/>
          <a:p>
            <a:fld id="{CD5278F0-A024-4434-A33E-87208FC19B1D}" type="slidenum">
              <a:rPr lang="en-ZA" smtClean="0"/>
              <a:t>9</a:t>
            </a:fld>
            <a:endParaRPr lang="en-ZA"/>
          </a:p>
        </p:txBody>
      </p:sp>
    </p:spTree>
    <p:extLst>
      <p:ext uri="{BB962C8B-B14F-4D97-AF65-F5344CB8AC3E}">
        <p14:creationId xmlns:p14="http://schemas.microsoft.com/office/powerpoint/2010/main" val="315882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Battling a dominant firm in a network market is extremely difficult! </a:t>
            </a:r>
            <a:r>
              <a:rPr lang="en-GB" dirty="0"/>
              <a:t>It is tough competing against a firm that already has strong network effects.</a:t>
            </a:r>
          </a:p>
          <a:p>
            <a:r>
              <a:rPr lang="en-GB" dirty="0"/>
              <a:t>An </a:t>
            </a:r>
            <a:r>
              <a:rPr lang="en-GB" b="1" dirty="0"/>
              <a:t>incumbent product</a:t>
            </a:r>
            <a:r>
              <a:rPr lang="en-GB" dirty="0"/>
              <a:t> does not rely only on its technology to create value. Its value comes from multiple factors, layers or elements that are reinforcing. When a firm becomes a leader, its advantage is not just its technology, but its value is built from multiple reinforcing elements. The incumbent firm/product benefits from an </a:t>
            </a:r>
            <a:r>
              <a:rPr lang="en-GB" b="1" dirty="0"/>
              <a:t>installed base</a:t>
            </a:r>
            <a:r>
              <a:rPr lang="en-GB" dirty="0"/>
              <a:t>, meaning a large number of users; </a:t>
            </a:r>
            <a:r>
              <a:rPr lang="en-GB" b="1" dirty="0"/>
              <a:t>complementary benefits</a:t>
            </a:r>
            <a:r>
              <a:rPr lang="en-GB" dirty="0"/>
              <a:t>, such as apps, services, content or supporting products built around the incumbent product; and </a:t>
            </a:r>
            <a:r>
              <a:rPr lang="en-GB" b="1" dirty="0"/>
              <a:t>staying power/switching costs</a:t>
            </a:r>
            <a:r>
              <a:rPr lang="en-GB" dirty="0"/>
              <a:t>, where users are locked in because they have already invested time, data, and effort into the system and make it difficult for users to leave. All of these sit alongside the firm’s </a:t>
            </a:r>
            <a:r>
              <a:rPr lang="en-GB" b="1" dirty="0"/>
              <a:t>technological functionality</a:t>
            </a:r>
            <a:r>
              <a:rPr lang="en-GB" dirty="0"/>
              <a:t>. When you combine all of these, the total value of the incumbent is very high, not just because of what the product can do, but because of the entire network built around it.</a:t>
            </a:r>
          </a:p>
          <a:p>
            <a:endParaRPr lang="en-GB" dirty="0"/>
          </a:p>
          <a:p>
            <a:r>
              <a:rPr lang="en-GB" dirty="0"/>
              <a:t>Now, when a new entrant comes into the market, especially with an </a:t>
            </a:r>
            <a:r>
              <a:rPr lang="en-GB" b="1" dirty="0"/>
              <a:t>incompatible technology</a:t>
            </a:r>
            <a:r>
              <a:rPr lang="en-GB" dirty="0"/>
              <a:t>, it does not start with any of these advantages. This new product or new entrant may have strong or even superior technological functionality, but it lacks users, complementary products, and staying power. It has no users, no ecosystem, and no switching cost or lock-in. The only thing it can rely on is its </a:t>
            </a:r>
            <a:r>
              <a:rPr lang="en-GB" b="1" dirty="0"/>
              <a:t>technological functionality</a:t>
            </a:r>
            <a:r>
              <a:rPr lang="en-GB" dirty="0"/>
              <a:t>. This creates the core challenge for new entrants or potential entrants: </a:t>
            </a:r>
            <a:r>
              <a:rPr lang="en-GB" b="1" dirty="0"/>
              <a:t>The new entrant is not just competing against the incumbent’s technology, but against the </a:t>
            </a:r>
            <a:r>
              <a:rPr lang="en-GB" b="1" i="1" dirty="0"/>
              <a:t>total value of the entire network</a:t>
            </a:r>
            <a:r>
              <a:rPr lang="en-GB" dirty="0"/>
              <a:t>.</a:t>
            </a:r>
          </a:p>
          <a:p>
            <a:endParaRPr lang="en-GB" dirty="0"/>
          </a:p>
          <a:p>
            <a:r>
              <a:rPr lang="en-GB" dirty="0"/>
              <a:t>In practical terms, this means that simply offering a “better” product is not enough. For example, many messaging apps may have better features than WhatsApp, but people remain on WhatsApp because that is where their contacts are. Similarly, a new mobile operating system may be technically superior, but without apps and users, it struggles to gain adoption.</a:t>
            </a:r>
          </a:p>
          <a:p>
            <a:r>
              <a:rPr lang="en-GB" dirty="0"/>
              <a:t>In addition, if the improvement introduced by the newcomer is easy to copy, the incumbent will quickly imitate it. Large firms like Apple, Google, or Microsoft can rapidly adopt new features introduced by smaller competitors, eliminating any advantage the entrant might have had.</a:t>
            </a:r>
          </a:p>
          <a:p>
            <a:endParaRPr lang="en-GB" dirty="0"/>
          </a:p>
          <a:p>
            <a:r>
              <a:rPr lang="en-GB" dirty="0"/>
              <a:t>This is where the idea of </a:t>
            </a:r>
            <a:r>
              <a:rPr lang="en-GB" b="1" dirty="0"/>
              <a:t>technological leapfrogging</a:t>
            </a:r>
            <a:r>
              <a:rPr lang="en-GB" dirty="0"/>
              <a:t> becomes important. Technological leapfrogging refers to competing by offering a new generation of technology that is so superior that its value outweighs not only the incumbent’s features, but also the advantages created by its user base, switching costs, and complementary products.</a:t>
            </a:r>
          </a:p>
          <a:p>
            <a:r>
              <a:rPr lang="en-GB" dirty="0"/>
              <a:t>In other words, the new technology must be strong enough to overcome the full resistance of the existing network.</a:t>
            </a:r>
          </a:p>
          <a:p>
            <a:r>
              <a:rPr lang="en-GB" dirty="0"/>
              <a:t>For example, the shift from traditional mobile phones to smartphones can be seen as a form of leapfrogging. The iPhone did not just improve existing phones; it introduced a fundamentally different way of interacting with technology through touchscreens, apps, and internet integration. This level of innovation was powerful enough to overcome existing user habits and reshape the market.</a:t>
            </a:r>
          </a:p>
          <a:p>
            <a:r>
              <a:rPr lang="en-GB" dirty="0"/>
              <a:t>However, leapfrogging is </a:t>
            </a:r>
            <a:r>
              <a:rPr lang="en-GB" b="1" dirty="0"/>
              <a:t>very difficult, especially for new entrants, because of the resources required</a:t>
            </a:r>
            <a:r>
              <a:rPr lang="en-GB" dirty="0"/>
              <a:t>. If the innovation is not significant enough, users will remain with the incumbent because of the value they already receive from the network. And if the innovation is easy to replicate, the incumbent will simply copy it and maintain its dominance.</a:t>
            </a:r>
          </a:p>
          <a:p>
            <a:r>
              <a:rPr lang="en-GB" dirty="0"/>
              <a:t>In other words, the new innovation must be better not just in features, but better than the combined value of users, ecosystem, and switching costs that the incumbent already has.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is why </a:t>
            </a:r>
            <a:r>
              <a:rPr lang="en-GB" b="1" dirty="0"/>
              <a:t>radical innovation may be necessary</a:t>
            </a:r>
            <a:r>
              <a:rPr lang="en-GB" dirty="0"/>
              <a:t> to challenge an established standard. Small improvements are usually not enough, because users are already tied to the existing network. In network markets, you do not beat the leader by being slightly better. The new innovation must be better not just in features, but also in exceeding the combined value of users, ecosystem, and switching costs that the incumbent already has. For a new entrant to succeed, it must offer such a significant improvement that it outweighs all the advantages of the existing network</a:t>
            </a:r>
          </a:p>
          <a:p>
            <a:r>
              <a:rPr lang="en-GB" dirty="0"/>
              <a:t>You either plug into the network, or you leap far ahead of it</a:t>
            </a:r>
          </a:p>
          <a:p>
            <a:endParaRPr lang="en-ZA" dirty="0"/>
          </a:p>
        </p:txBody>
      </p:sp>
      <p:sp>
        <p:nvSpPr>
          <p:cNvPr id="4" name="Slide Number Placeholder 3"/>
          <p:cNvSpPr>
            <a:spLocks noGrp="1"/>
          </p:cNvSpPr>
          <p:nvPr>
            <p:ph type="sldNum" sz="quarter" idx="5"/>
          </p:nvPr>
        </p:nvSpPr>
        <p:spPr/>
        <p:txBody>
          <a:bodyPr/>
          <a:lstStyle/>
          <a:p>
            <a:fld id="{2F1A90E2-B811-4D7C-8742-E98222CB5259}" type="slidenum">
              <a:rPr lang="en-ZA" smtClean="0"/>
              <a:t>10</a:t>
            </a:fld>
            <a:endParaRPr lang="en-ZA"/>
          </a:p>
        </p:txBody>
      </p:sp>
    </p:spTree>
    <p:extLst>
      <p:ext uri="{BB962C8B-B14F-4D97-AF65-F5344CB8AC3E}">
        <p14:creationId xmlns:p14="http://schemas.microsoft.com/office/powerpoint/2010/main" val="3063783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idea of </a:t>
            </a:r>
            <a:r>
              <a:rPr lang="en-GB" b="1" dirty="0"/>
              <a:t>congestion effects </a:t>
            </a:r>
            <a:r>
              <a:rPr lang="en-GB" dirty="0"/>
              <a:t>is essentially the opposite of positive network effects.</a:t>
            </a:r>
          </a:p>
          <a:p>
            <a:r>
              <a:rPr lang="en-GB" dirty="0"/>
              <a:t>While network effects usually mean that more users increase value, </a:t>
            </a:r>
            <a:r>
              <a:rPr lang="en-GB" b="1" dirty="0"/>
              <a:t>congestion effects occur when too many users reduce the value of a product or service</a:t>
            </a:r>
            <a:r>
              <a:rPr lang="en-GB" dirty="0"/>
              <a:t>. This typically happens when there is a </a:t>
            </a:r>
            <a:r>
              <a:rPr lang="en-GB" b="1" dirty="0"/>
              <a:t>limited or finite resource</a:t>
            </a:r>
            <a:r>
              <a:rPr lang="en-GB" dirty="0"/>
              <a:t> that cannot handle the increased demand.</a:t>
            </a:r>
          </a:p>
          <a:p>
            <a:r>
              <a:rPr lang="en-GB" dirty="0"/>
              <a:t>A good example is shown with Twitter. In its early years, when too many users tried to access the platform at the same time, the system would become overloaded and display the “Twitter is over capacity” error. Instead of improving the experience, more users actually made the service worse because the infrastructure could not keep up.</a:t>
            </a:r>
          </a:p>
          <a:p>
            <a:r>
              <a:rPr lang="en-GB" dirty="0"/>
              <a:t>Another example is the iPhone network with AT&amp;T. When the iPhone first launched, Apple entered into an agreement for iPhones to only use the AT&amp;T network. Many users, due to this agreement, joined the network, but AT&amp;T’s infrastructure was not strong enough to support the surge in demand. This led to dropped calls, slow internet speeds, and customer frustration. Again, more users reduced the quality of the service. Everyone wanted the iPhone, but AT&amp;T’s network could not handle everyone using it at the same time. The iPhone made AT&amp;T popular, but too much popularity made the service worse, which is </a:t>
            </a:r>
            <a:r>
              <a:rPr lang="en-GB"/>
              <a:t>what congestion effects </a:t>
            </a:r>
            <a:r>
              <a:rPr lang="en-GB" dirty="0"/>
              <a:t>is about.</a:t>
            </a:r>
          </a:p>
          <a:p>
            <a:r>
              <a:rPr lang="en-GB" b="1" dirty="0"/>
              <a:t>The key idea is that:</a:t>
            </a:r>
          </a:p>
          <a:p>
            <a:r>
              <a:rPr lang="en-GB" dirty="0"/>
              <a:t>Network growth only adds value if the system can support it.</a:t>
            </a:r>
          </a:p>
          <a:p>
            <a:r>
              <a:rPr lang="en-GB" dirty="0"/>
              <a:t>If capacity is limited and not expanded in time, increased usage leads to congestion, which reduces performance and user satisfaction.</a:t>
            </a:r>
          </a:p>
          <a:p>
            <a:r>
              <a:rPr lang="en-GB" dirty="0"/>
              <a:t>This is why firms that benefit from network effects must also </a:t>
            </a:r>
            <a:r>
              <a:rPr lang="en-GB" b="1" dirty="0"/>
              <a:t>continuously invest in infrastructure and scalability</a:t>
            </a:r>
            <a:r>
              <a:rPr lang="en-GB" dirty="0"/>
              <a:t>, ensuring that growth does not turn into a negative experience for users.</a:t>
            </a:r>
          </a:p>
          <a:p>
            <a:endParaRPr lang="en-ZA" dirty="0"/>
          </a:p>
        </p:txBody>
      </p:sp>
      <p:sp>
        <p:nvSpPr>
          <p:cNvPr id="4" name="Slide Number Placeholder 3"/>
          <p:cNvSpPr>
            <a:spLocks noGrp="1"/>
          </p:cNvSpPr>
          <p:nvPr>
            <p:ph type="sldNum" sz="quarter" idx="5"/>
          </p:nvPr>
        </p:nvSpPr>
        <p:spPr/>
        <p:txBody>
          <a:bodyPr/>
          <a:lstStyle/>
          <a:p>
            <a:fld id="{2F1A90E2-B811-4D7C-8742-E98222CB5259}" type="slidenum">
              <a:rPr lang="en-ZA" smtClean="0"/>
              <a:t>11</a:t>
            </a:fld>
            <a:endParaRPr lang="en-ZA"/>
          </a:p>
        </p:txBody>
      </p:sp>
    </p:spTree>
    <p:extLst>
      <p:ext uri="{BB962C8B-B14F-4D97-AF65-F5344CB8AC3E}">
        <p14:creationId xmlns:p14="http://schemas.microsoft.com/office/powerpoint/2010/main" val="10916025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firms operate in markets shaped or determined and impacted by network effects, success is not only about having a good product. It is about </a:t>
            </a:r>
            <a:r>
              <a:rPr lang="en-GB" b="1" dirty="0"/>
              <a:t>growing the network faster, strengthening its value, and making it difficult for others to compete</a:t>
            </a:r>
            <a:br>
              <a:rPr lang="en-GB" dirty="0"/>
            </a:br>
            <a:endParaRPr lang="en-GB" dirty="0"/>
          </a:p>
          <a:p>
            <a:r>
              <a:rPr lang="en-GB" b="1" dirty="0"/>
              <a:t>The first </a:t>
            </a:r>
            <a:r>
              <a:rPr lang="en-GB" dirty="0"/>
              <a:t>strategy is to </a:t>
            </a:r>
            <a:r>
              <a:rPr lang="en-GB" b="1" dirty="0"/>
              <a:t>move early</a:t>
            </a:r>
            <a:r>
              <a:rPr lang="en-GB" dirty="0"/>
              <a:t>. Firms that enter early have a better chance of building the initial user base that others will follow. For example, Amazon moved early in cloud computing with AWS, giving it a strong lead before Microsoft Azure could catch up. Similarly, Yahoo Auctions succeeded in Japan by entering early and building local dominance before eBay could establish itself.</a:t>
            </a:r>
          </a:p>
          <a:p>
            <a:endParaRPr lang="en-GB" dirty="0"/>
          </a:p>
          <a:p>
            <a:r>
              <a:rPr lang="en-GB" b="1" dirty="0"/>
              <a:t>Closely linked </a:t>
            </a:r>
            <a:r>
              <a:rPr lang="en-GB" dirty="0"/>
              <a:t>to this is the idea of </a:t>
            </a:r>
            <a:r>
              <a:rPr lang="en-GB" b="1" dirty="0"/>
              <a:t>subsidising adoption</a:t>
            </a:r>
            <a:r>
              <a:rPr lang="en-GB" dirty="0"/>
              <a:t>. Many firms reduce or remove costs to attract users quickly. PayPal famously paid users to sign up, and Zoom offered free access during its early growth phase. Even freemium models, like limited versions of ChatGPT, are a way of lowering the barrier to entry so that more users join the network.</a:t>
            </a:r>
          </a:p>
          <a:p>
            <a:r>
              <a:rPr lang="en-GB" dirty="0"/>
              <a:t>Firms also rely heavily on </a:t>
            </a:r>
            <a:r>
              <a:rPr lang="en-GB" b="1" dirty="0"/>
              <a:t>viral promotion</a:t>
            </a:r>
            <a:r>
              <a:rPr lang="en-GB" dirty="0"/>
              <a:t>, where users themselves drive growth. Platforms like TikTok, Uber, Shein, and </a:t>
            </a:r>
            <a:r>
              <a:rPr lang="en-GB" dirty="0" err="1"/>
              <a:t>Temu</a:t>
            </a:r>
            <a:r>
              <a:rPr lang="en-GB" dirty="0"/>
              <a:t> expand because users invite others, share content, or create trends that naturally attract more participants. This accelerates network growth without relying solely on traditional marketing.</a:t>
            </a:r>
          </a:p>
          <a:p>
            <a:endParaRPr lang="en-GB" dirty="0"/>
          </a:p>
          <a:p>
            <a:r>
              <a:rPr lang="en-GB" b="1" dirty="0"/>
              <a:t>Another</a:t>
            </a:r>
            <a:r>
              <a:rPr lang="en-GB" dirty="0"/>
              <a:t> powerful strategy is to </a:t>
            </a:r>
            <a:r>
              <a:rPr lang="en-GB" b="1" dirty="0"/>
              <a:t>expand the market by redefining it</a:t>
            </a:r>
            <a:r>
              <a:rPr lang="en-GB" dirty="0"/>
              <a:t>. This involves bringing in new types of users or combining multiple functions into one platform. The iPhone is a strong example, as it merged phone, internet, camera, and apps into a single ecosystem. Similarly, Nvidia expanded from gaming graphics into artificial intelligence, bringing in entirely new users and applications.</a:t>
            </a:r>
          </a:p>
          <a:p>
            <a:r>
              <a:rPr lang="en-GB" dirty="0"/>
              <a:t>Firms often strengthen their position through </a:t>
            </a:r>
            <a:r>
              <a:rPr lang="en-GB" b="1" dirty="0"/>
              <a:t>alliances and partnerships</a:t>
            </a:r>
            <a:r>
              <a:rPr lang="en-GB" dirty="0"/>
              <a:t>. For example, ride-sharing firms like Didi, Ola, Grab, and Lyft formed alliances to compete against Uber globally. These partnerships help firms grow their network faster by sharing users, resources, or geographic reach.</a:t>
            </a:r>
          </a:p>
          <a:p>
            <a:endParaRPr lang="en-GB" dirty="0"/>
          </a:p>
          <a:p>
            <a:r>
              <a:rPr lang="en-GB" b="1" dirty="0"/>
              <a:t>Another key strategy </a:t>
            </a:r>
            <a:r>
              <a:rPr lang="en-GB" dirty="0"/>
              <a:t>is to </a:t>
            </a:r>
            <a:r>
              <a:rPr lang="en-GB" b="1" dirty="0"/>
              <a:t>leverage distribution channels</a:t>
            </a:r>
            <a:r>
              <a:rPr lang="en-GB" dirty="0"/>
              <a:t>. Firms embed their products where users already are. Microsoft bundled Media Player with Windows, ensuring widespread adoption. Apple does something similar by pre-installing services like Apple Music across its devices. This ensures immediate access to a large user base.</a:t>
            </a:r>
          </a:p>
          <a:p>
            <a:endParaRPr lang="en-GB" dirty="0"/>
          </a:p>
          <a:p>
            <a:r>
              <a:rPr lang="en-GB" b="1" dirty="0"/>
              <a:t>A critical strategy </a:t>
            </a:r>
            <a:r>
              <a:rPr lang="en-GB" dirty="0"/>
              <a:t>in network markets is to </a:t>
            </a:r>
            <a:r>
              <a:rPr lang="en-GB" b="1" dirty="0"/>
              <a:t>encourage complementary goods</a:t>
            </a:r>
            <a:r>
              <a:rPr lang="en-GB" dirty="0"/>
              <a:t>. Firms invest in developers, tools, and incentives so that others can build products that work with their platform. Apple’s iOS ecosystem is a clear example, where apps, accessories, and services make the platform more complete and valuable. Similarly, Amazon encourages developers to build for Alexa, increasing its usefulness.</a:t>
            </a:r>
          </a:p>
          <a:p>
            <a:endParaRPr lang="en-GB" dirty="0"/>
          </a:p>
          <a:p>
            <a:r>
              <a:rPr lang="en-GB" b="1" dirty="0"/>
              <a:t>Firms also maintain </a:t>
            </a:r>
            <a:r>
              <a:rPr lang="en-GB" dirty="0"/>
              <a:t>their advantage through </a:t>
            </a:r>
            <a:r>
              <a:rPr lang="en-GB" b="1" dirty="0"/>
              <a:t>backward compatibility</a:t>
            </a:r>
            <a:r>
              <a:rPr lang="en-GB" dirty="0"/>
              <a:t>, ensuring that new products continue to work with older systems, software, or standards. This is important because it protects the investment users have already made and reduces switching costs. Apple provides a strong example. When it moved Macs from Intel processors to its own Apple Silicon chips, the two systems were not naturally compatible. To prevent disruption, Apple introduced </a:t>
            </a:r>
            <a:r>
              <a:rPr lang="en-GB" b="1" dirty="0"/>
              <a:t>Rosetta 2</a:t>
            </a:r>
            <a:r>
              <a:rPr lang="en-GB" dirty="0"/>
              <a:t>, a software layer that translated Intel-based applications so they could still run on the new Macs. This meant users could upgrade without losing access to their existing software, and developers had time to adapt their products. In this way, Apple preserved user loyalty while shifting to a superior technology.</a:t>
            </a:r>
          </a:p>
          <a:p>
            <a:endParaRPr lang="en-GB" b="1" dirty="0"/>
          </a:p>
          <a:p>
            <a:r>
              <a:rPr lang="en-GB" b="1" dirty="0"/>
              <a:t>For competitors trying to enter a network market</a:t>
            </a:r>
            <a:r>
              <a:rPr lang="en-GB" dirty="0"/>
              <a:t>, a common strategy is to </a:t>
            </a:r>
            <a:r>
              <a:rPr lang="en-GB" b="1" dirty="0"/>
              <a:t>be compatible with the dominant network</a:t>
            </a:r>
            <a:r>
              <a:rPr lang="en-GB" dirty="0"/>
              <a:t> rather than trying to replace it outright. This allows them to benefit from an existing installed base and ecosystem. Samsung Pay is a good example. Instead of relying only on newer contactless payment systems, it used </a:t>
            </a:r>
            <a:r>
              <a:rPr lang="en-GB" b="1" dirty="0"/>
              <a:t>magnetic secure transmission (MST)</a:t>
            </a:r>
            <a:r>
              <a:rPr lang="en-GB" dirty="0"/>
              <a:t> so that it could work with existing card terminals that were already widespread in shops. This made Samsung Pay usable in many more locations than rival mobile payment systems and removed a major barrier to adoption. Microsoft used a similar approach when it entered online mapping later than Google. By supporting the same </a:t>
            </a:r>
            <a:r>
              <a:rPr lang="en-GB" b="1" dirty="0"/>
              <a:t>KML standard</a:t>
            </a:r>
            <a:r>
              <a:rPr lang="en-GB" dirty="0"/>
              <a:t> used by Google Maps and Google Earth, Microsoft allowed content already created for Google’s network to also work on its own platform, giving it an instant base of complementary content.</a:t>
            </a:r>
          </a:p>
          <a:p>
            <a:endParaRPr lang="en-GB" b="1" dirty="0"/>
          </a:p>
          <a:p>
            <a:r>
              <a:rPr lang="en-GB" b="1" dirty="0"/>
              <a:t>For firms that already dominate</a:t>
            </a:r>
            <a:r>
              <a:rPr lang="en-GB" dirty="0"/>
              <a:t>, the focus shifts to defence. They </a:t>
            </a:r>
            <a:r>
              <a:rPr lang="en-GB" b="1" dirty="0"/>
              <a:t>continuously innovate and restrict rival access</a:t>
            </a:r>
            <a:r>
              <a:rPr lang="en-GB" dirty="0"/>
              <a:t> so that competitors find it difficult to connect to or imitate the network. Apple is again a strong example. While Macs can run Windows, Windows machines cannot run Mac software in the same seamless way. Apple tightly integrates software with hardware, making imitation difficult, and it regularly updates its systems so that would-be imitators face a moving target. It has also acted to block third-party hardware or services from integrating too closely with its ecosystem. This kind of control helps Apple defend its network and maintain user lock-in.</a:t>
            </a:r>
          </a:p>
          <a:p>
            <a:endParaRPr lang="en-GB" dirty="0"/>
          </a:p>
          <a:p>
            <a:r>
              <a:rPr lang="en-GB" b="1" dirty="0"/>
              <a:t>Finally,</a:t>
            </a:r>
            <a:r>
              <a:rPr lang="en-GB" dirty="0"/>
              <a:t> large and well-known firms can use </a:t>
            </a:r>
            <a:r>
              <a:rPr lang="en-GB" b="1" dirty="0"/>
              <a:t>preannouncements</a:t>
            </a:r>
            <a:r>
              <a:rPr lang="en-GB" dirty="0"/>
              <a:t> to slow competitors and keep users from adopting rival products. The idea is that if customers know a major player is about to launch something new, they may delay their purchase rather than commit to another platform. Apple did this when it revealed the Apple Watch months before release, encouraging customers and developers to wait rather than invest in rival wearable platforms. It used a similar approach with </a:t>
            </a:r>
            <a:r>
              <a:rPr lang="en-GB" dirty="0" err="1"/>
              <a:t>VisionPro</a:t>
            </a:r>
            <a:r>
              <a:rPr lang="en-GB" dirty="0"/>
              <a:t>, signalling to the market that a major entrant was coming and causing both developers and consumers to think twice before committing to competing products. However, firms must be careful with this strategy, because announcing too early can reduce sales of current products, a problem often referred to as the </a:t>
            </a:r>
            <a:r>
              <a:rPr lang="en-GB" b="1" dirty="0"/>
              <a:t>Osborne Effect</a:t>
            </a:r>
            <a:r>
              <a:rPr lang="en-GB" dirty="0"/>
              <a:t>.</a:t>
            </a:r>
          </a:p>
          <a:p>
            <a:r>
              <a:rPr lang="en-GB" dirty="0"/>
              <a:t>In network markets, firms are not just competing on products, they are competing to build, grow, and control the network itself</a:t>
            </a:r>
            <a:endParaRPr lang="en-ZA" dirty="0"/>
          </a:p>
        </p:txBody>
      </p:sp>
      <p:sp>
        <p:nvSpPr>
          <p:cNvPr id="4" name="Slide Number Placeholder 3"/>
          <p:cNvSpPr>
            <a:spLocks noGrp="1"/>
          </p:cNvSpPr>
          <p:nvPr>
            <p:ph type="sldNum" sz="quarter" idx="5"/>
          </p:nvPr>
        </p:nvSpPr>
        <p:spPr/>
        <p:txBody>
          <a:bodyPr/>
          <a:lstStyle/>
          <a:p>
            <a:fld id="{2F1A90E2-B811-4D7C-8742-E98222CB5259}" type="slidenum">
              <a:rPr lang="en-ZA" smtClean="0"/>
              <a:t>12</a:t>
            </a:fld>
            <a:endParaRPr lang="en-ZA"/>
          </a:p>
        </p:txBody>
      </p:sp>
    </p:spTree>
    <p:extLst>
      <p:ext uri="{BB962C8B-B14F-4D97-AF65-F5344CB8AC3E}">
        <p14:creationId xmlns:p14="http://schemas.microsoft.com/office/powerpoint/2010/main" val="1089580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3491A-E789-4A12-8EBE-243C79BCCF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A49D7D7A-950C-4AE1-930D-1BA85F1453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4DE29922-8261-471B-847E-660E11F0B6A1}"/>
              </a:ext>
            </a:extLst>
          </p:cNvPr>
          <p:cNvSpPr>
            <a:spLocks noGrp="1"/>
          </p:cNvSpPr>
          <p:nvPr>
            <p:ph type="dt" sz="half" idx="10"/>
          </p:nvPr>
        </p:nvSpPr>
        <p:spPr/>
        <p:txBody>
          <a:bodyPr/>
          <a:lstStyle/>
          <a:p>
            <a:fld id="{85DBA364-4A25-4724-9EF8-D3B839DBA48A}" type="datetimeFigureOut">
              <a:rPr lang="en-ZA" smtClean="0"/>
              <a:t>2026/04/15</a:t>
            </a:fld>
            <a:endParaRPr lang="en-ZA"/>
          </a:p>
        </p:txBody>
      </p:sp>
      <p:sp>
        <p:nvSpPr>
          <p:cNvPr id="5" name="Footer Placeholder 4">
            <a:extLst>
              <a:ext uri="{FF2B5EF4-FFF2-40B4-BE49-F238E27FC236}">
                <a16:creationId xmlns:a16="http://schemas.microsoft.com/office/drawing/2014/main" id="{81E005BF-52AF-45B3-B09B-7B32EAC3E9F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FD1277F-AE8C-4213-BE10-8C08E47A3FD8}"/>
              </a:ext>
            </a:extLst>
          </p:cNvPr>
          <p:cNvSpPr>
            <a:spLocks noGrp="1"/>
          </p:cNvSpPr>
          <p:nvPr>
            <p:ph type="sldNum" sz="quarter" idx="12"/>
          </p:nvPr>
        </p:nvSpPr>
        <p:spPr/>
        <p:txBody>
          <a:bodyPr/>
          <a:lstStyle/>
          <a:p>
            <a:fld id="{90D94289-4E75-41F4-BF60-554E8C159ED2}" type="slidenum">
              <a:rPr lang="en-ZA" smtClean="0"/>
              <a:t>‹#›</a:t>
            </a:fld>
            <a:endParaRPr lang="en-ZA"/>
          </a:p>
        </p:txBody>
      </p:sp>
    </p:spTree>
    <p:extLst>
      <p:ext uri="{BB962C8B-B14F-4D97-AF65-F5344CB8AC3E}">
        <p14:creationId xmlns:p14="http://schemas.microsoft.com/office/powerpoint/2010/main" val="1718283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C97F9-C84D-44E8-950F-29B03959EF3A}"/>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CE3FA92D-0AC6-4B68-BAC0-2C18793091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219F8E2-CCD0-4EE0-A663-EFA39F197D1C}"/>
              </a:ext>
            </a:extLst>
          </p:cNvPr>
          <p:cNvSpPr>
            <a:spLocks noGrp="1"/>
          </p:cNvSpPr>
          <p:nvPr>
            <p:ph type="dt" sz="half" idx="10"/>
          </p:nvPr>
        </p:nvSpPr>
        <p:spPr/>
        <p:txBody>
          <a:bodyPr/>
          <a:lstStyle/>
          <a:p>
            <a:fld id="{85DBA364-4A25-4724-9EF8-D3B839DBA48A}" type="datetimeFigureOut">
              <a:rPr lang="en-ZA" smtClean="0"/>
              <a:t>2026/04/15</a:t>
            </a:fld>
            <a:endParaRPr lang="en-ZA"/>
          </a:p>
        </p:txBody>
      </p:sp>
      <p:sp>
        <p:nvSpPr>
          <p:cNvPr id="5" name="Footer Placeholder 4">
            <a:extLst>
              <a:ext uri="{FF2B5EF4-FFF2-40B4-BE49-F238E27FC236}">
                <a16:creationId xmlns:a16="http://schemas.microsoft.com/office/drawing/2014/main" id="{73F14404-4B1A-4A2E-BDC3-538DF00D18C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E4AC677-88A5-44B7-A2DF-40B78DDCAF46}"/>
              </a:ext>
            </a:extLst>
          </p:cNvPr>
          <p:cNvSpPr>
            <a:spLocks noGrp="1"/>
          </p:cNvSpPr>
          <p:nvPr>
            <p:ph type="sldNum" sz="quarter" idx="12"/>
          </p:nvPr>
        </p:nvSpPr>
        <p:spPr/>
        <p:txBody>
          <a:bodyPr/>
          <a:lstStyle/>
          <a:p>
            <a:fld id="{90D94289-4E75-41F4-BF60-554E8C159ED2}" type="slidenum">
              <a:rPr lang="en-ZA" smtClean="0"/>
              <a:t>‹#›</a:t>
            </a:fld>
            <a:endParaRPr lang="en-ZA"/>
          </a:p>
        </p:txBody>
      </p:sp>
    </p:spTree>
    <p:extLst>
      <p:ext uri="{BB962C8B-B14F-4D97-AF65-F5344CB8AC3E}">
        <p14:creationId xmlns:p14="http://schemas.microsoft.com/office/powerpoint/2010/main" val="2275196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EDDD2-6495-4BF9-9E15-E7F9A03301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7E923E91-094B-469D-B9D4-545C5BDCBF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3A2053-932E-4258-BA96-AD4B034F65FB}"/>
              </a:ext>
            </a:extLst>
          </p:cNvPr>
          <p:cNvSpPr>
            <a:spLocks noGrp="1"/>
          </p:cNvSpPr>
          <p:nvPr>
            <p:ph type="dt" sz="half" idx="10"/>
          </p:nvPr>
        </p:nvSpPr>
        <p:spPr/>
        <p:txBody>
          <a:bodyPr/>
          <a:lstStyle/>
          <a:p>
            <a:fld id="{85DBA364-4A25-4724-9EF8-D3B839DBA48A}" type="datetimeFigureOut">
              <a:rPr lang="en-ZA" smtClean="0"/>
              <a:t>2026/04/15</a:t>
            </a:fld>
            <a:endParaRPr lang="en-ZA"/>
          </a:p>
        </p:txBody>
      </p:sp>
      <p:sp>
        <p:nvSpPr>
          <p:cNvPr id="5" name="Footer Placeholder 4">
            <a:extLst>
              <a:ext uri="{FF2B5EF4-FFF2-40B4-BE49-F238E27FC236}">
                <a16:creationId xmlns:a16="http://schemas.microsoft.com/office/drawing/2014/main" id="{75084B23-4F96-4009-9975-FFB44B7D6B9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F6C2EEF-630E-4986-B824-4FF4388EA6BE}"/>
              </a:ext>
            </a:extLst>
          </p:cNvPr>
          <p:cNvSpPr>
            <a:spLocks noGrp="1"/>
          </p:cNvSpPr>
          <p:nvPr>
            <p:ph type="sldNum" sz="quarter" idx="12"/>
          </p:nvPr>
        </p:nvSpPr>
        <p:spPr/>
        <p:txBody>
          <a:bodyPr/>
          <a:lstStyle/>
          <a:p>
            <a:fld id="{90D94289-4E75-41F4-BF60-554E8C159ED2}" type="slidenum">
              <a:rPr lang="en-ZA" smtClean="0"/>
              <a:t>‹#›</a:t>
            </a:fld>
            <a:endParaRPr lang="en-ZA"/>
          </a:p>
        </p:txBody>
      </p:sp>
    </p:spTree>
    <p:extLst>
      <p:ext uri="{BB962C8B-B14F-4D97-AF65-F5344CB8AC3E}">
        <p14:creationId xmlns:p14="http://schemas.microsoft.com/office/powerpoint/2010/main" val="4170523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B14BB-8E10-4D54-9082-51917192DDE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255B8555-3ADD-480E-8ACE-9365A4F32F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0882DED2-7A5E-4793-AD90-19CBA6B960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3A5E0E2A-B016-4499-BA58-EB8317DA2450}"/>
              </a:ext>
            </a:extLst>
          </p:cNvPr>
          <p:cNvSpPr>
            <a:spLocks noGrp="1"/>
          </p:cNvSpPr>
          <p:nvPr>
            <p:ph type="dt" sz="half" idx="10"/>
          </p:nvPr>
        </p:nvSpPr>
        <p:spPr/>
        <p:txBody>
          <a:bodyPr/>
          <a:lstStyle/>
          <a:p>
            <a:fld id="{85DBA364-4A25-4724-9EF8-D3B839DBA48A}" type="datetimeFigureOut">
              <a:rPr lang="en-ZA" smtClean="0"/>
              <a:t>2026/04/15</a:t>
            </a:fld>
            <a:endParaRPr lang="en-ZA"/>
          </a:p>
        </p:txBody>
      </p:sp>
      <p:sp>
        <p:nvSpPr>
          <p:cNvPr id="6" name="Footer Placeholder 5">
            <a:extLst>
              <a:ext uri="{FF2B5EF4-FFF2-40B4-BE49-F238E27FC236}">
                <a16:creationId xmlns:a16="http://schemas.microsoft.com/office/drawing/2014/main" id="{95526035-03FD-413F-9E80-CFF7906C4D89}"/>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6E697D7-BA1E-4B99-B7A6-E647CF92EA7B}"/>
              </a:ext>
            </a:extLst>
          </p:cNvPr>
          <p:cNvSpPr>
            <a:spLocks noGrp="1"/>
          </p:cNvSpPr>
          <p:nvPr>
            <p:ph type="sldNum" sz="quarter" idx="12"/>
          </p:nvPr>
        </p:nvSpPr>
        <p:spPr/>
        <p:txBody>
          <a:bodyPr/>
          <a:lstStyle/>
          <a:p>
            <a:fld id="{90D94289-4E75-41F4-BF60-554E8C159ED2}" type="slidenum">
              <a:rPr lang="en-ZA" smtClean="0"/>
              <a:t>‹#›</a:t>
            </a:fld>
            <a:endParaRPr lang="en-ZA"/>
          </a:p>
        </p:txBody>
      </p:sp>
    </p:spTree>
    <p:extLst>
      <p:ext uri="{BB962C8B-B14F-4D97-AF65-F5344CB8AC3E}">
        <p14:creationId xmlns:p14="http://schemas.microsoft.com/office/powerpoint/2010/main" val="2212473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6CFFE-0D0A-4750-966D-CFC679C38ED6}"/>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B4E69660-8BF2-4D13-A23E-9463E55399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D3CBE7-9521-42F1-A468-E28831A871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7A8E792C-731F-4B48-B063-ACDE119BC3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EBD55B-E871-40A2-A79F-D92EC57C55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28A4102A-D238-4DA7-8954-F9B2A4048BBC}"/>
              </a:ext>
            </a:extLst>
          </p:cNvPr>
          <p:cNvSpPr>
            <a:spLocks noGrp="1"/>
          </p:cNvSpPr>
          <p:nvPr>
            <p:ph type="dt" sz="half" idx="10"/>
          </p:nvPr>
        </p:nvSpPr>
        <p:spPr/>
        <p:txBody>
          <a:bodyPr/>
          <a:lstStyle/>
          <a:p>
            <a:fld id="{85DBA364-4A25-4724-9EF8-D3B839DBA48A}" type="datetimeFigureOut">
              <a:rPr lang="en-ZA" smtClean="0"/>
              <a:t>2026/04/15</a:t>
            </a:fld>
            <a:endParaRPr lang="en-ZA"/>
          </a:p>
        </p:txBody>
      </p:sp>
      <p:sp>
        <p:nvSpPr>
          <p:cNvPr id="8" name="Footer Placeholder 7">
            <a:extLst>
              <a:ext uri="{FF2B5EF4-FFF2-40B4-BE49-F238E27FC236}">
                <a16:creationId xmlns:a16="http://schemas.microsoft.com/office/drawing/2014/main" id="{6434247E-7A33-4456-88D0-F85DB05B3308}"/>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8F229D60-DDB7-4BED-9F2D-1FA7EE679949}"/>
              </a:ext>
            </a:extLst>
          </p:cNvPr>
          <p:cNvSpPr>
            <a:spLocks noGrp="1"/>
          </p:cNvSpPr>
          <p:nvPr>
            <p:ph type="sldNum" sz="quarter" idx="12"/>
          </p:nvPr>
        </p:nvSpPr>
        <p:spPr/>
        <p:txBody>
          <a:bodyPr/>
          <a:lstStyle/>
          <a:p>
            <a:fld id="{90D94289-4E75-41F4-BF60-554E8C159ED2}" type="slidenum">
              <a:rPr lang="en-ZA" smtClean="0"/>
              <a:t>‹#›</a:t>
            </a:fld>
            <a:endParaRPr lang="en-ZA"/>
          </a:p>
        </p:txBody>
      </p:sp>
    </p:spTree>
    <p:extLst>
      <p:ext uri="{BB962C8B-B14F-4D97-AF65-F5344CB8AC3E}">
        <p14:creationId xmlns:p14="http://schemas.microsoft.com/office/powerpoint/2010/main" val="3339190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54B4A-D1E6-446B-8F7A-788E36FA37FD}"/>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A5F833B3-56FD-49C8-9B53-BDAEC5B05813}"/>
              </a:ext>
            </a:extLst>
          </p:cNvPr>
          <p:cNvSpPr>
            <a:spLocks noGrp="1"/>
          </p:cNvSpPr>
          <p:nvPr>
            <p:ph type="dt" sz="half" idx="10"/>
          </p:nvPr>
        </p:nvSpPr>
        <p:spPr/>
        <p:txBody>
          <a:bodyPr/>
          <a:lstStyle/>
          <a:p>
            <a:fld id="{85DBA364-4A25-4724-9EF8-D3B839DBA48A}" type="datetimeFigureOut">
              <a:rPr lang="en-ZA" smtClean="0"/>
              <a:t>2026/04/15</a:t>
            </a:fld>
            <a:endParaRPr lang="en-ZA"/>
          </a:p>
        </p:txBody>
      </p:sp>
      <p:sp>
        <p:nvSpPr>
          <p:cNvPr id="4" name="Footer Placeholder 3">
            <a:extLst>
              <a:ext uri="{FF2B5EF4-FFF2-40B4-BE49-F238E27FC236}">
                <a16:creationId xmlns:a16="http://schemas.microsoft.com/office/drawing/2014/main" id="{F24D9657-66D5-4424-905D-3B19B62D46D1}"/>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0979FDFA-599A-4F03-8395-BAFA197233DC}"/>
              </a:ext>
            </a:extLst>
          </p:cNvPr>
          <p:cNvSpPr>
            <a:spLocks noGrp="1"/>
          </p:cNvSpPr>
          <p:nvPr>
            <p:ph type="sldNum" sz="quarter" idx="12"/>
          </p:nvPr>
        </p:nvSpPr>
        <p:spPr/>
        <p:txBody>
          <a:bodyPr/>
          <a:lstStyle/>
          <a:p>
            <a:fld id="{90D94289-4E75-41F4-BF60-554E8C159ED2}" type="slidenum">
              <a:rPr lang="en-ZA" smtClean="0"/>
              <a:t>‹#›</a:t>
            </a:fld>
            <a:endParaRPr lang="en-ZA"/>
          </a:p>
        </p:txBody>
      </p:sp>
    </p:spTree>
    <p:extLst>
      <p:ext uri="{BB962C8B-B14F-4D97-AF65-F5344CB8AC3E}">
        <p14:creationId xmlns:p14="http://schemas.microsoft.com/office/powerpoint/2010/main" val="162811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A8DC19-3F2C-48B9-B1F3-71E404623D38}"/>
              </a:ext>
            </a:extLst>
          </p:cNvPr>
          <p:cNvSpPr>
            <a:spLocks noGrp="1"/>
          </p:cNvSpPr>
          <p:nvPr>
            <p:ph type="dt" sz="half" idx="10"/>
          </p:nvPr>
        </p:nvSpPr>
        <p:spPr/>
        <p:txBody>
          <a:bodyPr/>
          <a:lstStyle/>
          <a:p>
            <a:fld id="{85DBA364-4A25-4724-9EF8-D3B839DBA48A}" type="datetimeFigureOut">
              <a:rPr lang="en-ZA" smtClean="0"/>
              <a:t>2026/04/15</a:t>
            </a:fld>
            <a:endParaRPr lang="en-ZA"/>
          </a:p>
        </p:txBody>
      </p:sp>
      <p:sp>
        <p:nvSpPr>
          <p:cNvPr id="3" name="Footer Placeholder 2">
            <a:extLst>
              <a:ext uri="{FF2B5EF4-FFF2-40B4-BE49-F238E27FC236}">
                <a16:creationId xmlns:a16="http://schemas.microsoft.com/office/drawing/2014/main" id="{6FA5D5BF-1AB3-4F0E-833E-075AC946D528}"/>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AA856000-2755-40F3-86BF-7E085A7A2F75}"/>
              </a:ext>
            </a:extLst>
          </p:cNvPr>
          <p:cNvSpPr>
            <a:spLocks noGrp="1"/>
          </p:cNvSpPr>
          <p:nvPr>
            <p:ph type="sldNum" sz="quarter" idx="12"/>
          </p:nvPr>
        </p:nvSpPr>
        <p:spPr/>
        <p:txBody>
          <a:bodyPr/>
          <a:lstStyle/>
          <a:p>
            <a:fld id="{90D94289-4E75-41F4-BF60-554E8C159ED2}" type="slidenum">
              <a:rPr lang="en-ZA" smtClean="0"/>
              <a:t>‹#›</a:t>
            </a:fld>
            <a:endParaRPr lang="en-ZA"/>
          </a:p>
        </p:txBody>
      </p:sp>
    </p:spTree>
    <p:extLst>
      <p:ext uri="{BB962C8B-B14F-4D97-AF65-F5344CB8AC3E}">
        <p14:creationId xmlns:p14="http://schemas.microsoft.com/office/powerpoint/2010/main" val="1992101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1AA1F-7A8D-4E66-9AF8-1F42C9009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8C2FCDE8-6B41-4799-9E84-6A6FE72777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F36881F6-615D-453E-8811-BC688D5CB3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FC530B-0EE8-497D-B1C4-7A8122EB5C09}"/>
              </a:ext>
            </a:extLst>
          </p:cNvPr>
          <p:cNvSpPr>
            <a:spLocks noGrp="1"/>
          </p:cNvSpPr>
          <p:nvPr>
            <p:ph type="dt" sz="half" idx="10"/>
          </p:nvPr>
        </p:nvSpPr>
        <p:spPr/>
        <p:txBody>
          <a:bodyPr/>
          <a:lstStyle/>
          <a:p>
            <a:fld id="{85DBA364-4A25-4724-9EF8-D3B839DBA48A}" type="datetimeFigureOut">
              <a:rPr lang="en-ZA" smtClean="0"/>
              <a:t>2026/04/15</a:t>
            </a:fld>
            <a:endParaRPr lang="en-ZA"/>
          </a:p>
        </p:txBody>
      </p:sp>
      <p:sp>
        <p:nvSpPr>
          <p:cNvPr id="6" name="Footer Placeholder 5">
            <a:extLst>
              <a:ext uri="{FF2B5EF4-FFF2-40B4-BE49-F238E27FC236}">
                <a16:creationId xmlns:a16="http://schemas.microsoft.com/office/drawing/2014/main" id="{B5B1B10F-158D-419B-AF85-7E1D7D48AF6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30852CC-BAA1-4CB2-B227-7576EDDFCB5D}"/>
              </a:ext>
            </a:extLst>
          </p:cNvPr>
          <p:cNvSpPr>
            <a:spLocks noGrp="1"/>
          </p:cNvSpPr>
          <p:nvPr>
            <p:ph type="sldNum" sz="quarter" idx="12"/>
          </p:nvPr>
        </p:nvSpPr>
        <p:spPr/>
        <p:txBody>
          <a:bodyPr/>
          <a:lstStyle/>
          <a:p>
            <a:fld id="{90D94289-4E75-41F4-BF60-554E8C159ED2}" type="slidenum">
              <a:rPr lang="en-ZA" smtClean="0"/>
              <a:t>‹#›</a:t>
            </a:fld>
            <a:endParaRPr lang="en-ZA"/>
          </a:p>
        </p:txBody>
      </p:sp>
    </p:spTree>
    <p:extLst>
      <p:ext uri="{BB962C8B-B14F-4D97-AF65-F5344CB8AC3E}">
        <p14:creationId xmlns:p14="http://schemas.microsoft.com/office/powerpoint/2010/main" val="3045601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BEAD8-67E1-4C99-BB5F-543797DDB3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E3A85F1B-5535-4694-A118-A32835C2B7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D3649E83-C8BE-4E4E-8E2C-458DE53382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D1CDC4-2BEB-44C7-A4E3-29D8B4FD8CDA}"/>
              </a:ext>
            </a:extLst>
          </p:cNvPr>
          <p:cNvSpPr>
            <a:spLocks noGrp="1"/>
          </p:cNvSpPr>
          <p:nvPr>
            <p:ph type="dt" sz="half" idx="10"/>
          </p:nvPr>
        </p:nvSpPr>
        <p:spPr/>
        <p:txBody>
          <a:bodyPr/>
          <a:lstStyle/>
          <a:p>
            <a:fld id="{85DBA364-4A25-4724-9EF8-D3B839DBA48A}" type="datetimeFigureOut">
              <a:rPr lang="en-ZA" smtClean="0"/>
              <a:t>2026/04/15</a:t>
            </a:fld>
            <a:endParaRPr lang="en-ZA"/>
          </a:p>
        </p:txBody>
      </p:sp>
      <p:sp>
        <p:nvSpPr>
          <p:cNvPr id="6" name="Footer Placeholder 5">
            <a:extLst>
              <a:ext uri="{FF2B5EF4-FFF2-40B4-BE49-F238E27FC236}">
                <a16:creationId xmlns:a16="http://schemas.microsoft.com/office/drawing/2014/main" id="{1B71D5B9-926B-4978-AB13-7B873DAA0E98}"/>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63E6A67-322A-40B6-8B9D-B6CF8A6C8208}"/>
              </a:ext>
            </a:extLst>
          </p:cNvPr>
          <p:cNvSpPr>
            <a:spLocks noGrp="1"/>
          </p:cNvSpPr>
          <p:nvPr>
            <p:ph type="sldNum" sz="quarter" idx="12"/>
          </p:nvPr>
        </p:nvSpPr>
        <p:spPr/>
        <p:txBody>
          <a:bodyPr/>
          <a:lstStyle/>
          <a:p>
            <a:fld id="{90D94289-4E75-41F4-BF60-554E8C159ED2}" type="slidenum">
              <a:rPr lang="en-ZA" smtClean="0"/>
              <a:t>‹#›</a:t>
            </a:fld>
            <a:endParaRPr lang="en-ZA"/>
          </a:p>
        </p:txBody>
      </p:sp>
    </p:spTree>
    <p:extLst>
      <p:ext uri="{BB962C8B-B14F-4D97-AF65-F5344CB8AC3E}">
        <p14:creationId xmlns:p14="http://schemas.microsoft.com/office/powerpoint/2010/main" val="429101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1F8B4-CCE1-452E-90B0-41BF56A17663}"/>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5F9F03DC-EEDC-41DF-9831-27A279CD99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CF18BE6-FA39-48AF-A119-DB555480E168}"/>
              </a:ext>
            </a:extLst>
          </p:cNvPr>
          <p:cNvSpPr>
            <a:spLocks noGrp="1"/>
          </p:cNvSpPr>
          <p:nvPr>
            <p:ph type="dt" sz="half" idx="10"/>
          </p:nvPr>
        </p:nvSpPr>
        <p:spPr/>
        <p:txBody>
          <a:bodyPr/>
          <a:lstStyle/>
          <a:p>
            <a:fld id="{85DBA364-4A25-4724-9EF8-D3B839DBA48A}" type="datetimeFigureOut">
              <a:rPr lang="en-ZA" smtClean="0"/>
              <a:t>2026/04/15</a:t>
            </a:fld>
            <a:endParaRPr lang="en-ZA"/>
          </a:p>
        </p:txBody>
      </p:sp>
      <p:sp>
        <p:nvSpPr>
          <p:cNvPr id="5" name="Footer Placeholder 4">
            <a:extLst>
              <a:ext uri="{FF2B5EF4-FFF2-40B4-BE49-F238E27FC236}">
                <a16:creationId xmlns:a16="http://schemas.microsoft.com/office/drawing/2014/main" id="{37335F58-D8BF-4DEE-80FF-184AC44F3E7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593A74C-724B-419A-94A1-FE1081C70038}"/>
              </a:ext>
            </a:extLst>
          </p:cNvPr>
          <p:cNvSpPr>
            <a:spLocks noGrp="1"/>
          </p:cNvSpPr>
          <p:nvPr>
            <p:ph type="sldNum" sz="quarter" idx="12"/>
          </p:nvPr>
        </p:nvSpPr>
        <p:spPr/>
        <p:txBody>
          <a:bodyPr/>
          <a:lstStyle/>
          <a:p>
            <a:fld id="{90D94289-4E75-41F4-BF60-554E8C159ED2}" type="slidenum">
              <a:rPr lang="en-ZA" smtClean="0"/>
              <a:t>‹#›</a:t>
            </a:fld>
            <a:endParaRPr lang="en-ZA"/>
          </a:p>
        </p:txBody>
      </p:sp>
    </p:spTree>
    <p:extLst>
      <p:ext uri="{BB962C8B-B14F-4D97-AF65-F5344CB8AC3E}">
        <p14:creationId xmlns:p14="http://schemas.microsoft.com/office/powerpoint/2010/main" val="3464151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876905-C13C-4BEE-9AF3-B9239EF4EF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8E4EC237-7495-4412-BFAB-5E36C48001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B7B246A-4FD1-4210-A84D-9E94475A81C2}"/>
              </a:ext>
            </a:extLst>
          </p:cNvPr>
          <p:cNvSpPr>
            <a:spLocks noGrp="1"/>
          </p:cNvSpPr>
          <p:nvPr>
            <p:ph type="dt" sz="half" idx="10"/>
          </p:nvPr>
        </p:nvSpPr>
        <p:spPr/>
        <p:txBody>
          <a:bodyPr/>
          <a:lstStyle/>
          <a:p>
            <a:fld id="{85DBA364-4A25-4724-9EF8-D3B839DBA48A}" type="datetimeFigureOut">
              <a:rPr lang="en-ZA" smtClean="0"/>
              <a:t>2026/04/15</a:t>
            </a:fld>
            <a:endParaRPr lang="en-ZA"/>
          </a:p>
        </p:txBody>
      </p:sp>
      <p:sp>
        <p:nvSpPr>
          <p:cNvPr id="5" name="Footer Placeholder 4">
            <a:extLst>
              <a:ext uri="{FF2B5EF4-FFF2-40B4-BE49-F238E27FC236}">
                <a16:creationId xmlns:a16="http://schemas.microsoft.com/office/drawing/2014/main" id="{183CFEA8-10D7-4B7F-B742-0F0C288272B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1532B7B-BE44-400D-9F89-F184339C93AD}"/>
              </a:ext>
            </a:extLst>
          </p:cNvPr>
          <p:cNvSpPr>
            <a:spLocks noGrp="1"/>
          </p:cNvSpPr>
          <p:nvPr>
            <p:ph type="sldNum" sz="quarter" idx="12"/>
          </p:nvPr>
        </p:nvSpPr>
        <p:spPr/>
        <p:txBody>
          <a:bodyPr/>
          <a:lstStyle/>
          <a:p>
            <a:fld id="{90D94289-4E75-41F4-BF60-554E8C159ED2}" type="slidenum">
              <a:rPr lang="en-ZA" smtClean="0"/>
              <a:t>‹#›</a:t>
            </a:fld>
            <a:endParaRPr lang="en-ZA"/>
          </a:p>
        </p:txBody>
      </p:sp>
    </p:spTree>
    <p:extLst>
      <p:ext uri="{BB962C8B-B14F-4D97-AF65-F5344CB8AC3E}">
        <p14:creationId xmlns:p14="http://schemas.microsoft.com/office/powerpoint/2010/main" val="213066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82E8E1-4CD3-4804-802C-2E705FB673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E9C75C48-97D9-4997-B9D0-A54A5C278E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30A79C3C-72B7-48B7-84DE-516089EE10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DBA364-4A25-4724-9EF8-D3B839DBA48A}" type="datetimeFigureOut">
              <a:rPr lang="en-ZA" smtClean="0"/>
              <a:t>2026/04/15</a:t>
            </a:fld>
            <a:endParaRPr lang="en-ZA"/>
          </a:p>
        </p:txBody>
      </p:sp>
      <p:sp>
        <p:nvSpPr>
          <p:cNvPr id="5" name="Footer Placeholder 4">
            <a:extLst>
              <a:ext uri="{FF2B5EF4-FFF2-40B4-BE49-F238E27FC236}">
                <a16:creationId xmlns:a16="http://schemas.microsoft.com/office/drawing/2014/main" id="{84C7B6D1-63D5-416D-9445-6F6410685B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a:extLst>
              <a:ext uri="{FF2B5EF4-FFF2-40B4-BE49-F238E27FC236}">
                <a16:creationId xmlns:a16="http://schemas.microsoft.com/office/drawing/2014/main" id="{D1D52BAA-10C8-41E7-A597-95EE2DEB4F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D94289-4E75-41F4-BF60-554E8C159ED2}" type="slidenum">
              <a:rPr lang="en-ZA" smtClean="0"/>
              <a:t>‹#›</a:t>
            </a:fld>
            <a:endParaRPr lang="en-ZA"/>
          </a:p>
        </p:txBody>
      </p:sp>
    </p:spTree>
    <p:extLst>
      <p:ext uri="{BB962C8B-B14F-4D97-AF65-F5344CB8AC3E}">
        <p14:creationId xmlns:p14="http://schemas.microsoft.com/office/powerpoint/2010/main" val="3314985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6.xml"/><Relationship Id="rId7" Type="http://schemas.openxmlformats.org/officeDocument/2006/relationships/image" Target="../media/image10.sv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9.svg"/><Relationship Id="rId4" Type="http://schemas.openxmlformats.org/officeDocument/2006/relationships/slideLayout" Target="../slideLayouts/slideLayout7.xml"/><Relationship Id="rId9" Type="http://schemas.openxmlformats.org/officeDocument/2006/relationships/image" Target="../media/image11.svg"/></Relationships>
</file>

<file path=ppt/slides/_rels/slide14.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9.xml"/><Relationship Id="rId7" Type="http://schemas.openxmlformats.org/officeDocument/2006/relationships/image" Target="../media/image10.sv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12.svg"/><Relationship Id="rId4" Type="http://schemas.openxmlformats.org/officeDocument/2006/relationships/slideLayout" Target="../slideLayouts/slideLayout7.xml"/><Relationship Id="rId9" Type="http://schemas.openxmlformats.org/officeDocument/2006/relationships/image" Target="../media/image11.svg"/></Relationships>
</file>

<file path=ppt/slides/_rels/slide15.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2.xml"/><Relationship Id="rId7" Type="http://schemas.openxmlformats.org/officeDocument/2006/relationships/image" Target="../media/image10.sv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12.svg"/><Relationship Id="rId4" Type="http://schemas.openxmlformats.org/officeDocument/2006/relationships/slideLayout" Target="../slideLayouts/slideLayout7.xml"/><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333"/>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8AA9BD-5B28-4BB1-803B-54BB6E1B0DE1}"/>
              </a:ext>
            </a:extLst>
          </p:cNvPr>
          <p:cNvSpPr txBox="1"/>
          <p:nvPr/>
        </p:nvSpPr>
        <p:spPr>
          <a:xfrm>
            <a:off x="2916464" y="2063709"/>
            <a:ext cx="6359072" cy="1168910"/>
          </a:xfrm>
          <a:prstGeom prst="rect">
            <a:avLst/>
          </a:prstGeom>
          <a:noFill/>
        </p:spPr>
        <p:txBody>
          <a:bodyPr wrap="square" rtlCol="0">
            <a:spAutoFit/>
          </a:bodyPr>
          <a:lstStyle/>
          <a:p>
            <a:pPr lvl="0" algn="ctr" defTabSz="829909"/>
            <a:r>
              <a:rPr kumimoji="0" lang="en-US" sz="3498" b="0" i="0" u="none" strike="noStrike" kern="1200" cap="none" spc="0" normalizeH="0" baseline="0" noProof="0" dirty="0">
                <a:ln>
                  <a:noFill/>
                </a:ln>
                <a:solidFill>
                  <a:srgbClr val="FFB51B"/>
                </a:solidFill>
                <a:effectLst/>
                <a:uLnTx/>
                <a:uFillTx/>
                <a:latin typeface="Tw Cen MT" panose="020B0602020104020603" pitchFamily="34" charset="0"/>
                <a:ea typeface="+mn-ea"/>
                <a:cs typeface="+mn-cs"/>
              </a:rPr>
              <a:t>MANAGEMENT </a:t>
            </a:r>
            <a:r>
              <a:rPr lang="en-US" sz="3498" dirty="0">
                <a:solidFill>
                  <a:srgbClr val="FFB51B"/>
                </a:solidFill>
                <a:latin typeface="Tw Cen MT" panose="020B0602020104020603" pitchFamily="34" charset="0"/>
              </a:rPr>
              <a:t>INFORMATION SYSTEMS (WRBV301)</a:t>
            </a:r>
            <a:endParaRPr kumimoji="0" lang="en-US" sz="3498" b="0" i="0" u="none" strike="noStrike" kern="1200" cap="none" spc="0" normalizeH="0" baseline="0" noProof="0" dirty="0">
              <a:ln>
                <a:noFill/>
              </a:ln>
              <a:solidFill>
                <a:srgbClr val="FFB51B"/>
              </a:solidFill>
              <a:effectLst/>
              <a:uLnTx/>
              <a:uFillTx/>
              <a:latin typeface="Tw Cen MT" panose="020B0602020104020603" pitchFamily="34" charset="0"/>
              <a:ea typeface="+mn-ea"/>
              <a:cs typeface="+mn-cs"/>
            </a:endParaRPr>
          </a:p>
        </p:txBody>
      </p:sp>
      <p:sp>
        <p:nvSpPr>
          <p:cNvPr id="28" name="TextBox 27">
            <a:extLst>
              <a:ext uri="{FF2B5EF4-FFF2-40B4-BE49-F238E27FC236}">
                <a16:creationId xmlns:a16="http://schemas.microsoft.com/office/drawing/2014/main" id="{B8583709-595F-4CE2-B8B0-C47733F186E5}"/>
              </a:ext>
            </a:extLst>
          </p:cNvPr>
          <p:cNvSpPr txBox="1"/>
          <p:nvPr/>
        </p:nvSpPr>
        <p:spPr>
          <a:xfrm>
            <a:off x="1776046" y="3625381"/>
            <a:ext cx="9082454" cy="1573123"/>
          </a:xfrm>
          <a:prstGeom prst="rect">
            <a:avLst/>
          </a:prstGeom>
          <a:noFill/>
        </p:spPr>
        <p:txBody>
          <a:bodyPr wrap="square" rtlCol="0">
            <a:spAutoFit/>
          </a:bodyPr>
          <a:lstStyle/>
          <a:p>
            <a:pPr marL="0" marR="0" lvl="0" indent="0" algn="ctr" defTabSz="829909" rtl="0" eaLnBrk="1" fontAlgn="auto" latinLnBrk="0" hangingPunct="1">
              <a:lnSpc>
                <a:spcPct val="100000"/>
              </a:lnSpc>
              <a:spcBef>
                <a:spcPts val="0"/>
              </a:spcBef>
              <a:spcAft>
                <a:spcPts val="0"/>
              </a:spcAft>
              <a:buClrTx/>
              <a:buSzTx/>
              <a:buFontTx/>
              <a:buNone/>
              <a:tabLst/>
              <a:defRPr/>
            </a:pPr>
            <a:r>
              <a:rPr lang="en-US" sz="2541" dirty="0">
                <a:solidFill>
                  <a:prstClr val="white"/>
                </a:solidFill>
                <a:latin typeface="Tw Cen MT" panose="020B0602020104020603" pitchFamily="34" charset="0"/>
              </a:rPr>
              <a:t>08 – Network Effects</a:t>
            </a:r>
          </a:p>
          <a:p>
            <a:pPr marL="0" marR="0" lvl="0" indent="0" algn="ctr" defTabSz="829909" rtl="0" eaLnBrk="1" fontAlgn="auto" latinLnBrk="0" hangingPunct="1">
              <a:lnSpc>
                <a:spcPct val="100000"/>
              </a:lnSpc>
              <a:spcBef>
                <a:spcPts val="0"/>
              </a:spcBef>
              <a:spcAft>
                <a:spcPts val="0"/>
              </a:spcAft>
              <a:buClrTx/>
              <a:buSzTx/>
              <a:buFontTx/>
              <a:buNone/>
              <a:tabLst/>
              <a:defRPr/>
            </a:pPr>
            <a:r>
              <a:rPr kumimoji="0" lang="en-US" sz="2541" b="0" i="0" u="none" strike="noStrike" kern="1200" cap="none" spc="0" normalizeH="0" baseline="0" noProof="0" dirty="0">
                <a:ln>
                  <a:noFill/>
                </a:ln>
                <a:solidFill>
                  <a:prstClr val="white"/>
                </a:solidFill>
                <a:effectLst/>
                <a:uLnTx/>
                <a:uFillTx/>
                <a:latin typeface="Tw Cen MT" panose="020B0602020104020603" pitchFamily="34" charset="0"/>
                <a:ea typeface="+mn-ea"/>
                <a:cs typeface="+mn-cs"/>
              </a:rPr>
              <a:t>Chapter 10</a:t>
            </a:r>
          </a:p>
          <a:p>
            <a:pPr marL="0" marR="0" lvl="0" indent="0" algn="ctr" defTabSz="829909" rtl="0" eaLnBrk="1" fontAlgn="auto" latinLnBrk="0" hangingPunct="1">
              <a:lnSpc>
                <a:spcPct val="100000"/>
              </a:lnSpc>
              <a:spcBef>
                <a:spcPts val="0"/>
              </a:spcBef>
              <a:spcAft>
                <a:spcPts val="0"/>
              </a:spcAft>
              <a:buClrTx/>
              <a:buSzTx/>
              <a:buFontTx/>
              <a:buNone/>
              <a:tabLst/>
              <a:defRPr/>
            </a:pPr>
            <a:endParaRPr kumimoji="0" lang="en-US" sz="2541" b="0" i="0" u="none" strike="noStrike" kern="1200" cap="none" spc="0" normalizeH="0" baseline="0" noProof="0" dirty="0">
              <a:ln>
                <a:noFill/>
              </a:ln>
              <a:solidFill>
                <a:prstClr val="white"/>
              </a:solidFill>
              <a:effectLst/>
              <a:uLnTx/>
              <a:uFillTx/>
              <a:latin typeface="Tw Cen MT" panose="020B0602020104020603" pitchFamily="34" charset="0"/>
              <a:ea typeface="+mn-ea"/>
              <a:cs typeface="+mn-cs"/>
            </a:endParaRPr>
          </a:p>
          <a:p>
            <a:pPr marL="0" marR="0" lvl="0" indent="0" algn="ctr" defTabSz="829909" rtl="0" eaLnBrk="1" fontAlgn="auto" latinLnBrk="0" hangingPunct="1">
              <a:lnSpc>
                <a:spcPct val="100000"/>
              </a:lnSpc>
              <a:spcBef>
                <a:spcPts val="0"/>
              </a:spcBef>
              <a:spcAft>
                <a:spcPts val="0"/>
              </a:spcAft>
              <a:buClrTx/>
              <a:buSzTx/>
              <a:buFontTx/>
              <a:buNone/>
              <a:tabLst/>
              <a:defRPr/>
            </a:pPr>
            <a:r>
              <a:rPr lang="en-US" sz="2000" dirty="0">
                <a:solidFill>
                  <a:prstClr val="white"/>
                </a:solidFill>
                <a:latin typeface="Tw Cen MT" panose="020B0602020104020603" pitchFamily="34" charset="0"/>
              </a:rPr>
              <a:t>15 April 2026</a:t>
            </a:r>
            <a:endParaRPr kumimoji="0" lang="en-US" sz="2000" b="0" i="0" u="none" strike="noStrike" kern="1200" cap="none" spc="0" normalizeH="0" baseline="0" noProof="0" dirty="0">
              <a:ln>
                <a:noFill/>
              </a:ln>
              <a:solidFill>
                <a:prstClr val="white"/>
              </a:solidFill>
              <a:effectLst/>
              <a:uLnTx/>
              <a:uFillTx/>
              <a:latin typeface="Tw Cen MT" panose="020B0602020104020603" pitchFamily="34" charset="0"/>
              <a:ea typeface="+mn-ea"/>
              <a:cs typeface="+mn-cs"/>
            </a:endParaRPr>
          </a:p>
        </p:txBody>
      </p:sp>
      <p:sp>
        <p:nvSpPr>
          <p:cNvPr id="3" name="Oval 2">
            <a:extLst>
              <a:ext uri="{FF2B5EF4-FFF2-40B4-BE49-F238E27FC236}">
                <a16:creationId xmlns:a16="http://schemas.microsoft.com/office/drawing/2014/main" id="{747270A3-B0F1-410C-855D-5C823309F8CD}"/>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a:t>
            </a:r>
            <a:endParaRPr lang="en-ZA" sz="1400" dirty="0"/>
          </a:p>
        </p:txBody>
      </p:sp>
      <p:sp>
        <p:nvSpPr>
          <p:cNvPr id="2" name="Rectangle 1">
            <a:extLst>
              <a:ext uri="{FF2B5EF4-FFF2-40B4-BE49-F238E27FC236}">
                <a16:creationId xmlns:a16="http://schemas.microsoft.com/office/drawing/2014/main" id="{4AAF58FC-77A7-42A9-838F-FB29B9DB858B}"/>
              </a:ext>
            </a:extLst>
          </p:cNvPr>
          <p:cNvSpPr/>
          <p:nvPr/>
        </p:nvSpPr>
        <p:spPr>
          <a:xfrm>
            <a:off x="8878" y="6649374"/>
            <a:ext cx="12168000" cy="208625"/>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custDataLst>
      <p:tags r:id="rId1"/>
    </p:custDataLst>
    <p:extLst>
      <p:ext uri="{BB962C8B-B14F-4D97-AF65-F5344CB8AC3E}">
        <p14:creationId xmlns:p14="http://schemas.microsoft.com/office/powerpoint/2010/main" val="3510760573"/>
      </p:ext>
    </p:extLst>
  </p:cSld>
  <p:clrMapOvr>
    <a:masterClrMapping/>
  </p:clrMapOvr>
  <mc:AlternateContent xmlns:mc="http://schemas.openxmlformats.org/markup-compatibility/2006" xmlns:p14="http://schemas.microsoft.com/office/powerpoint/2010/main">
    <mc:Choice Requires="p14">
      <p:transition spd="slow" p14:dur="2000" advTm="18867"/>
    </mc:Choice>
    <mc:Fallback xmlns="">
      <p:transition spd="slow" advTm="1886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FCC92-37A6-9B1F-210C-4A2648A49AF9}"/>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5E30F028-50AA-F94C-0AA4-31EBAF5C6244}"/>
              </a:ext>
            </a:extLst>
          </p:cNvPr>
          <p:cNvPicPr>
            <a:picLocks noChangeAspect="1"/>
          </p:cNvPicPr>
          <p:nvPr/>
        </p:nvPicPr>
        <p:blipFill>
          <a:blip r:embed="rId3"/>
          <a:stretch>
            <a:fillRect/>
          </a:stretch>
        </p:blipFill>
        <p:spPr>
          <a:xfrm>
            <a:off x="0" y="-9606"/>
            <a:ext cx="3278725" cy="6858000"/>
          </a:xfrm>
          <a:prstGeom prst="rect">
            <a:avLst/>
          </a:prstGeom>
          <a:ln>
            <a:solidFill>
              <a:srgbClr val="001333"/>
            </a:solidFill>
          </a:ln>
        </p:spPr>
      </p:pic>
      <p:sp>
        <p:nvSpPr>
          <p:cNvPr id="2" name="TextBox 2">
            <a:extLst>
              <a:ext uri="{FF2B5EF4-FFF2-40B4-BE49-F238E27FC236}">
                <a16:creationId xmlns:a16="http://schemas.microsoft.com/office/drawing/2014/main" id="{74B0B8F5-9319-9E84-E535-C3A52997A369}"/>
              </a:ext>
            </a:extLst>
          </p:cNvPr>
          <p:cNvSpPr txBox="1"/>
          <p:nvPr/>
        </p:nvSpPr>
        <p:spPr>
          <a:xfrm>
            <a:off x="131035" y="2561353"/>
            <a:ext cx="3956206" cy="1641475"/>
          </a:xfrm>
          <a:prstGeom prst="rect">
            <a:avLst/>
          </a:prstGeom>
        </p:spPr>
        <p:txBody>
          <a:bodyPr lIns="0" tIns="0" rIns="0" bIns="0" rtlCol="0" anchor="t">
            <a:spAutoFit/>
          </a:bodyPr>
          <a:lstStyle/>
          <a:p>
            <a:pPr defTabSz="609630">
              <a:lnSpc>
                <a:spcPts val="6400"/>
              </a:lnSpc>
            </a:pPr>
            <a:r>
              <a:rPr lang="en-US" sz="5400" b="1" dirty="0">
                <a:solidFill>
                  <a:schemeClr val="bg1">
                    <a:lumMod val="85000"/>
                  </a:schemeClr>
                </a:solidFill>
                <a:latin typeface="Tw Cen MT" panose="020B0602020104020603" pitchFamily="34" charset="0"/>
              </a:rPr>
              <a:t>Class Task Feedback</a:t>
            </a:r>
            <a:endParaRPr lang="en-US" sz="5400" b="1" dirty="0">
              <a:solidFill>
                <a:schemeClr val="bg1">
                  <a:lumMod val="85000"/>
                </a:schemeClr>
              </a:solidFill>
              <a:latin typeface="Tw Cen MT" panose="020B0602020104020603" pitchFamily="34" charset="0"/>
              <a:cs typeface="Aharoni" panose="02010803020104030203" pitchFamily="2" charset="-79"/>
            </a:endParaRPr>
          </a:p>
        </p:txBody>
      </p:sp>
      <p:sp>
        <p:nvSpPr>
          <p:cNvPr id="22" name="Oval 21">
            <a:extLst>
              <a:ext uri="{FF2B5EF4-FFF2-40B4-BE49-F238E27FC236}">
                <a16:creationId xmlns:a16="http://schemas.microsoft.com/office/drawing/2014/main" id="{DE75BE17-73D7-1F4F-00ED-330A9D4E3EC9}"/>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a:t>
            </a:r>
            <a:endParaRPr lang="en-ZA" sz="1400" dirty="0"/>
          </a:p>
        </p:txBody>
      </p:sp>
      <p:sp>
        <p:nvSpPr>
          <p:cNvPr id="23" name="Rectangle 22">
            <a:extLst>
              <a:ext uri="{FF2B5EF4-FFF2-40B4-BE49-F238E27FC236}">
                <a16:creationId xmlns:a16="http://schemas.microsoft.com/office/drawing/2014/main" id="{A2193480-3D5B-8CD4-EEE8-6117EF548DA0}"/>
              </a:ext>
            </a:extLst>
          </p:cNvPr>
          <p:cNvSpPr/>
          <p:nvPr/>
        </p:nvSpPr>
        <p:spPr>
          <a:xfrm>
            <a:off x="7666" y="6702610"/>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TextBox 2">
            <a:extLst>
              <a:ext uri="{FF2B5EF4-FFF2-40B4-BE49-F238E27FC236}">
                <a16:creationId xmlns:a16="http://schemas.microsoft.com/office/drawing/2014/main" id="{F47E827F-6BDE-87F9-AB89-782CBDA66938}"/>
              </a:ext>
            </a:extLst>
          </p:cNvPr>
          <p:cNvSpPr txBox="1"/>
          <p:nvPr/>
        </p:nvSpPr>
        <p:spPr>
          <a:xfrm>
            <a:off x="3445192" y="164354"/>
            <a:ext cx="7779853" cy="1015663"/>
          </a:xfrm>
          <a:prstGeom prst="rect">
            <a:avLst/>
          </a:prstGeom>
          <a:noFill/>
        </p:spPr>
        <p:txBody>
          <a:bodyPr wrap="square">
            <a:spAutoFit/>
          </a:bodyPr>
          <a:lstStyle/>
          <a:p>
            <a:r>
              <a:rPr lang="en-GB" sz="2000" i="1" dirty="0">
                <a:latin typeface="Tw Cen MT" panose="020B0602020104020603" pitchFamily="34" charset="0"/>
              </a:rPr>
              <a:t>“…the value of a product or service increases as its number of users expands”. </a:t>
            </a:r>
            <a:r>
              <a:rPr lang="en-GB" sz="2000" b="1" dirty="0">
                <a:latin typeface="Tw Cen MT" panose="020B0602020104020603" pitchFamily="34" charset="0"/>
              </a:rPr>
              <a:t>What concept does this quote refer or relate to? Are there other terms or names for it?</a:t>
            </a:r>
            <a:endParaRPr lang="en-ZA" sz="2000" b="1" dirty="0">
              <a:latin typeface="Tw Cen MT" panose="020B0602020104020603" pitchFamily="34" charset="0"/>
            </a:endParaRPr>
          </a:p>
        </p:txBody>
      </p:sp>
      <p:sp>
        <p:nvSpPr>
          <p:cNvPr id="4" name="TextBox 3">
            <a:extLst>
              <a:ext uri="{FF2B5EF4-FFF2-40B4-BE49-F238E27FC236}">
                <a16:creationId xmlns:a16="http://schemas.microsoft.com/office/drawing/2014/main" id="{252B62FA-5C2A-6863-0B37-3E5CC567129D}"/>
              </a:ext>
            </a:extLst>
          </p:cNvPr>
          <p:cNvSpPr txBox="1"/>
          <p:nvPr/>
        </p:nvSpPr>
        <p:spPr>
          <a:xfrm>
            <a:off x="3783003" y="1180017"/>
            <a:ext cx="6226864" cy="5632311"/>
          </a:xfrm>
          <a:prstGeom prst="rect">
            <a:avLst/>
          </a:prstGeom>
          <a:noFill/>
        </p:spPr>
        <p:txBody>
          <a:bodyPr wrap="square">
            <a:spAutoFit/>
          </a:bodyPr>
          <a:lstStyle/>
          <a:p>
            <a:r>
              <a:rPr lang="en-GB" sz="2000" dirty="0">
                <a:latin typeface="Tw Cen MT" panose="020B0602020104020603" pitchFamily="34" charset="0"/>
              </a:rPr>
              <a:t>1. Explain the concept of “complementary benefits”. Identify two firms that have built a platform/eco-system based on complementary benefits and have achieved a competitive advantage in their industry.</a:t>
            </a:r>
          </a:p>
          <a:p>
            <a:r>
              <a:rPr lang="en-GB" sz="2000" b="1" dirty="0">
                <a:latin typeface="Tw Cen MT" panose="020B0602020104020603" pitchFamily="34" charset="0"/>
              </a:rPr>
              <a:t>You must show how these firms are considered to have built platforms based on complementary benefits, not just mention firms. Then you have effectively identified the firms.</a:t>
            </a:r>
          </a:p>
          <a:p>
            <a:r>
              <a:rPr lang="en-GB" sz="2000" dirty="0">
                <a:latin typeface="Tw Cen MT" panose="020B0602020104020603" pitchFamily="34" charset="0"/>
              </a:rPr>
              <a:t> </a:t>
            </a:r>
          </a:p>
          <a:p>
            <a:r>
              <a:rPr lang="en-GB" sz="2000" dirty="0">
                <a:latin typeface="Tw Cen MT" panose="020B0602020104020603" pitchFamily="34" charset="0"/>
              </a:rPr>
              <a:t>2. Think about the kinds of technology products you own that are subject to network effects. Did you consider the complementary benefits of these products when purchasing them? </a:t>
            </a:r>
          </a:p>
          <a:p>
            <a:r>
              <a:rPr lang="en-GB" sz="2000" b="1" dirty="0">
                <a:latin typeface="Tw Cen MT" panose="020B0602020104020603" pitchFamily="34" charset="0"/>
              </a:rPr>
              <a:t>Explain what the product(s) is/are and how they are considered to have network effects before giving your opinion on the second part of the question.</a:t>
            </a:r>
          </a:p>
          <a:p>
            <a:r>
              <a:rPr lang="en-GB" sz="2000" b="1" dirty="0">
                <a:latin typeface="Tw Cen MT" panose="020B0602020104020603" pitchFamily="34" charset="0"/>
              </a:rPr>
              <a:t>You can have multiple examples based on your group composition or just one example.</a:t>
            </a:r>
            <a:endParaRPr lang="en-ZA" sz="2000" b="1" dirty="0">
              <a:latin typeface="Tw Cen MT" panose="020B0602020104020603" pitchFamily="34" charset="0"/>
            </a:endParaRPr>
          </a:p>
        </p:txBody>
      </p:sp>
    </p:spTree>
    <p:extLst>
      <p:ext uri="{BB962C8B-B14F-4D97-AF65-F5344CB8AC3E}">
        <p14:creationId xmlns:p14="http://schemas.microsoft.com/office/powerpoint/2010/main" val="3854123321"/>
      </p:ext>
    </p:extLst>
  </p:cSld>
  <p:clrMapOvr>
    <a:masterClrMapping/>
  </p:clrMapOvr>
  <mc:AlternateContent xmlns:mc="http://schemas.openxmlformats.org/markup-compatibility/2006" xmlns:p14="http://schemas.microsoft.com/office/powerpoint/2010/main">
    <mc:Choice Requires="p14">
      <p:transition spd="slow" p14:dur="2000" advTm="19291"/>
    </mc:Choice>
    <mc:Fallback xmlns="">
      <p:transition spd="slow" advTm="1929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40D16-FF60-A08D-33CF-5660CAD66960}"/>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12044401-1F5F-56B4-4958-95CD33C0722E}"/>
              </a:ext>
            </a:extLst>
          </p:cNvPr>
          <p:cNvPicPr>
            <a:picLocks noChangeAspect="1"/>
          </p:cNvPicPr>
          <p:nvPr/>
        </p:nvPicPr>
        <p:blipFill>
          <a:blip r:embed="rId3"/>
          <a:stretch>
            <a:fillRect/>
          </a:stretch>
        </p:blipFill>
        <p:spPr>
          <a:xfrm>
            <a:off x="0" y="-9606"/>
            <a:ext cx="3278725" cy="6858000"/>
          </a:xfrm>
          <a:prstGeom prst="rect">
            <a:avLst/>
          </a:prstGeom>
          <a:ln>
            <a:solidFill>
              <a:srgbClr val="001333"/>
            </a:solidFill>
          </a:ln>
        </p:spPr>
      </p:pic>
      <p:sp>
        <p:nvSpPr>
          <p:cNvPr id="2" name="TextBox 2">
            <a:extLst>
              <a:ext uri="{FF2B5EF4-FFF2-40B4-BE49-F238E27FC236}">
                <a16:creationId xmlns:a16="http://schemas.microsoft.com/office/drawing/2014/main" id="{26C4B975-47DB-5DAE-682C-9FB1D604A433}"/>
              </a:ext>
            </a:extLst>
          </p:cNvPr>
          <p:cNvSpPr txBox="1"/>
          <p:nvPr/>
        </p:nvSpPr>
        <p:spPr>
          <a:xfrm>
            <a:off x="131035" y="2561353"/>
            <a:ext cx="3956206" cy="1641475"/>
          </a:xfrm>
          <a:prstGeom prst="rect">
            <a:avLst/>
          </a:prstGeom>
        </p:spPr>
        <p:txBody>
          <a:bodyPr lIns="0" tIns="0" rIns="0" bIns="0" rtlCol="0" anchor="t">
            <a:spAutoFit/>
          </a:bodyPr>
          <a:lstStyle/>
          <a:p>
            <a:pPr defTabSz="609630">
              <a:lnSpc>
                <a:spcPts val="6400"/>
              </a:lnSpc>
            </a:pPr>
            <a:r>
              <a:rPr lang="en-US" sz="5334" b="1" dirty="0">
                <a:solidFill>
                  <a:schemeClr val="bg1">
                    <a:lumMod val="85000"/>
                  </a:schemeClr>
                </a:solidFill>
                <a:latin typeface="Tw Cen MT" panose="020B0602020104020603" pitchFamily="34" charset="0"/>
              </a:rPr>
              <a:t>Learning Goals</a:t>
            </a:r>
            <a:endParaRPr lang="en-US" sz="5334" b="1" dirty="0">
              <a:solidFill>
                <a:schemeClr val="bg1">
                  <a:lumMod val="85000"/>
                </a:schemeClr>
              </a:solidFill>
              <a:latin typeface="Tw Cen MT" panose="020B0602020104020603" pitchFamily="34" charset="0"/>
              <a:cs typeface="Aharoni" panose="02010803020104030203" pitchFamily="2" charset="-79"/>
            </a:endParaRPr>
          </a:p>
        </p:txBody>
      </p:sp>
      <p:sp>
        <p:nvSpPr>
          <p:cNvPr id="22" name="Oval 21">
            <a:extLst>
              <a:ext uri="{FF2B5EF4-FFF2-40B4-BE49-F238E27FC236}">
                <a16:creationId xmlns:a16="http://schemas.microsoft.com/office/drawing/2014/main" id="{104E24E3-65A1-56D6-197E-06593068A053}"/>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II</a:t>
            </a:r>
            <a:endParaRPr lang="en-ZA" sz="1400" dirty="0"/>
          </a:p>
        </p:txBody>
      </p:sp>
      <p:sp>
        <p:nvSpPr>
          <p:cNvPr id="23" name="Rectangle 22">
            <a:extLst>
              <a:ext uri="{FF2B5EF4-FFF2-40B4-BE49-F238E27FC236}">
                <a16:creationId xmlns:a16="http://schemas.microsoft.com/office/drawing/2014/main" id="{C5A6C898-5136-2E6F-E0E6-B7F7DE65551C}"/>
              </a:ext>
            </a:extLst>
          </p:cNvPr>
          <p:cNvSpPr/>
          <p:nvPr/>
        </p:nvSpPr>
        <p:spPr>
          <a:xfrm>
            <a:off x="7666" y="6702610"/>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4" name="TextBox 23">
            <a:extLst>
              <a:ext uri="{FF2B5EF4-FFF2-40B4-BE49-F238E27FC236}">
                <a16:creationId xmlns:a16="http://schemas.microsoft.com/office/drawing/2014/main" id="{FA944CA8-1B1F-0D4B-3B11-FE29281DD383}"/>
              </a:ext>
            </a:extLst>
          </p:cNvPr>
          <p:cNvSpPr txBox="1"/>
          <p:nvPr/>
        </p:nvSpPr>
        <p:spPr>
          <a:xfrm>
            <a:off x="3615724" y="941629"/>
            <a:ext cx="7852979" cy="4031873"/>
          </a:xfrm>
          <a:prstGeom prst="rect">
            <a:avLst/>
          </a:prstGeom>
          <a:noFill/>
        </p:spPr>
        <p:txBody>
          <a:bodyPr wrap="square">
            <a:spAutoFit/>
          </a:bodyPr>
          <a:lstStyle/>
          <a:p>
            <a:pPr marL="457200" indent="-457200">
              <a:buClr>
                <a:srgbClr val="006C3B"/>
              </a:buClr>
              <a:buFont typeface="Arial" panose="020B0604020202020204" pitchFamily="34" charset="0"/>
              <a:buChar char="•"/>
            </a:pPr>
            <a:r>
              <a:rPr lang="en-GB" sz="3200" dirty="0">
                <a:latin typeface="Tw Cen MT" panose="020B0602020104020603" pitchFamily="34" charset="0"/>
              </a:rPr>
              <a:t>Describe the concept: network effects.</a:t>
            </a:r>
          </a:p>
          <a:p>
            <a:pPr marL="457200" indent="-457200">
              <a:buClr>
                <a:srgbClr val="006C3B"/>
              </a:buClr>
              <a:buFont typeface="Arial" panose="020B0604020202020204" pitchFamily="34" charset="0"/>
              <a:buChar char="•"/>
            </a:pPr>
            <a:r>
              <a:rPr lang="en-GB" sz="3200" dirty="0">
                <a:latin typeface="Tw Cen MT" panose="020B0602020104020603" pitchFamily="34" charset="0"/>
              </a:rPr>
              <a:t>Recognise products and services that are subject to network effects.</a:t>
            </a:r>
          </a:p>
          <a:p>
            <a:pPr marL="457200" indent="-457200">
              <a:buClr>
                <a:srgbClr val="006C3B"/>
              </a:buClr>
              <a:buFont typeface="Arial" panose="020B0604020202020204" pitchFamily="34" charset="0"/>
              <a:buChar char="•"/>
            </a:pPr>
            <a:r>
              <a:rPr lang="en-GB" sz="3200" dirty="0">
                <a:latin typeface="Tw Cen MT" panose="020B0602020104020603" pitchFamily="34" charset="0"/>
              </a:rPr>
              <a:t>Understand the factors that add value to products and services subject to network effects.</a:t>
            </a:r>
          </a:p>
          <a:p>
            <a:pPr marL="457200" indent="-457200">
              <a:buClr>
                <a:srgbClr val="006C3B"/>
              </a:buClr>
              <a:buFont typeface="Arial" panose="020B0604020202020204" pitchFamily="34" charset="0"/>
              <a:buChar char="•"/>
            </a:pPr>
            <a:r>
              <a:rPr lang="en-GB" sz="3200" dirty="0">
                <a:latin typeface="Tw Cen MT" panose="020B0602020104020603" pitchFamily="34" charset="0"/>
              </a:rPr>
              <a:t>Know about strategies for competing in markets subject to network effects. </a:t>
            </a:r>
          </a:p>
        </p:txBody>
      </p:sp>
    </p:spTree>
    <p:extLst>
      <p:ext uri="{BB962C8B-B14F-4D97-AF65-F5344CB8AC3E}">
        <p14:creationId xmlns:p14="http://schemas.microsoft.com/office/powerpoint/2010/main" val="2360767190"/>
      </p:ext>
    </p:extLst>
  </p:cSld>
  <p:clrMapOvr>
    <a:masterClrMapping/>
  </p:clrMapOvr>
  <mc:AlternateContent xmlns:mc="http://schemas.openxmlformats.org/markup-compatibility/2006" xmlns:p14="http://schemas.microsoft.com/office/powerpoint/2010/main">
    <mc:Choice Requires="p14">
      <p:transition spd="slow" p14:dur="2000" advTm="19291"/>
    </mc:Choice>
    <mc:Fallback xmlns="">
      <p:transition spd="slow" advTm="1929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2">
            <a:extLst>
              <a:ext uri="{FF2B5EF4-FFF2-40B4-BE49-F238E27FC236}">
                <a16:creationId xmlns:a16="http://schemas.microsoft.com/office/drawing/2014/main" id="{74F77639-4627-4280-A447-310CD9B63EA4}"/>
              </a:ext>
            </a:extLst>
          </p:cNvPr>
          <p:cNvSpPr txBox="1"/>
          <p:nvPr/>
        </p:nvSpPr>
        <p:spPr>
          <a:xfrm>
            <a:off x="191701" y="2128108"/>
            <a:ext cx="3956206" cy="1641475"/>
          </a:xfrm>
          <a:prstGeom prst="rect">
            <a:avLst/>
          </a:prstGeom>
        </p:spPr>
        <p:txBody>
          <a:bodyPr lIns="0" tIns="0" rIns="0" bIns="0" rtlCol="0" anchor="t">
            <a:spAutoFit/>
          </a:bodyPr>
          <a:lstStyle/>
          <a:p>
            <a:pPr defTabSz="609630">
              <a:lnSpc>
                <a:spcPts val="6400"/>
              </a:lnSpc>
            </a:pPr>
            <a:r>
              <a:rPr lang="en-US" sz="5334" b="1" dirty="0">
                <a:solidFill>
                  <a:schemeClr val="bg1">
                    <a:lumMod val="85000"/>
                  </a:schemeClr>
                </a:solidFill>
                <a:latin typeface="Tw Cen MT" panose="020B0602020104020603" pitchFamily="34" charset="0"/>
              </a:rPr>
              <a:t>Network Effects</a:t>
            </a:r>
            <a:endParaRPr lang="en-US" sz="5334" b="1" dirty="0">
              <a:solidFill>
                <a:schemeClr val="bg1">
                  <a:lumMod val="85000"/>
                </a:schemeClr>
              </a:solidFill>
              <a:latin typeface="Tw Cen MT" panose="020B0602020104020603" pitchFamily="34" charset="0"/>
              <a:cs typeface="Aharoni" panose="02010803020104030203" pitchFamily="2" charset="-79"/>
            </a:endParaRPr>
          </a:p>
        </p:txBody>
      </p:sp>
      <p:sp>
        <p:nvSpPr>
          <p:cNvPr id="16" name="Oval 15">
            <a:extLst>
              <a:ext uri="{FF2B5EF4-FFF2-40B4-BE49-F238E27FC236}">
                <a16:creationId xmlns:a16="http://schemas.microsoft.com/office/drawing/2014/main" id="{0F0784C1-87B0-404C-BEA0-D8CD27BC2159}"/>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III</a:t>
            </a:r>
            <a:endParaRPr lang="en-ZA" sz="1400" dirty="0"/>
          </a:p>
        </p:txBody>
      </p:sp>
      <p:sp>
        <p:nvSpPr>
          <p:cNvPr id="18" name="Rectangle 17">
            <a:extLst>
              <a:ext uri="{FF2B5EF4-FFF2-40B4-BE49-F238E27FC236}">
                <a16:creationId xmlns:a16="http://schemas.microsoft.com/office/drawing/2014/main" id="{8968E881-B586-4720-8441-F2508363FF93}"/>
              </a:ext>
            </a:extLst>
          </p:cNvPr>
          <p:cNvSpPr/>
          <p:nvPr/>
        </p:nvSpPr>
        <p:spPr>
          <a:xfrm>
            <a:off x="12000" y="6698591"/>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9" name="TextBox 18">
            <a:extLst>
              <a:ext uri="{FF2B5EF4-FFF2-40B4-BE49-F238E27FC236}">
                <a16:creationId xmlns:a16="http://schemas.microsoft.com/office/drawing/2014/main" id="{6B4C2804-8CF4-4989-9C4F-798DE9EF76BB}"/>
              </a:ext>
            </a:extLst>
          </p:cNvPr>
          <p:cNvSpPr txBox="1"/>
          <p:nvPr/>
        </p:nvSpPr>
        <p:spPr>
          <a:xfrm>
            <a:off x="3579576" y="487655"/>
            <a:ext cx="8020974" cy="3379387"/>
          </a:xfrm>
          <a:prstGeom prst="rect">
            <a:avLst/>
          </a:prstGeom>
          <a:noFill/>
        </p:spPr>
        <p:txBody>
          <a:bodyPr wrap="square">
            <a:spAutoFit/>
          </a:bodyPr>
          <a:lstStyle/>
          <a:p>
            <a:pPr marL="571500" marR="0" lvl="0" indent="-571500" algn="l" defTabSz="914400" rtl="0" eaLnBrk="1" fontAlgn="auto" latinLnBrk="0" hangingPunct="1">
              <a:lnSpc>
                <a:spcPct val="90000"/>
              </a:lnSpc>
              <a:spcBef>
                <a:spcPts val="1200"/>
              </a:spcBef>
              <a:spcAft>
                <a:spcPts val="0"/>
              </a:spcAft>
              <a:buClr>
                <a:srgbClr val="006C3B"/>
              </a:buClr>
              <a:buSzTx/>
              <a:buFont typeface="Arial" panose="020B0604020202020204" pitchFamily="34" charset="0"/>
              <a:buChar char="•"/>
              <a:tabLst/>
              <a:defRPr/>
            </a:pPr>
            <a:r>
              <a:rPr kumimoji="0" lang="en-ZA" sz="3400" b="0" i="0" u="none" strike="noStrike" kern="1200" cap="none" spc="0" normalizeH="0" baseline="0" noProof="0" dirty="0">
                <a:ln>
                  <a:noFill/>
                </a:ln>
                <a:effectLst/>
                <a:uLnTx/>
                <a:uFillTx/>
                <a:latin typeface="Tw Cen MT" panose="020B0602020104020603" pitchFamily="34" charset="0"/>
              </a:rPr>
              <a:t>When the value of a product or service increases as its number of users expands.</a:t>
            </a:r>
          </a:p>
          <a:p>
            <a:pPr lvl="2">
              <a:lnSpc>
                <a:spcPct val="90000"/>
              </a:lnSpc>
              <a:spcBef>
                <a:spcPts val="1200"/>
              </a:spcBef>
              <a:buClr>
                <a:srgbClr val="006C3B"/>
              </a:buClr>
              <a:defRPr/>
            </a:pPr>
            <a:r>
              <a:rPr kumimoji="0" lang="en-ZA" sz="3400" b="0" i="0" u="none" strike="noStrike" kern="1200" cap="none" spc="0" normalizeH="0" baseline="0" noProof="0" dirty="0">
                <a:ln>
                  <a:noFill/>
                </a:ln>
                <a:solidFill>
                  <a:srgbClr val="001333"/>
                </a:solidFill>
                <a:effectLst/>
                <a:uLnTx/>
                <a:uFillTx/>
                <a:latin typeface="Tw Cen MT" panose="020B0602020104020603" pitchFamily="34" charset="0"/>
              </a:rPr>
              <a:t>For example, social media…</a:t>
            </a:r>
          </a:p>
          <a:p>
            <a:pPr marL="571500" marR="0" lvl="0" indent="-571500" algn="l" defTabSz="914400" rtl="0" eaLnBrk="1" fontAlgn="auto" latinLnBrk="0" hangingPunct="1">
              <a:lnSpc>
                <a:spcPct val="90000"/>
              </a:lnSpc>
              <a:spcBef>
                <a:spcPts val="1200"/>
              </a:spcBef>
              <a:spcAft>
                <a:spcPts val="0"/>
              </a:spcAft>
              <a:buClr>
                <a:srgbClr val="006C3B"/>
              </a:buClr>
              <a:buSzTx/>
              <a:buFont typeface="Arial" panose="020B0604020202020204" pitchFamily="34" charset="0"/>
              <a:buChar char="•"/>
              <a:tabLst/>
              <a:defRPr/>
            </a:pPr>
            <a:r>
              <a:rPr lang="en-ZA" sz="3400" dirty="0">
                <a:latin typeface="Tw Cen MT" panose="020B0602020104020603" pitchFamily="34" charset="0"/>
              </a:rPr>
              <a:t>Also known as Network Externalities, Metcalfe’s Law</a:t>
            </a:r>
          </a:p>
          <a:p>
            <a:pPr marL="571500" marR="0" lvl="0" indent="-571500" algn="l" defTabSz="914400" rtl="0" eaLnBrk="1" fontAlgn="auto" latinLnBrk="0" hangingPunct="1">
              <a:lnSpc>
                <a:spcPct val="90000"/>
              </a:lnSpc>
              <a:spcBef>
                <a:spcPts val="1200"/>
              </a:spcBef>
              <a:spcAft>
                <a:spcPts val="0"/>
              </a:spcAft>
              <a:buClr>
                <a:srgbClr val="006C3B"/>
              </a:buClr>
              <a:buSzTx/>
              <a:buFont typeface="Arial" panose="020B0604020202020204" pitchFamily="34" charset="0"/>
              <a:buChar char="•"/>
              <a:tabLst/>
              <a:defRPr/>
            </a:pPr>
            <a:r>
              <a:rPr lang="en-ZA" sz="3400" dirty="0">
                <a:latin typeface="Tw Cen MT" panose="020B0602020104020603" pitchFamily="34" charset="0"/>
              </a:rPr>
              <a:t>What it is not…</a:t>
            </a:r>
            <a:endParaRPr kumimoji="0" lang="en-ZA" sz="3400" b="0" i="0" u="none" strike="noStrike" kern="1200" cap="none" spc="0" normalizeH="0" baseline="0" noProof="0" dirty="0">
              <a:ln>
                <a:noFill/>
              </a:ln>
              <a:effectLst/>
              <a:uLnTx/>
              <a:uFillTx/>
              <a:latin typeface="Tw Cen MT" panose="020B0602020104020603" pitchFamily="34" charset="0"/>
            </a:endParaRPr>
          </a:p>
        </p:txBody>
      </p:sp>
      <p:grpSp>
        <p:nvGrpSpPr>
          <p:cNvPr id="9" name="Group 8">
            <a:extLst>
              <a:ext uri="{FF2B5EF4-FFF2-40B4-BE49-F238E27FC236}">
                <a16:creationId xmlns:a16="http://schemas.microsoft.com/office/drawing/2014/main" id="{CE784A4C-1D1E-46E1-8278-FFAD579EE343}"/>
              </a:ext>
            </a:extLst>
          </p:cNvPr>
          <p:cNvGrpSpPr/>
          <p:nvPr/>
        </p:nvGrpSpPr>
        <p:grpSpPr>
          <a:xfrm>
            <a:off x="3805748" y="4058831"/>
            <a:ext cx="8081679" cy="2153669"/>
            <a:chOff x="3201879" y="4142084"/>
            <a:chExt cx="8603824" cy="2294477"/>
          </a:xfrm>
        </p:grpSpPr>
        <p:pic>
          <p:nvPicPr>
            <p:cNvPr id="6" name="Picture 5">
              <a:extLst>
                <a:ext uri="{FF2B5EF4-FFF2-40B4-BE49-F238E27FC236}">
                  <a16:creationId xmlns:a16="http://schemas.microsoft.com/office/drawing/2014/main" id="{5DE57A3D-5697-49CB-8964-C6217F59388E}"/>
                </a:ext>
              </a:extLst>
            </p:cNvPr>
            <p:cNvPicPr>
              <a:picLocks noChangeAspect="1"/>
            </p:cNvPicPr>
            <p:nvPr/>
          </p:nvPicPr>
          <p:blipFill>
            <a:blip r:embed="rId3"/>
            <a:stretch>
              <a:fillRect/>
            </a:stretch>
          </p:blipFill>
          <p:spPr>
            <a:xfrm>
              <a:off x="6443849" y="4181285"/>
              <a:ext cx="2783170" cy="2180564"/>
            </a:xfrm>
            <a:prstGeom prst="rect">
              <a:avLst/>
            </a:prstGeom>
          </p:spPr>
        </p:pic>
        <p:pic>
          <p:nvPicPr>
            <p:cNvPr id="4" name="Picture 3">
              <a:extLst>
                <a:ext uri="{FF2B5EF4-FFF2-40B4-BE49-F238E27FC236}">
                  <a16:creationId xmlns:a16="http://schemas.microsoft.com/office/drawing/2014/main" id="{DC07126F-7ADB-41F5-A116-89E6EF8FB6A1}"/>
                </a:ext>
              </a:extLst>
            </p:cNvPr>
            <p:cNvPicPr>
              <a:picLocks noChangeAspect="1"/>
            </p:cNvPicPr>
            <p:nvPr/>
          </p:nvPicPr>
          <p:blipFill>
            <a:blip r:embed="rId4"/>
            <a:stretch>
              <a:fillRect/>
            </a:stretch>
          </p:blipFill>
          <p:spPr>
            <a:xfrm>
              <a:off x="3201879" y="4185267"/>
              <a:ext cx="3469742" cy="2080476"/>
            </a:xfrm>
            <a:prstGeom prst="rect">
              <a:avLst/>
            </a:prstGeom>
          </p:spPr>
        </p:pic>
        <p:pic>
          <p:nvPicPr>
            <p:cNvPr id="8" name="Picture 7">
              <a:extLst>
                <a:ext uri="{FF2B5EF4-FFF2-40B4-BE49-F238E27FC236}">
                  <a16:creationId xmlns:a16="http://schemas.microsoft.com/office/drawing/2014/main" id="{7341B135-3D10-453F-ACA1-8110D5E09D94}"/>
                </a:ext>
              </a:extLst>
            </p:cNvPr>
            <p:cNvPicPr>
              <a:picLocks noChangeAspect="1"/>
            </p:cNvPicPr>
            <p:nvPr/>
          </p:nvPicPr>
          <p:blipFill>
            <a:blip r:embed="rId5"/>
            <a:stretch>
              <a:fillRect/>
            </a:stretch>
          </p:blipFill>
          <p:spPr>
            <a:xfrm>
              <a:off x="8829578" y="4142084"/>
              <a:ext cx="2976125" cy="2294477"/>
            </a:xfrm>
            <a:prstGeom prst="rect">
              <a:avLst/>
            </a:prstGeom>
          </p:spPr>
        </p:pic>
      </p:grpSp>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6"/>
          <a:stretch>
            <a:fillRect/>
          </a:stretch>
        </p:blipFill>
        <p:spPr>
          <a:xfrm>
            <a:off x="0" y="8144"/>
            <a:ext cx="3278725" cy="6858000"/>
          </a:xfrm>
          <a:prstGeom prst="rect">
            <a:avLst/>
          </a:prstGeom>
        </p:spPr>
      </p:pic>
      <p:sp>
        <p:nvSpPr>
          <p:cNvPr id="26" name="TextBox 25">
            <a:extLst>
              <a:ext uri="{FF2B5EF4-FFF2-40B4-BE49-F238E27FC236}">
                <a16:creationId xmlns:a16="http://schemas.microsoft.com/office/drawing/2014/main" id="{56F0BAA5-1813-4CEA-A0C8-387662AAA6DC}"/>
              </a:ext>
            </a:extLst>
          </p:cNvPr>
          <p:cNvSpPr txBox="1"/>
          <p:nvPr/>
        </p:nvSpPr>
        <p:spPr>
          <a:xfrm>
            <a:off x="3670706" y="6404290"/>
            <a:ext cx="6205490" cy="276999"/>
          </a:xfrm>
          <a:prstGeom prst="rect">
            <a:avLst/>
          </a:prstGeom>
          <a:noFill/>
        </p:spPr>
        <p:txBody>
          <a:bodyPr wrap="square">
            <a:spAutoFit/>
          </a:bodyPr>
          <a:lstStyle/>
          <a:p>
            <a:r>
              <a:rPr lang="en-GB" sz="1200" dirty="0">
                <a:latin typeface="Tw Cen MT" panose="020B0602020104020603" pitchFamily="34" charset="0"/>
              </a:rPr>
              <a:t>Source: Deloitte Insight – Smart Health Communities and the Future of Health (2019)</a:t>
            </a:r>
            <a:endParaRPr lang="en-ZA" sz="1200" dirty="0">
              <a:latin typeface="Tw Cen MT" panose="020B0602020104020603" pitchFamily="34" charset="0"/>
            </a:endParaRPr>
          </a:p>
        </p:txBody>
      </p:sp>
      <p:sp>
        <p:nvSpPr>
          <p:cNvPr id="32" name="TextBox 31">
            <a:extLst>
              <a:ext uri="{FF2B5EF4-FFF2-40B4-BE49-F238E27FC236}">
                <a16:creationId xmlns:a16="http://schemas.microsoft.com/office/drawing/2014/main" id="{028BD1F1-398F-41E8-B97A-D4706E533D2C}"/>
              </a:ext>
            </a:extLst>
          </p:cNvPr>
          <p:cNvSpPr txBox="1"/>
          <p:nvPr/>
        </p:nvSpPr>
        <p:spPr>
          <a:xfrm>
            <a:off x="175980" y="2071265"/>
            <a:ext cx="3037737" cy="1754326"/>
          </a:xfrm>
          <a:prstGeom prst="rect">
            <a:avLst/>
          </a:prstGeom>
          <a:noFill/>
        </p:spPr>
        <p:txBody>
          <a:bodyPr wrap="square">
            <a:spAutoFit/>
          </a:bodyPr>
          <a:lstStyle/>
          <a:p>
            <a:r>
              <a:rPr lang="en-US" sz="5400" b="1" dirty="0">
                <a:solidFill>
                  <a:schemeClr val="bg1">
                    <a:lumMod val="85000"/>
                  </a:schemeClr>
                </a:solidFill>
                <a:latin typeface="Tw Cen MT" panose="020B0602020104020603" pitchFamily="34" charset="0"/>
              </a:rPr>
              <a:t>Network </a:t>
            </a:r>
          </a:p>
          <a:p>
            <a:r>
              <a:rPr lang="en-US" sz="5400" b="1" dirty="0">
                <a:solidFill>
                  <a:schemeClr val="bg1">
                    <a:lumMod val="85000"/>
                  </a:schemeClr>
                </a:solidFill>
                <a:latin typeface="Tw Cen MT" panose="020B0602020104020603" pitchFamily="34" charset="0"/>
              </a:rPr>
              <a:t>Effects</a:t>
            </a:r>
            <a:endParaRPr lang="en-ZA" sz="5400" dirty="0"/>
          </a:p>
        </p:txBody>
      </p:sp>
    </p:spTree>
    <p:extLst>
      <p:ext uri="{BB962C8B-B14F-4D97-AF65-F5344CB8AC3E}">
        <p14:creationId xmlns:p14="http://schemas.microsoft.com/office/powerpoint/2010/main" val="945047036"/>
      </p:ext>
    </p:extLst>
  </p:cSld>
  <p:clrMapOvr>
    <a:masterClrMapping/>
  </p:clrMapOvr>
  <mc:AlternateContent xmlns:mc="http://schemas.openxmlformats.org/markup-compatibility/2006" xmlns:p14="http://schemas.microsoft.com/office/powerpoint/2010/main">
    <mc:Choice Requires="p14">
      <p:transition spd="slow" p14:dur="2000" advTm="103911"/>
    </mc:Choice>
    <mc:Fallback xmlns="">
      <p:transition spd="slow" advTm="10391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1" y="-9606"/>
            <a:ext cx="3556878"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61663" y="1941677"/>
            <a:ext cx="3571355" cy="2405146"/>
          </a:xfrm>
          <a:prstGeom prst="rect">
            <a:avLst/>
          </a:prstGeom>
        </p:spPr>
        <p:txBody>
          <a:bodyPr wrap="square" lIns="0" tIns="0" rIns="0" bIns="0" rtlCol="0" anchor="t">
            <a:spAutoFit/>
          </a:bodyPr>
          <a:lstStyle/>
          <a:p>
            <a:pPr defTabSz="609630">
              <a:lnSpc>
                <a:spcPts val="6400"/>
              </a:lnSpc>
            </a:pPr>
            <a:r>
              <a:rPr lang="en-US" sz="4500" b="1" dirty="0">
                <a:solidFill>
                  <a:schemeClr val="bg1">
                    <a:lumMod val="85000"/>
                  </a:schemeClr>
                </a:solidFill>
                <a:latin typeface="Tw Cen MT" panose="020B0602020104020603" pitchFamily="34" charset="0"/>
              </a:rPr>
              <a:t>Understanding Network Effects</a:t>
            </a:r>
            <a:endParaRPr lang="en-US" sz="4500" b="1" dirty="0">
              <a:solidFill>
                <a:schemeClr val="bg1">
                  <a:lumMod val="85000"/>
                </a:schemeClr>
              </a:solidFill>
              <a:latin typeface="Tw Cen MT" panose="020B0602020104020603" pitchFamily="34" charset="0"/>
              <a:cs typeface="Aharoni" panose="02010803020104030203" pitchFamily="2" charset="-79"/>
            </a:endParaRPr>
          </a:p>
        </p:txBody>
      </p:sp>
      <p:sp>
        <p:nvSpPr>
          <p:cNvPr id="22" name="Oval 21">
            <a:extLst>
              <a:ext uri="{FF2B5EF4-FFF2-40B4-BE49-F238E27FC236}">
                <a16:creationId xmlns:a16="http://schemas.microsoft.com/office/drawing/2014/main" id="{D725B13D-641A-4BCD-8179-C6561052B127}"/>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IV</a:t>
            </a:r>
            <a:endParaRPr lang="en-ZA" sz="1400" dirty="0"/>
          </a:p>
        </p:txBody>
      </p:sp>
      <p:sp>
        <p:nvSpPr>
          <p:cNvPr id="24" name="Rectangle 23">
            <a:extLst>
              <a:ext uri="{FF2B5EF4-FFF2-40B4-BE49-F238E27FC236}">
                <a16:creationId xmlns:a16="http://schemas.microsoft.com/office/drawing/2014/main" id="{D944D119-6AF6-4AE7-837A-D1E5F81984AA}"/>
              </a:ext>
            </a:extLst>
          </p:cNvPr>
          <p:cNvSpPr/>
          <p:nvPr/>
        </p:nvSpPr>
        <p:spPr>
          <a:xfrm>
            <a:off x="8878" y="6702642"/>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9" name="Content Placeholder 2">
            <a:extLst>
              <a:ext uri="{FF2B5EF4-FFF2-40B4-BE49-F238E27FC236}">
                <a16:creationId xmlns:a16="http://schemas.microsoft.com/office/drawing/2014/main" id="{CF7B4864-9AB8-4665-A69B-E4DCAB70D61C}"/>
              </a:ext>
            </a:extLst>
          </p:cNvPr>
          <p:cNvSpPr txBox="1">
            <a:spLocks/>
          </p:cNvSpPr>
          <p:nvPr/>
        </p:nvSpPr>
        <p:spPr>
          <a:xfrm>
            <a:off x="3869267" y="486888"/>
            <a:ext cx="7856041" cy="5869462"/>
          </a:xfrm>
          <a:prstGeom prst="rect">
            <a:avLst/>
          </a:prstGeom>
        </p:spPr>
        <p:txBody>
          <a:bodyPr vert="horz" lIns="91440" tIns="45720" rIns="91440" bIns="45720" rtlCol="0" anchor="ctr">
            <a:normAutofit fontScale="85000" lnSpcReduction="20000"/>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36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32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8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US" altLang="en-US" sz="36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When present, products or services become more valuable as </a:t>
            </a:r>
            <a:r>
              <a:rPr lang="en-US" altLang="en-US" dirty="0">
                <a:solidFill>
                  <a:schemeClr val="tx1"/>
                </a:solidFill>
                <a:latin typeface="Tw Cen MT" panose="020B0602020104020603" pitchFamily="34" charset="0"/>
                <a:sym typeface="Arial" charset="0"/>
              </a:rPr>
              <a:t>their</a:t>
            </a:r>
            <a:r>
              <a:rPr kumimoji="0" lang="en-US" altLang="en-US" sz="36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 installed base expands (</a:t>
            </a:r>
            <a:r>
              <a:rPr kumimoji="0" lang="en-GB" altLang="en-US" sz="24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total number of users (or devices) currently using a product, service, or technology</a:t>
            </a:r>
            <a:r>
              <a:rPr kumimoji="0" lang="en-GB" altLang="en-US" sz="36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a:t>
            </a:r>
            <a:r>
              <a:rPr kumimoji="0" lang="en-US" altLang="en-US" sz="36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US" altLang="en-US" sz="36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Sources of this value:</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US" altLang="en-US" sz="32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Exchange opportunities</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US" altLang="en-US" sz="32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Staying power (linked to switching cost)</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US" altLang="en-US" sz="32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Complementary benefits</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US" altLang="en-US" sz="36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Market characteristics: early competition, bandwagons, monopolistic tendencies</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US" altLang="en-US" sz="36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‘Best’ products don’t always win.</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US" altLang="en-US" sz="3600" b="0" i="0" u="none" strike="noStrike" kern="1200" cap="none" spc="0" normalizeH="0" baseline="0" noProof="0" dirty="0">
                <a:ln>
                  <a:noFill/>
                </a:ln>
                <a:solidFill>
                  <a:schemeClr val="tx1"/>
                </a:solidFill>
                <a:effectLst/>
                <a:uLnTx/>
                <a:uFillTx/>
                <a:latin typeface="Tw Cen MT" panose="020B0602020104020603" pitchFamily="34" charset="0"/>
              </a:rPr>
              <a:t>Innovation effect</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US" altLang="en-US" sz="3200" b="0" i="0" u="none" strike="noStrike" kern="1200" cap="none" spc="0" normalizeH="0" baseline="0" noProof="0" dirty="0">
                <a:ln>
                  <a:noFill/>
                </a:ln>
                <a:solidFill>
                  <a:schemeClr val="tx1"/>
                </a:solidFill>
                <a:effectLst/>
                <a:uLnTx/>
                <a:uFillTx/>
                <a:latin typeface="Tw Cen MT" panose="020B0602020104020603" pitchFamily="34" charset="0"/>
              </a:rPr>
              <a:t>Lowers competition with established standard</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US" altLang="en-US" sz="3200" b="0" i="0" u="none" strike="noStrike" kern="1200" cap="none" spc="0" normalizeH="0" baseline="0" noProof="0" dirty="0">
                <a:ln>
                  <a:noFill/>
                </a:ln>
                <a:solidFill>
                  <a:schemeClr val="tx1"/>
                </a:solidFill>
                <a:effectLst/>
                <a:uLnTx/>
                <a:uFillTx/>
                <a:latin typeface="Tw Cen MT" panose="020B0602020104020603" pitchFamily="34" charset="0"/>
              </a:rPr>
              <a:t>Increases innovation within standard</a:t>
            </a:r>
          </a:p>
        </p:txBody>
      </p:sp>
    </p:spTree>
    <p:extLst>
      <p:ext uri="{BB962C8B-B14F-4D97-AF65-F5344CB8AC3E}">
        <p14:creationId xmlns:p14="http://schemas.microsoft.com/office/powerpoint/2010/main" val="3671927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275497" y="900007"/>
            <a:ext cx="2902709" cy="4103688"/>
          </a:xfrm>
          <a:prstGeom prst="rect">
            <a:avLst/>
          </a:prstGeom>
        </p:spPr>
        <p:txBody>
          <a:bodyPr wrap="square" lIns="0" tIns="0" rIns="0" bIns="0" rtlCol="0" anchor="t">
            <a:spAutoFit/>
          </a:bodyPr>
          <a:lstStyle/>
          <a:p>
            <a:pPr defTabSz="609630">
              <a:lnSpc>
                <a:spcPts val="6400"/>
              </a:lnSpc>
            </a:pPr>
            <a:r>
              <a:rPr lang="en-GB" sz="5000" b="1" dirty="0">
                <a:solidFill>
                  <a:schemeClr val="bg1">
                    <a:lumMod val="85000"/>
                  </a:schemeClr>
                </a:solidFill>
                <a:latin typeface="Tw Cen MT" panose="020B0602020104020603" pitchFamily="34" charset="0"/>
              </a:rPr>
              <a:t>Primary Sources of Value for </a:t>
            </a:r>
            <a:br>
              <a:rPr lang="en-GB" sz="5000" b="1" dirty="0">
                <a:solidFill>
                  <a:schemeClr val="bg1">
                    <a:lumMod val="85000"/>
                  </a:schemeClr>
                </a:solidFill>
                <a:latin typeface="Tw Cen MT" panose="020B0602020104020603" pitchFamily="34" charset="0"/>
              </a:rPr>
            </a:br>
            <a:r>
              <a:rPr lang="en-GB" sz="5000" b="1" dirty="0">
                <a:solidFill>
                  <a:schemeClr val="bg1">
                    <a:lumMod val="85000"/>
                  </a:schemeClr>
                </a:solidFill>
                <a:latin typeface="Tw Cen MT" panose="020B0602020104020603" pitchFamily="34" charset="0"/>
              </a:rPr>
              <a:t>Network Effects</a:t>
            </a:r>
            <a:endParaRPr lang="en-US" sz="5000" b="1" dirty="0">
              <a:solidFill>
                <a:schemeClr val="bg1">
                  <a:lumMod val="85000"/>
                </a:schemeClr>
              </a:solidFill>
              <a:latin typeface="Tw Cen MT" panose="020B0602020104020603" pitchFamily="34" charset="0"/>
              <a:cs typeface="Aharoni" panose="02010803020104030203" pitchFamily="2" charset="-79"/>
            </a:endParaRPr>
          </a:p>
        </p:txBody>
      </p:sp>
      <p:sp>
        <p:nvSpPr>
          <p:cNvPr id="112" name="Oval 111">
            <a:extLst>
              <a:ext uri="{FF2B5EF4-FFF2-40B4-BE49-F238E27FC236}">
                <a16:creationId xmlns:a16="http://schemas.microsoft.com/office/drawing/2014/main" id="{490BD17F-D8A3-4786-8A16-629F3D7A22B0}"/>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a:t>
            </a:r>
            <a:endParaRPr lang="en-ZA" sz="1400" dirty="0"/>
          </a:p>
        </p:txBody>
      </p:sp>
      <p:sp>
        <p:nvSpPr>
          <p:cNvPr id="24" name="Rectangle 23">
            <a:extLst>
              <a:ext uri="{FF2B5EF4-FFF2-40B4-BE49-F238E27FC236}">
                <a16:creationId xmlns:a16="http://schemas.microsoft.com/office/drawing/2014/main" id="{BCDC1D76-78B2-489D-9067-D9D3DB168F69}"/>
              </a:ext>
            </a:extLst>
          </p:cNvPr>
          <p:cNvSpPr/>
          <p:nvPr/>
        </p:nvSpPr>
        <p:spPr>
          <a:xfrm>
            <a:off x="8878" y="6702642"/>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5" name="Content Placeholder 2">
            <a:extLst>
              <a:ext uri="{FF2B5EF4-FFF2-40B4-BE49-F238E27FC236}">
                <a16:creationId xmlns:a16="http://schemas.microsoft.com/office/drawing/2014/main" id="{956F6241-758B-44C4-9914-C976A631A101}"/>
              </a:ext>
            </a:extLst>
          </p:cNvPr>
          <p:cNvSpPr txBox="1">
            <a:spLocks/>
          </p:cNvSpPr>
          <p:nvPr/>
        </p:nvSpPr>
        <p:spPr>
          <a:xfrm>
            <a:off x="3554222" y="494269"/>
            <a:ext cx="7901738" cy="5869462"/>
          </a:xfrm>
          <a:prstGeom prst="rect">
            <a:avLst/>
          </a:prstGeom>
        </p:spPr>
        <p:txBody>
          <a:bodyPr vert="horz" lIns="91440" tIns="45720" rIns="91440" bIns="45720" rtlCol="0" anchor="ctr">
            <a:normAutofit fontScale="92500" lnSpcReduction="10000"/>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36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32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8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US" altLang="en-US" sz="36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Exchange opportunities</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US" altLang="en-US" sz="32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Users can communicate with each other</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US" altLang="en-US" sz="32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Every product or service subject to network effects fosters some kind of exchange.</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US" altLang="en-US" sz="36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Staying power</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US" altLang="en-US" sz="32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Long-term viability</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US" altLang="en-US" sz="32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Large numbers of users/customers suggest stronger staying power</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US" altLang="en-US" sz="32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Staying power directly related to switching costs</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US" altLang="en-US" sz="36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Complementary benefits</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US" altLang="en-US" sz="3200" b="0" i="0" u="none" strike="noStrike" kern="1200" cap="none" spc="0" normalizeH="0" baseline="0" noProof="0" dirty="0">
                <a:ln>
                  <a:noFill/>
                </a:ln>
                <a:solidFill>
                  <a:schemeClr val="tx1"/>
                </a:solidFill>
                <a:effectLst/>
                <a:uLnTx/>
                <a:uFillTx/>
                <a:latin typeface="Tw Cen MT" panose="020B0602020104020603" pitchFamily="34" charset="0"/>
                <a:sym typeface="Arial" charset="0"/>
              </a:rPr>
              <a:t>Products or services that add additional value to the network</a:t>
            </a:r>
          </a:p>
        </p:txBody>
      </p:sp>
    </p:spTree>
    <p:extLst>
      <p:ext uri="{BB962C8B-B14F-4D97-AF65-F5344CB8AC3E}">
        <p14:creationId xmlns:p14="http://schemas.microsoft.com/office/powerpoint/2010/main" val="2559013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177843" y="2407007"/>
            <a:ext cx="3956206" cy="1641475"/>
          </a:xfrm>
          <a:prstGeom prst="rect">
            <a:avLst/>
          </a:prstGeom>
        </p:spPr>
        <p:txBody>
          <a:bodyPr lIns="0" tIns="0" rIns="0" bIns="0" rtlCol="0" anchor="t">
            <a:spAutoFit/>
          </a:bodyPr>
          <a:lstStyle/>
          <a:p>
            <a:pPr defTabSz="609630">
              <a:lnSpc>
                <a:spcPts val="6400"/>
              </a:lnSpc>
            </a:pPr>
            <a:r>
              <a:rPr lang="en-US" sz="5000" b="1" dirty="0">
                <a:solidFill>
                  <a:schemeClr val="bg1">
                    <a:lumMod val="85000"/>
                  </a:schemeClr>
                </a:solidFill>
                <a:latin typeface="Tw Cen MT" panose="020B0602020104020603" pitchFamily="34" charset="0"/>
              </a:rPr>
              <a:t>Switching Costs</a:t>
            </a:r>
            <a:endParaRPr lang="en-US" sz="5000" b="1" dirty="0">
              <a:solidFill>
                <a:schemeClr val="bg1">
                  <a:lumMod val="85000"/>
                </a:schemeClr>
              </a:solidFill>
              <a:latin typeface="Tw Cen MT" panose="020B0602020104020603" pitchFamily="34" charset="0"/>
              <a:cs typeface="Aharoni" panose="02010803020104030203" pitchFamily="2" charset="-79"/>
            </a:endParaRPr>
          </a:p>
        </p:txBody>
      </p:sp>
      <p:sp>
        <p:nvSpPr>
          <p:cNvPr id="32" name="Oval 31">
            <a:extLst>
              <a:ext uri="{FF2B5EF4-FFF2-40B4-BE49-F238E27FC236}">
                <a16:creationId xmlns:a16="http://schemas.microsoft.com/office/drawing/2014/main" id="{19049F43-33AE-4D91-9801-CFE1B23ABE95}"/>
              </a:ext>
            </a:extLst>
          </p:cNvPr>
          <p:cNvSpPr/>
          <p:nvPr/>
        </p:nvSpPr>
        <p:spPr>
          <a:xfrm>
            <a:off x="10964387" y="178214"/>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VI</a:t>
            </a:r>
            <a:endParaRPr lang="en-ZA" sz="1400" dirty="0"/>
          </a:p>
        </p:txBody>
      </p:sp>
      <p:sp>
        <p:nvSpPr>
          <p:cNvPr id="24" name="Rectangle 23">
            <a:extLst>
              <a:ext uri="{FF2B5EF4-FFF2-40B4-BE49-F238E27FC236}">
                <a16:creationId xmlns:a16="http://schemas.microsoft.com/office/drawing/2014/main" id="{67FFFAEC-23B7-4BEF-992E-DA872773D34B}"/>
              </a:ext>
            </a:extLst>
          </p:cNvPr>
          <p:cNvSpPr/>
          <p:nvPr/>
        </p:nvSpPr>
        <p:spPr>
          <a:xfrm>
            <a:off x="0" y="6720398"/>
            <a:ext cx="12192000" cy="136874"/>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5" name="Content Placeholder 2">
            <a:extLst>
              <a:ext uri="{FF2B5EF4-FFF2-40B4-BE49-F238E27FC236}">
                <a16:creationId xmlns:a16="http://schemas.microsoft.com/office/drawing/2014/main" id="{7EDEDEA9-9305-4BCE-AAF4-9CB0F50CFA7F}"/>
              </a:ext>
            </a:extLst>
          </p:cNvPr>
          <p:cNvSpPr txBox="1">
            <a:spLocks/>
          </p:cNvSpPr>
          <p:nvPr/>
        </p:nvSpPr>
        <p:spPr>
          <a:xfrm>
            <a:off x="3456568" y="566787"/>
            <a:ext cx="7859505" cy="5869462"/>
          </a:xfrm>
          <a:prstGeom prst="rect">
            <a:avLst/>
          </a:prstGeom>
        </p:spPr>
        <p:txBody>
          <a:bodyPr vert="horz" lIns="91440" tIns="45720" rIns="91440" bIns="45720" rtlCol="0" anchor="ctr">
            <a:normAutofit fontScale="77500" lnSpcReduction="20000"/>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36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32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8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182880" marR="0" lvl="0" indent="-182880" algn="l" defTabSz="914400" rtl="0" eaLnBrk="1" fontAlgn="auto" latinLnBrk="0" hangingPunct="1">
              <a:lnSpc>
                <a:spcPct val="120000"/>
              </a:lnSpc>
              <a:spcBef>
                <a:spcPts val="1200"/>
              </a:spcBef>
              <a:spcAft>
                <a:spcPts val="0"/>
              </a:spcAft>
              <a:buClr>
                <a:srgbClr val="006C3B"/>
              </a:buClr>
              <a:buSzTx/>
              <a:buFont typeface="Wingdings 2" pitchFamily="18" charset="2"/>
              <a:buChar char=""/>
              <a:tabLst/>
              <a:defRPr/>
            </a:pPr>
            <a:r>
              <a:rPr kumimoji="0" lang="en-US" altLang="en-US" sz="3600" b="0" i="1" u="none" strike="noStrike" kern="1200" cap="none" spc="0" normalizeH="0" baseline="0" noProof="0" dirty="0">
                <a:ln>
                  <a:noFill/>
                </a:ln>
                <a:solidFill>
                  <a:schemeClr val="tx1"/>
                </a:solidFill>
                <a:effectLst/>
                <a:uLnTx/>
                <a:uFillTx/>
                <a:latin typeface="Tw Cen MT" panose="020B0602020104020603" pitchFamily="34" charset="0"/>
                <a:sym typeface="Times New Roman Bold Italic" charset="0"/>
              </a:rPr>
              <a:t>“</a:t>
            </a:r>
            <a:r>
              <a:rPr kumimoji="0" lang="en-US" altLang="en-US" sz="3600" b="0" i="1" u="none" strike="noStrike" kern="1200" cap="none" spc="0" normalizeH="0" baseline="0" noProof="0" dirty="0">
                <a:ln>
                  <a:noFill/>
                </a:ln>
                <a:solidFill>
                  <a:schemeClr val="tx1"/>
                </a:solidFill>
                <a:effectLst/>
                <a:uLnTx/>
                <a:uFillTx/>
                <a:latin typeface="Tw Cen MT" panose="020B0602020104020603" pitchFamily="34" charset="0"/>
                <a:sym typeface="Times New Roman Italic" charset="0"/>
              </a:rPr>
              <a:t>It is this switching cost that has given our customers the patience to stick with Windows through all our mistakes, our buggy drivers, our high TCO [total cost of ownership], our lack of a sexy vision at times, and many other difficulties […] Customers constantly evaluate other desktop platforms, [but] it would be so much work to move over that they hope we just improve Windows rather than force them to move. […] In short, without this exclusive franchise [meaning Windows] we would have been dead a long time ago.”</a:t>
            </a:r>
            <a:endParaRPr kumimoji="0" lang="en-US" altLang="en-US" sz="3600" b="0" i="1" u="none" strike="noStrike" kern="1200" cap="none" spc="0" normalizeH="0" baseline="0" noProof="0" dirty="0">
              <a:ln>
                <a:noFill/>
              </a:ln>
              <a:solidFill>
                <a:schemeClr val="tx1"/>
              </a:solidFill>
              <a:effectLst/>
              <a:uLnTx/>
              <a:uFillTx/>
              <a:latin typeface="Tw Cen MT" panose="020B0602020104020603" pitchFamily="34" charset="0"/>
              <a:sym typeface="Helvetica" charset="0"/>
            </a:endParaRPr>
          </a:p>
          <a:p>
            <a:pPr marL="0" marR="0" lvl="0" indent="0" algn="l" defTabSz="914400" rtl="0" eaLnBrk="1" fontAlgn="auto" latinLnBrk="0" hangingPunct="1">
              <a:lnSpc>
                <a:spcPct val="90000"/>
              </a:lnSpc>
              <a:spcBef>
                <a:spcPts val="1200"/>
              </a:spcBef>
              <a:spcAft>
                <a:spcPts val="0"/>
              </a:spcAft>
              <a:buClr>
                <a:srgbClr val="006C3B"/>
              </a:buClr>
              <a:buSzTx/>
              <a:buNone/>
              <a:tabLst/>
              <a:defRPr/>
            </a:pPr>
            <a:r>
              <a:rPr kumimoji="0" lang="en-US" altLang="en-US" sz="3600" b="0" i="0" u="none" strike="noStrike" kern="1200" cap="none" spc="0" normalizeH="0" baseline="0" noProof="0" dirty="0">
                <a:ln>
                  <a:noFill/>
                </a:ln>
                <a:solidFill>
                  <a:schemeClr val="tx1"/>
                </a:solidFill>
                <a:effectLst/>
                <a:uLnTx/>
                <a:uFillTx/>
                <a:latin typeface="Tw Cen MT" panose="020B0602020104020603" pitchFamily="34" charset="0"/>
                <a:sym typeface="Times New Roman Italic" charset="0"/>
              </a:rPr>
              <a:t>- Comments from a Microsoft General Manager in a memo to Bill Gates</a:t>
            </a:r>
          </a:p>
        </p:txBody>
      </p:sp>
    </p:spTree>
    <p:extLst>
      <p:ext uri="{BB962C8B-B14F-4D97-AF65-F5344CB8AC3E}">
        <p14:creationId xmlns:p14="http://schemas.microsoft.com/office/powerpoint/2010/main" val="3012604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177843" y="2407007"/>
            <a:ext cx="3956206" cy="1641475"/>
          </a:xfrm>
          <a:prstGeom prst="rect">
            <a:avLst/>
          </a:prstGeom>
        </p:spPr>
        <p:txBody>
          <a:bodyPr lIns="0" tIns="0" rIns="0" bIns="0" rtlCol="0" anchor="t">
            <a:spAutoFit/>
          </a:bodyPr>
          <a:lstStyle/>
          <a:p>
            <a:pPr defTabSz="609630">
              <a:lnSpc>
                <a:spcPts val="6400"/>
              </a:lnSpc>
            </a:pPr>
            <a:r>
              <a:rPr lang="en-US" sz="5000" b="1" dirty="0">
                <a:solidFill>
                  <a:schemeClr val="bg1">
                    <a:lumMod val="85000"/>
                  </a:schemeClr>
                </a:solidFill>
                <a:latin typeface="Tw Cen MT" panose="020B0602020104020603" pitchFamily="34" charset="0"/>
              </a:rPr>
              <a:t>Network Structure</a:t>
            </a:r>
            <a:endParaRPr lang="en-US" sz="5000" b="1" dirty="0">
              <a:solidFill>
                <a:schemeClr val="bg1">
                  <a:lumMod val="85000"/>
                </a:schemeClr>
              </a:solidFill>
              <a:latin typeface="Tw Cen MT" panose="020B0602020104020603" pitchFamily="34" charset="0"/>
              <a:cs typeface="Aharoni" panose="02010803020104030203" pitchFamily="2" charset="-79"/>
            </a:endParaRPr>
          </a:p>
        </p:txBody>
      </p:sp>
      <p:sp>
        <p:nvSpPr>
          <p:cNvPr id="42" name="Oval 41">
            <a:extLst>
              <a:ext uri="{FF2B5EF4-FFF2-40B4-BE49-F238E27FC236}">
                <a16:creationId xmlns:a16="http://schemas.microsoft.com/office/drawing/2014/main" id="{0CD0C02F-2531-4725-8623-6493DB5A8E48}"/>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VII</a:t>
            </a:r>
            <a:endParaRPr lang="en-ZA" sz="1400" dirty="0"/>
          </a:p>
        </p:txBody>
      </p:sp>
      <p:sp>
        <p:nvSpPr>
          <p:cNvPr id="26" name="Rectangle 25">
            <a:extLst>
              <a:ext uri="{FF2B5EF4-FFF2-40B4-BE49-F238E27FC236}">
                <a16:creationId xmlns:a16="http://schemas.microsoft.com/office/drawing/2014/main" id="{71CEA837-8B71-493B-86BC-7CBF4B62F56B}"/>
              </a:ext>
            </a:extLst>
          </p:cNvPr>
          <p:cNvSpPr/>
          <p:nvPr/>
        </p:nvSpPr>
        <p:spPr>
          <a:xfrm>
            <a:off x="8878" y="6711517"/>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9" name="Content Placeholder 2">
            <a:extLst>
              <a:ext uri="{FF2B5EF4-FFF2-40B4-BE49-F238E27FC236}">
                <a16:creationId xmlns:a16="http://schemas.microsoft.com/office/drawing/2014/main" id="{2F0CAEC0-B04F-42F9-828E-12DA05CA6202}"/>
              </a:ext>
            </a:extLst>
          </p:cNvPr>
          <p:cNvSpPr txBox="1">
            <a:spLocks/>
          </p:cNvSpPr>
          <p:nvPr/>
        </p:nvSpPr>
        <p:spPr>
          <a:xfrm>
            <a:off x="3558610" y="438186"/>
            <a:ext cx="7936435" cy="5869462"/>
          </a:xfrm>
          <a:prstGeom prst="rect">
            <a:avLst/>
          </a:prstGeom>
        </p:spPr>
        <p:txBody>
          <a:bodyPr vert="horz" lIns="91440" tIns="45720" rIns="91440" bIns="45720" rtlCol="0" anchor="ctr">
            <a:normAutofit fontScale="77500" lnSpcReduction="20000"/>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36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32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8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ZA" sz="3600" b="0" i="0" u="none" strike="noStrike" kern="1200" cap="none" spc="0" normalizeH="0" baseline="0" noProof="0" dirty="0">
                <a:ln>
                  <a:noFill/>
                </a:ln>
                <a:solidFill>
                  <a:schemeClr val="tx1"/>
                </a:solidFill>
                <a:effectLst/>
                <a:uLnTx/>
                <a:uFillTx/>
                <a:latin typeface="Tw Cen MT" panose="020B0602020104020603" pitchFamily="34" charset="0"/>
              </a:rPr>
              <a:t>One-sided market</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ZA" sz="3200" b="0" i="0" u="none" strike="noStrike" kern="1200" cap="none" spc="0" normalizeH="0" baseline="0" noProof="0" dirty="0">
                <a:ln>
                  <a:noFill/>
                </a:ln>
                <a:solidFill>
                  <a:schemeClr val="tx1"/>
                </a:solidFill>
                <a:effectLst/>
                <a:uLnTx/>
                <a:uFillTx/>
                <a:latin typeface="Tw Cen MT" panose="020B0602020104020603" pitchFamily="34" charset="0"/>
              </a:rPr>
              <a:t>Derive most of the value from a single class of users</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ZA" sz="3200" b="0" i="0" u="none" strike="noStrike" kern="1200" cap="none" spc="0" normalizeH="0" baseline="0" noProof="0" dirty="0">
                <a:ln>
                  <a:noFill/>
                </a:ln>
                <a:solidFill>
                  <a:schemeClr val="tx1"/>
                </a:solidFill>
                <a:effectLst/>
                <a:uLnTx/>
                <a:uFillTx/>
                <a:latin typeface="Tw Cen MT" panose="020B0602020104020603" pitchFamily="34" charset="0"/>
              </a:rPr>
              <a:t>Example: instant messaging</a:t>
            </a:r>
          </a:p>
          <a:p>
            <a:pPr lvl="1">
              <a:spcBef>
                <a:spcPts val="1200"/>
              </a:spcBef>
              <a:spcAft>
                <a:spcPts val="0"/>
              </a:spcAft>
              <a:buClr>
                <a:srgbClr val="006C3B"/>
              </a:buClr>
              <a:defRPr/>
            </a:pPr>
            <a:r>
              <a:rPr kumimoji="0" lang="en-ZA" b="0" i="0" u="none" strike="noStrike" kern="1200" cap="none" spc="0" normalizeH="0" baseline="0" noProof="0" dirty="0">
                <a:ln>
                  <a:noFill/>
                </a:ln>
                <a:solidFill>
                  <a:schemeClr val="tx1"/>
                </a:solidFill>
                <a:effectLst/>
                <a:uLnTx/>
                <a:uFillTx/>
                <a:latin typeface="Tw Cen MT" panose="020B0602020104020603" pitchFamily="34" charset="0"/>
              </a:rPr>
              <a:t>Same-side exchange benefits</a:t>
            </a:r>
          </a:p>
          <a:p>
            <a:pPr lvl="2">
              <a:buClr>
                <a:srgbClr val="006C3B"/>
              </a:buClr>
              <a:defRPr/>
            </a:pPr>
            <a:r>
              <a:rPr kumimoji="0" lang="en-ZA" b="0" i="0" u="none" strike="noStrike" kern="1200" cap="none" spc="0" normalizeH="0" baseline="0" noProof="0" dirty="0">
                <a:ln>
                  <a:noFill/>
                </a:ln>
                <a:solidFill>
                  <a:schemeClr val="tx1"/>
                </a:solidFill>
                <a:effectLst/>
                <a:uLnTx/>
                <a:uFillTx/>
                <a:latin typeface="Tw Cen MT" panose="020B0602020104020603" pitchFamily="34" charset="0"/>
              </a:rPr>
              <a:t>Benefits derived by the interaction between a single class of user</a:t>
            </a:r>
            <a:r>
              <a:rPr lang="en-ZA" dirty="0">
                <a:solidFill>
                  <a:schemeClr val="tx1"/>
                </a:solidFill>
                <a:latin typeface="Tw Cen MT" panose="020B0602020104020603" pitchFamily="34" charset="0"/>
              </a:rPr>
              <a:t>s. WhatsApp and Facebook (gradually becoming two-sided network effect e.g., sellers and customer </a:t>
            </a:r>
            <a:r>
              <a:rPr lang="en-ZA">
                <a:solidFill>
                  <a:schemeClr val="tx1"/>
                </a:solidFill>
                <a:latin typeface="Tw Cen MT" panose="020B0602020104020603" pitchFamily="34" charset="0"/>
              </a:rPr>
              <a:t>service channel)</a:t>
            </a:r>
            <a:endParaRPr kumimoji="0" lang="en-ZA" b="0" i="0" u="none" strike="noStrike" kern="1200" cap="none" spc="0" normalizeH="0" baseline="0" noProof="0" dirty="0">
              <a:ln>
                <a:noFill/>
              </a:ln>
              <a:solidFill>
                <a:schemeClr val="tx1"/>
              </a:solidFill>
              <a:effectLst/>
              <a:uLnTx/>
              <a:uFillTx/>
              <a:latin typeface="Tw Cen MT" panose="020B0602020104020603" pitchFamily="34" charset="0"/>
            </a:endParaRP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ZA" sz="3600" b="0" i="0" u="none" strike="noStrike" kern="1200" cap="none" spc="0" normalizeH="0" baseline="0" noProof="0" dirty="0">
                <a:ln>
                  <a:noFill/>
                </a:ln>
                <a:solidFill>
                  <a:schemeClr val="tx1"/>
                </a:solidFill>
                <a:effectLst/>
                <a:uLnTx/>
                <a:uFillTx/>
                <a:latin typeface="Tw Cen MT" panose="020B0602020104020603" pitchFamily="34" charset="0"/>
              </a:rPr>
              <a:t>Two-sided market</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ZA" sz="3200" b="0" i="0" u="none" strike="noStrike" kern="1200" cap="none" spc="0" normalizeH="0" baseline="0" noProof="0" dirty="0">
                <a:ln>
                  <a:noFill/>
                </a:ln>
                <a:solidFill>
                  <a:schemeClr val="tx1"/>
                </a:solidFill>
                <a:effectLst/>
                <a:uLnTx/>
                <a:uFillTx/>
                <a:latin typeface="Tw Cen MT" panose="020B0602020104020603" pitchFamily="34" charset="0"/>
              </a:rPr>
              <a:t>Two distinct categories of participants</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ZA" sz="3200" b="0" i="0" u="none" strike="noStrike" kern="1200" cap="none" spc="0" normalizeH="0" baseline="0" noProof="0" dirty="0">
                <a:ln>
                  <a:noFill/>
                </a:ln>
                <a:solidFill>
                  <a:schemeClr val="tx1"/>
                </a:solidFill>
                <a:effectLst/>
                <a:uLnTx/>
                <a:uFillTx/>
                <a:latin typeface="Tw Cen MT" panose="020B0602020104020603" pitchFamily="34" charset="0"/>
              </a:rPr>
              <a:t>Example: video games – users and software developers; Amazon customers/buyers and third-party sellers; Uber Passengers and riders/drivers</a:t>
            </a:r>
          </a:p>
          <a:p>
            <a:pPr lvl="1">
              <a:spcBef>
                <a:spcPts val="1200"/>
              </a:spcBef>
              <a:spcAft>
                <a:spcPts val="0"/>
              </a:spcAft>
              <a:buClr>
                <a:srgbClr val="006C3B"/>
              </a:buClr>
              <a:defRPr/>
            </a:pPr>
            <a:r>
              <a:rPr kumimoji="0" lang="en-ZA" b="0" i="0" u="none" strike="noStrike" kern="1200" cap="none" spc="0" normalizeH="0" baseline="0" noProof="0" dirty="0">
                <a:ln>
                  <a:noFill/>
                </a:ln>
                <a:solidFill>
                  <a:schemeClr val="tx1"/>
                </a:solidFill>
                <a:effectLst/>
                <a:uLnTx/>
                <a:uFillTx/>
                <a:latin typeface="Tw Cen MT" panose="020B0602020104020603" pitchFamily="34" charset="0"/>
              </a:rPr>
              <a:t>Cross-side exchange benefits</a:t>
            </a:r>
          </a:p>
          <a:p>
            <a:pPr lvl="2">
              <a:buClr>
                <a:srgbClr val="006C3B"/>
              </a:buClr>
              <a:defRPr/>
            </a:pPr>
            <a:r>
              <a:rPr kumimoji="0" lang="en-ZA" b="0" i="0" u="none" strike="noStrike" kern="1200" cap="none" spc="0" normalizeH="0" baseline="0" noProof="0" dirty="0">
                <a:ln>
                  <a:noFill/>
                </a:ln>
                <a:solidFill>
                  <a:schemeClr val="tx1"/>
                </a:solidFill>
                <a:effectLst/>
                <a:uLnTx/>
                <a:uFillTx/>
                <a:latin typeface="Tw Cen MT" panose="020B0602020104020603" pitchFamily="34" charset="0"/>
              </a:rPr>
              <a:t>From two-sided markets</a:t>
            </a:r>
          </a:p>
          <a:p>
            <a:pPr lvl="2">
              <a:buClr>
                <a:srgbClr val="006C3B"/>
              </a:buClr>
              <a:defRPr/>
            </a:pPr>
            <a:r>
              <a:rPr kumimoji="0" lang="en-ZA" b="0" i="0" u="none" strike="noStrike" kern="1200" cap="none" spc="0" normalizeH="0" baseline="0" noProof="0" dirty="0">
                <a:ln>
                  <a:noFill/>
                </a:ln>
                <a:solidFill>
                  <a:schemeClr val="tx1"/>
                </a:solidFill>
                <a:effectLst/>
                <a:uLnTx/>
                <a:uFillTx/>
                <a:latin typeface="Tw Cen MT" panose="020B0602020104020603" pitchFamily="34" charset="0"/>
              </a:rPr>
              <a:t>Example: an increase in the number of users on one side of the market (video game users) creates a rise in the other side (game software developers)</a:t>
            </a:r>
          </a:p>
        </p:txBody>
      </p:sp>
    </p:spTree>
    <p:extLst>
      <p:ext uri="{BB962C8B-B14F-4D97-AF65-F5344CB8AC3E}">
        <p14:creationId xmlns:p14="http://schemas.microsoft.com/office/powerpoint/2010/main" val="3870406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177843" y="2407007"/>
            <a:ext cx="3956206" cy="1641475"/>
          </a:xfrm>
          <a:prstGeom prst="rect">
            <a:avLst/>
          </a:prstGeom>
        </p:spPr>
        <p:txBody>
          <a:bodyPr lIns="0" tIns="0" rIns="0" bIns="0" rtlCol="0" anchor="t">
            <a:spAutoFit/>
          </a:bodyPr>
          <a:lstStyle/>
          <a:p>
            <a:pPr defTabSz="609630">
              <a:lnSpc>
                <a:spcPts val="6400"/>
              </a:lnSpc>
            </a:pPr>
            <a:r>
              <a:rPr lang="en-US" sz="5000" b="1" dirty="0">
                <a:solidFill>
                  <a:schemeClr val="bg1">
                    <a:lumMod val="85000"/>
                  </a:schemeClr>
                </a:solidFill>
                <a:latin typeface="Tw Cen MT" panose="020B0602020104020603" pitchFamily="34" charset="0"/>
              </a:rPr>
              <a:t>Market Differences</a:t>
            </a:r>
            <a:endParaRPr lang="en-US" sz="5000" b="1" dirty="0">
              <a:solidFill>
                <a:schemeClr val="bg1">
                  <a:lumMod val="85000"/>
                </a:schemeClr>
              </a:solidFill>
              <a:latin typeface="Tw Cen MT" panose="020B0602020104020603" pitchFamily="34" charset="0"/>
              <a:cs typeface="Aharoni" panose="02010803020104030203" pitchFamily="2" charset="-79"/>
            </a:endParaRPr>
          </a:p>
        </p:txBody>
      </p:sp>
      <p:sp>
        <p:nvSpPr>
          <p:cNvPr id="45" name="Oval 44">
            <a:extLst>
              <a:ext uri="{FF2B5EF4-FFF2-40B4-BE49-F238E27FC236}">
                <a16:creationId xmlns:a16="http://schemas.microsoft.com/office/drawing/2014/main" id="{759E5B55-38C0-425D-BDE6-FCD2696F8291}"/>
              </a:ext>
            </a:extLst>
          </p:cNvPr>
          <p:cNvSpPr/>
          <p:nvPr/>
        </p:nvSpPr>
        <p:spPr>
          <a:xfrm>
            <a:off x="10955045" y="204186"/>
            <a:ext cx="594000" cy="55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VIII</a:t>
            </a:r>
            <a:endParaRPr lang="en-ZA" sz="1400" dirty="0"/>
          </a:p>
        </p:txBody>
      </p:sp>
      <p:sp>
        <p:nvSpPr>
          <p:cNvPr id="16" name="Rectangle 15">
            <a:extLst>
              <a:ext uri="{FF2B5EF4-FFF2-40B4-BE49-F238E27FC236}">
                <a16:creationId xmlns:a16="http://schemas.microsoft.com/office/drawing/2014/main" id="{DBC8C30E-33F5-467F-9669-551C68B14B9F}"/>
              </a:ext>
            </a:extLst>
          </p:cNvPr>
          <p:cNvSpPr/>
          <p:nvPr/>
        </p:nvSpPr>
        <p:spPr>
          <a:xfrm>
            <a:off x="8878" y="6711520"/>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7" name="TextBox 16">
            <a:extLst>
              <a:ext uri="{FF2B5EF4-FFF2-40B4-BE49-F238E27FC236}">
                <a16:creationId xmlns:a16="http://schemas.microsoft.com/office/drawing/2014/main" id="{92098B12-9374-450E-9294-4B2C1013551F}"/>
              </a:ext>
            </a:extLst>
          </p:cNvPr>
          <p:cNvSpPr txBox="1"/>
          <p:nvPr/>
        </p:nvSpPr>
        <p:spPr>
          <a:xfrm>
            <a:off x="3456567" y="574325"/>
            <a:ext cx="8230209" cy="5809283"/>
          </a:xfrm>
          <a:prstGeom prst="rect">
            <a:avLst/>
          </a:prstGeom>
          <a:noFill/>
        </p:spPr>
        <p:txBody>
          <a:bodyPr wrap="square">
            <a:spAutoFit/>
          </a:bodyPr>
          <a:lstStyle/>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ZA" sz="3200" b="0" i="0" u="none" strike="noStrike" kern="1200" cap="none" spc="0" normalizeH="0" baseline="0" noProof="0" dirty="0">
                <a:ln>
                  <a:noFill/>
                </a:ln>
                <a:effectLst/>
                <a:uLnTx/>
                <a:uFillTx/>
                <a:latin typeface="Tw Cen MT" panose="020B0602020104020603" pitchFamily="34" charset="0"/>
              </a:rPr>
              <a:t>Early, fierce competition</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ZA" sz="3200" b="0" i="0" u="none" strike="noStrike" kern="1200" cap="none" spc="0" normalizeH="0" baseline="0" noProof="0" dirty="0">
                <a:ln>
                  <a:noFill/>
                </a:ln>
                <a:effectLst/>
                <a:uLnTx/>
                <a:uFillTx/>
                <a:latin typeface="Tw Cen MT" panose="020B0602020104020603" pitchFamily="34" charset="0"/>
              </a:rPr>
              <a:t>Once a leader becomes clear, market tips to favour leading product</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ZA" sz="3200" b="0" i="0" u="none" strike="noStrike" kern="1200" cap="none" spc="0" normalizeH="0" baseline="0" noProof="0" dirty="0">
                <a:ln>
                  <a:noFill/>
                </a:ln>
                <a:effectLst/>
                <a:uLnTx/>
                <a:uFillTx/>
                <a:latin typeface="Tw Cen MT" panose="020B0602020104020603" pitchFamily="34" charset="0"/>
              </a:rPr>
              <a:t>Monopoly – one firm dominates rivals</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ZA" sz="2800" b="0" i="0" u="none" strike="noStrike" kern="1200" cap="none" spc="0" normalizeH="0" baseline="0" noProof="0" dirty="0">
                <a:ln>
                  <a:noFill/>
                </a:ln>
                <a:effectLst/>
                <a:uLnTx/>
                <a:uFillTx/>
                <a:latin typeface="Tw Cen MT" panose="020B0602020104020603" pitchFamily="34" charset="0"/>
              </a:rPr>
              <a:t>Natural state of a market with network effects is to have one major player</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ZA" sz="3200" b="0" i="0" u="none" strike="noStrike" kern="1200" cap="none" spc="0" normalizeH="0" baseline="0" noProof="0" dirty="0">
                <a:ln>
                  <a:noFill/>
                </a:ln>
                <a:effectLst/>
                <a:uLnTx/>
                <a:uFillTx/>
                <a:latin typeface="Tw Cen MT" panose="020B0602020104020603" pitchFamily="34" charset="0"/>
              </a:rPr>
              <a:t>Oligopoly – a few firms dominate the market</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ZA" sz="3200" b="0" i="0" u="none" strike="noStrike" kern="1200" cap="none" spc="0" normalizeH="0" baseline="0" noProof="0" dirty="0">
                <a:ln>
                  <a:noFill/>
                </a:ln>
                <a:effectLst/>
                <a:uLnTx/>
                <a:uFillTx/>
                <a:latin typeface="Tw Cen MT" panose="020B0602020104020603" pitchFamily="34" charset="0"/>
              </a:rPr>
              <a:t>Major player does n</a:t>
            </a:r>
            <a:r>
              <a:rPr lang="en-ZA" sz="3200" dirty="0">
                <a:latin typeface="Tw Cen MT" panose="020B0602020104020603" pitchFamily="34" charset="0"/>
              </a:rPr>
              <a:t>o</a:t>
            </a:r>
            <a:r>
              <a:rPr kumimoji="0" lang="en-ZA" sz="3200" b="0" i="0" u="none" strike="noStrike" kern="1200" cap="none" spc="0" normalizeH="0" baseline="0" noProof="0" dirty="0">
                <a:ln>
                  <a:noFill/>
                </a:ln>
                <a:effectLst/>
                <a:uLnTx/>
                <a:uFillTx/>
                <a:latin typeface="Tw Cen MT" panose="020B0602020104020603" pitchFamily="34" charset="0"/>
              </a:rPr>
              <a:t>t always have the best product</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ZA" sz="3200" b="0" i="0" u="none" strike="noStrike" kern="1200" cap="none" spc="0" normalizeH="0" baseline="0" noProof="0" dirty="0">
                <a:ln>
                  <a:noFill/>
                </a:ln>
                <a:effectLst/>
                <a:uLnTx/>
                <a:uFillTx/>
                <a:latin typeface="Tw Cen MT" panose="020B0602020104020603" pitchFamily="34" charset="0"/>
              </a:rPr>
              <a:t>Why?</a:t>
            </a:r>
            <a:endParaRPr kumimoji="0" lang="en-ZA" sz="3200" u="none" strike="noStrike" kern="1200" cap="none" spc="0" normalizeH="0" baseline="0" noProof="0" dirty="0">
              <a:ln>
                <a:noFill/>
              </a:ln>
              <a:effectLst/>
              <a:uLnTx/>
              <a:uFillTx/>
              <a:latin typeface="Tw Cen MT" panose="020B0602020104020603" pitchFamily="34" charset="0"/>
            </a:endParaRPr>
          </a:p>
          <a:p>
            <a:pPr marL="45720">
              <a:lnSpc>
                <a:spcPct val="90000"/>
              </a:lnSpc>
              <a:spcBef>
                <a:spcPts val="250"/>
              </a:spcBef>
              <a:spcAft>
                <a:spcPts val="250"/>
              </a:spcAft>
              <a:buClr>
                <a:srgbClr val="006C3B"/>
              </a:buClr>
              <a:defRPr/>
            </a:pPr>
            <a:r>
              <a:rPr lang="en-GB" sz="2000" b="1" i="1" dirty="0">
                <a:latin typeface="Tw Cen MT" panose="020B0602020104020603" pitchFamily="34" charset="0"/>
              </a:rPr>
              <a:t>In markets with network effects, people do not always choose the best product; they choose the product everyone else is using</a:t>
            </a:r>
            <a:endParaRPr lang="en-ZA" sz="2000" b="1" i="1" dirty="0">
              <a:latin typeface="Tw Cen MT" panose="020B0602020104020603" pitchFamily="34" charset="0"/>
            </a:endParaRPr>
          </a:p>
        </p:txBody>
      </p:sp>
    </p:spTree>
    <p:extLst>
      <p:ext uri="{BB962C8B-B14F-4D97-AF65-F5344CB8AC3E}">
        <p14:creationId xmlns:p14="http://schemas.microsoft.com/office/powerpoint/2010/main" val="2781636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4"/>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188882" y="556377"/>
            <a:ext cx="2896458" cy="4046621"/>
          </a:xfrm>
          <a:prstGeom prst="rect">
            <a:avLst/>
          </a:prstGeom>
        </p:spPr>
        <p:txBody>
          <a:bodyPr wrap="square" lIns="0" tIns="0" rIns="0" bIns="0" rtlCol="0" anchor="t">
            <a:spAutoFit/>
          </a:bodyPr>
          <a:lstStyle/>
          <a:p>
            <a:pPr defTabSz="609630">
              <a:lnSpc>
                <a:spcPts val="6400"/>
              </a:lnSpc>
            </a:pPr>
            <a:r>
              <a:rPr lang="en-GB" sz="4500" b="1" dirty="0">
                <a:solidFill>
                  <a:schemeClr val="bg1">
                    <a:lumMod val="85000"/>
                  </a:schemeClr>
                </a:solidFill>
                <a:latin typeface="Tw Cen MT" panose="020B0602020104020603" pitchFamily="34" charset="0"/>
              </a:rPr>
              <a:t>Battling a Leader with Network </a:t>
            </a:r>
          </a:p>
          <a:p>
            <a:pPr defTabSz="609630">
              <a:lnSpc>
                <a:spcPts val="6400"/>
              </a:lnSpc>
            </a:pPr>
            <a:r>
              <a:rPr lang="en-GB" sz="4500" b="1" dirty="0">
                <a:solidFill>
                  <a:schemeClr val="bg1">
                    <a:lumMod val="85000"/>
                  </a:schemeClr>
                </a:solidFill>
                <a:latin typeface="Tw Cen MT" panose="020B0602020104020603" pitchFamily="34" charset="0"/>
              </a:rPr>
              <a:t>Effects is tough…</a:t>
            </a:r>
            <a:endParaRPr lang="en-US" sz="4500" b="1" dirty="0">
              <a:solidFill>
                <a:schemeClr val="bg1">
                  <a:lumMod val="85000"/>
                </a:schemeClr>
              </a:solidFill>
              <a:latin typeface="Tw Cen MT" panose="020B0602020104020603" pitchFamily="34" charset="0"/>
              <a:cs typeface="Aharoni" panose="02010803020104030203" pitchFamily="2" charset="-79"/>
            </a:endParaRPr>
          </a:p>
        </p:txBody>
      </p:sp>
      <p:sp>
        <p:nvSpPr>
          <p:cNvPr id="16" name="Oval 15">
            <a:extLst>
              <a:ext uri="{FF2B5EF4-FFF2-40B4-BE49-F238E27FC236}">
                <a16:creationId xmlns:a16="http://schemas.microsoft.com/office/drawing/2014/main" id="{0F0784C1-87B0-404C-BEA0-D8CD27BC2159}"/>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IX</a:t>
            </a:r>
            <a:endParaRPr lang="en-ZA" sz="1400" dirty="0"/>
          </a:p>
        </p:txBody>
      </p:sp>
      <p:sp>
        <p:nvSpPr>
          <p:cNvPr id="18" name="Rectangle 17">
            <a:extLst>
              <a:ext uri="{FF2B5EF4-FFF2-40B4-BE49-F238E27FC236}">
                <a16:creationId xmlns:a16="http://schemas.microsoft.com/office/drawing/2014/main" id="{8968E881-B586-4720-8441-F2508363FF93}"/>
              </a:ext>
            </a:extLst>
          </p:cNvPr>
          <p:cNvSpPr/>
          <p:nvPr/>
        </p:nvSpPr>
        <p:spPr>
          <a:xfrm>
            <a:off x="12000" y="6698591"/>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ectangle 2">
            <a:extLst>
              <a:ext uri="{FF2B5EF4-FFF2-40B4-BE49-F238E27FC236}">
                <a16:creationId xmlns:a16="http://schemas.microsoft.com/office/drawing/2014/main" id="{45F760FF-C5AD-4369-914B-BDC173BA38EC}"/>
              </a:ext>
            </a:extLst>
          </p:cNvPr>
          <p:cNvSpPr>
            <a:spLocks/>
          </p:cNvSpPr>
          <p:nvPr/>
        </p:nvSpPr>
        <p:spPr bwMode="auto">
          <a:xfrm>
            <a:off x="4082145" y="4691063"/>
            <a:ext cx="130490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r>
              <a:rPr lang="en-US" altLang="en-US" sz="1800">
                <a:solidFill>
                  <a:schemeClr val="tx1"/>
                </a:solidFill>
                <a:latin typeface="Tw Cen MT" panose="020B0602020104020603" pitchFamily="34" charset="0"/>
                <a:cs typeface="Arial" charset="0"/>
                <a:sym typeface="Arial" charset="0"/>
              </a:rPr>
              <a:t>Technological</a:t>
            </a:r>
          </a:p>
          <a:p>
            <a:pPr eaLnBrk="1" hangingPunct="1"/>
            <a:r>
              <a:rPr lang="en-US" altLang="en-US" sz="1800">
                <a:solidFill>
                  <a:schemeClr val="tx1"/>
                </a:solidFill>
                <a:latin typeface="Tw Cen MT" panose="020B0602020104020603" pitchFamily="34" charset="0"/>
                <a:cs typeface="Arial" charset="0"/>
                <a:sym typeface="Arial" charset="0"/>
              </a:rPr>
              <a:t>Functionality</a:t>
            </a:r>
          </a:p>
        </p:txBody>
      </p:sp>
      <p:sp>
        <p:nvSpPr>
          <p:cNvPr id="12" name="Rectangle 3">
            <a:extLst>
              <a:ext uri="{FF2B5EF4-FFF2-40B4-BE49-F238E27FC236}">
                <a16:creationId xmlns:a16="http://schemas.microsoft.com/office/drawing/2014/main" id="{FA649939-3D28-4E95-AEB0-AAA92402DE4A}"/>
              </a:ext>
            </a:extLst>
          </p:cNvPr>
          <p:cNvSpPr>
            <a:spLocks/>
          </p:cNvSpPr>
          <p:nvPr/>
        </p:nvSpPr>
        <p:spPr bwMode="auto">
          <a:xfrm>
            <a:off x="4082144" y="3649663"/>
            <a:ext cx="13542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r>
              <a:rPr lang="en-US" altLang="en-US" sz="1800" dirty="0">
                <a:solidFill>
                  <a:schemeClr val="tx1"/>
                </a:solidFill>
                <a:latin typeface="Tw Cen MT" panose="020B0602020104020603" pitchFamily="34" charset="0"/>
                <a:cs typeface="Arial" charset="0"/>
                <a:sym typeface="Arial" charset="0"/>
              </a:rPr>
              <a:t>Installed base</a:t>
            </a:r>
          </a:p>
          <a:p>
            <a:pPr eaLnBrk="1" hangingPunct="1"/>
            <a:r>
              <a:rPr lang="en-US" altLang="en-US" sz="1800" dirty="0">
                <a:solidFill>
                  <a:schemeClr val="tx1"/>
                </a:solidFill>
                <a:latin typeface="Tw Cen MT" panose="020B0602020104020603" pitchFamily="34" charset="0"/>
                <a:cs typeface="Arial" charset="0"/>
                <a:sym typeface="Arial" charset="0"/>
              </a:rPr>
              <a:t>(exchange)</a:t>
            </a:r>
          </a:p>
        </p:txBody>
      </p:sp>
      <p:sp>
        <p:nvSpPr>
          <p:cNvPr id="13" name="Rectangle 4">
            <a:extLst>
              <a:ext uri="{FF2B5EF4-FFF2-40B4-BE49-F238E27FC236}">
                <a16:creationId xmlns:a16="http://schemas.microsoft.com/office/drawing/2014/main" id="{37358CBF-2776-4AD3-96AA-B487BE780312}"/>
              </a:ext>
            </a:extLst>
          </p:cNvPr>
          <p:cNvSpPr>
            <a:spLocks/>
          </p:cNvSpPr>
          <p:nvPr/>
        </p:nvSpPr>
        <p:spPr bwMode="auto">
          <a:xfrm>
            <a:off x="4071033" y="2640013"/>
            <a:ext cx="153535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r>
              <a:rPr lang="en-US" altLang="en-US" sz="1800">
                <a:solidFill>
                  <a:schemeClr val="tx1"/>
                </a:solidFill>
                <a:latin typeface="Tw Cen MT" panose="020B0602020104020603" pitchFamily="34" charset="0"/>
                <a:cs typeface="Arial" charset="0"/>
                <a:sym typeface="Arial" charset="0"/>
              </a:rPr>
              <a:t>Complementary</a:t>
            </a:r>
          </a:p>
          <a:p>
            <a:pPr eaLnBrk="1" hangingPunct="1"/>
            <a:r>
              <a:rPr lang="en-US" altLang="en-US" sz="1800">
                <a:solidFill>
                  <a:schemeClr val="tx1"/>
                </a:solidFill>
                <a:latin typeface="Tw Cen MT" panose="020B0602020104020603" pitchFamily="34" charset="0"/>
                <a:cs typeface="Arial" charset="0"/>
                <a:sym typeface="Arial" charset="0"/>
              </a:rPr>
              <a:t>Benefits</a:t>
            </a:r>
          </a:p>
        </p:txBody>
      </p:sp>
      <p:sp>
        <p:nvSpPr>
          <p:cNvPr id="14" name="Rectangle 5">
            <a:extLst>
              <a:ext uri="{FF2B5EF4-FFF2-40B4-BE49-F238E27FC236}">
                <a16:creationId xmlns:a16="http://schemas.microsoft.com/office/drawing/2014/main" id="{36EB38CA-0292-42C4-AA68-E0CD18D9A00E}"/>
              </a:ext>
            </a:extLst>
          </p:cNvPr>
          <p:cNvSpPr>
            <a:spLocks/>
          </p:cNvSpPr>
          <p:nvPr/>
        </p:nvSpPr>
        <p:spPr bwMode="auto">
          <a:xfrm>
            <a:off x="4082145" y="1592263"/>
            <a:ext cx="150323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r>
              <a:rPr lang="en-US" altLang="en-US" sz="1800">
                <a:solidFill>
                  <a:schemeClr val="tx1"/>
                </a:solidFill>
                <a:latin typeface="Tw Cen MT" panose="020B0602020104020603" pitchFamily="34" charset="0"/>
                <a:cs typeface="Arial" charset="0"/>
                <a:sym typeface="Arial" charset="0"/>
              </a:rPr>
              <a:t>Switching Costs</a:t>
            </a:r>
          </a:p>
          <a:p>
            <a:pPr eaLnBrk="1" hangingPunct="1"/>
            <a:r>
              <a:rPr lang="en-US" altLang="en-US" sz="1800">
                <a:solidFill>
                  <a:schemeClr val="tx1"/>
                </a:solidFill>
                <a:latin typeface="Tw Cen MT" panose="020B0602020104020603" pitchFamily="34" charset="0"/>
                <a:cs typeface="Arial" charset="0"/>
                <a:sym typeface="Arial" charset="0"/>
              </a:rPr>
              <a:t>(staying power)</a:t>
            </a:r>
          </a:p>
        </p:txBody>
      </p:sp>
      <p:sp>
        <p:nvSpPr>
          <p:cNvPr id="17" name="Rectangle 6">
            <a:extLst>
              <a:ext uri="{FF2B5EF4-FFF2-40B4-BE49-F238E27FC236}">
                <a16:creationId xmlns:a16="http://schemas.microsoft.com/office/drawing/2014/main" id="{5A196DFF-3FB3-4672-A16D-498ADF2C624E}"/>
              </a:ext>
            </a:extLst>
          </p:cNvPr>
          <p:cNvSpPr>
            <a:spLocks/>
          </p:cNvSpPr>
          <p:nvPr/>
        </p:nvSpPr>
        <p:spPr bwMode="auto">
          <a:xfrm>
            <a:off x="4005945" y="5662614"/>
            <a:ext cx="173912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r>
              <a:rPr lang="en-US" altLang="en-US" sz="1800">
                <a:solidFill>
                  <a:schemeClr val="tx1"/>
                </a:solidFill>
                <a:latin typeface="Tw Cen MT" panose="020B0602020104020603" pitchFamily="34" charset="0"/>
                <a:cs typeface="Arial" charset="0"/>
                <a:sym typeface="Arial" charset="0"/>
              </a:rPr>
              <a:t>Incumbent product</a:t>
            </a:r>
          </a:p>
        </p:txBody>
      </p:sp>
      <p:sp>
        <p:nvSpPr>
          <p:cNvPr id="20" name="Rectangle 7">
            <a:extLst>
              <a:ext uri="{FF2B5EF4-FFF2-40B4-BE49-F238E27FC236}">
                <a16:creationId xmlns:a16="http://schemas.microsoft.com/office/drawing/2014/main" id="{8CEDD6BA-258F-447D-AB3B-44E1C983BB8B}"/>
              </a:ext>
            </a:extLst>
          </p:cNvPr>
          <p:cNvSpPr>
            <a:spLocks/>
          </p:cNvSpPr>
          <p:nvPr/>
        </p:nvSpPr>
        <p:spPr bwMode="auto">
          <a:xfrm>
            <a:off x="3994832" y="2438400"/>
            <a:ext cx="2133600" cy="990600"/>
          </a:xfrm>
          <a:prstGeom prst="rect">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endParaRPr lang="en-ZA" altLang="en-US">
              <a:latin typeface="Tw Cen MT" panose="020B0602020104020603" pitchFamily="34" charset="0"/>
            </a:endParaRPr>
          </a:p>
        </p:txBody>
      </p:sp>
      <p:grpSp>
        <p:nvGrpSpPr>
          <p:cNvPr id="23" name="Group 10">
            <a:extLst>
              <a:ext uri="{FF2B5EF4-FFF2-40B4-BE49-F238E27FC236}">
                <a16:creationId xmlns:a16="http://schemas.microsoft.com/office/drawing/2014/main" id="{B6BB37E7-A597-4123-B75B-A3796DEBEFFF}"/>
              </a:ext>
            </a:extLst>
          </p:cNvPr>
          <p:cNvGrpSpPr>
            <a:grpSpLocks/>
          </p:cNvGrpSpPr>
          <p:nvPr/>
        </p:nvGrpSpPr>
        <p:grpSpPr bwMode="auto">
          <a:xfrm>
            <a:off x="4005944" y="3497263"/>
            <a:ext cx="2133600" cy="990600"/>
            <a:chOff x="0" y="0"/>
            <a:chExt cx="1344" cy="624"/>
          </a:xfrm>
        </p:grpSpPr>
        <p:sp>
          <p:nvSpPr>
            <p:cNvPr id="24" name="Rectangle 8">
              <a:extLst>
                <a:ext uri="{FF2B5EF4-FFF2-40B4-BE49-F238E27FC236}">
                  <a16:creationId xmlns:a16="http://schemas.microsoft.com/office/drawing/2014/main" id="{4387ADD1-C0FB-4D85-8019-C68B5CADC682}"/>
                </a:ext>
              </a:extLst>
            </p:cNvPr>
            <p:cNvSpPr>
              <a:spLocks/>
            </p:cNvSpPr>
            <p:nvPr/>
          </p:nvSpPr>
          <p:spPr bwMode="auto">
            <a:xfrm>
              <a:off x="0" y="0"/>
              <a:ext cx="1344" cy="624"/>
            </a:xfrm>
            <a:prstGeom prst="rect">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endParaRPr lang="en-ZA" altLang="en-US">
                <a:latin typeface="Tw Cen MT" panose="020B0602020104020603" pitchFamily="34" charset="0"/>
              </a:endParaRPr>
            </a:p>
          </p:txBody>
        </p:sp>
        <p:sp>
          <p:nvSpPr>
            <p:cNvPr id="25" name="Rectangle 9">
              <a:extLst>
                <a:ext uri="{FF2B5EF4-FFF2-40B4-BE49-F238E27FC236}">
                  <a16:creationId xmlns:a16="http://schemas.microsoft.com/office/drawing/2014/main" id="{C92BE57D-C53C-43B0-B287-21E4590B06FD}"/>
                </a:ext>
              </a:extLst>
            </p:cNvPr>
            <p:cNvSpPr>
              <a:spLocks/>
            </p:cNvSpPr>
            <p:nvPr/>
          </p:nvSpPr>
          <p:spPr bwMode="auto">
            <a:xfrm>
              <a:off x="0" y="0"/>
              <a:ext cx="1344"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lstStyle>
              <a:lvl1pPr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endParaRPr lang="en-ZA" altLang="en-US">
                <a:latin typeface="Tw Cen MT" panose="020B0602020104020603" pitchFamily="34" charset="0"/>
              </a:endParaRPr>
            </a:p>
          </p:txBody>
        </p:sp>
      </p:grpSp>
      <p:grpSp>
        <p:nvGrpSpPr>
          <p:cNvPr id="26" name="Group 13">
            <a:extLst>
              <a:ext uri="{FF2B5EF4-FFF2-40B4-BE49-F238E27FC236}">
                <a16:creationId xmlns:a16="http://schemas.microsoft.com/office/drawing/2014/main" id="{ED8BE777-91A1-4892-8CD0-F1175B034F76}"/>
              </a:ext>
            </a:extLst>
          </p:cNvPr>
          <p:cNvGrpSpPr>
            <a:grpSpLocks/>
          </p:cNvGrpSpPr>
          <p:nvPr/>
        </p:nvGrpSpPr>
        <p:grpSpPr bwMode="auto">
          <a:xfrm>
            <a:off x="4005944" y="4538663"/>
            <a:ext cx="2133600" cy="990600"/>
            <a:chOff x="0" y="0"/>
            <a:chExt cx="1344" cy="624"/>
          </a:xfrm>
        </p:grpSpPr>
        <p:sp>
          <p:nvSpPr>
            <p:cNvPr id="27" name="Rectangle 11">
              <a:extLst>
                <a:ext uri="{FF2B5EF4-FFF2-40B4-BE49-F238E27FC236}">
                  <a16:creationId xmlns:a16="http://schemas.microsoft.com/office/drawing/2014/main" id="{16AFBC0F-4FDB-4B62-AAAB-C2150E967344}"/>
                </a:ext>
              </a:extLst>
            </p:cNvPr>
            <p:cNvSpPr>
              <a:spLocks/>
            </p:cNvSpPr>
            <p:nvPr/>
          </p:nvSpPr>
          <p:spPr bwMode="auto">
            <a:xfrm>
              <a:off x="0" y="0"/>
              <a:ext cx="1344" cy="624"/>
            </a:xfrm>
            <a:prstGeom prst="rect">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endParaRPr lang="en-ZA" altLang="en-US">
                <a:latin typeface="Tw Cen MT" panose="020B0602020104020603" pitchFamily="34" charset="0"/>
              </a:endParaRPr>
            </a:p>
          </p:txBody>
        </p:sp>
        <p:sp>
          <p:nvSpPr>
            <p:cNvPr id="28" name="Rectangle 12">
              <a:extLst>
                <a:ext uri="{FF2B5EF4-FFF2-40B4-BE49-F238E27FC236}">
                  <a16:creationId xmlns:a16="http://schemas.microsoft.com/office/drawing/2014/main" id="{B069116C-1FEB-4B44-9943-D0303E68B366}"/>
                </a:ext>
              </a:extLst>
            </p:cNvPr>
            <p:cNvSpPr>
              <a:spLocks/>
            </p:cNvSpPr>
            <p:nvPr/>
          </p:nvSpPr>
          <p:spPr bwMode="auto">
            <a:xfrm>
              <a:off x="0" y="0"/>
              <a:ext cx="1344"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lstStyle>
              <a:lvl1pPr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endParaRPr lang="en-ZA" altLang="en-US">
                <a:latin typeface="Tw Cen MT" panose="020B0602020104020603" pitchFamily="34" charset="0"/>
              </a:endParaRPr>
            </a:p>
          </p:txBody>
        </p:sp>
      </p:grpSp>
      <p:sp>
        <p:nvSpPr>
          <p:cNvPr id="29" name="Rectangle 14">
            <a:extLst>
              <a:ext uri="{FF2B5EF4-FFF2-40B4-BE49-F238E27FC236}">
                <a16:creationId xmlns:a16="http://schemas.microsoft.com/office/drawing/2014/main" id="{355B61B2-0D11-418F-8ECF-6A7CCEA1B86D}"/>
              </a:ext>
            </a:extLst>
          </p:cNvPr>
          <p:cNvSpPr>
            <a:spLocks/>
          </p:cNvSpPr>
          <p:nvPr/>
        </p:nvSpPr>
        <p:spPr bwMode="auto">
          <a:xfrm>
            <a:off x="4005944" y="1374775"/>
            <a:ext cx="2133600" cy="990600"/>
          </a:xfrm>
          <a:prstGeom prst="rect">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endParaRPr lang="en-ZA" altLang="en-US">
              <a:latin typeface="Tw Cen MT" panose="020B0602020104020603" pitchFamily="34" charset="0"/>
            </a:endParaRPr>
          </a:p>
        </p:txBody>
      </p:sp>
      <p:sp>
        <p:nvSpPr>
          <p:cNvPr id="30" name="Rectangle 15">
            <a:extLst>
              <a:ext uri="{FF2B5EF4-FFF2-40B4-BE49-F238E27FC236}">
                <a16:creationId xmlns:a16="http://schemas.microsoft.com/office/drawing/2014/main" id="{3D5F0F90-AAAB-4A4E-A0E7-BF5BB00FC4E6}"/>
              </a:ext>
            </a:extLst>
          </p:cNvPr>
          <p:cNvSpPr>
            <a:spLocks/>
          </p:cNvSpPr>
          <p:nvPr/>
        </p:nvSpPr>
        <p:spPr bwMode="auto">
          <a:xfrm>
            <a:off x="6603095" y="5659439"/>
            <a:ext cx="24727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r>
              <a:rPr lang="en-US" altLang="en-US" sz="1800">
                <a:solidFill>
                  <a:schemeClr val="tx1"/>
                </a:solidFill>
                <a:latin typeface="Tw Cen MT" panose="020B0602020104020603" pitchFamily="34" charset="0"/>
                <a:cs typeface="Arial" charset="0"/>
                <a:sym typeface="Arial" charset="0"/>
              </a:rPr>
              <a:t>New, incompatible entrant</a:t>
            </a:r>
          </a:p>
        </p:txBody>
      </p:sp>
      <p:grpSp>
        <p:nvGrpSpPr>
          <p:cNvPr id="31" name="Group 21">
            <a:extLst>
              <a:ext uri="{FF2B5EF4-FFF2-40B4-BE49-F238E27FC236}">
                <a16:creationId xmlns:a16="http://schemas.microsoft.com/office/drawing/2014/main" id="{F1206F97-A4FE-4735-8700-7B57C24E42D5}"/>
              </a:ext>
            </a:extLst>
          </p:cNvPr>
          <p:cNvGrpSpPr>
            <a:grpSpLocks/>
          </p:cNvGrpSpPr>
          <p:nvPr/>
        </p:nvGrpSpPr>
        <p:grpSpPr bwMode="auto">
          <a:xfrm>
            <a:off x="6295392" y="1066800"/>
            <a:ext cx="5486400" cy="4495800"/>
            <a:chOff x="0" y="0"/>
            <a:chExt cx="3456" cy="2832"/>
          </a:xfrm>
        </p:grpSpPr>
        <p:sp>
          <p:nvSpPr>
            <p:cNvPr id="32" name="Rectangle 16">
              <a:extLst>
                <a:ext uri="{FF2B5EF4-FFF2-40B4-BE49-F238E27FC236}">
                  <a16:creationId xmlns:a16="http://schemas.microsoft.com/office/drawing/2014/main" id="{5721C7D2-FF05-44E7-8CED-F24E2AE931B8}"/>
                </a:ext>
              </a:extLst>
            </p:cNvPr>
            <p:cNvSpPr>
              <a:spLocks/>
            </p:cNvSpPr>
            <p:nvPr/>
          </p:nvSpPr>
          <p:spPr bwMode="auto">
            <a:xfrm>
              <a:off x="48" y="953"/>
              <a:ext cx="822"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r>
                <a:rPr lang="en-US" altLang="en-US" sz="1800">
                  <a:solidFill>
                    <a:schemeClr val="tx1"/>
                  </a:solidFill>
                  <a:latin typeface="Tw Cen MT" panose="020B0602020104020603" pitchFamily="34" charset="0"/>
                  <a:cs typeface="Arial" charset="0"/>
                  <a:sym typeface="Arial" charset="0"/>
                </a:rPr>
                <a:t>Technological</a:t>
              </a:r>
            </a:p>
            <a:p>
              <a:pPr eaLnBrk="1" hangingPunct="1"/>
              <a:r>
                <a:rPr lang="en-US" altLang="en-US" sz="1800">
                  <a:solidFill>
                    <a:schemeClr val="tx1"/>
                  </a:solidFill>
                  <a:latin typeface="Tw Cen MT" panose="020B0602020104020603" pitchFamily="34" charset="0"/>
                  <a:cs typeface="Arial" charset="0"/>
                  <a:sym typeface="Arial" charset="0"/>
                </a:rPr>
                <a:t>Functionality</a:t>
              </a:r>
            </a:p>
          </p:txBody>
        </p:sp>
        <p:grpSp>
          <p:nvGrpSpPr>
            <p:cNvPr id="33" name="Group 19">
              <a:extLst>
                <a:ext uri="{FF2B5EF4-FFF2-40B4-BE49-F238E27FC236}">
                  <a16:creationId xmlns:a16="http://schemas.microsoft.com/office/drawing/2014/main" id="{30ADD72D-9A51-432A-AD79-5C1A2EF5C987}"/>
                </a:ext>
              </a:extLst>
            </p:cNvPr>
            <p:cNvGrpSpPr>
              <a:grpSpLocks/>
            </p:cNvGrpSpPr>
            <p:nvPr/>
          </p:nvGrpSpPr>
          <p:grpSpPr bwMode="auto">
            <a:xfrm>
              <a:off x="0" y="0"/>
              <a:ext cx="1344" cy="2832"/>
              <a:chOff x="0" y="0"/>
              <a:chExt cx="1344" cy="2832"/>
            </a:xfrm>
          </p:grpSpPr>
          <p:sp>
            <p:nvSpPr>
              <p:cNvPr id="36" name="Rectangle 17">
                <a:extLst>
                  <a:ext uri="{FF2B5EF4-FFF2-40B4-BE49-F238E27FC236}">
                    <a16:creationId xmlns:a16="http://schemas.microsoft.com/office/drawing/2014/main" id="{B0C91DEB-CC2E-4FCB-B0AE-5A4B90CA3B8C}"/>
                  </a:ext>
                </a:extLst>
              </p:cNvPr>
              <p:cNvSpPr>
                <a:spLocks/>
              </p:cNvSpPr>
              <p:nvPr/>
            </p:nvSpPr>
            <p:spPr bwMode="auto">
              <a:xfrm>
                <a:off x="0" y="0"/>
                <a:ext cx="1344" cy="2832"/>
              </a:xfrm>
              <a:prstGeom prst="rect">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endParaRPr lang="en-ZA" altLang="en-US">
                  <a:latin typeface="Tw Cen MT" panose="020B0602020104020603" pitchFamily="34" charset="0"/>
                </a:endParaRPr>
              </a:p>
            </p:txBody>
          </p:sp>
          <p:sp>
            <p:nvSpPr>
              <p:cNvPr id="37" name="Rectangle 18">
                <a:extLst>
                  <a:ext uri="{FF2B5EF4-FFF2-40B4-BE49-F238E27FC236}">
                    <a16:creationId xmlns:a16="http://schemas.microsoft.com/office/drawing/2014/main" id="{2F7E518D-314A-4DE6-BA56-D9D95BD9C87C}"/>
                  </a:ext>
                </a:extLst>
              </p:cNvPr>
              <p:cNvSpPr>
                <a:spLocks/>
              </p:cNvSpPr>
              <p:nvPr/>
            </p:nvSpPr>
            <p:spPr bwMode="auto">
              <a:xfrm>
                <a:off x="0" y="0"/>
                <a:ext cx="1344" cy="2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lstStyle>
                <a:lvl1pPr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endParaRPr lang="en-ZA" altLang="en-US">
                  <a:latin typeface="Tw Cen MT" panose="020B0602020104020603" pitchFamily="34" charset="0"/>
                </a:endParaRPr>
              </a:p>
            </p:txBody>
          </p:sp>
        </p:grpSp>
        <p:sp>
          <p:nvSpPr>
            <p:cNvPr id="35" name="Rectangle 20">
              <a:extLst>
                <a:ext uri="{FF2B5EF4-FFF2-40B4-BE49-F238E27FC236}">
                  <a16:creationId xmlns:a16="http://schemas.microsoft.com/office/drawing/2014/main" id="{2EB474F7-07AF-4A70-9AB9-2FB15B4D6AAB}"/>
                </a:ext>
              </a:extLst>
            </p:cNvPr>
            <p:cNvSpPr>
              <a:spLocks/>
            </p:cNvSpPr>
            <p:nvPr/>
          </p:nvSpPr>
          <p:spPr bwMode="auto">
            <a:xfrm>
              <a:off x="1488" y="624"/>
              <a:ext cx="1968" cy="1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40639" bIns="0"/>
            <a:lstStyle>
              <a:lvl1pPr marL="39688"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r>
                <a:rPr lang="en-US" altLang="en-US" sz="1800" dirty="0">
                  <a:solidFill>
                    <a:schemeClr val="tx1"/>
                  </a:solidFill>
                  <a:latin typeface="Tw Cen MT" panose="020B0602020104020603" pitchFamily="34" charset="0"/>
                  <a:cs typeface="Arial" charset="0"/>
                  <a:sym typeface="Arial" charset="0"/>
                </a:rPr>
                <a:t>Radical innovation may be necessary if an incompatible technology is  to overthrow an established standard.</a:t>
              </a:r>
            </a:p>
            <a:p>
              <a:pPr eaLnBrk="1" hangingPunct="1"/>
              <a:endParaRPr lang="en-US" altLang="en-US" sz="1800" dirty="0">
                <a:solidFill>
                  <a:schemeClr val="tx1"/>
                </a:solidFill>
                <a:latin typeface="Tw Cen MT" panose="020B0602020104020603" pitchFamily="34" charset="0"/>
                <a:cs typeface="Arial" charset="0"/>
                <a:sym typeface="Arial" charset="0"/>
              </a:endParaRPr>
            </a:p>
            <a:p>
              <a:pPr eaLnBrk="1" hangingPunct="1"/>
              <a:r>
                <a:rPr lang="en-US" altLang="en-US" sz="1800" dirty="0">
                  <a:solidFill>
                    <a:schemeClr val="tx1"/>
                  </a:solidFill>
                  <a:latin typeface="Tw Cen MT" panose="020B0602020104020603" pitchFamily="34" charset="0"/>
                  <a:cs typeface="Arial" charset="0"/>
                  <a:sym typeface="Arial" charset="0"/>
                </a:rPr>
                <a:t>The technical benefits of the new innovation must exceed the exchange, staying power, and complementary benefits of the incumbent.</a:t>
              </a:r>
            </a:p>
          </p:txBody>
        </p:sp>
      </p:grpSp>
      <p:sp>
        <p:nvSpPr>
          <p:cNvPr id="58" name="Rectangle 22">
            <a:extLst>
              <a:ext uri="{FF2B5EF4-FFF2-40B4-BE49-F238E27FC236}">
                <a16:creationId xmlns:a16="http://schemas.microsoft.com/office/drawing/2014/main" id="{4681ABC4-1C5A-4B9E-87A3-490F67C2A44A}"/>
              </a:ext>
            </a:extLst>
          </p:cNvPr>
          <p:cNvSpPr>
            <a:spLocks/>
          </p:cNvSpPr>
          <p:nvPr/>
        </p:nvSpPr>
        <p:spPr bwMode="auto">
          <a:xfrm rot="16200000">
            <a:off x="3051389" y="3284153"/>
            <a:ext cx="150060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0" tIns="0" rIns="40639" bIns="0">
            <a:spAutoFit/>
          </a:bodyPr>
          <a:lstStyle>
            <a:lvl1pPr marL="39688"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1pPr>
            <a:lvl2pPr marL="742950" indent="-28575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2pPr>
            <a:lvl3pPr marL="11430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3pPr>
            <a:lvl4pPr marL="16002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4pPr>
            <a:lvl5pPr marL="2057400" indent="-228600" eaLnBrk="0" hangingPunct="0">
              <a:defRPr sz="2400">
                <a:solidFill>
                  <a:srgbClr val="000000"/>
                </a:solidFill>
                <a:latin typeface="Times New Roman" pitchFamily="18" charset="0"/>
                <a:ea typeface="ヒラギノ明朝 ProN W3" charset="0"/>
                <a:cs typeface="ヒラギノ明朝 ProN W3" charset="0"/>
                <a:sym typeface="Times New Roman" pitchFamily="18" charset="0"/>
              </a:defRPr>
            </a:lvl5pPr>
            <a:lvl6pPr marL="25146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6pPr>
            <a:lvl7pPr marL="29718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7pPr>
            <a:lvl8pPr marL="34290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8pPr>
            <a:lvl9pPr marL="3886200" indent="-228600" eaLnBrk="0" fontAlgn="base" hangingPunct="0">
              <a:spcBef>
                <a:spcPct val="0"/>
              </a:spcBef>
              <a:spcAft>
                <a:spcPct val="0"/>
              </a:spcAft>
              <a:defRPr sz="2400">
                <a:solidFill>
                  <a:srgbClr val="000000"/>
                </a:solidFill>
                <a:latin typeface="Times New Roman" pitchFamily="18" charset="0"/>
                <a:ea typeface="ヒラギノ明朝 ProN W3" charset="0"/>
                <a:cs typeface="ヒラギノ明朝 ProN W3" charset="0"/>
                <a:sym typeface="Times New Roman" pitchFamily="18" charset="0"/>
              </a:defRPr>
            </a:lvl9pPr>
          </a:lstStyle>
          <a:p>
            <a:pPr eaLnBrk="1" hangingPunct="1"/>
            <a:r>
              <a:rPr lang="en-US" altLang="en-US" sz="1800" dirty="0">
                <a:solidFill>
                  <a:schemeClr val="tx1"/>
                </a:solidFill>
                <a:latin typeface="Arial Bold" charset="0"/>
                <a:cs typeface="Arial Bold" charset="0"/>
                <a:sym typeface="Arial Bold" charset="0"/>
              </a:rPr>
              <a:t>--- VALUE  ---</a:t>
            </a:r>
          </a:p>
        </p:txBody>
      </p:sp>
    </p:spTree>
    <p:custDataLst>
      <p:tags r:id="rId1"/>
    </p:custDataLst>
    <p:extLst>
      <p:ext uri="{BB962C8B-B14F-4D97-AF65-F5344CB8AC3E}">
        <p14:creationId xmlns:p14="http://schemas.microsoft.com/office/powerpoint/2010/main" val="208518521"/>
      </p:ext>
    </p:extLst>
  </p:cSld>
  <p:clrMapOvr>
    <a:masterClrMapping/>
  </p:clrMapOvr>
  <mc:AlternateContent xmlns:mc="http://schemas.openxmlformats.org/markup-compatibility/2006" xmlns:p14="http://schemas.microsoft.com/office/powerpoint/2010/main">
    <mc:Choice Requires="p14">
      <p:transition spd="slow" p14:dur="2000" advTm="107396"/>
    </mc:Choice>
    <mc:Fallback xmlns="">
      <p:transition spd="slow" advTm="1073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82055" y="2180881"/>
            <a:ext cx="3956206" cy="1600887"/>
          </a:xfrm>
          <a:prstGeom prst="rect">
            <a:avLst/>
          </a:prstGeom>
        </p:spPr>
        <p:txBody>
          <a:bodyPr lIns="0" tIns="0" rIns="0" bIns="0" rtlCol="0" anchor="t">
            <a:spAutoFit/>
          </a:bodyPr>
          <a:lstStyle/>
          <a:p>
            <a:pPr defTabSz="609630">
              <a:lnSpc>
                <a:spcPts val="6400"/>
              </a:lnSpc>
            </a:pPr>
            <a:r>
              <a:rPr lang="en-US" sz="5000" b="1" dirty="0">
                <a:solidFill>
                  <a:schemeClr val="bg1">
                    <a:lumMod val="85000"/>
                  </a:schemeClr>
                </a:solidFill>
                <a:latin typeface="Tw Cen MT" panose="020B0602020104020603" pitchFamily="34" charset="0"/>
              </a:rPr>
              <a:t>Congestion Effects</a:t>
            </a:r>
            <a:endParaRPr lang="en-US" sz="5000" b="1" dirty="0">
              <a:solidFill>
                <a:schemeClr val="bg1">
                  <a:lumMod val="85000"/>
                </a:schemeClr>
              </a:solidFill>
              <a:latin typeface="Tw Cen MT" panose="020B0602020104020603" pitchFamily="34" charset="0"/>
              <a:cs typeface="Aharoni" panose="02010803020104030203" pitchFamily="2" charset="-79"/>
            </a:endParaRPr>
          </a:p>
        </p:txBody>
      </p:sp>
      <p:sp>
        <p:nvSpPr>
          <p:cNvPr id="16" name="Oval 15">
            <a:extLst>
              <a:ext uri="{FF2B5EF4-FFF2-40B4-BE49-F238E27FC236}">
                <a16:creationId xmlns:a16="http://schemas.microsoft.com/office/drawing/2014/main" id="{0F0784C1-87B0-404C-BEA0-D8CD27BC2159}"/>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X</a:t>
            </a:r>
            <a:endParaRPr lang="en-ZA" sz="1400" dirty="0"/>
          </a:p>
        </p:txBody>
      </p:sp>
      <p:sp>
        <p:nvSpPr>
          <p:cNvPr id="18" name="Rectangle 17">
            <a:extLst>
              <a:ext uri="{FF2B5EF4-FFF2-40B4-BE49-F238E27FC236}">
                <a16:creationId xmlns:a16="http://schemas.microsoft.com/office/drawing/2014/main" id="{8968E881-B586-4720-8441-F2508363FF93}"/>
              </a:ext>
            </a:extLst>
          </p:cNvPr>
          <p:cNvSpPr/>
          <p:nvPr/>
        </p:nvSpPr>
        <p:spPr>
          <a:xfrm>
            <a:off x="12000" y="6698591"/>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25" name="Group 24">
            <a:extLst>
              <a:ext uri="{FF2B5EF4-FFF2-40B4-BE49-F238E27FC236}">
                <a16:creationId xmlns:a16="http://schemas.microsoft.com/office/drawing/2014/main" id="{00B6A294-16D5-4B22-9FF2-92ADF5FA36C1}"/>
              </a:ext>
            </a:extLst>
          </p:cNvPr>
          <p:cNvGrpSpPr/>
          <p:nvPr/>
        </p:nvGrpSpPr>
        <p:grpSpPr>
          <a:xfrm>
            <a:off x="3536184" y="2164296"/>
            <a:ext cx="7951933" cy="4489518"/>
            <a:chOff x="3869268" y="3022069"/>
            <a:chExt cx="7951933" cy="4489518"/>
          </a:xfrm>
        </p:grpSpPr>
        <p:pic>
          <p:nvPicPr>
            <p:cNvPr id="26" name="Picture 3">
              <a:extLst>
                <a:ext uri="{FF2B5EF4-FFF2-40B4-BE49-F238E27FC236}">
                  <a16:creationId xmlns:a16="http://schemas.microsoft.com/office/drawing/2014/main" id="{EE0D67D3-F462-47E4-80FE-6BD4C8D519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9268" y="3022069"/>
              <a:ext cx="2946400"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round/>
                  <a:headEnd/>
                  <a:tailEnd/>
                </a14:hiddenLine>
              </a:ext>
            </a:extLst>
          </p:spPr>
        </p:pic>
        <p:pic>
          <p:nvPicPr>
            <p:cNvPr id="27" name="Picture 4">
              <a:extLst>
                <a:ext uri="{FF2B5EF4-FFF2-40B4-BE49-F238E27FC236}">
                  <a16:creationId xmlns:a16="http://schemas.microsoft.com/office/drawing/2014/main" id="{0B5256CD-2F1B-4D54-9B8F-D39D57309C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0001" y="6647987"/>
              <a:ext cx="57912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round/>
                  <a:headEnd/>
                  <a:tailEnd/>
                </a14:hiddenLine>
              </a:ext>
            </a:extLst>
          </p:spPr>
        </p:pic>
        <p:pic>
          <p:nvPicPr>
            <p:cNvPr id="28" name="Picture 5">
              <a:extLst>
                <a:ext uri="{FF2B5EF4-FFF2-40B4-BE49-F238E27FC236}">
                  <a16:creationId xmlns:a16="http://schemas.microsoft.com/office/drawing/2014/main" id="{ED37C145-606B-4D33-B5F3-9ABA72CE2F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31601" y="6485231"/>
              <a:ext cx="34925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round/>
                  <a:headEnd/>
                  <a:tailEnd/>
                </a14:hiddenLine>
              </a:ext>
            </a:extLst>
          </p:spPr>
        </p:pic>
        <p:pic>
          <p:nvPicPr>
            <p:cNvPr id="29" name="Picture 6">
              <a:extLst>
                <a:ext uri="{FF2B5EF4-FFF2-40B4-BE49-F238E27FC236}">
                  <a16:creationId xmlns:a16="http://schemas.microsoft.com/office/drawing/2014/main" id="{920C5240-F9DD-4582-9F87-FD7D36536C1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31601" y="5530387"/>
              <a:ext cx="2928938"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round/>
                  <a:headEnd/>
                  <a:tailEnd/>
                </a14:hiddenLine>
              </a:ext>
            </a:extLst>
          </p:spPr>
        </p:pic>
      </p:grpSp>
      <p:sp>
        <p:nvSpPr>
          <p:cNvPr id="32" name="Rectangle 2">
            <a:extLst>
              <a:ext uri="{FF2B5EF4-FFF2-40B4-BE49-F238E27FC236}">
                <a16:creationId xmlns:a16="http://schemas.microsoft.com/office/drawing/2014/main" id="{88A4B7B0-DA42-4567-93FD-2348817E0F43}"/>
              </a:ext>
            </a:extLst>
          </p:cNvPr>
          <p:cNvSpPr txBox="1">
            <a:spLocks noChangeArrowheads="1"/>
          </p:cNvSpPr>
          <p:nvPr/>
        </p:nvSpPr>
        <p:spPr>
          <a:xfrm>
            <a:off x="3432020" y="686784"/>
            <a:ext cx="8056097" cy="21850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6C3B"/>
              </a:buClr>
            </a:pPr>
            <a:r>
              <a:rPr lang="en-US" altLang="en-US" dirty="0">
                <a:latin typeface="Tw Cen MT" panose="020B0602020104020603" pitchFamily="34" charset="0"/>
              </a:rPr>
              <a:t>When increasing numbers of users lower the value of a product or service (usually due to over-consumption of a finite resource)</a:t>
            </a:r>
          </a:p>
        </p:txBody>
      </p:sp>
    </p:spTree>
    <p:extLst>
      <p:ext uri="{BB962C8B-B14F-4D97-AF65-F5344CB8AC3E}">
        <p14:creationId xmlns:p14="http://schemas.microsoft.com/office/powerpoint/2010/main" val="2179840865"/>
      </p:ext>
    </p:extLst>
  </p:cSld>
  <p:clrMapOvr>
    <a:masterClrMapping/>
  </p:clrMapOvr>
  <mc:AlternateContent xmlns:mc="http://schemas.openxmlformats.org/markup-compatibility/2006" xmlns:p14="http://schemas.microsoft.com/office/powerpoint/2010/main">
    <mc:Choice Requires="p14">
      <p:transition spd="slow" p14:dur="2000" advTm="65957"/>
    </mc:Choice>
    <mc:Fallback xmlns="">
      <p:transition spd="slow" advTm="6595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67413" y="1320851"/>
            <a:ext cx="3956206" cy="3242362"/>
          </a:xfrm>
          <a:prstGeom prst="rect">
            <a:avLst/>
          </a:prstGeom>
        </p:spPr>
        <p:txBody>
          <a:bodyPr lIns="0" tIns="0" rIns="0" bIns="0" rtlCol="0" anchor="t">
            <a:spAutoFit/>
          </a:bodyPr>
          <a:lstStyle/>
          <a:p>
            <a:pPr defTabSz="609630">
              <a:lnSpc>
                <a:spcPts val="6400"/>
              </a:lnSpc>
            </a:pPr>
            <a:r>
              <a:rPr lang="en-GB" sz="4500" b="1" dirty="0">
                <a:solidFill>
                  <a:schemeClr val="bg1">
                    <a:lumMod val="85000"/>
                  </a:schemeClr>
                </a:solidFill>
                <a:latin typeface="Tw Cen MT" panose="020B0602020104020603" pitchFamily="34" charset="0"/>
              </a:rPr>
              <a:t>Strategies for Competing in Network Markets</a:t>
            </a:r>
            <a:endParaRPr lang="en-US" sz="4500" b="1" dirty="0">
              <a:solidFill>
                <a:schemeClr val="bg1">
                  <a:lumMod val="85000"/>
                </a:schemeClr>
              </a:solidFill>
              <a:latin typeface="Tw Cen MT" panose="020B0602020104020603" pitchFamily="34" charset="0"/>
              <a:cs typeface="Aharoni" panose="02010803020104030203" pitchFamily="2" charset="-79"/>
            </a:endParaRPr>
          </a:p>
        </p:txBody>
      </p:sp>
      <p:sp>
        <p:nvSpPr>
          <p:cNvPr id="16" name="Oval 15">
            <a:extLst>
              <a:ext uri="{FF2B5EF4-FFF2-40B4-BE49-F238E27FC236}">
                <a16:creationId xmlns:a16="http://schemas.microsoft.com/office/drawing/2014/main" id="{0F0784C1-87B0-404C-BEA0-D8CD27BC2159}"/>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XI</a:t>
            </a:r>
            <a:endParaRPr lang="en-ZA" sz="1400" dirty="0"/>
          </a:p>
        </p:txBody>
      </p:sp>
      <p:sp>
        <p:nvSpPr>
          <p:cNvPr id="18" name="Rectangle 17">
            <a:extLst>
              <a:ext uri="{FF2B5EF4-FFF2-40B4-BE49-F238E27FC236}">
                <a16:creationId xmlns:a16="http://schemas.microsoft.com/office/drawing/2014/main" id="{8968E881-B586-4720-8441-F2508363FF93}"/>
              </a:ext>
            </a:extLst>
          </p:cNvPr>
          <p:cNvSpPr/>
          <p:nvPr/>
        </p:nvSpPr>
        <p:spPr>
          <a:xfrm>
            <a:off x="12000" y="6698591"/>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Content Placeholder 2">
            <a:extLst>
              <a:ext uri="{FF2B5EF4-FFF2-40B4-BE49-F238E27FC236}">
                <a16:creationId xmlns:a16="http://schemas.microsoft.com/office/drawing/2014/main" id="{1700E452-DEBA-4E69-8027-0B5CA82DED38}"/>
              </a:ext>
            </a:extLst>
          </p:cNvPr>
          <p:cNvSpPr txBox="1">
            <a:spLocks/>
          </p:cNvSpPr>
          <p:nvPr/>
        </p:nvSpPr>
        <p:spPr>
          <a:xfrm>
            <a:off x="3447871" y="282702"/>
            <a:ext cx="8188685" cy="5869462"/>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ZA" dirty="0">
                <a:latin typeface="Tw Cen MT" panose="020B0602020104020603" pitchFamily="34" charset="0"/>
              </a:rPr>
              <a:t>Move early</a:t>
            </a:r>
          </a:p>
          <a:p>
            <a:pPr marL="514350" indent="-514350">
              <a:buFont typeface="+mj-lt"/>
              <a:buAutoNum type="arabicPeriod"/>
            </a:pPr>
            <a:r>
              <a:rPr lang="en-ZA">
                <a:latin typeface="Tw Cen MT" panose="020B0602020104020603" pitchFamily="34" charset="0"/>
              </a:rPr>
              <a:t>Subsidise </a:t>
            </a:r>
            <a:r>
              <a:rPr lang="en-ZA" dirty="0">
                <a:latin typeface="Tw Cen MT" panose="020B0602020104020603" pitchFamily="34" charset="0"/>
              </a:rPr>
              <a:t>adoption</a:t>
            </a:r>
          </a:p>
          <a:p>
            <a:pPr marL="514350" indent="-514350">
              <a:buFont typeface="+mj-lt"/>
              <a:buAutoNum type="arabicPeriod"/>
            </a:pPr>
            <a:r>
              <a:rPr lang="en-ZA" dirty="0">
                <a:latin typeface="Tw Cen MT" panose="020B0602020104020603" pitchFamily="34" charset="0"/>
              </a:rPr>
              <a:t>Leverage viral promotion</a:t>
            </a:r>
          </a:p>
          <a:p>
            <a:pPr marL="514350" indent="-514350">
              <a:buFont typeface="+mj-lt"/>
              <a:buAutoNum type="arabicPeriod"/>
            </a:pPr>
            <a:r>
              <a:rPr lang="en-ZA" dirty="0">
                <a:latin typeface="Tw Cen MT" panose="020B0602020104020603" pitchFamily="34" charset="0"/>
              </a:rPr>
              <a:t>Expand by redefining the market</a:t>
            </a:r>
          </a:p>
          <a:p>
            <a:pPr marL="514350" indent="-514350">
              <a:buFont typeface="+mj-lt"/>
              <a:buAutoNum type="arabicPeriod"/>
            </a:pPr>
            <a:r>
              <a:rPr lang="en-ZA" dirty="0">
                <a:latin typeface="Tw Cen MT" panose="020B0602020104020603" pitchFamily="34" charset="0"/>
              </a:rPr>
              <a:t>Alliances and partnerships</a:t>
            </a:r>
          </a:p>
          <a:p>
            <a:pPr marL="514350" indent="-514350">
              <a:buFont typeface="+mj-lt"/>
              <a:buAutoNum type="arabicPeriod"/>
            </a:pPr>
            <a:r>
              <a:rPr lang="en-ZA" dirty="0">
                <a:latin typeface="Tw Cen MT" panose="020B0602020104020603" pitchFamily="34" charset="0"/>
              </a:rPr>
              <a:t>Leverage distribution channels</a:t>
            </a:r>
          </a:p>
          <a:p>
            <a:pPr marL="514350" indent="-514350">
              <a:buFont typeface="+mj-lt"/>
              <a:buAutoNum type="arabicPeriod"/>
            </a:pPr>
            <a:r>
              <a:rPr lang="en-ZA" dirty="0">
                <a:latin typeface="Tw Cen MT" panose="020B0602020104020603" pitchFamily="34" charset="0"/>
              </a:rPr>
              <a:t>Seed the market</a:t>
            </a:r>
          </a:p>
          <a:p>
            <a:pPr marL="514350" indent="-514350">
              <a:buFont typeface="+mj-lt"/>
              <a:buAutoNum type="arabicPeriod"/>
            </a:pPr>
            <a:r>
              <a:rPr lang="en-ZA" dirty="0">
                <a:latin typeface="Tw Cen MT" panose="020B0602020104020603" pitchFamily="34" charset="0"/>
              </a:rPr>
              <a:t>Encourage the development of complementary goods</a:t>
            </a:r>
          </a:p>
          <a:p>
            <a:pPr marL="514350" indent="-514350">
              <a:buFont typeface="+mj-lt"/>
              <a:buAutoNum type="arabicPeriod"/>
            </a:pPr>
            <a:r>
              <a:rPr lang="en-ZA" dirty="0">
                <a:latin typeface="Tw Cen MT" panose="020B0602020104020603" pitchFamily="34" charset="0"/>
              </a:rPr>
              <a:t>Leverage backward compatibility (Apple Intel processor to new homegrown processor)</a:t>
            </a:r>
          </a:p>
          <a:p>
            <a:pPr marL="514350" indent="-514350">
              <a:buFont typeface="+mj-lt"/>
              <a:buAutoNum type="arabicPeriod"/>
            </a:pPr>
            <a:r>
              <a:rPr lang="en-ZA" dirty="0">
                <a:latin typeface="Tw Cen MT" panose="020B0602020104020603" pitchFamily="34" charset="0"/>
              </a:rPr>
              <a:t>Rivals: be compatible with the leading network</a:t>
            </a:r>
          </a:p>
          <a:p>
            <a:pPr marL="514350" indent="-514350">
              <a:buFont typeface="+mj-lt"/>
              <a:buAutoNum type="arabicPeriod"/>
            </a:pPr>
            <a:r>
              <a:rPr lang="en-ZA" dirty="0">
                <a:latin typeface="Tw Cen MT" panose="020B0602020104020603" pitchFamily="34" charset="0"/>
              </a:rPr>
              <a:t>Incumbents: close off rival access and constantly innovate</a:t>
            </a:r>
          </a:p>
          <a:p>
            <a:pPr marL="514350" indent="-514350">
              <a:buFont typeface="+mj-lt"/>
              <a:buAutoNum type="arabicPeriod"/>
            </a:pPr>
            <a:r>
              <a:rPr lang="en-ZA" dirty="0">
                <a:latin typeface="Tw Cen MT" panose="020B0602020104020603" pitchFamily="34" charset="0"/>
              </a:rPr>
              <a:t>Large, well-known followers: preannouncements (But avoid the Osborne effect)</a:t>
            </a:r>
          </a:p>
        </p:txBody>
      </p:sp>
    </p:spTree>
    <p:extLst>
      <p:ext uri="{BB962C8B-B14F-4D97-AF65-F5344CB8AC3E}">
        <p14:creationId xmlns:p14="http://schemas.microsoft.com/office/powerpoint/2010/main" val="522845683"/>
      </p:ext>
    </p:extLst>
  </p:cSld>
  <p:clrMapOvr>
    <a:masterClrMapping/>
  </p:clrMapOvr>
  <mc:AlternateContent xmlns:mc="http://schemas.openxmlformats.org/markup-compatibility/2006" xmlns:p14="http://schemas.microsoft.com/office/powerpoint/2010/main">
    <mc:Choice Requires="p14">
      <p:transition spd="slow" p14:dur="2000" advTm="35561"/>
    </mc:Choice>
    <mc:Fallback xmlns="">
      <p:transition spd="slow" advTm="3556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7E4A19-845A-FE00-E4E4-0C51719EFBEB}"/>
              </a:ext>
            </a:extLst>
          </p:cNvPr>
          <p:cNvSpPr/>
          <p:nvPr>
            <p:custDataLst>
              <p:tags r:id="rId2"/>
            </p:custDataLst>
          </p:nvPr>
        </p:nvSpPr>
        <p:spPr>
          <a:xfrm>
            <a:off x="444693" y="1742703"/>
            <a:ext cx="2371696" cy="2371696"/>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7BD2CA9A-737F-483F-80D3-84528A953F07}"/>
              </a:ext>
            </a:extLst>
          </p:cNvPr>
          <p:cNvSpPr/>
          <p:nvPr>
            <p:custDataLst>
              <p:tags r:id="rId3"/>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4000" b="1">
                <a:solidFill>
                  <a:srgbClr val="000000"/>
                </a:solidFill>
              </a:rPr>
              <a:t>What one thing did you learn today?</a:t>
            </a:r>
            <a:endParaRPr lang="en-ZA" sz="4000" b="1">
              <a:solidFill>
                <a:srgbClr val="000000"/>
              </a:solidFill>
            </a:endParaRPr>
          </a:p>
        </p:txBody>
      </p:sp>
      <p:sp>
        <p:nvSpPr>
          <p:cNvPr id="4" name="Rectangle 3">
            <a:extLst>
              <a:ext uri="{FF2B5EF4-FFF2-40B4-BE49-F238E27FC236}">
                <a16:creationId xmlns:a16="http://schemas.microsoft.com/office/drawing/2014/main" id="{DBD4C759-23B6-1B55-1E7D-591ABEB00C76}"/>
              </a:ext>
            </a:extLst>
          </p:cNvPr>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GB" sz="2600">
                <a:solidFill>
                  <a:srgbClr val="FFFFFF"/>
                </a:solidFill>
              </a:rPr>
              <a:t>The </a:t>
            </a:r>
            <a:r>
              <a:rPr lang="en-GB" sz="2600">
                <a:solidFill>
                  <a:srgbClr val="FFFFFF"/>
                </a:solidFill>
                <a:hlinkClick r:id="rId6">
                  <a:extLst>
                    <a:ext uri="{A12FA001-AC4F-418D-AE19-62706E023703}">
                      <ahyp:hlinkClr xmlns:ahyp="http://schemas.microsoft.com/office/drawing/2018/hyperlinkcolor" val="tx"/>
                    </a:ext>
                  </a:extLst>
                </a:hlinkClick>
              </a:rPr>
              <a:t>Slido app</a:t>
            </a:r>
            <a:r>
              <a:rPr lang="en-GB" sz="2600">
                <a:solidFill>
                  <a:srgbClr val="FFFFFF"/>
                </a:solidFill>
              </a:rPr>
              <a:t> must be installed on every computer you’re presenting from</a:t>
            </a:r>
            <a:endParaRPr lang="en-ZA" sz="2600">
              <a:solidFill>
                <a:srgbClr val="FFFFFF"/>
              </a:solidFill>
            </a:endParaRPr>
          </a:p>
        </p:txBody>
      </p:sp>
      <p:pic>
        <p:nvPicPr>
          <p:cNvPr id="6" name="Graphic 5">
            <a:extLst>
              <a:ext uri="{FF2B5EF4-FFF2-40B4-BE49-F238E27FC236}">
                <a16:creationId xmlns:a16="http://schemas.microsoft.com/office/drawing/2014/main" id="{7D3BB9A5-4C5A-3BE1-D137-4B32279BEC11}"/>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2E1A8C3F-728A-FEFA-5241-F43EB8C554DF}"/>
              </a:ext>
            </a:extLst>
          </p:cNvPr>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GB" sz="2600" b="1">
                <a:solidFill>
                  <a:srgbClr val="198038"/>
                </a:solidFill>
              </a:rPr>
              <a:t>Do not edit
</a:t>
            </a:r>
            <a:r>
              <a:rPr lang="en-GB"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ZA" sz="2200">
              <a:solidFill>
                <a:srgbClr val="198038"/>
              </a:solidFill>
            </a:endParaRPr>
          </a:p>
        </p:txBody>
      </p:sp>
      <p:pic>
        <p:nvPicPr>
          <p:cNvPr id="9" name="Graphic 8">
            <a:extLst>
              <a:ext uri="{FF2B5EF4-FFF2-40B4-BE49-F238E27FC236}">
                <a16:creationId xmlns:a16="http://schemas.microsoft.com/office/drawing/2014/main" id="{700F90F7-4556-FD05-3261-96E57D26613B}"/>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185224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4C97BE-43BA-7683-0E07-8303A145ABC3}"/>
              </a:ext>
            </a:extLst>
          </p:cNvPr>
          <p:cNvSpPr/>
          <p:nvPr>
            <p:custDataLst>
              <p:tags r:id="rId2"/>
            </p:custDataLst>
          </p:nvPr>
        </p:nvSpPr>
        <p:spPr>
          <a:xfrm>
            <a:off x="444693" y="1742703"/>
            <a:ext cx="2371696" cy="2371696"/>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2081731D-9A6E-52B7-F3EE-6353E3AF0EA8}"/>
              </a:ext>
            </a:extLst>
          </p:cNvPr>
          <p:cNvSpPr/>
          <p:nvPr>
            <p:custDataLst>
              <p:tags r:id="rId3"/>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sz="4000" b="1">
                <a:solidFill>
                  <a:srgbClr val="000000"/>
                </a:solidFill>
              </a:rPr>
              <a:t>Any questions?</a:t>
            </a:r>
          </a:p>
        </p:txBody>
      </p:sp>
      <p:sp>
        <p:nvSpPr>
          <p:cNvPr id="4" name="Rectangle 3">
            <a:extLst>
              <a:ext uri="{FF2B5EF4-FFF2-40B4-BE49-F238E27FC236}">
                <a16:creationId xmlns:a16="http://schemas.microsoft.com/office/drawing/2014/main" id="{141C683A-41A9-BBBE-A3BA-D7BD21359F20}"/>
              </a:ext>
            </a:extLst>
          </p:cNvPr>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GB" sz="2600">
                <a:solidFill>
                  <a:srgbClr val="FFFFFF"/>
                </a:solidFill>
              </a:rPr>
              <a:t>The </a:t>
            </a:r>
            <a:r>
              <a:rPr lang="en-GB" sz="2600">
                <a:solidFill>
                  <a:srgbClr val="FFFFFF"/>
                </a:solidFill>
                <a:hlinkClick r:id="rId6">
                  <a:extLst>
                    <a:ext uri="{A12FA001-AC4F-418D-AE19-62706E023703}">
                      <ahyp:hlinkClr xmlns:ahyp="http://schemas.microsoft.com/office/drawing/2018/hyperlinkcolor" val="tx"/>
                    </a:ext>
                  </a:extLst>
                </a:hlinkClick>
              </a:rPr>
              <a:t>Slido app</a:t>
            </a:r>
            <a:r>
              <a:rPr lang="en-GB" sz="2600">
                <a:solidFill>
                  <a:srgbClr val="FFFFFF"/>
                </a:solidFill>
              </a:rPr>
              <a:t> must be installed on every computer you’re presenting from</a:t>
            </a:r>
            <a:endParaRPr lang="en-ZA" sz="2600">
              <a:solidFill>
                <a:srgbClr val="FFFFFF"/>
              </a:solidFill>
            </a:endParaRPr>
          </a:p>
        </p:txBody>
      </p:sp>
      <p:pic>
        <p:nvPicPr>
          <p:cNvPr id="6" name="Graphic 5">
            <a:extLst>
              <a:ext uri="{FF2B5EF4-FFF2-40B4-BE49-F238E27FC236}">
                <a16:creationId xmlns:a16="http://schemas.microsoft.com/office/drawing/2014/main" id="{B893482E-18CD-C1DF-CA54-80214659CD16}"/>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6BC19E64-C402-EFF2-747D-4A38E275161F}"/>
              </a:ext>
            </a:extLst>
          </p:cNvPr>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GB" sz="2600" b="1">
                <a:solidFill>
                  <a:srgbClr val="198038"/>
                </a:solidFill>
              </a:rPr>
              <a:t>Do not edit
</a:t>
            </a:r>
            <a:r>
              <a:rPr lang="en-GB"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ZA" sz="2200">
              <a:solidFill>
                <a:srgbClr val="198038"/>
              </a:solidFill>
            </a:endParaRPr>
          </a:p>
        </p:txBody>
      </p:sp>
      <p:pic>
        <p:nvPicPr>
          <p:cNvPr id="9" name="Graphic 8">
            <a:extLst>
              <a:ext uri="{FF2B5EF4-FFF2-40B4-BE49-F238E27FC236}">
                <a16:creationId xmlns:a16="http://schemas.microsoft.com/office/drawing/2014/main" id="{890CC654-6BFB-2667-5A57-61A5A62A5042}"/>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921679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2E778B-D984-7FF3-D80E-26CA4A6B5526}"/>
              </a:ext>
            </a:extLst>
          </p:cNvPr>
          <p:cNvSpPr/>
          <p:nvPr>
            <p:custDataLst>
              <p:tags r:id="rId2"/>
            </p:custDataLst>
          </p:nvPr>
        </p:nvSpPr>
        <p:spPr>
          <a:xfrm>
            <a:off x="444693" y="1742703"/>
            <a:ext cx="2371696" cy="2371696"/>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9864B9A6-1C15-86C7-C644-B9E8440A4BD4}"/>
              </a:ext>
            </a:extLst>
          </p:cNvPr>
          <p:cNvSpPr/>
          <p:nvPr>
            <p:custDataLst>
              <p:tags r:id="rId3"/>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4000" b="1">
                <a:solidFill>
                  <a:srgbClr val="000000"/>
                </a:solidFill>
              </a:rPr>
              <a:t>Do you think ChatGPT is subject to Network Effects, and why?</a:t>
            </a:r>
            <a:endParaRPr lang="en-ZA" sz="4000" b="1">
              <a:solidFill>
                <a:srgbClr val="000000"/>
              </a:solidFill>
            </a:endParaRPr>
          </a:p>
        </p:txBody>
      </p:sp>
      <p:sp>
        <p:nvSpPr>
          <p:cNvPr id="4" name="Rectangle 3">
            <a:extLst>
              <a:ext uri="{FF2B5EF4-FFF2-40B4-BE49-F238E27FC236}">
                <a16:creationId xmlns:a16="http://schemas.microsoft.com/office/drawing/2014/main" id="{BECFE6DE-496A-E449-8A35-0E5C7D85DEFC}"/>
              </a:ext>
            </a:extLst>
          </p:cNvPr>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GB" sz="2600">
                <a:solidFill>
                  <a:srgbClr val="FFFFFF"/>
                </a:solidFill>
              </a:rPr>
              <a:t>The </a:t>
            </a:r>
            <a:r>
              <a:rPr lang="en-GB" sz="2600">
                <a:solidFill>
                  <a:srgbClr val="FFFFFF"/>
                </a:solidFill>
                <a:hlinkClick r:id="rId6">
                  <a:extLst>
                    <a:ext uri="{A12FA001-AC4F-418D-AE19-62706E023703}">
                      <ahyp:hlinkClr xmlns:ahyp="http://schemas.microsoft.com/office/drawing/2018/hyperlinkcolor" val="tx"/>
                    </a:ext>
                  </a:extLst>
                </a:hlinkClick>
              </a:rPr>
              <a:t>Slido app</a:t>
            </a:r>
            <a:r>
              <a:rPr lang="en-GB" sz="2600">
                <a:solidFill>
                  <a:srgbClr val="FFFFFF"/>
                </a:solidFill>
              </a:rPr>
              <a:t> must be installed on every computer you’re presenting from</a:t>
            </a:r>
            <a:endParaRPr lang="en-ZA" sz="2600">
              <a:solidFill>
                <a:srgbClr val="FFFFFF"/>
              </a:solidFill>
            </a:endParaRPr>
          </a:p>
        </p:txBody>
      </p:sp>
      <p:pic>
        <p:nvPicPr>
          <p:cNvPr id="6" name="Graphic 5">
            <a:extLst>
              <a:ext uri="{FF2B5EF4-FFF2-40B4-BE49-F238E27FC236}">
                <a16:creationId xmlns:a16="http://schemas.microsoft.com/office/drawing/2014/main" id="{29E9C612-ED7C-AA23-A123-A4A78358D657}"/>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C09B98DA-1234-3F7C-FF3F-40567272A8F5}"/>
              </a:ext>
            </a:extLst>
          </p:cNvPr>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GB" sz="2600" b="1">
                <a:solidFill>
                  <a:srgbClr val="198038"/>
                </a:solidFill>
              </a:rPr>
              <a:t>Do not edit
</a:t>
            </a:r>
            <a:r>
              <a:rPr lang="en-GB"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ZA" sz="2200">
              <a:solidFill>
                <a:srgbClr val="198038"/>
              </a:solidFill>
            </a:endParaRPr>
          </a:p>
        </p:txBody>
      </p:sp>
      <p:pic>
        <p:nvPicPr>
          <p:cNvPr id="9" name="Graphic 8">
            <a:extLst>
              <a:ext uri="{FF2B5EF4-FFF2-40B4-BE49-F238E27FC236}">
                <a16:creationId xmlns:a16="http://schemas.microsoft.com/office/drawing/2014/main" id="{74588285-CA81-1E43-49FB-73F92F2E5399}"/>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23365645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9.1.5104"/>
  <p:tag name="SLIDO_PRESENTATION_ID" val="00000000-0000-0000-0000-000000000000"/>
  <p:tag name="SLIDO_EVENT_UUID" val="cb2cca62-b679-4c6d-8708-4637b85871fa"/>
  <p:tag name="SLIDO_EVENT_SECTION_UUID" val="fe1ed351-bd16-4f74-a213-1a2abab7544a"/>
</p:tagLst>
</file>

<file path=ppt/tags/tag2.xml><?xml version="1.0" encoding="utf-8"?>
<p:tagLst xmlns:a="http://schemas.openxmlformats.org/drawingml/2006/main" xmlns:r="http://schemas.openxmlformats.org/officeDocument/2006/relationships" xmlns:p="http://schemas.openxmlformats.org/presentationml/2006/main">
  <p:tag name="TIMING" val="|2.1"/>
</p:tagLst>
</file>

<file path=ppt/tags/tag3.xml><?xml version="1.0" encoding="utf-8"?>
<p:tagLst xmlns:a="http://schemas.openxmlformats.org/drawingml/2006/main" xmlns:r="http://schemas.openxmlformats.org/officeDocument/2006/relationships" xmlns:p="http://schemas.openxmlformats.org/presentationml/2006/main">
  <p:tag name="TIMING" val="|1.6"/>
</p:tagLst>
</file>

<file path=ppt/tags/tag4.xml><?xml version="1.0" encoding="utf-8"?>
<p:tagLst xmlns:a="http://schemas.openxmlformats.org/drawingml/2006/main" xmlns:r="http://schemas.openxmlformats.org/officeDocument/2006/relationships" xmlns:p="http://schemas.openxmlformats.org/presentationml/2006/main">
  <p:tag name="SLIDO_METADATA" val="eyJUaW1lc3RhbXAiOjE3NzYwNzkyMTN9"/>
  <p:tag name="SLIDO_TYPE" val="SlidoPoll"/>
  <p:tag name="SLIDO_POLL_UUID" val="146136a6-038e-472b-924f-7f9b80959caf"/>
  <p:tag name="SLIDO_TIMELINE" val="W3sicG9sbFF1ZXN0aW9uVXVpZCI6IjI3MTBmMzNjLWIzMWEtNDE5NC1hZDE5LWM3ZmViNjJmNzVjMiIsInNob3dSZXN1bHRzIjp0cnVlLCJzaG93Q29ycmVjdEFuc3dlcnMiOmZhbHNlLCJ2b3RpbmdMb2NrZWQiOmZhbHNlfV0="/>
</p:tagLst>
</file>

<file path=ppt/tags/tag5.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WordCloud"/>
</p:tagLst>
</file>

<file path=ppt/tags/tag6.xml><?xml version="1.0" encoding="utf-8"?>
<p:tagLst xmlns:a="http://schemas.openxmlformats.org/drawingml/2006/main" xmlns:r="http://schemas.openxmlformats.org/officeDocument/2006/relationships" xmlns:p="http://schemas.openxmlformats.org/presentationml/2006/main">
  <p:tag name="SLIDO_ELEMENT" val="title"/>
</p:tagLst>
</file>

<file path=ppt/tags/tag7.xml><?xml version="1.0" encoding="utf-8"?>
<p:tagLst xmlns:a="http://schemas.openxmlformats.org/drawingml/2006/main" xmlns:r="http://schemas.openxmlformats.org/officeDocument/2006/relationships" xmlns:p="http://schemas.openxmlformats.org/presentationml/2006/main">
  <p:tag name="SLIDO_METADATA" val="eyJUaW1lc3RhbXAiOjE3NzYwNzkyMzl9"/>
  <p:tag name="SLIDO_TYPE" val="SlidoPoll"/>
  <p:tag name="SLIDO_POLL_UUID" val="75886c1e-4777-4c95-9181-aa469f73e9e3"/>
  <p:tag name="SLIDO_TIMELINE" val="W3sicG9sbFF1ZXN0aW9uVXVpZCI6IjIxY2JiZmNiLTM2Y2MtNDNkYi05YzJjLWQ2ZDM5ZjkxYjA0ZCIsInNob3dSZXN1bHRzIjp0cnVlLCJzaG93Q29ycmVjdEFuc3dlcnMiOmZhbHNlLCJ2b3RpbmdMb2NrZWQiOmZhbHNlfV0="/>
</p:tagLst>
</file>

<file path=ppt/tags/tag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OpenText"/>
</p:tagLst>
</file>

<file path=ppt/tags/tag9.xml><?xml version="1.0" encoding="utf-8"?>
<p:tagLst xmlns:a="http://schemas.openxmlformats.org/drawingml/2006/main" xmlns:r="http://schemas.openxmlformats.org/officeDocument/2006/relationships" xmlns:p="http://schemas.openxmlformats.org/presentationml/2006/main">
  <p:tag name="SLIDO_ELEMENT" val="title"/>
</p:tagLst>
</file>

<file path=ppt/tags/tag10.xml><?xml version="1.0" encoding="utf-8"?>
<p:tagLst xmlns:a="http://schemas.openxmlformats.org/drawingml/2006/main" xmlns:r="http://schemas.openxmlformats.org/officeDocument/2006/relationships" xmlns:p="http://schemas.openxmlformats.org/presentationml/2006/main">
  <p:tag name="SLIDO_METADATA" val="eyJUaW1lc3RhbXAiOjE3NzYwNzkxNTZ9"/>
  <p:tag name="SLIDO_TYPE" val="SlidoPoll"/>
  <p:tag name="SLIDO_POLL_UUID" val="c93e78fa-cb75-4080-990d-7b63586389ef"/>
  <p:tag name="SLIDO_TIMELINE" val="W3sicG9sbFF1ZXN0aW9uVXVpZCI6IjRkNzYzZjZkLTNjOGEtNGEwYS1hMTM5LTkwOGY1ODE0YjdiMyIsInNob3dSZXN1bHRzIjp0cnVlLCJzaG93Q29ycmVjdEFuc3dlcnMiOmZhbHNlLCJ2b3RpbmdMb2NrZWQiOmZhbHNlfV0="/>
</p:tagLst>
</file>

<file path=ppt/tags/tag11.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OpenText"/>
</p:tagLst>
</file>

<file path=ppt/tags/tag12.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677</TotalTime>
  <Words>6379</Words>
  <Application>Microsoft Office PowerPoint</Application>
  <PresentationFormat>Widescreen</PresentationFormat>
  <Paragraphs>250</Paragraphs>
  <Slides>15</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Arial Bold</vt:lpstr>
      <vt:lpstr>Calibri</vt:lpstr>
      <vt:lpstr>Calibri Light</vt:lpstr>
      <vt:lpstr>Tw Cen MT</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Fashoro, Ifeoluwapo, (Dr) (s215283317)</dc:creator>
  <cp:lastModifiedBy>Izu, Lydia, (Mrs) (s225342642)</cp:lastModifiedBy>
  <cp:revision>26</cp:revision>
  <dcterms:created xsi:type="dcterms:W3CDTF">2021-03-15T11:31:52Z</dcterms:created>
  <dcterms:modified xsi:type="dcterms:W3CDTF">2026-04-15T07:07:48Z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oAppVersion">
    <vt:lpwstr>1.9.1.5104</vt:lpwstr>
  </property>
</Properties>
</file>