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tags/tag20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2.xml" ContentType="application/vnd.openxmlformats-officedocument.presentationml.notesSlide+xml"/>
  <Override PartName="/ppt/tags/tag35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4" r:id="rId2"/>
    <p:sldMasterId id="2147483677" r:id="rId3"/>
    <p:sldMasterId id="2147483690" r:id="rId4"/>
    <p:sldMasterId id="2147483702" r:id="rId5"/>
  </p:sldMasterIdLst>
  <p:notesMasterIdLst>
    <p:notesMasterId r:id="rId66"/>
  </p:notesMasterIdLst>
  <p:handoutMasterIdLst>
    <p:handoutMasterId r:id="rId67"/>
  </p:handoutMasterIdLst>
  <p:sldIdLst>
    <p:sldId id="283" r:id="rId6"/>
    <p:sldId id="291" r:id="rId7"/>
    <p:sldId id="259" r:id="rId8"/>
    <p:sldId id="367" r:id="rId9"/>
    <p:sldId id="393" r:id="rId10"/>
    <p:sldId id="368" r:id="rId11"/>
    <p:sldId id="369" r:id="rId12"/>
    <p:sldId id="370" r:id="rId13"/>
    <p:sldId id="371" r:id="rId14"/>
    <p:sldId id="372" r:id="rId15"/>
    <p:sldId id="380" r:id="rId16"/>
    <p:sldId id="381" r:id="rId17"/>
    <p:sldId id="391" r:id="rId18"/>
    <p:sldId id="392" r:id="rId19"/>
    <p:sldId id="373" r:id="rId20"/>
    <p:sldId id="376" r:id="rId21"/>
    <p:sldId id="377" r:id="rId22"/>
    <p:sldId id="378" r:id="rId23"/>
    <p:sldId id="374" r:id="rId24"/>
    <p:sldId id="334" r:id="rId25"/>
    <p:sldId id="337" r:id="rId26"/>
    <p:sldId id="379" r:id="rId27"/>
    <p:sldId id="336" r:id="rId28"/>
    <p:sldId id="382" r:id="rId29"/>
    <p:sldId id="383" r:id="rId30"/>
    <p:sldId id="394" r:id="rId31"/>
    <p:sldId id="397" r:id="rId32"/>
    <p:sldId id="396" r:id="rId33"/>
    <p:sldId id="342" r:id="rId34"/>
    <p:sldId id="300" r:id="rId35"/>
    <p:sldId id="395" r:id="rId36"/>
    <p:sldId id="304" r:id="rId37"/>
    <p:sldId id="301" r:id="rId38"/>
    <p:sldId id="302" r:id="rId39"/>
    <p:sldId id="303" r:id="rId40"/>
    <p:sldId id="306" r:id="rId41"/>
    <p:sldId id="308" r:id="rId42"/>
    <p:sldId id="309" r:id="rId43"/>
    <p:sldId id="310" r:id="rId44"/>
    <p:sldId id="311" r:id="rId45"/>
    <p:sldId id="312" r:id="rId46"/>
    <p:sldId id="318" r:id="rId47"/>
    <p:sldId id="319" r:id="rId48"/>
    <p:sldId id="321" r:id="rId49"/>
    <p:sldId id="323" r:id="rId50"/>
    <p:sldId id="324" r:id="rId51"/>
    <p:sldId id="325" r:id="rId52"/>
    <p:sldId id="327" r:id="rId53"/>
    <p:sldId id="328" r:id="rId54"/>
    <p:sldId id="329" r:id="rId55"/>
    <p:sldId id="330" r:id="rId56"/>
    <p:sldId id="333" r:id="rId57"/>
    <p:sldId id="332" r:id="rId58"/>
    <p:sldId id="314" r:id="rId59"/>
    <p:sldId id="315" r:id="rId60"/>
    <p:sldId id="316" r:id="rId61"/>
    <p:sldId id="317" r:id="rId62"/>
    <p:sldId id="384" r:id="rId63"/>
    <p:sldId id="385" r:id="rId64"/>
    <p:sldId id="335" r:id="rId65"/>
  </p:sldIdLst>
  <p:sldSz cx="9144000" cy="6858000" type="screen4x3"/>
  <p:notesSz cx="6858000" cy="9945688"/>
  <p:custDataLst>
    <p:tags r:id="rId6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3D1"/>
    <a:srgbClr val="ADB3BF"/>
    <a:srgbClr val="D69249"/>
    <a:srgbClr val="FDF1BB"/>
    <a:srgbClr val="FDF4C9"/>
    <a:srgbClr val="A2A871"/>
    <a:srgbClr val="9DA900"/>
    <a:srgbClr val="00677B"/>
    <a:srgbClr val="94A41A"/>
    <a:srgbClr val="D63A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87" d="100"/>
          <a:sy n="87" d="100"/>
        </p:scale>
        <p:origin x="123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notesMaster" Target="notesMasters/notesMaster1.xml"/><Relationship Id="rId74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tman, Chantal (Prof) (Summerstrand Campus South)" userId="b3444f73-21d4-4d22-b260-75b64de2b6d6" providerId="ADAL" clId="{C90E6225-D103-4521-B2C0-E7F701E5189E}"/>
    <pc:docChg chg="custSel modSld">
      <pc:chgData name="Rootman, Chantal (Prof) (Summerstrand Campus South)" userId="b3444f73-21d4-4d22-b260-75b64de2b6d6" providerId="ADAL" clId="{C90E6225-D103-4521-B2C0-E7F701E5189E}" dt="2026-02-19T09:07:32.072" v="209" actId="5793"/>
      <pc:docMkLst>
        <pc:docMk/>
      </pc:docMkLst>
      <pc:sldChg chg="delSp mod">
        <pc:chgData name="Rootman, Chantal (Prof) (Summerstrand Campus South)" userId="b3444f73-21d4-4d22-b260-75b64de2b6d6" providerId="ADAL" clId="{C90E6225-D103-4521-B2C0-E7F701E5189E}" dt="2026-02-19T09:04:36.278" v="0" actId="478"/>
        <pc:sldMkLst>
          <pc:docMk/>
          <pc:sldMk cId="1067134094" sldId="283"/>
        </pc:sldMkLst>
        <pc:picChg chg="del">
          <ac:chgData name="Rootman, Chantal (Prof) (Summerstrand Campus South)" userId="b3444f73-21d4-4d22-b260-75b64de2b6d6" providerId="ADAL" clId="{C90E6225-D103-4521-B2C0-E7F701E5189E}" dt="2026-02-19T09:04:36.278" v="0" actId="478"/>
          <ac:picMkLst>
            <pc:docMk/>
            <pc:sldMk cId="1067134094" sldId="283"/>
            <ac:picMk id="4" creationId="{1022AE71-D7C8-51D0-8077-1B394481F51D}"/>
          </ac:picMkLst>
        </pc:picChg>
      </pc:sldChg>
      <pc:sldChg chg="modSp">
        <pc:chgData name="Rootman, Chantal (Prof) (Summerstrand Campus South)" userId="b3444f73-21d4-4d22-b260-75b64de2b6d6" providerId="ADAL" clId="{C90E6225-D103-4521-B2C0-E7F701E5189E}" dt="2026-02-19T09:07:24.807" v="191" actId="20577"/>
        <pc:sldMkLst>
          <pc:docMk/>
          <pc:sldMk cId="3255581467" sldId="315"/>
        </pc:sldMkLst>
        <pc:spChg chg="mod">
          <ac:chgData name="Rootman, Chantal (Prof) (Summerstrand Campus South)" userId="b3444f73-21d4-4d22-b260-75b64de2b6d6" providerId="ADAL" clId="{C90E6225-D103-4521-B2C0-E7F701E5189E}" dt="2026-02-19T09:07:24.807" v="191" actId="20577"/>
          <ac:spMkLst>
            <pc:docMk/>
            <pc:sldMk cId="3255581467" sldId="315"/>
            <ac:spMk id="137219" creationId="{00000000-0000-0000-0000-000000000000}"/>
          </ac:spMkLst>
        </pc:spChg>
      </pc:sldChg>
      <pc:sldChg chg="modSp">
        <pc:chgData name="Rootman, Chantal (Prof) (Summerstrand Campus South)" userId="b3444f73-21d4-4d22-b260-75b64de2b6d6" providerId="ADAL" clId="{C90E6225-D103-4521-B2C0-E7F701E5189E}" dt="2026-02-19T09:07:32.072" v="209" actId="5793"/>
        <pc:sldMkLst>
          <pc:docMk/>
          <pc:sldMk cId="2002384932" sldId="317"/>
        </pc:sldMkLst>
        <pc:spChg chg="mod">
          <ac:chgData name="Rootman, Chantal (Prof) (Summerstrand Campus South)" userId="b3444f73-21d4-4d22-b260-75b64de2b6d6" providerId="ADAL" clId="{C90E6225-D103-4521-B2C0-E7F701E5189E}" dt="2026-02-19T09:07:32.072" v="209" actId="5793"/>
          <ac:spMkLst>
            <pc:docMk/>
            <pc:sldMk cId="2002384932" sldId="317"/>
            <ac:spMk id="139267" creationId="{00000000-0000-0000-0000-000000000000}"/>
          </ac:spMkLst>
        </pc:spChg>
      </pc:sldChg>
      <pc:sldChg chg="modSp">
        <pc:chgData name="Rootman, Chantal (Prof) (Summerstrand Campus South)" userId="b3444f73-21d4-4d22-b260-75b64de2b6d6" providerId="ADAL" clId="{C90E6225-D103-4521-B2C0-E7F701E5189E}" dt="2026-02-19T09:07:03.863" v="178" actId="5793"/>
        <pc:sldMkLst>
          <pc:docMk/>
          <pc:sldMk cId="514727364" sldId="325"/>
        </pc:sldMkLst>
        <pc:spChg chg="mod">
          <ac:chgData name="Rootman, Chantal (Prof) (Summerstrand Campus South)" userId="b3444f73-21d4-4d22-b260-75b64de2b6d6" providerId="ADAL" clId="{C90E6225-D103-4521-B2C0-E7F701E5189E}" dt="2026-02-19T09:07:03.863" v="178" actId="5793"/>
          <ac:spMkLst>
            <pc:docMk/>
            <pc:sldMk cId="514727364" sldId="325"/>
            <ac:spMk id="108547" creationId="{00000000-0000-0000-0000-000000000000}"/>
          </ac:spMkLst>
        </pc:spChg>
      </pc:sldChg>
      <pc:sldChg chg="modSp">
        <pc:chgData name="Rootman, Chantal (Prof) (Summerstrand Campus South)" userId="b3444f73-21d4-4d22-b260-75b64de2b6d6" providerId="ADAL" clId="{C90E6225-D103-4521-B2C0-E7F701E5189E}" dt="2026-02-19T09:05:46.151" v="67" actId="20577"/>
        <pc:sldMkLst>
          <pc:docMk/>
          <pc:sldMk cId="3901576897" sldId="334"/>
        </pc:sldMkLst>
        <pc:spChg chg="mod">
          <ac:chgData name="Rootman, Chantal (Prof) (Summerstrand Campus South)" userId="b3444f73-21d4-4d22-b260-75b64de2b6d6" providerId="ADAL" clId="{C90E6225-D103-4521-B2C0-E7F701E5189E}" dt="2026-02-19T09:05:46.151" v="67" actId="20577"/>
          <ac:spMkLst>
            <pc:docMk/>
            <pc:sldMk cId="3901576897" sldId="334"/>
            <ac:spMk id="5" creationId="{00000000-0000-0000-0000-000000000000}"/>
          </ac:spMkLst>
        </pc:spChg>
      </pc:sldChg>
      <pc:sldChg chg="delSp mod">
        <pc:chgData name="Rootman, Chantal (Prof) (Summerstrand Campus South)" userId="b3444f73-21d4-4d22-b260-75b64de2b6d6" providerId="ADAL" clId="{C90E6225-D103-4521-B2C0-E7F701E5189E}" dt="2026-02-19T09:06:41.261" v="162" actId="478"/>
        <pc:sldMkLst>
          <pc:docMk/>
          <pc:sldMk cId="1240617662" sldId="342"/>
        </pc:sldMkLst>
        <pc:picChg chg="del">
          <ac:chgData name="Rootman, Chantal (Prof) (Summerstrand Campus South)" userId="b3444f73-21d4-4d22-b260-75b64de2b6d6" providerId="ADAL" clId="{C90E6225-D103-4521-B2C0-E7F701E5189E}" dt="2026-02-19T09:06:41.261" v="162" actId="478"/>
          <ac:picMkLst>
            <pc:docMk/>
            <pc:sldMk cId="1240617662" sldId="342"/>
            <ac:picMk id="3" creationId="{1E1C9C19-89DC-01DA-DC9D-D0F758300ACF}"/>
          </ac:picMkLst>
        </pc:picChg>
        <pc:picChg chg="del">
          <ac:chgData name="Rootman, Chantal (Prof) (Summerstrand Campus South)" userId="b3444f73-21d4-4d22-b260-75b64de2b6d6" providerId="ADAL" clId="{C90E6225-D103-4521-B2C0-E7F701E5189E}" dt="2026-02-19T09:06:40.626" v="161" actId="478"/>
          <ac:picMkLst>
            <pc:docMk/>
            <pc:sldMk cId="1240617662" sldId="342"/>
            <ac:picMk id="9" creationId="{6C005ACB-4C60-8CCA-18EA-DE8CFE76F570}"/>
          </ac:picMkLst>
        </pc:picChg>
        <pc:picChg chg="del">
          <ac:chgData name="Rootman, Chantal (Prof) (Summerstrand Campus South)" userId="b3444f73-21d4-4d22-b260-75b64de2b6d6" providerId="ADAL" clId="{C90E6225-D103-4521-B2C0-E7F701E5189E}" dt="2026-02-19T09:06:39.866" v="160" actId="478"/>
          <ac:picMkLst>
            <pc:docMk/>
            <pc:sldMk cId="1240617662" sldId="342"/>
            <ac:picMk id="11" creationId="{1E14EC88-E258-F157-79B4-94D164F58A47}"/>
          </ac:picMkLst>
        </pc:picChg>
      </pc:sldChg>
      <pc:sldChg chg="modSp modAnim">
        <pc:chgData name="Rootman, Chantal (Prof) (Summerstrand Campus South)" userId="b3444f73-21d4-4d22-b260-75b64de2b6d6" providerId="ADAL" clId="{C90E6225-D103-4521-B2C0-E7F701E5189E}" dt="2026-02-19T09:05:31.862" v="42" actId="20577"/>
        <pc:sldMkLst>
          <pc:docMk/>
          <pc:sldMk cId="634629956" sldId="374"/>
        </pc:sldMkLst>
        <pc:spChg chg="mod">
          <ac:chgData name="Rootman, Chantal (Prof) (Summerstrand Campus South)" userId="b3444f73-21d4-4d22-b260-75b64de2b6d6" providerId="ADAL" clId="{C90E6225-D103-4521-B2C0-E7F701E5189E}" dt="2026-02-19T09:05:31.862" v="42" actId="20577"/>
          <ac:spMkLst>
            <pc:docMk/>
            <pc:sldMk cId="634629956" sldId="374"/>
            <ac:spMk id="9221" creationId="{00000000-0000-0000-0000-000000000000}"/>
          </ac:spMkLst>
        </pc:spChg>
      </pc:sldChg>
      <pc:sldChg chg="modSp mod">
        <pc:chgData name="Rootman, Chantal (Prof) (Summerstrand Campus South)" userId="b3444f73-21d4-4d22-b260-75b64de2b6d6" providerId="ADAL" clId="{C90E6225-D103-4521-B2C0-E7F701E5189E}" dt="2026-02-19T09:04:49.772" v="12" actId="20577"/>
        <pc:sldMkLst>
          <pc:docMk/>
          <pc:sldMk cId="2234476769" sldId="393"/>
        </pc:sldMkLst>
        <pc:spChg chg="mod">
          <ac:chgData name="Rootman, Chantal (Prof) (Summerstrand Campus South)" userId="b3444f73-21d4-4d22-b260-75b64de2b6d6" providerId="ADAL" clId="{C90E6225-D103-4521-B2C0-E7F701E5189E}" dt="2026-02-19T09:04:49.772" v="12" actId="20577"/>
          <ac:spMkLst>
            <pc:docMk/>
            <pc:sldMk cId="2234476769" sldId="393"/>
            <ac:spMk id="9221" creationId="{00000000-0000-0000-0000-000000000000}"/>
          </ac:spMkLst>
        </pc:spChg>
      </pc:sldChg>
      <pc:sldChg chg="delSp modSp mod">
        <pc:chgData name="Rootman, Chantal (Prof) (Summerstrand Campus South)" userId="b3444f73-21d4-4d22-b260-75b64de2b6d6" providerId="ADAL" clId="{C90E6225-D103-4521-B2C0-E7F701E5189E}" dt="2026-02-19T09:06:08.467" v="103" actId="478"/>
        <pc:sldMkLst>
          <pc:docMk/>
          <pc:sldMk cId="2015409606" sldId="394"/>
        </pc:sldMkLst>
        <pc:spChg chg="mod">
          <ac:chgData name="Rootman, Chantal (Prof) (Summerstrand Campus South)" userId="b3444f73-21d4-4d22-b260-75b64de2b6d6" providerId="ADAL" clId="{C90E6225-D103-4521-B2C0-E7F701E5189E}" dt="2026-02-19T09:06:06.693" v="102" actId="20577"/>
          <ac:spMkLst>
            <pc:docMk/>
            <pc:sldMk cId="2015409606" sldId="394"/>
            <ac:spMk id="6" creationId="{00000000-0000-0000-0000-000000000000}"/>
          </ac:spMkLst>
        </pc:spChg>
        <pc:picChg chg="del">
          <ac:chgData name="Rootman, Chantal (Prof) (Summerstrand Campus South)" userId="b3444f73-21d4-4d22-b260-75b64de2b6d6" providerId="ADAL" clId="{C90E6225-D103-4521-B2C0-E7F701E5189E}" dt="2026-02-19T09:06:08.467" v="103" actId="478"/>
          <ac:picMkLst>
            <pc:docMk/>
            <pc:sldMk cId="2015409606" sldId="394"/>
            <ac:picMk id="3" creationId="{2F9612EF-64F8-0DE9-5F10-267FE63EC3E6}"/>
          </ac:picMkLst>
        </pc:picChg>
      </pc:sldChg>
      <pc:sldChg chg="delSp modSp mod">
        <pc:chgData name="Rootman, Chantal (Prof) (Summerstrand Campus South)" userId="b3444f73-21d4-4d22-b260-75b64de2b6d6" providerId="ADAL" clId="{C90E6225-D103-4521-B2C0-E7F701E5189E}" dt="2026-02-19T09:06:36.058" v="159" actId="20577"/>
        <pc:sldMkLst>
          <pc:docMk/>
          <pc:sldMk cId="388161078" sldId="396"/>
        </pc:sldMkLst>
        <pc:spChg chg="mod">
          <ac:chgData name="Rootman, Chantal (Prof) (Summerstrand Campus South)" userId="b3444f73-21d4-4d22-b260-75b64de2b6d6" providerId="ADAL" clId="{C90E6225-D103-4521-B2C0-E7F701E5189E}" dt="2026-02-19T09:06:36.058" v="159" actId="20577"/>
          <ac:spMkLst>
            <pc:docMk/>
            <pc:sldMk cId="388161078" sldId="396"/>
            <ac:spMk id="6" creationId="{AE53CA16-4225-996E-9AD3-BC99965760E9}"/>
          </ac:spMkLst>
        </pc:spChg>
        <pc:picChg chg="del">
          <ac:chgData name="Rootman, Chantal (Prof) (Summerstrand Campus South)" userId="b3444f73-21d4-4d22-b260-75b64de2b6d6" providerId="ADAL" clId="{C90E6225-D103-4521-B2C0-E7F701E5189E}" dt="2026-02-19T09:06:28.332" v="144" actId="478"/>
          <ac:picMkLst>
            <pc:docMk/>
            <pc:sldMk cId="388161078" sldId="396"/>
            <ac:picMk id="3" creationId="{92A20F83-46F5-E7BB-9A58-7B6157CEC5EF}"/>
          </ac:picMkLst>
        </pc:picChg>
      </pc:sldChg>
      <pc:sldChg chg="delSp modSp mod">
        <pc:chgData name="Rootman, Chantal (Prof) (Summerstrand Campus South)" userId="b3444f73-21d4-4d22-b260-75b64de2b6d6" providerId="ADAL" clId="{C90E6225-D103-4521-B2C0-E7F701E5189E}" dt="2026-02-19T09:06:25.127" v="143" actId="20577"/>
        <pc:sldMkLst>
          <pc:docMk/>
          <pc:sldMk cId="814943489" sldId="397"/>
        </pc:sldMkLst>
        <pc:spChg chg="mod">
          <ac:chgData name="Rootman, Chantal (Prof) (Summerstrand Campus South)" userId="b3444f73-21d4-4d22-b260-75b64de2b6d6" providerId="ADAL" clId="{C90E6225-D103-4521-B2C0-E7F701E5189E}" dt="2026-02-19T09:06:25.127" v="143" actId="20577"/>
          <ac:spMkLst>
            <pc:docMk/>
            <pc:sldMk cId="814943489" sldId="397"/>
            <ac:spMk id="6" creationId="{34D2A1C8-FB9A-9DEE-3DE7-5B167CB8546A}"/>
          </ac:spMkLst>
        </pc:spChg>
        <pc:picChg chg="del">
          <ac:chgData name="Rootman, Chantal (Prof) (Summerstrand Campus South)" userId="b3444f73-21d4-4d22-b260-75b64de2b6d6" providerId="ADAL" clId="{C90E6225-D103-4521-B2C0-E7F701E5189E}" dt="2026-02-19T09:06:11.456" v="104" actId="478"/>
          <ac:picMkLst>
            <pc:docMk/>
            <pc:sldMk cId="814943489" sldId="397"/>
            <ac:picMk id="3" creationId="{28E4D7DE-AC0A-80D8-E5A1-A0B5CE637D16}"/>
          </ac:picMkLst>
        </pc:picChg>
        <pc:picChg chg="del">
          <ac:chgData name="Rootman, Chantal (Prof) (Summerstrand Campus South)" userId="b3444f73-21d4-4d22-b260-75b64de2b6d6" providerId="ADAL" clId="{C90E6225-D103-4521-B2C0-E7F701E5189E}" dt="2026-02-19T09:06:18.634" v="109" actId="478"/>
          <ac:picMkLst>
            <pc:docMk/>
            <pc:sldMk cId="814943489" sldId="397"/>
            <ac:picMk id="4" creationId="{BE476AFA-FBBF-AF6C-CEE3-DD4C79D0F9A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1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485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04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69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10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41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602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815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40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35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630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63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9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24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93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1851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974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C3402-49CA-F947-B8F7-DDD5026A41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63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C3402-49CA-F947-B8F7-DDD5026A41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29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C3402-49CA-F947-B8F7-DDD5026A41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17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C3402-49CA-F947-B8F7-DDD5026A41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372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9600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889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845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0DC0-46A1-DA77-9376-F824483C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8C37299D-6689-CDD3-4FDD-0D5872EA3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5F6ECA6F-CBCA-54F5-443C-E3A664DB8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0A5E5C5-ABEF-1B4E-9453-B52EACA3F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6BAE3EE3-35E2-E9F4-2CAB-B100F25AC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84A32F24-1C87-7542-5AF4-77F5B42B3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FD9B95A5-8E66-884B-0802-8C9B423D145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50BABCAE-20F9-F572-FFD1-6CF4620DB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758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D9BF7-FD10-FD49-81CB-865BBBBDD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F0888F3A-AE23-1688-4A42-52398B1795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C5FC47E6-ADAA-C7F0-ECAF-98EC882B1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C580642F-710D-42AF-1370-54A998F88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4820827B-6B42-398A-ABC8-83D63E9DD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1692E607-3917-1E90-74B6-715CD0B5F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81B73085-248C-C4B0-6F0D-BBB25A000C3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786559C2-F6C2-D0AF-963B-7F3A66123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16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718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702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688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69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02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191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855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646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246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374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391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352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547C-184B-8A42-A14C-D30AAAB69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140" tIns="0" rIns="19140" bIns="0" anchor="b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rPr>
              <a:t>5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870" tIns="45935" rIns="91870" bIns="45935" anchor="ctr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3974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912" tIns="44659" rIns="90912" bIns="44659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89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788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7998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60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80F4C-D20F-4E42-B892-F50B03592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53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F1490-F315-E146-BF40-8863287273B9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8B48C-AF25-9349-ADFB-BD16EC0885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852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BBECB-0074-FC49-9A48-26640A89A3ED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B778E-DC55-6144-B0FD-F5749176D7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734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6C88B-6580-E14A-B992-CE9915710923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DA76C-2B4B-6545-A920-3D8F125715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19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A8116-1F18-1E42-91BA-2CBF8DE2A17E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89F4A-1641-3243-B0F2-B62025ED1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986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70A47-6485-A144-9590-E8D90DC6D983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54625-CEE0-144D-A62C-0850D4B07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704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D436C-A1D4-6740-99C6-BAF1A1FDB226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88647-DB58-7949-A3C3-D22AAACDF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3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AE36E-17CF-8E4C-AAD1-F144DA40D7B0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CA742-6BD8-D644-9A08-4E2349E93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134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98664-083E-3545-8427-DCB4D14C53D8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A657B-BED3-B74F-8FAA-DCAE9C1772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165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041C0-7E57-1749-A0B9-445380D9442E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CACE6-98F4-6B42-A1BE-2672BD8DE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065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C8AB2-8660-2E47-8715-945FD1C3E0A4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D1517-D7A9-FF4E-9494-5F159047D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0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540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810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80F4C-D20F-4E42-B892-F50B03592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682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F1490-F315-E146-BF40-8863287273B9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388B48C-AF25-9349-ADFB-BD16EC0885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020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BBECB-0074-FC49-9A48-26640A89A3ED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B778E-DC55-6144-B0FD-F5749176D7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958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6C88B-6580-E14A-B992-CE9915710923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DA76C-2B4B-6545-A920-3D8F125715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72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A8116-1F18-1E42-91BA-2CBF8DE2A17E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89F4A-1641-3243-B0F2-B62025ED1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099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70A47-6485-A144-9590-E8D90DC6D983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DC54625-CEE0-144D-A62C-0850D4B07F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649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D436C-A1D4-6740-99C6-BAF1A1FDB226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88647-DB58-7949-A3C3-D22AAACDF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539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AE36E-17CF-8E4C-AAD1-F144DA40D7B0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CA742-6BD8-D644-9A08-4E2349E93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75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98664-083E-3545-8427-DCB4D14C53D8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A657B-BED3-B74F-8FAA-DCAE9C1772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235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041C0-7E57-1749-A0B9-445380D9442E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CACE6-98F4-6B42-A1BE-2672BD8DE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86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C8AB2-8660-2E47-8715-945FD1C3E0A4}" type="datetime1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D1517-D7A9-FF4E-9494-5F159047D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750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32C4F-9DC7-4961-9A9C-71FA6100DAB7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1798D-A2BB-46E4-9D5A-20D169319A91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2179620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09613-04AD-49B2-ABF8-1514F1990449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1D4CB-299B-40B9-A9BD-738E469F7432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1853133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ABC92-E93C-4694-BFFA-FF9413643AB7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AF33D-6AD3-45E5-A814-AC4599ECB39A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7636721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6A328-42D1-4690-8F3D-327F79CF0F75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E902B-469D-45A4-903E-A1849CB507C8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7988467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A4F85-DED1-4C59-B8A0-C9007B561F0A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ED07B-CEC5-4ED7-A0AA-FCED1EBE0ADA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6074519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1ADD3-DEF4-4DB6-B6CC-D9D11AC09CDB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917E3-6FF5-40FB-B67E-C7BC1CB8E955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6228361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38765-B23F-40DE-BE6F-47C6981A5885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7ED1-09A3-466B-A3CE-1433E5F9FF91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3625809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26EC5-86C2-464C-B2C1-DCC45E046F87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3DE2B-80C5-4783-82BB-46D6E8A2E061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7140962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94D1D-7CDA-464A-8E43-30D361EE75E6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BEC7E-6B27-4F8D-A22C-AA589EE3B07C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3103208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96C16-D44D-44D2-9EC7-E6FDA6E30141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5B148-6B13-4FAD-8575-89518D151F77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4773636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FBA2D4-F97B-408F-BE70-1653581E0414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A1BD6-9569-4A4D-B5F8-DF7F96B4EE56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5375403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9243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9243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338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120CADE-E3FB-F44E-95E7-FBAA398224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FIN Blue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120CADE-E3FB-F44E-95E7-FBAA39822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0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ZA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ZA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A47EEA8-93B7-49E0-9628-015183565C1B}" type="datetime1">
              <a:rPr lang="en-US"/>
              <a:pPr>
                <a:defRPr/>
              </a:pPr>
              <a:t>2/19/2026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5955F52-5A77-4A20-BC0B-504D37E35C1E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5660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9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rief.co.za/2025/12/09/spar-r5-billion-loss-what-really-happened-in-2025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2.xml"/><Relationship Id="rId4" Type="http://schemas.openxmlformats.org/officeDocument/2006/relationships/image" Target="../media/image18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3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3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3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3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176456" y="2209800"/>
            <a:ext cx="3414056" cy="2305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Valuation of shares and debentures </a:t>
            </a:r>
            <a:r>
              <a:rPr lang="en-ZA" sz="24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(sequence swopped inside </a:t>
            </a:r>
            <a:r>
              <a:rPr lang="en-ZA" sz="2400" b="1" dirty="0" err="1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ZA" sz="24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8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Rootman, </a:t>
            </a:r>
          </a:p>
          <a:p>
            <a:pPr lvl="0" algn="ctr" defTabSz="912813" eaLnBrk="1" hangingPunct="1"/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Dr S Watson, Ms E Kobese </a:t>
            </a:r>
          </a:p>
          <a:p>
            <a:pPr lvl="0" algn="ctr" defTabSz="912813" eaLnBrk="1" hangingPunct="1"/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&amp; Ms N Maliwa</a:t>
            </a: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69"/>
    </mc:Choice>
    <mc:Fallback xmlns="">
      <p:transition spd="slow" advTm="762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8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600" dirty="0">
                <a:effectLst/>
                <a:ea typeface="Times New Roman" panose="02020603050405020304" pitchFamily="18" charset="0"/>
              </a:rPr>
              <a:t>distinguish between different types of value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600" dirty="0">
                <a:effectLst/>
                <a:ea typeface="Times New Roman" panose="02020603050405020304" pitchFamily="18" charset="0"/>
              </a:rPr>
              <a:t>determine value based on the discounted cash flow (DCF) technique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600" dirty="0">
                <a:effectLst/>
                <a:ea typeface="Times New Roman" panose="02020603050405020304" pitchFamily="18" charset="0"/>
              </a:rPr>
              <a:t>determine the value of debentures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600" dirty="0">
                <a:effectLst/>
                <a:ea typeface="Times New Roman" panose="02020603050405020304" pitchFamily="18" charset="0"/>
              </a:rPr>
              <a:t>determine the yield to maturity (YTM)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600" dirty="0">
                <a:effectLst/>
                <a:ea typeface="Times New Roman" panose="02020603050405020304" pitchFamily="18" charset="0"/>
              </a:rPr>
              <a:t>determine the value of ordinary share</a:t>
            </a:r>
            <a:r>
              <a:rPr lang="en-ZA" sz="2600" dirty="0">
                <a:ea typeface="Times New Roman" panose="02020603050405020304" pitchFamily="18" charset="0"/>
              </a:rPr>
              <a:t>s.</a:t>
            </a:r>
            <a:endParaRPr lang="en-US" sz="26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23"/>
    </mc:Choice>
    <mc:Fallback xmlns="">
      <p:transition spd="slow" advTm="735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807824" cy="57150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Valuation is based on 2 fundamental principles of financial management: TVM and risk-return (do you remember Ch 1…?)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Think back to Ch 1. Current value of a house you consider buying? On what does it depend?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TVM features in valuation; Basic valuation model calculates the sum of the PVs of all net cash inflows expected for the duration (life) of the investment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The discount rate used is determined by the risk and re</a:t>
            </a:r>
            <a:r>
              <a:rPr lang="en-US" dirty="0"/>
              <a:t>turn associated with the asset/investment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Magnitude of CF    , accelerates CF, riskiness …result in    value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BBEFF03D-EE38-E482-D1AB-D167E86D6B8A}"/>
              </a:ext>
            </a:extLst>
          </p:cNvPr>
          <p:cNvSpPr/>
          <p:nvPr/>
        </p:nvSpPr>
        <p:spPr bwMode="auto">
          <a:xfrm>
            <a:off x="2286000" y="6272705"/>
            <a:ext cx="304800" cy="381000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291D21F-D409-4957-7F75-EFDF11E54D13}"/>
              </a:ext>
            </a:extLst>
          </p:cNvPr>
          <p:cNvSpPr/>
          <p:nvPr/>
        </p:nvSpPr>
        <p:spPr bwMode="auto">
          <a:xfrm>
            <a:off x="7848600" y="5829300"/>
            <a:ext cx="304800" cy="3810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6C43A-063D-02DC-A1D3-02744EA38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5821663"/>
            <a:ext cx="341406" cy="396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7133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723900"/>
            <a:ext cx="8915400" cy="5981700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Par value (FV): value asset is issued at in primary market</a:t>
            </a:r>
          </a:p>
          <a:p>
            <a:pPr lvl="1" algn="just">
              <a:lnSpc>
                <a:spcPct val="105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NB for accounting; </a:t>
            </a:r>
            <a:r>
              <a:rPr lang="en-US" dirty="0" err="1"/>
              <a:t>st</a:t>
            </a:r>
            <a:r>
              <a:rPr lang="en-US" dirty="0"/>
              <a:t> of fin pos shows shareholders’ interest @ par value</a:t>
            </a:r>
          </a:p>
          <a:p>
            <a:pPr>
              <a:lnSpc>
                <a:spcPct val="105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Market value (PV): value asset assumes once it trades in market; determined by demand and supply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Market value added: amount firm’s shares      in market value over a period 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Market </a:t>
            </a:r>
            <a:r>
              <a:rPr lang="en-US" dirty="0" err="1"/>
              <a:t>capitalisation</a:t>
            </a:r>
            <a:r>
              <a:rPr lang="en-US" dirty="0"/>
              <a:t>: # shares issued x MV per </a:t>
            </a:r>
            <a:r>
              <a:rPr lang="en-US" dirty="0" err="1"/>
              <a:t>sh</a:t>
            </a:r>
            <a:endParaRPr lang="en-US" dirty="0"/>
          </a:p>
          <a:p>
            <a:pPr>
              <a:lnSpc>
                <a:spcPct val="105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Reminder: book value is value of e.g. NC assets in </a:t>
            </a:r>
            <a:r>
              <a:rPr lang="en-US" dirty="0" err="1"/>
              <a:t>st</a:t>
            </a:r>
            <a:r>
              <a:rPr lang="en-US" dirty="0"/>
              <a:t> of fin pos </a:t>
            </a:r>
          </a:p>
          <a:p>
            <a:pPr>
              <a:lnSpc>
                <a:spcPct val="105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Remainder of </a:t>
            </a:r>
            <a:r>
              <a:rPr lang="en-US" dirty="0" err="1">
                <a:solidFill>
                  <a:srgbClr val="FF0000"/>
                </a:solidFill>
              </a:rPr>
              <a:t>ch</a:t>
            </a:r>
            <a:r>
              <a:rPr lang="en-US" dirty="0">
                <a:solidFill>
                  <a:srgbClr val="FF0000"/>
                </a:solidFill>
              </a:rPr>
              <a:t> and focus of FM: economic value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NB: CFs, timing, discount rate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1CAD0-9E3E-D3A3-97D9-6B827156F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894" y="3432861"/>
            <a:ext cx="341406" cy="3962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4D42AB-28A9-C6D4-77CE-61A2D4C1D265}"/>
              </a:ext>
            </a:extLst>
          </p:cNvPr>
          <p:cNvSpPr/>
          <p:nvPr/>
        </p:nvSpPr>
        <p:spPr bwMode="auto">
          <a:xfrm>
            <a:off x="6629400" y="6106510"/>
            <a:ext cx="1905000" cy="713390"/>
          </a:xfrm>
          <a:prstGeom prst="rect">
            <a:avLst/>
          </a:prstGeom>
          <a:solidFill>
            <a:srgbClr val="E3F3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ＭＳ Ｐゴシック" pitchFamily="1" charset="-128"/>
              </a:rPr>
              <a:t>Disc rate links with risk…</a:t>
            </a:r>
            <a:endParaRPr kumimoji="0" lang="en-ZA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114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99616"/>
            <a:ext cx="8763000" cy="7133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Bonds examples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913006"/>
            <a:ext cx="8915400" cy="579259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/>
              <a:t>Source: https://www.thefreelibrary.com/Pepkor+Holdings+Limited+Places+R1.25+Billion+in+South+African+Bond...-a0833193931 (info as per IAR 2025)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4476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Basic valuation model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807824" cy="57150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Put in different ways…make sure you understand this critical point (Do remember our end Ch 1 discussions…?)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Value = sum of PVs or discounted future CFs of expected div and/or     in market value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Value = PV of all future CFs expected over relevant period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Value = CFs or returns expected to be generated for owner during the period of ownership</a:t>
            </a:r>
          </a:p>
          <a:p>
            <a:pPr marL="457200" lvl="1" indent="0" algn="ctr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457200" lvl="1" indent="0" algn="ctr">
              <a:lnSpc>
                <a:spcPct val="105000"/>
              </a:lnSpc>
              <a:buSzPct val="100000"/>
              <a:buNone/>
            </a:pPr>
            <a:r>
              <a:rPr lang="en-US" i="1" dirty="0"/>
              <a:t>Can you “see” the equation in your mind…?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6C43A-063D-02DC-A1D3-02744EA38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482" y="2895600"/>
            <a:ext cx="341406" cy="3962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952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Basic valuation model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807824" cy="57150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Because of TVM and risk: preferable to have CFs earlier than later; therefore, timing along with estimates of CF necessary for valuation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Discount rate should reflect the risk-return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Lower risk; higher value of asset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Higher risk; higher discount rate to use in calculating PV (to account for higher risk/will expect higher return)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247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Basic valuation model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807824" cy="57150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So, as mentioned…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Discount expected CFs back to PVs using appropriate discount rate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">
                <a:extLst>
                  <a:ext uri="{FF2B5EF4-FFF2-40B4-BE49-F238E27FC236}">
                    <a16:creationId xmlns:a16="http://schemas.microsoft.com/office/drawing/2014/main" id="{4D11E486-CDB7-DA34-AF70-05629F92A8B7}"/>
                  </a:ext>
                </a:extLst>
              </p:cNvPr>
              <p:cNvSpPr txBox="1"/>
              <p:nvPr/>
            </p:nvSpPr>
            <p:spPr bwMode="auto">
              <a:xfrm>
                <a:off x="3460308" y="4396734"/>
                <a:ext cx="3738328" cy="1845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" name="Object 10">
                <a:extLst>
                  <a:ext uri="{FF2B5EF4-FFF2-40B4-BE49-F238E27FC236}">
                    <a16:creationId xmlns:a16="http://schemas.microsoft.com/office/drawing/2014/main" id="{4D11E486-CDB7-DA34-AF70-05629F92A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0308" y="4396734"/>
                <a:ext cx="3738328" cy="18454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A8738F55-18D5-2423-262A-94580D2B83F0}"/>
                  </a:ext>
                </a:extLst>
              </p:cNvPr>
              <p:cNvSpPr txBox="1"/>
              <p:nvPr/>
            </p:nvSpPr>
            <p:spPr bwMode="auto">
              <a:xfrm>
                <a:off x="566972" y="2971842"/>
                <a:ext cx="7967428" cy="11900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ZA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ZA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ZA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ZA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= </m:t>
                    </m:r>
                  </m:oMath>
                </a14:m>
                <a:r>
                  <a:rPr lang="en-ZA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Z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1 + 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ZA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Z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1 + 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ZA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Z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1 + 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ZA" dirty="0"/>
                  <a:t> + …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ZA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1 + 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ZA" dirty="0">
                    <a:solidFill>
                      <a:prstClr val="black"/>
                    </a:solidFill>
                  </a:rPr>
                  <a:t> </a:t>
                </a:r>
                <a:endParaRPr lang="en-ZA" dirty="0"/>
              </a:p>
            </p:txBody>
          </p:sp>
        </mc:Choice>
        <mc:Fallback xmlns="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A8738F55-18D5-2423-262A-94580D2B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972" y="2971842"/>
                <a:ext cx="7967428" cy="1190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8668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80785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Basic valuation model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818360"/>
            <a:ext cx="8807824" cy="588724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An asset is expected to generate CFs of R150, R0, R180 and R300 at the end of years 1, 2, 3 and 4 respectively. The opportunity cost and risk premium of investing in the asset is 14%. What is the value of the asset today (current value)?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3BC1D8-E172-E7A2-2B3E-8B9172B67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63106"/>
              </p:ext>
            </p:extLst>
          </p:nvPr>
        </p:nvGraphicFramePr>
        <p:xfrm>
          <a:off x="312120" y="3104360"/>
          <a:ext cx="67055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863">
                  <a:extLst>
                    <a:ext uri="{9D8B030D-6E8A-4147-A177-3AD203B41FA5}">
                      <a16:colId xmlns:a16="http://schemas.microsoft.com/office/drawing/2014/main" val="91522198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229313368"/>
                    </a:ext>
                  </a:extLst>
                </a:gridCol>
                <a:gridCol w="4040616">
                  <a:extLst>
                    <a:ext uri="{9D8B030D-6E8A-4147-A177-3AD203B41FA5}">
                      <a16:colId xmlns:a16="http://schemas.microsoft.com/office/drawing/2014/main" val="2230690659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Key in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Press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Display</a:t>
                      </a:r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3037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ENT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57008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150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ENT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89562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10812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180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ENT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60886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300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ENT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2nd F                ENT</a:t>
                      </a:r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87347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ENT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Down arrow       COMP</a:t>
                      </a:r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2827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NPV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R430.70</a:t>
                      </a:r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805805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09FF7A58-5FD7-8BF9-479C-4960420258D9}"/>
              </a:ext>
            </a:extLst>
          </p:cNvPr>
          <p:cNvSpPr/>
          <p:nvPr/>
        </p:nvSpPr>
        <p:spPr bwMode="auto">
          <a:xfrm>
            <a:off x="5900788" y="3027784"/>
            <a:ext cx="2709811" cy="1391816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ea typeface="ＭＳ Ｐゴシック" pitchFamily="1" charset="-128"/>
              </a:rPr>
              <a:t>All (sum) future CFs</a:t>
            </a:r>
            <a:endParaRPr kumimoji="0" lang="en-ZA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8D2480-66B7-A23C-8EA1-20EFD8AFC3A5}"/>
              </a:ext>
            </a:extLst>
          </p:cNvPr>
          <p:cNvSpPr/>
          <p:nvPr/>
        </p:nvSpPr>
        <p:spPr bwMode="auto">
          <a:xfrm>
            <a:off x="6281789" y="5370144"/>
            <a:ext cx="2817387" cy="1391816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ea typeface="ＭＳ Ｐゴシック" pitchFamily="1" charset="-128"/>
              </a:rPr>
              <a:t>Discounted or PVs</a:t>
            </a:r>
            <a:endParaRPr kumimoji="0" lang="en-ZA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058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14400"/>
            <a:ext cx="8807824" cy="57912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Used by companies as one of their forms of </a:t>
            </a:r>
            <a:r>
              <a:rPr lang="en-US" dirty="0">
                <a:highlight>
                  <a:srgbClr val="00FFFF"/>
                </a:highlight>
              </a:rPr>
              <a:t>LT debt financing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Part of capital structuring decisions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Enables companies to borrow money from diverse lenders for long periods</a:t>
            </a:r>
            <a:endParaRPr lang="en-US" sz="16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Debenture is an interest-only loan: borrower will pay only interest every period and none of the principal amount, until maturity (end) of the loan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988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14400"/>
            <a:ext cx="8807824" cy="57912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Maturity is when principal amount should be paid (time to maturity in years)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Interest can be paid semi-annually, i.e. twice a/per year or annum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Yield-to-maturity: rate of return investors earn if they buy a debenture at a specific price and hold it until maturity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Interest payments = coupons = PMT on calculator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Value of a debenture depends on various factors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Remember earlier discussions: CFs matter, timing of CFs matter, risk matters…</a:t>
            </a:r>
          </a:p>
          <a:p>
            <a:pPr lvl="1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873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14400"/>
            <a:ext cx="8807824" cy="57912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Value of a debenture depends on various factors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Remember earlier discussions: CFs matter, </a:t>
            </a:r>
            <a:r>
              <a:rPr lang="en-US" dirty="0">
                <a:highlight>
                  <a:srgbClr val="FF00FF"/>
                </a:highlight>
              </a:rPr>
              <a:t>timing of CFs </a:t>
            </a:r>
            <a:r>
              <a:rPr lang="en-US" dirty="0"/>
              <a:t>matter, </a:t>
            </a:r>
            <a:r>
              <a:rPr lang="en-US" dirty="0">
                <a:highlight>
                  <a:srgbClr val="FF0000"/>
                </a:highlight>
              </a:rPr>
              <a:t>risk</a:t>
            </a:r>
            <a:r>
              <a:rPr lang="en-US" dirty="0"/>
              <a:t> matters…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highlight>
                  <a:srgbClr val="FF0000"/>
                </a:highlight>
              </a:rPr>
              <a:t>Required returns: </a:t>
            </a:r>
            <a:r>
              <a:rPr lang="en-US" dirty="0"/>
              <a:t>when required return is &gt; coupon rate, there is higher risk; debenture value &lt; its par value and </a:t>
            </a:r>
            <a:r>
              <a:rPr lang="en-US" i="1" dirty="0"/>
              <a:t>vice versa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highlight>
                  <a:srgbClr val="FF00FF"/>
                </a:highlight>
              </a:rPr>
              <a:t>Time to maturity: </a:t>
            </a:r>
            <a:r>
              <a:rPr lang="en-US" dirty="0"/>
              <a:t>when required return different from coupon rate, the debenture value will approach its par value as it moves closer to maturity; shorter amount of time… the less responsive MV is to change in require return because of lower interest rate risk</a:t>
            </a:r>
          </a:p>
          <a:p>
            <a:pPr lvl="1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91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9A1E28-1F84-9831-F840-43E1AF38D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81000" y="990600"/>
            <a:ext cx="8112794" cy="54864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910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14400"/>
            <a:ext cx="8807824" cy="57912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You can even put it this way for a bond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still remains the following, for calculating current value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0615DC1-75B6-25D0-E9AC-24BE1E966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191904"/>
              </p:ext>
            </p:extLst>
          </p:nvPr>
        </p:nvGraphicFramePr>
        <p:xfrm>
          <a:off x="914400" y="1507331"/>
          <a:ext cx="708660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800" imgH="457200" progId="Equation.3">
                  <p:embed/>
                </p:oleObj>
              </mc:Choice>
              <mc:Fallback>
                <p:oleObj name="Equation" r:id="rId4" imgW="2209800" imgH="457200" progId="Equation.3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B0615DC1-75B6-25D0-E9AC-24BE1E966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07331"/>
                        <a:ext cx="7086600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EAF32C73-A31A-F0AA-B453-99E338D250AB}"/>
                  </a:ext>
                </a:extLst>
              </p:cNvPr>
              <p:cNvSpPr txBox="1"/>
              <p:nvPr/>
            </p:nvSpPr>
            <p:spPr bwMode="auto">
              <a:xfrm>
                <a:off x="2740936" y="4427946"/>
                <a:ext cx="3738328" cy="1845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EAF32C73-A31A-F0AA-B453-99E338D25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0936" y="4427946"/>
                <a:ext cx="3738328" cy="18454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1175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0510"/>
            <a:ext cx="9144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– Textbook pg. 169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90600"/>
            <a:ext cx="8991600" cy="571500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Par value or Maturity value or Face value or </a:t>
            </a:r>
            <a:r>
              <a:rPr lang="en-US" dirty="0">
                <a:solidFill>
                  <a:srgbClr val="FF0000"/>
                </a:solidFill>
              </a:rPr>
              <a:t>FV = 1 000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Interest paid </a:t>
            </a:r>
            <a:r>
              <a:rPr lang="en-US" u="sng" dirty="0"/>
              <a:t>semi-annually</a:t>
            </a:r>
            <a:r>
              <a:rPr lang="en-US" dirty="0"/>
              <a:t>; rate of return = coupon rate (in THIS example, not always) = 14%; but semi-annually (twice p.a.), so </a:t>
            </a:r>
            <a:r>
              <a:rPr lang="en-US" dirty="0">
                <a:solidFill>
                  <a:srgbClr val="FF0000"/>
                </a:solidFill>
              </a:rPr>
              <a:t>I/Y = 14 / 2 = 7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Coupon or </a:t>
            </a:r>
            <a:r>
              <a:rPr lang="en-US" dirty="0">
                <a:solidFill>
                  <a:srgbClr val="FF0000"/>
                </a:solidFill>
              </a:rPr>
              <a:t>PMT</a:t>
            </a:r>
            <a:r>
              <a:rPr lang="en-US" dirty="0"/>
              <a:t> = 14% of 1 000 = 140; paid semi-annually (twice p.a.), so 140 / 2 </a:t>
            </a:r>
            <a:r>
              <a:rPr lang="en-US" dirty="0">
                <a:solidFill>
                  <a:srgbClr val="FF0000"/>
                </a:solidFill>
              </a:rPr>
              <a:t>= 70</a:t>
            </a:r>
            <a:r>
              <a:rPr lang="en-US" dirty="0"/>
              <a:t> per period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Time or </a:t>
            </a:r>
            <a:r>
              <a:rPr lang="en-US" dirty="0">
                <a:solidFill>
                  <a:srgbClr val="FF0000"/>
                </a:solidFill>
              </a:rPr>
              <a:t>N = 10 x 2 = 20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>
                <a:highlight>
                  <a:srgbClr val="FFFF00"/>
                </a:highlight>
              </a:rPr>
              <a:t>What should you enter as a - ? Why?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Current value or price </a:t>
            </a:r>
            <a:r>
              <a:rPr lang="en-US" dirty="0">
                <a:solidFill>
                  <a:srgbClr val="FF0000"/>
                </a:solidFill>
              </a:rPr>
              <a:t>(PV)</a:t>
            </a:r>
            <a:r>
              <a:rPr lang="en-US" dirty="0"/>
              <a:t> of the debenture?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PV = R1 000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C88542B-981D-DE2E-4F66-DD0DC0E15221}"/>
              </a:ext>
            </a:extLst>
          </p:cNvPr>
          <p:cNvSpPr/>
          <p:nvPr/>
        </p:nvSpPr>
        <p:spPr bwMode="auto">
          <a:xfrm>
            <a:off x="6357989" y="4038600"/>
            <a:ext cx="2526035" cy="1143000"/>
          </a:xfrm>
          <a:prstGeom prst="ellipse">
            <a:avLst/>
          </a:prstGeom>
          <a:solidFill>
            <a:srgbClr val="E3F3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ea typeface="ＭＳ Ｐゴシック" pitchFamily="1" charset="-128"/>
              </a:rPr>
              <a:t>FV and PMT…</a:t>
            </a:r>
            <a:endParaRPr kumimoji="0" lang="en-ZA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851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807824" cy="5715000"/>
          </a:xfrm>
        </p:spPr>
        <p:txBody>
          <a:bodyPr/>
          <a:lstStyle/>
          <a:p>
            <a:pPr marL="0" indent="0" algn="ctr">
              <a:lnSpc>
                <a:spcPct val="105000"/>
              </a:lnSpc>
              <a:buSzPct val="100000"/>
              <a:buNone/>
            </a:pPr>
            <a:r>
              <a:rPr lang="en-US" i="1" dirty="0"/>
              <a:t>CLEAR CALCULATOR MEMORY AFTER EVERY CALCULATION…</a:t>
            </a: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1000" i="1" dirty="0"/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Example: 10% coupon bond making annual payments and will mature in 15 years. Calculate the current market price of a bond if the YTM is 8%, 10% and 12%.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6992C-8649-62B0-7F9F-C63DAD089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3" y="4066385"/>
            <a:ext cx="9085853" cy="25704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547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03FE1B-B06E-4A04-7EB7-346504689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86" y="990600"/>
            <a:ext cx="8768414" cy="5334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860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14400"/>
            <a:ext cx="8807824" cy="57912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Increase in interest rates will cause price of an outstanding bond to fall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MV of bond always approach par value as its maturity date approaches, provided firm does not go bankrupt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346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59976" y="10510"/>
            <a:ext cx="8884024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90600"/>
            <a:ext cx="8991600" cy="571500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Par value or Maturity value or Face value or </a:t>
            </a:r>
            <a:r>
              <a:rPr lang="en-US" dirty="0">
                <a:solidFill>
                  <a:srgbClr val="FF0000"/>
                </a:solidFill>
              </a:rPr>
              <a:t>FV = 1 000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Interest paid </a:t>
            </a:r>
            <a:r>
              <a:rPr lang="en-US" u="sng" dirty="0"/>
              <a:t>quarterly</a:t>
            </a:r>
            <a:r>
              <a:rPr lang="en-US" dirty="0"/>
              <a:t> = 12%; but quarterly (four times p.a.), so </a:t>
            </a:r>
            <a:r>
              <a:rPr lang="en-US" dirty="0">
                <a:solidFill>
                  <a:srgbClr val="FF0000"/>
                </a:solidFill>
              </a:rPr>
              <a:t>I/Y = 12 / 4 = 3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Coupon or </a:t>
            </a:r>
            <a:r>
              <a:rPr lang="en-US" dirty="0">
                <a:solidFill>
                  <a:srgbClr val="FF0000"/>
                </a:solidFill>
              </a:rPr>
              <a:t>PMT</a:t>
            </a:r>
            <a:r>
              <a:rPr lang="en-US" dirty="0"/>
              <a:t> = 15% of 1 000 = 150; paid quarterly (four times p.a.), so 150 / 4 </a:t>
            </a:r>
            <a:r>
              <a:rPr lang="en-US" dirty="0">
                <a:solidFill>
                  <a:srgbClr val="FF0000"/>
                </a:solidFill>
              </a:rPr>
              <a:t>= 37.50</a:t>
            </a:r>
            <a:r>
              <a:rPr lang="en-US" dirty="0"/>
              <a:t> per period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Time or </a:t>
            </a:r>
            <a:r>
              <a:rPr lang="en-US" dirty="0">
                <a:solidFill>
                  <a:srgbClr val="FF0000"/>
                </a:solidFill>
              </a:rPr>
              <a:t>N = 5 x 4 = 20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>
                <a:highlight>
                  <a:srgbClr val="FFFF00"/>
                </a:highlight>
              </a:rPr>
              <a:t>What should you enter as a - ? Why?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Current value or price </a:t>
            </a:r>
            <a:r>
              <a:rPr lang="en-US" dirty="0">
                <a:solidFill>
                  <a:srgbClr val="FF0000"/>
                </a:solidFill>
              </a:rPr>
              <a:t>(PV)</a:t>
            </a:r>
            <a:r>
              <a:rPr lang="en-US" dirty="0"/>
              <a:t> of the debenture?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PV = R…………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>
                <a:highlight>
                  <a:srgbClr val="00FF00"/>
                </a:highlight>
              </a:rPr>
              <a:t>Is this a par value, premium or discount bond? How do you know?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C88542B-981D-DE2E-4F66-DD0DC0E15221}"/>
              </a:ext>
            </a:extLst>
          </p:cNvPr>
          <p:cNvSpPr/>
          <p:nvPr/>
        </p:nvSpPr>
        <p:spPr bwMode="auto">
          <a:xfrm>
            <a:off x="6248400" y="3581400"/>
            <a:ext cx="2526035" cy="1143000"/>
          </a:xfrm>
          <a:prstGeom prst="ellipse">
            <a:avLst/>
          </a:prstGeom>
          <a:solidFill>
            <a:srgbClr val="E3F3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pitchFamily="1" charset="-128"/>
              </a:rPr>
              <a:t>FV and PMT…</a:t>
            </a:r>
            <a:endParaRPr kumimoji="0" lang="en-ZA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6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1D2E6E-392C-8341-8FA6-D1E1835195FD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- Examples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342900" y="1143000"/>
            <a:ext cx="8572500" cy="5567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Calculate PV of bonds A and B which both have a par value of R1 000:</a:t>
            </a:r>
          </a:p>
          <a:p>
            <a:pPr marL="796925" marR="0" lvl="1" indent="-4572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A: 12% coupon;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YTM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= 10%; 5 years to maturity</a:t>
            </a:r>
          </a:p>
          <a:p>
            <a:pPr marL="796925" marR="0" lvl="1" indent="-4572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B: 12% coupon;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YTM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= 10%; 30 years to maturity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A:	FV = -1 000; PMT = -120; </a:t>
            </a: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= 10; N = 5;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	comp PV =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R………….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B: 	FV = -1 000; PMT = -120; </a:t>
            </a: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= 10; N = 30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	comp PV =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R1 188.54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What do you notice?</a:t>
            </a:r>
          </a:p>
          <a:p>
            <a:pPr marL="796925" marR="0" lvl="1" indent="-4572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Both bonds are premium bonds (PV &gt; par; coupon &gt; YTM)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157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1D2E6E-392C-8341-8FA6-D1E1835195FD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283091" y="0"/>
            <a:ext cx="8632309" cy="762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– </a:t>
            </a:r>
            <a:r>
              <a:rPr lang="en-US" dirty="0" err="1">
                <a:solidFill>
                  <a:schemeClr val="tx2"/>
                </a:solidFill>
              </a:rPr>
              <a:t>Egs</a:t>
            </a:r>
            <a:r>
              <a:rPr lang="en-US" dirty="0">
                <a:solidFill>
                  <a:schemeClr val="tx2"/>
                </a:solidFill>
              </a:rPr>
              <a:t> (cont.)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0" y="762000"/>
            <a:ext cx="9067799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Now assume that interest rates (required rates) increase to 15% and then decrease to 5%. What will the effect of changing interest rates be on the PVs of the two bonds?             Comparison: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1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54013" marR="0" lvl="1" indent="-354013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54013" marR="0" lvl="1" indent="-354013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Value of both bonds    as discount (interest) rate </a:t>
            </a:r>
          </a:p>
          <a:p>
            <a:pPr marL="354013" marR="0" lvl="1" indent="-354013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Bond with 30-year maturity more sensitive to changes in discount (interest) rate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92" y="2667000"/>
            <a:ext cx="8577815" cy="2575829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B1A2C399-784A-D866-1A3B-B7C751347787}"/>
              </a:ext>
            </a:extLst>
          </p:cNvPr>
          <p:cNvSpPr/>
          <p:nvPr/>
        </p:nvSpPr>
        <p:spPr bwMode="auto">
          <a:xfrm>
            <a:off x="3616779" y="5288414"/>
            <a:ext cx="304800" cy="3810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D4014D31-3152-70CE-A5A1-010B2054D4FD}"/>
              </a:ext>
            </a:extLst>
          </p:cNvPr>
          <p:cNvSpPr/>
          <p:nvPr/>
        </p:nvSpPr>
        <p:spPr bwMode="auto">
          <a:xfrm>
            <a:off x="8147957" y="5288414"/>
            <a:ext cx="304800" cy="381000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0747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1D2E6E-392C-8341-8FA6-D1E1835195FD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914400"/>
          </a:xfrm>
        </p:spPr>
        <p:txBody>
          <a:bodyPr/>
          <a:lstStyle/>
          <a:p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Valuation of debentures –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Egs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(cont.)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237699" y="914400"/>
            <a:ext cx="8677701" cy="5796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Now consider the following bonds with the same maturity but different coupon rates: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796925" marR="0" lvl="1" indent="-4572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C: 30 years to maturity;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YTM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= 10%;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6%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coupon</a:t>
            </a:r>
          </a:p>
          <a:p>
            <a:pPr marL="796925" marR="0" lvl="1" indent="-4572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D: 30 years to maturity;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YTM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= 10%;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3%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coupon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C:	FV = -1 000; N = 30; I = 10; PMT = -60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	comp PV =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R622.92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D: FV = -1 000; N = 30;  </a:t>
            </a: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= 10; PMT = -30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	comp PV =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R340.12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What do you notice?</a:t>
            </a:r>
          </a:p>
          <a:p>
            <a:pPr marL="811213" marR="0" lvl="0" indent="-4572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Both bonds are discount bonds (PVs &lt; par) </a:t>
            </a:r>
          </a:p>
          <a:p>
            <a:pPr marL="811213" marR="0" lvl="0" indent="-4572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Why? Coupon rates are &lt;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YTM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6801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1D2E6E-392C-8341-8FA6-D1E1835195FD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Valuation of debentures –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Egs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(cont.)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157611" y="1143000"/>
            <a:ext cx="8757789" cy="5567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What will happen to the value of the bonds if interest rates increase to 15% and then drop to 5%?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Here too PVs of both bonds    as interest rate    and one with lower coupon decreases most (i.e. most sensitive)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  <p:graphicFrame>
        <p:nvGraphicFramePr>
          <p:cNvPr id="6" name="Group 10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18316"/>
              </p:ext>
            </p:extLst>
          </p:nvPr>
        </p:nvGraphicFramePr>
        <p:xfrm>
          <a:off x="628650" y="2643264"/>
          <a:ext cx="8001000" cy="2566988"/>
        </p:xfrm>
        <a:graphic>
          <a:graphicData uri="http://schemas.openxmlformats.org/drawingml/2006/table">
            <a:tbl>
              <a:tblPr/>
              <a:tblGrid>
                <a:gridCol w="2257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86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 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= 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= 10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= 15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Change in PV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06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Bond with 6% coupon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1 153.72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622.92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409.06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-182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06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Bond with 3% coupon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692.55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340.12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212.08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-227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Arrow: Down 1">
            <a:extLst>
              <a:ext uri="{FF2B5EF4-FFF2-40B4-BE49-F238E27FC236}">
                <a16:creationId xmlns:a16="http://schemas.microsoft.com/office/drawing/2014/main" id="{DB108285-CBC7-072C-764D-ADEAB2F1F7DA}"/>
              </a:ext>
            </a:extLst>
          </p:cNvPr>
          <p:cNvSpPr/>
          <p:nvPr/>
        </p:nvSpPr>
        <p:spPr bwMode="auto">
          <a:xfrm>
            <a:off x="5029200" y="5492432"/>
            <a:ext cx="304800" cy="3810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C43772D-2D48-65DB-7099-1A677FA8C4AE}"/>
              </a:ext>
            </a:extLst>
          </p:cNvPr>
          <p:cNvSpPr/>
          <p:nvPr/>
        </p:nvSpPr>
        <p:spPr bwMode="auto">
          <a:xfrm>
            <a:off x="7825273" y="5462626"/>
            <a:ext cx="304800" cy="381000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8830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0510"/>
            <a:ext cx="9144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– Textbook pg. 171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1153510"/>
            <a:ext cx="8991600" cy="555209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FV = -1 000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PV = 840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N = 10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Interest paid annually @ 15%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Calculate YTM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u="sng" dirty="0"/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u="sng" dirty="0"/>
              <a:t>Solution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Coupon/interest </a:t>
            </a:r>
            <a:r>
              <a:rPr lang="en-US" dirty="0" err="1"/>
              <a:t>pmt</a:t>
            </a:r>
            <a:r>
              <a:rPr lang="en-US" dirty="0"/>
              <a:t> or PMT = 15% of 1 000 = -150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>
                <a:solidFill>
                  <a:srgbClr val="C00000"/>
                </a:solidFill>
              </a:rPr>
              <a:t>I or YTM = 18.64%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77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0510"/>
            <a:ext cx="9144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debentures – </a:t>
            </a:r>
            <a:r>
              <a:rPr lang="en-US" dirty="0" err="1">
                <a:solidFill>
                  <a:schemeClr val="tx2"/>
                </a:solidFill>
              </a:rPr>
              <a:t>Egs</a:t>
            </a:r>
            <a:r>
              <a:rPr lang="en-US" dirty="0">
                <a:solidFill>
                  <a:schemeClr val="tx2"/>
                </a:solidFill>
              </a:rPr>
              <a:t>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24910"/>
            <a:ext cx="8991600" cy="592258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Willy </a:t>
            </a:r>
            <a:r>
              <a:rPr lang="en-US" dirty="0" err="1"/>
              <a:t>Wonca</a:t>
            </a:r>
            <a:r>
              <a:rPr lang="en-US" dirty="0"/>
              <a:t> Ltd issued bonds with a coupon rate of 7.5% per annum. The bonds make annual payments and has a face value of R1 000. The current market value of one of these bonds is R1 139.42. The YTM on these bonds is 6%. Calculate these bonds’ time to maturity.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Calculate N 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16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sz="28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Solution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PMT = -75; FV = -1 000; PV = 1 139.42; I = 6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N = 13.99 or 14 years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087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762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shares - Examples 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237699" y="1032231"/>
            <a:ext cx="864235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Source: https://thespargroup.com/wp-content/uploads/2025/12/SPAR_IAR_2025.pdf</a:t>
            </a:r>
          </a:p>
        </p:txBody>
      </p:sp>
    </p:spTree>
    <p:extLst>
      <p:ext uri="{BB962C8B-B14F-4D97-AF65-F5344CB8AC3E}">
        <p14:creationId xmlns:p14="http://schemas.microsoft.com/office/powerpoint/2010/main" val="2015409606"/>
      </p:ext>
    </p:extLst>
  </p:cSld>
  <p:clrMapOvr>
    <a:masterClrMapping/>
  </p:clrMapOvr>
  <p:transition advTm="1913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C5390A-B352-7829-81F0-BE5B31BA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1926E-BC14-E6C9-30AC-AB6F8722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8278DAF-6038-504C-E0CE-E8AD4109F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762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shares - Examples 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34D2A1C8-FB9A-9DEE-3DE7-5B167CB85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99" y="914400"/>
            <a:ext cx="8642350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Source: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https://www.bbrief.co.za/2025/12/09/spar-r5-billion-loss-what-really-happened-in-2025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  <a:hlinkClick r:id="rId3"/>
              </a:rPr>
              <a:t>/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; https://www.sharedata.co.za/v2/Scripts/Quote.aspx?c=SPP&amp;x=JSE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943489"/>
      </p:ext>
    </p:extLst>
  </p:cSld>
  <p:clrMapOvr>
    <a:masterClrMapping/>
  </p:clrMapOvr>
  <p:transition advTm="1913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3CC710-6460-3152-AABE-AC96F34F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47263F-457C-A79F-BAB2-3177D1AB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71F4966-6D7F-AE1D-C9DE-CA32B1D64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762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shares - Examples 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E53CA16-4225-996E-9AD3-BC9996576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01136"/>
            <a:ext cx="8642350" cy="572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2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2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2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2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2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200" kern="0" noProof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Source: https://www.sharenet.co.za/v3/sens_display.php?tdate=20250903070500&amp;seq=1&amp;scode=WHL; www.sharedata.co.za</a:t>
            </a:r>
          </a:p>
        </p:txBody>
      </p:sp>
    </p:spTree>
    <p:extLst>
      <p:ext uri="{BB962C8B-B14F-4D97-AF65-F5344CB8AC3E}">
        <p14:creationId xmlns:p14="http://schemas.microsoft.com/office/powerpoint/2010/main" val="388161078"/>
      </p:ext>
    </p:extLst>
  </p:cSld>
  <p:clrMapOvr>
    <a:masterClrMapping/>
  </p:clrMapOvr>
  <p:transition advTm="1913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76199" y="0"/>
            <a:ext cx="8991601" cy="85585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Valuation of shares –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Egs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(cont.)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52400" y="1447800"/>
            <a:ext cx="8610601" cy="547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Source: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https://www.sharedata.co.za/v2/Scripts/Quote.aspx?c=WHL&amp;x=JSE</a:t>
            </a:r>
          </a:p>
        </p:txBody>
      </p:sp>
    </p:spTree>
    <p:extLst>
      <p:ext uri="{BB962C8B-B14F-4D97-AF65-F5344CB8AC3E}">
        <p14:creationId xmlns:p14="http://schemas.microsoft.com/office/powerpoint/2010/main" val="1240617662"/>
      </p:ext>
    </p:extLst>
  </p:cSld>
  <p:clrMapOvr>
    <a:masterClrMapping/>
  </p:clrMapOvr>
  <p:transition advTm="14668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28601" y="762000"/>
            <a:ext cx="8670327" cy="6096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Firm issues shares, shareholders purchase (buy) shares and thus become owners (shareholders)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Owners of the firm (control it)</a:t>
            </a:r>
            <a:endParaRPr lang="en-US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Rights and privileges; also expect some form of return in the future… (to be awarded for the risk they incur when investing in the shares)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Investors interested in buying undervalued shares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Dividends (short-term return)	</a:t>
            </a:r>
            <a:r>
              <a:rPr lang="en-US" sz="2800" dirty="0">
                <a:solidFill>
                  <a:srgbClr val="C00000"/>
                </a:solidFill>
              </a:rPr>
              <a:t>income shares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Capital gains/increase in share price or value (long-term return) 		</a:t>
            </a:r>
            <a:r>
              <a:rPr lang="en-US" sz="2800" dirty="0">
                <a:solidFill>
                  <a:srgbClr val="C00000"/>
                </a:solidFill>
              </a:rPr>
              <a:t>growth shares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Dividends: entitled to any earnings (profits) that remain… after interest payments (to bondholders) and dividend payments to preference shareholders 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EC66DA4-8B4C-EA46-0EF7-3B0C22210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72" y="-26437"/>
            <a:ext cx="8763000" cy="94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r>
              <a:rPr lang="en-US" kern="0" dirty="0">
                <a:solidFill>
                  <a:schemeClr val="tx2"/>
                </a:solidFill>
              </a:rPr>
              <a:t>Valuation of shares</a:t>
            </a:r>
          </a:p>
        </p:txBody>
      </p:sp>
    </p:spTree>
    <p:extLst>
      <p:ext uri="{BB962C8B-B14F-4D97-AF65-F5344CB8AC3E}">
        <p14:creationId xmlns:p14="http://schemas.microsoft.com/office/powerpoint/2010/main" val="2912793178"/>
      </p:ext>
    </p:extLst>
  </p:cSld>
  <p:clrMapOvr>
    <a:masterClrMapping/>
  </p:clrMapOvr>
  <p:transition advTm="200213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28601" y="762000"/>
            <a:ext cx="8670327" cy="6096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Market efficiency relates to flow of information that affects share prices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Investors interested in buying undervalued shares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Strong form: all info is reflected in </a:t>
            </a:r>
            <a:r>
              <a:rPr lang="en-US" sz="2800" dirty="0" err="1"/>
              <a:t>sh</a:t>
            </a:r>
            <a:r>
              <a:rPr lang="en-US" sz="2800" dirty="0"/>
              <a:t> prices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Semi-strong form: all public info is reflected in the </a:t>
            </a:r>
            <a:r>
              <a:rPr lang="en-US" sz="2800" dirty="0" err="1"/>
              <a:t>sh</a:t>
            </a:r>
            <a:r>
              <a:rPr lang="en-US" sz="2800" dirty="0"/>
              <a:t> prices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Weak form: at a minimum, a share’s current price reflects its own past prices</a:t>
            </a:r>
            <a:endParaRPr lang="en-US" sz="2800" dirty="0">
              <a:solidFill>
                <a:srgbClr val="C0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Info influences risk and return of shares…e.g.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An increase in risk will increase required rate of return (k) and may decrease the expected return, forcing </a:t>
            </a:r>
            <a:r>
              <a:rPr lang="en-US" sz="2800" dirty="0" err="1"/>
              <a:t>sh</a:t>
            </a:r>
            <a:r>
              <a:rPr lang="en-US" sz="2800" dirty="0"/>
              <a:t> price to decrease; and </a:t>
            </a:r>
            <a:r>
              <a:rPr lang="en-US" sz="2800" i="1" dirty="0"/>
              <a:t>vice versa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EC66DA4-8B4C-EA46-0EF7-3B0C22210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72" y="-26437"/>
            <a:ext cx="8763000" cy="94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r>
              <a:rPr lang="en-US" kern="0" dirty="0">
                <a:solidFill>
                  <a:schemeClr val="tx2"/>
                </a:solidFill>
              </a:rPr>
              <a:t>Valuation of shares</a:t>
            </a:r>
          </a:p>
        </p:txBody>
      </p:sp>
    </p:spTree>
    <p:extLst>
      <p:ext uri="{BB962C8B-B14F-4D97-AF65-F5344CB8AC3E}">
        <p14:creationId xmlns:p14="http://schemas.microsoft.com/office/powerpoint/2010/main" val="2691640328"/>
      </p:ext>
    </p:extLst>
  </p:cSld>
  <p:clrMapOvr>
    <a:masterClrMapping/>
  </p:clrMapOvr>
  <p:transition advTm="200213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shares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35974" y="914400"/>
            <a:ext cx="8670327" cy="5791200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Firm has no obligation to pay ordinary share dividends; </a:t>
            </a:r>
            <a:r>
              <a:rPr lang="en-US" sz="2600" dirty="0"/>
              <a:t>Unless directors declare a dividend, it is not a liability; Company can’t become bankrupt because of non-payment of dividends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Dividend payment is not an expense: not tax-deductible; paid out of after-tax profits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Tax paid on dividends received from SA companies and foreign companies listed on </a:t>
            </a:r>
            <a:r>
              <a:rPr lang="en-US" sz="2600" dirty="0" err="1"/>
              <a:t>JSE</a:t>
            </a:r>
            <a:endParaRPr lang="en-US" sz="260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Dividends tax (withholding tax) – company declaring dividend will withhold 20% of total dividend on behalf of shareholders and pay this over to SARS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Government, pension funds do not pay dividend tax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More on dividends in Ch.18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9055569"/>
      </p:ext>
    </p:extLst>
  </p:cSld>
  <p:clrMapOvr>
    <a:masterClrMapping/>
  </p:clrMapOvr>
  <p:transition advTm="194247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shares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45073" y="1001233"/>
            <a:ext cx="8670327" cy="5867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Benefit when firm performs well, however, payments to bondholders and preference shareholders are “mandatory” fixed financial obligations, therefore this might reduce ordinary shareholders’ equity and potential dividends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Bears most risk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Last in line to receive any cash distributions (dividends and/or funds left-over after liquidation resulting from bankruptcy)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Par/nominal/face value does not determine market value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No maturity; firm could repurchase…when?</a:t>
            </a:r>
          </a:p>
        </p:txBody>
      </p:sp>
    </p:spTree>
    <p:extLst>
      <p:ext uri="{BB962C8B-B14F-4D97-AF65-F5344CB8AC3E}">
        <p14:creationId xmlns:p14="http://schemas.microsoft.com/office/powerpoint/2010/main" val="1979375270"/>
      </p:ext>
    </p:extLst>
  </p:cSld>
  <p:clrMapOvr>
    <a:masterClrMapping/>
  </p:clrMapOvr>
  <p:transition advTm="5666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kern="0" dirty="0">
                <a:solidFill>
                  <a:schemeClr val="tx2"/>
                </a:solidFill>
              </a:rPr>
              <a:t>Valuation of shares</a:t>
            </a:r>
            <a:r>
              <a:rPr lang="en-US" dirty="0">
                <a:solidFill>
                  <a:schemeClr val="tx2"/>
                </a:solidFill>
              </a:rPr>
              <a:t>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35974" y="990600"/>
            <a:ext cx="8670327" cy="5867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Owners of the firm: have voting rights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Elect directors, appoint managers, vote on proposals &amp; mergers, etc.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1 share = 1 vote; thus, more shares = more votes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Vote at AGM in person or sign proxy for other party to vote on your behalf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Pre-emptive right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Offer existing shareholders shares of a new issue before offer to the public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2 reasons why…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83755"/>
      </p:ext>
    </p:extLst>
  </p:cSld>
  <p:clrMapOvr>
    <a:masterClrMapping/>
  </p:clrMapOvr>
  <p:transition advTm="114543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38244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shares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38244" y="914400"/>
            <a:ext cx="9067511" cy="605790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Preference shares…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similar to bonds with fixed dividend amounts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similar to ordinary shares as dividends are not required and have no fixed maturity date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For the firm safer to use than debt: cannot be forced into bankruptcy if it misses preference dividend payments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Preference dividends fixed; Preference dividend stated as % of par 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Priority over ord. shareholders, but not debt holders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Could be cumulative or convertible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No voting rights; however, …except when dividends are in arrear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Firms have an incentive to delay paying preference dividends…however, at the expense of “corporate control”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491989"/>
      </p:ext>
    </p:extLst>
  </p:cSld>
  <p:clrMapOvr>
    <a:masterClrMapping/>
  </p:clrMapOvr>
  <p:transition advTm="84883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ordinary shares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45072" y="914400"/>
            <a:ext cx="8670327" cy="5867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It’s more difficult to determine the current value (or price) of a share than that of a bond…why?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This becomes clear when we consider the equation for P</a:t>
            </a:r>
            <a:r>
              <a:rPr lang="en-US" baseline="-25000" dirty="0"/>
              <a:t>0</a:t>
            </a:r>
            <a:r>
              <a:rPr lang="en-US" dirty="0"/>
              <a:t> again…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PV is thus the sum of all future CFs discounted at an appropriate discount rate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PV = discounted value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900" dirty="0"/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i="1" dirty="0"/>
              <a:t>Do remember our discussion and explanation of this equation in Ch 1’s lecture (and earlier)…?! Make sure you UNDERSTAND it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57188" lvl="1" indent="-3571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DCB1A481-B79C-B74E-6C1E-786FE87FEC74}"/>
                  </a:ext>
                </a:extLst>
              </p:cNvPr>
              <p:cNvSpPr txBox="1"/>
              <p:nvPr/>
            </p:nvSpPr>
            <p:spPr bwMode="auto">
              <a:xfrm>
                <a:off x="2702836" y="2506277"/>
                <a:ext cx="3738328" cy="14561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DCB1A481-B79C-B74E-6C1E-786FE87FE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2836" y="2506277"/>
                <a:ext cx="3738328" cy="14561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30536"/>
      </p:ext>
    </p:extLst>
  </p:cSld>
  <p:clrMapOvr>
    <a:masterClrMapping/>
  </p:clrMapOvr>
  <p:transition advTm="213935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ordinary shares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45073" y="1021612"/>
            <a:ext cx="8670327" cy="5715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Unlike bonds, the promised CFs (i.e. future dividends) are not known in advanced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The life of the investment is forever (shares have no maturity)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And we cannot easily observe the rate of return that the market requires (remember Ch 6)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We will now investigate the cases where we can determine the present value (PV) of the future CFs for a share…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Future CFs could be… dividends and capital gains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dirty="0"/>
              <a:t>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57188" lvl="1" indent="-3571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79936"/>
      </p:ext>
    </p:extLst>
  </p:cSld>
  <p:clrMapOvr>
    <a:masterClrMapping/>
  </p:clrMapOvr>
  <p:transition advTm="5853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9144000" cy="12192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ordinary shares – Example with 1 period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8763000" cy="586740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Suppose you are thinking of purchasing shares from Ncube Oil and you expect it to pay a 300c dividend in one year and you believe that you can sell the share for 2 400c at that time. If you require a return of 20% on investments with an equivalent risk level, what is the maximum price you would be willing to pay for the share now?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 Compute the PV of the expected future cash flows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600" dirty="0"/>
              <a:t>     </a:t>
            </a:r>
            <a:r>
              <a:rPr lang="en-US" sz="2600" b="1" dirty="0">
                <a:solidFill>
                  <a:schemeClr val="tx2"/>
                </a:solidFill>
              </a:rPr>
              <a:t>Price 	= (P</a:t>
            </a:r>
            <a:r>
              <a:rPr lang="en-US" sz="2600" b="1" baseline="-25000" dirty="0">
                <a:solidFill>
                  <a:schemeClr val="tx2"/>
                </a:solidFill>
              </a:rPr>
              <a:t>1</a:t>
            </a:r>
            <a:r>
              <a:rPr lang="en-US" sz="2600" b="1" dirty="0">
                <a:solidFill>
                  <a:schemeClr val="tx2"/>
                </a:solidFill>
              </a:rPr>
              <a:t> + D</a:t>
            </a:r>
            <a:r>
              <a:rPr lang="en-US" sz="2600" b="1" baseline="-25000" dirty="0">
                <a:solidFill>
                  <a:schemeClr val="tx2"/>
                </a:solidFill>
              </a:rPr>
              <a:t>1</a:t>
            </a:r>
            <a:r>
              <a:rPr lang="en-US" sz="2600" b="1" dirty="0">
                <a:solidFill>
                  <a:schemeClr val="tx2"/>
                </a:solidFill>
              </a:rPr>
              <a:t>) / (1 + k)         </a:t>
            </a:r>
            <a:r>
              <a:rPr lang="en-US" sz="2600" dirty="0">
                <a:solidFill>
                  <a:srgbClr val="C00000"/>
                </a:solidFill>
              </a:rPr>
              <a:t>same as the Eq.!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600" dirty="0"/>
              <a:t>		= (24 + 3) / (1 + 0.2)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600" dirty="0"/>
              <a:t>		= </a:t>
            </a:r>
            <a:r>
              <a:rPr lang="en-US" sz="2600" b="1" dirty="0">
                <a:solidFill>
                  <a:srgbClr val="C00000"/>
                </a:solidFill>
              </a:rPr>
              <a:t>R22.50</a:t>
            </a:r>
          </a:p>
          <a:p>
            <a:pPr marL="357188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600" dirty="0"/>
              <a:t>OR FV = 27; I = 20; N = 1; PV = ? PV = </a:t>
            </a:r>
            <a:r>
              <a:rPr lang="en-US" sz="2600" b="1" dirty="0">
                <a:solidFill>
                  <a:srgbClr val="C00000"/>
                </a:solidFill>
              </a:rPr>
              <a:t>R22.50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57188" lvl="1" indent="-3571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1758"/>
      </p:ext>
    </p:extLst>
  </p:cSld>
  <p:clrMapOvr>
    <a:masterClrMapping/>
  </p:clrMapOvr>
  <p:transition advTm="161813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ordinary shares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245072" y="1066800"/>
            <a:ext cx="8670327" cy="5715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Easy with one year period…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You would find that the price of the shares is really just the present value (PV) or the discounted value of all expected future dividends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So, how can we estimate all future dividends…?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Want to try any guesses about Massmart…?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Current economic environment…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Dividend policy (Ch 18)…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57188" lvl="1" indent="-3571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06218"/>
      </p:ext>
    </p:extLst>
  </p:cSld>
  <p:clrMapOvr>
    <a:masterClrMapping/>
  </p:clrMapOvr>
  <p:transition advTm="27778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762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ordinary shares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839200" cy="60198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What is happening to shares of companies that are not currently paying any dividends?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Small growing </a:t>
            </a:r>
            <a:r>
              <a:rPr lang="en-US" sz="2400" dirty="0" err="1"/>
              <a:t>SMMEs</a:t>
            </a:r>
            <a:r>
              <a:rPr lang="en-US" sz="2400" dirty="0"/>
              <a:t> frequently plough back everything they make (retained earnings), thus paying no dividends. Are such shares worth nothing?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Remember the value of the share = PV of the future dividends; we do not rule out the possibility that some of those dividends are zero … they just can’t ALL be zero!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Imagine a company’s articles of association prohibited the paying of dividends now or ever … the shares are worth absolutely NOTHING! Money goes in, but nothing valuable ever comes out. Since nobody would ever get any return on this investment, the investment has no 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So, when we speak about firms that don’t pay dividends, we mean that they are not CURRENTLY paying dividends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57188" lvl="1" indent="-3571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878543"/>
      </p:ext>
    </p:extLst>
  </p:cSld>
  <p:clrMapOvr>
    <a:masterClrMapping/>
  </p:clrMapOvr>
  <p:transition advTm="108163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15E7C-F9A7-2F4D-8A7D-2F258F7ABB0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237699" y="0"/>
            <a:ext cx="8677701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Valuation of ordinary shares (cont.)</a:t>
            </a:r>
          </a:p>
        </p:txBody>
      </p:sp>
      <p:sp>
        <p:nvSpPr>
          <p:cNvPr id="11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867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Since dividends play a critical role in determining the value of a share, we need to consider various dividend patterns: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Three cases where one can determine the value of a share, while making assumptions about the pattern of future dividends…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57188" lvl="1" indent="-3571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7957"/>
            <a:ext cx="7848600" cy="34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6483"/>
      </p:ext>
    </p:extLst>
  </p:cSld>
  <p:clrMapOvr>
    <a:masterClrMapping/>
  </p:clrMapOvr>
  <p:transition advTm="152717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/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Valuation of ordinary shares (cont.)</a:t>
            </a:r>
            <a:endParaRPr lang="en-GB" altLang="en-US" sz="4000" b="1" dirty="0">
              <a:solidFill>
                <a:srgbClr val="002060"/>
              </a:solidFill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529263"/>
          </a:xfrm>
        </p:spPr>
        <p:txBody>
          <a:bodyPr/>
          <a:lstStyle/>
          <a:p>
            <a:pPr algn="just">
              <a:spcBef>
                <a:spcPts val="0"/>
              </a:spcBef>
              <a:buClr>
                <a:schemeClr val="tx2"/>
              </a:buClr>
            </a:pPr>
            <a:r>
              <a:rPr lang="en-ZA" altLang="en-US" sz="28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Zero growth 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(constant dividend)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firm will pay a 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 dividend forever 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(non-growing dividend stream)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Preference shares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price is computed using the perpetuity formula 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ZA" alt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ts val="0"/>
              </a:spcBef>
              <a:buClr>
                <a:schemeClr val="tx2"/>
              </a:buClr>
            </a:pPr>
            <a:r>
              <a:rPr lang="en-ZA" altLang="en-US" sz="2800" dirty="0"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 growth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firm will 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the dividend by a constant </a:t>
            </a:r>
            <a:r>
              <a:rPr lang="en-ZA" altLang="en-US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percent</a:t>
            </a:r>
            <a:r>
              <a:rPr lang="en-ZA" alt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 period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ZA" alt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ts val="0"/>
              </a:spcBef>
              <a:buClr>
                <a:schemeClr val="tx2"/>
              </a:buClr>
            </a:pPr>
            <a:r>
              <a:rPr lang="en-ZA" altLang="en-US" sz="2800" dirty="0">
                <a:highlight>
                  <a:srgbClr val="00FFFF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or non-constant growth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Dividend growth is 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consistent initially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but 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settles down to constant growth</a:t>
            </a:r>
            <a:r>
              <a:rPr lang="en-ZA" alt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eventually</a:t>
            </a:r>
          </a:p>
          <a:p>
            <a:pPr lvl="1" algn="just">
              <a:buFontTx/>
              <a:buNone/>
            </a:pPr>
            <a:endParaRPr lang="en-ZA" altLang="en-US" dirty="0"/>
          </a:p>
        </p:txBody>
      </p:sp>
      <p:sp>
        <p:nvSpPr>
          <p:cNvPr id="57348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BBB222-511E-40A1-88A9-CE789C2A73C3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007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524"/>
    </mc:Choice>
    <mc:Fallback xmlns="">
      <p:transition spd="slow" advTm="127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569325" cy="5486400"/>
          </a:xfrm>
        </p:spPr>
        <p:txBody>
          <a:bodyPr/>
          <a:lstStyle/>
          <a:p>
            <a:pPr algn="just">
              <a:buClr>
                <a:schemeClr val="tx2"/>
              </a:buClr>
            </a:pPr>
            <a:r>
              <a:rPr lang="en-ZA" altLang="en-US" sz="28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Zero growth 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(constant dividend)</a:t>
            </a:r>
          </a:p>
          <a:p>
            <a:pPr lvl="1" algn="just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ZA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ZA" altLang="en-US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ZA" altLang="en-US" b="1" baseline="-2500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constant</a:t>
            </a:r>
          </a:p>
          <a:p>
            <a:pPr lvl="1" algn="just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ZA" altLang="en-US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ZA" altLang="en-US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Simplify the eq. and value it as a perpetuity</a:t>
            </a:r>
          </a:p>
          <a:p>
            <a:pPr lvl="1" algn="just"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ZA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ZA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2" indent="0" algn="just">
              <a:buClr>
                <a:schemeClr val="tx2"/>
              </a:buClr>
              <a:buNone/>
            </a:pPr>
            <a:endParaRPr lang="en-ZA" altLang="en-US" sz="2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2" indent="0" algn="just">
              <a:buClr>
                <a:schemeClr val="tx2"/>
              </a:buClr>
              <a:buNone/>
            </a:pPr>
            <a:r>
              <a:rPr lang="en-ZA" altLang="en-US" sz="3000" b="1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ZA" altLang="en-US" sz="3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sz="3000" b="1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sz="3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sz="3000" b="1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k </a:t>
            </a:r>
          </a:p>
          <a:p>
            <a:pPr marL="801688" lvl="2" indent="-354013" algn="just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look at Example 8.4 on pg. 173</a:t>
            </a:r>
          </a:p>
          <a:p>
            <a:pPr lvl="2" algn="just">
              <a:buFontTx/>
              <a:buNone/>
            </a:pPr>
            <a:endParaRPr lang="en-ZA" altLang="en-US" sz="2800" b="1" dirty="0">
              <a:solidFill>
                <a:srgbClr val="FF3300"/>
              </a:solidFill>
            </a:endParaRPr>
          </a:p>
        </p:txBody>
      </p:sp>
      <p:sp>
        <p:nvSpPr>
          <p:cNvPr id="58372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F79E04-951F-4926-A4DD-3F050BC66DC1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Valuation of ordinary shares – Zero growth</a:t>
            </a:r>
            <a:endParaRPr lang="en-GB" b="1" kern="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">
                <a:extLst>
                  <a:ext uri="{FF2B5EF4-FFF2-40B4-BE49-F238E27FC236}">
                    <a16:creationId xmlns:a16="http://schemas.microsoft.com/office/drawing/2014/main" id="{62B9303F-A218-DF73-43E4-4C556BA57CEF}"/>
                  </a:ext>
                </a:extLst>
              </p:cNvPr>
              <p:cNvSpPr txBox="1"/>
              <p:nvPr/>
            </p:nvSpPr>
            <p:spPr bwMode="auto">
              <a:xfrm>
                <a:off x="5320624" y="1985985"/>
                <a:ext cx="3738328" cy="1845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" name="Object 10">
                <a:extLst>
                  <a:ext uri="{FF2B5EF4-FFF2-40B4-BE49-F238E27FC236}">
                    <a16:creationId xmlns:a16="http://schemas.microsoft.com/office/drawing/2014/main" id="{62B9303F-A218-DF73-43E4-4C556BA57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0624" y="1985985"/>
                <a:ext cx="3738328" cy="18454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0FE43DB1-75DB-A37F-BEA3-F79525776DD9}"/>
                  </a:ext>
                </a:extLst>
              </p:cNvPr>
              <p:cNvSpPr txBox="1"/>
              <p:nvPr/>
            </p:nvSpPr>
            <p:spPr bwMode="auto">
              <a:xfrm>
                <a:off x="4639352" y="3751693"/>
                <a:ext cx="4419600" cy="1845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baseline="-25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0FE43DB1-75DB-A37F-BEA3-F79525776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9352" y="3751693"/>
                <a:ext cx="4419600" cy="18454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5229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656"/>
    </mc:Choice>
    <mc:Fallback xmlns="">
      <p:transition spd="slow" advTm="70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25538"/>
            <a:ext cx="8382000" cy="5486400"/>
          </a:xfrm>
        </p:spPr>
        <p:txBody>
          <a:bodyPr/>
          <a:lstStyle/>
          <a:p>
            <a:pPr algn="just">
              <a:spcBef>
                <a:spcPts val="0"/>
              </a:spcBef>
              <a:buClr>
                <a:schemeClr val="tx2"/>
              </a:buClr>
              <a:defRPr/>
            </a:pPr>
            <a:r>
              <a:rPr lang="en-ZA" sz="2800" kern="0" dirty="0"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 growth </a:t>
            </a:r>
            <a:r>
              <a:rPr lang="en-ZA" sz="2800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(dividend growth model)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ZA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firm will increase the dividend with constant % every period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ZA" sz="2800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every year dividend payout will increase with 2% (i.e. it will grow annually with 2%)</a:t>
            </a:r>
          </a:p>
          <a:p>
            <a:pPr lvl="2" algn="just">
              <a:spcBef>
                <a:spcPts val="0"/>
              </a:spcBef>
              <a:buClr>
                <a:schemeClr val="tx2"/>
              </a:buClr>
              <a:defRPr/>
            </a:pPr>
            <a:endParaRPr lang="en-ZA" sz="2800" kern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ts val="0"/>
              </a:spcBef>
              <a:buClr>
                <a:schemeClr val="tx2"/>
              </a:buClr>
              <a:defRPr/>
            </a:pPr>
            <a:r>
              <a:rPr lang="en-ZA" sz="2800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would companies have such a policy? Things can get tricky if market conditions deteriorate…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ZA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show in Ch 18 that dividend payments send out signals to investors about the financial health of a firm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ZA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dividend cut is generally seen as </a:t>
            </a:r>
            <a:r>
              <a:rPr lang="en-ZA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BAD NEWS</a:t>
            </a:r>
          </a:p>
        </p:txBody>
      </p:sp>
      <p:sp>
        <p:nvSpPr>
          <p:cNvPr id="60421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EC98C0-5A9E-49B5-91CC-44572FE2FA30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Valuation of ordinary shares – </a:t>
            </a: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Constant growth</a:t>
            </a:r>
            <a:endParaRPr lang="en-GB" b="1" kern="0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211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239"/>
    </mc:Choice>
    <mc:Fallback xmlns="">
      <p:transition spd="slow" advTm="1342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57300"/>
            <a:ext cx="8686800" cy="54483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</a:pP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Remember:</a:t>
            </a:r>
          </a:p>
          <a:p>
            <a:pPr marL="457200" lvl="1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US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</a:t>
            </a:r>
          </a:p>
          <a:p>
            <a:pPr marL="457200" lvl="1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US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</a:t>
            </a:r>
          </a:p>
          <a:p>
            <a:pPr marL="457200" lvl="1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US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             Etc.</a:t>
            </a:r>
          </a:p>
          <a:p>
            <a:pPr marL="457200" lvl="1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r>
              <a:rPr lang="en-US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</a:t>
            </a:r>
            <a:r>
              <a:rPr lang="en-US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US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US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</a:t>
            </a:r>
            <a:r>
              <a:rPr lang="en-US" altLang="en-US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altLang="en-US" b="1" baseline="30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</a:pP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Last/current dividend = D</a:t>
            </a:r>
            <a:r>
              <a:rPr lang="en-US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</a:pP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Expected/next dividend = D</a:t>
            </a:r>
            <a:r>
              <a:rPr lang="en-US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altLang="en-US" sz="2800" baseline="-25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</a:pP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Simplify the same eq again!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r>
              <a:rPr lang="en-US" sz="3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3000" b="1" dirty="0">
                <a:solidFill>
                  <a:srgbClr val="FF0000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3000" b="1" baseline="-25000" dirty="0">
                <a:solidFill>
                  <a:srgbClr val="FF0000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US" sz="3000" b="1" dirty="0">
                <a:solidFill>
                  <a:srgbClr val="FF0000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= D</a:t>
            </a:r>
            <a:r>
              <a:rPr lang="en-US" sz="3000" b="1" baseline="-25000" dirty="0">
                <a:solidFill>
                  <a:srgbClr val="FF0000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3000" b="1" dirty="0">
                <a:solidFill>
                  <a:srgbClr val="FF0000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(k</a:t>
            </a:r>
            <a:r>
              <a:rPr lang="en-US" sz="3000" b="1" baseline="-25000" dirty="0">
                <a:solidFill>
                  <a:srgbClr val="FF0000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3000" b="1" dirty="0">
                <a:solidFill>
                  <a:srgbClr val="FF0000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g) 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</a:pP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</a:pP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companies determine g…? 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(given for now; remember the growth rate we used in Ch 5 for LT fin planning?)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sp>
        <p:nvSpPr>
          <p:cNvPr id="62468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FB66FC-B296-4D10-A918-BB4C620D1223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Valuation of ordinary shares – </a:t>
            </a: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Constant growth (cont.)</a:t>
            </a:r>
            <a:endParaRPr lang="en-GB" b="1" kern="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">
                <a:extLst>
                  <a:ext uri="{FF2B5EF4-FFF2-40B4-BE49-F238E27FC236}">
                    <a16:creationId xmlns:a16="http://schemas.microsoft.com/office/drawing/2014/main" id="{E22C94FC-BEF1-3852-CCB2-91A79E867C31}"/>
                  </a:ext>
                </a:extLst>
              </p:cNvPr>
              <p:cNvSpPr txBox="1"/>
              <p:nvPr/>
            </p:nvSpPr>
            <p:spPr bwMode="auto">
              <a:xfrm>
                <a:off x="5323929" y="582386"/>
                <a:ext cx="3585251" cy="18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" name="Object 10">
                <a:extLst>
                  <a:ext uri="{FF2B5EF4-FFF2-40B4-BE49-F238E27FC236}">
                    <a16:creationId xmlns:a16="http://schemas.microsoft.com/office/drawing/2014/main" id="{E22C94FC-BEF1-3852-CCB2-91A79E867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3929" y="582386"/>
                <a:ext cx="3585251" cy="1866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9063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065"/>
    </mc:Choice>
    <mc:Fallback xmlns="">
      <p:transition spd="slow" advTm="1010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6025"/>
            <a:ext cx="8534400" cy="5486400"/>
          </a:xfrm>
        </p:spPr>
        <p:txBody>
          <a:bodyPr/>
          <a:lstStyle/>
          <a:p>
            <a:pPr algn="just">
              <a:spcBef>
                <a:spcPts val="0"/>
              </a:spcBef>
              <a:buClr>
                <a:schemeClr val="tx2"/>
              </a:buCl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Suppose Big D Inc. just paid a dividend of R0.55. It is expected to increase its dividend by 2% per year. If the market requires a return of 15% on assets of this level of risk, how much should the share be selling for (i.e. what is its PV)?</a:t>
            </a:r>
          </a:p>
          <a:p>
            <a:pPr algn="just">
              <a:spcBef>
                <a:spcPts val="0"/>
              </a:spcBef>
              <a:buClr>
                <a:schemeClr val="tx2"/>
              </a:buClr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42913" lvl="1" indent="0" algn="just">
              <a:spcBef>
                <a:spcPts val="0"/>
              </a:spcBef>
              <a:buClr>
                <a:schemeClr val="tx2"/>
              </a:buClr>
              <a:buNone/>
              <a:defRPr/>
            </a:pPr>
            <a:r>
              <a:rPr 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= D</a:t>
            </a:r>
            <a:r>
              <a:rPr 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(k</a:t>
            </a:r>
            <a:r>
              <a:rPr 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g) </a:t>
            </a:r>
          </a:p>
          <a:p>
            <a:pPr marL="442913" lvl="1" indent="0" algn="just">
              <a:spcBef>
                <a:spcPts val="0"/>
              </a:spcBef>
              <a:buClr>
                <a:schemeClr val="tx2"/>
              </a:buClr>
              <a:buNone/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	= 0.55(1 + 0.02) / (0.15 – 0.02)</a:t>
            </a:r>
          </a:p>
          <a:p>
            <a:pPr marL="0" indent="0">
              <a:spcBef>
                <a:spcPts val="0"/>
              </a:spcBef>
              <a:buClr>
                <a:schemeClr val="tx2"/>
              </a:buClr>
              <a:buNone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= 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R4.32</a:t>
            </a:r>
          </a:p>
          <a:p>
            <a:pPr>
              <a:spcBef>
                <a:spcPts val="0"/>
              </a:spcBef>
              <a:buClr>
                <a:schemeClr val="tx2"/>
              </a:buClr>
              <a:defRPr/>
            </a:pPr>
            <a:endParaRPr lang="en-US" sz="1100" b="1" dirty="0">
              <a:solidFill>
                <a:srgbClr val="00FF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spcBef>
                <a:spcPts val="0"/>
              </a:spcBef>
              <a:buClr>
                <a:schemeClr val="tx2"/>
              </a:buClr>
              <a:buNone/>
              <a:defRPr/>
            </a:pPr>
            <a:r>
              <a:rPr lang="en-US" sz="2800" b="1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[Note: D</a:t>
            </a:r>
            <a:r>
              <a:rPr 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g)]</a:t>
            </a:r>
          </a:p>
          <a:p>
            <a:pPr>
              <a:spcBef>
                <a:spcPts val="0"/>
              </a:spcBef>
              <a:buClr>
                <a:schemeClr val="tx2"/>
              </a:buClr>
              <a:defRPr/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0"/>
              </a:spcBef>
              <a:buClr>
                <a:schemeClr val="tx2"/>
              </a:buCl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Shares with a price less than R10 (as in this case) are called </a:t>
            </a:r>
            <a:r>
              <a:rPr 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penny stocks</a:t>
            </a:r>
          </a:p>
        </p:txBody>
      </p:sp>
      <p:sp>
        <p:nvSpPr>
          <p:cNvPr id="63492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8B0D7B-7331-4CA0-BB58-340D25753779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Constant growth (cont.)</a:t>
            </a:r>
            <a:endParaRPr lang="en-GB" b="1" kern="0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080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78"/>
    </mc:Choice>
    <mc:Fallback xmlns="">
      <p:transition spd="slow" advTm="753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95400"/>
            <a:ext cx="8362950" cy="5105400"/>
          </a:xfrm>
        </p:spPr>
        <p:txBody>
          <a:bodyPr/>
          <a:lstStyle/>
          <a:p>
            <a:pPr algn="just">
              <a:buClr>
                <a:schemeClr val="tx2"/>
              </a:buClr>
            </a:pP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Stability Company has just paid a dividend of R3.50 per share. The dividend grows at a steady rate of 8% per year. Based on this information, what will the dividend be in five years? </a:t>
            </a:r>
          </a:p>
          <a:p>
            <a:pPr algn="just">
              <a:buClr>
                <a:schemeClr val="tx2"/>
              </a:buClr>
            </a:pP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just">
              <a:buClr>
                <a:schemeClr val="tx2"/>
              </a:buClr>
              <a:buNone/>
            </a:pPr>
            <a:r>
              <a:rPr lang="en-US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= D</a:t>
            </a:r>
            <a:r>
              <a:rPr lang="en-US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US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</a:t>
            </a:r>
          </a:p>
          <a:p>
            <a:pPr marL="457200" lvl="1" indent="0" algn="just">
              <a:buClr>
                <a:schemeClr val="tx2"/>
              </a:buClr>
              <a:buNone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	 	= D</a:t>
            </a:r>
            <a:r>
              <a:rPr lang="en-US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</a:t>
            </a:r>
            <a:r>
              <a:rPr lang="en-US" altLang="en-US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  <a:p>
            <a:pPr marL="457200" lvl="1" indent="0" algn="just">
              <a:buClr>
                <a:schemeClr val="tx2"/>
              </a:buClr>
              <a:buNone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	= 3.50(1 + 0.08)</a:t>
            </a:r>
            <a:r>
              <a:rPr lang="en-US" altLang="en-US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  <a:p>
            <a:pPr marL="457200" lvl="1" indent="0" algn="just">
              <a:buClr>
                <a:schemeClr val="tx2"/>
              </a:buClr>
              <a:buNone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	= </a:t>
            </a: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R………</a:t>
            </a:r>
          </a:p>
          <a:p>
            <a:pPr lvl="1" algn="just">
              <a:buFontTx/>
              <a:buNone/>
            </a:pPr>
            <a:r>
              <a:rPr lang="en-US" altLang="en-US" baseline="30000" dirty="0"/>
              <a:t>            </a:t>
            </a:r>
          </a:p>
        </p:txBody>
      </p:sp>
      <p:sp>
        <p:nvSpPr>
          <p:cNvPr id="64515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1D816A-BBE7-4F0D-95A7-E6F44008D88D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Constant growth (cont.)…another use</a:t>
            </a:r>
            <a:endParaRPr lang="en-GB" b="1" kern="0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72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327"/>
    </mc:Choice>
    <mc:Fallback xmlns="">
      <p:transition spd="slow" advTm="623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915400" cy="58674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defRPr/>
            </a:pPr>
            <a:r>
              <a:rPr lang="en-ZA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Dividend growth inconsistent initially, but settles down to constant growth eventually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During very good times in the economy or in specific industries e.g. 30% growth rate in first 3 years, then steady 5% growth rate forever…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Industries’ growth currently? Food vs apparel?</a:t>
            </a:r>
          </a:p>
          <a:p>
            <a:pPr lvl="2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defRPr/>
            </a:pPr>
            <a:r>
              <a:rPr lang="en-ZA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Slowing picking up again: Life Insurance and Food Producers</a:t>
            </a:r>
          </a:p>
          <a:p>
            <a:pPr lvl="2" algn="just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defRPr/>
            </a:pPr>
            <a:r>
              <a:rPr lang="en-ZA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 or slow growth currently: Health Care Providers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 it with STEPS (applying the same eq.!)</a:t>
            </a:r>
          </a:p>
          <a:p>
            <a:pPr lvl="1" indent="-342900" algn="just">
              <a:lnSpc>
                <a:spcPct val="90000"/>
              </a:lnSpc>
              <a:spcBef>
                <a:spcPts val="0"/>
              </a:spcBef>
              <a:buClr>
                <a:srgbClr val="1F497D"/>
              </a:buClr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FF0000"/>
                </a:solidFill>
                <a:highlight>
                  <a:srgbClr val="00FFFF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But, “twice”, since there are 2 periods…</a:t>
            </a:r>
          </a:p>
          <a:p>
            <a:pPr marL="93663" lvl="1" indent="0" algn="just">
              <a:lnSpc>
                <a:spcPct val="90000"/>
              </a:lnSpc>
              <a:spcBef>
                <a:spcPts val="0"/>
              </a:spcBef>
              <a:buClr>
                <a:srgbClr val="1F497D"/>
              </a:buClr>
              <a:buNone/>
              <a:defRPr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[Note: SAME as in textbook, but slides show a simplified step-by-step way; if you understand it, it is GOLD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]</a:t>
            </a:r>
            <a:endParaRPr lang="en-ZA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90000"/>
              </a:lnSpc>
              <a:buFontTx/>
              <a:buNone/>
              <a:defRPr/>
            </a:pPr>
            <a:r>
              <a:rPr lang="en-ZA" sz="2600" dirty="0"/>
              <a:t>	</a:t>
            </a:r>
            <a:endParaRPr lang="en-GB" sz="2600" dirty="0"/>
          </a:p>
        </p:txBody>
      </p:sp>
      <p:sp>
        <p:nvSpPr>
          <p:cNvPr id="66565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25573F-D4B0-4B5F-8318-BEBC43447474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l">
              <a:defRPr/>
            </a:pPr>
            <a:r>
              <a:rPr lang="en-US" sz="34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</a:t>
            </a:r>
            <a:r>
              <a:rPr lang="en-US" sz="3400" kern="0" dirty="0">
                <a:solidFill>
                  <a:srgbClr val="1F497D"/>
                </a:solidFill>
                <a:highlight>
                  <a:srgbClr val="00FFFF"/>
                </a:highlight>
                <a:latin typeface="Tahoma"/>
                <a:ea typeface="ＭＳ Ｐゴシック"/>
              </a:rPr>
              <a:t>Variable</a:t>
            </a:r>
            <a:r>
              <a:rPr lang="en-US" sz="3400" kern="0" dirty="0">
                <a:solidFill>
                  <a:srgbClr val="1F497D"/>
                </a:solidFill>
                <a:latin typeface="Tahoma"/>
                <a:ea typeface="ＭＳ Ｐゴシック"/>
              </a:rPr>
              <a:t> growth </a:t>
            </a:r>
            <a:endParaRPr lang="en-GB" sz="34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56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52"/>
    </mc:Choice>
    <mc:Fallback xmlns="">
      <p:transition spd="slow" advTm="84352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31" y="1143000"/>
            <a:ext cx="8750170" cy="4953000"/>
          </a:xfrm>
        </p:spPr>
        <p:txBody>
          <a:bodyPr/>
          <a:lstStyle/>
          <a:p>
            <a:pPr marL="354013" lvl="1" indent="-2603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years growth rate: g = 0.25</a:t>
            </a:r>
          </a:p>
          <a:p>
            <a:pPr marL="354013" lvl="1" indent="-2603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2 years growth rate: g = 0.1</a:t>
            </a:r>
          </a:p>
          <a:p>
            <a:pPr marL="354013" lvl="1" indent="-2603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Dividends just paid (D</a:t>
            </a:r>
            <a:r>
              <a:rPr lang="en-ZA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= 5 </a:t>
            </a:r>
          </a:p>
          <a:p>
            <a:pPr marL="354013" lvl="1" indent="-2603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Required return (k) = 0.2</a:t>
            </a:r>
          </a:p>
          <a:p>
            <a:pPr marL="93663" lvl="1" indent="0" algn="ctr">
              <a:buClr>
                <a:schemeClr val="tx2"/>
              </a:buClr>
              <a:buNone/>
            </a:pPr>
            <a:r>
              <a:rPr lang="en-ZA" alt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growth periods…so, APPLY STEPS</a:t>
            </a:r>
          </a:p>
          <a:p>
            <a:endParaRPr lang="en-ZA" altLang="en-US" sz="2600" b="1" dirty="0">
              <a:solidFill>
                <a:srgbClr val="FF3300"/>
              </a:solidFill>
            </a:endParaRPr>
          </a:p>
        </p:txBody>
      </p:sp>
      <p:sp>
        <p:nvSpPr>
          <p:cNvPr id="67589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D04F9-B5ED-464D-83F8-040D7C794F54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67590" name="AutoShape 7"/>
          <p:cNvSpPr>
            <a:spLocks noChangeAspect="1" noChangeArrowheads="1"/>
          </p:cNvSpPr>
          <p:nvPr/>
        </p:nvSpPr>
        <p:spPr bwMode="auto">
          <a:xfrm>
            <a:off x="323850" y="3573463"/>
            <a:ext cx="8534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Variable growth (cont.)</a:t>
            </a:r>
            <a:endParaRPr lang="en-GB" b="1" kern="0" dirty="0">
              <a:solidFill>
                <a:srgbClr val="002060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EC461A7-5AF0-4CC3-B388-D6F18CABAAF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9303" y="3778056"/>
            <a:ext cx="8725394" cy="2924175"/>
            <a:chOff x="197" y="2267"/>
            <a:chExt cx="5769" cy="1842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9EAA8489-69B2-4C0E-9E3A-A425504F995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7" y="2285"/>
              <a:ext cx="5376" cy="1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523FC535-6AB2-439E-995D-73C67F81C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2267"/>
              <a:ext cx="253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-128"/>
                </a:rPr>
                <a:t>Non-constant (high) growth of 25%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C6D02EA6-CB87-4FF9-9625-DDBA6FC3F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282"/>
              <a:ext cx="230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-128"/>
                </a:rPr>
                <a:t>Constant growth of 10% forever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CD531153-57F8-4807-BC8D-90B96A9DC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2462"/>
              <a:ext cx="33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time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12BE390C-F81C-43EC-9364-495A84ADA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" y="2462"/>
              <a:ext cx="51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Year 0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C9526093-0A3F-4385-92FB-B7BFC08C6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" y="2462"/>
              <a:ext cx="51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Year 1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A553BAD9-F87E-4CCD-916E-4120EE8D3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2" y="2462"/>
              <a:ext cx="51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Year 2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B26784A2-9289-4700-803E-E3186A506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" y="2456"/>
              <a:ext cx="165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Year 3 and into infinity 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7B40C9C1-FC8D-4368-962F-176B69920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2705"/>
              <a:ext cx="6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Dividend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A3960B96-AA9E-4AE3-803C-08BB54803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2705"/>
              <a:ext cx="1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D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FF213926-7742-476F-BA4C-5263EA91A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789"/>
              <a:ext cx="9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0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CAC6ED9E-3A55-43EA-9F04-0BE68EDA6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705"/>
              <a:ext cx="49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= 5.00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FDBB42FF-5D21-49BA-B592-335AD6573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" y="2705"/>
              <a:ext cx="1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D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C4E1E8ED-01F5-4D4E-BFF6-9EDC5BB10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1" y="2789"/>
              <a:ext cx="9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1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FDAC3C50-6769-44E2-A84F-9AD799929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705"/>
              <a:ext cx="501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= 6.25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0491BB32-B681-4215-AD5F-CDFBD8EDA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2705"/>
              <a:ext cx="1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D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E89D40B6-115C-4F69-9BF3-DCFC8B767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" y="2789"/>
              <a:ext cx="9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2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079FABE5-5434-4C07-85A4-EA2BD2C77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705"/>
              <a:ext cx="501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= 7.81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4943FBC6-E314-4BAF-BDD8-E60A3CDF4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" y="2789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2B31FC44-26B0-4458-9FB2-4417D4CCB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2705"/>
              <a:ext cx="1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D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6165B665-E325-454C-A942-07AFDA7A7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2789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3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047F1478-E917-47EE-8A6A-A02ED7320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2705"/>
              <a:ext cx="501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= 8.59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C15D4C00-AA16-4913-A823-33B688D23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2933"/>
              <a:ext cx="4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PV D1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10DFDDEB-8900-4A98-A871-3B7B7ACE6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" y="2928"/>
              <a:ext cx="28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ＭＳ Ｐゴシック" charset="-128"/>
                </a:rPr>
                <a:t>ß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9B050759-8199-4B88-90B0-099864008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2933"/>
              <a:ext cx="28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ＭＳ Ｐゴシック" charset="-128"/>
                </a:rPr>
                <a:t>ß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3645E660-8B4E-4AEA-B76F-9347AFD19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3163"/>
              <a:ext cx="4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PV D2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7A19A401-CDEC-400F-A7B9-F9E7A68B0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" y="3158"/>
              <a:ext cx="28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ＭＳ Ｐゴシック" charset="-128"/>
                </a:rPr>
                <a:t>ß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3AED1D7E-1002-4524-9E41-B7856033E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" y="3163"/>
              <a:ext cx="28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ＭＳ Ｐゴシック" charset="-128"/>
                </a:rPr>
                <a:t>ß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6699E35E-F033-4315-8F57-30EAEA0FA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339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C33D953E-C099-42B7-AAD4-07E6B81A7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3633"/>
              <a:ext cx="43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PV P2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6C8FE86A-A259-4243-83F6-913F2F088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" y="3618"/>
              <a:ext cx="28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ＭＳ Ｐゴシック" charset="-128"/>
                </a:rPr>
                <a:t>ß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ECAE2E07-7ECB-4083-B7B0-263240DAB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3618"/>
              <a:ext cx="28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ＭＳ Ｐゴシック" charset="-128"/>
                </a:rPr>
                <a:t>ß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999261EF-8EBA-48E8-93BC-38C5F0324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3618"/>
              <a:ext cx="18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 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F5B783E3-9D80-4E9F-9A04-DF474B3EE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1" y="3701"/>
              <a:ext cx="8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2 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AC55962E-C504-4565-B691-766902D9F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8" y="3618"/>
              <a:ext cx="54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= 85.90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BE8B7A26-07B9-43F2-A0AF-90DBB88F9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3875"/>
              <a:ext cx="84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-128"/>
                </a:rPr>
                <a:t>Sum of PVs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endParaRPr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A0090CE4-7C16-4BC2-B501-87EF55F53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2450"/>
              <a:ext cx="26" cy="2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64A0CEA1-02DE-4188-8D32-F968F8A47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2450"/>
              <a:ext cx="26" cy="2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06E63F19-7AD0-44D9-AD9C-C51E7C804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2450"/>
              <a:ext cx="26" cy="2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3961B1E2-B9A7-4441-9622-386106FB8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2921"/>
              <a:ext cx="26" cy="2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E98C8418-EA43-4232-98E5-3F558FFAA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2921"/>
              <a:ext cx="26" cy="4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5EA6CD02-B38F-431C-B47F-617FF573B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6" y="2450"/>
              <a:ext cx="27" cy="2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4" name="Rectangle 54">
              <a:extLst>
                <a:ext uri="{FF2B5EF4-FFF2-40B4-BE49-F238E27FC236}">
                  <a16:creationId xmlns:a16="http://schemas.microsoft.com/office/drawing/2014/main" id="{D9B7A94C-7500-4DFB-BA67-7657B2B9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" y="2665"/>
              <a:ext cx="4512" cy="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5" name="Rectangle 55">
              <a:extLst>
                <a:ext uri="{FF2B5EF4-FFF2-40B4-BE49-F238E27FC236}">
                  <a16:creationId xmlns:a16="http://schemas.microsoft.com/office/drawing/2014/main" id="{4BA6E849-B12D-4103-9D27-A082AFFE8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" y="3136"/>
              <a:ext cx="1411" cy="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6" name="Rectangle 56">
              <a:extLst>
                <a:ext uri="{FF2B5EF4-FFF2-40B4-BE49-F238E27FC236}">
                  <a16:creationId xmlns:a16="http://schemas.microsoft.com/office/drawing/2014/main" id="{3A0B6426-4991-419B-80ED-68097C406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" y="3366"/>
              <a:ext cx="2110" cy="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61F542B8-9283-41BC-9AD3-43D55A346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" y="3848"/>
              <a:ext cx="2841" cy="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33BD3ACA-2A63-D028-4706-6140C9EFA12D}"/>
                  </a:ext>
                </a:extLst>
              </p:cNvPr>
              <p:cNvSpPr txBox="1"/>
              <p:nvPr/>
            </p:nvSpPr>
            <p:spPr bwMode="auto">
              <a:xfrm>
                <a:off x="6321285" y="644913"/>
                <a:ext cx="2736980" cy="1249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33BD3ACA-2A63-D028-4706-6140C9EFA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1285" y="644913"/>
                <a:ext cx="2736980" cy="1249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65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819"/>
    </mc:Choice>
    <mc:Fallback xmlns="">
      <p:transition spd="slow" advTm="85819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262782"/>
            <a:ext cx="8713788" cy="5366618"/>
          </a:xfrm>
        </p:spPr>
        <p:txBody>
          <a:bodyPr/>
          <a:lstStyle/>
          <a:p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Calculate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dividends during 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(1</a:t>
            </a:r>
            <a:r>
              <a:rPr lang="en-ZA" altLang="en-US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growth period</a:t>
            </a:r>
          </a:p>
          <a:p>
            <a:pPr marL="457200" lvl="1" indent="0"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Year 1: D</a:t>
            </a:r>
            <a:r>
              <a:rPr lang="en-ZA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= 5 x (1 + 0.25)	= 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6.25</a:t>
            </a:r>
          </a:p>
          <a:p>
            <a:pPr marL="457200" lvl="1" indent="0"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Year 2: D</a:t>
            </a:r>
            <a:r>
              <a:rPr lang="en-ZA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= 6.25 x (1 + 0.25)	= 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7.81</a:t>
            </a:r>
          </a:p>
          <a:p>
            <a:pPr marL="457200" lvl="1" indent="0">
              <a:buNone/>
            </a:pPr>
            <a:endParaRPr lang="en-ZA" altLang="en-US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2: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Calculate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 (discounted) of dividends during 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(1</a:t>
            </a:r>
            <a:r>
              <a:rPr lang="en-ZA" altLang="en-US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growth period</a:t>
            </a:r>
          </a:p>
          <a:p>
            <a:pPr marL="457200" lvl="1" indent="0" algn="just"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FV = 6.25; N = 1; I = 20; comp PV = R  5.21</a:t>
            </a:r>
          </a:p>
          <a:p>
            <a:pPr marL="457200" lvl="1" indent="0" algn="just"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FV = 7.81; N = 2; I = 20; comp PV = </a:t>
            </a:r>
            <a:r>
              <a:rPr lang="en-ZA" altLang="en-US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  5.42</a:t>
            </a:r>
          </a:p>
          <a:p>
            <a:pPr lvl="1" algn="just">
              <a:buFontTx/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     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Total: 	R10.63</a:t>
            </a:r>
            <a:endParaRPr lang="en-ZA" alt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ZA" altLang="en-US" sz="1800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GB" altLang="en-US" sz="24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613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8BC110-D03F-45C1-9580-E28379813C28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Variable growth (cont.)</a:t>
            </a:r>
            <a:endParaRPr lang="en-GB" b="1" kern="0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125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123"/>
    </mc:Choice>
    <mc:Fallback xmlns="">
      <p:transition spd="slow" advTm="1811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839200" cy="5562600"/>
          </a:xfrm>
        </p:spPr>
        <p:txBody>
          <a:bodyPr/>
          <a:lstStyle/>
          <a:p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3: 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Determine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all the constant dividends which will occur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(@ end of) 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growth period (thus 2</a:t>
            </a:r>
            <a:r>
              <a:rPr lang="en-ZA" altLang="en-US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period now)</a:t>
            </a:r>
          </a:p>
          <a:p>
            <a:pPr marL="0" indent="0" algn="just"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nn-NO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nn-NO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nn-NO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nn-NO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nn-NO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</a:t>
            </a:r>
          </a:p>
          <a:p>
            <a:pPr marL="0" indent="0" algn="just">
              <a:buNone/>
            </a:pPr>
            <a:r>
              <a:rPr lang="nn-NO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= 7.81(1.1) </a:t>
            </a:r>
          </a:p>
          <a:p>
            <a:pPr marL="0" indent="0" algn="just">
              <a:buNone/>
            </a:pPr>
            <a:r>
              <a:rPr lang="nn-NO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= 8.59 </a:t>
            </a:r>
            <a:endParaRPr lang="en-ZA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endParaRPr lang="en-ZA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P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=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(k – g)</a:t>
            </a:r>
            <a:endParaRPr lang="en-ZA" altLang="en-US" sz="28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		= 8.59 / (0.2 – 0.1)      </a:t>
            </a:r>
            <a:r>
              <a:rPr lang="en-ZA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g = 0.1 now! </a:t>
            </a:r>
          </a:p>
          <a:p>
            <a:pPr lvl="1" algn="just">
              <a:buFontTx/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		= 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R85.90</a:t>
            </a:r>
            <a:r>
              <a:rPr lang="en-ZA" altLang="en-US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en-ZA" alt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endParaRPr lang="en-ZA" alt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just">
              <a:buFont typeface="Arial" charset="0"/>
              <a:buNone/>
              <a:defRPr/>
            </a:pPr>
            <a:endParaRPr lang="en-ZA" sz="24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endParaRPr lang="en-ZA" altLang="en-US" sz="24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endParaRPr lang="en-ZA" altLang="en-US" sz="24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r>
              <a:rPr lang="en-ZA" alt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en-GB" altLang="en-US" sz="24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635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AB696F-26C9-4F23-96E9-769BE70D16A8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Variable growth (cont.)</a:t>
            </a:r>
            <a:endParaRPr lang="en-GB" b="1" kern="0" dirty="0">
              <a:solidFill>
                <a:srgbClr val="00206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64DBEA1-D141-6C14-A827-10347DD14DCC}"/>
              </a:ext>
            </a:extLst>
          </p:cNvPr>
          <p:cNvSpPr/>
          <p:nvPr/>
        </p:nvSpPr>
        <p:spPr bwMode="auto">
          <a:xfrm>
            <a:off x="5218113" y="3408784"/>
            <a:ext cx="3657600" cy="1676400"/>
          </a:xfrm>
          <a:prstGeom prst="ellipse">
            <a:avLst/>
          </a:prstGeom>
          <a:solidFill>
            <a:srgbClr val="E3F3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pitchFamily="1" charset="-128"/>
              </a:rPr>
              <a:t>Ended after 2 years, so need P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pitchFamily="1" charset="-128"/>
              </a:rPr>
              <a:t>2</a:t>
            </a:r>
            <a:endParaRPr kumimoji="0" lang="en-ZA" sz="2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672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088"/>
    </mc:Choice>
    <mc:Fallback xmlns="">
      <p:transition spd="slow" advTm="111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486400"/>
          </a:xfrm>
        </p:spPr>
        <p:txBody>
          <a:bodyPr/>
          <a:lstStyle/>
          <a:p>
            <a:pPr algn="just">
              <a:buFont typeface="Arial" charset="0"/>
              <a:buChar char="•"/>
              <a:defRPr/>
            </a:pPr>
            <a:r>
              <a:rPr lang="en-ZA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4: </a:t>
            </a: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Determine the </a:t>
            </a:r>
            <a:r>
              <a:rPr lang="en-ZA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</a:t>
            </a: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the constant CFs </a:t>
            </a:r>
            <a:r>
              <a:rPr lang="en-ZA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(@ end of) </a:t>
            </a: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growth period (thus 2</a:t>
            </a:r>
            <a:r>
              <a:rPr lang="en-ZA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period now)</a:t>
            </a:r>
          </a:p>
          <a:p>
            <a:pPr marL="0" indent="0" algn="just">
              <a:buNone/>
              <a:defRPr/>
            </a:pP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[i.e. the PV of what you calculated in step 3]</a:t>
            </a:r>
          </a:p>
          <a:p>
            <a:pPr marL="457200" lvl="1" indent="0" algn="just">
              <a:buNone/>
              <a:defRPr/>
            </a:pP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FV = 85.90; N = 2; I = 20; comp PV = </a:t>
            </a:r>
            <a:r>
              <a:rPr lang="en-ZA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R59.65</a:t>
            </a:r>
          </a:p>
          <a:p>
            <a:pPr marL="457200" lvl="1" indent="0" algn="just">
              <a:buNone/>
              <a:defRPr/>
            </a:pPr>
            <a:endParaRPr lang="en-ZA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charset="0"/>
              <a:buChar char="•"/>
              <a:defRPr/>
            </a:pPr>
            <a:r>
              <a:rPr lang="en-ZA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5: </a:t>
            </a: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 the </a:t>
            </a:r>
            <a:r>
              <a:rPr lang="en-ZA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all the </a:t>
            </a:r>
            <a:r>
              <a:rPr lang="en-ZA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PVs</a:t>
            </a:r>
            <a:r>
              <a:rPr lang="en-ZA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[i.e. those calculated in steps 2 and 4]</a:t>
            </a:r>
          </a:p>
          <a:p>
            <a:pPr marL="457200" lvl="1" indent="0" algn="just">
              <a:buNone/>
              <a:defRPr/>
            </a:pP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ZA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10.63 + 59.65= </a:t>
            </a:r>
            <a:r>
              <a:rPr lang="en-ZA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R70.28</a:t>
            </a:r>
          </a:p>
          <a:p>
            <a:pPr marL="457200" lvl="1" indent="0" algn="just">
              <a:buFont typeface="Arial" charset="0"/>
              <a:buNone/>
              <a:defRPr/>
            </a:pPr>
            <a:endParaRPr lang="en-ZA" sz="24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endParaRPr lang="en-ZA" altLang="en-US" sz="24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endParaRPr lang="en-ZA" altLang="en-US" sz="24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Tx/>
              <a:buNone/>
            </a:pPr>
            <a:r>
              <a:rPr lang="en-ZA" alt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en-GB" altLang="en-US" sz="24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635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AB696F-26C9-4F23-96E9-769BE70D16A8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pPr algn="l">
              <a:defRPr/>
            </a:pP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Variable growth (cont.)</a:t>
            </a:r>
            <a:endParaRPr lang="en-GB" b="1" kern="0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351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14"/>
    </mc:Choice>
    <mc:Fallback xmlns="">
      <p:transition spd="slow" advTm="701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308" y="762000"/>
            <a:ext cx="8833092" cy="6087140"/>
          </a:xfrm>
        </p:spPr>
        <p:txBody>
          <a:bodyPr/>
          <a:lstStyle/>
          <a:p>
            <a:pPr algn="just">
              <a:spcBef>
                <a:spcPts val="0"/>
              </a:spcBef>
              <a:buClr>
                <a:schemeClr val="tx2"/>
              </a:buClr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Suppose a firm’s shares are selling for R10.50. They just paid a R1 dividend and dividends are expected to grow at 5% p.a. What is the required return (k)? </a:t>
            </a:r>
          </a:p>
          <a:p>
            <a:pPr algn="just">
              <a:spcBef>
                <a:spcPts val="0"/>
              </a:spcBef>
              <a:buClr>
                <a:schemeClr val="tx2"/>
              </a:buClr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dividend growth model…just play around with it…     </a:t>
            </a:r>
          </a:p>
          <a:p>
            <a:pPr marL="0" indent="0" algn="just">
              <a:spcBef>
                <a:spcPts val="0"/>
              </a:spcBef>
              <a:buClr>
                <a:schemeClr val="tx2"/>
              </a:buClr>
              <a:buNone/>
            </a:pPr>
            <a:endParaRPr lang="en-ZA" alt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just">
              <a:spcBef>
                <a:spcPts val="0"/>
              </a:spcBef>
              <a:buClr>
                <a:schemeClr val="tx2"/>
              </a:buClr>
              <a:buNone/>
            </a:pP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 	= (D</a:t>
            </a:r>
            <a:r>
              <a:rPr lang="en-ZA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P</a:t>
            </a:r>
            <a:r>
              <a:rPr lang="en-ZA" altLang="en-US" b="1" baseline="-25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+ g</a:t>
            </a:r>
          </a:p>
          <a:p>
            <a:pPr marL="457200" lvl="1" indent="0" algn="just">
              <a:spcBef>
                <a:spcPts val="0"/>
              </a:spcBef>
              <a:buClr>
                <a:schemeClr val="tx2"/>
              </a:buClr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= (1.05 / 10.50) + 0.05</a:t>
            </a:r>
          </a:p>
          <a:p>
            <a:pPr marL="457200" lvl="1" indent="0" algn="just">
              <a:spcBef>
                <a:spcPts val="0"/>
              </a:spcBef>
              <a:buClr>
                <a:schemeClr val="tx2"/>
              </a:buClr>
              <a:buNone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= 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15%</a:t>
            </a:r>
            <a:r>
              <a:rPr lang="en-ZA" altLang="en-US" b="1" dirty="0">
                <a:solidFill>
                  <a:srgbClr val="00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457200" lvl="1" indent="0" algn="just">
              <a:spcBef>
                <a:spcPts val="0"/>
              </a:spcBef>
              <a:buClr>
                <a:schemeClr val="tx2"/>
              </a:buClr>
              <a:buNone/>
            </a:pPr>
            <a:r>
              <a:rPr lang="en-ZA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[Remember: we show returns as a % as it is then easier to compare different investment opportunities]</a:t>
            </a:r>
          </a:p>
          <a:p>
            <a:pPr algn="just">
              <a:spcBef>
                <a:spcPts val="0"/>
              </a:spcBef>
              <a:buClr>
                <a:schemeClr val="tx2"/>
              </a:buClr>
            </a:pPr>
            <a:endParaRPr lang="en-ZA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ts val="0"/>
              </a:spcBef>
              <a:buClr>
                <a:schemeClr val="tx2"/>
              </a:buClr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two parts to this return: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dividend yield…?       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</a:t>
            </a:r>
            <a:r>
              <a:rPr lang="en-ZA" altLang="en-US" b="1" baseline="-25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P</a:t>
            </a:r>
            <a:r>
              <a:rPr lang="en-ZA" altLang="en-US" b="1" baseline="-25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10%</a:t>
            </a:r>
            <a:r>
              <a:rPr lang="en-ZA" altLang="en-US" b="1" dirty="0">
                <a:solidFill>
                  <a:srgbClr val="FF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1" algn="just"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Z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capital gains yield…?  </a:t>
            </a:r>
            <a:r>
              <a:rPr lang="en-ZA" alt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     5%</a:t>
            </a:r>
          </a:p>
          <a:p>
            <a:pPr algn="just"/>
            <a:endParaRPr lang="en-ZA" altLang="en-US" sz="2800" dirty="0"/>
          </a:p>
          <a:p>
            <a:pPr lvl="1"/>
            <a:endParaRPr lang="en-GB" altLang="en-US" b="1" dirty="0">
              <a:solidFill>
                <a:srgbClr val="FF3300"/>
              </a:solidFill>
            </a:endParaRPr>
          </a:p>
        </p:txBody>
      </p:sp>
      <p:sp>
        <p:nvSpPr>
          <p:cNvPr id="71685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36E445-5BA2-4015-BC55-CDA2FC685F71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762000"/>
          </a:xfrm>
        </p:spPr>
        <p:txBody>
          <a:bodyPr/>
          <a:lstStyle/>
          <a:p>
            <a:pPr algn="l">
              <a:defRPr/>
            </a:pPr>
            <a:r>
              <a:rPr 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Valuation of ordinary shares – Other uses</a:t>
            </a:r>
            <a:endParaRPr lang="en-GB" b="1" kern="0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696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779"/>
    </mc:Choice>
    <mc:Fallback xmlns="">
      <p:transition spd="slow" advTm="1437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l"/>
            <a:r>
              <a:rPr lang="en-US" altLang="en-US" sz="3600" dirty="0">
                <a:solidFill>
                  <a:schemeClr val="tx2"/>
                </a:solidFill>
                <a:cs typeface="ＭＳ Ｐゴシック" charset="-128"/>
              </a:rPr>
              <a:t>Valuation of ordinary shares – Variable growth (cont.)…another example</a:t>
            </a:r>
            <a:endParaRPr lang="en-GB" altLang="en-US" sz="3600" dirty="0">
              <a:solidFill>
                <a:schemeClr val="tx2"/>
              </a:solidFill>
              <a:cs typeface="ＭＳ Ｐゴシック" charset="-128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295400"/>
            <a:ext cx="7978775" cy="4648200"/>
          </a:xfrm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g = 0.3 (for 3 years) thereafter g = 0.07 (forever); k = 0.23;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1.50; P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?</a:t>
            </a:r>
          </a:p>
          <a:p>
            <a:pPr algn="ctr">
              <a:buNone/>
            </a:pPr>
            <a:r>
              <a:rPr lang="en-ZA" alt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growth periods…so, APPLY STEPS</a:t>
            </a:r>
          </a:p>
          <a:p>
            <a:pPr>
              <a:buFontTx/>
              <a:buNone/>
            </a:pPr>
            <a:endParaRPr lang="en-GB" altLang="en-US" sz="2800" b="1" dirty="0">
              <a:solidFill>
                <a:srgbClr val="00FF00"/>
              </a:solidFill>
            </a:endParaRPr>
          </a:p>
        </p:txBody>
      </p:sp>
      <p:graphicFrame>
        <p:nvGraphicFramePr>
          <p:cNvPr id="74757" name="Object 2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52974683"/>
              </p:ext>
            </p:extLst>
          </p:nvPr>
        </p:nvGraphicFramePr>
        <p:xfrm>
          <a:off x="282575" y="3058854"/>
          <a:ext cx="8610600" cy="354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931806" imgH="1533121" progId="Excel.Sheet.8">
                  <p:embed/>
                </p:oleObj>
              </mc:Choice>
              <mc:Fallback>
                <p:oleObj name="Worksheet" r:id="rId2" imgW="4931806" imgH="1533121" progId="Excel.Sheet.8">
                  <p:embed/>
                  <p:pic>
                    <p:nvPicPr>
                      <p:cNvPr id="74757" name="Object 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3058854"/>
                        <a:ext cx="8610600" cy="354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A48E2B-44B1-4F06-A06B-81E8D10123C1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93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34"/>
    </mc:Choice>
    <mc:Fallback xmlns="">
      <p:transition spd="slow" advTm="31234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l"/>
            <a:r>
              <a:rPr lang="en-US" altLang="en-US" sz="3600" dirty="0">
                <a:solidFill>
                  <a:schemeClr val="tx2"/>
                </a:solidFill>
                <a:cs typeface="ＭＳ Ｐゴシック" charset="-128"/>
              </a:rPr>
              <a:t>Valuation of ordinary shares – Variable growth (cont.)…another example</a:t>
            </a:r>
            <a:endParaRPr lang="en-GB" altLang="en-US" sz="4000" b="1" dirty="0">
              <a:solidFill>
                <a:srgbClr val="002060"/>
              </a:solidFill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143000"/>
            <a:ext cx="8515350" cy="56835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Calculate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dividends during 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(1</a:t>
            </a:r>
            <a:r>
              <a:rPr lang="en-ZA" altLang="en-US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growth period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1.50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= 1.50 (1.3) = </a:t>
            </a:r>
            <a:r>
              <a:rPr lang="en-ZA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1.95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= 1.95 (1.3) = </a:t>
            </a:r>
            <a:r>
              <a:rPr lang="en-ZA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2.54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= 2.54 (1.3) = </a:t>
            </a:r>
            <a:r>
              <a:rPr lang="en-ZA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…….</a:t>
            </a:r>
          </a:p>
          <a:p>
            <a:pPr>
              <a:lnSpc>
                <a:spcPct val="90000"/>
              </a:lnSpc>
              <a:buFontTx/>
              <a:buNone/>
            </a:pPr>
            <a:endParaRPr lang="en-ZA" altLang="en-US" sz="1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2: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Calculate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 of dividends during 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(1</a:t>
            </a:r>
            <a:r>
              <a:rPr lang="en-ZA" altLang="en-US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growth period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= 1;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23;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FV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-1.95; comp PV = 1.59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= 2;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23;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FV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-2.54; comp PV = 1.68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= 3;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23;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FV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-3.30; comp PV = 1.77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= </a:t>
            </a:r>
            <a:r>
              <a:rPr lang="en-ZA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5.04</a:t>
            </a:r>
            <a:endParaRPr lang="en-GB" altLang="en-US" sz="28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5780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BE0263-3128-4839-8EA0-53AB0F8CDCCC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558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622"/>
    </mc:Choice>
    <mc:Fallback xmlns="">
      <p:transition spd="slow" advTm="356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7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7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95400"/>
            <a:ext cx="8588375" cy="5105400"/>
          </a:xfrm>
        </p:spPr>
        <p:txBody>
          <a:bodyPr/>
          <a:lstStyle/>
          <a:p>
            <a:pPr algn="just"/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3: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Determine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all the constant dividends which will occur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(@ end of)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variable growth period (thus 2</a:t>
            </a:r>
            <a:r>
              <a:rPr lang="en-ZA" altLang="en-US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period now)</a:t>
            </a:r>
          </a:p>
          <a:p>
            <a:endParaRPr lang="en-ZA" altLang="en-US" sz="1800" b="1" dirty="0">
              <a:solidFill>
                <a:srgbClr val="00FF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=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 + g) = 3.30 x (1.07)        </a:t>
            </a:r>
            <a:r>
              <a:rPr lang="en-ZA" altLang="en-US" sz="28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(NB: g = 7%)</a:t>
            </a:r>
          </a:p>
          <a:p>
            <a:pPr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	= 3.53</a:t>
            </a:r>
            <a:endParaRPr lang="en-GB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Tx/>
              <a:buNone/>
            </a:pPr>
            <a:endParaRPr lang="en-ZA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= D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(R – g)</a:t>
            </a:r>
          </a:p>
          <a:p>
            <a:pPr>
              <a:buFontTx/>
              <a:buNone/>
            </a:pPr>
            <a:r>
              <a:rPr lang="en-GB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	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3.53 / (0.23 – 0.07</a:t>
            </a:r>
            <a:r>
              <a:rPr lang="en-GB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= </a:t>
            </a:r>
            <a:r>
              <a:rPr lang="en-ZA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R22.06</a:t>
            </a:r>
            <a:r>
              <a:rPr lang="en-GB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>
              <a:buFontTx/>
              <a:buNone/>
            </a:pPr>
            <a:endParaRPr lang="en-ZA" altLang="en-US" sz="2800" b="1" dirty="0">
              <a:solidFill>
                <a:srgbClr val="0000FF"/>
              </a:solidFill>
            </a:endParaRPr>
          </a:p>
          <a:p>
            <a:pPr>
              <a:buFontTx/>
              <a:buNone/>
            </a:pPr>
            <a:endParaRPr lang="en-ZA" altLang="en-US" sz="2800" b="1" dirty="0">
              <a:solidFill>
                <a:srgbClr val="00FF00"/>
              </a:solidFill>
            </a:endParaRPr>
          </a:p>
        </p:txBody>
      </p:sp>
      <p:sp>
        <p:nvSpPr>
          <p:cNvPr id="76804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2A5F5B-E9A5-40BF-903A-D750B84A0B19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l"/>
            <a:r>
              <a:rPr lang="en-US" altLang="en-US" sz="3600" dirty="0">
                <a:solidFill>
                  <a:schemeClr val="tx2"/>
                </a:solidFill>
                <a:cs typeface="ＭＳ Ｐゴシック" charset="-128"/>
              </a:rPr>
              <a:t>Valuation of ordinary shares – Variable growth (cont.)…another example</a:t>
            </a:r>
            <a:endParaRPr lang="en-GB" altLang="en-US" sz="4000" b="1" dirty="0">
              <a:solidFill>
                <a:srgbClr val="00206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EE5C77-6FBB-989E-3ADC-A653B484E1A4}"/>
              </a:ext>
            </a:extLst>
          </p:cNvPr>
          <p:cNvSpPr/>
          <p:nvPr/>
        </p:nvSpPr>
        <p:spPr bwMode="auto">
          <a:xfrm>
            <a:off x="5235575" y="4114800"/>
            <a:ext cx="3657600" cy="1676400"/>
          </a:xfrm>
          <a:prstGeom prst="ellipse">
            <a:avLst/>
          </a:prstGeom>
          <a:solidFill>
            <a:srgbClr val="E3F3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pitchFamily="1" charset="-128"/>
              </a:rPr>
              <a:t>Ended after 3 years, so need P</a:t>
            </a:r>
            <a:r>
              <a:rPr lang="en-US" baseline="-25000" dirty="0">
                <a:solidFill>
                  <a:srgbClr val="FF0000"/>
                </a:solidFill>
                <a:ea typeface="ＭＳ Ｐゴシック" pitchFamily="1" charset="-128"/>
              </a:rPr>
              <a:t>3</a:t>
            </a:r>
            <a:endParaRPr kumimoji="0" lang="en-ZA" sz="2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820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45"/>
    </mc:Choice>
    <mc:Fallback xmlns="">
      <p:transition spd="slow" advTm="369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812213" cy="5562599"/>
          </a:xfrm>
        </p:spPr>
        <p:txBody>
          <a:bodyPr/>
          <a:lstStyle/>
          <a:p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4: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determine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the constant CFs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(@ end of) 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growth period (thus 2</a:t>
            </a:r>
            <a:r>
              <a:rPr lang="en-ZA" altLang="en-US" sz="2800" b="1" baseline="30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period now)</a:t>
            </a:r>
          </a:p>
          <a:p>
            <a:pPr marL="0" indent="0">
              <a:buNone/>
            </a:pP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[i.e. the PV of what you calculated in step 3]</a:t>
            </a:r>
          </a:p>
          <a:p>
            <a:pPr>
              <a:buFontTx/>
              <a:buNone/>
            </a:pPr>
            <a:r>
              <a:rPr lang="en-ZA" alt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 of P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n = 3;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23; </a:t>
            </a:r>
            <a:r>
              <a:rPr lang="en-ZA" alt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FV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-22.06; </a:t>
            </a:r>
          </a:p>
          <a:p>
            <a:pPr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comp PV = </a:t>
            </a:r>
            <a:r>
              <a:rPr lang="en-ZA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R………</a:t>
            </a:r>
            <a:endParaRPr lang="en-ZA" altLang="en-US" sz="2800" b="1" dirty="0">
              <a:solidFill>
                <a:srgbClr val="FF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Tx/>
              <a:buNone/>
            </a:pPr>
            <a:endParaRPr lang="en-ZA" alt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ZA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5: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Get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all the </a:t>
            </a:r>
            <a:r>
              <a:rPr lang="en-ZA" altLang="en-US" sz="28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PVs</a:t>
            </a:r>
            <a:r>
              <a:rPr lang="en-ZA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[i.e. those calculated in steps 2 and 4]</a:t>
            </a:r>
          </a:p>
          <a:p>
            <a:pPr>
              <a:buFontTx/>
              <a:buNone/>
            </a:pP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P</a:t>
            </a:r>
            <a:r>
              <a:rPr lang="en-ZA" altLang="en-US" sz="28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n-ZA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5.04 + 11.85 = </a:t>
            </a:r>
            <a:r>
              <a:rPr lang="en-ZA" alt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R16.89</a:t>
            </a:r>
          </a:p>
          <a:p>
            <a:pPr>
              <a:buFontTx/>
              <a:buNone/>
            </a:pPr>
            <a:endParaRPr lang="en-ZA" altLang="en-US" sz="9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FontTx/>
              <a:buNone/>
            </a:pPr>
            <a:r>
              <a:rPr lang="en-ZA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[Note textbook Example 8.6 mistake on Pg 175, see if you can correct it…]</a:t>
            </a:r>
          </a:p>
          <a:p>
            <a:pPr>
              <a:buFontTx/>
              <a:buNone/>
            </a:pPr>
            <a:endParaRPr lang="en-ZA" altLang="en-US" sz="24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Tx/>
              <a:buNone/>
            </a:pPr>
            <a:endParaRPr lang="en-ZA" altLang="en-US" sz="2800" dirty="0">
              <a:solidFill>
                <a:srgbClr val="FF3300"/>
              </a:solidFill>
            </a:endParaRPr>
          </a:p>
        </p:txBody>
      </p:sp>
      <p:sp>
        <p:nvSpPr>
          <p:cNvPr id="77827" name="Slide Number Placeholder 5"/>
          <p:cNvSpPr txBox="1">
            <a:spLocks/>
          </p:cNvSpPr>
          <p:nvPr/>
        </p:nvSpPr>
        <p:spPr bwMode="auto">
          <a:xfrm>
            <a:off x="7046913" y="651986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244024-AEAD-4A7C-A317-008448BA5CAA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l"/>
            <a:r>
              <a:rPr lang="en-US" altLang="en-US" sz="3600" dirty="0">
                <a:solidFill>
                  <a:srgbClr val="1F497D"/>
                </a:solidFill>
                <a:cs typeface="ＭＳ Ｐゴシック" charset="-128"/>
              </a:rPr>
              <a:t>Valuation of ordinary shares – Variable growth (cont.)…another example</a:t>
            </a:r>
            <a:endParaRPr lang="en-GB" altLang="en-US" sz="4000" b="1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238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70"/>
    </mc:Choice>
    <mc:Fallback xmlns="">
      <p:transition spd="slow" advTm="460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7514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Additional valuation methods and notes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762000"/>
            <a:ext cx="8807824" cy="59436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Price-earnings (P/E) ratio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Value per share = EPS x P/E ratio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See example 8.7 on pg. 176 in textbook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Using CAPM for valuation purposes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Capital asset pricing model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Discussed in Ch 6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Net asset value (NAV)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NAV </a:t>
            </a:r>
            <a:r>
              <a:rPr lang="en-US" i="1" dirty="0"/>
              <a:t>vs</a:t>
            </a:r>
            <a:r>
              <a:rPr lang="en-US" dirty="0"/>
              <a:t> </a:t>
            </a:r>
            <a:r>
              <a:rPr lang="en-US" dirty="0" err="1"/>
              <a:t>sh</a:t>
            </a:r>
            <a:r>
              <a:rPr lang="en-US" dirty="0"/>
              <a:t> price to see if trading at a premium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Substantial assets but low profits may trade at a discount to NAV; so, NAV &gt; </a:t>
            </a:r>
            <a:r>
              <a:rPr lang="en-US" dirty="0" err="1"/>
              <a:t>sh</a:t>
            </a:r>
            <a:r>
              <a:rPr lang="en-US" dirty="0"/>
              <a:t> price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What does this indicate…? </a:t>
            </a:r>
            <a:endParaRPr lang="en-US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500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0510"/>
            <a:ext cx="9144000" cy="7514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Additional valuation methods and notes </a:t>
            </a:r>
            <a:r>
              <a:rPr lang="en-US" sz="2000" dirty="0">
                <a:solidFill>
                  <a:schemeClr val="tx2"/>
                </a:solidFill>
              </a:rPr>
              <a:t>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91600" cy="59436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Net asset value (NAV)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See example 8.9 on pg. 178 in textbook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NAV = (TA – TL) / issued ordinary shares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If undervalued there exists an opportunity for investors to buy shares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Main fin goal = max. SHW</a:t>
            </a:r>
          </a:p>
          <a:p>
            <a:pPr marL="857250" lvl="1" indent="-457200">
              <a:lnSpc>
                <a:spcPct val="105000"/>
              </a:lnSpc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Valuation models shows fin </a:t>
            </a:r>
            <a:r>
              <a:rPr lang="en-US" dirty="0" err="1">
                <a:solidFill>
                  <a:prstClr val="black"/>
                </a:solidFill>
                <a:latin typeface="Tahoma"/>
                <a:ea typeface="ＭＳ Ｐゴシック"/>
              </a:rPr>
              <a:t>mngt</a:t>
            </a: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 should pay close attention to div (D), growth or return (g) and req. rate of return (k) because it reflects riskiness</a:t>
            </a:r>
          </a:p>
          <a:p>
            <a:pPr marL="857250" lvl="1" indent="-457200">
              <a:lnSpc>
                <a:spcPct val="105000"/>
              </a:lnSpc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Decisions that influence these three v</a:t>
            </a:r>
            <a:r>
              <a:rPr lang="en-US" dirty="0" err="1">
                <a:solidFill>
                  <a:prstClr val="black"/>
                </a:solidFill>
                <a:latin typeface="Tahoma"/>
                <a:ea typeface="ＭＳ Ｐゴシック"/>
              </a:rPr>
              <a:t>ariables</a:t>
            </a: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 can cause the value of the firm’s share (P</a:t>
            </a:r>
            <a:r>
              <a:rPr lang="en-US" baseline="-25000" dirty="0">
                <a:solidFill>
                  <a:prstClr val="black"/>
                </a:solidFill>
                <a:latin typeface="Tahoma"/>
                <a:ea typeface="ＭＳ Ｐゴシック"/>
              </a:rPr>
              <a:t>0</a:t>
            </a: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) to change…thus influence SHW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950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8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9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  <p:transition advTm="56488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3|52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9|13.1|9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4|23.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67.9|3.1|29.5|21.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21.5|30.5|6.4|20.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1|37.4|3.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1|16|22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9|4|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8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3978</TotalTime>
  <Words>5079</Words>
  <Application>Microsoft Office PowerPoint</Application>
  <PresentationFormat>On-screen Show (4:3)</PresentationFormat>
  <Paragraphs>764</Paragraphs>
  <Slides>60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76" baseType="lpstr">
      <vt:lpstr>ＭＳ Ｐゴシック</vt:lpstr>
      <vt:lpstr>Arial</vt:lpstr>
      <vt:lpstr>Cambria Math</vt:lpstr>
      <vt:lpstr>Symbol</vt:lpstr>
      <vt:lpstr>Tahoma</vt:lpstr>
      <vt:lpstr>Times</vt:lpstr>
      <vt:lpstr>Times New Roman</vt:lpstr>
      <vt:lpstr>Wingdings</vt:lpstr>
      <vt:lpstr>Wingdings 2</vt:lpstr>
      <vt:lpstr>Blank Presentation</vt:lpstr>
      <vt:lpstr>1_Blank Presentation</vt:lpstr>
      <vt:lpstr>2_Blank Presentation</vt:lpstr>
      <vt:lpstr>3_Blank Presentation</vt:lpstr>
      <vt:lpstr>Office Theme</vt:lpstr>
      <vt:lpstr>Equation</vt:lpstr>
      <vt:lpstr>Worksheet</vt:lpstr>
      <vt:lpstr>PowerPoint Presentation</vt:lpstr>
      <vt:lpstr>Learning outcomes: Chapter 8</vt:lpstr>
      <vt:lpstr>Introduction</vt:lpstr>
      <vt:lpstr>Introduction (cont.)</vt:lpstr>
      <vt:lpstr>Bonds examples</vt:lpstr>
      <vt:lpstr>Basic valuation model</vt:lpstr>
      <vt:lpstr>Basic valuation model (cont.)</vt:lpstr>
      <vt:lpstr>Basic valuation model (cont.)</vt:lpstr>
      <vt:lpstr>Basic valuation model (cont.)</vt:lpstr>
      <vt:lpstr>Valuation of debentures</vt:lpstr>
      <vt:lpstr>Valuation of debentures (cont.)</vt:lpstr>
      <vt:lpstr>Valuation of debentures (cont.)</vt:lpstr>
      <vt:lpstr>Valuation of debentures (cont.)</vt:lpstr>
      <vt:lpstr>Valuation of debentures (cont.)</vt:lpstr>
      <vt:lpstr>Valuation of debentures – Textbook pg. 169</vt:lpstr>
      <vt:lpstr>Valuation of debentures (cont.)</vt:lpstr>
      <vt:lpstr>Valuation of debentures (cont.)</vt:lpstr>
      <vt:lpstr>Valuation of debentures</vt:lpstr>
      <vt:lpstr>Valuation of debentures (cont.)</vt:lpstr>
      <vt:lpstr>Valuation of debentures - Examples</vt:lpstr>
      <vt:lpstr>Valuation of debentures – Egs (cont.)</vt:lpstr>
      <vt:lpstr>Valuation of debentures – Egs (cont.)</vt:lpstr>
      <vt:lpstr>Valuation of debentures – Egs (cont.)</vt:lpstr>
      <vt:lpstr>Valuation of debentures – Textbook pg. 171</vt:lpstr>
      <vt:lpstr>Valuation of debentures – Egs (cont.)</vt:lpstr>
      <vt:lpstr>Valuation of shares - Examples </vt:lpstr>
      <vt:lpstr>Valuation of shares - Examples </vt:lpstr>
      <vt:lpstr>Valuation of shares - Examples </vt:lpstr>
      <vt:lpstr>Valuation of shares – Egs (cont.)</vt:lpstr>
      <vt:lpstr>PowerPoint Presentation</vt:lpstr>
      <vt:lpstr>PowerPoint Presentation</vt:lpstr>
      <vt:lpstr>Valuation of shares (cont.)</vt:lpstr>
      <vt:lpstr>Valuation of shares (cont.)</vt:lpstr>
      <vt:lpstr>Valuation of shares (cont.)</vt:lpstr>
      <vt:lpstr>Valuation of shares (cont.)</vt:lpstr>
      <vt:lpstr>Valuation of ordinary shares</vt:lpstr>
      <vt:lpstr>Valuation of ordinary shares (cont.)</vt:lpstr>
      <vt:lpstr>Valuation of ordinary shares – Example with 1 period</vt:lpstr>
      <vt:lpstr>Valuation of ordinary shares (cont.)</vt:lpstr>
      <vt:lpstr>Valuation of ordinary shares (cont.)</vt:lpstr>
      <vt:lpstr>Valuation of ordinary shares (cont.)</vt:lpstr>
      <vt:lpstr>Valuation of ordinary shares (cont.)</vt:lpstr>
      <vt:lpstr>Valuation of ordinary shares – Zero growth</vt:lpstr>
      <vt:lpstr>Valuation of ordinary shares – Constant growth</vt:lpstr>
      <vt:lpstr>Valuation of ordinary shares – Constant growth (cont.)</vt:lpstr>
      <vt:lpstr>Valuation of ordinary shares – Constant growth (cont.)</vt:lpstr>
      <vt:lpstr>Valuation of ordinary shares – Constant growth (cont.)…another use</vt:lpstr>
      <vt:lpstr>Valuation of ordinary shares – Variable growth </vt:lpstr>
      <vt:lpstr>Valuation of ordinary shares – Variable growth (cont.)</vt:lpstr>
      <vt:lpstr>Valuation of ordinary shares – Variable growth (cont.)</vt:lpstr>
      <vt:lpstr>Valuation of ordinary shares – Variable growth (cont.)</vt:lpstr>
      <vt:lpstr>Valuation of ordinary shares – Variable growth (cont.)</vt:lpstr>
      <vt:lpstr>Valuation of ordinary shares – Other uses</vt:lpstr>
      <vt:lpstr>Valuation of ordinary shares – Variable growth (cont.)…another example</vt:lpstr>
      <vt:lpstr>Valuation of ordinary shares – Variable growth (cont.)…another example</vt:lpstr>
      <vt:lpstr>Valuation of ordinary shares – Variable growth (cont.)…another example</vt:lpstr>
      <vt:lpstr>Valuation of ordinary shares – Variable growth (cont.)…another example</vt:lpstr>
      <vt:lpstr>Additional valuation methods and notes</vt:lpstr>
      <vt:lpstr>Additional valuation methods and notes (cont.)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Rootman, Chantal (Prof) (Summerstrand Campus South)</cp:lastModifiedBy>
  <cp:revision>355</cp:revision>
  <cp:lastPrinted>2022-02-09T10:40:55Z</cp:lastPrinted>
  <dcterms:created xsi:type="dcterms:W3CDTF">2010-03-21T13:43:06Z</dcterms:created>
  <dcterms:modified xsi:type="dcterms:W3CDTF">2026-02-19T09:07:40Z</dcterms:modified>
</cp:coreProperties>
</file>