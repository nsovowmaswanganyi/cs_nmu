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48" r:id="rId1"/>
    <p:sldMasterId id="2147483664" r:id="rId2"/>
  </p:sldMasterIdLst>
  <p:notesMasterIdLst>
    <p:notesMasterId r:id="rId39"/>
  </p:notesMasterIdLst>
  <p:handoutMasterIdLst>
    <p:handoutMasterId r:id="rId40"/>
  </p:handoutMasterIdLst>
  <p:sldIdLst>
    <p:sldId id="283" r:id="rId3"/>
    <p:sldId id="291" r:id="rId4"/>
    <p:sldId id="259" r:id="rId5"/>
    <p:sldId id="367" r:id="rId6"/>
    <p:sldId id="498" r:id="rId7"/>
    <p:sldId id="499" r:id="rId8"/>
    <p:sldId id="520" r:id="rId9"/>
    <p:sldId id="522" r:id="rId10"/>
    <p:sldId id="523" r:id="rId11"/>
    <p:sldId id="525" r:id="rId12"/>
    <p:sldId id="524" r:id="rId13"/>
    <p:sldId id="521" r:id="rId14"/>
    <p:sldId id="526" r:id="rId15"/>
    <p:sldId id="527" r:id="rId16"/>
    <p:sldId id="528" r:id="rId17"/>
    <p:sldId id="529" r:id="rId18"/>
    <p:sldId id="530" r:id="rId19"/>
    <p:sldId id="500" r:id="rId20"/>
    <p:sldId id="531" r:id="rId21"/>
    <p:sldId id="532" r:id="rId22"/>
    <p:sldId id="533" r:id="rId23"/>
    <p:sldId id="534" r:id="rId24"/>
    <p:sldId id="535" r:id="rId25"/>
    <p:sldId id="539" r:id="rId26"/>
    <p:sldId id="536" r:id="rId27"/>
    <p:sldId id="537" r:id="rId28"/>
    <p:sldId id="538" r:id="rId29"/>
    <p:sldId id="501" r:id="rId30"/>
    <p:sldId id="502" r:id="rId31"/>
    <p:sldId id="485" r:id="rId32"/>
    <p:sldId id="540" r:id="rId33"/>
    <p:sldId id="541" r:id="rId34"/>
    <p:sldId id="451" r:id="rId35"/>
    <p:sldId id="516" r:id="rId36"/>
    <p:sldId id="517" r:id="rId37"/>
    <p:sldId id="335" r:id="rId38"/>
  </p:sldIdLst>
  <p:sldSz cx="9144000" cy="6858000" type="screen4x3"/>
  <p:notesSz cx="6794500" cy="9931400"/>
  <p:custDataLst>
    <p:tags r:id="rId41"/>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FF00FF"/>
    <a:srgbClr val="009900"/>
    <a:srgbClr val="990000"/>
    <a:srgbClr val="3BFF9D"/>
    <a:srgbClr val="FFFFCC"/>
    <a:srgbClr val="FFFF66"/>
    <a:srgbClr val="D63A17"/>
    <a:srgbClr val="ADB3BF"/>
    <a:srgbClr val="D692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6" d="100"/>
          <a:sy n="56" d="100"/>
        </p:scale>
        <p:origin x="72" y="6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tson, Storm (Dr) (Summerstrand Campus South)" userId="cdfaa8e9-29c2-42c0-844a-5081fd85b327" providerId="ADAL" clId="{63C58DBB-974E-46DB-808B-CE07E0D2B26C}"/>
    <pc:docChg chg="custSel modSld">
      <pc:chgData name="Watson, Storm (Dr) (Summerstrand Campus South)" userId="cdfaa8e9-29c2-42c0-844a-5081fd85b327" providerId="ADAL" clId="{63C58DBB-974E-46DB-808B-CE07E0D2B26C}" dt="2026-03-27T08:54:05.856" v="4" actId="478"/>
      <pc:docMkLst>
        <pc:docMk/>
      </pc:docMkLst>
      <pc:sldChg chg="delSp mod">
        <pc:chgData name="Watson, Storm (Dr) (Summerstrand Campus South)" userId="cdfaa8e9-29c2-42c0-844a-5081fd85b327" providerId="ADAL" clId="{63C58DBB-974E-46DB-808B-CE07E0D2B26C}" dt="2026-03-27T08:53:42.346" v="0" actId="478"/>
        <pc:sldMkLst>
          <pc:docMk/>
          <pc:sldMk cId="1067134094" sldId="283"/>
        </pc:sldMkLst>
        <pc:picChg chg="del">
          <ac:chgData name="Watson, Storm (Dr) (Summerstrand Campus South)" userId="cdfaa8e9-29c2-42c0-844a-5081fd85b327" providerId="ADAL" clId="{63C58DBB-974E-46DB-808B-CE07E0D2B26C}" dt="2026-03-27T08:53:42.346" v="0" actId="478"/>
          <ac:picMkLst>
            <pc:docMk/>
            <pc:sldMk cId="1067134094" sldId="283"/>
            <ac:picMk id="4" creationId="{1022AE71-D7C8-51D0-8077-1B394481F51D}"/>
          </ac:picMkLst>
        </pc:picChg>
      </pc:sldChg>
      <pc:sldChg chg="delSp mod">
        <pc:chgData name="Watson, Storm (Dr) (Summerstrand Campus South)" userId="cdfaa8e9-29c2-42c0-844a-5081fd85b327" providerId="ADAL" clId="{63C58DBB-974E-46DB-808B-CE07E0D2B26C}" dt="2026-03-27T08:53:49.830" v="1" actId="478"/>
        <pc:sldMkLst>
          <pc:docMk/>
          <pc:sldMk cId="2590458134" sldId="499"/>
        </pc:sldMkLst>
        <pc:picChg chg="del">
          <ac:chgData name="Watson, Storm (Dr) (Summerstrand Campus South)" userId="cdfaa8e9-29c2-42c0-844a-5081fd85b327" providerId="ADAL" clId="{63C58DBB-974E-46DB-808B-CE07E0D2B26C}" dt="2026-03-27T08:53:49.830" v="1" actId="478"/>
          <ac:picMkLst>
            <pc:docMk/>
            <pc:sldMk cId="2590458134" sldId="499"/>
            <ac:picMk id="7" creationId="{CD0535F1-E449-4838-55F7-B87FC0DD3DE8}"/>
          </ac:picMkLst>
        </pc:picChg>
      </pc:sldChg>
      <pc:sldChg chg="delSp mod">
        <pc:chgData name="Watson, Storm (Dr) (Summerstrand Campus South)" userId="cdfaa8e9-29c2-42c0-844a-5081fd85b327" providerId="ADAL" clId="{63C58DBB-974E-46DB-808B-CE07E0D2B26C}" dt="2026-03-27T08:54:00" v="2" actId="478"/>
        <pc:sldMkLst>
          <pc:docMk/>
          <pc:sldMk cId="42006603" sldId="526"/>
        </pc:sldMkLst>
        <pc:picChg chg="del">
          <ac:chgData name="Watson, Storm (Dr) (Summerstrand Campus South)" userId="cdfaa8e9-29c2-42c0-844a-5081fd85b327" providerId="ADAL" clId="{63C58DBB-974E-46DB-808B-CE07E0D2B26C}" dt="2026-03-27T08:54:00" v="2" actId="478"/>
          <ac:picMkLst>
            <pc:docMk/>
            <pc:sldMk cId="42006603" sldId="526"/>
            <ac:picMk id="6" creationId="{0A786115-A19C-6F7F-DE2E-B71BCA719B8F}"/>
          </ac:picMkLst>
        </pc:picChg>
      </pc:sldChg>
      <pc:sldChg chg="delSp mod">
        <pc:chgData name="Watson, Storm (Dr) (Summerstrand Campus South)" userId="cdfaa8e9-29c2-42c0-844a-5081fd85b327" providerId="ADAL" clId="{63C58DBB-974E-46DB-808B-CE07E0D2B26C}" dt="2026-03-27T08:54:05.856" v="4" actId="478"/>
        <pc:sldMkLst>
          <pc:docMk/>
          <pc:sldMk cId="505670767" sldId="532"/>
        </pc:sldMkLst>
        <pc:picChg chg="del">
          <ac:chgData name="Watson, Storm (Dr) (Summerstrand Campus South)" userId="cdfaa8e9-29c2-42c0-844a-5081fd85b327" providerId="ADAL" clId="{63C58DBB-974E-46DB-808B-CE07E0D2B26C}" dt="2026-03-27T08:54:05.856" v="4" actId="478"/>
          <ac:picMkLst>
            <pc:docMk/>
            <pc:sldMk cId="505670767" sldId="532"/>
            <ac:picMk id="6" creationId="{12505C82-B337-C7FE-6C60-D8F9CF51280E}"/>
          </ac:picMkLst>
        </pc:picChg>
        <pc:picChg chg="del">
          <ac:chgData name="Watson, Storm (Dr) (Summerstrand Campus South)" userId="cdfaa8e9-29c2-42c0-844a-5081fd85b327" providerId="ADAL" clId="{63C58DBB-974E-46DB-808B-CE07E0D2B26C}" dt="2026-03-27T08:54:04.467" v="3" actId="478"/>
          <ac:picMkLst>
            <pc:docMk/>
            <pc:sldMk cId="505670767" sldId="532"/>
            <ac:picMk id="8" creationId="{F3930433-964B-0054-FF5C-7B0B8959F250}"/>
          </ac:picMkLst>
        </pc:picChg>
      </pc:sldChg>
    </pc:docChg>
  </pc:docChgLst>
  <pc:docChgLst>
    <pc:chgData name="Watson, Storm (Dr) (Summerstrand Campus South)" userId="cdfaa8e9-29c2-42c0-844a-5081fd85b327" providerId="ADAL" clId="{FBA1687F-D26B-4628-AF38-2C0997466204}"/>
    <pc:docChg chg="modSld">
      <pc:chgData name="Watson, Storm (Dr) (Summerstrand Campus South)" userId="cdfaa8e9-29c2-42c0-844a-5081fd85b327" providerId="ADAL" clId="{FBA1687F-D26B-4628-AF38-2C0997466204}" dt="2026-03-27T08:52:53.544" v="7" actId="20577"/>
      <pc:docMkLst>
        <pc:docMk/>
      </pc:docMkLst>
      <pc:sldChg chg="modSp mod">
        <pc:chgData name="Watson, Storm (Dr) (Summerstrand Campus South)" userId="cdfaa8e9-29c2-42c0-844a-5081fd85b327" providerId="ADAL" clId="{FBA1687F-D26B-4628-AF38-2C0997466204}" dt="2026-03-27T08:52:00.803" v="0"/>
        <pc:sldMkLst>
          <pc:docMk/>
          <pc:sldMk cId="1067134094" sldId="283"/>
        </pc:sldMkLst>
        <pc:spChg chg="mod">
          <ac:chgData name="Watson, Storm (Dr) (Summerstrand Campus South)" userId="cdfaa8e9-29c2-42c0-844a-5081fd85b327" providerId="ADAL" clId="{FBA1687F-D26B-4628-AF38-2C0997466204}" dt="2026-03-27T08:52:00.803" v="0"/>
          <ac:spMkLst>
            <pc:docMk/>
            <pc:sldMk cId="1067134094" sldId="283"/>
            <ac:spMk id="4101" creationId="{00000000-0000-0000-0000-000000000000}"/>
          </ac:spMkLst>
        </pc:spChg>
      </pc:sldChg>
      <pc:sldChg chg="modSp mod">
        <pc:chgData name="Watson, Storm (Dr) (Summerstrand Campus South)" userId="cdfaa8e9-29c2-42c0-844a-5081fd85b327" providerId="ADAL" clId="{FBA1687F-D26B-4628-AF38-2C0997466204}" dt="2026-03-27T08:52:53.544" v="7" actId="20577"/>
        <pc:sldMkLst>
          <pc:docMk/>
          <pc:sldMk cId="3964624409" sldId="335"/>
        </pc:sldMkLst>
        <pc:spChg chg="mod">
          <ac:chgData name="Watson, Storm (Dr) (Summerstrand Campus South)" userId="cdfaa8e9-29c2-42c0-844a-5081fd85b327" providerId="ADAL" clId="{FBA1687F-D26B-4628-AF38-2C0997466204}" dt="2026-03-27T08:52:53.544" v="7" actId="20577"/>
          <ac:spMkLst>
            <pc:docMk/>
            <pc:sldMk cId="3964624409" sldId="335"/>
            <ac:spMk id="19"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227C56-E3C8-40AD-8AFF-E702243A18F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E911A956-E7D6-4123-BBF3-1F0E2841A248}">
      <dgm:prSet phldrT="[Text]" custT="1"/>
      <dgm:spPr/>
      <dgm:t>
        <a:bodyPr/>
        <a:lstStyle/>
        <a:p>
          <a:r>
            <a:rPr lang="en-US" sz="1600" dirty="0"/>
            <a:t>Credit selection process</a:t>
          </a:r>
          <a:endParaRPr lang="en-ZA" sz="1600" dirty="0"/>
        </a:p>
      </dgm:t>
    </dgm:pt>
    <dgm:pt modelId="{90C37B57-49D8-4A17-8B2D-8D6659A28F19}" type="parTrans" cxnId="{72E1C663-78AB-4156-85FC-B601ECCEDDAB}">
      <dgm:prSet/>
      <dgm:spPr/>
      <dgm:t>
        <a:bodyPr/>
        <a:lstStyle/>
        <a:p>
          <a:endParaRPr lang="en-ZA" sz="1600"/>
        </a:p>
      </dgm:t>
    </dgm:pt>
    <dgm:pt modelId="{1C58E97A-4D63-49C0-BBE1-8736F9581040}" type="sibTrans" cxnId="{72E1C663-78AB-4156-85FC-B601ECCEDDAB}">
      <dgm:prSet/>
      <dgm:spPr/>
      <dgm:t>
        <a:bodyPr/>
        <a:lstStyle/>
        <a:p>
          <a:endParaRPr lang="en-ZA" sz="1600"/>
        </a:p>
      </dgm:t>
    </dgm:pt>
    <dgm:pt modelId="{FA1A0620-5062-48BD-B301-250F59112D3F}">
      <dgm:prSet phldrT="[Text]" custT="1"/>
      <dgm:spPr/>
      <dgm:t>
        <a:bodyPr/>
        <a:lstStyle/>
        <a:p>
          <a:r>
            <a:rPr lang="en-US" sz="1600" dirty="0"/>
            <a:t>Credit application form</a:t>
          </a:r>
          <a:endParaRPr lang="en-ZA" sz="1600" dirty="0"/>
        </a:p>
      </dgm:t>
    </dgm:pt>
    <dgm:pt modelId="{5682931C-39B7-490B-9BC8-9181E25ECEB8}" type="parTrans" cxnId="{94F601B2-478D-406C-B646-694DBC7984DB}">
      <dgm:prSet/>
      <dgm:spPr/>
      <dgm:t>
        <a:bodyPr/>
        <a:lstStyle/>
        <a:p>
          <a:endParaRPr lang="en-ZA" sz="1600"/>
        </a:p>
      </dgm:t>
    </dgm:pt>
    <dgm:pt modelId="{55B411F3-D56F-4E9E-A479-C0E645EB8D4F}" type="sibTrans" cxnId="{94F601B2-478D-406C-B646-694DBC7984DB}">
      <dgm:prSet/>
      <dgm:spPr/>
      <dgm:t>
        <a:bodyPr/>
        <a:lstStyle/>
        <a:p>
          <a:endParaRPr lang="en-ZA" sz="1600"/>
        </a:p>
      </dgm:t>
    </dgm:pt>
    <dgm:pt modelId="{C83C3647-F6E3-4F83-8A21-287F44520EC9}">
      <dgm:prSet phldrT="[Text]" custT="1"/>
      <dgm:spPr/>
      <dgm:t>
        <a:bodyPr/>
        <a:lstStyle/>
        <a:p>
          <a:r>
            <a:rPr lang="en-US" sz="1600" dirty="0"/>
            <a:t>Sources of information</a:t>
          </a:r>
          <a:endParaRPr lang="en-ZA" sz="1600" dirty="0"/>
        </a:p>
      </dgm:t>
    </dgm:pt>
    <dgm:pt modelId="{D2199A59-02D6-466A-9D4A-F735B6F4DD41}" type="parTrans" cxnId="{172B2C21-C169-45B4-9492-D60B92974B45}">
      <dgm:prSet/>
      <dgm:spPr/>
      <dgm:t>
        <a:bodyPr/>
        <a:lstStyle/>
        <a:p>
          <a:endParaRPr lang="en-ZA" sz="1600"/>
        </a:p>
      </dgm:t>
    </dgm:pt>
    <dgm:pt modelId="{E5CABEE0-7978-4CE0-BCD4-8348CCD1A299}" type="sibTrans" cxnId="{172B2C21-C169-45B4-9492-D60B92974B45}">
      <dgm:prSet/>
      <dgm:spPr/>
      <dgm:t>
        <a:bodyPr/>
        <a:lstStyle/>
        <a:p>
          <a:endParaRPr lang="en-ZA" sz="1600"/>
        </a:p>
      </dgm:t>
    </dgm:pt>
    <dgm:pt modelId="{D595A3AD-C1E8-4832-BB19-A372769A395D}">
      <dgm:prSet phldrT="[Text]" custT="1"/>
      <dgm:spPr/>
      <dgm:t>
        <a:bodyPr/>
        <a:lstStyle/>
        <a:p>
          <a:r>
            <a:rPr lang="en-US" sz="1600" dirty="0"/>
            <a:t>Credit analysis</a:t>
          </a:r>
          <a:endParaRPr lang="en-ZA" sz="1600" dirty="0"/>
        </a:p>
      </dgm:t>
    </dgm:pt>
    <dgm:pt modelId="{011340FD-47BA-413E-8BA5-9B547C57FD05}" type="parTrans" cxnId="{E1EFF0EB-6B53-4C7C-B782-60EEB7C70AC5}">
      <dgm:prSet/>
      <dgm:spPr/>
      <dgm:t>
        <a:bodyPr/>
        <a:lstStyle/>
        <a:p>
          <a:endParaRPr lang="en-ZA" sz="1600"/>
        </a:p>
      </dgm:t>
    </dgm:pt>
    <dgm:pt modelId="{C1E9DD53-170E-4EE8-9629-0526511C8848}" type="sibTrans" cxnId="{E1EFF0EB-6B53-4C7C-B782-60EEB7C70AC5}">
      <dgm:prSet/>
      <dgm:spPr/>
      <dgm:t>
        <a:bodyPr/>
        <a:lstStyle/>
        <a:p>
          <a:endParaRPr lang="en-ZA" sz="1600"/>
        </a:p>
      </dgm:t>
    </dgm:pt>
    <dgm:pt modelId="{5F2D9BE0-BBCE-48EC-A020-9BBCE986FD58}">
      <dgm:prSet custT="1"/>
      <dgm:spPr/>
      <dgm:t>
        <a:bodyPr/>
        <a:lstStyle/>
        <a:p>
          <a:r>
            <a:rPr lang="en-US" sz="1600" dirty="0"/>
            <a:t>Individual</a:t>
          </a:r>
          <a:endParaRPr lang="en-ZA" sz="1600" dirty="0"/>
        </a:p>
      </dgm:t>
    </dgm:pt>
    <dgm:pt modelId="{1A91F538-1BE8-4110-8639-D0C636F1752E}" type="parTrans" cxnId="{0C315CC8-4DA2-47FF-8B8F-563FBE06CC6A}">
      <dgm:prSet/>
      <dgm:spPr/>
      <dgm:t>
        <a:bodyPr/>
        <a:lstStyle/>
        <a:p>
          <a:endParaRPr lang="en-ZA" sz="1600"/>
        </a:p>
      </dgm:t>
    </dgm:pt>
    <dgm:pt modelId="{27C4988B-4B64-45BE-A0DE-02EC693C83A2}" type="sibTrans" cxnId="{0C315CC8-4DA2-47FF-8B8F-563FBE06CC6A}">
      <dgm:prSet/>
      <dgm:spPr/>
      <dgm:t>
        <a:bodyPr/>
        <a:lstStyle/>
        <a:p>
          <a:endParaRPr lang="en-ZA" sz="1600"/>
        </a:p>
      </dgm:t>
    </dgm:pt>
    <dgm:pt modelId="{B7AEA0FD-2828-40CC-9E1B-5F9CD847B987}">
      <dgm:prSet custT="1"/>
      <dgm:spPr/>
      <dgm:t>
        <a:bodyPr/>
        <a:lstStyle/>
        <a:p>
          <a:r>
            <a:rPr lang="en-US" sz="1600" dirty="0"/>
            <a:t>Firm</a:t>
          </a:r>
          <a:endParaRPr lang="en-ZA" sz="1600" dirty="0"/>
        </a:p>
      </dgm:t>
    </dgm:pt>
    <dgm:pt modelId="{3C7EA73C-0081-4494-8991-FA45495997C5}" type="parTrans" cxnId="{0808D14C-EB9E-4675-A9F3-9FA94FACC78F}">
      <dgm:prSet/>
      <dgm:spPr/>
      <dgm:t>
        <a:bodyPr/>
        <a:lstStyle/>
        <a:p>
          <a:endParaRPr lang="en-ZA" sz="1600"/>
        </a:p>
      </dgm:t>
    </dgm:pt>
    <dgm:pt modelId="{6C5F4424-AD7E-4098-9986-A8AB78C43B8E}" type="sibTrans" cxnId="{0808D14C-EB9E-4675-A9F3-9FA94FACC78F}">
      <dgm:prSet/>
      <dgm:spPr/>
      <dgm:t>
        <a:bodyPr/>
        <a:lstStyle/>
        <a:p>
          <a:endParaRPr lang="en-ZA" sz="1600"/>
        </a:p>
      </dgm:t>
    </dgm:pt>
    <dgm:pt modelId="{C4C42066-920F-4913-A315-ACB0ED0B7C62}" type="pres">
      <dgm:prSet presAssocID="{8A227C56-E3C8-40AD-8AFF-E702243A18F5}" presName="hierChild1" presStyleCnt="0">
        <dgm:presLayoutVars>
          <dgm:orgChart val="1"/>
          <dgm:chPref val="1"/>
          <dgm:dir/>
          <dgm:animOne val="branch"/>
          <dgm:animLvl val="lvl"/>
          <dgm:resizeHandles/>
        </dgm:presLayoutVars>
      </dgm:prSet>
      <dgm:spPr/>
    </dgm:pt>
    <dgm:pt modelId="{195F8539-D852-4886-9828-2AC67CF9546E}" type="pres">
      <dgm:prSet presAssocID="{E911A956-E7D6-4123-BBF3-1F0E2841A248}" presName="hierRoot1" presStyleCnt="0">
        <dgm:presLayoutVars>
          <dgm:hierBranch val="init"/>
        </dgm:presLayoutVars>
      </dgm:prSet>
      <dgm:spPr/>
    </dgm:pt>
    <dgm:pt modelId="{C7759C58-A9AE-4315-8455-AA42C1DA06F8}" type="pres">
      <dgm:prSet presAssocID="{E911A956-E7D6-4123-BBF3-1F0E2841A248}" presName="rootComposite1" presStyleCnt="0"/>
      <dgm:spPr/>
    </dgm:pt>
    <dgm:pt modelId="{C5FF36E6-B388-4A45-B8E7-2A2B86E60861}" type="pres">
      <dgm:prSet presAssocID="{E911A956-E7D6-4123-BBF3-1F0E2841A248}" presName="rootText1" presStyleLbl="node0" presStyleIdx="0" presStyleCnt="1">
        <dgm:presLayoutVars>
          <dgm:chPref val="3"/>
        </dgm:presLayoutVars>
      </dgm:prSet>
      <dgm:spPr/>
    </dgm:pt>
    <dgm:pt modelId="{6543829D-7D37-4DCE-B834-FEDAEF710AC0}" type="pres">
      <dgm:prSet presAssocID="{E911A956-E7D6-4123-BBF3-1F0E2841A248}" presName="rootConnector1" presStyleLbl="node1" presStyleIdx="0" presStyleCnt="0"/>
      <dgm:spPr/>
    </dgm:pt>
    <dgm:pt modelId="{4625ABF5-8D47-4AF3-9570-8FFF064956B1}" type="pres">
      <dgm:prSet presAssocID="{E911A956-E7D6-4123-BBF3-1F0E2841A248}" presName="hierChild2" presStyleCnt="0"/>
      <dgm:spPr/>
    </dgm:pt>
    <dgm:pt modelId="{628110F1-01BC-48C2-8742-B589369BE516}" type="pres">
      <dgm:prSet presAssocID="{5682931C-39B7-490B-9BC8-9181E25ECEB8}" presName="Name37" presStyleLbl="parChTrans1D2" presStyleIdx="0" presStyleCnt="3"/>
      <dgm:spPr/>
    </dgm:pt>
    <dgm:pt modelId="{BD455642-9C81-4F11-AD62-9064C7948547}" type="pres">
      <dgm:prSet presAssocID="{FA1A0620-5062-48BD-B301-250F59112D3F}" presName="hierRoot2" presStyleCnt="0">
        <dgm:presLayoutVars>
          <dgm:hierBranch val="init"/>
        </dgm:presLayoutVars>
      </dgm:prSet>
      <dgm:spPr/>
    </dgm:pt>
    <dgm:pt modelId="{FC91B2D5-C291-4BF1-96CD-C8402245A7B6}" type="pres">
      <dgm:prSet presAssocID="{FA1A0620-5062-48BD-B301-250F59112D3F}" presName="rootComposite" presStyleCnt="0"/>
      <dgm:spPr/>
    </dgm:pt>
    <dgm:pt modelId="{76010820-4305-44DF-B1D2-538C22059813}" type="pres">
      <dgm:prSet presAssocID="{FA1A0620-5062-48BD-B301-250F59112D3F}" presName="rootText" presStyleLbl="node2" presStyleIdx="0" presStyleCnt="3">
        <dgm:presLayoutVars>
          <dgm:chPref val="3"/>
        </dgm:presLayoutVars>
      </dgm:prSet>
      <dgm:spPr/>
    </dgm:pt>
    <dgm:pt modelId="{B9599D19-B70A-47B4-81F3-178392F11E02}" type="pres">
      <dgm:prSet presAssocID="{FA1A0620-5062-48BD-B301-250F59112D3F}" presName="rootConnector" presStyleLbl="node2" presStyleIdx="0" presStyleCnt="3"/>
      <dgm:spPr/>
    </dgm:pt>
    <dgm:pt modelId="{B1AF906C-AAB0-4C9C-A49D-61DA0C02065A}" type="pres">
      <dgm:prSet presAssocID="{FA1A0620-5062-48BD-B301-250F59112D3F}" presName="hierChild4" presStyleCnt="0"/>
      <dgm:spPr/>
    </dgm:pt>
    <dgm:pt modelId="{8628F518-4EE8-41FD-BCD7-182480787BE8}" type="pres">
      <dgm:prSet presAssocID="{1A91F538-1BE8-4110-8639-D0C636F1752E}" presName="Name37" presStyleLbl="parChTrans1D3" presStyleIdx="0" presStyleCnt="2"/>
      <dgm:spPr/>
    </dgm:pt>
    <dgm:pt modelId="{C3AEFBFA-5B4F-4DF5-BB1C-495265DF396F}" type="pres">
      <dgm:prSet presAssocID="{5F2D9BE0-BBCE-48EC-A020-9BBCE986FD58}" presName="hierRoot2" presStyleCnt="0">
        <dgm:presLayoutVars>
          <dgm:hierBranch val="init"/>
        </dgm:presLayoutVars>
      </dgm:prSet>
      <dgm:spPr/>
    </dgm:pt>
    <dgm:pt modelId="{1B508C7B-75BC-4AF5-A62B-6F4162E55780}" type="pres">
      <dgm:prSet presAssocID="{5F2D9BE0-BBCE-48EC-A020-9BBCE986FD58}" presName="rootComposite" presStyleCnt="0"/>
      <dgm:spPr/>
    </dgm:pt>
    <dgm:pt modelId="{AD83011E-422B-4616-A92A-8F6F902B7099}" type="pres">
      <dgm:prSet presAssocID="{5F2D9BE0-BBCE-48EC-A020-9BBCE986FD58}" presName="rootText" presStyleLbl="node3" presStyleIdx="0" presStyleCnt="2">
        <dgm:presLayoutVars>
          <dgm:chPref val="3"/>
        </dgm:presLayoutVars>
      </dgm:prSet>
      <dgm:spPr/>
    </dgm:pt>
    <dgm:pt modelId="{80D2E7F3-DCBF-4D32-8975-9610FF1A9694}" type="pres">
      <dgm:prSet presAssocID="{5F2D9BE0-BBCE-48EC-A020-9BBCE986FD58}" presName="rootConnector" presStyleLbl="node3" presStyleIdx="0" presStyleCnt="2"/>
      <dgm:spPr/>
    </dgm:pt>
    <dgm:pt modelId="{D500457D-14E8-483F-8FC2-B5EBCBC1E1AF}" type="pres">
      <dgm:prSet presAssocID="{5F2D9BE0-BBCE-48EC-A020-9BBCE986FD58}" presName="hierChild4" presStyleCnt="0"/>
      <dgm:spPr/>
    </dgm:pt>
    <dgm:pt modelId="{FB440671-59FF-4316-9695-E2F510476B40}" type="pres">
      <dgm:prSet presAssocID="{5F2D9BE0-BBCE-48EC-A020-9BBCE986FD58}" presName="hierChild5" presStyleCnt="0"/>
      <dgm:spPr/>
    </dgm:pt>
    <dgm:pt modelId="{F9B104D0-6542-42A6-8E30-35FC701DDD33}" type="pres">
      <dgm:prSet presAssocID="{3C7EA73C-0081-4494-8991-FA45495997C5}" presName="Name37" presStyleLbl="parChTrans1D3" presStyleIdx="1" presStyleCnt="2"/>
      <dgm:spPr/>
    </dgm:pt>
    <dgm:pt modelId="{6BB5C9D2-C212-4E8E-A6BF-66A36121C00F}" type="pres">
      <dgm:prSet presAssocID="{B7AEA0FD-2828-40CC-9E1B-5F9CD847B987}" presName="hierRoot2" presStyleCnt="0">
        <dgm:presLayoutVars>
          <dgm:hierBranch val="init"/>
        </dgm:presLayoutVars>
      </dgm:prSet>
      <dgm:spPr/>
    </dgm:pt>
    <dgm:pt modelId="{4DF9ADEB-FE4B-4FF1-B5E1-5494D32CC5AB}" type="pres">
      <dgm:prSet presAssocID="{B7AEA0FD-2828-40CC-9E1B-5F9CD847B987}" presName="rootComposite" presStyleCnt="0"/>
      <dgm:spPr/>
    </dgm:pt>
    <dgm:pt modelId="{269D569C-D064-459B-91E6-9D363F1DCEE8}" type="pres">
      <dgm:prSet presAssocID="{B7AEA0FD-2828-40CC-9E1B-5F9CD847B987}" presName="rootText" presStyleLbl="node3" presStyleIdx="1" presStyleCnt="2">
        <dgm:presLayoutVars>
          <dgm:chPref val="3"/>
        </dgm:presLayoutVars>
      </dgm:prSet>
      <dgm:spPr/>
    </dgm:pt>
    <dgm:pt modelId="{C73AE56D-4588-49EE-9909-A53911E1FD7D}" type="pres">
      <dgm:prSet presAssocID="{B7AEA0FD-2828-40CC-9E1B-5F9CD847B987}" presName="rootConnector" presStyleLbl="node3" presStyleIdx="1" presStyleCnt="2"/>
      <dgm:spPr/>
    </dgm:pt>
    <dgm:pt modelId="{6E77C105-523F-42B2-A5E1-B2F1D613484C}" type="pres">
      <dgm:prSet presAssocID="{B7AEA0FD-2828-40CC-9E1B-5F9CD847B987}" presName="hierChild4" presStyleCnt="0"/>
      <dgm:spPr/>
    </dgm:pt>
    <dgm:pt modelId="{08254769-EB5D-4F19-8B1B-D0AB10F7B705}" type="pres">
      <dgm:prSet presAssocID="{B7AEA0FD-2828-40CC-9E1B-5F9CD847B987}" presName="hierChild5" presStyleCnt="0"/>
      <dgm:spPr/>
    </dgm:pt>
    <dgm:pt modelId="{1AFE834F-ABBD-41CB-9F05-DA0437EFD095}" type="pres">
      <dgm:prSet presAssocID="{FA1A0620-5062-48BD-B301-250F59112D3F}" presName="hierChild5" presStyleCnt="0"/>
      <dgm:spPr/>
    </dgm:pt>
    <dgm:pt modelId="{D27CF340-A8EC-4369-AD57-F222D648A5AC}" type="pres">
      <dgm:prSet presAssocID="{D2199A59-02D6-466A-9D4A-F735B6F4DD41}" presName="Name37" presStyleLbl="parChTrans1D2" presStyleIdx="1" presStyleCnt="3"/>
      <dgm:spPr/>
    </dgm:pt>
    <dgm:pt modelId="{F0FEDF71-2122-458C-B524-14A97FC273FC}" type="pres">
      <dgm:prSet presAssocID="{C83C3647-F6E3-4F83-8A21-287F44520EC9}" presName="hierRoot2" presStyleCnt="0">
        <dgm:presLayoutVars>
          <dgm:hierBranch val="init"/>
        </dgm:presLayoutVars>
      </dgm:prSet>
      <dgm:spPr/>
    </dgm:pt>
    <dgm:pt modelId="{D00782E4-70F1-40F7-A2FC-1A5A3595DCEF}" type="pres">
      <dgm:prSet presAssocID="{C83C3647-F6E3-4F83-8A21-287F44520EC9}" presName="rootComposite" presStyleCnt="0"/>
      <dgm:spPr/>
    </dgm:pt>
    <dgm:pt modelId="{0C7342A3-6E3E-49D2-AEA1-0C523CFB5D29}" type="pres">
      <dgm:prSet presAssocID="{C83C3647-F6E3-4F83-8A21-287F44520EC9}" presName="rootText" presStyleLbl="node2" presStyleIdx="1" presStyleCnt="3">
        <dgm:presLayoutVars>
          <dgm:chPref val="3"/>
        </dgm:presLayoutVars>
      </dgm:prSet>
      <dgm:spPr/>
    </dgm:pt>
    <dgm:pt modelId="{F50FDDA4-701E-445D-AAB8-499B33F29D93}" type="pres">
      <dgm:prSet presAssocID="{C83C3647-F6E3-4F83-8A21-287F44520EC9}" presName="rootConnector" presStyleLbl="node2" presStyleIdx="1" presStyleCnt="3"/>
      <dgm:spPr/>
    </dgm:pt>
    <dgm:pt modelId="{BAC12355-8DB6-45CE-94FD-4EB06A5CD1EA}" type="pres">
      <dgm:prSet presAssocID="{C83C3647-F6E3-4F83-8A21-287F44520EC9}" presName="hierChild4" presStyleCnt="0"/>
      <dgm:spPr/>
    </dgm:pt>
    <dgm:pt modelId="{B5F115E5-6850-40FC-9BD0-B4FB3BED07BA}" type="pres">
      <dgm:prSet presAssocID="{C83C3647-F6E3-4F83-8A21-287F44520EC9}" presName="hierChild5" presStyleCnt="0"/>
      <dgm:spPr/>
    </dgm:pt>
    <dgm:pt modelId="{8420731F-C84E-40D6-848C-BBEACDDE5660}" type="pres">
      <dgm:prSet presAssocID="{011340FD-47BA-413E-8BA5-9B547C57FD05}" presName="Name37" presStyleLbl="parChTrans1D2" presStyleIdx="2" presStyleCnt="3"/>
      <dgm:spPr/>
    </dgm:pt>
    <dgm:pt modelId="{BF97B0D9-C5D8-418B-B15A-1C1270596FEC}" type="pres">
      <dgm:prSet presAssocID="{D595A3AD-C1E8-4832-BB19-A372769A395D}" presName="hierRoot2" presStyleCnt="0">
        <dgm:presLayoutVars>
          <dgm:hierBranch val="init"/>
        </dgm:presLayoutVars>
      </dgm:prSet>
      <dgm:spPr/>
    </dgm:pt>
    <dgm:pt modelId="{9C437A81-C4A8-4569-B9EB-C7448C60E39E}" type="pres">
      <dgm:prSet presAssocID="{D595A3AD-C1E8-4832-BB19-A372769A395D}" presName="rootComposite" presStyleCnt="0"/>
      <dgm:spPr/>
    </dgm:pt>
    <dgm:pt modelId="{FBFBC973-1346-42A7-A785-7C6EC28B728E}" type="pres">
      <dgm:prSet presAssocID="{D595A3AD-C1E8-4832-BB19-A372769A395D}" presName="rootText" presStyleLbl="node2" presStyleIdx="2" presStyleCnt="3">
        <dgm:presLayoutVars>
          <dgm:chPref val="3"/>
        </dgm:presLayoutVars>
      </dgm:prSet>
      <dgm:spPr/>
    </dgm:pt>
    <dgm:pt modelId="{8FC8ABF6-E0DC-4556-BFAA-319A76E27304}" type="pres">
      <dgm:prSet presAssocID="{D595A3AD-C1E8-4832-BB19-A372769A395D}" presName="rootConnector" presStyleLbl="node2" presStyleIdx="2" presStyleCnt="3"/>
      <dgm:spPr/>
    </dgm:pt>
    <dgm:pt modelId="{F8816D3F-3ACF-4107-A878-69DBDEAECFAA}" type="pres">
      <dgm:prSet presAssocID="{D595A3AD-C1E8-4832-BB19-A372769A395D}" presName="hierChild4" presStyleCnt="0"/>
      <dgm:spPr/>
    </dgm:pt>
    <dgm:pt modelId="{5F1AE35F-9190-4270-B75E-AD35FCF8E0C9}" type="pres">
      <dgm:prSet presAssocID="{D595A3AD-C1E8-4832-BB19-A372769A395D}" presName="hierChild5" presStyleCnt="0"/>
      <dgm:spPr/>
    </dgm:pt>
    <dgm:pt modelId="{6E244EB7-7EC8-4EFB-81EC-3CA14E26474C}" type="pres">
      <dgm:prSet presAssocID="{E911A956-E7D6-4123-BBF3-1F0E2841A248}" presName="hierChild3" presStyleCnt="0"/>
      <dgm:spPr/>
    </dgm:pt>
  </dgm:ptLst>
  <dgm:cxnLst>
    <dgm:cxn modelId="{FF73AC10-01B3-4165-9916-1EAEF3B09D12}" type="presOf" srcId="{E911A956-E7D6-4123-BBF3-1F0E2841A248}" destId="{C5FF36E6-B388-4A45-B8E7-2A2B86E60861}" srcOrd="0" destOrd="0" presId="urn:microsoft.com/office/officeart/2005/8/layout/orgChart1"/>
    <dgm:cxn modelId="{82AC5E15-C3AC-4FE4-A5E7-D33969182154}" type="presOf" srcId="{B7AEA0FD-2828-40CC-9E1B-5F9CD847B987}" destId="{C73AE56D-4588-49EE-9909-A53911E1FD7D}" srcOrd="1" destOrd="0" presId="urn:microsoft.com/office/officeart/2005/8/layout/orgChart1"/>
    <dgm:cxn modelId="{172B2C21-C169-45B4-9492-D60B92974B45}" srcId="{E911A956-E7D6-4123-BBF3-1F0E2841A248}" destId="{C83C3647-F6E3-4F83-8A21-287F44520EC9}" srcOrd="1" destOrd="0" parTransId="{D2199A59-02D6-466A-9D4A-F735B6F4DD41}" sibTransId="{E5CABEE0-7978-4CE0-BCD4-8348CCD1A299}"/>
    <dgm:cxn modelId="{4C437732-67B8-4E0C-AA92-680052911B21}" type="presOf" srcId="{5682931C-39B7-490B-9BC8-9181E25ECEB8}" destId="{628110F1-01BC-48C2-8742-B589369BE516}" srcOrd="0" destOrd="0" presId="urn:microsoft.com/office/officeart/2005/8/layout/orgChart1"/>
    <dgm:cxn modelId="{156B205F-1904-4074-9DB4-B3E768B2FA39}" type="presOf" srcId="{011340FD-47BA-413E-8BA5-9B547C57FD05}" destId="{8420731F-C84E-40D6-848C-BBEACDDE5660}" srcOrd="0" destOrd="0" presId="urn:microsoft.com/office/officeart/2005/8/layout/orgChart1"/>
    <dgm:cxn modelId="{72E1C663-78AB-4156-85FC-B601ECCEDDAB}" srcId="{8A227C56-E3C8-40AD-8AFF-E702243A18F5}" destId="{E911A956-E7D6-4123-BBF3-1F0E2841A248}" srcOrd="0" destOrd="0" parTransId="{90C37B57-49D8-4A17-8B2D-8D6659A28F19}" sibTransId="{1C58E97A-4D63-49C0-BBE1-8736F9581040}"/>
    <dgm:cxn modelId="{0808D14C-EB9E-4675-A9F3-9FA94FACC78F}" srcId="{FA1A0620-5062-48BD-B301-250F59112D3F}" destId="{B7AEA0FD-2828-40CC-9E1B-5F9CD847B987}" srcOrd="1" destOrd="0" parTransId="{3C7EA73C-0081-4494-8991-FA45495997C5}" sibTransId="{6C5F4424-AD7E-4098-9986-A8AB78C43B8E}"/>
    <dgm:cxn modelId="{02B4496F-1CBA-477D-8B82-D23BB9ACE49B}" type="presOf" srcId="{D595A3AD-C1E8-4832-BB19-A372769A395D}" destId="{8FC8ABF6-E0DC-4556-BFAA-319A76E27304}" srcOrd="1" destOrd="0" presId="urn:microsoft.com/office/officeart/2005/8/layout/orgChart1"/>
    <dgm:cxn modelId="{803B6774-BA06-415F-9597-31E9FFBD65F7}" type="presOf" srcId="{D595A3AD-C1E8-4832-BB19-A372769A395D}" destId="{FBFBC973-1346-42A7-A785-7C6EC28B728E}" srcOrd="0" destOrd="0" presId="urn:microsoft.com/office/officeart/2005/8/layout/orgChart1"/>
    <dgm:cxn modelId="{668B8888-3210-43B6-AA42-6788C317F87A}" type="presOf" srcId="{B7AEA0FD-2828-40CC-9E1B-5F9CD847B987}" destId="{269D569C-D064-459B-91E6-9D363F1DCEE8}" srcOrd="0" destOrd="0" presId="urn:microsoft.com/office/officeart/2005/8/layout/orgChart1"/>
    <dgm:cxn modelId="{3D2C788E-EF14-47AB-8345-D47839FE3F82}" type="presOf" srcId="{1A91F538-1BE8-4110-8639-D0C636F1752E}" destId="{8628F518-4EE8-41FD-BCD7-182480787BE8}" srcOrd="0" destOrd="0" presId="urn:microsoft.com/office/officeart/2005/8/layout/orgChart1"/>
    <dgm:cxn modelId="{63541A98-22F3-446A-B697-46CB712A0E26}" type="presOf" srcId="{D2199A59-02D6-466A-9D4A-F735B6F4DD41}" destId="{D27CF340-A8EC-4369-AD57-F222D648A5AC}" srcOrd="0" destOrd="0" presId="urn:microsoft.com/office/officeart/2005/8/layout/orgChart1"/>
    <dgm:cxn modelId="{DDDA2A9D-08B8-4201-8D40-1AA3E39CAB2F}" type="presOf" srcId="{E911A956-E7D6-4123-BBF3-1F0E2841A248}" destId="{6543829D-7D37-4DCE-B834-FEDAEF710AC0}" srcOrd="1" destOrd="0" presId="urn:microsoft.com/office/officeart/2005/8/layout/orgChart1"/>
    <dgm:cxn modelId="{849A38A6-E832-4B97-B914-1F5305D5A358}" type="presOf" srcId="{8A227C56-E3C8-40AD-8AFF-E702243A18F5}" destId="{C4C42066-920F-4913-A315-ACB0ED0B7C62}" srcOrd="0" destOrd="0" presId="urn:microsoft.com/office/officeart/2005/8/layout/orgChart1"/>
    <dgm:cxn modelId="{D7C5A5AC-6E3F-40FA-BA0F-8B46AF334303}" type="presOf" srcId="{5F2D9BE0-BBCE-48EC-A020-9BBCE986FD58}" destId="{AD83011E-422B-4616-A92A-8F6F902B7099}" srcOrd="0" destOrd="0" presId="urn:microsoft.com/office/officeart/2005/8/layout/orgChart1"/>
    <dgm:cxn modelId="{94F601B2-478D-406C-B646-694DBC7984DB}" srcId="{E911A956-E7D6-4123-BBF3-1F0E2841A248}" destId="{FA1A0620-5062-48BD-B301-250F59112D3F}" srcOrd="0" destOrd="0" parTransId="{5682931C-39B7-490B-9BC8-9181E25ECEB8}" sibTransId="{55B411F3-D56F-4E9E-A479-C0E645EB8D4F}"/>
    <dgm:cxn modelId="{DCA783C5-CCE0-444D-9E75-65EB90A73410}" type="presOf" srcId="{FA1A0620-5062-48BD-B301-250F59112D3F}" destId="{76010820-4305-44DF-B1D2-538C22059813}" srcOrd="0" destOrd="0" presId="urn:microsoft.com/office/officeart/2005/8/layout/orgChart1"/>
    <dgm:cxn modelId="{0C315CC8-4DA2-47FF-8B8F-563FBE06CC6A}" srcId="{FA1A0620-5062-48BD-B301-250F59112D3F}" destId="{5F2D9BE0-BBCE-48EC-A020-9BBCE986FD58}" srcOrd="0" destOrd="0" parTransId="{1A91F538-1BE8-4110-8639-D0C636F1752E}" sibTransId="{27C4988B-4B64-45BE-A0DE-02EC693C83A2}"/>
    <dgm:cxn modelId="{D8F5D2CD-C15E-4314-8CBA-F820ADEFC139}" type="presOf" srcId="{C83C3647-F6E3-4F83-8A21-287F44520EC9}" destId="{0C7342A3-6E3E-49D2-AEA1-0C523CFB5D29}" srcOrd="0" destOrd="0" presId="urn:microsoft.com/office/officeart/2005/8/layout/orgChart1"/>
    <dgm:cxn modelId="{17E365D7-7C2B-4425-A2F2-DFD3E9F1FBA4}" type="presOf" srcId="{5F2D9BE0-BBCE-48EC-A020-9BBCE986FD58}" destId="{80D2E7F3-DCBF-4D32-8975-9610FF1A9694}" srcOrd="1" destOrd="0" presId="urn:microsoft.com/office/officeart/2005/8/layout/orgChart1"/>
    <dgm:cxn modelId="{E3F548E8-B816-4F07-9C42-DC003CD4AE5A}" type="presOf" srcId="{C83C3647-F6E3-4F83-8A21-287F44520EC9}" destId="{F50FDDA4-701E-445D-AAB8-499B33F29D93}" srcOrd="1" destOrd="0" presId="urn:microsoft.com/office/officeart/2005/8/layout/orgChart1"/>
    <dgm:cxn modelId="{E1EFF0EB-6B53-4C7C-B782-60EEB7C70AC5}" srcId="{E911A956-E7D6-4123-BBF3-1F0E2841A248}" destId="{D595A3AD-C1E8-4832-BB19-A372769A395D}" srcOrd="2" destOrd="0" parTransId="{011340FD-47BA-413E-8BA5-9B547C57FD05}" sibTransId="{C1E9DD53-170E-4EE8-9629-0526511C8848}"/>
    <dgm:cxn modelId="{9D437CF9-B1B7-48B3-981B-D08AC682F9D4}" type="presOf" srcId="{3C7EA73C-0081-4494-8991-FA45495997C5}" destId="{F9B104D0-6542-42A6-8E30-35FC701DDD33}" srcOrd="0" destOrd="0" presId="urn:microsoft.com/office/officeart/2005/8/layout/orgChart1"/>
    <dgm:cxn modelId="{E26F73FE-D901-4BB2-B3FD-AF6E6F167E98}" type="presOf" srcId="{FA1A0620-5062-48BD-B301-250F59112D3F}" destId="{B9599D19-B70A-47B4-81F3-178392F11E02}" srcOrd="1" destOrd="0" presId="urn:microsoft.com/office/officeart/2005/8/layout/orgChart1"/>
    <dgm:cxn modelId="{55902478-C977-480B-92EC-D6F52694B7E3}" type="presParOf" srcId="{C4C42066-920F-4913-A315-ACB0ED0B7C62}" destId="{195F8539-D852-4886-9828-2AC67CF9546E}" srcOrd="0" destOrd="0" presId="urn:microsoft.com/office/officeart/2005/8/layout/orgChart1"/>
    <dgm:cxn modelId="{7502CD07-FD66-47F8-A0AF-162EE31C68BA}" type="presParOf" srcId="{195F8539-D852-4886-9828-2AC67CF9546E}" destId="{C7759C58-A9AE-4315-8455-AA42C1DA06F8}" srcOrd="0" destOrd="0" presId="urn:microsoft.com/office/officeart/2005/8/layout/orgChart1"/>
    <dgm:cxn modelId="{6DC9EFA3-721B-4167-AA7E-3E196086F7F6}" type="presParOf" srcId="{C7759C58-A9AE-4315-8455-AA42C1DA06F8}" destId="{C5FF36E6-B388-4A45-B8E7-2A2B86E60861}" srcOrd="0" destOrd="0" presId="urn:microsoft.com/office/officeart/2005/8/layout/orgChart1"/>
    <dgm:cxn modelId="{54F0DA4C-4303-4FA2-8564-2AB4223A2208}" type="presParOf" srcId="{C7759C58-A9AE-4315-8455-AA42C1DA06F8}" destId="{6543829D-7D37-4DCE-B834-FEDAEF710AC0}" srcOrd="1" destOrd="0" presId="urn:microsoft.com/office/officeart/2005/8/layout/orgChart1"/>
    <dgm:cxn modelId="{867A5692-DF20-4BD1-BC0D-B7CC5E31ADAB}" type="presParOf" srcId="{195F8539-D852-4886-9828-2AC67CF9546E}" destId="{4625ABF5-8D47-4AF3-9570-8FFF064956B1}" srcOrd="1" destOrd="0" presId="urn:microsoft.com/office/officeart/2005/8/layout/orgChart1"/>
    <dgm:cxn modelId="{9C926393-0B6D-444B-8D71-6B243A047344}" type="presParOf" srcId="{4625ABF5-8D47-4AF3-9570-8FFF064956B1}" destId="{628110F1-01BC-48C2-8742-B589369BE516}" srcOrd="0" destOrd="0" presId="urn:microsoft.com/office/officeart/2005/8/layout/orgChart1"/>
    <dgm:cxn modelId="{871A5035-7899-498F-B5F6-7821CA864F51}" type="presParOf" srcId="{4625ABF5-8D47-4AF3-9570-8FFF064956B1}" destId="{BD455642-9C81-4F11-AD62-9064C7948547}" srcOrd="1" destOrd="0" presId="urn:microsoft.com/office/officeart/2005/8/layout/orgChart1"/>
    <dgm:cxn modelId="{D8600FDD-0527-45B4-9FE0-94DD953F16EE}" type="presParOf" srcId="{BD455642-9C81-4F11-AD62-9064C7948547}" destId="{FC91B2D5-C291-4BF1-96CD-C8402245A7B6}" srcOrd="0" destOrd="0" presId="urn:microsoft.com/office/officeart/2005/8/layout/orgChart1"/>
    <dgm:cxn modelId="{EDA01A1E-FCCF-4780-9CD3-3543816D7AFF}" type="presParOf" srcId="{FC91B2D5-C291-4BF1-96CD-C8402245A7B6}" destId="{76010820-4305-44DF-B1D2-538C22059813}" srcOrd="0" destOrd="0" presId="urn:microsoft.com/office/officeart/2005/8/layout/orgChart1"/>
    <dgm:cxn modelId="{02998E7A-FD5C-4079-A7DA-438202202FA4}" type="presParOf" srcId="{FC91B2D5-C291-4BF1-96CD-C8402245A7B6}" destId="{B9599D19-B70A-47B4-81F3-178392F11E02}" srcOrd="1" destOrd="0" presId="urn:microsoft.com/office/officeart/2005/8/layout/orgChart1"/>
    <dgm:cxn modelId="{FE6BE389-4577-471C-A0D2-975CA053046B}" type="presParOf" srcId="{BD455642-9C81-4F11-AD62-9064C7948547}" destId="{B1AF906C-AAB0-4C9C-A49D-61DA0C02065A}" srcOrd="1" destOrd="0" presId="urn:microsoft.com/office/officeart/2005/8/layout/orgChart1"/>
    <dgm:cxn modelId="{A5AA0038-37C1-4314-B1EA-06B6931BA6D8}" type="presParOf" srcId="{B1AF906C-AAB0-4C9C-A49D-61DA0C02065A}" destId="{8628F518-4EE8-41FD-BCD7-182480787BE8}" srcOrd="0" destOrd="0" presId="urn:microsoft.com/office/officeart/2005/8/layout/orgChart1"/>
    <dgm:cxn modelId="{D680735F-F282-4B8A-B3F5-8577AFC65DCE}" type="presParOf" srcId="{B1AF906C-AAB0-4C9C-A49D-61DA0C02065A}" destId="{C3AEFBFA-5B4F-4DF5-BB1C-495265DF396F}" srcOrd="1" destOrd="0" presId="urn:microsoft.com/office/officeart/2005/8/layout/orgChart1"/>
    <dgm:cxn modelId="{FAF3DA44-A291-46F8-AD8C-2DBACF27062C}" type="presParOf" srcId="{C3AEFBFA-5B4F-4DF5-BB1C-495265DF396F}" destId="{1B508C7B-75BC-4AF5-A62B-6F4162E55780}" srcOrd="0" destOrd="0" presId="urn:microsoft.com/office/officeart/2005/8/layout/orgChart1"/>
    <dgm:cxn modelId="{E625F38C-1A21-48CA-8007-76E8A717E20A}" type="presParOf" srcId="{1B508C7B-75BC-4AF5-A62B-6F4162E55780}" destId="{AD83011E-422B-4616-A92A-8F6F902B7099}" srcOrd="0" destOrd="0" presId="urn:microsoft.com/office/officeart/2005/8/layout/orgChart1"/>
    <dgm:cxn modelId="{795FCDE0-7F88-4F6B-A753-F77FDE4676BB}" type="presParOf" srcId="{1B508C7B-75BC-4AF5-A62B-6F4162E55780}" destId="{80D2E7F3-DCBF-4D32-8975-9610FF1A9694}" srcOrd="1" destOrd="0" presId="urn:microsoft.com/office/officeart/2005/8/layout/orgChart1"/>
    <dgm:cxn modelId="{8E899DB3-F87F-4674-AF23-04911A288DF6}" type="presParOf" srcId="{C3AEFBFA-5B4F-4DF5-BB1C-495265DF396F}" destId="{D500457D-14E8-483F-8FC2-B5EBCBC1E1AF}" srcOrd="1" destOrd="0" presId="urn:microsoft.com/office/officeart/2005/8/layout/orgChart1"/>
    <dgm:cxn modelId="{9ED7A792-89E4-48CC-952E-87373C8187E4}" type="presParOf" srcId="{C3AEFBFA-5B4F-4DF5-BB1C-495265DF396F}" destId="{FB440671-59FF-4316-9695-E2F510476B40}" srcOrd="2" destOrd="0" presId="urn:microsoft.com/office/officeart/2005/8/layout/orgChart1"/>
    <dgm:cxn modelId="{6C3F3C35-DEF4-46DC-9F8F-4098009FD704}" type="presParOf" srcId="{B1AF906C-AAB0-4C9C-A49D-61DA0C02065A}" destId="{F9B104D0-6542-42A6-8E30-35FC701DDD33}" srcOrd="2" destOrd="0" presId="urn:microsoft.com/office/officeart/2005/8/layout/orgChart1"/>
    <dgm:cxn modelId="{EC25EA96-A953-41E5-AD1A-EA70528D83D0}" type="presParOf" srcId="{B1AF906C-AAB0-4C9C-A49D-61DA0C02065A}" destId="{6BB5C9D2-C212-4E8E-A6BF-66A36121C00F}" srcOrd="3" destOrd="0" presId="urn:microsoft.com/office/officeart/2005/8/layout/orgChart1"/>
    <dgm:cxn modelId="{18B07830-AD5F-4CDE-AF47-FF952290C476}" type="presParOf" srcId="{6BB5C9D2-C212-4E8E-A6BF-66A36121C00F}" destId="{4DF9ADEB-FE4B-4FF1-B5E1-5494D32CC5AB}" srcOrd="0" destOrd="0" presId="urn:microsoft.com/office/officeart/2005/8/layout/orgChart1"/>
    <dgm:cxn modelId="{D3964B37-E417-4D6A-BC85-FE25BD9CA56B}" type="presParOf" srcId="{4DF9ADEB-FE4B-4FF1-B5E1-5494D32CC5AB}" destId="{269D569C-D064-459B-91E6-9D363F1DCEE8}" srcOrd="0" destOrd="0" presId="urn:microsoft.com/office/officeart/2005/8/layout/orgChart1"/>
    <dgm:cxn modelId="{F8663E5E-5EB8-4EF6-914E-ECE5B46F1D2D}" type="presParOf" srcId="{4DF9ADEB-FE4B-4FF1-B5E1-5494D32CC5AB}" destId="{C73AE56D-4588-49EE-9909-A53911E1FD7D}" srcOrd="1" destOrd="0" presId="urn:microsoft.com/office/officeart/2005/8/layout/orgChart1"/>
    <dgm:cxn modelId="{795CCE26-DEF6-4120-9278-65EBABD92AE6}" type="presParOf" srcId="{6BB5C9D2-C212-4E8E-A6BF-66A36121C00F}" destId="{6E77C105-523F-42B2-A5E1-B2F1D613484C}" srcOrd="1" destOrd="0" presId="urn:microsoft.com/office/officeart/2005/8/layout/orgChart1"/>
    <dgm:cxn modelId="{536F721F-438E-4942-9C7C-EEEC4E7BEB18}" type="presParOf" srcId="{6BB5C9D2-C212-4E8E-A6BF-66A36121C00F}" destId="{08254769-EB5D-4F19-8B1B-D0AB10F7B705}" srcOrd="2" destOrd="0" presId="urn:microsoft.com/office/officeart/2005/8/layout/orgChart1"/>
    <dgm:cxn modelId="{0A6D8567-49F7-4A3F-BE17-90848611CAEB}" type="presParOf" srcId="{BD455642-9C81-4F11-AD62-9064C7948547}" destId="{1AFE834F-ABBD-41CB-9F05-DA0437EFD095}" srcOrd="2" destOrd="0" presId="urn:microsoft.com/office/officeart/2005/8/layout/orgChart1"/>
    <dgm:cxn modelId="{EC68DF88-C699-4F0F-A066-BB4C8BA75BA3}" type="presParOf" srcId="{4625ABF5-8D47-4AF3-9570-8FFF064956B1}" destId="{D27CF340-A8EC-4369-AD57-F222D648A5AC}" srcOrd="2" destOrd="0" presId="urn:microsoft.com/office/officeart/2005/8/layout/orgChart1"/>
    <dgm:cxn modelId="{2450F94C-E900-4FCF-A583-F95D167BACB1}" type="presParOf" srcId="{4625ABF5-8D47-4AF3-9570-8FFF064956B1}" destId="{F0FEDF71-2122-458C-B524-14A97FC273FC}" srcOrd="3" destOrd="0" presId="urn:microsoft.com/office/officeart/2005/8/layout/orgChart1"/>
    <dgm:cxn modelId="{7648E3FB-6AF9-4441-9293-237EF45F2DCB}" type="presParOf" srcId="{F0FEDF71-2122-458C-B524-14A97FC273FC}" destId="{D00782E4-70F1-40F7-A2FC-1A5A3595DCEF}" srcOrd="0" destOrd="0" presId="urn:microsoft.com/office/officeart/2005/8/layout/orgChart1"/>
    <dgm:cxn modelId="{6EEFF7E6-15D6-475D-A71C-5F5CB02B2EB1}" type="presParOf" srcId="{D00782E4-70F1-40F7-A2FC-1A5A3595DCEF}" destId="{0C7342A3-6E3E-49D2-AEA1-0C523CFB5D29}" srcOrd="0" destOrd="0" presId="urn:microsoft.com/office/officeart/2005/8/layout/orgChart1"/>
    <dgm:cxn modelId="{08E9CA6E-F479-42C7-B139-64621F5F2FF8}" type="presParOf" srcId="{D00782E4-70F1-40F7-A2FC-1A5A3595DCEF}" destId="{F50FDDA4-701E-445D-AAB8-499B33F29D93}" srcOrd="1" destOrd="0" presId="urn:microsoft.com/office/officeart/2005/8/layout/orgChart1"/>
    <dgm:cxn modelId="{4CF90150-8F53-4C7A-8E18-6E4CBA9EC340}" type="presParOf" srcId="{F0FEDF71-2122-458C-B524-14A97FC273FC}" destId="{BAC12355-8DB6-45CE-94FD-4EB06A5CD1EA}" srcOrd="1" destOrd="0" presId="urn:microsoft.com/office/officeart/2005/8/layout/orgChart1"/>
    <dgm:cxn modelId="{C2E0F0A9-86E2-4F5A-9D0A-B56735C2CF96}" type="presParOf" srcId="{F0FEDF71-2122-458C-B524-14A97FC273FC}" destId="{B5F115E5-6850-40FC-9BD0-B4FB3BED07BA}" srcOrd="2" destOrd="0" presId="urn:microsoft.com/office/officeart/2005/8/layout/orgChart1"/>
    <dgm:cxn modelId="{17A0AFBC-6DDB-4C4C-93EC-D07144C63984}" type="presParOf" srcId="{4625ABF5-8D47-4AF3-9570-8FFF064956B1}" destId="{8420731F-C84E-40D6-848C-BBEACDDE5660}" srcOrd="4" destOrd="0" presId="urn:microsoft.com/office/officeart/2005/8/layout/orgChart1"/>
    <dgm:cxn modelId="{9091D88B-6324-4D04-86F6-5E590CF6E0E4}" type="presParOf" srcId="{4625ABF5-8D47-4AF3-9570-8FFF064956B1}" destId="{BF97B0D9-C5D8-418B-B15A-1C1270596FEC}" srcOrd="5" destOrd="0" presId="urn:microsoft.com/office/officeart/2005/8/layout/orgChart1"/>
    <dgm:cxn modelId="{54C5A14C-2447-48A4-B4C0-F88D2ACF8F76}" type="presParOf" srcId="{BF97B0D9-C5D8-418B-B15A-1C1270596FEC}" destId="{9C437A81-C4A8-4569-B9EB-C7448C60E39E}" srcOrd="0" destOrd="0" presId="urn:microsoft.com/office/officeart/2005/8/layout/orgChart1"/>
    <dgm:cxn modelId="{F8CD9199-082C-4B45-BABC-04D4666026C8}" type="presParOf" srcId="{9C437A81-C4A8-4569-B9EB-C7448C60E39E}" destId="{FBFBC973-1346-42A7-A785-7C6EC28B728E}" srcOrd="0" destOrd="0" presId="urn:microsoft.com/office/officeart/2005/8/layout/orgChart1"/>
    <dgm:cxn modelId="{BA14A64B-A0AD-45A0-9F94-574AB5D72DDD}" type="presParOf" srcId="{9C437A81-C4A8-4569-B9EB-C7448C60E39E}" destId="{8FC8ABF6-E0DC-4556-BFAA-319A76E27304}" srcOrd="1" destOrd="0" presId="urn:microsoft.com/office/officeart/2005/8/layout/orgChart1"/>
    <dgm:cxn modelId="{082F773D-1EDE-4F35-A354-40272CC82B24}" type="presParOf" srcId="{BF97B0D9-C5D8-418B-B15A-1C1270596FEC}" destId="{F8816D3F-3ACF-4107-A878-69DBDEAECFAA}" srcOrd="1" destOrd="0" presId="urn:microsoft.com/office/officeart/2005/8/layout/orgChart1"/>
    <dgm:cxn modelId="{71961362-2F48-4C19-9E31-DEF228DB31D9}" type="presParOf" srcId="{BF97B0D9-C5D8-418B-B15A-1C1270596FEC}" destId="{5F1AE35F-9190-4270-B75E-AD35FCF8E0C9}" srcOrd="2" destOrd="0" presId="urn:microsoft.com/office/officeart/2005/8/layout/orgChart1"/>
    <dgm:cxn modelId="{7023B20B-8E9C-4B45-8D14-D94CB911EF44}" type="presParOf" srcId="{195F8539-D852-4886-9828-2AC67CF9546E}" destId="{6E244EB7-7EC8-4EFB-81EC-3CA14E26474C}"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227C56-E3C8-40AD-8AFF-E702243A18F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FA1A0620-5062-48BD-B301-250F59112D3F}">
      <dgm:prSet phldrT="[Text]" custT="1"/>
      <dgm:spPr/>
      <dgm:t>
        <a:bodyPr/>
        <a:lstStyle/>
        <a:p>
          <a:r>
            <a:rPr lang="en-US" sz="1600" dirty="0"/>
            <a:t>Credit application form</a:t>
          </a:r>
          <a:endParaRPr lang="en-ZA" sz="1600" dirty="0"/>
        </a:p>
      </dgm:t>
    </dgm:pt>
    <dgm:pt modelId="{5682931C-39B7-490B-9BC8-9181E25ECEB8}" type="parTrans" cxnId="{94F601B2-478D-406C-B646-694DBC7984DB}">
      <dgm:prSet/>
      <dgm:spPr/>
      <dgm:t>
        <a:bodyPr/>
        <a:lstStyle/>
        <a:p>
          <a:endParaRPr lang="en-ZA" sz="1600"/>
        </a:p>
      </dgm:t>
    </dgm:pt>
    <dgm:pt modelId="{55B411F3-D56F-4E9E-A479-C0E645EB8D4F}" type="sibTrans" cxnId="{94F601B2-478D-406C-B646-694DBC7984DB}">
      <dgm:prSet/>
      <dgm:spPr/>
      <dgm:t>
        <a:bodyPr/>
        <a:lstStyle/>
        <a:p>
          <a:endParaRPr lang="en-ZA" sz="1600"/>
        </a:p>
      </dgm:t>
    </dgm:pt>
    <dgm:pt modelId="{62D825DD-B666-4940-A66F-8F6B1ACAC76E}">
      <dgm:prSe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Individual</a:t>
          </a:r>
          <a:endParaRPr lang="en-ZA" sz="1600" kern="1200" dirty="0">
            <a:solidFill>
              <a:prstClr val="black"/>
            </a:solidFill>
            <a:latin typeface="Tahoma"/>
            <a:ea typeface="ＭＳ Ｐゴシック"/>
            <a:cs typeface="+mn-cs"/>
          </a:endParaRPr>
        </a:p>
      </dgm:t>
    </dgm:pt>
    <dgm:pt modelId="{6F897AB3-9DB1-4C31-922D-F21F7804490F}" type="parTrans" cxnId="{B1DAAFB2-C7A2-4BF1-8A97-36AAE79FD87B}">
      <dgm:prSet/>
      <dgm:spPr/>
      <dgm:t>
        <a:bodyPr/>
        <a:lstStyle/>
        <a:p>
          <a:endParaRPr lang="en-ZA" sz="1600"/>
        </a:p>
      </dgm:t>
    </dgm:pt>
    <dgm:pt modelId="{7CA25F52-3027-4C24-806C-BFEC3DE914C3}" type="sibTrans" cxnId="{B1DAAFB2-C7A2-4BF1-8A97-36AAE79FD87B}">
      <dgm:prSet/>
      <dgm:spPr/>
      <dgm:t>
        <a:bodyPr/>
        <a:lstStyle/>
        <a:p>
          <a:endParaRPr lang="en-ZA" sz="1600"/>
        </a:p>
      </dgm:t>
    </dgm:pt>
    <dgm:pt modelId="{B5F9AE24-DCAE-42B5-8454-826F763123BA}">
      <dgm:prSet custT="1"/>
      <dgm:spPr/>
      <dgm:t>
        <a:bodyPr/>
        <a:lstStyle/>
        <a:p>
          <a:r>
            <a:rPr lang="en-US" sz="1600" dirty="0"/>
            <a:t>Firm</a:t>
          </a:r>
          <a:endParaRPr lang="en-ZA" sz="1600" dirty="0"/>
        </a:p>
      </dgm:t>
    </dgm:pt>
    <dgm:pt modelId="{D4DDB9C5-2399-4350-8FF5-7C698118CCBF}" type="parTrans" cxnId="{1F60562D-18A6-434F-9FB6-E38809C2D515}">
      <dgm:prSet/>
      <dgm:spPr/>
      <dgm:t>
        <a:bodyPr/>
        <a:lstStyle/>
        <a:p>
          <a:endParaRPr lang="en-ZA" sz="1600"/>
        </a:p>
      </dgm:t>
    </dgm:pt>
    <dgm:pt modelId="{9648D344-169E-46A5-8FD7-43C0286AFF9C}" type="sibTrans" cxnId="{1F60562D-18A6-434F-9FB6-E38809C2D515}">
      <dgm:prSet/>
      <dgm:spPr/>
      <dgm:t>
        <a:bodyPr/>
        <a:lstStyle/>
        <a:p>
          <a:endParaRPr lang="en-ZA" sz="1600"/>
        </a:p>
      </dgm:t>
    </dgm:pt>
    <dgm:pt modelId="{FA038A47-C2FA-41FC-A58A-EA8658461E63}">
      <dgm:prSe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Personal information</a:t>
          </a:r>
          <a:endParaRPr lang="en-ZA" sz="1600" kern="1200" dirty="0">
            <a:solidFill>
              <a:prstClr val="black"/>
            </a:solidFill>
            <a:latin typeface="Tahoma"/>
            <a:ea typeface="ＭＳ Ｐゴシック"/>
            <a:cs typeface="+mn-cs"/>
          </a:endParaRPr>
        </a:p>
      </dgm:t>
    </dgm:pt>
    <dgm:pt modelId="{573D5E3D-7BEF-4987-98DE-69790583E2EC}" type="parTrans" cxnId="{DDBEB173-1409-4DD7-A9E9-E2E6CFDE993A}">
      <dgm:prSet/>
      <dgm:spPr/>
      <dgm:t>
        <a:bodyPr/>
        <a:lstStyle/>
        <a:p>
          <a:endParaRPr lang="en-ZA" sz="1600"/>
        </a:p>
      </dgm:t>
    </dgm:pt>
    <dgm:pt modelId="{A4F12F62-F300-4F29-B179-A1FDC8382A64}" type="sibTrans" cxnId="{DDBEB173-1409-4DD7-A9E9-E2E6CFDE993A}">
      <dgm:prSet/>
      <dgm:spPr/>
      <dgm:t>
        <a:bodyPr/>
        <a:lstStyle/>
        <a:p>
          <a:endParaRPr lang="en-ZA" sz="1600"/>
        </a:p>
      </dgm:t>
    </dgm:pt>
    <dgm:pt modelId="{48E7B841-688F-4245-9ECA-C09F007ADD0A}">
      <dgm:prSe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Employment and income information</a:t>
          </a:r>
          <a:endParaRPr lang="en-ZA" sz="1600" kern="1200" dirty="0">
            <a:solidFill>
              <a:prstClr val="black"/>
            </a:solidFill>
            <a:latin typeface="Tahoma"/>
            <a:ea typeface="ＭＳ Ｐゴシック"/>
            <a:cs typeface="+mn-cs"/>
          </a:endParaRPr>
        </a:p>
      </dgm:t>
    </dgm:pt>
    <dgm:pt modelId="{568C9289-88F5-4AA9-A356-44B7E3052745}" type="parTrans" cxnId="{8C053259-8EDD-4ED4-A939-A61949AD953F}">
      <dgm:prSet/>
      <dgm:spPr/>
      <dgm:t>
        <a:bodyPr/>
        <a:lstStyle/>
        <a:p>
          <a:endParaRPr lang="en-ZA" sz="1600"/>
        </a:p>
      </dgm:t>
    </dgm:pt>
    <dgm:pt modelId="{8D5F1EAB-54C1-47D0-8EAC-45DFAAB54B3B}" type="sibTrans" cxnId="{8C053259-8EDD-4ED4-A939-A61949AD953F}">
      <dgm:prSet/>
      <dgm:spPr/>
      <dgm:t>
        <a:bodyPr/>
        <a:lstStyle/>
        <a:p>
          <a:endParaRPr lang="en-ZA" sz="1600"/>
        </a:p>
      </dgm:t>
    </dgm:pt>
    <dgm:pt modelId="{955D5CA0-6D44-48FF-941D-A5E283B9ADEE}">
      <dgm:prSet custT="1"/>
      <dgm:spPr>
        <a:solidFill>
          <a:schemeClr val="accent2">
            <a:lumMod val="40000"/>
            <a:lumOff val="60000"/>
          </a:schemeClr>
        </a:solidFill>
        <a:ln w="25400" cap="flat" cmpd="sng" algn="ctr">
          <a:solidFill>
            <a:schemeClr val="accent2">
              <a:lumMod val="40000"/>
              <a:lumOff val="60000"/>
            </a:scheme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schemeClr val="tx1"/>
              </a:solidFill>
              <a:latin typeface="Tahoma"/>
              <a:ea typeface="ＭＳ Ｐゴシック"/>
              <a:cs typeface="+mn-cs"/>
            </a:rPr>
            <a:t>References</a:t>
          </a:r>
          <a:endParaRPr lang="en-ZA" sz="1600" kern="1200" dirty="0">
            <a:solidFill>
              <a:schemeClr val="tx1"/>
            </a:solidFill>
            <a:latin typeface="Tahoma"/>
            <a:ea typeface="ＭＳ Ｐゴシック"/>
            <a:cs typeface="+mn-cs"/>
          </a:endParaRPr>
        </a:p>
      </dgm:t>
    </dgm:pt>
    <dgm:pt modelId="{E7FCAC78-9F95-450C-A7AD-D5ED3B1229A7}" type="parTrans" cxnId="{4C2D1EDA-9220-4CDF-9F81-53A86ACAAF2D}">
      <dgm:prSet/>
      <dgm:spPr/>
      <dgm:t>
        <a:bodyPr/>
        <a:lstStyle/>
        <a:p>
          <a:endParaRPr lang="en-ZA" sz="1600"/>
        </a:p>
      </dgm:t>
    </dgm:pt>
    <dgm:pt modelId="{3FEF48D2-344A-451B-ADEA-D693F5CB32BB}" type="sibTrans" cxnId="{4C2D1EDA-9220-4CDF-9F81-53A86ACAAF2D}">
      <dgm:prSet/>
      <dgm:spPr/>
      <dgm:t>
        <a:bodyPr/>
        <a:lstStyle/>
        <a:p>
          <a:endParaRPr lang="en-ZA" sz="1600"/>
        </a:p>
      </dgm:t>
    </dgm:pt>
    <dgm:pt modelId="{807AF317-B86D-48AF-B0C8-9C05B33A767D}">
      <dgm:prSe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Income tax statement</a:t>
          </a:r>
          <a:endParaRPr lang="en-ZA" sz="1600" kern="1200" dirty="0">
            <a:solidFill>
              <a:prstClr val="black"/>
            </a:solidFill>
            <a:latin typeface="Tahoma"/>
            <a:ea typeface="ＭＳ Ｐゴシック"/>
            <a:cs typeface="+mn-cs"/>
          </a:endParaRPr>
        </a:p>
      </dgm:t>
    </dgm:pt>
    <dgm:pt modelId="{EB59879C-3B00-4E92-9F73-EB2DEF9D42A6}" type="parTrans" cxnId="{74A30750-60ED-41CC-B7A3-713A384585E0}">
      <dgm:prSet/>
      <dgm:spPr/>
      <dgm:t>
        <a:bodyPr/>
        <a:lstStyle/>
        <a:p>
          <a:endParaRPr lang="en-ZA" sz="1600"/>
        </a:p>
      </dgm:t>
    </dgm:pt>
    <dgm:pt modelId="{CF8CA289-4E61-4F52-B3B4-54DD4814D726}" type="sibTrans" cxnId="{74A30750-60ED-41CC-B7A3-713A384585E0}">
      <dgm:prSet/>
      <dgm:spPr/>
      <dgm:t>
        <a:bodyPr/>
        <a:lstStyle/>
        <a:p>
          <a:endParaRPr lang="en-ZA" sz="1600"/>
        </a:p>
      </dgm:t>
    </dgm:pt>
    <dgm:pt modelId="{FC7AD649-BAAA-49B4-BBDC-F288858382BC}">
      <dgm:prSet custT="1"/>
      <dgm:spPr>
        <a:solidFill>
          <a:srgbClr val="C0504D">
            <a:lumMod val="40000"/>
            <a:lumOff val="60000"/>
          </a:srgbClr>
        </a:solidFill>
        <a:ln w="25400" cap="flat" cmpd="sng" algn="ctr">
          <a:solidFill>
            <a:srgbClr val="C0504D">
              <a:lumMod val="40000"/>
              <a:lumOff val="6000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Credit information</a:t>
          </a:r>
          <a:endParaRPr lang="en-ZA" sz="1600" kern="1200" dirty="0">
            <a:solidFill>
              <a:prstClr val="black"/>
            </a:solidFill>
            <a:latin typeface="Tahoma"/>
            <a:ea typeface="ＭＳ Ｐゴシック"/>
            <a:cs typeface="+mn-cs"/>
          </a:endParaRPr>
        </a:p>
      </dgm:t>
    </dgm:pt>
    <dgm:pt modelId="{674599FD-0A3C-4201-9B21-D9A5031D2EA2}" type="parTrans" cxnId="{2E9359D9-A6A8-4291-9882-CEC6D027905E}">
      <dgm:prSet/>
      <dgm:spPr/>
      <dgm:t>
        <a:bodyPr/>
        <a:lstStyle/>
        <a:p>
          <a:endParaRPr lang="en-ZA" sz="1600"/>
        </a:p>
      </dgm:t>
    </dgm:pt>
    <dgm:pt modelId="{2C366D8E-294B-4336-8695-AE8F1C43DB38}" type="sibTrans" cxnId="{2E9359D9-A6A8-4291-9882-CEC6D027905E}">
      <dgm:prSet/>
      <dgm:spPr/>
      <dgm:t>
        <a:bodyPr/>
        <a:lstStyle/>
        <a:p>
          <a:endParaRPr lang="en-ZA" sz="1600"/>
        </a:p>
      </dgm:t>
    </dgm:pt>
    <dgm:pt modelId="{F336B85F-D4DE-4DAF-8A93-26C9C46AE4B4}">
      <dgm:prSet custT="1"/>
      <dgm:spPr/>
      <dgm:t>
        <a:bodyPr/>
        <a:lstStyle/>
        <a:p>
          <a:r>
            <a:rPr lang="en-US" sz="1600" dirty="0"/>
            <a:t>Registered and trade name of entity</a:t>
          </a:r>
          <a:endParaRPr lang="en-ZA" sz="1600" dirty="0"/>
        </a:p>
      </dgm:t>
    </dgm:pt>
    <dgm:pt modelId="{45EEAF21-0AD2-4918-A0B7-52527A49B1A3}" type="parTrans" cxnId="{315D80FA-3515-4D48-9F28-961CBD95674E}">
      <dgm:prSet/>
      <dgm:spPr/>
      <dgm:t>
        <a:bodyPr/>
        <a:lstStyle/>
        <a:p>
          <a:endParaRPr lang="en-ZA" sz="1600"/>
        </a:p>
      </dgm:t>
    </dgm:pt>
    <dgm:pt modelId="{44377535-60CB-4F2C-A42B-36C3C6F864C4}" type="sibTrans" cxnId="{315D80FA-3515-4D48-9F28-961CBD95674E}">
      <dgm:prSet/>
      <dgm:spPr/>
      <dgm:t>
        <a:bodyPr/>
        <a:lstStyle/>
        <a:p>
          <a:endParaRPr lang="en-ZA" sz="1600"/>
        </a:p>
      </dgm:t>
    </dgm:pt>
    <dgm:pt modelId="{D286ED2A-79A0-4913-992B-DFC9C4336C9B}">
      <dgm:prSet custT="1"/>
      <dgm:spPr/>
      <dgm:t>
        <a:bodyPr/>
        <a:lstStyle/>
        <a:p>
          <a:r>
            <a:rPr lang="en-US" sz="1600" dirty="0"/>
            <a:t>Particulars of auditors of entity</a:t>
          </a:r>
          <a:endParaRPr lang="en-ZA" sz="1600" dirty="0"/>
        </a:p>
      </dgm:t>
    </dgm:pt>
    <dgm:pt modelId="{4AE054EC-5C36-4E69-BD1F-EA8B910F177C}" type="parTrans" cxnId="{F23B2322-CBC2-4FFA-BE73-0756C553A179}">
      <dgm:prSet/>
      <dgm:spPr/>
      <dgm:t>
        <a:bodyPr/>
        <a:lstStyle/>
        <a:p>
          <a:endParaRPr lang="en-ZA" sz="1600"/>
        </a:p>
      </dgm:t>
    </dgm:pt>
    <dgm:pt modelId="{FB2A8318-B204-4407-91A9-B406FF00320A}" type="sibTrans" cxnId="{F23B2322-CBC2-4FFA-BE73-0756C553A179}">
      <dgm:prSet/>
      <dgm:spPr/>
      <dgm:t>
        <a:bodyPr/>
        <a:lstStyle/>
        <a:p>
          <a:endParaRPr lang="en-ZA" sz="1600"/>
        </a:p>
      </dgm:t>
    </dgm:pt>
    <dgm:pt modelId="{EAEAACEC-4296-4D9A-BDD1-CCDE0425B1F7}">
      <dgm:prSet custT="1"/>
      <dgm:spPr/>
      <dgm:t>
        <a:bodyPr/>
        <a:lstStyle/>
        <a:p>
          <a:r>
            <a:rPr lang="en-US" sz="1600" dirty="0"/>
            <a:t>Registration number of firm</a:t>
          </a:r>
          <a:endParaRPr lang="en-ZA" sz="1600" dirty="0"/>
        </a:p>
      </dgm:t>
    </dgm:pt>
    <dgm:pt modelId="{8BDCD3BC-2E1C-4F0F-A01D-F6850804EB7F}" type="parTrans" cxnId="{6DE0BEAB-8D6F-4DC1-A193-42031F4D351F}">
      <dgm:prSet/>
      <dgm:spPr/>
      <dgm:t>
        <a:bodyPr/>
        <a:lstStyle/>
        <a:p>
          <a:endParaRPr lang="en-ZA" sz="1600"/>
        </a:p>
      </dgm:t>
    </dgm:pt>
    <dgm:pt modelId="{9233B316-AE26-4F79-909F-F8C16A6FD2A0}" type="sibTrans" cxnId="{6DE0BEAB-8D6F-4DC1-A193-42031F4D351F}">
      <dgm:prSet/>
      <dgm:spPr/>
      <dgm:t>
        <a:bodyPr/>
        <a:lstStyle/>
        <a:p>
          <a:endParaRPr lang="en-ZA" sz="1600"/>
        </a:p>
      </dgm:t>
    </dgm:pt>
    <dgm:pt modelId="{F51DD21A-7111-42C8-9DD7-B29EA724A3CD}">
      <dgm:prSet custT="1"/>
      <dgm:spPr/>
      <dgm:t>
        <a:bodyPr/>
        <a:lstStyle/>
        <a:p>
          <a:r>
            <a:rPr lang="en-US" sz="1600" dirty="0"/>
            <a:t>Registered address</a:t>
          </a:r>
          <a:endParaRPr lang="en-ZA" sz="1600" dirty="0"/>
        </a:p>
      </dgm:t>
    </dgm:pt>
    <dgm:pt modelId="{114FCF9D-A052-4AF9-BD5F-418FB2C61473}" type="parTrans" cxnId="{72F1E715-7D39-4843-B2A7-5094691C0278}">
      <dgm:prSet/>
      <dgm:spPr/>
      <dgm:t>
        <a:bodyPr/>
        <a:lstStyle/>
        <a:p>
          <a:endParaRPr lang="en-ZA" sz="1600"/>
        </a:p>
      </dgm:t>
    </dgm:pt>
    <dgm:pt modelId="{9A7ADBDB-521D-4820-8379-5BE95EF91770}" type="sibTrans" cxnId="{72F1E715-7D39-4843-B2A7-5094691C0278}">
      <dgm:prSet/>
      <dgm:spPr/>
      <dgm:t>
        <a:bodyPr/>
        <a:lstStyle/>
        <a:p>
          <a:endParaRPr lang="en-ZA" sz="1600"/>
        </a:p>
      </dgm:t>
    </dgm:pt>
    <dgm:pt modelId="{D6FB9A75-4316-4E76-8A89-315D090799D8}">
      <dgm:prSet custT="1"/>
      <dgm:spPr/>
      <dgm:t>
        <a:bodyPr/>
        <a:lstStyle/>
        <a:p>
          <a:r>
            <a:rPr lang="en-US" sz="1600" dirty="0"/>
            <a:t>Full particulars of owners, directors, shareholders, members, partners</a:t>
          </a:r>
          <a:endParaRPr lang="en-ZA" sz="1600" dirty="0"/>
        </a:p>
      </dgm:t>
    </dgm:pt>
    <dgm:pt modelId="{BB74FE3D-CBA3-4FA2-B4E4-A4289E8A54B1}" type="parTrans" cxnId="{1F06F0A3-EC54-476E-8AEE-4C0EA7727FA1}">
      <dgm:prSet/>
      <dgm:spPr/>
      <dgm:t>
        <a:bodyPr/>
        <a:lstStyle/>
        <a:p>
          <a:endParaRPr lang="en-ZA" sz="1600"/>
        </a:p>
      </dgm:t>
    </dgm:pt>
    <dgm:pt modelId="{80412192-96ED-46BF-AB43-ADD8EF7FD577}" type="sibTrans" cxnId="{1F06F0A3-EC54-476E-8AEE-4C0EA7727FA1}">
      <dgm:prSet/>
      <dgm:spPr/>
      <dgm:t>
        <a:bodyPr/>
        <a:lstStyle/>
        <a:p>
          <a:endParaRPr lang="en-ZA" sz="1600"/>
        </a:p>
      </dgm:t>
    </dgm:pt>
    <dgm:pt modelId="{E095034A-BF7B-4783-AE1C-2C0FE9602D82}" type="pres">
      <dgm:prSet presAssocID="{8A227C56-E3C8-40AD-8AFF-E702243A18F5}" presName="hierChild1" presStyleCnt="0">
        <dgm:presLayoutVars>
          <dgm:orgChart val="1"/>
          <dgm:chPref val="1"/>
          <dgm:dir/>
          <dgm:animOne val="branch"/>
          <dgm:animLvl val="lvl"/>
          <dgm:resizeHandles/>
        </dgm:presLayoutVars>
      </dgm:prSet>
      <dgm:spPr/>
    </dgm:pt>
    <dgm:pt modelId="{BDC017A5-685D-4B02-B9E3-A33B00933FEE}" type="pres">
      <dgm:prSet presAssocID="{FA1A0620-5062-48BD-B301-250F59112D3F}" presName="hierRoot1" presStyleCnt="0">
        <dgm:presLayoutVars>
          <dgm:hierBranch val="init"/>
        </dgm:presLayoutVars>
      </dgm:prSet>
      <dgm:spPr/>
    </dgm:pt>
    <dgm:pt modelId="{427EBB28-5E7C-4E51-8C4B-CB63517B5915}" type="pres">
      <dgm:prSet presAssocID="{FA1A0620-5062-48BD-B301-250F59112D3F}" presName="rootComposite1" presStyleCnt="0"/>
      <dgm:spPr/>
    </dgm:pt>
    <dgm:pt modelId="{51AC1A99-DFA2-4358-96CA-42E5995240FF}" type="pres">
      <dgm:prSet presAssocID="{FA1A0620-5062-48BD-B301-250F59112D3F}" presName="rootText1" presStyleLbl="node0" presStyleIdx="0" presStyleCnt="1" custScaleX="238902">
        <dgm:presLayoutVars>
          <dgm:chPref val="3"/>
        </dgm:presLayoutVars>
      </dgm:prSet>
      <dgm:spPr/>
    </dgm:pt>
    <dgm:pt modelId="{FD26B8CE-7563-4730-93C7-94E183BBC0AB}" type="pres">
      <dgm:prSet presAssocID="{FA1A0620-5062-48BD-B301-250F59112D3F}" presName="rootConnector1" presStyleLbl="node1" presStyleIdx="0" presStyleCnt="0"/>
      <dgm:spPr/>
    </dgm:pt>
    <dgm:pt modelId="{9129A874-8FCD-42B7-8535-876EBFE739C8}" type="pres">
      <dgm:prSet presAssocID="{FA1A0620-5062-48BD-B301-250F59112D3F}" presName="hierChild2" presStyleCnt="0"/>
      <dgm:spPr/>
    </dgm:pt>
    <dgm:pt modelId="{F7BDB53A-680C-455D-8046-4D8DD8DF5847}" type="pres">
      <dgm:prSet presAssocID="{6F897AB3-9DB1-4C31-922D-F21F7804490F}" presName="Name37" presStyleLbl="parChTrans1D2" presStyleIdx="0" presStyleCnt="2"/>
      <dgm:spPr/>
    </dgm:pt>
    <dgm:pt modelId="{5E89DBEF-C01A-450B-8B74-299DF2A67E3B}" type="pres">
      <dgm:prSet presAssocID="{62D825DD-B666-4940-A66F-8F6B1ACAC76E}" presName="hierRoot2" presStyleCnt="0">
        <dgm:presLayoutVars>
          <dgm:hierBranch val="init"/>
        </dgm:presLayoutVars>
      </dgm:prSet>
      <dgm:spPr/>
    </dgm:pt>
    <dgm:pt modelId="{D7BB1D00-C79F-4A89-B098-2AF873AABD3D}" type="pres">
      <dgm:prSet presAssocID="{62D825DD-B666-4940-A66F-8F6B1ACAC76E}" presName="rootComposite" presStyleCnt="0"/>
      <dgm:spPr/>
    </dgm:pt>
    <dgm:pt modelId="{CD17B1C5-8D16-49F5-8279-EF5944ADD4EB}" type="pres">
      <dgm:prSet presAssocID="{62D825DD-B666-4940-A66F-8F6B1ACAC76E}" presName="rootText" presStyleLbl="node2" presStyleIdx="0" presStyleCnt="2" custScaleX="346399" custScaleY="98094" custLinFactX="-100000" custLinFactNeighborX="-106228" custLinFactNeighborY="39130">
        <dgm:presLayoutVars>
          <dgm:chPref val="3"/>
        </dgm:presLayoutVars>
      </dgm:prSet>
      <dgm:spPr>
        <a:xfrm>
          <a:off x="0" y="942465"/>
          <a:ext cx="3600000" cy="509727"/>
        </a:xfrm>
        <a:prstGeom prst="rect">
          <a:avLst/>
        </a:prstGeom>
      </dgm:spPr>
    </dgm:pt>
    <dgm:pt modelId="{711940C2-E80A-4935-9506-1614A7C4D5CF}" type="pres">
      <dgm:prSet presAssocID="{62D825DD-B666-4940-A66F-8F6B1ACAC76E}" presName="rootConnector" presStyleLbl="node2" presStyleIdx="0" presStyleCnt="2"/>
      <dgm:spPr/>
    </dgm:pt>
    <dgm:pt modelId="{B2342DB3-D409-465B-9DC4-033927028E5A}" type="pres">
      <dgm:prSet presAssocID="{62D825DD-B666-4940-A66F-8F6B1ACAC76E}" presName="hierChild4" presStyleCnt="0"/>
      <dgm:spPr/>
    </dgm:pt>
    <dgm:pt modelId="{76B04B35-0DBC-4D65-8EB4-8B335038F4C6}" type="pres">
      <dgm:prSet presAssocID="{573D5E3D-7BEF-4987-98DE-69790583E2EC}" presName="Name37" presStyleLbl="parChTrans1D3" presStyleIdx="0" presStyleCnt="10"/>
      <dgm:spPr/>
    </dgm:pt>
    <dgm:pt modelId="{D5C6E6C5-6488-4916-9844-310426264CAB}" type="pres">
      <dgm:prSet presAssocID="{FA038A47-C2FA-41FC-A58A-EA8658461E63}" presName="hierRoot2" presStyleCnt="0">
        <dgm:presLayoutVars>
          <dgm:hierBranch val="init"/>
        </dgm:presLayoutVars>
      </dgm:prSet>
      <dgm:spPr/>
    </dgm:pt>
    <dgm:pt modelId="{8F6AE22F-554B-4EB4-B1AE-199E8FF414A3}" type="pres">
      <dgm:prSet presAssocID="{FA038A47-C2FA-41FC-A58A-EA8658461E63}" presName="rootComposite" presStyleCnt="0"/>
      <dgm:spPr/>
    </dgm:pt>
    <dgm:pt modelId="{9ABA0F00-D7CF-4473-9538-5BAAA03261B8}" type="pres">
      <dgm:prSet presAssocID="{FA038A47-C2FA-41FC-A58A-EA8658461E63}" presName="rootText" presStyleLbl="node3" presStyleIdx="0" presStyleCnt="10" custScaleX="346399" custLinFactNeighborX="-37929" custLinFactNeighborY="29069">
        <dgm:presLayoutVars>
          <dgm:chPref val="3"/>
        </dgm:presLayoutVars>
      </dgm:prSet>
      <dgm:spPr>
        <a:xfrm>
          <a:off x="591003" y="1618158"/>
          <a:ext cx="3600000" cy="519632"/>
        </a:xfrm>
        <a:prstGeom prst="rect">
          <a:avLst/>
        </a:prstGeom>
      </dgm:spPr>
    </dgm:pt>
    <dgm:pt modelId="{A811EA16-FDAC-4E02-AC8D-C2B448581CA2}" type="pres">
      <dgm:prSet presAssocID="{FA038A47-C2FA-41FC-A58A-EA8658461E63}" presName="rootConnector" presStyleLbl="node3" presStyleIdx="0" presStyleCnt="10"/>
      <dgm:spPr/>
    </dgm:pt>
    <dgm:pt modelId="{24E22439-ED63-4851-8FF4-E2E30F5B1285}" type="pres">
      <dgm:prSet presAssocID="{FA038A47-C2FA-41FC-A58A-EA8658461E63}" presName="hierChild4" presStyleCnt="0"/>
      <dgm:spPr/>
    </dgm:pt>
    <dgm:pt modelId="{AEC8DAF2-76F1-4A61-8CA8-A4DE1AE67735}" type="pres">
      <dgm:prSet presAssocID="{FA038A47-C2FA-41FC-A58A-EA8658461E63}" presName="hierChild5" presStyleCnt="0"/>
      <dgm:spPr/>
    </dgm:pt>
    <dgm:pt modelId="{A949C7D6-6B7C-4B63-BC01-3FBEB8EDD8DB}" type="pres">
      <dgm:prSet presAssocID="{568C9289-88F5-4AA9-A356-44B7E3052745}" presName="Name37" presStyleLbl="parChTrans1D3" presStyleIdx="1" presStyleCnt="10"/>
      <dgm:spPr/>
    </dgm:pt>
    <dgm:pt modelId="{599BB4E9-116B-4AED-AFF5-268146ECADF7}" type="pres">
      <dgm:prSet presAssocID="{48E7B841-688F-4245-9ECA-C09F007ADD0A}" presName="hierRoot2" presStyleCnt="0">
        <dgm:presLayoutVars>
          <dgm:hierBranch val="init"/>
        </dgm:presLayoutVars>
      </dgm:prSet>
      <dgm:spPr/>
    </dgm:pt>
    <dgm:pt modelId="{FC2EE2E5-19CC-4CB0-8480-8B9D2C368AAD}" type="pres">
      <dgm:prSet presAssocID="{48E7B841-688F-4245-9ECA-C09F007ADD0A}" presName="rootComposite" presStyleCnt="0"/>
      <dgm:spPr/>
    </dgm:pt>
    <dgm:pt modelId="{4C59251F-29D4-40DF-9504-206B05829EB2}" type="pres">
      <dgm:prSet presAssocID="{48E7B841-688F-4245-9ECA-C09F007ADD0A}" presName="rootText" presStyleLbl="node3" presStyleIdx="1" presStyleCnt="10" custScaleX="347785" custScaleY="97847" custLinFactNeighborX="-37806" custLinFactNeighborY="19047">
        <dgm:presLayoutVars>
          <dgm:chPref val="3"/>
        </dgm:presLayoutVars>
      </dgm:prSet>
      <dgm:spPr>
        <a:xfrm>
          <a:off x="592282" y="2303959"/>
          <a:ext cx="3614405" cy="508444"/>
        </a:xfrm>
        <a:prstGeom prst="rect">
          <a:avLst/>
        </a:prstGeom>
      </dgm:spPr>
    </dgm:pt>
    <dgm:pt modelId="{AFF54DA4-D743-4B11-AE55-B644CF4476A6}" type="pres">
      <dgm:prSet presAssocID="{48E7B841-688F-4245-9ECA-C09F007ADD0A}" presName="rootConnector" presStyleLbl="node3" presStyleIdx="1" presStyleCnt="10"/>
      <dgm:spPr/>
    </dgm:pt>
    <dgm:pt modelId="{1B647948-6FBD-4D7E-8D09-64FCBBE3C1CD}" type="pres">
      <dgm:prSet presAssocID="{48E7B841-688F-4245-9ECA-C09F007ADD0A}" presName="hierChild4" presStyleCnt="0"/>
      <dgm:spPr/>
    </dgm:pt>
    <dgm:pt modelId="{F9AA3164-0353-4C28-9B5B-2B545B8A0759}" type="pres">
      <dgm:prSet presAssocID="{48E7B841-688F-4245-9ECA-C09F007ADD0A}" presName="hierChild5" presStyleCnt="0"/>
      <dgm:spPr/>
    </dgm:pt>
    <dgm:pt modelId="{FFAA6962-C5B0-41C1-8CDB-2F04588E7F17}" type="pres">
      <dgm:prSet presAssocID="{E7FCAC78-9F95-450C-A7AD-D5ED3B1229A7}" presName="Name37" presStyleLbl="parChTrans1D3" presStyleIdx="2" presStyleCnt="10"/>
      <dgm:spPr/>
    </dgm:pt>
    <dgm:pt modelId="{A93872E9-EBBE-4A93-B022-DDFE4EEACDF2}" type="pres">
      <dgm:prSet presAssocID="{955D5CA0-6D44-48FF-941D-A5E283B9ADEE}" presName="hierRoot2" presStyleCnt="0">
        <dgm:presLayoutVars>
          <dgm:hierBranch val="init"/>
        </dgm:presLayoutVars>
      </dgm:prSet>
      <dgm:spPr/>
    </dgm:pt>
    <dgm:pt modelId="{53EFF0EB-3BE0-4C5D-98D3-624F7F95737C}" type="pres">
      <dgm:prSet presAssocID="{955D5CA0-6D44-48FF-941D-A5E283B9ADEE}" presName="rootComposite" presStyleCnt="0"/>
      <dgm:spPr/>
    </dgm:pt>
    <dgm:pt modelId="{1385D193-BCEC-4065-96C2-6D75EB48A969}" type="pres">
      <dgm:prSet presAssocID="{955D5CA0-6D44-48FF-941D-A5E283B9ADEE}" presName="rootText" presStyleLbl="node3" presStyleIdx="2" presStyleCnt="10" custScaleX="346399" custScaleY="97847" custLinFactNeighborX="-37929" custLinFactNeighborY="11178">
        <dgm:presLayoutVars>
          <dgm:chPref val="3"/>
        </dgm:presLayoutVars>
      </dgm:prSet>
      <dgm:spPr>
        <a:xfrm>
          <a:off x="591003" y="2989759"/>
          <a:ext cx="3600000" cy="508444"/>
        </a:xfrm>
        <a:prstGeom prst="rect">
          <a:avLst/>
        </a:prstGeom>
      </dgm:spPr>
    </dgm:pt>
    <dgm:pt modelId="{6D3C06F9-AF1A-4C2B-A4DA-3EAF5605A1C8}" type="pres">
      <dgm:prSet presAssocID="{955D5CA0-6D44-48FF-941D-A5E283B9ADEE}" presName="rootConnector" presStyleLbl="node3" presStyleIdx="2" presStyleCnt="10"/>
      <dgm:spPr/>
    </dgm:pt>
    <dgm:pt modelId="{6F8C5A34-8216-4325-A7B8-4A115D822193}" type="pres">
      <dgm:prSet presAssocID="{955D5CA0-6D44-48FF-941D-A5E283B9ADEE}" presName="hierChild4" presStyleCnt="0"/>
      <dgm:spPr/>
    </dgm:pt>
    <dgm:pt modelId="{1ADB765D-3F4C-48CD-A2CB-FC56C1BEA24D}" type="pres">
      <dgm:prSet presAssocID="{955D5CA0-6D44-48FF-941D-A5E283B9ADEE}" presName="hierChild5" presStyleCnt="0"/>
      <dgm:spPr/>
    </dgm:pt>
    <dgm:pt modelId="{3B085FD2-9BA7-42A2-B911-4120D736143A}" type="pres">
      <dgm:prSet presAssocID="{EB59879C-3B00-4E92-9F73-EB2DEF9D42A6}" presName="Name37" presStyleLbl="parChTrans1D3" presStyleIdx="3" presStyleCnt="10"/>
      <dgm:spPr/>
    </dgm:pt>
    <dgm:pt modelId="{F77B10E6-5107-41DC-A4E8-B47954497B41}" type="pres">
      <dgm:prSet presAssocID="{807AF317-B86D-48AF-B0C8-9C05B33A767D}" presName="hierRoot2" presStyleCnt="0">
        <dgm:presLayoutVars>
          <dgm:hierBranch val="init"/>
        </dgm:presLayoutVars>
      </dgm:prSet>
      <dgm:spPr/>
    </dgm:pt>
    <dgm:pt modelId="{3FD6524A-6516-4FAE-8C9B-BA0A964B2BE9}" type="pres">
      <dgm:prSet presAssocID="{807AF317-B86D-48AF-B0C8-9C05B33A767D}" presName="rootComposite" presStyleCnt="0"/>
      <dgm:spPr/>
    </dgm:pt>
    <dgm:pt modelId="{7D62690C-74AD-4EE5-AE5A-11E07C0BCE7E}" type="pres">
      <dgm:prSet presAssocID="{807AF317-B86D-48AF-B0C8-9C05B33A767D}" presName="rootText" presStyleLbl="node3" presStyleIdx="3" presStyleCnt="10" custScaleX="346399" custScaleY="97847" custLinFactNeighborX="-35919" custLinFactNeighborY="-6553">
        <dgm:presLayoutVars>
          <dgm:chPref val="3"/>
        </dgm:presLayoutVars>
      </dgm:prSet>
      <dgm:spPr>
        <a:xfrm>
          <a:off x="611892" y="3624313"/>
          <a:ext cx="3600000" cy="508444"/>
        </a:xfrm>
        <a:prstGeom prst="rect">
          <a:avLst/>
        </a:prstGeom>
      </dgm:spPr>
    </dgm:pt>
    <dgm:pt modelId="{D616FE56-C1C5-4951-9174-285995CAD81A}" type="pres">
      <dgm:prSet presAssocID="{807AF317-B86D-48AF-B0C8-9C05B33A767D}" presName="rootConnector" presStyleLbl="node3" presStyleIdx="3" presStyleCnt="10"/>
      <dgm:spPr/>
    </dgm:pt>
    <dgm:pt modelId="{5D152AEE-012F-4FAA-A19C-F16ED4C2B02A}" type="pres">
      <dgm:prSet presAssocID="{807AF317-B86D-48AF-B0C8-9C05B33A767D}" presName="hierChild4" presStyleCnt="0"/>
      <dgm:spPr/>
    </dgm:pt>
    <dgm:pt modelId="{32CAEF2F-D89E-49C4-8635-40E23595C731}" type="pres">
      <dgm:prSet presAssocID="{807AF317-B86D-48AF-B0C8-9C05B33A767D}" presName="hierChild5" presStyleCnt="0"/>
      <dgm:spPr/>
    </dgm:pt>
    <dgm:pt modelId="{FE4622B0-78B8-4991-A5E4-7E122DA1F16D}" type="pres">
      <dgm:prSet presAssocID="{674599FD-0A3C-4201-9B21-D9A5031D2EA2}" presName="Name37" presStyleLbl="parChTrans1D3" presStyleIdx="4" presStyleCnt="10"/>
      <dgm:spPr/>
    </dgm:pt>
    <dgm:pt modelId="{D8A7B765-9352-4C78-A07A-99309ECFF25A}" type="pres">
      <dgm:prSet presAssocID="{FC7AD649-BAAA-49B4-BBDC-F288858382BC}" presName="hierRoot2" presStyleCnt="0">
        <dgm:presLayoutVars>
          <dgm:hierBranch val="init"/>
        </dgm:presLayoutVars>
      </dgm:prSet>
      <dgm:spPr/>
    </dgm:pt>
    <dgm:pt modelId="{03F7A0AE-92E2-4ED1-B807-945D19A5773C}" type="pres">
      <dgm:prSet presAssocID="{FC7AD649-BAAA-49B4-BBDC-F288858382BC}" presName="rootComposite" presStyleCnt="0"/>
      <dgm:spPr/>
    </dgm:pt>
    <dgm:pt modelId="{58896BD8-2E54-42F3-8D06-94C2C1DA6E2F}" type="pres">
      <dgm:prSet presAssocID="{FC7AD649-BAAA-49B4-BBDC-F288858382BC}" presName="rootText" presStyleLbl="node3" presStyleIdx="4" presStyleCnt="10" custScaleX="346399" custScaleY="97847" custLinFactNeighborX="-37370" custLinFactNeighborY="-29086">
        <dgm:presLayoutVars>
          <dgm:chPref val="3"/>
        </dgm:presLayoutVars>
      </dgm:prSet>
      <dgm:spPr>
        <a:xfrm>
          <a:off x="596813" y="4233914"/>
          <a:ext cx="3600000" cy="508444"/>
        </a:xfrm>
        <a:prstGeom prst="rect">
          <a:avLst/>
        </a:prstGeom>
      </dgm:spPr>
    </dgm:pt>
    <dgm:pt modelId="{2EC267EA-2C04-4E65-9CC0-A8D45498A4E0}" type="pres">
      <dgm:prSet presAssocID="{FC7AD649-BAAA-49B4-BBDC-F288858382BC}" presName="rootConnector" presStyleLbl="node3" presStyleIdx="4" presStyleCnt="10"/>
      <dgm:spPr/>
    </dgm:pt>
    <dgm:pt modelId="{2536CBB6-1165-4A5E-B423-86A6CBFD0AEA}" type="pres">
      <dgm:prSet presAssocID="{FC7AD649-BAAA-49B4-BBDC-F288858382BC}" presName="hierChild4" presStyleCnt="0"/>
      <dgm:spPr/>
    </dgm:pt>
    <dgm:pt modelId="{F735AFC3-CC6A-409E-8726-3A6BB1B3CAD1}" type="pres">
      <dgm:prSet presAssocID="{FC7AD649-BAAA-49B4-BBDC-F288858382BC}" presName="hierChild5" presStyleCnt="0"/>
      <dgm:spPr/>
    </dgm:pt>
    <dgm:pt modelId="{A1B134CC-5B70-49DA-BF93-3B8C904AE2ED}" type="pres">
      <dgm:prSet presAssocID="{62D825DD-B666-4940-A66F-8F6B1ACAC76E}" presName="hierChild5" presStyleCnt="0"/>
      <dgm:spPr/>
    </dgm:pt>
    <dgm:pt modelId="{BABAF644-2862-41A5-A407-89DBF036787C}" type="pres">
      <dgm:prSet presAssocID="{D4DDB9C5-2399-4350-8FF5-7C698118CCBF}" presName="Name37" presStyleLbl="parChTrans1D2" presStyleIdx="1" presStyleCnt="2"/>
      <dgm:spPr/>
    </dgm:pt>
    <dgm:pt modelId="{004F87FE-143E-40A4-88E6-38BBF64501CA}" type="pres">
      <dgm:prSet presAssocID="{B5F9AE24-DCAE-42B5-8454-826F763123BA}" presName="hierRoot2" presStyleCnt="0">
        <dgm:presLayoutVars>
          <dgm:hierBranch val="init"/>
        </dgm:presLayoutVars>
      </dgm:prSet>
      <dgm:spPr/>
    </dgm:pt>
    <dgm:pt modelId="{894EAFE1-159B-4B83-84D5-65AA9037E9EF}" type="pres">
      <dgm:prSet presAssocID="{B5F9AE24-DCAE-42B5-8454-826F763123BA}" presName="rootComposite" presStyleCnt="0"/>
      <dgm:spPr/>
    </dgm:pt>
    <dgm:pt modelId="{DD121D98-C2C6-4623-8283-7C21600EAA16}" type="pres">
      <dgm:prSet presAssocID="{B5F9AE24-DCAE-42B5-8454-826F763123BA}" presName="rootText" presStyleLbl="node2" presStyleIdx="1" presStyleCnt="2" custScaleX="346399" custScaleY="98094" custLinFactNeighborX="12313" custLinFactNeighborY="37185">
        <dgm:presLayoutVars>
          <dgm:chPref val="3"/>
        </dgm:presLayoutVars>
      </dgm:prSet>
      <dgm:spPr/>
    </dgm:pt>
    <dgm:pt modelId="{53B85CFF-CDCA-44EA-AFDB-1FD2709F8790}" type="pres">
      <dgm:prSet presAssocID="{B5F9AE24-DCAE-42B5-8454-826F763123BA}" presName="rootConnector" presStyleLbl="node2" presStyleIdx="1" presStyleCnt="2"/>
      <dgm:spPr/>
    </dgm:pt>
    <dgm:pt modelId="{B94AC6CE-8B97-4857-9BA9-EBDA048D2702}" type="pres">
      <dgm:prSet presAssocID="{B5F9AE24-DCAE-42B5-8454-826F763123BA}" presName="hierChild4" presStyleCnt="0"/>
      <dgm:spPr/>
    </dgm:pt>
    <dgm:pt modelId="{A733E97F-85BF-44C4-8E7A-86444D97DAF2}" type="pres">
      <dgm:prSet presAssocID="{45EEAF21-0AD2-4918-A0B7-52527A49B1A3}" presName="Name37" presStyleLbl="parChTrans1D3" presStyleIdx="5" presStyleCnt="10"/>
      <dgm:spPr/>
    </dgm:pt>
    <dgm:pt modelId="{318A3D5C-7F3A-4D9F-BAE2-FCEB8C70F14C}" type="pres">
      <dgm:prSet presAssocID="{F336B85F-D4DE-4DAF-8A93-26C9C46AE4B4}" presName="hierRoot2" presStyleCnt="0">
        <dgm:presLayoutVars>
          <dgm:hierBranch val="init"/>
        </dgm:presLayoutVars>
      </dgm:prSet>
      <dgm:spPr/>
    </dgm:pt>
    <dgm:pt modelId="{7FD0880A-D781-411B-BFBB-E11B217ACB4E}" type="pres">
      <dgm:prSet presAssocID="{F336B85F-D4DE-4DAF-8A93-26C9C46AE4B4}" presName="rootComposite" presStyleCnt="0"/>
      <dgm:spPr/>
    </dgm:pt>
    <dgm:pt modelId="{318E78D7-F58F-45C1-B027-288D0F85A0D3}" type="pres">
      <dgm:prSet presAssocID="{F336B85F-D4DE-4DAF-8A93-26C9C46AE4B4}" presName="rootText" presStyleLbl="node3" presStyleIdx="5" presStyleCnt="10" custScaleX="346399" custScaleY="97234" custLinFactNeighborX="-16323" custLinFactNeighborY="27152">
        <dgm:presLayoutVars>
          <dgm:chPref val="3"/>
        </dgm:presLayoutVars>
      </dgm:prSet>
      <dgm:spPr/>
    </dgm:pt>
    <dgm:pt modelId="{766C3C95-CE31-4FF9-BDFE-B2B6A10C305B}" type="pres">
      <dgm:prSet presAssocID="{F336B85F-D4DE-4DAF-8A93-26C9C46AE4B4}" presName="rootConnector" presStyleLbl="node3" presStyleIdx="5" presStyleCnt="10"/>
      <dgm:spPr/>
    </dgm:pt>
    <dgm:pt modelId="{0B08CA6A-4E14-4363-8236-D6C978AFB9A5}" type="pres">
      <dgm:prSet presAssocID="{F336B85F-D4DE-4DAF-8A93-26C9C46AE4B4}" presName="hierChild4" presStyleCnt="0"/>
      <dgm:spPr/>
    </dgm:pt>
    <dgm:pt modelId="{5F04C60C-8A35-4748-84AA-338F75B16BD7}" type="pres">
      <dgm:prSet presAssocID="{F336B85F-D4DE-4DAF-8A93-26C9C46AE4B4}" presName="hierChild5" presStyleCnt="0"/>
      <dgm:spPr/>
    </dgm:pt>
    <dgm:pt modelId="{EA4C2B32-DD68-4C64-8EF7-A0BAD242082A}" type="pres">
      <dgm:prSet presAssocID="{4AE054EC-5C36-4E69-BD1F-EA8B910F177C}" presName="Name37" presStyleLbl="parChTrans1D3" presStyleIdx="6" presStyleCnt="10"/>
      <dgm:spPr/>
    </dgm:pt>
    <dgm:pt modelId="{7CF25819-9BF3-478B-809B-194BEFF857A5}" type="pres">
      <dgm:prSet presAssocID="{D286ED2A-79A0-4913-992B-DFC9C4336C9B}" presName="hierRoot2" presStyleCnt="0">
        <dgm:presLayoutVars>
          <dgm:hierBranch val="init"/>
        </dgm:presLayoutVars>
      </dgm:prSet>
      <dgm:spPr/>
    </dgm:pt>
    <dgm:pt modelId="{448DF649-5B85-4E05-BDEA-E9CAF77CF00D}" type="pres">
      <dgm:prSet presAssocID="{D286ED2A-79A0-4913-992B-DFC9C4336C9B}" presName="rootComposite" presStyleCnt="0"/>
      <dgm:spPr/>
    </dgm:pt>
    <dgm:pt modelId="{7878FA68-7CCC-4D5A-98C7-0559A89CD216}" type="pres">
      <dgm:prSet presAssocID="{D286ED2A-79A0-4913-992B-DFC9C4336C9B}" presName="rootText" presStyleLbl="node3" presStyleIdx="6" presStyleCnt="10" custScaleX="346399" custScaleY="97478" custLinFactNeighborX="-16323" custLinFactNeighborY="12320">
        <dgm:presLayoutVars>
          <dgm:chPref val="3"/>
        </dgm:presLayoutVars>
      </dgm:prSet>
      <dgm:spPr/>
    </dgm:pt>
    <dgm:pt modelId="{9E7E88E4-BB22-4287-A1C9-4ECC9D6F7A91}" type="pres">
      <dgm:prSet presAssocID="{D286ED2A-79A0-4913-992B-DFC9C4336C9B}" presName="rootConnector" presStyleLbl="node3" presStyleIdx="6" presStyleCnt="10"/>
      <dgm:spPr/>
    </dgm:pt>
    <dgm:pt modelId="{C826CE9C-F6D1-4E16-A07D-6901DB1DDBEA}" type="pres">
      <dgm:prSet presAssocID="{D286ED2A-79A0-4913-992B-DFC9C4336C9B}" presName="hierChild4" presStyleCnt="0"/>
      <dgm:spPr/>
    </dgm:pt>
    <dgm:pt modelId="{091F7E8E-FABD-4026-B594-9F63C73FB23E}" type="pres">
      <dgm:prSet presAssocID="{D286ED2A-79A0-4913-992B-DFC9C4336C9B}" presName="hierChild5" presStyleCnt="0"/>
      <dgm:spPr/>
    </dgm:pt>
    <dgm:pt modelId="{66B0432A-6357-4C2A-8BD2-4C8A5E5AA592}" type="pres">
      <dgm:prSet presAssocID="{8BDCD3BC-2E1C-4F0F-A01D-F6850804EB7F}" presName="Name37" presStyleLbl="parChTrans1D3" presStyleIdx="7" presStyleCnt="10"/>
      <dgm:spPr/>
    </dgm:pt>
    <dgm:pt modelId="{C8193AAB-1796-486C-8F10-C494B9CA77C2}" type="pres">
      <dgm:prSet presAssocID="{EAEAACEC-4296-4D9A-BDD1-CCDE0425B1F7}" presName="hierRoot2" presStyleCnt="0">
        <dgm:presLayoutVars>
          <dgm:hierBranch val="init"/>
        </dgm:presLayoutVars>
      </dgm:prSet>
      <dgm:spPr/>
    </dgm:pt>
    <dgm:pt modelId="{5CBF2082-5340-4CE8-9056-5C766CD12122}" type="pres">
      <dgm:prSet presAssocID="{EAEAACEC-4296-4D9A-BDD1-CCDE0425B1F7}" presName="rootComposite" presStyleCnt="0"/>
      <dgm:spPr/>
    </dgm:pt>
    <dgm:pt modelId="{B04EC40D-0E7A-4649-B9DF-40E439A19567}" type="pres">
      <dgm:prSet presAssocID="{EAEAACEC-4296-4D9A-BDD1-CCDE0425B1F7}" presName="rootText" presStyleLbl="node3" presStyleIdx="7" presStyleCnt="10" custScaleX="346399" custScaleY="96992" custLinFactNeighborX="-16323" custLinFactNeighborY="-352">
        <dgm:presLayoutVars>
          <dgm:chPref val="3"/>
        </dgm:presLayoutVars>
      </dgm:prSet>
      <dgm:spPr/>
    </dgm:pt>
    <dgm:pt modelId="{0B523482-8A31-46EA-9AC1-9A5FC841F7ED}" type="pres">
      <dgm:prSet presAssocID="{EAEAACEC-4296-4D9A-BDD1-CCDE0425B1F7}" presName="rootConnector" presStyleLbl="node3" presStyleIdx="7" presStyleCnt="10"/>
      <dgm:spPr/>
    </dgm:pt>
    <dgm:pt modelId="{D20C5674-9F48-46F1-9376-C19214710D0A}" type="pres">
      <dgm:prSet presAssocID="{EAEAACEC-4296-4D9A-BDD1-CCDE0425B1F7}" presName="hierChild4" presStyleCnt="0"/>
      <dgm:spPr/>
    </dgm:pt>
    <dgm:pt modelId="{EEC45482-1B14-4A98-BB78-863E3DDE8464}" type="pres">
      <dgm:prSet presAssocID="{EAEAACEC-4296-4D9A-BDD1-CCDE0425B1F7}" presName="hierChild5" presStyleCnt="0"/>
      <dgm:spPr/>
    </dgm:pt>
    <dgm:pt modelId="{4850597B-9DF5-44CF-ACD5-E2B55BBDC173}" type="pres">
      <dgm:prSet presAssocID="{114FCF9D-A052-4AF9-BD5F-418FB2C61473}" presName="Name37" presStyleLbl="parChTrans1D3" presStyleIdx="8" presStyleCnt="10"/>
      <dgm:spPr/>
    </dgm:pt>
    <dgm:pt modelId="{70E76958-C187-41D5-8EC1-791E17B9EAA3}" type="pres">
      <dgm:prSet presAssocID="{F51DD21A-7111-42C8-9DD7-B29EA724A3CD}" presName="hierRoot2" presStyleCnt="0">
        <dgm:presLayoutVars>
          <dgm:hierBranch val="init"/>
        </dgm:presLayoutVars>
      </dgm:prSet>
      <dgm:spPr/>
    </dgm:pt>
    <dgm:pt modelId="{9ECF6B13-238D-4544-A697-4DC0ADBE6DF1}" type="pres">
      <dgm:prSet presAssocID="{F51DD21A-7111-42C8-9DD7-B29EA724A3CD}" presName="rootComposite" presStyleCnt="0"/>
      <dgm:spPr/>
    </dgm:pt>
    <dgm:pt modelId="{A14289BE-6E7A-4200-88EE-868B463CA4A4}" type="pres">
      <dgm:prSet presAssocID="{F51DD21A-7111-42C8-9DD7-B29EA724A3CD}" presName="rootText" presStyleLbl="node3" presStyleIdx="8" presStyleCnt="10" custScaleX="346399" custScaleY="97724" custLinFactNeighborX="-16323" custLinFactNeighborY="-7366">
        <dgm:presLayoutVars>
          <dgm:chPref val="3"/>
        </dgm:presLayoutVars>
      </dgm:prSet>
      <dgm:spPr/>
    </dgm:pt>
    <dgm:pt modelId="{D092E197-CB33-43C0-9811-BAE67CED8848}" type="pres">
      <dgm:prSet presAssocID="{F51DD21A-7111-42C8-9DD7-B29EA724A3CD}" presName="rootConnector" presStyleLbl="node3" presStyleIdx="8" presStyleCnt="10"/>
      <dgm:spPr/>
    </dgm:pt>
    <dgm:pt modelId="{D20D2637-AE0B-4EC5-ABD3-60283B8AD225}" type="pres">
      <dgm:prSet presAssocID="{F51DD21A-7111-42C8-9DD7-B29EA724A3CD}" presName="hierChild4" presStyleCnt="0"/>
      <dgm:spPr/>
    </dgm:pt>
    <dgm:pt modelId="{1947B0A7-4D6C-4FDB-A847-83EF4502E5BA}" type="pres">
      <dgm:prSet presAssocID="{F51DD21A-7111-42C8-9DD7-B29EA724A3CD}" presName="hierChild5" presStyleCnt="0"/>
      <dgm:spPr/>
    </dgm:pt>
    <dgm:pt modelId="{C072F75C-6FB6-4AC8-B781-CCBAD64554DA}" type="pres">
      <dgm:prSet presAssocID="{BB74FE3D-CBA3-4FA2-B4E4-A4289E8A54B1}" presName="Name37" presStyleLbl="parChTrans1D3" presStyleIdx="9" presStyleCnt="10"/>
      <dgm:spPr/>
    </dgm:pt>
    <dgm:pt modelId="{86A681C6-AC50-4274-AAB1-2F487F6A7453}" type="pres">
      <dgm:prSet presAssocID="{D6FB9A75-4316-4E76-8A89-315D090799D8}" presName="hierRoot2" presStyleCnt="0">
        <dgm:presLayoutVars>
          <dgm:hierBranch val="init"/>
        </dgm:presLayoutVars>
      </dgm:prSet>
      <dgm:spPr/>
    </dgm:pt>
    <dgm:pt modelId="{86AF80F6-A9FB-43A0-A2E0-A94667C198A3}" type="pres">
      <dgm:prSet presAssocID="{D6FB9A75-4316-4E76-8A89-315D090799D8}" presName="rootComposite" presStyleCnt="0"/>
      <dgm:spPr/>
    </dgm:pt>
    <dgm:pt modelId="{FAD130A6-44F5-4296-84B0-0CD7A6B78512}" type="pres">
      <dgm:prSet presAssocID="{D6FB9A75-4316-4E76-8A89-315D090799D8}" presName="rootText" presStyleLbl="node3" presStyleIdx="9" presStyleCnt="10" custScaleX="346399" custScaleY="97847" custLinFactNeighborX="-16323" custLinFactNeighborY="-24973">
        <dgm:presLayoutVars>
          <dgm:chPref val="3"/>
        </dgm:presLayoutVars>
      </dgm:prSet>
      <dgm:spPr/>
    </dgm:pt>
    <dgm:pt modelId="{CCD3BB35-BBEB-4A1A-960E-C785A3B72D35}" type="pres">
      <dgm:prSet presAssocID="{D6FB9A75-4316-4E76-8A89-315D090799D8}" presName="rootConnector" presStyleLbl="node3" presStyleIdx="9" presStyleCnt="10"/>
      <dgm:spPr/>
    </dgm:pt>
    <dgm:pt modelId="{79B28878-D4BD-4866-ADE0-1276BE9AE542}" type="pres">
      <dgm:prSet presAssocID="{D6FB9A75-4316-4E76-8A89-315D090799D8}" presName="hierChild4" presStyleCnt="0"/>
      <dgm:spPr/>
    </dgm:pt>
    <dgm:pt modelId="{C4B5CDDF-9784-4FF0-AA3E-EC75E275CF6D}" type="pres">
      <dgm:prSet presAssocID="{D6FB9A75-4316-4E76-8A89-315D090799D8}" presName="hierChild5" presStyleCnt="0"/>
      <dgm:spPr/>
    </dgm:pt>
    <dgm:pt modelId="{2EB07238-289C-4AD7-9D2A-A95997610154}" type="pres">
      <dgm:prSet presAssocID="{B5F9AE24-DCAE-42B5-8454-826F763123BA}" presName="hierChild5" presStyleCnt="0"/>
      <dgm:spPr/>
    </dgm:pt>
    <dgm:pt modelId="{028E4C09-9E3C-43E6-B814-F49582144E89}" type="pres">
      <dgm:prSet presAssocID="{FA1A0620-5062-48BD-B301-250F59112D3F}" presName="hierChild3" presStyleCnt="0"/>
      <dgm:spPr/>
    </dgm:pt>
  </dgm:ptLst>
  <dgm:cxnLst>
    <dgm:cxn modelId="{ECA50004-4630-4DE1-87EA-83F83059C334}" type="presOf" srcId="{FA1A0620-5062-48BD-B301-250F59112D3F}" destId="{FD26B8CE-7563-4730-93C7-94E183BBC0AB}" srcOrd="1" destOrd="0" presId="urn:microsoft.com/office/officeart/2005/8/layout/orgChart1"/>
    <dgm:cxn modelId="{ADCB1D04-DD08-4C06-8D8E-7B5313C2652C}" type="presOf" srcId="{62D825DD-B666-4940-A66F-8F6B1ACAC76E}" destId="{CD17B1C5-8D16-49F5-8279-EF5944ADD4EB}" srcOrd="0" destOrd="0" presId="urn:microsoft.com/office/officeart/2005/8/layout/orgChart1"/>
    <dgm:cxn modelId="{6F9F520E-923D-4DD4-985C-E3B4904021AD}" type="presOf" srcId="{B5F9AE24-DCAE-42B5-8454-826F763123BA}" destId="{DD121D98-C2C6-4623-8283-7C21600EAA16}" srcOrd="0" destOrd="0" presId="urn:microsoft.com/office/officeart/2005/8/layout/orgChart1"/>
    <dgm:cxn modelId="{CD3A9312-71E4-4DE5-B258-208059F45743}" type="presOf" srcId="{B5F9AE24-DCAE-42B5-8454-826F763123BA}" destId="{53B85CFF-CDCA-44EA-AFDB-1FD2709F8790}" srcOrd="1" destOrd="0" presId="urn:microsoft.com/office/officeart/2005/8/layout/orgChart1"/>
    <dgm:cxn modelId="{72F1E715-7D39-4843-B2A7-5094691C0278}" srcId="{B5F9AE24-DCAE-42B5-8454-826F763123BA}" destId="{F51DD21A-7111-42C8-9DD7-B29EA724A3CD}" srcOrd="3" destOrd="0" parTransId="{114FCF9D-A052-4AF9-BD5F-418FB2C61473}" sibTransId="{9A7ADBDB-521D-4820-8379-5BE95EF91770}"/>
    <dgm:cxn modelId="{7FFB0D18-963F-4BF5-9C8D-A696C1C03E9F}" type="presOf" srcId="{EAEAACEC-4296-4D9A-BDD1-CCDE0425B1F7}" destId="{B04EC40D-0E7A-4649-B9DF-40E439A19567}" srcOrd="0" destOrd="0" presId="urn:microsoft.com/office/officeart/2005/8/layout/orgChart1"/>
    <dgm:cxn modelId="{EDE07018-4732-4B26-8A68-CF384C784FDB}" type="presOf" srcId="{D4DDB9C5-2399-4350-8FF5-7C698118CCBF}" destId="{BABAF644-2862-41A5-A407-89DBF036787C}" srcOrd="0" destOrd="0" presId="urn:microsoft.com/office/officeart/2005/8/layout/orgChart1"/>
    <dgm:cxn modelId="{8098621D-0BD7-4107-AB03-572A2AA0A5C6}" type="presOf" srcId="{FA038A47-C2FA-41FC-A58A-EA8658461E63}" destId="{9ABA0F00-D7CF-4473-9538-5BAAA03261B8}" srcOrd="0" destOrd="0" presId="urn:microsoft.com/office/officeart/2005/8/layout/orgChart1"/>
    <dgm:cxn modelId="{F23B2322-CBC2-4FFA-BE73-0756C553A179}" srcId="{B5F9AE24-DCAE-42B5-8454-826F763123BA}" destId="{D286ED2A-79A0-4913-992B-DFC9C4336C9B}" srcOrd="1" destOrd="0" parTransId="{4AE054EC-5C36-4E69-BD1F-EA8B910F177C}" sibTransId="{FB2A8318-B204-4407-91A9-B406FF00320A}"/>
    <dgm:cxn modelId="{7ED7DE23-6DC4-4C56-AB71-CB665A2B777C}" type="presOf" srcId="{48E7B841-688F-4245-9ECA-C09F007ADD0A}" destId="{4C59251F-29D4-40DF-9504-206B05829EB2}" srcOrd="0" destOrd="0" presId="urn:microsoft.com/office/officeart/2005/8/layout/orgChart1"/>
    <dgm:cxn modelId="{32485925-3FC2-4223-8308-1A97C4B46660}" type="presOf" srcId="{674599FD-0A3C-4201-9B21-D9A5031D2EA2}" destId="{FE4622B0-78B8-4991-A5E4-7E122DA1F16D}" srcOrd="0" destOrd="0" presId="urn:microsoft.com/office/officeart/2005/8/layout/orgChart1"/>
    <dgm:cxn modelId="{D4631A29-6751-4D9D-8D5A-9373BE16186E}" type="presOf" srcId="{FC7AD649-BAAA-49B4-BBDC-F288858382BC}" destId="{2EC267EA-2C04-4E65-9CC0-A8D45498A4E0}" srcOrd="1" destOrd="0" presId="urn:microsoft.com/office/officeart/2005/8/layout/orgChart1"/>
    <dgm:cxn modelId="{1F60562D-18A6-434F-9FB6-E38809C2D515}" srcId="{FA1A0620-5062-48BD-B301-250F59112D3F}" destId="{B5F9AE24-DCAE-42B5-8454-826F763123BA}" srcOrd="1" destOrd="0" parTransId="{D4DDB9C5-2399-4350-8FF5-7C698118CCBF}" sibTransId="{9648D344-169E-46A5-8FD7-43C0286AFF9C}"/>
    <dgm:cxn modelId="{AF8D1636-5F4E-4CC5-B98A-A47C0FB9E71E}" type="presOf" srcId="{BB74FE3D-CBA3-4FA2-B4E4-A4289E8A54B1}" destId="{C072F75C-6FB6-4AC8-B781-CCBAD64554DA}" srcOrd="0" destOrd="0" presId="urn:microsoft.com/office/officeart/2005/8/layout/orgChart1"/>
    <dgm:cxn modelId="{AE2B273C-E672-4AB8-B801-0E2D40C5E743}" type="presOf" srcId="{4AE054EC-5C36-4E69-BD1F-EA8B910F177C}" destId="{EA4C2B32-DD68-4C64-8EF7-A0BAD242082A}" srcOrd="0" destOrd="0" presId="urn:microsoft.com/office/officeart/2005/8/layout/orgChart1"/>
    <dgm:cxn modelId="{56F7283D-F8B4-43D8-B025-7EC499FA4E81}" type="presOf" srcId="{114FCF9D-A052-4AF9-BD5F-418FB2C61473}" destId="{4850597B-9DF5-44CF-ACD5-E2B55BBDC173}" srcOrd="0" destOrd="0" presId="urn:microsoft.com/office/officeart/2005/8/layout/orgChart1"/>
    <dgm:cxn modelId="{4B540964-D7BF-41D0-BA4C-FBAF81E652B9}" type="presOf" srcId="{E7FCAC78-9F95-450C-A7AD-D5ED3B1229A7}" destId="{FFAA6962-C5B0-41C1-8CDB-2F04588E7F17}" srcOrd="0" destOrd="0" presId="urn:microsoft.com/office/officeart/2005/8/layout/orgChart1"/>
    <dgm:cxn modelId="{6A5FD56F-F6BB-4FC8-8714-5EAB792DB434}" type="presOf" srcId="{8BDCD3BC-2E1C-4F0F-A01D-F6850804EB7F}" destId="{66B0432A-6357-4C2A-8BD2-4C8A5E5AA592}" srcOrd="0" destOrd="0" presId="urn:microsoft.com/office/officeart/2005/8/layout/orgChart1"/>
    <dgm:cxn modelId="{74A30750-60ED-41CC-B7A3-713A384585E0}" srcId="{62D825DD-B666-4940-A66F-8F6B1ACAC76E}" destId="{807AF317-B86D-48AF-B0C8-9C05B33A767D}" srcOrd="3" destOrd="0" parTransId="{EB59879C-3B00-4E92-9F73-EB2DEF9D42A6}" sibTransId="{CF8CA289-4E61-4F52-B3B4-54DD4814D726}"/>
    <dgm:cxn modelId="{BB3D0B50-FF43-4322-BE04-121D341E7F12}" type="presOf" srcId="{D286ED2A-79A0-4913-992B-DFC9C4336C9B}" destId="{9E7E88E4-BB22-4287-A1C9-4ECC9D6F7A91}" srcOrd="1" destOrd="0" presId="urn:microsoft.com/office/officeart/2005/8/layout/orgChart1"/>
    <dgm:cxn modelId="{F067F352-4476-468F-8751-48C737E3CB0A}" type="presOf" srcId="{FC7AD649-BAAA-49B4-BBDC-F288858382BC}" destId="{58896BD8-2E54-42F3-8D06-94C2C1DA6E2F}" srcOrd="0" destOrd="0" presId="urn:microsoft.com/office/officeart/2005/8/layout/orgChart1"/>
    <dgm:cxn modelId="{DDBEB173-1409-4DD7-A9E9-E2E6CFDE993A}" srcId="{62D825DD-B666-4940-A66F-8F6B1ACAC76E}" destId="{FA038A47-C2FA-41FC-A58A-EA8658461E63}" srcOrd="0" destOrd="0" parTransId="{573D5E3D-7BEF-4987-98DE-69790583E2EC}" sibTransId="{A4F12F62-F300-4F29-B179-A1FDC8382A64}"/>
    <dgm:cxn modelId="{FEF0D873-E910-4A68-BF01-EF6978E9F8F6}" type="presOf" srcId="{EAEAACEC-4296-4D9A-BDD1-CCDE0425B1F7}" destId="{0B523482-8A31-46EA-9AC1-9A5FC841F7ED}" srcOrd="1" destOrd="0" presId="urn:microsoft.com/office/officeart/2005/8/layout/orgChart1"/>
    <dgm:cxn modelId="{3A347175-E684-4310-AF72-F5B74A3391BB}" type="presOf" srcId="{8A227C56-E3C8-40AD-8AFF-E702243A18F5}" destId="{E095034A-BF7B-4783-AE1C-2C0FE9602D82}" srcOrd="0" destOrd="0" presId="urn:microsoft.com/office/officeart/2005/8/layout/orgChart1"/>
    <dgm:cxn modelId="{A993FC75-F145-4F15-9F66-C65721EB2E68}" type="presOf" srcId="{955D5CA0-6D44-48FF-941D-A5E283B9ADEE}" destId="{1385D193-BCEC-4065-96C2-6D75EB48A969}" srcOrd="0" destOrd="0" presId="urn:microsoft.com/office/officeart/2005/8/layout/orgChart1"/>
    <dgm:cxn modelId="{8C053259-8EDD-4ED4-A939-A61949AD953F}" srcId="{62D825DD-B666-4940-A66F-8F6B1ACAC76E}" destId="{48E7B841-688F-4245-9ECA-C09F007ADD0A}" srcOrd="1" destOrd="0" parTransId="{568C9289-88F5-4AA9-A356-44B7E3052745}" sibTransId="{8D5F1EAB-54C1-47D0-8EAC-45DFAAB54B3B}"/>
    <dgm:cxn modelId="{6A61E592-7657-447A-83F0-85CC8A4018C9}" type="presOf" srcId="{807AF317-B86D-48AF-B0C8-9C05B33A767D}" destId="{7D62690C-74AD-4EE5-AE5A-11E07C0BCE7E}" srcOrd="0" destOrd="0" presId="urn:microsoft.com/office/officeart/2005/8/layout/orgChart1"/>
    <dgm:cxn modelId="{F5735993-8F31-403D-A163-27F02ED4865A}" type="presOf" srcId="{D6FB9A75-4316-4E76-8A89-315D090799D8}" destId="{CCD3BB35-BBEB-4A1A-960E-C785A3B72D35}" srcOrd="1" destOrd="0" presId="urn:microsoft.com/office/officeart/2005/8/layout/orgChart1"/>
    <dgm:cxn modelId="{1AFE1794-22F9-47F5-AE83-A5AB8278A2CC}" type="presOf" srcId="{6F897AB3-9DB1-4C31-922D-F21F7804490F}" destId="{F7BDB53A-680C-455D-8046-4D8DD8DF5847}" srcOrd="0" destOrd="0" presId="urn:microsoft.com/office/officeart/2005/8/layout/orgChart1"/>
    <dgm:cxn modelId="{329F6498-B38E-460C-8044-1E4E4CAA5784}" type="presOf" srcId="{45EEAF21-0AD2-4918-A0B7-52527A49B1A3}" destId="{A733E97F-85BF-44C4-8E7A-86444D97DAF2}" srcOrd="0" destOrd="0" presId="urn:microsoft.com/office/officeart/2005/8/layout/orgChart1"/>
    <dgm:cxn modelId="{D257DD99-FBE3-43B7-B5C4-38219AB2F0B5}" type="presOf" srcId="{FA1A0620-5062-48BD-B301-250F59112D3F}" destId="{51AC1A99-DFA2-4358-96CA-42E5995240FF}" srcOrd="0" destOrd="0" presId="urn:microsoft.com/office/officeart/2005/8/layout/orgChart1"/>
    <dgm:cxn modelId="{1F06F0A3-EC54-476E-8AEE-4C0EA7727FA1}" srcId="{B5F9AE24-DCAE-42B5-8454-826F763123BA}" destId="{D6FB9A75-4316-4E76-8A89-315D090799D8}" srcOrd="4" destOrd="0" parTransId="{BB74FE3D-CBA3-4FA2-B4E4-A4289E8A54B1}" sibTransId="{80412192-96ED-46BF-AB43-ADD8EF7FD577}"/>
    <dgm:cxn modelId="{D6966AA4-B0C9-4B64-AEFF-A6264A8988EF}" type="presOf" srcId="{62D825DD-B666-4940-A66F-8F6B1ACAC76E}" destId="{711940C2-E80A-4935-9506-1614A7C4D5CF}" srcOrd="1" destOrd="0" presId="urn:microsoft.com/office/officeart/2005/8/layout/orgChart1"/>
    <dgm:cxn modelId="{6DE0BEAB-8D6F-4DC1-A193-42031F4D351F}" srcId="{B5F9AE24-DCAE-42B5-8454-826F763123BA}" destId="{EAEAACEC-4296-4D9A-BDD1-CCDE0425B1F7}" srcOrd="2" destOrd="0" parTransId="{8BDCD3BC-2E1C-4F0F-A01D-F6850804EB7F}" sibTransId="{9233B316-AE26-4F79-909F-F8C16A6FD2A0}"/>
    <dgm:cxn modelId="{65C149B0-4CAB-42B4-8D1E-CD173DE751BE}" type="presOf" srcId="{573D5E3D-7BEF-4987-98DE-69790583E2EC}" destId="{76B04B35-0DBC-4D65-8EB4-8B335038F4C6}" srcOrd="0" destOrd="0" presId="urn:microsoft.com/office/officeart/2005/8/layout/orgChart1"/>
    <dgm:cxn modelId="{94F601B2-478D-406C-B646-694DBC7984DB}" srcId="{8A227C56-E3C8-40AD-8AFF-E702243A18F5}" destId="{FA1A0620-5062-48BD-B301-250F59112D3F}" srcOrd="0" destOrd="0" parTransId="{5682931C-39B7-490B-9BC8-9181E25ECEB8}" sibTransId="{55B411F3-D56F-4E9E-A479-C0E645EB8D4F}"/>
    <dgm:cxn modelId="{B1DAAFB2-C7A2-4BF1-8A97-36AAE79FD87B}" srcId="{FA1A0620-5062-48BD-B301-250F59112D3F}" destId="{62D825DD-B666-4940-A66F-8F6B1ACAC76E}" srcOrd="0" destOrd="0" parTransId="{6F897AB3-9DB1-4C31-922D-F21F7804490F}" sibTransId="{7CA25F52-3027-4C24-806C-BFEC3DE914C3}"/>
    <dgm:cxn modelId="{7870C6B9-A1C0-4A87-B11F-FC67E3E4FBF8}" type="presOf" srcId="{FA038A47-C2FA-41FC-A58A-EA8658461E63}" destId="{A811EA16-FDAC-4E02-AC8D-C2B448581CA2}" srcOrd="1" destOrd="0" presId="urn:microsoft.com/office/officeart/2005/8/layout/orgChart1"/>
    <dgm:cxn modelId="{54CCD3C1-4357-46B1-B504-E6ADAFB98F85}" type="presOf" srcId="{F336B85F-D4DE-4DAF-8A93-26C9C46AE4B4}" destId="{766C3C95-CE31-4FF9-BDFE-B2B6A10C305B}" srcOrd="1" destOrd="0" presId="urn:microsoft.com/office/officeart/2005/8/layout/orgChart1"/>
    <dgm:cxn modelId="{7A6FF4C1-F2C8-4667-98D3-EA5C40D6FADA}" type="presOf" srcId="{955D5CA0-6D44-48FF-941D-A5E283B9ADEE}" destId="{6D3C06F9-AF1A-4C2B-A4DA-3EAF5605A1C8}" srcOrd="1" destOrd="0" presId="urn:microsoft.com/office/officeart/2005/8/layout/orgChart1"/>
    <dgm:cxn modelId="{D4D107CF-B319-4222-B7BB-2F14E545E62F}" type="presOf" srcId="{568C9289-88F5-4AA9-A356-44B7E3052745}" destId="{A949C7D6-6B7C-4B63-BC01-3FBEB8EDD8DB}" srcOrd="0" destOrd="0" presId="urn:microsoft.com/office/officeart/2005/8/layout/orgChart1"/>
    <dgm:cxn modelId="{A143BBD3-0FC0-4451-A719-B13936A95E34}" type="presOf" srcId="{EB59879C-3B00-4E92-9F73-EB2DEF9D42A6}" destId="{3B085FD2-9BA7-42A2-B911-4120D736143A}" srcOrd="0" destOrd="0" presId="urn:microsoft.com/office/officeart/2005/8/layout/orgChart1"/>
    <dgm:cxn modelId="{A36874D4-95E8-4D00-9D40-FF66B8AB070A}" type="presOf" srcId="{48E7B841-688F-4245-9ECA-C09F007ADD0A}" destId="{AFF54DA4-D743-4B11-AE55-B644CF4476A6}" srcOrd="1" destOrd="0" presId="urn:microsoft.com/office/officeart/2005/8/layout/orgChart1"/>
    <dgm:cxn modelId="{96AECAD8-63E1-4BC8-B3F0-7903EFF1ED3B}" type="presOf" srcId="{D6FB9A75-4316-4E76-8A89-315D090799D8}" destId="{FAD130A6-44F5-4296-84B0-0CD7A6B78512}" srcOrd="0" destOrd="0" presId="urn:microsoft.com/office/officeart/2005/8/layout/orgChart1"/>
    <dgm:cxn modelId="{2E9359D9-A6A8-4291-9882-CEC6D027905E}" srcId="{62D825DD-B666-4940-A66F-8F6B1ACAC76E}" destId="{FC7AD649-BAAA-49B4-BBDC-F288858382BC}" srcOrd="4" destOrd="0" parTransId="{674599FD-0A3C-4201-9B21-D9A5031D2EA2}" sibTransId="{2C366D8E-294B-4336-8695-AE8F1C43DB38}"/>
    <dgm:cxn modelId="{4C2D1EDA-9220-4CDF-9F81-53A86ACAAF2D}" srcId="{62D825DD-B666-4940-A66F-8F6B1ACAC76E}" destId="{955D5CA0-6D44-48FF-941D-A5E283B9ADEE}" srcOrd="2" destOrd="0" parTransId="{E7FCAC78-9F95-450C-A7AD-D5ED3B1229A7}" sibTransId="{3FEF48D2-344A-451B-ADEA-D693F5CB32BB}"/>
    <dgm:cxn modelId="{D9D77EE4-93D7-49FD-95A5-AC4304CE6D4F}" type="presOf" srcId="{F51DD21A-7111-42C8-9DD7-B29EA724A3CD}" destId="{A14289BE-6E7A-4200-88EE-868B463CA4A4}" srcOrd="0" destOrd="0" presId="urn:microsoft.com/office/officeart/2005/8/layout/orgChart1"/>
    <dgm:cxn modelId="{69CA64EE-77D1-4FCA-8F2E-761E226084FA}" type="presOf" srcId="{F336B85F-D4DE-4DAF-8A93-26C9C46AE4B4}" destId="{318E78D7-F58F-45C1-B027-288D0F85A0D3}" srcOrd="0" destOrd="0" presId="urn:microsoft.com/office/officeart/2005/8/layout/orgChart1"/>
    <dgm:cxn modelId="{01A5F1EF-F5B4-4FF9-8410-4F05482B0233}" type="presOf" srcId="{F51DD21A-7111-42C8-9DD7-B29EA724A3CD}" destId="{D092E197-CB33-43C0-9811-BAE67CED8848}" srcOrd="1" destOrd="0" presId="urn:microsoft.com/office/officeart/2005/8/layout/orgChart1"/>
    <dgm:cxn modelId="{886904F3-E17B-4C57-8C55-A61F86AB92FC}" type="presOf" srcId="{D286ED2A-79A0-4913-992B-DFC9C4336C9B}" destId="{7878FA68-7CCC-4D5A-98C7-0559A89CD216}" srcOrd="0" destOrd="0" presId="urn:microsoft.com/office/officeart/2005/8/layout/orgChart1"/>
    <dgm:cxn modelId="{315D80FA-3515-4D48-9F28-961CBD95674E}" srcId="{B5F9AE24-DCAE-42B5-8454-826F763123BA}" destId="{F336B85F-D4DE-4DAF-8A93-26C9C46AE4B4}" srcOrd="0" destOrd="0" parTransId="{45EEAF21-0AD2-4918-A0B7-52527A49B1A3}" sibTransId="{44377535-60CB-4F2C-A42B-36C3C6F864C4}"/>
    <dgm:cxn modelId="{C3A366FE-BA20-418F-B508-A70F886B9284}" type="presOf" srcId="{807AF317-B86D-48AF-B0C8-9C05B33A767D}" destId="{D616FE56-C1C5-4951-9174-285995CAD81A}" srcOrd="1" destOrd="0" presId="urn:microsoft.com/office/officeart/2005/8/layout/orgChart1"/>
    <dgm:cxn modelId="{AEE2C518-B811-48F9-8503-C1CC7E8C3BFE}" type="presParOf" srcId="{E095034A-BF7B-4783-AE1C-2C0FE9602D82}" destId="{BDC017A5-685D-4B02-B9E3-A33B00933FEE}" srcOrd="0" destOrd="0" presId="urn:microsoft.com/office/officeart/2005/8/layout/orgChart1"/>
    <dgm:cxn modelId="{60C5EFDF-694A-47D5-ABC5-571CAE63EE97}" type="presParOf" srcId="{BDC017A5-685D-4B02-B9E3-A33B00933FEE}" destId="{427EBB28-5E7C-4E51-8C4B-CB63517B5915}" srcOrd="0" destOrd="0" presId="urn:microsoft.com/office/officeart/2005/8/layout/orgChart1"/>
    <dgm:cxn modelId="{3A4AD8DF-6062-4B81-9771-58A53925552B}" type="presParOf" srcId="{427EBB28-5E7C-4E51-8C4B-CB63517B5915}" destId="{51AC1A99-DFA2-4358-96CA-42E5995240FF}" srcOrd="0" destOrd="0" presId="urn:microsoft.com/office/officeart/2005/8/layout/orgChart1"/>
    <dgm:cxn modelId="{33B237E1-C672-4888-8B45-817BE0A20001}" type="presParOf" srcId="{427EBB28-5E7C-4E51-8C4B-CB63517B5915}" destId="{FD26B8CE-7563-4730-93C7-94E183BBC0AB}" srcOrd="1" destOrd="0" presId="urn:microsoft.com/office/officeart/2005/8/layout/orgChart1"/>
    <dgm:cxn modelId="{C406970A-EBE5-446B-BBD9-0053B33A5E50}" type="presParOf" srcId="{BDC017A5-685D-4B02-B9E3-A33B00933FEE}" destId="{9129A874-8FCD-42B7-8535-876EBFE739C8}" srcOrd="1" destOrd="0" presId="urn:microsoft.com/office/officeart/2005/8/layout/orgChart1"/>
    <dgm:cxn modelId="{74604A71-4719-47AC-8524-85206E808487}" type="presParOf" srcId="{9129A874-8FCD-42B7-8535-876EBFE739C8}" destId="{F7BDB53A-680C-455D-8046-4D8DD8DF5847}" srcOrd="0" destOrd="0" presId="urn:microsoft.com/office/officeart/2005/8/layout/orgChart1"/>
    <dgm:cxn modelId="{0A21CFB5-7E00-457C-BDD2-1D4E83F8AC93}" type="presParOf" srcId="{9129A874-8FCD-42B7-8535-876EBFE739C8}" destId="{5E89DBEF-C01A-450B-8B74-299DF2A67E3B}" srcOrd="1" destOrd="0" presId="urn:microsoft.com/office/officeart/2005/8/layout/orgChart1"/>
    <dgm:cxn modelId="{700AC07B-F3D5-4D1B-BDFE-C77FAF6F176F}" type="presParOf" srcId="{5E89DBEF-C01A-450B-8B74-299DF2A67E3B}" destId="{D7BB1D00-C79F-4A89-B098-2AF873AABD3D}" srcOrd="0" destOrd="0" presId="urn:microsoft.com/office/officeart/2005/8/layout/orgChart1"/>
    <dgm:cxn modelId="{8CCFD0BF-A713-4A95-BD6F-E953CDFF1307}" type="presParOf" srcId="{D7BB1D00-C79F-4A89-B098-2AF873AABD3D}" destId="{CD17B1C5-8D16-49F5-8279-EF5944ADD4EB}" srcOrd="0" destOrd="0" presId="urn:microsoft.com/office/officeart/2005/8/layout/orgChart1"/>
    <dgm:cxn modelId="{ACEBED4E-C238-4079-BDE5-08CA5887D268}" type="presParOf" srcId="{D7BB1D00-C79F-4A89-B098-2AF873AABD3D}" destId="{711940C2-E80A-4935-9506-1614A7C4D5CF}" srcOrd="1" destOrd="0" presId="urn:microsoft.com/office/officeart/2005/8/layout/orgChart1"/>
    <dgm:cxn modelId="{5F6E87FE-F926-4CCD-9D73-112A2A399E50}" type="presParOf" srcId="{5E89DBEF-C01A-450B-8B74-299DF2A67E3B}" destId="{B2342DB3-D409-465B-9DC4-033927028E5A}" srcOrd="1" destOrd="0" presId="urn:microsoft.com/office/officeart/2005/8/layout/orgChart1"/>
    <dgm:cxn modelId="{7DBAB1D9-79BD-4B0B-81F2-B065D46D4E23}" type="presParOf" srcId="{B2342DB3-D409-465B-9DC4-033927028E5A}" destId="{76B04B35-0DBC-4D65-8EB4-8B335038F4C6}" srcOrd="0" destOrd="0" presId="urn:microsoft.com/office/officeart/2005/8/layout/orgChart1"/>
    <dgm:cxn modelId="{2ACE7F91-9742-4060-B124-A9B9833DD53F}" type="presParOf" srcId="{B2342DB3-D409-465B-9DC4-033927028E5A}" destId="{D5C6E6C5-6488-4916-9844-310426264CAB}" srcOrd="1" destOrd="0" presId="urn:microsoft.com/office/officeart/2005/8/layout/orgChart1"/>
    <dgm:cxn modelId="{04E08276-026B-4904-93FA-DA09DF0DFF4A}" type="presParOf" srcId="{D5C6E6C5-6488-4916-9844-310426264CAB}" destId="{8F6AE22F-554B-4EB4-B1AE-199E8FF414A3}" srcOrd="0" destOrd="0" presId="urn:microsoft.com/office/officeart/2005/8/layout/orgChart1"/>
    <dgm:cxn modelId="{751D84B3-9050-4712-9CC0-D5DC7E9078F8}" type="presParOf" srcId="{8F6AE22F-554B-4EB4-B1AE-199E8FF414A3}" destId="{9ABA0F00-D7CF-4473-9538-5BAAA03261B8}" srcOrd="0" destOrd="0" presId="urn:microsoft.com/office/officeart/2005/8/layout/orgChart1"/>
    <dgm:cxn modelId="{D6BA5E46-5EF9-4398-9B2B-DE3A40FD8302}" type="presParOf" srcId="{8F6AE22F-554B-4EB4-B1AE-199E8FF414A3}" destId="{A811EA16-FDAC-4E02-AC8D-C2B448581CA2}" srcOrd="1" destOrd="0" presId="urn:microsoft.com/office/officeart/2005/8/layout/orgChart1"/>
    <dgm:cxn modelId="{B7D4C612-1D6C-4DFB-BAD6-C3AE2F32834F}" type="presParOf" srcId="{D5C6E6C5-6488-4916-9844-310426264CAB}" destId="{24E22439-ED63-4851-8FF4-E2E30F5B1285}" srcOrd="1" destOrd="0" presId="urn:microsoft.com/office/officeart/2005/8/layout/orgChart1"/>
    <dgm:cxn modelId="{8A122670-16DD-4753-B71C-B10FD6CDEAE4}" type="presParOf" srcId="{D5C6E6C5-6488-4916-9844-310426264CAB}" destId="{AEC8DAF2-76F1-4A61-8CA8-A4DE1AE67735}" srcOrd="2" destOrd="0" presId="urn:microsoft.com/office/officeart/2005/8/layout/orgChart1"/>
    <dgm:cxn modelId="{4D9E6AB1-73F5-4F2C-A6B1-BFA60DBD437D}" type="presParOf" srcId="{B2342DB3-D409-465B-9DC4-033927028E5A}" destId="{A949C7D6-6B7C-4B63-BC01-3FBEB8EDD8DB}" srcOrd="2" destOrd="0" presId="urn:microsoft.com/office/officeart/2005/8/layout/orgChart1"/>
    <dgm:cxn modelId="{30312A7E-48BB-4C2E-A62C-E7C1E442F986}" type="presParOf" srcId="{B2342DB3-D409-465B-9DC4-033927028E5A}" destId="{599BB4E9-116B-4AED-AFF5-268146ECADF7}" srcOrd="3" destOrd="0" presId="urn:microsoft.com/office/officeart/2005/8/layout/orgChart1"/>
    <dgm:cxn modelId="{96A14515-DB45-4C27-8CBD-485F147867A7}" type="presParOf" srcId="{599BB4E9-116B-4AED-AFF5-268146ECADF7}" destId="{FC2EE2E5-19CC-4CB0-8480-8B9D2C368AAD}" srcOrd="0" destOrd="0" presId="urn:microsoft.com/office/officeart/2005/8/layout/orgChart1"/>
    <dgm:cxn modelId="{0E29DCA4-66E6-4461-9953-21986E7A5A1D}" type="presParOf" srcId="{FC2EE2E5-19CC-4CB0-8480-8B9D2C368AAD}" destId="{4C59251F-29D4-40DF-9504-206B05829EB2}" srcOrd="0" destOrd="0" presId="urn:microsoft.com/office/officeart/2005/8/layout/orgChart1"/>
    <dgm:cxn modelId="{472BED66-BAFB-4229-A429-C2AB831815C9}" type="presParOf" srcId="{FC2EE2E5-19CC-4CB0-8480-8B9D2C368AAD}" destId="{AFF54DA4-D743-4B11-AE55-B644CF4476A6}" srcOrd="1" destOrd="0" presId="urn:microsoft.com/office/officeart/2005/8/layout/orgChart1"/>
    <dgm:cxn modelId="{AAB54967-B49A-4145-B4D2-7003E8C3B2DA}" type="presParOf" srcId="{599BB4E9-116B-4AED-AFF5-268146ECADF7}" destId="{1B647948-6FBD-4D7E-8D09-64FCBBE3C1CD}" srcOrd="1" destOrd="0" presId="urn:microsoft.com/office/officeart/2005/8/layout/orgChart1"/>
    <dgm:cxn modelId="{B669DD94-6676-4174-B583-E3A989903B9D}" type="presParOf" srcId="{599BB4E9-116B-4AED-AFF5-268146ECADF7}" destId="{F9AA3164-0353-4C28-9B5B-2B545B8A0759}" srcOrd="2" destOrd="0" presId="urn:microsoft.com/office/officeart/2005/8/layout/orgChart1"/>
    <dgm:cxn modelId="{589D5A65-EFB0-4090-AE60-62300AD68949}" type="presParOf" srcId="{B2342DB3-D409-465B-9DC4-033927028E5A}" destId="{FFAA6962-C5B0-41C1-8CDB-2F04588E7F17}" srcOrd="4" destOrd="0" presId="urn:microsoft.com/office/officeart/2005/8/layout/orgChart1"/>
    <dgm:cxn modelId="{6A644196-5AC7-4A14-A67F-986EA779E0CD}" type="presParOf" srcId="{B2342DB3-D409-465B-9DC4-033927028E5A}" destId="{A93872E9-EBBE-4A93-B022-DDFE4EEACDF2}" srcOrd="5" destOrd="0" presId="urn:microsoft.com/office/officeart/2005/8/layout/orgChart1"/>
    <dgm:cxn modelId="{C424E288-B914-4E95-BF9C-7354328D974F}" type="presParOf" srcId="{A93872E9-EBBE-4A93-B022-DDFE4EEACDF2}" destId="{53EFF0EB-3BE0-4C5D-98D3-624F7F95737C}" srcOrd="0" destOrd="0" presId="urn:microsoft.com/office/officeart/2005/8/layout/orgChart1"/>
    <dgm:cxn modelId="{85A70E9C-FD34-40E2-B263-21298F6D1805}" type="presParOf" srcId="{53EFF0EB-3BE0-4C5D-98D3-624F7F95737C}" destId="{1385D193-BCEC-4065-96C2-6D75EB48A969}" srcOrd="0" destOrd="0" presId="urn:microsoft.com/office/officeart/2005/8/layout/orgChart1"/>
    <dgm:cxn modelId="{3F592BB3-2580-4E22-96F3-F27B4498CFAB}" type="presParOf" srcId="{53EFF0EB-3BE0-4C5D-98D3-624F7F95737C}" destId="{6D3C06F9-AF1A-4C2B-A4DA-3EAF5605A1C8}" srcOrd="1" destOrd="0" presId="urn:microsoft.com/office/officeart/2005/8/layout/orgChart1"/>
    <dgm:cxn modelId="{8190627A-D928-499C-B80A-F797A382B175}" type="presParOf" srcId="{A93872E9-EBBE-4A93-B022-DDFE4EEACDF2}" destId="{6F8C5A34-8216-4325-A7B8-4A115D822193}" srcOrd="1" destOrd="0" presId="urn:microsoft.com/office/officeart/2005/8/layout/orgChart1"/>
    <dgm:cxn modelId="{DB28EEA2-AB91-436E-8259-0E093FD79F21}" type="presParOf" srcId="{A93872E9-EBBE-4A93-B022-DDFE4EEACDF2}" destId="{1ADB765D-3F4C-48CD-A2CB-FC56C1BEA24D}" srcOrd="2" destOrd="0" presId="urn:microsoft.com/office/officeart/2005/8/layout/orgChart1"/>
    <dgm:cxn modelId="{A03155B6-B497-4ED3-9EFF-54C5C5AA0F5D}" type="presParOf" srcId="{B2342DB3-D409-465B-9DC4-033927028E5A}" destId="{3B085FD2-9BA7-42A2-B911-4120D736143A}" srcOrd="6" destOrd="0" presId="urn:microsoft.com/office/officeart/2005/8/layout/orgChart1"/>
    <dgm:cxn modelId="{E51C4F1D-9DC6-47F3-9C9C-DC9F63AF7658}" type="presParOf" srcId="{B2342DB3-D409-465B-9DC4-033927028E5A}" destId="{F77B10E6-5107-41DC-A4E8-B47954497B41}" srcOrd="7" destOrd="0" presId="urn:microsoft.com/office/officeart/2005/8/layout/orgChart1"/>
    <dgm:cxn modelId="{1041B3F5-6393-4DA5-95AC-2F1ECA4CD486}" type="presParOf" srcId="{F77B10E6-5107-41DC-A4E8-B47954497B41}" destId="{3FD6524A-6516-4FAE-8C9B-BA0A964B2BE9}" srcOrd="0" destOrd="0" presId="urn:microsoft.com/office/officeart/2005/8/layout/orgChart1"/>
    <dgm:cxn modelId="{55EB73C5-3E13-4676-BC81-5EF5F10BA440}" type="presParOf" srcId="{3FD6524A-6516-4FAE-8C9B-BA0A964B2BE9}" destId="{7D62690C-74AD-4EE5-AE5A-11E07C0BCE7E}" srcOrd="0" destOrd="0" presId="urn:microsoft.com/office/officeart/2005/8/layout/orgChart1"/>
    <dgm:cxn modelId="{6CB4392E-7732-4379-9DEC-4423E1DA2B92}" type="presParOf" srcId="{3FD6524A-6516-4FAE-8C9B-BA0A964B2BE9}" destId="{D616FE56-C1C5-4951-9174-285995CAD81A}" srcOrd="1" destOrd="0" presId="urn:microsoft.com/office/officeart/2005/8/layout/orgChart1"/>
    <dgm:cxn modelId="{BB2B68CF-3B83-492A-B6F4-5CCCE2324BE4}" type="presParOf" srcId="{F77B10E6-5107-41DC-A4E8-B47954497B41}" destId="{5D152AEE-012F-4FAA-A19C-F16ED4C2B02A}" srcOrd="1" destOrd="0" presId="urn:microsoft.com/office/officeart/2005/8/layout/orgChart1"/>
    <dgm:cxn modelId="{AED8679D-53A9-4221-B0B6-802157BFD5CF}" type="presParOf" srcId="{F77B10E6-5107-41DC-A4E8-B47954497B41}" destId="{32CAEF2F-D89E-49C4-8635-40E23595C731}" srcOrd="2" destOrd="0" presId="urn:microsoft.com/office/officeart/2005/8/layout/orgChart1"/>
    <dgm:cxn modelId="{8F73EE14-C4E7-42E1-9A72-B38425E38D3C}" type="presParOf" srcId="{B2342DB3-D409-465B-9DC4-033927028E5A}" destId="{FE4622B0-78B8-4991-A5E4-7E122DA1F16D}" srcOrd="8" destOrd="0" presId="urn:microsoft.com/office/officeart/2005/8/layout/orgChart1"/>
    <dgm:cxn modelId="{64C53F31-D742-4369-9024-C43A666EA15A}" type="presParOf" srcId="{B2342DB3-D409-465B-9DC4-033927028E5A}" destId="{D8A7B765-9352-4C78-A07A-99309ECFF25A}" srcOrd="9" destOrd="0" presId="urn:microsoft.com/office/officeart/2005/8/layout/orgChart1"/>
    <dgm:cxn modelId="{0E6E2A36-E054-4EC0-AB2A-92D1FC733165}" type="presParOf" srcId="{D8A7B765-9352-4C78-A07A-99309ECFF25A}" destId="{03F7A0AE-92E2-4ED1-B807-945D19A5773C}" srcOrd="0" destOrd="0" presId="urn:microsoft.com/office/officeart/2005/8/layout/orgChart1"/>
    <dgm:cxn modelId="{C990856D-A6E6-446B-85EF-4D354DCAD302}" type="presParOf" srcId="{03F7A0AE-92E2-4ED1-B807-945D19A5773C}" destId="{58896BD8-2E54-42F3-8D06-94C2C1DA6E2F}" srcOrd="0" destOrd="0" presId="urn:microsoft.com/office/officeart/2005/8/layout/orgChart1"/>
    <dgm:cxn modelId="{5A8242C8-082A-4D8B-B1CB-E65F0D2A57DE}" type="presParOf" srcId="{03F7A0AE-92E2-4ED1-B807-945D19A5773C}" destId="{2EC267EA-2C04-4E65-9CC0-A8D45498A4E0}" srcOrd="1" destOrd="0" presId="urn:microsoft.com/office/officeart/2005/8/layout/orgChart1"/>
    <dgm:cxn modelId="{1EFA652F-50F6-4CFA-A663-E0F2EA3B2F30}" type="presParOf" srcId="{D8A7B765-9352-4C78-A07A-99309ECFF25A}" destId="{2536CBB6-1165-4A5E-B423-86A6CBFD0AEA}" srcOrd="1" destOrd="0" presId="urn:microsoft.com/office/officeart/2005/8/layout/orgChart1"/>
    <dgm:cxn modelId="{7D11E12F-18D3-44AF-872F-0F20905437E5}" type="presParOf" srcId="{D8A7B765-9352-4C78-A07A-99309ECFF25A}" destId="{F735AFC3-CC6A-409E-8726-3A6BB1B3CAD1}" srcOrd="2" destOrd="0" presId="urn:microsoft.com/office/officeart/2005/8/layout/orgChart1"/>
    <dgm:cxn modelId="{5B8564E4-B436-47C8-9C44-1AE4817DF9AB}" type="presParOf" srcId="{5E89DBEF-C01A-450B-8B74-299DF2A67E3B}" destId="{A1B134CC-5B70-49DA-BF93-3B8C904AE2ED}" srcOrd="2" destOrd="0" presId="urn:microsoft.com/office/officeart/2005/8/layout/orgChart1"/>
    <dgm:cxn modelId="{7C83A00C-C115-45BD-9F37-95CBDC1F453A}" type="presParOf" srcId="{9129A874-8FCD-42B7-8535-876EBFE739C8}" destId="{BABAF644-2862-41A5-A407-89DBF036787C}" srcOrd="2" destOrd="0" presId="urn:microsoft.com/office/officeart/2005/8/layout/orgChart1"/>
    <dgm:cxn modelId="{A8D7E09D-A376-4769-87B4-895A7FD96E95}" type="presParOf" srcId="{9129A874-8FCD-42B7-8535-876EBFE739C8}" destId="{004F87FE-143E-40A4-88E6-38BBF64501CA}" srcOrd="3" destOrd="0" presId="urn:microsoft.com/office/officeart/2005/8/layout/orgChart1"/>
    <dgm:cxn modelId="{37FBB60E-49D9-43D5-A551-0B4046CB9FE6}" type="presParOf" srcId="{004F87FE-143E-40A4-88E6-38BBF64501CA}" destId="{894EAFE1-159B-4B83-84D5-65AA9037E9EF}" srcOrd="0" destOrd="0" presId="urn:microsoft.com/office/officeart/2005/8/layout/orgChart1"/>
    <dgm:cxn modelId="{D1608141-E2A6-44EC-B507-5553B8A21A7E}" type="presParOf" srcId="{894EAFE1-159B-4B83-84D5-65AA9037E9EF}" destId="{DD121D98-C2C6-4623-8283-7C21600EAA16}" srcOrd="0" destOrd="0" presId="urn:microsoft.com/office/officeart/2005/8/layout/orgChart1"/>
    <dgm:cxn modelId="{AEBF710E-BEDF-44C8-A80B-F2DFA1D81439}" type="presParOf" srcId="{894EAFE1-159B-4B83-84D5-65AA9037E9EF}" destId="{53B85CFF-CDCA-44EA-AFDB-1FD2709F8790}" srcOrd="1" destOrd="0" presId="urn:microsoft.com/office/officeart/2005/8/layout/orgChart1"/>
    <dgm:cxn modelId="{F4D54B04-CA42-45C8-BEA0-78572220E0EF}" type="presParOf" srcId="{004F87FE-143E-40A4-88E6-38BBF64501CA}" destId="{B94AC6CE-8B97-4857-9BA9-EBDA048D2702}" srcOrd="1" destOrd="0" presId="urn:microsoft.com/office/officeart/2005/8/layout/orgChart1"/>
    <dgm:cxn modelId="{B6AD12E2-3117-4840-9D2A-947C7854F440}" type="presParOf" srcId="{B94AC6CE-8B97-4857-9BA9-EBDA048D2702}" destId="{A733E97F-85BF-44C4-8E7A-86444D97DAF2}" srcOrd="0" destOrd="0" presId="urn:microsoft.com/office/officeart/2005/8/layout/orgChart1"/>
    <dgm:cxn modelId="{13A85A48-3A4F-4856-8BDB-CCD573FCD628}" type="presParOf" srcId="{B94AC6CE-8B97-4857-9BA9-EBDA048D2702}" destId="{318A3D5C-7F3A-4D9F-BAE2-FCEB8C70F14C}" srcOrd="1" destOrd="0" presId="urn:microsoft.com/office/officeart/2005/8/layout/orgChart1"/>
    <dgm:cxn modelId="{E1791445-B49A-4FF4-9C27-2E97F282A776}" type="presParOf" srcId="{318A3D5C-7F3A-4D9F-BAE2-FCEB8C70F14C}" destId="{7FD0880A-D781-411B-BFBB-E11B217ACB4E}" srcOrd="0" destOrd="0" presId="urn:microsoft.com/office/officeart/2005/8/layout/orgChart1"/>
    <dgm:cxn modelId="{B81929D7-FAAE-47CC-8958-CA0E45452AF7}" type="presParOf" srcId="{7FD0880A-D781-411B-BFBB-E11B217ACB4E}" destId="{318E78D7-F58F-45C1-B027-288D0F85A0D3}" srcOrd="0" destOrd="0" presId="urn:microsoft.com/office/officeart/2005/8/layout/orgChart1"/>
    <dgm:cxn modelId="{21DCB2AA-2A35-4A00-99F1-3505CEFDE703}" type="presParOf" srcId="{7FD0880A-D781-411B-BFBB-E11B217ACB4E}" destId="{766C3C95-CE31-4FF9-BDFE-B2B6A10C305B}" srcOrd="1" destOrd="0" presId="urn:microsoft.com/office/officeart/2005/8/layout/orgChart1"/>
    <dgm:cxn modelId="{3D0BB9AC-424C-4572-ADA6-DA0109683F33}" type="presParOf" srcId="{318A3D5C-7F3A-4D9F-BAE2-FCEB8C70F14C}" destId="{0B08CA6A-4E14-4363-8236-D6C978AFB9A5}" srcOrd="1" destOrd="0" presId="urn:microsoft.com/office/officeart/2005/8/layout/orgChart1"/>
    <dgm:cxn modelId="{700B79F8-D07D-494D-B473-9D693F5BBBEB}" type="presParOf" srcId="{318A3D5C-7F3A-4D9F-BAE2-FCEB8C70F14C}" destId="{5F04C60C-8A35-4748-84AA-338F75B16BD7}" srcOrd="2" destOrd="0" presId="urn:microsoft.com/office/officeart/2005/8/layout/orgChart1"/>
    <dgm:cxn modelId="{4BE6B176-A380-4C13-AF65-50FBE39066C7}" type="presParOf" srcId="{B94AC6CE-8B97-4857-9BA9-EBDA048D2702}" destId="{EA4C2B32-DD68-4C64-8EF7-A0BAD242082A}" srcOrd="2" destOrd="0" presId="urn:microsoft.com/office/officeart/2005/8/layout/orgChart1"/>
    <dgm:cxn modelId="{FA4807AB-F384-4C62-B86B-7D7B10EC1B2C}" type="presParOf" srcId="{B94AC6CE-8B97-4857-9BA9-EBDA048D2702}" destId="{7CF25819-9BF3-478B-809B-194BEFF857A5}" srcOrd="3" destOrd="0" presId="urn:microsoft.com/office/officeart/2005/8/layout/orgChart1"/>
    <dgm:cxn modelId="{598771E5-DB6D-4E98-A5D9-0EF60AC8EA62}" type="presParOf" srcId="{7CF25819-9BF3-478B-809B-194BEFF857A5}" destId="{448DF649-5B85-4E05-BDEA-E9CAF77CF00D}" srcOrd="0" destOrd="0" presId="urn:microsoft.com/office/officeart/2005/8/layout/orgChart1"/>
    <dgm:cxn modelId="{C59D3FB7-C206-438A-B0FF-3EC0D971C8F8}" type="presParOf" srcId="{448DF649-5B85-4E05-BDEA-E9CAF77CF00D}" destId="{7878FA68-7CCC-4D5A-98C7-0559A89CD216}" srcOrd="0" destOrd="0" presId="urn:microsoft.com/office/officeart/2005/8/layout/orgChart1"/>
    <dgm:cxn modelId="{7BF36B81-8FA6-44C8-870B-7C7A9F557D03}" type="presParOf" srcId="{448DF649-5B85-4E05-BDEA-E9CAF77CF00D}" destId="{9E7E88E4-BB22-4287-A1C9-4ECC9D6F7A91}" srcOrd="1" destOrd="0" presId="urn:microsoft.com/office/officeart/2005/8/layout/orgChart1"/>
    <dgm:cxn modelId="{CD58C490-AF97-4ED1-A8DB-5F48E1E31F89}" type="presParOf" srcId="{7CF25819-9BF3-478B-809B-194BEFF857A5}" destId="{C826CE9C-F6D1-4E16-A07D-6901DB1DDBEA}" srcOrd="1" destOrd="0" presId="urn:microsoft.com/office/officeart/2005/8/layout/orgChart1"/>
    <dgm:cxn modelId="{7CF32578-AA69-4777-B41E-09FC8BE9F600}" type="presParOf" srcId="{7CF25819-9BF3-478B-809B-194BEFF857A5}" destId="{091F7E8E-FABD-4026-B594-9F63C73FB23E}" srcOrd="2" destOrd="0" presId="urn:microsoft.com/office/officeart/2005/8/layout/orgChart1"/>
    <dgm:cxn modelId="{EFED16AB-3AFD-4A6C-90EF-C102C898F045}" type="presParOf" srcId="{B94AC6CE-8B97-4857-9BA9-EBDA048D2702}" destId="{66B0432A-6357-4C2A-8BD2-4C8A5E5AA592}" srcOrd="4" destOrd="0" presId="urn:microsoft.com/office/officeart/2005/8/layout/orgChart1"/>
    <dgm:cxn modelId="{EEC6F380-7E9F-4094-B08A-570C29F8CD4B}" type="presParOf" srcId="{B94AC6CE-8B97-4857-9BA9-EBDA048D2702}" destId="{C8193AAB-1796-486C-8F10-C494B9CA77C2}" srcOrd="5" destOrd="0" presId="urn:microsoft.com/office/officeart/2005/8/layout/orgChart1"/>
    <dgm:cxn modelId="{F75DDE3A-6B0B-4A90-A5F6-585911EC401A}" type="presParOf" srcId="{C8193AAB-1796-486C-8F10-C494B9CA77C2}" destId="{5CBF2082-5340-4CE8-9056-5C766CD12122}" srcOrd="0" destOrd="0" presId="urn:microsoft.com/office/officeart/2005/8/layout/orgChart1"/>
    <dgm:cxn modelId="{CCA041BC-0C67-43D1-82B1-C386C527C5F4}" type="presParOf" srcId="{5CBF2082-5340-4CE8-9056-5C766CD12122}" destId="{B04EC40D-0E7A-4649-B9DF-40E439A19567}" srcOrd="0" destOrd="0" presId="urn:microsoft.com/office/officeart/2005/8/layout/orgChart1"/>
    <dgm:cxn modelId="{1D8A7E24-44D0-4D06-9891-E67BCCDD0492}" type="presParOf" srcId="{5CBF2082-5340-4CE8-9056-5C766CD12122}" destId="{0B523482-8A31-46EA-9AC1-9A5FC841F7ED}" srcOrd="1" destOrd="0" presId="urn:microsoft.com/office/officeart/2005/8/layout/orgChart1"/>
    <dgm:cxn modelId="{88B9D712-A1F9-4446-819F-ECECB658B8F0}" type="presParOf" srcId="{C8193AAB-1796-486C-8F10-C494B9CA77C2}" destId="{D20C5674-9F48-46F1-9376-C19214710D0A}" srcOrd="1" destOrd="0" presId="urn:microsoft.com/office/officeart/2005/8/layout/orgChart1"/>
    <dgm:cxn modelId="{950BD095-E7F5-4BBD-85AE-8B20EA425F5F}" type="presParOf" srcId="{C8193AAB-1796-486C-8F10-C494B9CA77C2}" destId="{EEC45482-1B14-4A98-BB78-863E3DDE8464}" srcOrd="2" destOrd="0" presId="urn:microsoft.com/office/officeart/2005/8/layout/orgChart1"/>
    <dgm:cxn modelId="{0D63959B-2FFD-4401-84D9-09154F09C14D}" type="presParOf" srcId="{B94AC6CE-8B97-4857-9BA9-EBDA048D2702}" destId="{4850597B-9DF5-44CF-ACD5-E2B55BBDC173}" srcOrd="6" destOrd="0" presId="urn:microsoft.com/office/officeart/2005/8/layout/orgChart1"/>
    <dgm:cxn modelId="{255AE637-1CD3-4A38-964D-54876959D935}" type="presParOf" srcId="{B94AC6CE-8B97-4857-9BA9-EBDA048D2702}" destId="{70E76958-C187-41D5-8EC1-791E17B9EAA3}" srcOrd="7" destOrd="0" presId="urn:microsoft.com/office/officeart/2005/8/layout/orgChart1"/>
    <dgm:cxn modelId="{0B64A37F-97BE-482E-BF55-B19B4FDF15B7}" type="presParOf" srcId="{70E76958-C187-41D5-8EC1-791E17B9EAA3}" destId="{9ECF6B13-238D-4544-A697-4DC0ADBE6DF1}" srcOrd="0" destOrd="0" presId="urn:microsoft.com/office/officeart/2005/8/layout/orgChart1"/>
    <dgm:cxn modelId="{C3DAE498-3848-431A-A361-3EE17C8F65CD}" type="presParOf" srcId="{9ECF6B13-238D-4544-A697-4DC0ADBE6DF1}" destId="{A14289BE-6E7A-4200-88EE-868B463CA4A4}" srcOrd="0" destOrd="0" presId="urn:microsoft.com/office/officeart/2005/8/layout/orgChart1"/>
    <dgm:cxn modelId="{F440849A-CFFE-4606-BAE4-591EFE4AE236}" type="presParOf" srcId="{9ECF6B13-238D-4544-A697-4DC0ADBE6DF1}" destId="{D092E197-CB33-43C0-9811-BAE67CED8848}" srcOrd="1" destOrd="0" presId="urn:microsoft.com/office/officeart/2005/8/layout/orgChart1"/>
    <dgm:cxn modelId="{7D39B3BE-9647-44DA-AD5E-747B37CEA285}" type="presParOf" srcId="{70E76958-C187-41D5-8EC1-791E17B9EAA3}" destId="{D20D2637-AE0B-4EC5-ABD3-60283B8AD225}" srcOrd="1" destOrd="0" presId="urn:microsoft.com/office/officeart/2005/8/layout/orgChart1"/>
    <dgm:cxn modelId="{DCFB528A-610B-494C-B164-60A388ED8E01}" type="presParOf" srcId="{70E76958-C187-41D5-8EC1-791E17B9EAA3}" destId="{1947B0A7-4D6C-4FDB-A847-83EF4502E5BA}" srcOrd="2" destOrd="0" presId="urn:microsoft.com/office/officeart/2005/8/layout/orgChart1"/>
    <dgm:cxn modelId="{47926885-4382-4D42-A206-09187708B049}" type="presParOf" srcId="{B94AC6CE-8B97-4857-9BA9-EBDA048D2702}" destId="{C072F75C-6FB6-4AC8-B781-CCBAD64554DA}" srcOrd="8" destOrd="0" presId="urn:microsoft.com/office/officeart/2005/8/layout/orgChart1"/>
    <dgm:cxn modelId="{943A4E9A-5B08-4336-A990-12AFB19EC9EC}" type="presParOf" srcId="{B94AC6CE-8B97-4857-9BA9-EBDA048D2702}" destId="{86A681C6-AC50-4274-AAB1-2F487F6A7453}" srcOrd="9" destOrd="0" presId="urn:microsoft.com/office/officeart/2005/8/layout/orgChart1"/>
    <dgm:cxn modelId="{F0906FC3-8A26-42A0-BA35-F9027DBE5F50}" type="presParOf" srcId="{86A681C6-AC50-4274-AAB1-2F487F6A7453}" destId="{86AF80F6-A9FB-43A0-A2E0-A94667C198A3}" srcOrd="0" destOrd="0" presId="urn:microsoft.com/office/officeart/2005/8/layout/orgChart1"/>
    <dgm:cxn modelId="{FF967A30-A4C7-45D3-AAF9-07CAA18D301F}" type="presParOf" srcId="{86AF80F6-A9FB-43A0-A2E0-A94667C198A3}" destId="{FAD130A6-44F5-4296-84B0-0CD7A6B78512}" srcOrd="0" destOrd="0" presId="urn:microsoft.com/office/officeart/2005/8/layout/orgChart1"/>
    <dgm:cxn modelId="{8FA16E6F-5C5A-42E1-8C3A-3B1470E6E33E}" type="presParOf" srcId="{86AF80F6-A9FB-43A0-A2E0-A94667C198A3}" destId="{CCD3BB35-BBEB-4A1A-960E-C785A3B72D35}" srcOrd="1" destOrd="0" presId="urn:microsoft.com/office/officeart/2005/8/layout/orgChart1"/>
    <dgm:cxn modelId="{21A9AE26-86B3-48D9-8A73-2CD41B830167}" type="presParOf" srcId="{86A681C6-AC50-4274-AAB1-2F487F6A7453}" destId="{79B28878-D4BD-4866-ADE0-1276BE9AE542}" srcOrd="1" destOrd="0" presId="urn:microsoft.com/office/officeart/2005/8/layout/orgChart1"/>
    <dgm:cxn modelId="{668D5044-5882-4AF4-960C-7E7C30445FED}" type="presParOf" srcId="{86A681C6-AC50-4274-AAB1-2F487F6A7453}" destId="{C4B5CDDF-9784-4FF0-AA3E-EC75E275CF6D}" srcOrd="2" destOrd="0" presId="urn:microsoft.com/office/officeart/2005/8/layout/orgChart1"/>
    <dgm:cxn modelId="{DD8E991D-F163-425E-B9EC-306468592590}" type="presParOf" srcId="{004F87FE-143E-40A4-88E6-38BBF64501CA}" destId="{2EB07238-289C-4AD7-9D2A-A95997610154}" srcOrd="2" destOrd="0" presId="urn:microsoft.com/office/officeart/2005/8/layout/orgChart1"/>
    <dgm:cxn modelId="{7E8E362C-99A1-4150-8E2F-749B3362A42B}" type="presParOf" srcId="{BDC017A5-685D-4B02-B9E3-A33B00933FEE}" destId="{028E4C09-9E3C-43E6-B814-F49582144E89}"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0731F-C84E-40D6-848C-BBEACDDE5660}">
      <dsp:nvSpPr>
        <dsp:cNvPr id="0" name=""/>
        <dsp:cNvSpPr/>
      </dsp:nvSpPr>
      <dsp:spPr>
        <a:xfrm>
          <a:off x="3429000" y="772876"/>
          <a:ext cx="1863849" cy="323477"/>
        </a:xfrm>
        <a:custGeom>
          <a:avLst/>
          <a:gdLst/>
          <a:ahLst/>
          <a:cxnLst/>
          <a:rect l="0" t="0" r="0" b="0"/>
          <a:pathLst>
            <a:path>
              <a:moveTo>
                <a:pt x="0" y="0"/>
              </a:moveTo>
              <a:lnTo>
                <a:pt x="0" y="161738"/>
              </a:lnTo>
              <a:lnTo>
                <a:pt x="1863849" y="161738"/>
              </a:lnTo>
              <a:lnTo>
                <a:pt x="1863849" y="3234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7CF340-A8EC-4369-AD57-F222D648A5AC}">
      <dsp:nvSpPr>
        <dsp:cNvPr id="0" name=""/>
        <dsp:cNvSpPr/>
      </dsp:nvSpPr>
      <dsp:spPr>
        <a:xfrm>
          <a:off x="3383280" y="772876"/>
          <a:ext cx="91440" cy="323477"/>
        </a:xfrm>
        <a:custGeom>
          <a:avLst/>
          <a:gdLst/>
          <a:ahLst/>
          <a:cxnLst/>
          <a:rect l="0" t="0" r="0" b="0"/>
          <a:pathLst>
            <a:path>
              <a:moveTo>
                <a:pt x="45720" y="0"/>
              </a:moveTo>
              <a:lnTo>
                <a:pt x="45720" y="3234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B104D0-6542-42A6-8E30-35FC701DDD33}">
      <dsp:nvSpPr>
        <dsp:cNvPr id="0" name=""/>
        <dsp:cNvSpPr/>
      </dsp:nvSpPr>
      <dsp:spPr>
        <a:xfrm>
          <a:off x="949002" y="1866539"/>
          <a:ext cx="231055" cy="1802234"/>
        </a:xfrm>
        <a:custGeom>
          <a:avLst/>
          <a:gdLst/>
          <a:ahLst/>
          <a:cxnLst/>
          <a:rect l="0" t="0" r="0" b="0"/>
          <a:pathLst>
            <a:path>
              <a:moveTo>
                <a:pt x="0" y="0"/>
              </a:moveTo>
              <a:lnTo>
                <a:pt x="0" y="1802234"/>
              </a:lnTo>
              <a:lnTo>
                <a:pt x="231055" y="180223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28F518-4EE8-41FD-BCD7-182480787BE8}">
      <dsp:nvSpPr>
        <dsp:cNvPr id="0" name=""/>
        <dsp:cNvSpPr/>
      </dsp:nvSpPr>
      <dsp:spPr>
        <a:xfrm>
          <a:off x="949002" y="1866539"/>
          <a:ext cx="231055" cy="708570"/>
        </a:xfrm>
        <a:custGeom>
          <a:avLst/>
          <a:gdLst/>
          <a:ahLst/>
          <a:cxnLst/>
          <a:rect l="0" t="0" r="0" b="0"/>
          <a:pathLst>
            <a:path>
              <a:moveTo>
                <a:pt x="0" y="0"/>
              </a:moveTo>
              <a:lnTo>
                <a:pt x="0" y="708570"/>
              </a:lnTo>
              <a:lnTo>
                <a:pt x="231055" y="7085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110F1-01BC-48C2-8742-B589369BE516}">
      <dsp:nvSpPr>
        <dsp:cNvPr id="0" name=""/>
        <dsp:cNvSpPr/>
      </dsp:nvSpPr>
      <dsp:spPr>
        <a:xfrm>
          <a:off x="1565150" y="772876"/>
          <a:ext cx="1863849" cy="323477"/>
        </a:xfrm>
        <a:custGeom>
          <a:avLst/>
          <a:gdLst/>
          <a:ahLst/>
          <a:cxnLst/>
          <a:rect l="0" t="0" r="0" b="0"/>
          <a:pathLst>
            <a:path>
              <a:moveTo>
                <a:pt x="1863849" y="0"/>
              </a:moveTo>
              <a:lnTo>
                <a:pt x="1863849" y="161738"/>
              </a:lnTo>
              <a:lnTo>
                <a:pt x="0" y="161738"/>
              </a:lnTo>
              <a:lnTo>
                <a:pt x="0" y="3234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FF36E6-B388-4A45-B8E7-2A2B86E60861}">
      <dsp:nvSpPr>
        <dsp:cNvPr id="0" name=""/>
        <dsp:cNvSpPr/>
      </dsp:nvSpPr>
      <dsp:spPr>
        <a:xfrm>
          <a:off x="2658814" y="2690"/>
          <a:ext cx="1540371" cy="7701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Credit selection process</a:t>
          </a:r>
          <a:endParaRPr lang="en-ZA" sz="1600" kern="1200" dirty="0"/>
        </a:p>
      </dsp:txBody>
      <dsp:txXfrm>
        <a:off x="2658814" y="2690"/>
        <a:ext cx="1540371" cy="770185"/>
      </dsp:txXfrm>
    </dsp:sp>
    <dsp:sp modelId="{76010820-4305-44DF-B1D2-538C22059813}">
      <dsp:nvSpPr>
        <dsp:cNvPr id="0" name=""/>
        <dsp:cNvSpPr/>
      </dsp:nvSpPr>
      <dsp:spPr>
        <a:xfrm>
          <a:off x="794965" y="1096353"/>
          <a:ext cx="1540371" cy="7701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Credit application form</a:t>
          </a:r>
          <a:endParaRPr lang="en-ZA" sz="1600" kern="1200" dirty="0"/>
        </a:p>
      </dsp:txBody>
      <dsp:txXfrm>
        <a:off x="794965" y="1096353"/>
        <a:ext cx="1540371" cy="770185"/>
      </dsp:txXfrm>
    </dsp:sp>
    <dsp:sp modelId="{AD83011E-422B-4616-A92A-8F6F902B7099}">
      <dsp:nvSpPr>
        <dsp:cNvPr id="0" name=""/>
        <dsp:cNvSpPr/>
      </dsp:nvSpPr>
      <dsp:spPr>
        <a:xfrm>
          <a:off x="1180058" y="2190017"/>
          <a:ext cx="1540371" cy="7701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Individual</a:t>
          </a:r>
          <a:endParaRPr lang="en-ZA" sz="1600" kern="1200" dirty="0"/>
        </a:p>
      </dsp:txBody>
      <dsp:txXfrm>
        <a:off x="1180058" y="2190017"/>
        <a:ext cx="1540371" cy="770185"/>
      </dsp:txXfrm>
    </dsp:sp>
    <dsp:sp modelId="{269D569C-D064-459B-91E6-9D363F1DCEE8}">
      <dsp:nvSpPr>
        <dsp:cNvPr id="0" name=""/>
        <dsp:cNvSpPr/>
      </dsp:nvSpPr>
      <dsp:spPr>
        <a:xfrm>
          <a:off x="1180058" y="3283680"/>
          <a:ext cx="1540371" cy="7701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Firm</a:t>
          </a:r>
          <a:endParaRPr lang="en-ZA" sz="1600" kern="1200" dirty="0"/>
        </a:p>
      </dsp:txBody>
      <dsp:txXfrm>
        <a:off x="1180058" y="3283680"/>
        <a:ext cx="1540371" cy="770185"/>
      </dsp:txXfrm>
    </dsp:sp>
    <dsp:sp modelId="{0C7342A3-6E3E-49D2-AEA1-0C523CFB5D29}">
      <dsp:nvSpPr>
        <dsp:cNvPr id="0" name=""/>
        <dsp:cNvSpPr/>
      </dsp:nvSpPr>
      <dsp:spPr>
        <a:xfrm>
          <a:off x="2658814" y="1096353"/>
          <a:ext cx="1540371" cy="7701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Sources of information</a:t>
          </a:r>
          <a:endParaRPr lang="en-ZA" sz="1600" kern="1200" dirty="0"/>
        </a:p>
      </dsp:txBody>
      <dsp:txXfrm>
        <a:off x="2658814" y="1096353"/>
        <a:ext cx="1540371" cy="770185"/>
      </dsp:txXfrm>
    </dsp:sp>
    <dsp:sp modelId="{FBFBC973-1346-42A7-A785-7C6EC28B728E}">
      <dsp:nvSpPr>
        <dsp:cNvPr id="0" name=""/>
        <dsp:cNvSpPr/>
      </dsp:nvSpPr>
      <dsp:spPr>
        <a:xfrm>
          <a:off x="4522663" y="1096353"/>
          <a:ext cx="1540371" cy="7701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Credit analysis</a:t>
          </a:r>
          <a:endParaRPr lang="en-ZA" sz="1600" kern="1200" dirty="0"/>
        </a:p>
      </dsp:txBody>
      <dsp:txXfrm>
        <a:off x="4522663" y="1096353"/>
        <a:ext cx="1540371" cy="770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2F75C-6FB6-4AC8-B781-CCBAD64554DA}">
      <dsp:nvSpPr>
        <dsp:cNvPr id="0" name=""/>
        <dsp:cNvSpPr/>
      </dsp:nvSpPr>
      <dsp:spPr>
        <a:xfrm>
          <a:off x="4405801" y="1442086"/>
          <a:ext cx="242396" cy="3046049"/>
        </a:xfrm>
        <a:custGeom>
          <a:avLst/>
          <a:gdLst/>
          <a:ahLst/>
          <a:cxnLst/>
          <a:rect l="0" t="0" r="0" b="0"/>
          <a:pathLst>
            <a:path>
              <a:moveTo>
                <a:pt x="0" y="0"/>
              </a:moveTo>
              <a:lnTo>
                <a:pt x="0" y="3046049"/>
              </a:lnTo>
              <a:lnTo>
                <a:pt x="242396" y="304604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50597B-9DF5-44CF-ACD5-E2B55BBDC173}">
      <dsp:nvSpPr>
        <dsp:cNvPr id="0" name=""/>
        <dsp:cNvSpPr/>
      </dsp:nvSpPr>
      <dsp:spPr>
        <a:xfrm>
          <a:off x="4405801" y="1442086"/>
          <a:ext cx="242396" cy="2411171"/>
        </a:xfrm>
        <a:custGeom>
          <a:avLst/>
          <a:gdLst/>
          <a:ahLst/>
          <a:cxnLst/>
          <a:rect l="0" t="0" r="0" b="0"/>
          <a:pathLst>
            <a:path>
              <a:moveTo>
                <a:pt x="0" y="0"/>
              </a:moveTo>
              <a:lnTo>
                <a:pt x="0" y="2411171"/>
              </a:lnTo>
              <a:lnTo>
                <a:pt x="242396" y="241117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B0432A-6357-4C2A-8BD2-4C8A5E5AA592}">
      <dsp:nvSpPr>
        <dsp:cNvPr id="0" name=""/>
        <dsp:cNvSpPr/>
      </dsp:nvSpPr>
      <dsp:spPr>
        <a:xfrm>
          <a:off x="4405801" y="1442086"/>
          <a:ext cx="242396" cy="1723469"/>
        </a:xfrm>
        <a:custGeom>
          <a:avLst/>
          <a:gdLst/>
          <a:ahLst/>
          <a:cxnLst/>
          <a:rect l="0" t="0" r="0" b="0"/>
          <a:pathLst>
            <a:path>
              <a:moveTo>
                <a:pt x="0" y="0"/>
              </a:moveTo>
              <a:lnTo>
                <a:pt x="0" y="1723469"/>
              </a:lnTo>
              <a:lnTo>
                <a:pt x="242396" y="172346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4C2B32-DD68-4C64-8EF7-A0BAD242082A}">
      <dsp:nvSpPr>
        <dsp:cNvPr id="0" name=""/>
        <dsp:cNvSpPr/>
      </dsp:nvSpPr>
      <dsp:spPr>
        <a:xfrm>
          <a:off x="4405801" y="1442086"/>
          <a:ext cx="242396" cy="1065807"/>
        </a:xfrm>
        <a:custGeom>
          <a:avLst/>
          <a:gdLst/>
          <a:ahLst/>
          <a:cxnLst/>
          <a:rect l="0" t="0" r="0" b="0"/>
          <a:pathLst>
            <a:path>
              <a:moveTo>
                <a:pt x="0" y="0"/>
              </a:moveTo>
              <a:lnTo>
                <a:pt x="0" y="1065807"/>
              </a:lnTo>
              <a:lnTo>
                <a:pt x="242396" y="10658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33E97F-85BF-44C4-8E7A-86444D97DAF2}">
      <dsp:nvSpPr>
        <dsp:cNvPr id="0" name=""/>
        <dsp:cNvSpPr/>
      </dsp:nvSpPr>
      <dsp:spPr>
        <a:xfrm>
          <a:off x="4405801" y="1442086"/>
          <a:ext cx="242396" cy="418740"/>
        </a:xfrm>
        <a:custGeom>
          <a:avLst/>
          <a:gdLst/>
          <a:ahLst/>
          <a:cxnLst/>
          <a:rect l="0" t="0" r="0" b="0"/>
          <a:pathLst>
            <a:path>
              <a:moveTo>
                <a:pt x="0" y="0"/>
              </a:moveTo>
              <a:lnTo>
                <a:pt x="0" y="418740"/>
              </a:lnTo>
              <a:lnTo>
                <a:pt x="242396" y="41874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AF644-2862-41A5-A407-89DBF036787C}">
      <dsp:nvSpPr>
        <dsp:cNvPr id="0" name=""/>
        <dsp:cNvSpPr/>
      </dsp:nvSpPr>
      <dsp:spPr>
        <a:xfrm>
          <a:off x="3801511" y="520888"/>
          <a:ext cx="2044289" cy="411470"/>
        </a:xfrm>
        <a:custGeom>
          <a:avLst/>
          <a:gdLst/>
          <a:ahLst/>
          <a:cxnLst/>
          <a:rect l="0" t="0" r="0" b="0"/>
          <a:pathLst>
            <a:path>
              <a:moveTo>
                <a:pt x="0" y="0"/>
              </a:moveTo>
              <a:lnTo>
                <a:pt x="0" y="302347"/>
              </a:lnTo>
              <a:lnTo>
                <a:pt x="2044289" y="302347"/>
              </a:lnTo>
              <a:lnTo>
                <a:pt x="2044289" y="411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4622B0-78B8-4991-A5E4-7E122DA1F16D}">
      <dsp:nvSpPr>
        <dsp:cNvPr id="0" name=""/>
        <dsp:cNvSpPr/>
      </dsp:nvSpPr>
      <dsp:spPr>
        <a:xfrm>
          <a:off x="360000" y="1452193"/>
          <a:ext cx="236813" cy="3035942"/>
        </a:xfrm>
        <a:custGeom>
          <a:avLst/>
          <a:gdLst/>
          <a:ahLst/>
          <a:cxnLst/>
          <a:rect l="0" t="0" r="0" b="0"/>
          <a:pathLst>
            <a:path>
              <a:moveTo>
                <a:pt x="0" y="0"/>
              </a:moveTo>
              <a:lnTo>
                <a:pt x="0" y="3035942"/>
              </a:lnTo>
              <a:lnTo>
                <a:pt x="236813" y="30359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085FD2-9BA7-42A2-B911-4120D736143A}">
      <dsp:nvSpPr>
        <dsp:cNvPr id="0" name=""/>
        <dsp:cNvSpPr/>
      </dsp:nvSpPr>
      <dsp:spPr>
        <a:xfrm>
          <a:off x="360000" y="1452193"/>
          <a:ext cx="251892" cy="2426341"/>
        </a:xfrm>
        <a:custGeom>
          <a:avLst/>
          <a:gdLst/>
          <a:ahLst/>
          <a:cxnLst/>
          <a:rect l="0" t="0" r="0" b="0"/>
          <a:pathLst>
            <a:path>
              <a:moveTo>
                <a:pt x="0" y="0"/>
              </a:moveTo>
              <a:lnTo>
                <a:pt x="0" y="2426341"/>
              </a:lnTo>
              <a:lnTo>
                <a:pt x="251892" y="242634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AA6962-C5B0-41C1-8CDB-2F04588E7F17}">
      <dsp:nvSpPr>
        <dsp:cNvPr id="0" name=""/>
        <dsp:cNvSpPr/>
      </dsp:nvSpPr>
      <dsp:spPr>
        <a:xfrm>
          <a:off x="360000" y="1452193"/>
          <a:ext cx="231003" cy="1791787"/>
        </a:xfrm>
        <a:custGeom>
          <a:avLst/>
          <a:gdLst/>
          <a:ahLst/>
          <a:cxnLst/>
          <a:rect l="0" t="0" r="0" b="0"/>
          <a:pathLst>
            <a:path>
              <a:moveTo>
                <a:pt x="0" y="0"/>
              </a:moveTo>
              <a:lnTo>
                <a:pt x="0" y="1791787"/>
              </a:lnTo>
              <a:lnTo>
                <a:pt x="231003" y="179178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49C7D6-6B7C-4B63-BC01-3FBEB8EDD8DB}">
      <dsp:nvSpPr>
        <dsp:cNvPr id="0" name=""/>
        <dsp:cNvSpPr/>
      </dsp:nvSpPr>
      <dsp:spPr>
        <a:xfrm>
          <a:off x="360000" y="1452193"/>
          <a:ext cx="232281" cy="1105987"/>
        </a:xfrm>
        <a:custGeom>
          <a:avLst/>
          <a:gdLst/>
          <a:ahLst/>
          <a:cxnLst/>
          <a:rect l="0" t="0" r="0" b="0"/>
          <a:pathLst>
            <a:path>
              <a:moveTo>
                <a:pt x="0" y="0"/>
              </a:moveTo>
              <a:lnTo>
                <a:pt x="0" y="1105987"/>
              </a:lnTo>
              <a:lnTo>
                <a:pt x="232281" y="110598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B04B35-0DBC-4D65-8EB4-8B335038F4C6}">
      <dsp:nvSpPr>
        <dsp:cNvPr id="0" name=""/>
        <dsp:cNvSpPr/>
      </dsp:nvSpPr>
      <dsp:spPr>
        <a:xfrm>
          <a:off x="360000" y="1452193"/>
          <a:ext cx="231003" cy="425781"/>
        </a:xfrm>
        <a:custGeom>
          <a:avLst/>
          <a:gdLst/>
          <a:ahLst/>
          <a:cxnLst/>
          <a:rect l="0" t="0" r="0" b="0"/>
          <a:pathLst>
            <a:path>
              <a:moveTo>
                <a:pt x="0" y="0"/>
              </a:moveTo>
              <a:lnTo>
                <a:pt x="0" y="425781"/>
              </a:lnTo>
              <a:lnTo>
                <a:pt x="231003" y="4257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BDB53A-680C-455D-8046-4D8DD8DF5847}">
      <dsp:nvSpPr>
        <dsp:cNvPr id="0" name=""/>
        <dsp:cNvSpPr/>
      </dsp:nvSpPr>
      <dsp:spPr>
        <a:xfrm>
          <a:off x="1800000" y="520888"/>
          <a:ext cx="2001511" cy="421577"/>
        </a:xfrm>
        <a:custGeom>
          <a:avLst/>
          <a:gdLst/>
          <a:ahLst/>
          <a:cxnLst/>
          <a:rect l="0" t="0" r="0" b="0"/>
          <a:pathLst>
            <a:path>
              <a:moveTo>
                <a:pt x="2001511" y="0"/>
              </a:moveTo>
              <a:lnTo>
                <a:pt x="2001511" y="312454"/>
              </a:lnTo>
              <a:lnTo>
                <a:pt x="0" y="312454"/>
              </a:lnTo>
              <a:lnTo>
                <a:pt x="0" y="4215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AC1A99-DFA2-4358-96CA-42E5995240FF}">
      <dsp:nvSpPr>
        <dsp:cNvPr id="0" name=""/>
        <dsp:cNvSpPr/>
      </dsp:nvSpPr>
      <dsp:spPr>
        <a:xfrm>
          <a:off x="2560100" y="1256"/>
          <a:ext cx="2482823" cy="51963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Credit application form</a:t>
          </a:r>
          <a:endParaRPr lang="en-ZA" sz="1600" kern="1200" dirty="0"/>
        </a:p>
      </dsp:txBody>
      <dsp:txXfrm>
        <a:off x="2560100" y="1256"/>
        <a:ext cx="2482823" cy="519632"/>
      </dsp:txXfrm>
    </dsp:sp>
    <dsp:sp modelId="{CD17B1C5-8D16-49F5-8279-EF5944ADD4EB}">
      <dsp:nvSpPr>
        <dsp:cNvPr id="0" name=""/>
        <dsp:cNvSpPr/>
      </dsp:nvSpPr>
      <dsp:spPr>
        <a:xfrm>
          <a:off x="0" y="942465"/>
          <a:ext cx="3600000" cy="509727"/>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Individual</a:t>
          </a:r>
          <a:endParaRPr lang="en-ZA" sz="1600" kern="1200" dirty="0">
            <a:solidFill>
              <a:prstClr val="black"/>
            </a:solidFill>
            <a:latin typeface="Tahoma"/>
            <a:ea typeface="ＭＳ Ｐゴシック"/>
            <a:cs typeface="+mn-cs"/>
          </a:endParaRPr>
        </a:p>
      </dsp:txBody>
      <dsp:txXfrm>
        <a:off x="0" y="942465"/>
        <a:ext cx="3600000" cy="509727"/>
      </dsp:txXfrm>
    </dsp:sp>
    <dsp:sp modelId="{9ABA0F00-D7CF-4473-9538-5BAAA03261B8}">
      <dsp:nvSpPr>
        <dsp:cNvPr id="0" name=""/>
        <dsp:cNvSpPr/>
      </dsp:nvSpPr>
      <dsp:spPr>
        <a:xfrm>
          <a:off x="591003" y="1618158"/>
          <a:ext cx="3600000" cy="519632"/>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Personal information</a:t>
          </a:r>
          <a:endParaRPr lang="en-ZA" sz="1600" kern="1200" dirty="0">
            <a:solidFill>
              <a:prstClr val="black"/>
            </a:solidFill>
            <a:latin typeface="Tahoma"/>
            <a:ea typeface="ＭＳ Ｐゴシック"/>
            <a:cs typeface="+mn-cs"/>
          </a:endParaRPr>
        </a:p>
      </dsp:txBody>
      <dsp:txXfrm>
        <a:off x="591003" y="1618158"/>
        <a:ext cx="3600000" cy="519632"/>
      </dsp:txXfrm>
    </dsp:sp>
    <dsp:sp modelId="{4C59251F-29D4-40DF-9504-206B05829EB2}">
      <dsp:nvSpPr>
        <dsp:cNvPr id="0" name=""/>
        <dsp:cNvSpPr/>
      </dsp:nvSpPr>
      <dsp:spPr>
        <a:xfrm>
          <a:off x="592282" y="2303959"/>
          <a:ext cx="3614405" cy="508444"/>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Employment and income information</a:t>
          </a:r>
          <a:endParaRPr lang="en-ZA" sz="1600" kern="1200" dirty="0">
            <a:solidFill>
              <a:prstClr val="black"/>
            </a:solidFill>
            <a:latin typeface="Tahoma"/>
            <a:ea typeface="ＭＳ Ｐゴシック"/>
            <a:cs typeface="+mn-cs"/>
          </a:endParaRPr>
        </a:p>
      </dsp:txBody>
      <dsp:txXfrm>
        <a:off x="592282" y="2303959"/>
        <a:ext cx="3614405" cy="508444"/>
      </dsp:txXfrm>
    </dsp:sp>
    <dsp:sp modelId="{1385D193-BCEC-4065-96C2-6D75EB48A969}">
      <dsp:nvSpPr>
        <dsp:cNvPr id="0" name=""/>
        <dsp:cNvSpPr/>
      </dsp:nvSpPr>
      <dsp:spPr>
        <a:xfrm>
          <a:off x="591003" y="2989759"/>
          <a:ext cx="3600000" cy="508444"/>
        </a:xfrm>
        <a:prstGeom prst="rect">
          <a:avLst/>
        </a:prstGeom>
        <a:solidFill>
          <a:schemeClr val="accent2">
            <a:lumMod val="40000"/>
            <a:lumOff val="60000"/>
          </a:schemeClr>
        </a:solidFill>
        <a:ln w="25400" cap="flat" cmpd="sng" algn="ctr">
          <a:solidFill>
            <a:schemeClr val="accent2">
              <a:lumMod val="40000"/>
              <a:lumOff val="6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latin typeface="Tahoma"/>
              <a:ea typeface="ＭＳ Ｐゴシック"/>
              <a:cs typeface="+mn-cs"/>
            </a:rPr>
            <a:t>References</a:t>
          </a:r>
          <a:endParaRPr lang="en-ZA" sz="1600" kern="1200" dirty="0">
            <a:solidFill>
              <a:schemeClr val="tx1"/>
            </a:solidFill>
            <a:latin typeface="Tahoma"/>
            <a:ea typeface="ＭＳ Ｐゴシック"/>
            <a:cs typeface="+mn-cs"/>
          </a:endParaRPr>
        </a:p>
      </dsp:txBody>
      <dsp:txXfrm>
        <a:off x="591003" y="2989759"/>
        <a:ext cx="3600000" cy="508444"/>
      </dsp:txXfrm>
    </dsp:sp>
    <dsp:sp modelId="{7D62690C-74AD-4EE5-AE5A-11E07C0BCE7E}">
      <dsp:nvSpPr>
        <dsp:cNvPr id="0" name=""/>
        <dsp:cNvSpPr/>
      </dsp:nvSpPr>
      <dsp:spPr>
        <a:xfrm>
          <a:off x="611892" y="3624313"/>
          <a:ext cx="3600000" cy="508444"/>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Income tax statement</a:t>
          </a:r>
          <a:endParaRPr lang="en-ZA" sz="1600" kern="1200" dirty="0">
            <a:solidFill>
              <a:prstClr val="black"/>
            </a:solidFill>
            <a:latin typeface="Tahoma"/>
            <a:ea typeface="ＭＳ Ｐゴシック"/>
            <a:cs typeface="+mn-cs"/>
          </a:endParaRPr>
        </a:p>
      </dsp:txBody>
      <dsp:txXfrm>
        <a:off x="611892" y="3624313"/>
        <a:ext cx="3600000" cy="508444"/>
      </dsp:txXfrm>
    </dsp:sp>
    <dsp:sp modelId="{58896BD8-2E54-42F3-8D06-94C2C1DA6E2F}">
      <dsp:nvSpPr>
        <dsp:cNvPr id="0" name=""/>
        <dsp:cNvSpPr/>
      </dsp:nvSpPr>
      <dsp:spPr>
        <a:xfrm>
          <a:off x="596813" y="4233914"/>
          <a:ext cx="3600000" cy="508444"/>
        </a:xfrm>
        <a:prstGeom prst="rect">
          <a:avLst/>
        </a:prstGeom>
        <a:solidFill>
          <a:srgbClr val="C0504D">
            <a:lumMod val="40000"/>
            <a:lumOff val="60000"/>
          </a:srgbClr>
        </a:solidFill>
        <a:ln w="25400" cap="flat" cmpd="sng" algn="ctr">
          <a:solidFill>
            <a:srgbClr val="C0504D">
              <a:lumMod val="40000"/>
              <a:lumOff val="6000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prstClr val="black"/>
              </a:solidFill>
              <a:latin typeface="Tahoma"/>
              <a:ea typeface="ＭＳ Ｐゴシック"/>
              <a:cs typeface="+mn-cs"/>
            </a:rPr>
            <a:t>Credit information</a:t>
          </a:r>
          <a:endParaRPr lang="en-ZA" sz="1600" kern="1200" dirty="0">
            <a:solidFill>
              <a:prstClr val="black"/>
            </a:solidFill>
            <a:latin typeface="Tahoma"/>
            <a:ea typeface="ＭＳ Ｐゴシック"/>
            <a:cs typeface="+mn-cs"/>
          </a:endParaRPr>
        </a:p>
      </dsp:txBody>
      <dsp:txXfrm>
        <a:off x="596813" y="4233914"/>
        <a:ext cx="3600000" cy="508444"/>
      </dsp:txXfrm>
    </dsp:sp>
    <dsp:sp modelId="{DD121D98-C2C6-4623-8283-7C21600EAA16}">
      <dsp:nvSpPr>
        <dsp:cNvPr id="0" name=""/>
        <dsp:cNvSpPr/>
      </dsp:nvSpPr>
      <dsp:spPr>
        <a:xfrm>
          <a:off x="4045801" y="932358"/>
          <a:ext cx="3600000" cy="50972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Firm</a:t>
          </a:r>
          <a:endParaRPr lang="en-ZA" sz="1600" kern="1200" dirty="0"/>
        </a:p>
      </dsp:txBody>
      <dsp:txXfrm>
        <a:off x="4045801" y="932358"/>
        <a:ext cx="3600000" cy="509727"/>
      </dsp:txXfrm>
    </dsp:sp>
    <dsp:sp modelId="{318E78D7-F58F-45C1-B027-288D0F85A0D3}">
      <dsp:nvSpPr>
        <dsp:cNvPr id="0" name=""/>
        <dsp:cNvSpPr/>
      </dsp:nvSpPr>
      <dsp:spPr>
        <a:xfrm>
          <a:off x="4648197" y="1608197"/>
          <a:ext cx="3600000" cy="5052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Registered and trade name of entity</a:t>
          </a:r>
          <a:endParaRPr lang="en-ZA" sz="1600" kern="1200" dirty="0"/>
        </a:p>
      </dsp:txBody>
      <dsp:txXfrm>
        <a:off x="4648197" y="1608197"/>
        <a:ext cx="3600000" cy="505259"/>
      </dsp:txXfrm>
    </dsp:sp>
    <dsp:sp modelId="{7878FA68-7CCC-4D5A-98C7-0559A89CD216}">
      <dsp:nvSpPr>
        <dsp:cNvPr id="0" name=""/>
        <dsp:cNvSpPr/>
      </dsp:nvSpPr>
      <dsp:spPr>
        <a:xfrm>
          <a:off x="4648197" y="2254630"/>
          <a:ext cx="3600000" cy="50652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Particulars of auditors of entity</a:t>
          </a:r>
          <a:endParaRPr lang="en-ZA" sz="1600" kern="1200" dirty="0"/>
        </a:p>
      </dsp:txBody>
      <dsp:txXfrm>
        <a:off x="4648197" y="2254630"/>
        <a:ext cx="3600000" cy="506527"/>
      </dsp:txXfrm>
    </dsp:sp>
    <dsp:sp modelId="{B04EC40D-0E7A-4649-B9DF-40E439A19567}">
      <dsp:nvSpPr>
        <dsp:cNvPr id="0" name=""/>
        <dsp:cNvSpPr/>
      </dsp:nvSpPr>
      <dsp:spPr>
        <a:xfrm>
          <a:off x="4648197" y="2913555"/>
          <a:ext cx="3600000" cy="50400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Registration number of firm</a:t>
          </a:r>
          <a:endParaRPr lang="en-ZA" sz="1600" kern="1200" dirty="0"/>
        </a:p>
      </dsp:txBody>
      <dsp:txXfrm>
        <a:off x="4648197" y="2913555"/>
        <a:ext cx="3600000" cy="504001"/>
      </dsp:txXfrm>
    </dsp:sp>
    <dsp:sp modelId="{A14289BE-6E7A-4200-88EE-868B463CA4A4}">
      <dsp:nvSpPr>
        <dsp:cNvPr id="0" name=""/>
        <dsp:cNvSpPr/>
      </dsp:nvSpPr>
      <dsp:spPr>
        <a:xfrm>
          <a:off x="4648197" y="3599355"/>
          <a:ext cx="3600000" cy="50780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Registered address</a:t>
          </a:r>
          <a:endParaRPr lang="en-ZA" sz="1600" kern="1200" dirty="0"/>
        </a:p>
      </dsp:txBody>
      <dsp:txXfrm>
        <a:off x="4648197" y="3599355"/>
        <a:ext cx="3600000" cy="507805"/>
      </dsp:txXfrm>
    </dsp:sp>
    <dsp:sp modelId="{FAD130A6-44F5-4296-84B0-0CD7A6B78512}">
      <dsp:nvSpPr>
        <dsp:cNvPr id="0" name=""/>
        <dsp:cNvSpPr/>
      </dsp:nvSpPr>
      <dsp:spPr>
        <a:xfrm>
          <a:off x="4648197" y="4233914"/>
          <a:ext cx="3600000" cy="50844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Full particulars of owners, directors, shareholders, members, partners</a:t>
          </a:r>
          <a:endParaRPr lang="en-ZA" sz="1600" kern="1200" dirty="0"/>
        </a:p>
      </dsp:txBody>
      <dsp:txXfrm>
        <a:off x="4648197" y="4233914"/>
        <a:ext cx="3600000" cy="50844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49.500"/>
    </inkml:context>
    <inkml:brush xml:id="br0">
      <inkml:brushProperty name="width" value="0.035" units="cm"/>
      <inkml:brushProperty name="height" value="0.035" units="cm"/>
    </inkml:brush>
  </inkml:definitions>
  <inkml:trace contextRef="#ctx0" brushRef="#br0">26 795 3232,'0'0'8225,"13"-19"-8162,37-58-5,-37 58 68,-13 8-58,1-29-16,0 30 63,-2-2-68,-3-34-11,3 34 35,-1 9-66,1 0 0,0 0 0,0 0 0,0-1 0,0 1-1,1 0 1,0-1 0,-1 1 0,1 0 0,1-7 0,-1 0 5,-1-1 54,-7-54 304,7 7-86,-1 47-260,1 7 17,0 0 0,1-1 0,-1 1 0,1 0 0,0 0 0,0 0 0,0 0 0,1 0 0,0 0 0,0-5 0,6-29 32,-6 29 927,1 0-947,3-25 6,-4 25 2478,-5 0-2515,-13-26-26,12 26 50,6-2-39,0-12-107,-1 14 275,0 18 928,-5 113-1098,4-116-1,1 0 0,-1 0 0,1 1 0,0-1 0,0 0 0,1 1 1,-1-1-1,3 8 0,4 23 1,-4 27 9,0 1-3,2-1 10,-4 31-30,-1-22 26,0-60-17,1-5 8,0 24 17,0-24 41,-3 2-56,-3 29-7,4-29 26,-6-34-81,-23-71 52,23 71 10,11-57 9,0 5-13,-3 12 6,0 51-8,-3-39 23,-3 11-18,-9-81-15,6 70 16,6 43-6,1 0 3,-6-28 2,6 28 101,0 0-78,-1-29 12,1 29 91,0 0-140,-1-28-7,1 28-4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0.009"/>
    </inkml:context>
    <inkml:brush xml:id="br0">
      <inkml:brushProperty name="width" value="0.035" units="cm"/>
      <inkml:brushProperty name="height" value="0.035" units="cm"/>
    </inkml:brush>
  </inkml:definitions>
  <inkml:trace contextRef="#ctx0" brushRef="#br0">177 90 7357,'0'0'274,"-22"-11"-94,-65-33 49,65 34 3293,-15 8-3490,29 0 837,17 1 4570,167-14-5126,-92 10-72,308 9 448,-317 1-623,-1 0-7,135 32-1686,-198-34 958,13 3 13,-13-1-1715,2-4-4751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0.584"/>
    </inkml:context>
    <inkml:brush xml:id="br0">
      <inkml:brushProperty name="width" value="0.035" units="cm"/>
      <inkml:brushProperty name="height" value="0.035" units="cm"/>
    </inkml:brush>
  </inkml:definitions>
  <inkml:trace contextRef="#ctx0" brushRef="#br0">174 47 8265,'-35'-21'-42,"29"17"1019,3 4-927,0 0 1,1-1 0,-1 0 0,1 1 0,-1-1 0,1 0 0,-1 0 0,1 0 0,0 0 0,-1-1 0,1 1 0,-3-3 0,0 0 69,-3 1 3120,-6 8-2863,-43 16-25,43-16 3783,44 1-3991,87 18-32,-67-15 20,-38-10-113,24 0 92,24 6 17,37 10 30,-89-13-99,3 1-13,-3-1-39,0-1 8,0 1 0,0 1-1,0-1 1,0 1-1,0 1 1,-1 0 0,0 0-1,1 0 1,-1 1-1,7 6 1,36 45 124,-46-50-67,-1 3 15,9 29 38,-9-29 277,-6 4-132,-7 37 45,7-38 37,1-10-302,0 0 0,0 0 0,1 0 0,-1 0 0,0 0 0,1 0 0,-1 1 0,1-1 0,0 0 0,-2 5 0,2-4-9,0 0 0,-1 0 0,1 0 0,-1 0 1,0 0-1,0-1 0,0 1 0,0 0 0,0-1 0,-1 0 1,1 0-1,-5 3 0,-91 80 1304,92-81-1169,-1 1-70,-24 14-96,24-14-126,4-4-247,1-1 289,0 1 0,0 0 0,-1 0 0,1 0 0,0 0 0,0 0 0,0 0 1,0 0-1,0 1 0,0-1 0,-3 4 0,2-2-112,-3 1-654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1.193"/>
    </inkml:context>
    <inkml:brush xml:id="br0">
      <inkml:brushProperty name="width" value="0.035" units="cm"/>
      <inkml:brushProperty name="height" value="0.035" units="cm"/>
    </inkml:brush>
  </inkml:definitions>
  <inkml:trace contextRef="#ctx0" brushRef="#br0">1 128 10753,'0'0'-2,"2"-9"74,6-26 98,-6 26 400,1 1-223,9-27 27,-9 27 1304,-2-2-1292,2-3 1315,0 12-643,3 25-347,3 56-1234,-8-66 804,14 150 9,10 157-1281,-19-232-917,-2-55 996,-3-25-247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1.512"/>
    </inkml:context>
    <inkml:brush xml:id="br0">
      <inkml:brushProperty name="width" value="0.035" units="cm"/>
      <inkml:brushProperty name="height" value="0.035" units="cm"/>
    </inkml:brush>
  </inkml:definitions>
  <inkml:trace contextRef="#ctx0" brushRef="#br0">1 1 8213,'0'0'6475,"21"16"-6282,2 4-133,-6-6 8,-1 0 0,2-1 0,22 12 0,91 55 405,-32-21-172,-42-29-187,10 6-102,-40-23-140,1 3-42,-21-12-84,2-1-93,27 12-93,-27-11-91,0-1-767,-2 1 904,10 4 281,0-6-4404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1.721"/>
    </inkml:context>
    <inkml:brush xml:id="br0">
      <inkml:brushProperty name="width" value="0.035" units="cm"/>
      <inkml:brushProperty name="height" value="0.035" units="cm"/>
    </inkml:brush>
  </inkml:definitions>
  <inkml:trace contextRef="#ctx0" brushRef="#br0">111 286 6249,'1'-10'176,"6"-29"90,-5 30 470,-5-23-106,3 28-432,0 0 0,0-1 0,0 1 0,-1-1 1,1 1-1,-1 0 0,0-1 0,-1 1 0,-2-7 0,-12-40 344,12 39 9,2 3-96,0 1 1,-1 0-1,0 0 0,-1 0 0,0 0 1,0 1-1,-9-12 0,12 18-446,-3-5 1444,0 32-1256,-12 79-13,13-94-144,1 0 0,1-1 1,0 1-1,0 0 1,1 0-1,2 11 0,-1 4 7,-13 148 210,1-5-1427,16-44-2758,11-46-2398,-13-73 3236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2.248"/>
    </inkml:context>
    <inkml:brush xml:id="br0">
      <inkml:brushProperty name="width" value="0.035" units="cm"/>
      <inkml:brushProperty name="height" value="0.035" units="cm"/>
    </inkml:brush>
  </inkml:definitions>
  <inkml:trace contextRef="#ctx0" brushRef="#br0">24 385 8761,'0'0'905,"-4"-6"-434,1 3-182,-9-13-371,7 2 2787,16 4-2464,31-31-8,-31 31-29,-2 6-16,25-12-14,-25 12-8,-1 0-4,24-12 22,-24 12 35,0-1 8,24-12 23,-24 13 1,-1-1-4,49-48 674,-52 48-567,-1-3-202,10-26-5,-10 25 242,-4-1-233,0-32-9,0 32 426,-8 4-446,-30-16-6,30 16 376,-6 22-370,-48 52 8,58-62-100,1 0-1,0 0 1,0 0 0,0 1-1,1 0 1,0-1 0,0 2-1,0-1 1,1 0-1,-2 14 1,2-12-34,-8 25 120,8-30-112,1-1 1,0 1-1,1 0 1,-1 0-1,1 0 1,-1 0-1,1 0 1,1 7-1,-1 4 47,-1-2-31,3 39 83,4-10-53,0-22-15,-2-9-38,-2-7-7,-1 0 0,1 0 0,0 0 0,0 0 0,1 0 0,-1-1 1,1 1-1,0-1 0,4 5 0,-1 1-12,-3-5 3,0 0 0,0-1-1,0 1 1,0-1 0,0 1 0,1-1-1,7 5 1,60 36-779,-64-41 329,5-3-78,46 0-973,-44-5 510,2 0 524,-9 3 205,0 0 0,0-1 1,0 1-1,-1-2 0,1 1 0,-1-1 0,1 1 1,-1-2-1,-1 1 0,1-1 0,0 0 1,8-10-1,60-66-4753,-43 41 796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2.505"/>
    </inkml:context>
    <inkml:brush xml:id="br0">
      <inkml:brushProperty name="width" value="0.035" units="cm"/>
      <inkml:brushProperty name="height" value="0.035" units="cm"/>
    </inkml:brush>
  </inkml:definitions>
  <inkml:trace contextRef="#ctx0" brushRef="#br0">134 160 9225,'-2'-10'354,"-20"-83"1077,20 85-851,-1 0 20,-11-24-5,11 24 3022,-7 27-3315,-28 59-27,36-75-249,0 0-1,1 0 1,-1 1 0,1-1 0,0 0-1,0 0 1,0 1 0,0-1 0,1 4-1,-2 4 10,-10 74 400,3 0 0,4 1 0,9 122-1,-4-202-429,32 248 440,-30-246-520,0 0 0,0 0-1,1 0 1,0-1 0,1 0 0,0 1 0,0-1 0,0-1 0,6 8 0,-8-11 18,2 2-380,7-4-1675,3 1 1741,6 1-13,3-2-3692,-12-11 2222,33-30-1065,-33 30-892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2.745"/>
    </inkml:context>
    <inkml:brush xml:id="br0">
      <inkml:brushProperty name="width" value="0.035" units="cm"/>
      <inkml:brushProperty name="height" value="0.035" units="cm"/>
    </inkml:brush>
  </inkml:definitions>
  <inkml:trace contextRef="#ctx0" brushRef="#br0">66 15 9409,'0'0'2444,"-11"2"-1616,-33 8 96,33-7 9754,42-8-10216,93-15-138,-93 15-211,-17 6-248,41 0-280,-52-1 317,1 0 0,-1 0 1,1 0-1,-1 0 1,1 0-1,-1 1 0,0 0 1,1-1-1,-1 1 0,1 1 1,-1-1-1,0 0 1,5 4-1,1 0-242,70 27-5386,5 1 1157,-34-23 566,17-5-1936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4.072"/>
    </inkml:context>
    <inkml:brush xml:id="br0">
      <inkml:brushProperty name="width" value="0.035" units="cm"/>
      <inkml:brushProperty name="height" value="0.035" units="cm"/>
    </inkml:brush>
  </inkml:definitions>
  <inkml:trace contextRef="#ctx0" brushRef="#br0">0 246 10517,'0'0'-197,"0"-10"89,0-34 79,0 33 599,2 0-324,0-2-138,3-40 1220,2-42 404,-6 87-1012,-1 36-643,0 133 8,-2 267-2821,-1-359 445,2-51 1655,1 1 1,1-1-1,2 19 1,3 2-1603,-5-31-316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4.538"/>
    </inkml:context>
    <inkml:brush xml:id="br0">
      <inkml:brushProperty name="width" value="0.035" units="cm"/>
      <inkml:brushProperty name="height" value="0.035" units="cm"/>
    </inkml:brush>
  </inkml:definitions>
  <inkml:trace contextRef="#ctx0" brushRef="#br0">1 30 7937,'0'0'4302,"3"27"-4128,10 79-3,-10-79-3,0-17 9,6 30 9,-6-30 594,-1-3-431,7 22-15,-6-22 1660,10-26-1778,3-4-145,37-59 250,-49 73-268,-2 4-21,0 1-1,1 0 1,-1-1 0,1 1 0,-1 0-1,1 1 1,5-6 0,79-85 498,-82 89-453,-4 5-73,0 1 0,0-2 0,0 1-1,0 0 1,0 0 0,0 0 0,0 0-1,0-1 1,0 1 0,0 0 0,0-1-1,0 1 1,0-1 0,0 1 0,-1-1-1,1 1 1,0-1 0,0 0 0,-1 1 0,1-1-1,0 0 1,-1 0 0,1 0 0,0 0 7,0 0 0,-1 0 0,1 0 0,0 0 0,0 1 0,0-1 0,-1 0 0,1 0 0,0 1 0,0-1 0,0 1 0,0-1 0,0 1 1,0-1-1,0 1 0,0 0 0,1-1 0,-1 1 0,0 0 0,1 0 0,13 8 24,47 22-7,-61-29-26,1-1 0,-1 1 0,1-1 0,-1 1 0,1 0 0,-1 0 0,0 0 0,1 0 0,-1 0 0,0 0 0,0 0 0,0 0 0,0 0 0,2 3 0,42 65-23,-41-58 3,5 7-147,-1-1-1,11 37 0,-14-37 64,11 34-578,-14-42 202,1 0-109,9 26-92,-9-26-82,13-21-7891,63-44 5305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4.824"/>
    </inkml:context>
    <inkml:brush xml:id="br0">
      <inkml:brushProperty name="width" value="0.035" units="cm"/>
      <inkml:brushProperty name="height" value="0.035" units="cm"/>
    </inkml:brush>
  </inkml:definitions>
  <inkml:trace contextRef="#ctx0" brushRef="#br0">185 76 8097,'4'-7'210,"-1"3"249,9-12-909,-9 1 6328,-15 10-5378,-39-18-28,39 17 834,1 20-894,-3 1-283,7-8-45,1 0 0,0 0 0,1 0 0,0 1 0,0-1 1,-7 15-1,6-12 18,3-6-52,0-1 1,1 1 0,0 0 0,-1 1-1,2-1 1,-1 0 0,0 1 0,-1 7-1,2-6-36,-7 17 175,2 0 1,1 1-1,1 0 0,-2 46 0,4-57-143,2-8-25,-1 1 1,1 0 0,0 0 0,0 0 0,1 0 0,0 0 0,1 7 0,20 72-280,-19-77-11,3-1-93,21 22-110,-13-20-122,13-1-102,-20-6-89,5-3-83,37-2-99,-37 3-119,0-5-149,3 1 780,-9 2 116,0 1-1,-1-1 1,1-1 0,0 1-1,-1-1 1,1 0 0,9-7-1,18-11-2273,-25 16-665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5.256"/>
    </inkml:context>
    <inkml:brush xml:id="br0">
      <inkml:brushProperty name="width" value="0.035" units="cm"/>
      <inkml:brushProperty name="height" value="0.035" units="cm"/>
    </inkml:brush>
  </inkml:definitions>
  <inkml:trace contextRef="#ctx0" brushRef="#br0">183 75 8413,'0'0'778,"-3"-11"-276,-1-1-254,2 8 77,0 0 0,1 0 0,0 0 0,-1 0 0,1 0 0,1-1 0,-1 1 0,0-8 0,-10 11 186,-33-4-23,33 4 864,0 17-939,-33 49-25,30-38-38,9-15-243,3-7-45,0 0 0,0 0 0,0 1 0,1-1-1,-1 0 1,2 1 0,-2 10 0,-1 7 25,0-4 49,0 0 1,1 0-1,2 0 0,0 1 0,0-1 1,5 21-1,-4-27-88,0-7-19,-1-1 0,1 1 0,1 0 0,-1-1 0,1 1-1,0-1 1,3 7 0,-2-1 15,-2-7-25,0 0-1,0 0 0,0 0 1,1-1-1,-1 1 0,1-1 0,0 1 1,0-1-1,0 1 0,6 5 1,14 21 53,-20-28-71,-1 0 0,0 0 0,1 0 0,-1 0 0,1 0 0,-1 0 0,1-1 0,0 1 0,0-1 0,0 1 0,0-1 0,0 0 0,0 0 0,0 0 0,1 0-1,2 1 1,2 1-7,-5-2-2,0 0 1,0 1-1,0-1 0,0 0 0,0 0 0,0 0 0,1 0 0,-1 0 0,0-1 0,0 1 0,1-1 0,-1 1 0,5-1 1,0 0-21,0 2-69,10-8-85,53-21 81,-67 27 93,1-1 0,0 0 0,-1-1-1,1 1 1,-1-1 0,1 1-1,-1-1 1,0 0 0,0 0 0,1-1-1,-1 1 1,-1 0 0,1-1 0,2-3-1,3-2-13,-5 6 16,0 0-1,0 0 1,-1 0-1,1 0 1,-1-1-1,1 1 1,-1-1-1,0 0 1,0 1-1,0-1 1,0 0-1,2-6 1,1 0-5,-3 6 9,1 0 1,-1 0-1,0 0 1,0 0-1,0 0 0,0-1 1,-1 1-1,1-1 1,-1 1-1,1-7 0,1 0 6,-1 7 3,-1 0-1,1 0 1,-1-1 0,0 1-1,0-1 1,0 1 0,0-1-1,-1 1 1,1-1-1,-1-5 1,0-1 16,1 7-13,-1 0 0,1 0 0,-1 0 0,1 0 0,-1 0 0,0 0 0,0 0-1,0 0 1,-1-1 0,1 1 0,-2-4 0,-1-17 86,3 20-84,-1 1 0,1-1-1,-1 0 1,0 0-1,0 0 1,0 1 0,0-1-1,-1 0 1,1 1-1,-4-5 1,0-3 10,2 0 38,-2 2-4,-15-29-15,15 29-7,-1 4-37,-14-16-28,14 15-36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5.801"/>
    </inkml:context>
    <inkml:brush xml:id="br0">
      <inkml:brushProperty name="width" value="0.035" units="cm"/>
      <inkml:brushProperty name="height" value="0.035" units="cm"/>
    </inkml:brush>
  </inkml:definitions>
  <inkml:trace contextRef="#ctx0" brushRef="#br0">1 1 6781,'0'0'1163,"6"14"-770,21 42 46,-20-42 27,-16 120 1893,1-53-905,3-42-980,3-30-4,0 3 1,-12 91 1517,14-94 2701,5-41-4497,18-93-20,-13 84-38,35-48 24,-43 86-158,-1 0 0,1 0 0,0 0 0,-1 0 0,1 1 1,0-1-1,1 0 0,-1 1 0,0-1 0,1 1 0,3-2 1,1-2-5,-6 4 1,1 0 0,0 0 0,-1 0 0,1 0-1,0 1 1,0-1 0,0 1 0,0-1 0,0 1 0,0 0 0,0-1 0,4 0 0,0-1-5,0 0-12,-2 3-63,1 0 76,-1 0 0,1 0 0,-1 1 0,0 0 0,1 0 0,5 2 0,-6-2-3,0 1 0,1-1 0,-1 0-1,0-1 1,1 1 0,-1-1 0,7 0 0,-4 7-35,2 1 32,-5-5 6,1 0-1,-2 1 0,1-1 1,0 1-1,-1 0 0,1 0 0,2 6 1,2-1-15,17 30-98,2 13 8,-6 0 22,6 34 48,-25-77 66,0 0 34,3 30 45,-4-29 1580,8-32-1557,38-100 92,-42 109-211,55-143 348,9 42-283,-65 108-121,3 2-20,18-14-11,-19 13 0,7 16-622,36 31 486,-48-41 202,0-1 0,0 1-1,0 0 1,0 0-1,0-1 1,0 1 0,0 0-1,0 0 1,-1 0-1,1 0 1,0 0-1,-1 0 1,1 0 0,0 1-1,-1-1 1,1 0-1,0 2 1,20 88-1246,-10 4-1002,-9-74 1884,-1-12-524,4 47-1326,-4-44 840,1-6-230,5 20-392,-6-19-1167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07:56.232"/>
    </inkml:context>
    <inkml:brush xml:id="br0">
      <inkml:brushProperty name="width" value="0.035" units="cm"/>
      <inkml:brushProperty name="height" value="0.035" units="cm"/>
    </inkml:brush>
  </inkml:definitions>
  <inkml:trace contextRef="#ctx0" brushRef="#br0">43 393 9245,'0'0'1321,"4"-9"-1001,16-39 574,-12 46-627,24-8-17,-24 8 207,2-1-229,32-8 1,-32 8-7,-2 0-3,22-9 9,-22 10 241,1-3-225,27-15 0,-27 15-10,-5 0-19,15-16 6,-15 16 145,-4 2-345,0 1 0,0-1-1,1 0 1,-1 1-1,0-1 1,1 1 0,0-1-1,-1 0 1,1 1-1,0-1 1,3-3 0,2-24 221,-6 27-220,0 1-1,0-1 0,-1 1 0,1-1 0,0 0 0,-1 1 0,0-1 0,1 1 0,-1-1 0,-3-3 0,3 3 1,0 1 0,0-1 0,0 1 0,1-1 0,-1 1 0,0-1 0,1 1 0,0-1 0,-1 1 0,1-6 0,-5-3 148,-41-70 402,42 76 45,-18 16-525,-66 41 11,83-49-89,0 0-1,0 1 1,1 0-1,0 0 1,0 0-1,0 0 1,0 1-1,1 0 1,-1-1-1,1 1 1,0 1 0,1-1-1,-1 0 1,-1 6-1,-3 6 37,-13 32 336,-26 100 1,44-141-336,0 0-1,0 0 1,1 1-1,0-1 1,0 1-1,1 13 1,1 1 17,-1-4 38,0 0-1,2 0 1,0 0 0,1-1-1,1 1 1,11 31 0,-14-46-84,1 0 1,-1 0-1,0-1 1,1 1 0,0 0-1,0-1 1,0 0 0,0 1-1,3 2 1,2 3 12,-6-7-32,0 0 0,0 0 0,1 0-1,-1 0 1,1 0 0,-1 0 0,1 0 0,0 0 0,-1 0 0,1-1 0,0 1-1,0-1 1,0 1 0,1-1 0,-1 0 0,4 2 0,1 0-17,8 4-143,20-2-148,-26-4-165,10-9-971,7-1 1078,-10 3-28,0 0 1,-1-1-1,1-1 1,22-15-1,-27 16-388,0-2-1,0 1 1,0-2 0,12-13-1,2-3-1089,-2 2-1403,-19 20-1188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4.031"/>
    </inkml:context>
    <inkml:brush xml:id="br0">
      <inkml:brushProperty name="width" value="0.035" units="cm"/>
      <inkml:brushProperty name="height" value="0.035" units="cm"/>
    </inkml:brush>
  </inkml:definitions>
  <inkml:trace contextRef="#ctx0" brushRef="#br0">56 202 2252,'0'0'3635,"0"-11"-3353,1-36 22,-1 36 2262,3-1-2346,0-2-123,-1 7 137,0 0 0,-1-1 0,0 1 1,0 0-1,-1-14 0,1-19-85,0 30 1826,-5 40-1950,-17 134 34,12-89-11,-25 238 90,33-301-138,0-7 4,0 0-1,0 0 1,1 0-1,0 0 1,0 0 0,1 1-1,1 8 1,3 28 23,2 50-5,-6-82-5,1 0 23,6 29 25,-6-29 127,0-2-49,7 22 7,-6-22 343,6-6-408,27 5-2,-27-6 188,3-10-214,34-30-7,-34 29-11,-5 2-1,13-17 22,-1-1 0,24-43 0,-8-11-12,6-35-2,3-19 37,-41 127-45,-1-3 6,9-32-6,-9 31-2,0 1 10,10-50 70,5-36 6,-15 87-24,0 0-30,5-29 14,-5 29 289,-2 0-285,0-28-13,0 28 372,-6 35-439,-21 90-8,19-85 5,5-21 1,1-1 0,1 1 0,-1-1 0,2 1-1,-1 12 1,-17 245 16,16-189-17,0-63-3,1 45 2,5 8-87,-5-57 49,1-6 0,-1 0 0,1 0 0,1-1 0,-1 1 0,1 0 1,-1 0-1,4 8 0,36 129-2739,-37-134 1651,0 0-356,-1 0 821,3 10 117,8 2-4171,11 8 2071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4.720"/>
    </inkml:context>
    <inkml:brush xml:id="br0">
      <inkml:brushProperty name="width" value="0.035" units="cm"/>
      <inkml:brushProperty name="height" value="0.035" units="cm"/>
    </inkml:brush>
  </inkml:definitions>
  <inkml:trace contextRef="#ctx0" brushRef="#br0">172 220 6997,'5'-5'136,"13"-18"24,-13 18 32,-1-1 43,13-18 40,-12 18 18,0 0 5,17-17 19,-17 17 320,1-1-322,18-20-26,-18 21 266,-1 0-288,16-16 2,-15 16 913,-6 4-1138,0-1-1,0 1 1,1 0-1,-1 0 1,1-1-1,0 1 1,0 0-1,-1 0 1,1 0-1,1 0 1,1-3 0,0-1 54,-1-1 2389,-111 14-1913,87-6-330,11 5-19,-16 9 36,-1 1 0,2 2 0,-32 27 0,36-22-143,16-18-6,6-2-100,0-1 1,-1 0 0,1 1-1,-1-1 1,0 1 0,0-1-1,0 0 1,0 0 0,0 1 0,0-1-1,-1 0 1,-1 2 0,-1 2 16,1 1 215,5 5-166,6 37-17,-6-37 3,6-4 1,113 92 198,-51-42-208,-64-52-42,1 1 1,-1-1-1,0 2 1,-1-1 0,0 1-1,9 15 1,-10-14-15,0-3 17,5 19 9,-8-23-18,0 1 0,0 0-1,0-1 1,0 1 0,-1 0 0,1 0 0,-1 0 0,1-1 0,-1 1 0,0 3-1,-7 50 195,6-44 171,-7-5-139,-23 24 22,23-23 17,0-6-5,-28 6-26,27-6 383,-7-6-461,-48-10-14,48 10-10,7 0-26,-25-14-18,25 14-34,3-2-56,-16-16-85,16 16-83,5-3-475,-4-40-1189,16 39 1006,35-31-124,-44 39 821,0-1 1,0 1 0,1 0 0,-1 0-1,1 0 1,-1 0 0,1 0 0,0 0-1,0 0 1,-1 1 0,1 0 0,0-1 0,5 0-1,25-9-1772,23-13-1255,-45 18 2538,5-2-167,11-4-2579,18-7-220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5.135"/>
    </inkml:context>
    <inkml:brush xml:id="br0">
      <inkml:brushProperty name="width" value="0.035" units="cm"/>
      <inkml:brushProperty name="height" value="0.035" units="cm"/>
    </inkml:brush>
  </inkml:definitions>
  <inkml:trace contextRef="#ctx0" brushRef="#br0">105 175 8217,'0'0'1208,"6"-4"-863,18-12-31,-18 12 2128,7 10-2249,42 18-15,-41-18 125,-7-2-171,0 1-70,-5-4-14,1 1 1,-1-1-1,0 1 0,1-1 1,-1 0-1,1 0 1,0 0-1,-1 0 1,1 0-1,0 0 0,-1-1 1,1 0-1,0 1 1,3-1-1,36 5 139,-31-4 663,-5-9-638,20-26-4,-20 26 336,-9-6-360,-9-41-2,9 42-27,-3 4-9,-21-25-13,20 25-19,-1 4-2,-27-16-14,26 16 111,-6 9-156,-48 16 3,62-20-53,-1 1 0,0-1-1,1 0 1,-1 1 0,1 0 0,-1-1 0,1 1-1,-1 0 1,1 0 0,0 0 0,-1 0 0,1 0-1,0 0 1,-2 1 0,-23 30 46,2 0 0,-23 39 0,1 25 99,44-92-143,0-1 1,1 1-1,-1-1 1,1 1-1,-1-1 1,1 1-1,0 0 1,1-1-1,-1 1 1,1 0-1,-1 0 1,2 4-1,-2 4 14,-1 26 95,4-18-18,5-11-36,20 28 8,-13-24-10,-3-8-44,1 0-1,0-1 0,0-1 1,0 1-1,16 1 0,-14-7-155,3 2 63,-9 0-11,0-1 0,-1 1 0,1-1 0,0-1 1,0 0-1,13-4 0,14-6-774,0-1 1,-1-1 0,0-2-1,32-22 1,101-79-5981,-98 72 3077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5.631"/>
    </inkml:context>
    <inkml:brush xml:id="br0">
      <inkml:brushProperty name="width" value="0.035" units="cm"/>
      <inkml:brushProperty name="height" value="0.035" units="cm"/>
    </inkml:brush>
  </inkml:definitions>
  <inkml:trace contextRef="#ctx0" brushRef="#br0">52 141 8813,'0'0'638,"-4"-6"-192,-11-16 50,11 16 1778,-1 0-1673,-14-20-21,14 20 4148,21-2-4318,45-22-4,-34 21-25,43 1 283,12 2-134,-53 4-463,46-3-90,1 4-1,103 11 0,-92 2-1467,-15-4-989,-7-2-1333,-52-4 3091,8 0-160,11-3-3208,18 0-707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5.903"/>
    </inkml:context>
    <inkml:brush xml:id="br0">
      <inkml:brushProperty name="width" value="0.035" units="cm"/>
      <inkml:brushProperty name="height" value="0.035" units="cm"/>
    </inkml:brush>
  </inkml:definitions>
  <inkml:trace contextRef="#ctx0" brushRef="#br0">235 28 9665,'-9'-3'185,"-28"-8"83,28 8 1478,-1 1-1304,-40-6 1430,44 18-1544,-15 32-30,15-22-16,-1 41 190,-35 252 255,23-179-1570,3-8-2741,15-114 3036,0 5-90,0 1-4197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6.448"/>
    </inkml:context>
    <inkml:brush xml:id="br0">
      <inkml:brushProperty name="width" value="0.035" units="cm"/>
      <inkml:brushProperty name="height" value="0.035" units="cm"/>
    </inkml:brush>
  </inkml:definitions>
  <inkml:trace contextRef="#ctx0" brushRef="#br0">126 28 8685,'0'0'342,"-1"-7"9,-4-8-521,0 9 838,0 19 3124,-2 17-3691,-11 81 398,-12 81 814,-19 94 992,48-277-2063,0 0 33,-2 29 30,3-29 1632,22-22-1713,67-40-10,-58 30-12,103-120 788,-129 138-875,2 0-18,18-16-4,-19 16 274,8 12-310,42 24-8,-42-23-9,-11 1-12,22 74-178,-23-76-54,0 2-143,5 30-182,-6-29-159,2-2-182,-2 2 441,3 7 60,2-2-4407,1-11 2822,21 8-212,-21-9-1178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6.639"/>
    </inkml:context>
    <inkml:brush xml:id="br0">
      <inkml:brushProperty name="width" value="0.035" units="cm"/>
      <inkml:brushProperty name="height" value="0.035" units="cm"/>
    </inkml:brush>
  </inkml:definitions>
  <inkml:trace contextRef="#ctx0" brushRef="#br0">116 0 9157,'0'0'2177,"-10"25"-1927,-5 3-172,5-9 9,1 0 0,1 1 0,-8 27 0,-4 15 267,2 25 13,17-79-357,-1 1-130,1 2-113,0 6 137,-3 0-7244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6.783"/>
    </inkml:context>
    <inkml:brush xml:id="br0">
      <inkml:brushProperty name="width" value="0.035" units="cm"/>
      <inkml:brushProperty name="height" value="0.035" units="cm"/>
    </inkml:brush>
  </inkml:definitions>
  <inkml:trace contextRef="#ctx0" brushRef="#br0">71 81 8513,'-42'-51'1352,"14"22"1248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7.203"/>
    </inkml:context>
    <inkml:brush xml:id="br0">
      <inkml:brushProperty name="width" value="0.035" units="cm"/>
      <inkml:brushProperty name="height" value="0.035" units="cm"/>
    </inkml:brush>
  </inkml:definitions>
  <inkml:trace contextRef="#ctx0" brushRef="#br0">255 0 6385,'0'0'3757,"-15"14"-3147,-62 60 507,19-12 249,39-42-862,17-18-460,0 1-1,0-1 1,0 0 0,0 1-1,0 0 1,1-1 0,0 1-1,-1 0 1,1 0 0,0-1 0,-1 7-1,-9 19 217,9-21-22,1 2-25,0 29-21,1-28 152,5 2-191,13 35-9,-7-30 6,57 35 275,-56-43-302,1-1-1,0 0 0,1-1 1,21 8-1,-23-10-78,43 22 446,-46-22-356,-1 1 0,0 0 0,0 1 0,0-1-1,-1 2 1,0-1 0,0 1 0,0 0 0,-1 0-1,-1 1 1,1 0 0,-2 0 0,6 13 0,-6-14 1121,-12 8-547,0 0-484,5-8-99,-1 1 0,0-1 0,-1 0 0,0-1 0,0 1 0,-1-1-1,0 0 1,0 0 0,-13 10 0,-3 1 557,-1-2 0,-1-1-1,-35 17 1,29-17 88,-16 1-69,12-6-306,25-8 208,-3-6-422,-36-12-96,36 13-110,9-11-113,-6-42-108,9 30-111,13-49-662,-11 60 809,-2 9 84,1 0 0,0 0 0,0 0 0,0 0 0,1 1 0,0-1 0,0 1-1,1-1 1,2-4 0,0-4-283,-3 7 153,0 0 0,1 0 1,0 1-1,0-1 0,0 1 1,1-1-1,0 1 0,0 0 1,1 1-1,0-1 0,5-4 1,0-1-434,24-22-419,7 10-3128,-37 22 3986,102-37-6173,-42 22 250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7.763"/>
    </inkml:context>
    <inkml:brush xml:id="br0">
      <inkml:brushProperty name="width" value="0.035" units="cm"/>
      <inkml:brushProperty name="height" value="0.035" units="cm"/>
    </inkml:brush>
  </inkml:definitions>
  <inkml:trace contextRef="#ctx0" brushRef="#br0">172 273 11617,'-58'-3'-20,"47"2"227,2-1 25,-77-20 2256,78 19 2637,30-4-4641,8-3-322,10-4 174,52-10 0,413-79 1012,-174 46-5223,-234 40-1338,-87 15 2937,1 1-1176,48-5-1359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7.986"/>
    </inkml:context>
    <inkml:brush xml:id="br0">
      <inkml:brushProperty name="width" value="0.035" units="cm"/>
      <inkml:brushProperty name="height" value="0.035" units="cm"/>
    </inkml:brush>
  </inkml:definitions>
  <inkml:trace contextRef="#ctx0" brushRef="#br0">210 1 10045,'-63'20'418,"30"-7"-197,25-10 21,3 3 7,1-1-202,-1 0 40,1-1 1,-1 2-1,1-1 1,1 0-1,-1 1 1,1 0-1,0 0 1,0 0-1,0 0 1,-2 10-1,-11 49 378,-1 31 45,-5 141-1,24-95-433,-2-119-678,2 0-1,0-1 1,9 37 0,-4-26-807,0-21-310,13 8-22,-15-15-161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8.338"/>
    </inkml:context>
    <inkml:brush xml:id="br0">
      <inkml:brushProperty name="width" value="0.035" units="cm"/>
      <inkml:brushProperty name="height" value="0.035" units="cm"/>
    </inkml:brush>
  </inkml:definitions>
  <inkml:trace contextRef="#ctx0" brushRef="#br0">164 112 7425,'-23'-39'568,"18"32"4205,-12 21-4214,-50 43-9,65-56-520,1-1 0,-1 1-1,1 0 1,0 0-1,-1 0 1,1 1 0,0-1-1,0 0 1,0 0 0,0 1-1,0-1 1,0 0-1,0 1 1,0-1 0,1 1-1,-1-1 1,0 4 0,-17 57 900,14-51-790,3-7-68,-1 1 1,1-1-1,0 1 1,0-1 0,0 1-1,0 0 1,1-1 0,0 8-1,-2 37 604,6-37-404,12 39-23,-6-33-19,-6-11-160,-3-5-48,1 0 0,-1 0 0,0 0-1,1 0 1,0 0 0,-1 0 0,1-1 0,0 1 0,0-1-1,0 1 1,0-1 0,0 0 0,0 1 0,0-1-1,4 1 1,23 12 140,-22-10-4,65-2 226,-59-7-282,41-16-10,-51 20-83,0 0 0,0 0 0,0 0 0,0 0 0,0-1 0,0 1 1,0-1-1,-1 0 0,1 0 0,0 0 0,-1 0 0,1 0 0,-1 0 0,4-6 1,0 1 16,7-9 59,-6 8-58,-5 5-17,1 0 1,-1 0-1,0 0 1,0-1-1,0 1 1,-1-1-1,1 1 1,-1-1-1,0 1 1,0-1-1,1-5 0,3-2 16,-3 8-15,-1-1 0,1 0 0,-1 1 0,0-1 0,0 0 0,0 0 0,0 0 0,-1 0 0,0 0 0,1 0 0,-1 1-1,-1-6 1,2-6 17,-4-45 110,3 46-105,0 7-3,0 0-1,-1 0 1,0 0 0,0 0-1,-5-14 1,5 10 11,1 7-22,-1 0-1,0 0 0,0-1 1,0 1-1,0 1 0,0-1 1,-1 0-1,0 0 0,1 0 1,-4-3-1,-11-24 94,12 24-9,-4 2-18,-22-13-21,22 14-59</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8.611"/>
    </inkml:context>
    <inkml:brush xml:id="br0">
      <inkml:brushProperty name="width" value="0.035" units="cm"/>
      <inkml:brushProperty name="height" value="0.035" units="cm"/>
    </inkml:brush>
  </inkml:definitions>
  <inkml:trace contextRef="#ctx0" brushRef="#br0">368 48 10853,'0'0'1692,"-4"-8"-1180,-11-24-2,12 24 4500,-10 33-4581,-41 81-23,44-82-224,1-1 0,1 1 1,-7 36-1,0 2 102,-160 586 856,129-401-3763,45-239 1174,4 5-474,6 42-211,-2-37-166,10-1-1215,-12-13-1418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9.011"/>
    </inkml:context>
    <inkml:brush xml:id="br0">
      <inkml:brushProperty name="width" value="0.035" units="cm"/>
      <inkml:brushProperty name="height" value="0.035" units="cm"/>
    </inkml:brush>
  </inkml:definitions>
  <inkml:trace contextRef="#ctx0" brushRef="#br0">84 225 10497,'-5'-8'347,"-16"-25"64,15 25 39,1-26 305,2 25-607,1 0 697,32-42-134,-16 36-405,-6 9-208,-4 3-41,-1 0-1,1 0 1,0 1-1,0 0 1,0-1-1,0 2 1,9-4-1,-3-1 21,-6 4-45,-1 0 0,1 0 0,0 0 0,-1 0 0,1 1 0,0 0 0,0 0-1,0 0 1,0 0 0,8 0 0,40-7 312,-45 8-317,0 0 0,0 1 0,0 0 0,0 0 0,0 1 0,13 4-1,-2-1 6,10 5 56,-19-4-69,2 0 5,1 0 1,-2 1 0,1 0 0,-1 1-1,0 0 1,0 1 0,-1 0 0,-1 0-1,1 1 1,-1 0 0,-1 0-1,12 23 1,-2 14 48,19 87 0,-34-121-52,-1 1 1,-1-1 0,-1 1 0,0 0 0,0-1-1,-6 21 1,1-14 95,0-1 0,-1 0 0,-1-1 0,-1 0 0,0 0 0,-1-1 0,-1 0 0,-1-1 0,-20 22 0,10-14 270,-2-1 1,-1-1 0,0-1 0,-44 27-1,58-41-209,0 0-1,0-1 1,-1 0-1,0-1 1,-1 0-1,-19 4 1,-12-1 378,32-8-458,2 2 402,-3-5-313,-40-8-74,39 8-107,14 1-146,0 1 121,0-1 0,0 1 0,-1-1 0,1 1 0,0-1 0,-1 1 0,1 0 0,-1-1 0,1 1 0,-1-1 0,0 1 0,0 0 0,0 0 0,-1-3 0,1 3-154,0 0 0,0 0 0,0-1 1,0 1-1,0-1 0,0 1 0,0-1 0,1 1 0,-1-1 0,1 1 0,-1-1 0,1 0 0,-1-2 0,16-8-764,42-35-166,-33 31-198,35-8-2110,-46 18 2727,7-2-158,12-1-3194,20-2-665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9.651"/>
    </inkml:context>
    <inkml:brush xml:id="br0">
      <inkml:brushProperty name="width" value="0.035" units="cm"/>
      <inkml:brushProperty name="height" value="0.035" units="cm"/>
    </inkml:brush>
  </inkml:definitions>
  <inkml:trace contextRef="#ctx0" brushRef="#br0">49 68 9921,'3'6'137,"12"20"68,-11-19 481,-6 24 499,-10 59 0,-3-8 247,-4 9-95,17-83-898,-1 2 16,-11 28 57,11-29 4149,13-34-4351,29-74-32,-35 88-197,0 0 0,0 0 0,1 1 0,12-19 0,-5 11-10,1-3-52,1 0 0,2 1-1,0 1 1,1 0-1,0 1 1,27-20-1,-27 25-519,1 1 0,1 0-1,0 2 1,1 0-1,0 1 1,30-9-1,-42 16-234,4 1-665,0-2 1132,-8 1 67,1 1-1,-1 0 1,0 1-1,1-1 1,-1 1-1,0 0 1,1 0-1,-1 0 1,1 0-1,-1 1 1,6 1-1,38 5 81,-36-5 612,-4 4-164,22 17 83,-22-17 49,-4 0 2,14 17-10,-14-18-20,1 2-34,14 21-32,-15-21-33,1 0-22,12 20-25,-13-21-18,2 0-16,15 19-13,-16-19-11,0-1-18,15 14-16,-15-15 173,1 0-198,0 1-75,-4-3 13,0 0 0,0-1-1,0 1 1,0-1 0,1 1 0,-1-1-1,0 0 1,1 0 0,-1 0 0,4 1-1,1-16-50,22-42-8,-21 42-3,-20 0-68,-35-41 11,36 42 5,-5 15-8,-45 7 1,59-9 15,1 0 0,-1 0 0,1 1 0,-1-1 0,0 0 0,1 1 0,-1-1 0,1 1 0,-1 0 0,1-1 0,-1 1 0,1 0 0,-1 0-1,-1 1 1,-9 6-1,-35 29-14,36-27 16,-4 3 11,0 1 0,0 1 0,1 0 0,1 1 0,1 1 0,0-1 0,1 2 0,-12 26-1,16-33 1,5-7-6,-1 0-1,1 0 0,0 0 1,0 0-1,1 1 0,-1-1 1,1 1-1,0-1 1,0 1-1,1-1 0,-1 6 1,-6 43 31,12-40-52,14 42-43,-19-54 50,0 1 0,1-1 0,-1 0 0,0 0 0,1 0 0,-1 0 0,1 1 0,-1-1 0,1 0-1,0 0 1,-1 0 0,1 0 0,0 0 0,0-1 0,0 1 0,2 2 0,2 3-79,-3-4 45,-1 0 0,1 0 0,0 0 0,0 0 0,0 0 0,0 0-1,1-1 1,-1 1 0,0-1 0,1 0 0,-1 1 0,1-1 0,-1 0 0,1-1 0,3 2 0,4 3-151,-7-3 113,0 0 0,0-1-1,0 1 1,1-1 0,-1 0-1,1 0 1,-1 0 0,1 0-1,-1-1 1,1 0 0,-1 1-1,1-1 1,4-1 0,7 3-172,-9-1 53,1 0 0,0-1 0,0 0-1,0 0 1,-1 0 0,14-4-1,-5 4-108,-8 0 98,0 0-1,0-1 0,0 0 0,-1 0 1,1-1-1,0 1 0,10-6 1,21-5-795,-2-3 0,0 0 1,0-3-1,-2 0 1,50-37-1,-3-21-3336,-45 36 432</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29.843"/>
    </inkml:context>
    <inkml:brush xml:id="br0">
      <inkml:brushProperty name="width" value="0.035" units="cm"/>
      <inkml:brushProperty name="height" value="0.035" units="cm"/>
    </inkml:brush>
  </inkml:definitions>
  <inkml:trace contextRef="#ctx0" brushRef="#br0">207 75 8453,'31'-67'725,"-28"60"5163,-15 33-5479,-3 4-280,6-13-39,1 1-1,0 0 1,2 0-1,0 1 1,1 0-1,-5 32 1,-110 648 2297,97-571-2873,9-34-1643,14-85 853,-1 2-390,-2 31-229,3-32-131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0.211"/>
    </inkml:context>
    <inkml:brush xml:id="br0">
      <inkml:brushProperty name="width" value="0.035" units="cm"/>
      <inkml:brushProperty name="height" value="0.035" units="cm"/>
    </inkml:brush>
  </inkml:definitions>
  <inkml:trace contextRef="#ctx0" brushRef="#br0">282 409 9585,'-5'-10'466,"4"7"-438,-11-20 808,1 0 0,1-1-1,-13-46 1,30-2-59,-6 65-679,0 0 0,0 0 0,0 1 0,1-1-1,1 0 1,-1 0 0,1 1 0,0 0 0,0-1 0,8-10-1,-6 10-45,0-2 92,-4 7-124,0-1 1,0 1-1,0-1 1,1 1 0,0-1-1,-1 1 1,1 0-1,0 0 1,0 0 0,0 0-1,0 0 1,0 0-1,1 1 1,2-3 0,5-3 128,17-13 10,-20 16-16,-5 4-133,-1 0-1,1 0 1,0 0 0,0-1 0,0 1-1,0 0 1,0-1 0,0 1 0,0-1-1,0 1 1,-1-1 0,1 0 0,0 0-1,0 0 1,1-1 0,-1 1 1,0-1-1,1 1 1,-1 0-1,1 0 1,-1 0 0,1 0-1,-1 1 1,1-1-1,0 1 1,-1 0-1,1-1 1,-1 1 0,1 0-1,0 0 1,-1 1-1,1-1 1,0 1 0,3 0-1,46 5 37,-49-6-42,1 1 0,0-1 0,0 0 0,0 1 0,0 0 1,-1 0-1,1 0 0,0 1 0,-1-1 0,1 1 0,-1-1 0,6 5 0,0 0 12,-4-5-9,-1 1 0,0-1 1,1 1-1,-1 1 1,0-1-1,0 0 1,6 7-1,-2-3 1,-5-5-5,-1 1 0,0-1 0,1 1 0,-1-1 0,0 1 0,0 0 0,0 0 0,0 0 0,-1 0 0,1 0 0,0 0 0,-1 0 0,0 0 0,1 1 0,0 2 0,2 2 12,-1-1 16,1-1 0,-1 1 1,0 0-1,-1 0 1,0 0-1,0 0 0,0 1 1,0-1-1,-1 0 0,0 1 1,-1-1-1,1 8 1,-1-8 12,1 3 239,-7 6 100,-2 6-138,-1-1 1,-1-1-1,-1 0 1,0 0 0,-2-1-1,-14 16 1,2-9 347,-1-1 1,-1-1 0,-1-2-1,-1 0 1,-1-2-1,-1-2 1,-1 0 0,0-2-1,-39 12 1,-29-5 802,89-20-1063,-1-2-124,-36 0-178,36 0-222,-20-38-1898,26 30 851,16-10-4263,28-56 3077,-36 69 1975,0 1 0,0-1 0,0 1 0,1-1 0,0 1 0,0 0 0,0 0 0,0 0 0,0 0 0,1 1 0,7-6 0,3-2-1150,27-26-4955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1.200"/>
    </inkml:context>
    <inkml:brush xml:id="br0">
      <inkml:brushProperty name="width" value="0.035" units="cm"/>
      <inkml:brushProperty name="height" value="0.035" units="cm"/>
    </inkml:brush>
  </inkml:definitions>
  <inkml:trace contextRef="#ctx0" brushRef="#br0">79 160 12337,'19'-92'1176,"-17"83"160,-3 6-1271,1 0 0,0 0-1,-1 0 1,1 0 0,1 0-1,-1 0 1,0 0 0,1 0-1,-1 0 1,1 0 0,2-5-1,-1 0 72,0-1 2772,-5 48-2759,-9 128-25,-35 180 108,12-103-2426,25-65-4126,10-168 5687,0 26-3366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1.471"/>
    </inkml:context>
    <inkml:brush xml:id="br0">
      <inkml:brushProperty name="width" value="0.035" units="cm"/>
      <inkml:brushProperty name="height" value="0.035" units="cm"/>
    </inkml:brush>
  </inkml:definitions>
  <inkml:trace contextRef="#ctx0" brushRef="#br0">72 104 9265,'-34'-19'566,"28"15"1356,0-1-1264,-15-16-4,16 15 3187,24 3-3321,3-2-358,61-7 554,-15 8-48,11 4-167,4 5-485,139-6-2821,-213 1 2346,164-17-5313,-140 13 4563,17-2-1660,-40 5-818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1.727"/>
    </inkml:context>
    <inkml:brush xml:id="br0">
      <inkml:brushProperty name="width" value="0.035" units="cm"/>
      <inkml:brushProperty name="height" value="0.035" units="cm"/>
    </inkml:brush>
  </inkml:definitions>
  <inkml:trace contextRef="#ctx0" brushRef="#br0">153 117 9113,'-12'1'455,"-33"2"47,34-2 42,-1 0 38,-34 2 7,34-3 1063,3 2-1152,4-1 1769,12 0-991,34-1-755,61-4-985,-61 2-14,0-3-1,0-1 1,51-14-1,-39 6-471,179-52-7051,-179 54 3995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2.078"/>
    </inkml:context>
    <inkml:brush xml:id="br0">
      <inkml:brushProperty name="width" value="0.035" units="cm"/>
      <inkml:brushProperty name="height" value="0.035" units="cm"/>
    </inkml:brush>
  </inkml:definitions>
  <inkml:trace contextRef="#ctx0" brushRef="#br0">179 32 8689,'0'0'2399,"-21"13"-2032,-63 38-12,82-50-333,0 0-1,0-1 0,1 1 0,-1 0 0,0 0 0,1 0 0,-1 0 0,1 1 1,0-1-1,-1 0 0,1 1 0,0-1 0,-1 1 0,1-1 0,-1 3 0,-35 81 855,35-82-831,1 0 1,-1 1-1,1-1 1,0 1-1,0-1 0,0 1 1,0-1-1,0 1 1,1 0-1,0 5 1,0 1 305,5 5-177,15 43-22,-9-37-20,-6-15-92,-4-3-27,0-1 0,1 0 0,-1 0 0,1 0 0,0 0 0,0 0 0,0 0 0,0 0 1,0-1-1,0 1 0,0-1 0,0 1 0,1-1 0,-1 0 0,5 2 0,22 9 102,-22-8-29,6-3-10,48 4 38,-49-8-53,36-8-11,-36 8 9,-3-4 13,27-22 10,-34 28-71,-1 0-1,0 0 0,1 0 0,-1 0 0,0 0 1,1 0-1,-1 0 0,0 0 0,0-1 1,0 1-1,0-1 0,0 1 0,0 0 0,0-1 1,-1 0-1,1 1 0,0-1 0,-1 1 0,1-1 1,-1-2-1,1-1 39,2-1 340,-4-6-190,-6-50 209,0 51-223,-53-67 263,55 72-334,-3 1-20,-24-16-36,24 16-40,0 1-142,1 1 77,5 1 17,0 1 1,0-1-1,-1 1 1,1 0-1,-1 0 1,1 0-1,-1 0 1,1 0-1,-1 1 1,1-1-1,-5 1 1,21-12-6495,45-34 4990,-56 43 1291,0 0 0,0 1 0,1-1 0,-1 0 0,1 1 0,-1 0 0,1 0 1,0 0-1,0 0 0,0 0 0,0 1 0,6-1 0,2-1-470,-2-2-1619</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2.350"/>
    </inkml:context>
    <inkml:brush xml:id="br0">
      <inkml:brushProperty name="width" value="0.035" units="cm"/>
      <inkml:brushProperty name="height" value="0.035" units="cm"/>
    </inkml:brush>
  </inkml:definitions>
  <inkml:trace contextRef="#ctx0" brushRef="#br0">116 1 6789,'0'0'1192,"5"11"-635,14 34 53,-15-34 625,-7 3-642,-12 43-14,11-43-26,0 1-9,-3 2-365,-11 48 701,-18 73 1723,34-131-2035,-1 2 56,-9 26 66,9-26 6655,-3-34-7018,-19-73-44,19 74 69,13 9-333,18-45-144,-24 57 82,0 0 0,0-1 1,0 1-1,0 0 0,0 0 0,1 1 0,0-1 1,0 0-1,-1 0 0,1 1 0,1-1 0,-1 1 1,0 0-1,5-4 0,0 0-142,9-6-593,194-80-6905,-72 56 1798,-97 27 3112,22-6-2990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2.928"/>
    </inkml:context>
    <inkml:brush xml:id="br0">
      <inkml:brushProperty name="width" value="0.035" units="cm"/>
      <inkml:brushProperty name="height" value="0.035" units="cm"/>
    </inkml:brush>
  </inkml:definitions>
  <inkml:trace contextRef="#ctx0" brushRef="#br0">95 1213 10913,'0'0'74,"-11"-4"87,-35-10 89,35 10 1693,7-3-1483,-14-22-5,14 22 1175,11-10-1263,19-49-6,-24 60-306,0 1 1,0-1 0,1 0 0,0 1 0,0 0-1,0 0 1,0 0 0,1 0 0,4-5-1,5-5 54,14-26 165,374-575 1585,-177 288-1218,-220 322-584,6 25-61,-1-2 1,-3-7-1,-1 1 0,0-1 0,0 1 0,-1 0 0,-1 1 1,1-1-1,-2 0 0,0 1 0,0 0 0,0 17 0,-15 264-575,2 77-3267,21-272 213,-9-88 1984,0 0-245,1 30-692,-1-30-600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3.151"/>
    </inkml:context>
    <inkml:brush xml:id="br0">
      <inkml:brushProperty name="width" value="0.035" units="cm"/>
      <inkml:brushProperty name="height" value="0.035" units="cm"/>
    </inkml:brush>
  </inkml:definitions>
  <inkml:trace contextRef="#ctx0" brushRef="#br0">133 138 9217,'-60'0'552,"48"0"525,2 1-553,-30 1-4,30-2 4768,47-3-5059,122-12-128,194-45-2420,-254 38 554,-24 5-893,37-5-1833,-106 20 904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3.903"/>
    </inkml:context>
    <inkml:brush xml:id="br0">
      <inkml:brushProperty name="width" value="0.035" units="cm"/>
      <inkml:brushProperty name="height" value="0.035" units="cm"/>
    </inkml:brush>
  </inkml:definitions>
  <inkml:trace contextRef="#ctx0" brushRef="#br0">390 1 8717,'0'0'3729,"-30"7"-3269,-89 22-20,65-14 150,43-8-486,0 0 31,-25 12 485,11 0-86,-34 27 418,54-42-674,1 3-12,-12 17-5,12-17 568,12 7-680,24 45-28,-16-37-23,30 16 99,0-2-54,-45-35-141,25 19 24,-2 0 0,0 2 1,40 47-1,-61-64-20,0 3-1,11 26 0,-11-26 115,-10 7 18,-23 43 60,30-57-181,-1 1 0,0-1-1,1 1 1,-1-1 0,0 1-1,0-1 1,0 0 0,0 1-1,0-1 1,0 0 0,0 0-1,0 0 1,-3 2 0,-4 4 68,-32 19 380,30-19-368,-38 16 392,39-19-411,1 0 44,0 0 0,-1 0 0,1-1 0,-1-1 1,0 1-1,0-1 0,0-1 0,0 0 0,-13 0 0,-37-2-212,70-21-147,2-6 135,-8 15 40,1 1-1,1 0 0,0 0 0,0 0 1,1 0-1,0 1 0,13-12 1,24-19-573,3 1 0,1 3 0,2 1 0,66-35 0,-10 6-563,26-20-143,-106 69 1019,4-6 167,-23 17 86,49-44 199,-52 46 2337,-24 18-2336,-56 44 3,73-57-125,0 0 0,0 0 0,1 0 1,-1 0-1,0 0 0,1 1 0,-1-1 0,1 1 0,0-1 0,-1 1 1,1 0-1,0-1 0,-1 3 0,-10 24 113,9-21-31,1 2-5,-5 29-16,5-28 37,4 2-55,6 38-8,-6-37 1,3-5-9,15 25-4,-15-25 2,0-1-12,16 21-6,-16-21 10,-1-1 1,13 17-1,-12-17 6,-1 0 8,30 64 481,-31-62 303,-9 3-484,-19 34 33,11-28 20,6-9-263,5-5-57,-1 0 0,0 0-1,1 0 1,-1-1-1,0 1 1,0-1 0,0 0-1,-7 2 1,-1 3 55,-38 14 480,-10-3 11,22-10-353,29-6-25,-2-1-37,-35 2-67,35-3-104,28-23-7409,57-72 6163,-66 86 887,0-1-1,1 2 0,-1-1 0,2 2 1,-1-1-1,1 1 0,15-8 0,24-16-1756,9-9 1140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5.023"/>
    </inkml:context>
    <inkml:brush xml:id="br0">
      <inkml:brushProperty name="width" value="0.035" units="cm"/>
      <inkml:brushProperty name="height" value="0.035" units="cm"/>
    </inkml:brush>
  </inkml:definitions>
  <inkml:trace contextRef="#ctx0" brushRef="#br0">80 319 8433,'7'-4'111,"19"-12"72,-19 12 388,1 1-189,24-8 32,-24 8 1822,7 5-1783,74 11 1089,11 4-301,-92-16 193,5-2-1081,1-3-243,36-2 402,-44 0-246,15-20-15,-15 19-25,-6 4-194,0-1 1,0 1-1,1-1 0,0 1 1,0-1-1,0 1 1,0 0-1,0-1 1,4-5-1,-1 0 26,-1-1 109,-5-2-18,-6-33-25,6 33-16,-4 4-7,-20-24-8,19 24-21,-1 5-16,-3 1-36,-23-8 128,-22 34-88,45-20-52,0 1 1,0 0 0,1 0 0,0 1 0,-13 9 0,-5 9 65,2 0 1,1 2-1,1 1 1,0 0-1,3 2 1,0 1-1,2 0 1,1 1-1,-19 46 1,19-19 99,15-42-141,1-12-20,1 0-1,0 0 1,0 0 0,0 1-1,0-1 1,1 0-1,-1 1 1,1-1 0,0 0-1,1 8 1,0 0 11,-1-9-18,0 0 0,-1-1-1,1 1 1,0 0 0,1 0 0,-1 0 0,0 0 0,1-1 0,0 1-1,-1 0 1,1 0 0,0-1 0,0 1 0,1 0 0,1 2-1,1 2 6,-4-4-18,1 0 0,0-1-1,0 1 1,0 0 0,0-1 0,0 1-1,1-1 1,-1 1 0,1-1 0,-1 0-1,1 0 1,0 0 0,0 0 0,0 0-1,2 2 1,3 2-44,-7-6 39,1 1 0,-1 0 0,1 0 0,0 0 0,-1-1 0,1 1 0,0 0 0,0-1 0,-1 1 0,1-1 0,0 1-1,0-1 1,0 1 0,0-1 0,0 0 0,0 1 0,0-1 0,1 0 0,39 15-326,-17-12-119,-8-2 285,-8 0 52,0-1 1,-1 0 0,1 0 0,0-1-1,-1 0 1,1 0 0,7-3-1,53-11-927,98-35 0,-103 25 341,-1-2 0,-2-4 0,-1-2 1,-1-2-1,-2-3 0,-2-2 0,73-70 1,-101 80 477,32-49 1,-53 71 260,-4 6-9,1 0 0,0 0-1,-1 0 1,1-1 0,-1 1-1,1 0 1,-1-1 0,0 0-1,0 1 1,0-1 0,-1 0-1,1 1 1,-1-1 0,1-4-1,0-2 60,1 1 219,-2-1 50,-2-28 46,2 27 452,-10 3-412,-32-21 9,32 20-6,-2 8-12,-38 0-25,38 0-26,-3 6-34,-2-2-235,9-2-35,1 0 0,-1 0 0,1 1-1,-1 0 1,1 1 0,-13 7 0,9-6 14,6-3-36,0 0-1,0 1 0,0 0 0,1-1 0,-1 2 1,1-1-1,-6 5 0,-55 54 523,63-61-561,1 1 0,0-1 1,-1 1-1,1-1 0,0 1 0,0-1 0,0 1 0,0 0 1,0-1-1,0 1 0,0 0 0,1 0 0,-1 0 1,1 0-1,-1 0 0,1 0 0,0 2 0,-1 2 28,-1 1 280,8 7-237,17 42-4,-22-53-73,0-1 1,-1 1-1,1-1 1,0 1 0,1-1-1,-1 1 1,0-1-1,1 1 1,-1-1-1,1 0 1,0 0 0,0 0-1,0 0 1,0 0-1,0 0 1,4 2-1,1 1 15,12 13 77,34 28 1,-42-37-80,42 38 116,-3 7-15,-46-48-37,0 3 11,12 26 14,-12-26 20,-4 1 60,2 27 47,-2-28 38,-7 1 47,0 2-204,5-7-56,-1-1-1,1 0 1,-1 0-1,0 0 1,0 0 0,0-1-1,-1 1 1,1-1-1,-1 0 1,-7 5 0,6-4-36,-12 10 339,0-1 1,0-1-1,-1-1 0,0-1 1,-38 16-1,22-15-6,25-8-25,-1-2-44,-30 2-41,30-3 32,4-74-1168,5 59 350,15-3-100,6-8 372,4-6-316,39-37-1,258-222-3991,-74 73 481,-193 165 3491,-48 48 2357,-28 17-1513,-66 38-22,82-47-186,1-1 1,-1 1 0,1 0-1,0 0 1,0 1 0,0-1 0,0 1-1,-5 7 1,1-3 25,6-5-35,0-1 0,-1 0 0,1 1 0,0 0-1,0-1 1,1 1 0,-1 0 0,1 1 0,-3 2 0,-9 17 156,9-13-95,0 0 0,1 0 0,0 0 1,1 1-1,-2 12 0,3-14 69,9 1-76,32 33 67,53 46 0,-86-83-122,1 0 12,50 51 182,-53-52-18,0 4-59,12 28 65,-13-28 317,-3-5-464,0 0 1,0 0-1,-1 0 0,1 0 1,-1 0-1,-1 0 1,1 0-1,-3 5 1,0 2 58,2 0 291,-5-3 48,-20 24 35,26-29-438,-1-1 0,1 0 1,-1 0-1,0 0 0,0 0 0,0 0 0,0-1 0,0 1 0,0 0 0,-1-1 0,1 1 1,0-1-1,-1 0 0,1 0 0,-4 1 0,-2 1 109,-5 4 219,11-5-331,-1 0 0,0 0 0,0-1 0,0 1 0,0-1 0,0 0-1,0 0 1,0 0 0,-5 1 0,-17 4 552,-9 2-167,26-6-31,3-3-332,0 0-1,0 0 0,0 0 0,0 1 0,0 0 1,0 0-1,-7 1 0,-1 0 28,1-1 177,3-5-33,-28-13-68,27 14-81,6-4-122,-12-24-147,12 24-175,14-11-1633,28-55 1062,-20 47-126,26-14-2137,2 3 0,2 1 0,77-46 0,-76 55-1628</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5.583"/>
    </inkml:context>
    <inkml:brush xml:id="br0">
      <inkml:brushProperty name="width" value="0.035" units="cm"/>
      <inkml:brushProperty name="height" value="0.035" units="cm"/>
    </inkml:brush>
  </inkml:definitions>
  <inkml:trace contextRef="#ctx0" brushRef="#br0">117 41 10133,'0'0'1449,"2"18"-1115,1 3-221,3 47 414,-10-51-242,-3 3-193,-13 58 370,-21 113 813,12-82-222,28-108-1059,-10 43 673,10-34-521,0-1 336,-1-1 20,-7 24-22,7-24 1498,15-32-1754,-1 2-171,86-143 271,-21 59 7,142-152 1,-198 235-384,-17 19 41,-1 0-1,1 1 1,0-1-1,0 1 1,0 0 0,0 0-1,0 1 1,8-4-1,16-10-38,-21 11 6,1 4 4,1-2 26,24-4-95,-25 17 98,22 28 19,-22-29 30,-7 3 12,3 33 3,-3-34 15,-3 4 2,-12 68 59,13-71-103,-10 39 105,-8 11 39,-6 24 166,23-78-191,-5 22 158,4-22-239,1 0 997,18-28-959,25-29-53,169-192 225,-29 74-242,-179 165-38,-1 0 1,1 1 0,0-1-1,0 1 1,0-1 0,1 1-1,-1 0 1,0-1 0,0 1-1,1 0 1,-1 1 0,1-1 0,3-1-1,1 1-9,0-2-24,1 18-83,24 44 104,-31-58 17,0 1 0,0-1 0,-1 1 0,1-1-1,0 1 1,-1-1 0,1 1 0,-1-1-1,1 1 1,-1 0 0,0-1 0,1 1-1,-1 0 1,0 3 0,-1 65-43,-4 0-210,1-2-306,0-1-1084,2-55 1347,0-8 64,1 1-1,1-1 1,-1 1 0,1-1-1,0 1 1,0-1 0,0 0-1,0 1 1,1-1-1,1 8 1,4 24-1042,-4-26-276,0-10-678,1 0 1847,-1 0 0,0 1 1,1-1-1,-1 1 0,0 0 0,0 0 0,0 0 0,0 0 0,1 0 1,2 2-1,0 1-839,3-2-3884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5.983"/>
    </inkml:context>
    <inkml:brush xml:id="br0">
      <inkml:brushProperty name="width" value="0.035" units="cm"/>
      <inkml:brushProperty name="height" value="0.035" units="cm"/>
    </inkml:brush>
  </inkml:definitions>
  <inkml:trace contextRef="#ctx0" brushRef="#br0">261 399 11273,'0'0'387,"2"-9"38,0 2-175,-1 5-62,0-1 1,0 1-1,0-1 1,0 0-1,-1 1 1,1-1-1,-1 0 1,1 1-1,-1-1 0,0 0 1,0 0-1,-1-3 1,7 0 199,18-16-26,-18 16 266,2 3-353,24-10-11,-24 10-13,-1 0 11,22-10 10,-22 10 7,0-1 4,20-14-2,-20 13 0,-2 0-8,18-16 1,-18 16-15,0-1-25,14-17-16,-14 18 219,-3-5-232,2 1-137,-2 6-25,-1-1 0,1 1 1,-1 0-1,0-1 0,0 1 1,-1 0-1,1-1 0,-1 1 1,0-5-1,-3-5 90,-1-2-96,3 8-9,0 0-1,-1 1 1,0-1-1,-1 1 1,-4-11-1,5 14-12,1 0-1,-1 0 1,0 1-1,0-1 1,0 0-1,-1 1 0,1-1 1,-5-3-1,0 0 9,1-1 97,-49 3-29,44 3-57,-5 11 15,-20 17 81,1 1 0,1 1 1,-52 60-1,59-56 75,2 1 0,1 1 1,2 1-1,2 1 0,1 1 1,-19 54-1,37-89-188,-1 0-1,1 0 1,0 1 0,0-1-1,0 1 1,1-1-1,-1 1 1,1-1 0,0 1-1,0-1 1,0 1 0,0-1-1,1 5 1,1 3 20,-2-1 36,2 2-71,9 36-98,-11-46 73,0 0 0,0 0 1,1 0-1,-1 1 0,1-1 1,-1 0-1,1 0 0,0 0 0,0 0 1,0 0-1,0 0 0,0 0 1,0-1-1,1 1 0,-1 0 0,1-1 1,1 3-1,2 1-81,-4-4 62,0 1 0,0 0 0,1-1 0,-1 1 0,0-1 0,1 1 0,-1-1 0,1 0 0,-1 1 0,1-1 0,0 0 0,-1 0 0,1 0 0,0 0 0,0-1 0,0 1 0,0 0 0,2 0 0,1 0-122,2 3-491,5-3-101,50 5-1106,-44-11 739,-3 0 716,5 0-65,-1-1 0,28-13 0,-31 11-1019,-1-1 1,28-20-1,47-44-3595,-59 46 1025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6.719"/>
    </inkml:context>
    <inkml:brush xml:id="br0">
      <inkml:brushProperty name="width" value="0.035" units="cm"/>
      <inkml:brushProperty name="height" value="0.035" units="cm"/>
    </inkml:brush>
  </inkml:definitions>
  <inkml:trace contextRef="#ctx0" brushRef="#br0">139 752 8701,'9'-33'199,"-7"26"5105,-12 29-4804,-33 65-7,41-84-437,0 0 0,0 0 1,1 0-1,-1 0 0,0 0 0,1 0 0,0 1 0,0-1 0,0 0 0,0 1 0,1-1 0,-1 5 0,-6 22 660,-26 59 674,18-44-643,13-38-405,-2 3 11,-10 29 8,10-30 2206,25-22-2428,63-40-13,-76 49-103,-1 0 0,0-1 0,0 0 0,0 0-1,0 0 1,-1-1 0,9-10 0,1-1 10,108-103 284,9-7-96,-105 108-196,-21 16-21,-1 0 61,7 12-52,37 28-4,-37-28 5,-11 1-6,5 51 10,-5-19-12,-2-39-7,0 1-1,0 0 1,1-1 0,-1 1 0,1-1 0,-1 1-1,1-1 1,0 0 0,1 1 0,1 3 0,1 2-12,-2-1-73,2-3-361,12 18 59,-12-17-121,9-7-1558,39-2 1258,-39 2-54,0-6-43,10-6 378,0-1 1,-1-1-1,0-1 1,-1-1-1,-1-1 1,-1-1-1,25-31 1,-44 50 521,22-30-334,-1-1 0,-2 0 0,-2-2 0,28-67 0,-39 83 375,5-10 138,-2 0 1,-1-1-1,9-51 0,8-126 1860,-20 105-519,-5 91-1029,0-1-32,0-31-45,0 31 1874,-10 31-1918,4-8-301,-8 16 97,1 1 1,2 1-1,-9 35 1,12-33-20,-60 261 1059,53-214-527,-6 138 0,19-157-240,3 0 0,16 112 0,-15-160-423,7 50 296,25 87-1,-33-147-306,-1-1 1,1 0-1,-1 0 1,1 0-1,0 0 1,0 0-1,0 0 1,0 0-1,0 0 1,0-1-1,1 1 1,-1 0-1,4 2 1,-1 1-16,0 0-87,5-2-322,26 6 123,-26-6-91,11-11-2256,59-23 1726,-40 13-538,-29 8 1178,-3 2-80,20-11-1347,3-13-441,-22 26 1663,-5 3 262,-1 1-1,1-1 1,-1 1 0,1-1 0,-1 0 0,0 0 0,0 0 0,0 0-1,-1 0 1,1 0 0,1-4 0,2-4-383,2-4-165,4-10-2631,7-17-266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6.991"/>
    </inkml:context>
    <inkml:brush xml:id="br0">
      <inkml:brushProperty name="width" value="0.035" units="cm"/>
      <inkml:brushProperty name="height" value="0.035" units="cm"/>
    </inkml:brush>
  </inkml:definitions>
  <inkml:trace contextRef="#ctx0" brushRef="#br0">225 53 8609,'-165'46'1950,"156"-44"-1301,1 2 69,-34 14 10946,66-15-10904,75 12-70,-59-12-70,-21-4-435,58-8 636,257-43-1640,-234 36-2741,-32 3 585,-7-5-308,-6-1-304,-17 4 114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7.440"/>
    </inkml:context>
    <inkml:brush xml:id="br0">
      <inkml:brushProperty name="width" value="0.035" units="cm"/>
      <inkml:brushProperty name="height" value="0.035" units="cm"/>
    </inkml:brush>
  </inkml:definitions>
  <inkml:trace contextRef="#ctx0" brushRef="#br0">439 78 10441,'0'0'59,"4"-5"110,12-16 120,-12 16 1580,-1-3-1346,1 2 116,6-11-1084,-7 2 9248,-34 24-8379,-95 32-29,119-39-321,1 0 0,-1 1 0,1-1 0,0 1 0,0 1 0,0-1 0,1 1-1,-1 0 1,1 0 0,0 1 0,0-1 0,-8 11 0,7-7-55,-5 3 173,8-9-167,1 0 0,0 0 0,-1 0 0,1 0 0,0 1 0,0-1 0,0 1 0,1-1-1,-3 6 1,-8 14 250,-2 5-86,10-21-20,2 4-16,-4 29-12,4-29 89,5 3-139,15 49-43,32 71-1,-47-127-151,-3-3 92,0 0 0,1-1-1,-1 1 1,1-1 0,0 1-1,0-1 1,0 1-1,0-1 1,0 0 0,0 1-1,1-1 1,1 2 0,1 2-15,-1 2-50,0 1-87,9 23 140,-9-24 811,-14-2-458,-33 18 40,33-18-4,-1-5-3,-39 1-23,38-2 250,-1-3-324,-1-2-188,10 3-38,0 0-1,0 0 0,-1 0 1,1 1-1,-1 0 0,1 0 1,-1 1-1,-6-1 0,5-4 143,-19-13-23,19 13 109,6-6-165,-5-33-34,5 33-37,9-4-213,23-42-20,-24 42-111,7-5-387,-13 18 630,0 0 0,0 0 0,0 0 1,0 0-1,0 1 0,0-1 1,1 0-1,-1 1 0,1-1 0,-1 1 1,1 0-1,-1-1 0,1 1 0,0 0 1,0 0-1,2-1 0,81-40-5404,31-12-6511,-69 38 4707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0:17:37.662"/>
    </inkml:context>
    <inkml:brush xml:id="br0">
      <inkml:brushProperty name="width" value="0.035" units="cm"/>
      <inkml:brushProperty name="height" value="0.035" units="cm"/>
    </inkml:brush>
  </inkml:definitions>
  <inkml:trace contextRef="#ctx0" brushRef="#br0">108 0 17914,'0'0'2603,"-13"12"-1251,-41 34 4,41-34 2219,7-7-2624,0 2-996,0-1 2275,1-2-4135,0 1-3818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50218" y="0"/>
            <a:ext cx="2944283" cy="496571"/>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15988" y="744538"/>
            <a:ext cx="4964112" cy="3724275"/>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05934" y="4717417"/>
            <a:ext cx="4982633" cy="4469129"/>
          </a:xfrm>
          <a:prstGeom prst="rect">
            <a:avLst/>
          </a:prstGeom>
          <a:noFill/>
          <a:ln w="9525">
            <a:noFill/>
            <a:miter lim="800000"/>
            <a:headEnd/>
            <a:tailEnd/>
          </a:ln>
        </p:spPr>
        <p:txBody>
          <a:bodyPr vert="horz" wrap="square" lIns="91438" tIns="45719" rIns="91438" bIns="4571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50218" y="9434830"/>
            <a:ext cx="2944283" cy="496571"/>
          </a:xfrm>
          <a:prstGeom prst="rect">
            <a:avLst/>
          </a:prstGeom>
          <a:noFill/>
          <a:ln w="9525">
            <a:noFill/>
            <a:miter lim="800000"/>
            <a:headEnd/>
            <a:tailEnd/>
          </a:ln>
        </p:spPr>
        <p:txBody>
          <a:bodyPr vert="horz" wrap="square" lIns="91438" tIns="45719" rIns="91438" bIns="45719"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0919-F969-CE19-38EC-E6ED7C0EE3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BB06B9F-E188-7B41-1132-4FD80011819A}"/>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010E94-FD98-C886-7975-2366C462754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274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983D-4851-3ABE-989A-248A5D95B11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089972C-4144-7C0D-CB87-A8545832E7D3}"/>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59AC7E9-B5CB-DFED-9CD1-A33ACBAE479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12436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732D7-6E4E-D4BA-10D9-0378C8BFFB9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2E9791E-C554-CD54-BBCF-2E3062B73AF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725D610-C480-3126-AC3D-C2CE70A075E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53980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365C-B99B-D143-FBD1-3DFC0FE7183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AB09A55-A634-797F-19B7-557BC743B91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DACEE3C-CEFE-6D2E-8C76-DFF6C8D7358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066645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24169-4166-83C3-D763-598DA9B7E26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D6EF9DA-E1ED-8C4E-B4D9-C418BFDC165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B7963B8-B623-7DFD-F997-A9187586457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97526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0C1B-6450-492B-BA40-340052D046B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CD8D539-373A-626F-75C2-5FA5F5E0BF5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313CD4D-5421-25E4-9E02-6840DC4C9CC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08789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4A156-146F-DF18-1629-458FEC90638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7AA3DE9-8AA0-00C3-F061-98A3077ED44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C503589-0F9E-7E9E-8FAA-868D0878ED8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63140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793FD-3989-5324-8A43-895C4185CA9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87BA5C5-1175-5BA6-CF0F-47F340EE2E0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CEFFAE0-8D8D-EA13-714C-A7B5EC01F53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02170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B6521-C6A3-436E-5F8D-BD307BF6D11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1FB5AA2-0AD9-CED4-4866-7A2AE86AEA5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E090CC8-B43B-E5D7-837A-EB8396940FB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75387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5D97-DCA7-C0B6-3A1B-8D3AD6B7CE5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AF57CB5-F7C4-52F9-1AC6-E43D2689F9B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0AA9204-F078-1EF1-8448-634E1C6D748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980278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1C1D3-D02F-018B-2BF8-F242245E53D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8BA91CC-1BC0-23BA-8640-465997DD90B4}"/>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15F2C54-739E-884B-0B1C-BD21B02B1F46}"/>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51304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0F40-0AFB-8A27-A8BC-E8DA0993F8D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E5A52E0-11EA-EF89-67DA-AEBDE1D1279D}"/>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9763DD0C-36A0-0B76-6CBD-79372ECDBA4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40404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9397-D8A9-5E07-8F6D-1AFAA3BEA39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B0E719A-DE49-2244-2914-DCD883290EAF}"/>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D2DEAC2-96E1-FF22-546B-0F024DEC604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60602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05F8-B9C7-0F44-58F0-9163DA7AD168}"/>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3FD8963-95B0-24CD-F588-75269D8030C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DD1704E-F30D-AC93-B340-2654B97A9DB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963061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42A5F-9447-D3CE-A56C-CFBBDD3297C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1285AF6-FE56-0C75-B702-AEB61BC9487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456A238-17DC-67C9-FD37-366DEFE9F1CF}"/>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00121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60F5F-1BC2-15A6-D1A2-F80409440A7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699BA29-6EAB-3652-F98D-642077277D2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E53CE5C-C0D6-8BEF-B695-77A052881A5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87375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758C4-CF4F-764E-A015-F25DC7AC331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FCC04B3-C5C6-BCA4-8543-3E101208B69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3587E55-2291-1906-8303-94C5531A745D}"/>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827302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62243-476F-BDAE-C126-BBFAA74F471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51FE90B-AF86-BFA4-DB94-BCFB4CC1486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95CD107-BBE8-DB03-88FE-C74789D0E55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79164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808A-771A-B7DD-C929-7CD8C3813BA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F2DC8B3-579E-598A-64EE-B6DB4C89E046}"/>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885D5F3-AD76-7845-747C-A8A57B35AB9A}"/>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870889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B9104-2B45-880A-87C9-200833F0612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A257AD1-6F1C-F21C-057F-4124CDA9E81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C13D561-C045-39E1-3A98-E18689021F2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5041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974DE-EB6D-556B-DC44-34B33EDE5EB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1930291-4F83-4FCC-3C43-39AEBD98F9D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00B9077-94D7-3E9D-6EBE-6F2349634073}"/>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770912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AC2DB-DC9F-CCED-B6B2-48B954A0B0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D4F6A81-464C-B1ED-B9F8-7DBF34247B4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053675FB-F2BF-8399-10B6-225217B8DE68}"/>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1867395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40EE2-236C-7AA3-3BE4-7B61FC67A28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8C4B0268-C1E6-5B21-0384-5141F4F386EB}"/>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DFF92AC-2F68-0185-B3C4-FD31C4A21CD2}"/>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103429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223DA-B629-BD60-8B32-5F18AB616FD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7DFF6CB-D5EA-B1A4-5203-CC373CF4D711}"/>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210A163-5291-7BC2-1B89-8DBEA1705B47}"/>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960421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413E-F5D2-495A-EAFB-F58E56A5DA0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7E90370-D32A-A794-DC2D-EF62211BE512}"/>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3881A91-DEA2-9B2B-4F3D-6FA6CD02367E}"/>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949347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E0AA1-C62A-6487-02D3-9314958660A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B6F1F5C-FA86-8052-D6A4-64919BF90DD8}"/>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B83157B-E118-F574-34BD-C7EF3C87E52B}"/>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705890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EA54-355E-299B-6FF8-F76C2F6F81F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D5F8200-0C66-4713-6E11-961D0BF786A9}"/>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EF12800-E4A0-849B-F12E-32B69A47C55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720842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97085-0956-B4D2-A7C1-4B37490BD36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B975A5C-5F8D-4797-4D71-7900038993D7}"/>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38CFE146-772D-29BE-59CE-7F014017DEB0}"/>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451131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C2760-C489-EEE5-BA81-F979BE86778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D0C262C-09B6-C608-1C03-52962155AA97}"/>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3DF1625-3B4E-94F7-C3C1-65A6A284AF4B}"/>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927225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95660-AFAD-7394-FAA0-BE66AF5E56C7}"/>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D03498D-6B1C-96A7-15D9-B2DC01C41FF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B92D3D4-DBB4-CC29-9692-965981B53911}"/>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129775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E503-D34F-6009-AEF9-DDD7C3E10A3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734770E-B203-E713-F2E8-F3F84202B5FC}"/>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D1AD479-01A3-7965-994A-355482168F84}"/>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8943711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05BBD-4E16-7488-D721-5DD168C75DF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A12D648-5753-C937-ACF5-D19BB89AE4BE}"/>
              </a:ext>
            </a:extLst>
          </p:cNvPr>
          <p:cNvSpPr>
            <a:spLocks noGrp="1" noRot="1" noChangeAspect="1" noChangeArrowheads="1" noTextEdit="1"/>
          </p:cNvSpPr>
          <p:nvPr>
            <p:ph type="sldImg"/>
          </p:nvPr>
        </p:nvSpPr>
        <p:spPr bwMode="auto">
          <a:xfrm>
            <a:off x="923925" y="750888"/>
            <a:ext cx="4946650" cy="3711575"/>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AE1719A-ED5D-5B27-7B54-68D948C96937}"/>
              </a:ext>
            </a:extLst>
          </p:cNvPr>
          <p:cNvSpPr>
            <a:spLocks noGrp="1" noChangeArrowheads="1"/>
          </p:cNvSpPr>
          <p:nvPr>
            <p:ph type="body" idx="1"/>
          </p:nvPr>
        </p:nvSpPr>
        <p:spPr bwMode="auto">
          <a:xfrm>
            <a:off x="905934" y="4717417"/>
            <a:ext cx="4982633" cy="446912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1045965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4380"/>
            <a:fld id="{73303AEE-F764-0E46-AFB6-085D8FECA2EE}" type="slidenum">
              <a:rPr lang="en-US">
                <a:solidFill>
                  <a:srgbClr val="000000"/>
                </a:solidFill>
              </a:rPr>
              <a:pPr defTabSz="914380"/>
              <a:t>36</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4/8/2026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4/8/2026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4/8/2026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4/8/2026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4/8/2026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4/8/2026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4/8/2026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4/8/2026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4/8/2026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4/8/2026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4/8/2026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7.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13" Type="http://schemas.openxmlformats.org/officeDocument/2006/relationships/image" Target="../media/image8.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notesSlide" Target="../notesSlides/notesSlide12.xml"/><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image" Target="../media/image10.png"/><Relationship Id="rId25" Type="http://schemas.openxmlformats.org/officeDocument/2006/relationships/image" Target="../media/image14.png"/><Relationship Id="rId33" Type="http://schemas.openxmlformats.org/officeDocument/2006/relationships/image" Target="../media/image18.png"/><Relationship Id="rId2" Type="http://schemas.openxmlformats.org/officeDocument/2006/relationships/slideLayout" Target="../slideLayouts/slideLayout2.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16.png"/><Relationship Id="rId1" Type="http://schemas.openxmlformats.org/officeDocument/2006/relationships/tags" Target="../tags/tag11.xml"/><Relationship Id="rId6" Type="http://schemas.openxmlformats.org/officeDocument/2006/relationships/customXml" Target="../ink/ink2.xml"/><Relationship Id="rId11" Type="http://schemas.openxmlformats.org/officeDocument/2006/relationships/image" Target="../media/image7.png"/><Relationship Id="rId24" Type="http://schemas.openxmlformats.org/officeDocument/2006/relationships/customXml" Target="../ink/ink11.xml"/><Relationship Id="rId32" Type="http://schemas.openxmlformats.org/officeDocument/2006/relationships/customXml" Target="../ink/ink15.xml"/><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11.png"/><Relationship Id="rId31" Type="http://schemas.openxmlformats.org/officeDocument/2006/relationships/image" Target="../media/image17.png"/><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5.png"/><Relationship Id="rId30" Type="http://schemas.openxmlformats.org/officeDocument/2006/relationships/customXml" Target="../ink/ink14.xml"/><Relationship Id="rId8" Type="http://schemas.openxmlformats.org/officeDocument/2006/relationships/customXml" Target="../ink/ink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6" Type="http://schemas.openxmlformats.org/officeDocument/2006/relationships/customXml" Target="../ink/ink27.xml"/><Relationship Id="rId21" Type="http://schemas.openxmlformats.org/officeDocument/2006/relationships/image" Target="../media/image27.png"/><Relationship Id="rId34" Type="http://schemas.openxmlformats.org/officeDocument/2006/relationships/customXml" Target="../ink/ink31.xml"/><Relationship Id="rId42" Type="http://schemas.openxmlformats.org/officeDocument/2006/relationships/customXml" Target="../ink/ink35.xml"/><Relationship Id="rId47" Type="http://schemas.openxmlformats.org/officeDocument/2006/relationships/image" Target="../media/image40.png"/><Relationship Id="rId50" Type="http://schemas.openxmlformats.org/officeDocument/2006/relationships/customXml" Target="../ink/ink39.xml"/><Relationship Id="rId55" Type="http://schemas.openxmlformats.org/officeDocument/2006/relationships/image" Target="../media/image44.png"/><Relationship Id="rId63" Type="http://schemas.openxmlformats.org/officeDocument/2006/relationships/image" Target="../media/image48.png"/><Relationship Id="rId7" Type="http://schemas.openxmlformats.org/officeDocument/2006/relationships/image" Target="../media/image20.png"/><Relationship Id="rId2" Type="http://schemas.openxmlformats.org/officeDocument/2006/relationships/slideLayout" Target="../slideLayouts/slideLayout2.xml"/><Relationship Id="rId16" Type="http://schemas.openxmlformats.org/officeDocument/2006/relationships/customXml" Target="../ink/ink22.xml"/><Relationship Id="rId29" Type="http://schemas.openxmlformats.org/officeDocument/2006/relationships/image" Target="../media/image31.png"/><Relationship Id="rId11" Type="http://schemas.openxmlformats.org/officeDocument/2006/relationships/image" Target="../media/image22.png"/><Relationship Id="rId24" Type="http://schemas.openxmlformats.org/officeDocument/2006/relationships/customXml" Target="../ink/ink26.xml"/><Relationship Id="rId32" Type="http://schemas.openxmlformats.org/officeDocument/2006/relationships/customXml" Target="../ink/ink30.xml"/><Relationship Id="rId37" Type="http://schemas.openxmlformats.org/officeDocument/2006/relationships/image" Target="../media/image35.png"/><Relationship Id="rId40" Type="http://schemas.openxmlformats.org/officeDocument/2006/relationships/customXml" Target="../ink/ink34.xml"/><Relationship Id="rId45" Type="http://schemas.openxmlformats.org/officeDocument/2006/relationships/image" Target="../media/image39.png"/><Relationship Id="rId53" Type="http://schemas.openxmlformats.org/officeDocument/2006/relationships/image" Target="../media/image43.png"/><Relationship Id="rId58" Type="http://schemas.openxmlformats.org/officeDocument/2006/relationships/customXml" Target="../ink/ink43.xml"/><Relationship Id="rId66" Type="http://schemas.openxmlformats.org/officeDocument/2006/relationships/customXml" Target="../ink/ink47.xml"/><Relationship Id="rId5" Type="http://schemas.openxmlformats.org/officeDocument/2006/relationships/image" Target="../media/image19.png"/><Relationship Id="rId61" Type="http://schemas.openxmlformats.org/officeDocument/2006/relationships/image" Target="../media/image47.png"/><Relationship Id="rId19" Type="http://schemas.openxmlformats.org/officeDocument/2006/relationships/image" Target="../media/image26.png"/><Relationship Id="rId14" Type="http://schemas.openxmlformats.org/officeDocument/2006/relationships/customXml" Target="../ink/ink21.xml"/><Relationship Id="rId22" Type="http://schemas.openxmlformats.org/officeDocument/2006/relationships/customXml" Target="../ink/ink25.xml"/><Relationship Id="rId27" Type="http://schemas.openxmlformats.org/officeDocument/2006/relationships/image" Target="../media/image30.png"/><Relationship Id="rId30" Type="http://schemas.openxmlformats.org/officeDocument/2006/relationships/customXml" Target="../ink/ink29.xml"/><Relationship Id="rId35" Type="http://schemas.openxmlformats.org/officeDocument/2006/relationships/image" Target="../media/image34.png"/><Relationship Id="rId43" Type="http://schemas.openxmlformats.org/officeDocument/2006/relationships/image" Target="../media/image38.png"/><Relationship Id="rId48" Type="http://schemas.openxmlformats.org/officeDocument/2006/relationships/customXml" Target="../ink/ink38.xml"/><Relationship Id="rId56" Type="http://schemas.openxmlformats.org/officeDocument/2006/relationships/customXml" Target="../ink/ink42.xml"/><Relationship Id="rId64" Type="http://schemas.openxmlformats.org/officeDocument/2006/relationships/customXml" Target="../ink/ink46.xml"/><Relationship Id="rId8" Type="http://schemas.openxmlformats.org/officeDocument/2006/relationships/customXml" Target="../ink/ink18.xml"/><Relationship Id="rId51" Type="http://schemas.openxmlformats.org/officeDocument/2006/relationships/image" Target="../media/image42.png"/><Relationship Id="rId3" Type="http://schemas.openxmlformats.org/officeDocument/2006/relationships/notesSlide" Target="../notesSlides/notesSlide21.xml"/><Relationship Id="rId12" Type="http://schemas.openxmlformats.org/officeDocument/2006/relationships/customXml" Target="../ink/ink20.xml"/><Relationship Id="rId17" Type="http://schemas.openxmlformats.org/officeDocument/2006/relationships/image" Target="../media/image25.png"/><Relationship Id="rId25" Type="http://schemas.openxmlformats.org/officeDocument/2006/relationships/image" Target="../media/image29.png"/><Relationship Id="rId33" Type="http://schemas.openxmlformats.org/officeDocument/2006/relationships/image" Target="../media/image33.png"/><Relationship Id="rId38" Type="http://schemas.openxmlformats.org/officeDocument/2006/relationships/customXml" Target="../ink/ink33.xml"/><Relationship Id="rId46" Type="http://schemas.openxmlformats.org/officeDocument/2006/relationships/customXml" Target="../ink/ink37.xml"/><Relationship Id="rId59" Type="http://schemas.openxmlformats.org/officeDocument/2006/relationships/image" Target="../media/image46.png"/><Relationship Id="rId67" Type="http://schemas.openxmlformats.org/officeDocument/2006/relationships/image" Target="../media/image50.png"/><Relationship Id="rId20" Type="http://schemas.openxmlformats.org/officeDocument/2006/relationships/customXml" Target="../ink/ink24.xml"/><Relationship Id="rId41" Type="http://schemas.openxmlformats.org/officeDocument/2006/relationships/image" Target="../media/image37.png"/><Relationship Id="rId54" Type="http://schemas.openxmlformats.org/officeDocument/2006/relationships/customXml" Target="../ink/ink41.xml"/><Relationship Id="rId62" Type="http://schemas.openxmlformats.org/officeDocument/2006/relationships/customXml" Target="../ink/ink45.xml"/><Relationship Id="rId1" Type="http://schemas.openxmlformats.org/officeDocument/2006/relationships/tags" Target="../tags/tag20.xml"/><Relationship Id="rId6" Type="http://schemas.openxmlformats.org/officeDocument/2006/relationships/customXml" Target="../ink/ink17.xml"/><Relationship Id="rId15" Type="http://schemas.openxmlformats.org/officeDocument/2006/relationships/image" Target="../media/image24.png"/><Relationship Id="rId23" Type="http://schemas.openxmlformats.org/officeDocument/2006/relationships/image" Target="../media/image28.png"/><Relationship Id="rId28" Type="http://schemas.openxmlformats.org/officeDocument/2006/relationships/customXml" Target="../ink/ink28.xml"/><Relationship Id="rId36" Type="http://schemas.openxmlformats.org/officeDocument/2006/relationships/customXml" Target="../ink/ink32.xml"/><Relationship Id="rId49" Type="http://schemas.openxmlformats.org/officeDocument/2006/relationships/image" Target="../media/image41.png"/><Relationship Id="rId57" Type="http://schemas.openxmlformats.org/officeDocument/2006/relationships/image" Target="../media/image45.png"/><Relationship Id="rId10" Type="http://schemas.openxmlformats.org/officeDocument/2006/relationships/customXml" Target="../ink/ink19.xml"/><Relationship Id="rId31" Type="http://schemas.openxmlformats.org/officeDocument/2006/relationships/image" Target="../media/image32.png"/><Relationship Id="rId44" Type="http://schemas.openxmlformats.org/officeDocument/2006/relationships/customXml" Target="../ink/ink36.xml"/><Relationship Id="rId52" Type="http://schemas.openxmlformats.org/officeDocument/2006/relationships/customXml" Target="../ink/ink40.xml"/><Relationship Id="rId60" Type="http://schemas.openxmlformats.org/officeDocument/2006/relationships/customXml" Target="../ink/ink44.xml"/><Relationship Id="rId65" Type="http://schemas.openxmlformats.org/officeDocument/2006/relationships/image" Target="../media/image49.png"/><Relationship Id="rId4" Type="http://schemas.openxmlformats.org/officeDocument/2006/relationships/customXml" Target="../ink/ink16.xml"/><Relationship Id="rId9" Type="http://schemas.openxmlformats.org/officeDocument/2006/relationships/image" Target="../media/image21.png"/><Relationship Id="rId13" Type="http://schemas.openxmlformats.org/officeDocument/2006/relationships/image" Target="../media/image23.png"/><Relationship Id="rId18" Type="http://schemas.openxmlformats.org/officeDocument/2006/relationships/customXml" Target="../ink/ink23.xml"/><Relationship Id="rId39"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4739346" y="2514600"/>
            <a:ext cx="3833237" cy="15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The management of accounts receivable</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10</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Dr S Watson, Ms E Kobese </a:t>
            </a:r>
          </a:p>
          <a:p>
            <a:pPr lvl="0" algn="ctr" defTabSz="912813" eaLnBrk="1" hangingPunct="1"/>
            <a:r>
              <a:rPr lang="en-GB" sz="2000" b="1" dirty="0">
                <a:solidFill>
                  <a:srgbClr val="28287A"/>
                </a:solidFill>
                <a:latin typeface="+mn-lt"/>
                <a:ea typeface="+mn-ea"/>
                <a:cs typeface="Arial" charset="0"/>
              </a:rPr>
              <a:t>&amp; Ms N Maliwa</a:t>
            </a:r>
            <a:endParaRPr kumimoji="0" lang="en-GB" sz="2000" b="1" i="0" u="none" strike="noStrike" kern="1200" cap="none" spc="0" normalizeH="0" baseline="0" noProof="0" dirty="0">
              <a:ln>
                <a:noFill/>
              </a:ln>
              <a:solidFill>
                <a:srgbClr val="28287A"/>
              </a:solidFill>
              <a:effectLst/>
              <a:uLnTx/>
              <a:uFillTx/>
              <a:latin typeface="+mn-lt"/>
              <a:ea typeface="+mn-ea"/>
              <a:cs typeface="Arial" charset="0"/>
            </a:endParaRPr>
          </a:p>
        </p:txBody>
      </p:sp>
      <p:pic>
        <p:nvPicPr>
          <p:cNvPr id="3" name="Picture 2">
            <a:extLst>
              <a:ext uri="{FF2B5EF4-FFF2-40B4-BE49-F238E27FC236}">
                <a16:creationId xmlns:a16="http://schemas.microsoft.com/office/drawing/2014/main" id="{C80DE5DF-C287-3B5D-F7B8-DDEC37D4E512}"/>
              </a:ext>
            </a:extLst>
          </p:cNvPr>
          <p:cNvPicPr>
            <a:picLocks noChangeAspect="1"/>
          </p:cNvPicPr>
          <p:nvPr/>
        </p:nvPicPr>
        <p:blipFill>
          <a:blip r:embed="rId3"/>
          <a:stretch>
            <a:fillRect/>
          </a:stretch>
        </p:blipFill>
        <p:spPr>
          <a:xfrm>
            <a:off x="1524754" y="4216968"/>
            <a:ext cx="2345747" cy="2341639"/>
          </a:xfrm>
          <a:prstGeom prst="rect">
            <a:avLst/>
          </a:prstGeom>
        </p:spPr>
      </p:pic>
    </p:spTree>
    <p:extLst>
      <p:ext uri="{BB962C8B-B14F-4D97-AF65-F5344CB8AC3E}">
        <p14:creationId xmlns:p14="http://schemas.microsoft.com/office/powerpoint/2010/main" val="10671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10</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t>establish a credit policy for a firm</a:t>
            </a:r>
          </a:p>
          <a:p>
            <a:pPr marL="342900" lvl="0" indent="-342900" algn="just">
              <a:buFont typeface="Symbol" panose="05050102010706020507" pitchFamily="18" charset="2"/>
              <a:buChar char=""/>
              <a:tabLst>
                <a:tab pos="431800" algn="l"/>
              </a:tabLst>
            </a:pPr>
            <a:r>
              <a:rPr lang="en-ZA" sz="2400" dirty="0"/>
              <a:t>evaluate the influence of changes in credit terms on profitability</a:t>
            </a:r>
          </a:p>
          <a:p>
            <a:pPr marL="342900" lvl="0" indent="-342900" algn="just">
              <a:buFont typeface="Symbol" panose="05050102010706020507" pitchFamily="18" charset="2"/>
              <a:buChar char=""/>
              <a:tabLst>
                <a:tab pos="431800" algn="l"/>
              </a:tabLst>
            </a:pPr>
            <a:r>
              <a:rPr lang="en-ZA" sz="2400" dirty="0"/>
              <a:t>monitor and follow up accounts receivable.</a:t>
            </a:r>
          </a:p>
          <a:p>
            <a:pPr marL="342900" lvl="0" indent="-342900" algn="just">
              <a:buFont typeface="Symbol" panose="05050102010706020507" pitchFamily="18" charset="2"/>
              <a:buChar char=""/>
            </a:pPr>
            <a:endParaRPr lang="en-ZA" sz="2400"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Ensure financial sustainability – socially equitable, environmentally bearable and economically viable</a:t>
            </a:r>
          </a:p>
          <a:p>
            <a:pPr>
              <a:lnSpc>
                <a:spcPct val="105000"/>
              </a:lnSpc>
              <a:buSzPct val="100000"/>
              <a:buFont typeface="Arial" panose="020B0604020202020204" pitchFamily="34" charset="0"/>
              <a:buChar char="•"/>
            </a:pPr>
            <a:r>
              <a:rPr lang="en-US" sz="2400" dirty="0">
                <a:latin typeface="+mj-lt"/>
              </a:rPr>
              <a:t>Sell goods and services</a:t>
            </a:r>
          </a:p>
          <a:p>
            <a:pPr marL="717550">
              <a:lnSpc>
                <a:spcPct val="105000"/>
              </a:lnSpc>
              <a:buSzPct val="100000"/>
              <a:buFont typeface="Wingdings" panose="05000000000000000000" pitchFamily="2" charset="2"/>
              <a:buChar char="§"/>
            </a:pPr>
            <a:r>
              <a:rPr lang="en-US" sz="2400" dirty="0">
                <a:latin typeface="+mj-lt"/>
              </a:rPr>
              <a:t>Cash vs credit (option to increase sales)</a:t>
            </a:r>
          </a:p>
          <a:p>
            <a:pPr>
              <a:lnSpc>
                <a:spcPct val="105000"/>
              </a:lnSpc>
              <a:buSzPct val="100000"/>
              <a:buFont typeface="Arial" panose="020B0604020202020204" pitchFamily="34" charset="0"/>
              <a:buChar char="•"/>
            </a:pPr>
            <a:r>
              <a:rPr lang="en-US" sz="2400" dirty="0">
                <a:latin typeface="+mj-lt"/>
              </a:rPr>
              <a:t>Accounts receivable</a:t>
            </a:r>
          </a:p>
          <a:p>
            <a:pPr marL="717550">
              <a:lnSpc>
                <a:spcPct val="105000"/>
              </a:lnSpc>
              <a:buSzPct val="100000"/>
              <a:buFont typeface="Wingdings" panose="05000000000000000000" pitchFamily="2" charset="2"/>
              <a:buChar char="§"/>
            </a:pPr>
            <a:r>
              <a:rPr lang="en-US" sz="2400" dirty="0">
                <a:latin typeface="+mj-lt"/>
              </a:rPr>
              <a:t>Extension of credit on an open account by firm to customers</a:t>
            </a:r>
          </a:p>
          <a:p>
            <a:pPr marL="717550">
              <a:lnSpc>
                <a:spcPct val="105000"/>
              </a:lnSpc>
              <a:buSzPct val="100000"/>
              <a:buFont typeface="Wingdings" panose="05000000000000000000" pitchFamily="2" charset="2"/>
              <a:buChar char="§"/>
            </a:pPr>
            <a:r>
              <a:rPr lang="en-US" sz="2400" dirty="0">
                <a:latin typeface="+mj-lt"/>
              </a:rPr>
              <a:t>Necessary cost – to achieve higher levels of sales</a:t>
            </a:r>
          </a:p>
          <a:p>
            <a:pPr marL="717550">
              <a:lnSpc>
                <a:spcPct val="105000"/>
              </a:lnSpc>
              <a:buSzPct val="100000"/>
              <a:buFont typeface="Wingdings" panose="05000000000000000000" pitchFamily="2" charset="2"/>
              <a:buChar char="§"/>
            </a:pPr>
            <a:r>
              <a:rPr lang="en-US" sz="2400" dirty="0">
                <a:latin typeface="+mj-lt"/>
              </a:rPr>
              <a:t>Increase operating and overhead costs</a:t>
            </a:r>
          </a:p>
          <a:p>
            <a:pPr marL="1071563">
              <a:lnSpc>
                <a:spcPct val="105000"/>
              </a:lnSpc>
              <a:buSzPct val="100000"/>
              <a:buFont typeface="Wingdings" panose="05000000000000000000" pitchFamily="2" charset="2"/>
              <a:buChar char="§"/>
            </a:pPr>
            <a:r>
              <a:rPr lang="en-US" sz="2400" dirty="0">
                <a:latin typeface="+mj-lt"/>
              </a:rPr>
              <a:t>Credit screening, accounting and admin expenses, sending statements, collecting payments and bad debs</a:t>
            </a:r>
          </a:p>
          <a:p>
            <a:pPr marL="717550">
              <a:lnSpc>
                <a:spcPct val="105000"/>
              </a:lnSpc>
              <a:buSzPct val="100000"/>
              <a:buFont typeface="Wingdings" panose="05000000000000000000" pitchFamily="2" charset="2"/>
              <a:buChar char="§"/>
            </a:pPr>
            <a:r>
              <a:rPr lang="en-US" sz="2400" dirty="0">
                <a:latin typeface="+mj-lt"/>
              </a:rPr>
              <a:t>Close relationship between cash, AR and inventory</a:t>
            </a:r>
          </a:p>
          <a:p>
            <a:pPr marL="717550">
              <a:lnSpc>
                <a:spcPct val="105000"/>
              </a:lnSpc>
              <a:buSzPct val="100000"/>
              <a:buFont typeface="Wingdings" panose="05000000000000000000" pitchFamily="2" charset="2"/>
              <a:buChar char="§"/>
            </a:pPr>
            <a:r>
              <a:rPr lang="en-US" sz="2400" dirty="0">
                <a:latin typeface="+mj-lt"/>
              </a:rPr>
              <a:t>Consumer credit vs commercial/trade credit</a:t>
            </a:r>
          </a:p>
          <a:p>
            <a:pPr>
              <a:lnSpc>
                <a:spcPct val="105000"/>
              </a:lnSpc>
              <a:buSzPct val="100000"/>
              <a:buFont typeface="Arial" panose="020B0604020202020204" pitchFamily="34" charset="0"/>
              <a:buChar char="•"/>
            </a:pPr>
            <a:endParaRPr lang="en-US" sz="2400" dirty="0">
              <a:solidFill>
                <a:prstClr val="black"/>
              </a:solidFill>
              <a:ea typeface="ＭＳ Ｐゴシック"/>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E40687-BFE8-54E7-DDDC-ACCA77E91F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9DA4652-4A70-C93B-A2FA-4EEBF6FE59CC}"/>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a:t>
            </a:r>
          </a:p>
        </p:txBody>
      </p:sp>
      <p:sp>
        <p:nvSpPr>
          <p:cNvPr id="3" name="Slide Number Placeholder 2">
            <a:extLst>
              <a:ext uri="{FF2B5EF4-FFF2-40B4-BE49-F238E27FC236}">
                <a16:creationId xmlns:a16="http://schemas.microsoft.com/office/drawing/2014/main" id="{07259366-BAA3-1640-6A19-C6498098FE9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
        <p:nvSpPr>
          <p:cNvPr id="4" name="Rectangle 5">
            <a:extLst>
              <a:ext uri="{FF2B5EF4-FFF2-40B4-BE49-F238E27FC236}">
                <a16:creationId xmlns:a16="http://schemas.microsoft.com/office/drawing/2014/main" id="{20255557-EFE5-5ADF-882C-341C487842FD}"/>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Document detailing credit selection, credit standards, terms, limits, monitoring and follow up of outstanding accounts</a:t>
            </a:r>
          </a:p>
          <a:p>
            <a:pPr algn="just">
              <a:lnSpc>
                <a:spcPct val="105000"/>
              </a:lnSpc>
              <a:buSzPct val="100000"/>
              <a:buFont typeface="Arial" panose="020B0604020202020204" pitchFamily="34" charset="0"/>
              <a:buChar char="•"/>
            </a:pPr>
            <a:r>
              <a:rPr lang="en-US" sz="2400" dirty="0">
                <a:latin typeface="+mj-lt"/>
              </a:rPr>
              <a:t>Additional aspects of credit policy</a:t>
            </a:r>
          </a:p>
          <a:p>
            <a:pPr marL="717550" algn="just">
              <a:lnSpc>
                <a:spcPct val="105000"/>
              </a:lnSpc>
              <a:buSzPct val="100000"/>
              <a:buFont typeface="Wingdings" panose="05000000000000000000" pitchFamily="2" charset="2"/>
              <a:buChar char="§"/>
            </a:pPr>
            <a:r>
              <a:rPr lang="en-US" sz="2400" dirty="0">
                <a:latin typeface="+mj-lt"/>
              </a:rPr>
              <a:t>Use of electronic form to collect info</a:t>
            </a:r>
          </a:p>
          <a:p>
            <a:pPr marL="717550" algn="just">
              <a:lnSpc>
                <a:spcPct val="105000"/>
              </a:lnSpc>
              <a:buSzPct val="100000"/>
              <a:buFont typeface="Wingdings" panose="05000000000000000000" pitchFamily="2" charset="2"/>
              <a:buChar char="§"/>
            </a:pPr>
            <a:r>
              <a:rPr lang="en-US" sz="2400" dirty="0">
                <a:latin typeface="+mj-lt"/>
              </a:rPr>
              <a:t>Credit department – proper system implemented</a:t>
            </a:r>
          </a:p>
          <a:p>
            <a:pPr marL="717550" algn="just">
              <a:lnSpc>
                <a:spcPct val="105000"/>
              </a:lnSpc>
              <a:buSzPct val="100000"/>
              <a:buFont typeface="Wingdings" panose="05000000000000000000" pitchFamily="2" charset="2"/>
              <a:buChar char="§"/>
            </a:pPr>
            <a:r>
              <a:rPr lang="en-US" sz="2400" dirty="0">
                <a:latin typeface="+mj-lt"/>
              </a:rPr>
              <a:t>Contract stipulating contractual relationship</a:t>
            </a:r>
          </a:p>
          <a:p>
            <a:pPr marL="717550" algn="just">
              <a:lnSpc>
                <a:spcPct val="105000"/>
              </a:lnSpc>
              <a:buSzPct val="100000"/>
              <a:buFont typeface="Wingdings" panose="05000000000000000000" pitchFamily="2" charset="2"/>
              <a:buChar char="§"/>
            </a:pPr>
            <a:r>
              <a:rPr lang="en-US" sz="2400" dirty="0">
                <a:latin typeface="+mj-lt"/>
              </a:rPr>
              <a:t>Credit insurance on major credit customers</a:t>
            </a:r>
          </a:p>
          <a:p>
            <a:pPr marL="717550" algn="just">
              <a:lnSpc>
                <a:spcPct val="105000"/>
              </a:lnSpc>
              <a:buSzPct val="100000"/>
              <a:buFont typeface="Wingdings" panose="05000000000000000000" pitchFamily="2" charset="2"/>
              <a:buChar char="§"/>
            </a:pPr>
            <a:r>
              <a:rPr lang="en-US" sz="2400" dirty="0">
                <a:latin typeface="+mj-lt"/>
              </a:rPr>
              <a:t>Encourage payment by credit card or card from buying association</a:t>
            </a:r>
          </a:p>
          <a:p>
            <a:pPr marL="717550" algn="just">
              <a:lnSpc>
                <a:spcPct val="105000"/>
              </a:lnSpc>
              <a:buSzPct val="100000"/>
              <a:buFont typeface="Wingdings" panose="05000000000000000000" pitchFamily="2" charset="2"/>
              <a:buChar char="§"/>
            </a:pPr>
            <a:r>
              <a:rPr lang="en-US" sz="2400" dirty="0">
                <a:latin typeface="+mj-lt"/>
              </a:rPr>
              <a:t>Possible factoring of AR</a:t>
            </a:r>
          </a:p>
        </p:txBody>
      </p:sp>
    </p:spTree>
    <p:custDataLst>
      <p:tags r:id="rId1"/>
    </p:custDataLst>
    <p:extLst>
      <p:ext uri="{BB962C8B-B14F-4D97-AF65-F5344CB8AC3E}">
        <p14:creationId xmlns:p14="http://schemas.microsoft.com/office/powerpoint/2010/main" val="98334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A3247F0-18FD-4883-F1E7-8C528C0F0A5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DEB5020-3BE6-000C-EE4E-3AF07E4A9784}"/>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C28B4B42-E2AC-5F7A-B2D3-5111D80FFBB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
        <p:nvSpPr>
          <p:cNvPr id="4" name="Rectangle 5">
            <a:extLst>
              <a:ext uri="{FF2B5EF4-FFF2-40B4-BE49-F238E27FC236}">
                <a16:creationId xmlns:a16="http://schemas.microsoft.com/office/drawing/2014/main" id="{61AA8E74-38A9-9E08-1E15-134A2ED01BE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Credit selection</a:t>
            </a:r>
          </a:p>
          <a:p>
            <a:pPr marL="717550" algn="just">
              <a:lnSpc>
                <a:spcPct val="105000"/>
              </a:lnSpc>
              <a:buSzPct val="100000"/>
              <a:buFont typeface="Wingdings" panose="05000000000000000000" pitchFamily="2" charset="2"/>
              <a:buChar char="§"/>
            </a:pPr>
            <a:r>
              <a:rPr lang="en-US" sz="2400" dirty="0">
                <a:latin typeface="+mj-lt"/>
              </a:rPr>
              <a:t>Should firm extend credit to customer? And if so, how much?</a:t>
            </a:r>
          </a:p>
          <a:p>
            <a:pPr marL="717550" algn="just">
              <a:lnSpc>
                <a:spcPct val="105000"/>
              </a:lnSpc>
              <a:buSzPct val="100000"/>
              <a:buFont typeface="Wingdings" panose="05000000000000000000" pitchFamily="2" charset="2"/>
              <a:buChar char="§"/>
            </a:pPr>
            <a:r>
              <a:rPr lang="en-US" sz="2400" dirty="0">
                <a:latin typeface="+mj-lt"/>
              </a:rPr>
              <a:t>Financially secure vs financially weak customers</a:t>
            </a:r>
          </a:p>
          <a:p>
            <a:pPr marL="717550" algn="just">
              <a:lnSpc>
                <a:spcPct val="105000"/>
              </a:lnSpc>
              <a:buSzPct val="100000"/>
              <a:buFont typeface="Wingdings" panose="05000000000000000000" pitchFamily="2" charset="2"/>
              <a:buChar char="§"/>
            </a:pPr>
            <a:r>
              <a:rPr lang="en-US" sz="2400" dirty="0">
                <a:latin typeface="+mj-lt"/>
              </a:rPr>
              <a:t>Payment pattern influence profitability of firm</a:t>
            </a:r>
          </a:p>
        </p:txBody>
      </p:sp>
      <p:graphicFrame>
        <p:nvGraphicFramePr>
          <p:cNvPr id="2" name="Table 1">
            <a:extLst>
              <a:ext uri="{FF2B5EF4-FFF2-40B4-BE49-F238E27FC236}">
                <a16:creationId xmlns:a16="http://schemas.microsoft.com/office/drawing/2014/main" id="{3D812CCA-87CD-2EE3-2A93-C36725F5482B}"/>
              </a:ext>
            </a:extLst>
          </p:cNvPr>
          <p:cNvGraphicFramePr>
            <a:graphicFrameLocks noGrp="1"/>
          </p:cNvGraphicFramePr>
          <p:nvPr>
            <p:extLst>
              <p:ext uri="{D42A27DB-BD31-4B8C-83A1-F6EECF244321}">
                <p14:modId xmlns:p14="http://schemas.microsoft.com/office/powerpoint/2010/main" val="2031173129"/>
              </p:ext>
            </p:extLst>
          </p:nvPr>
        </p:nvGraphicFramePr>
        <p:xfrm>
          <a:off x="159688" y="3276600"/>
          <a:ext cx="8856000" cy="3200400"/>
        </p:xfrm>
        <a:graphic>
          <a:graphicData uri="http://schemas.openxmlformats.org/drawingml/2006/table">
            <a:tbl>
              <a:tblPr firstRow="1" bandRow="1">
                <a:tableStyleId>{5C22544A-7EE6-4342-B048-85BDC9FD1C3A}</a:tableStyleId>
              </a:tblPr>
              <a:tblGrid>
                <a:gridCol w="2659712">
                  <a:extLst>
                    <a:ext uri="{9D8B030D-6E8A-4147-A177-3AD203B41FA5}">
                      <a16:colId xmlns:a16="http://schemas.microsoft.com/office/drawing/2014/main" val="1080328050"/>
                    </a:ext>
                  </a:extLst>
                </a:gridCol>
                <a:gridCol w="2819400">
                  <a:extLst>
                    <a:ext uri="{9D8B030D-6E8A-4147-A177-3AD203B41FA5}">
                      <a16:colId xmlns:a16="http://schemas.microsoft.com/office/drawing/2014/main" val="3388985821"/>
                    </a:ext>
                  </a:extLst>
                </a:gridCol>
                <a:gridCol w="3376888">
                  <a:extLst>
                    <a:ext uri="{9D8B030D-6E8A-4147-A177-3AD203B41FA5}">
                      <a16:colId xmlns:a16="http://schemas.microsoft.com/office/drawing/2014/main" val="2982046406"/>
                    </a:ext>
                  </a:extLst>
                </a:gridCol>
              </a:tblGrid>
              <a:tr h="370840">
                <a:tc gridSpan="3">
                  <a:txBody>
                    <a:bodyPr/>
                    <a:lstStyle/>
                    <a:p>
                      <a:pPr algn="ctr"/>
                      <a:r>
                        <a:rPr lang="en-US" sz="2000" dirty="0"/>
                        <a:t>Action by firm</a:t>
                      </a:r>
                      <a:endParaRPr lang="en-ZA" sz="2000" dirty="0"/>
                    </a:p>
                  </a:txBody>
                  <a:tcPr anchor="ct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3339363953"/>
                  </a:ext>
                </a:extLst>
              </a:tr>
              <a:tr h="370840">
                <a:tc>
                  <a:txBody>
                    <a:bodyPr/>
                    <a:lstStyle/>
                    <a:p>
                      <a:pPr algn="l"/>
                      <a:r>
                        <a:rPr lang="en-US" sz="2000" dirty="0"/>
                        <a:t>Ultimate result</a:t>
                      </a:r>
                      <a:endParaRPr lang="en-ZA" sz="2000" dirty="0"/>
                    </a:p>
                  </a:txBody>
                  <a:tcPr anchor="ctr">
                    <a:solidFill>
                      <a:schemeClr val="tx2">
                        <a:lumMod val="40000"/>
                        <a:lumOff val="60000"/>
                      </a:schemeClr>
                    </a:solidFill>
                  </a:tcPr>
                </a:tc>
                <a:tc>
                  <a:txBody>
                    <a:bodyPr/>
                    <a:lstStyle/>
                    <a:p>
                      <a:pPr algn="l"/>
                      <a:r>
                        <a:rPr lang="en-US" sz="2000" dirty="0"/>
                        <a:t>Grant credit</a:t>
                      </a:r>
                      <a:endParaRPr lang="en-ZA" sz="2000" dirty="0"/>
                    </a:p>
                  </a:txBody>
                  <a:tcPr anchor="ctr">
                    <a:solidFill>
                      <a:schemeClr val="tx2">
                        <a:lumMod val="40000"/>
                        <a:lumOff val="60000"/>
                      </a:schemeClr>
                    </a:solidFill>
                  </a:tcPr>
                </a:tc>
                <a:tc>
                  <a:txBody>
                    <a:bodyPr/>
                    <a:lstStyle/>
                    <a:p>
                      <a:pPr algn="l"/>
                      <a:r>
                        <a:rPr lang="en-US" sz="2000" dirty="0"/>
                        <a:t>Reject credit</a:t>
                      </a:r>
                      <a:endParaRPr lang="en-ZA" sz="2000" dirty="0"/>
                    </a:p>
                  </a:txBody>
                  <a:tcPr anchor="ctr">
                    <a:solidFill>
                      <a:schemeClr val="tx2">
                        <a:lumMod val="40000"/>
                        <a:lumOff val="60000"/>
                      </a:schemeClr>
                    </a:solidFill>
                  </a:tcPr>
                </a:tc>
                <a:extLst>
                  <a:ext uri="{0D108BD9-81ED-4DB2-BD59-A6C34878D82A}">
                    <a16:rowId xmlns:a16="http://schemas.microsoft.com/office/drawing/2014/main" val="1731722631"/>
                  </a:ext>
                </a:extLst>
              </a:tr>
              <a:tr h="370840">
                <a:tc>
                  <a:txBody>
                    <a:bodyPr/>
                    <a:lstStyle/>
                    <a:p>
                      <a:pPr algn="l"/>
                      <a:r>
                        <a:rPr lang="en-US" sz="2000" dirty="0"/>
                        <a:t>Customer pays promptly</a:t>
                      </a:r>
                      <a:endParaRPr lang="en-ZA" sz="2000" dirty="0"/>
                    </a:p>
                  </a:txBody>
                  <a:tcPr anchor="ctr"/>
                </a:tc>
                <a:tc>
                  <a:txBody>
                    <a:bodyPr/>
                    <a:lstStyle/>
                    <a:p>
                      <a:pPr algn="l"/>
                      <a:r>
                        <a:rPr lang="en-US" sz="2000" dirty="0"/>
                        <a:t>Profitability increases</a:t>
                      </a:r>
                      <a:endParaRPr lang="en-ZA" sz="2000" dirty="0"/>
                    </a:p>
                  </a:txBody>
                  <a:tcPr anchor="ctr"/>
                </a:tc>
                <a:tc>
                  <a:txBody>
                    <a:bodyPr/>
                    <a:lstStyle/>
                    <a:p>
                      <a:pPr algn="l"/>
                      <a:r>
                        <a:rPr lang="en-US" sz="2000" dirty="0"/>
                        <a:t>Lost sales and profitability</a:t>
                      </a:r>
                      <a:endParaRPr lang="en-ZA" sz="2000" dirty="0"/>
                    </a:p>
                  </a:txBody>
                  <a:tcPr anchor="ctr"/>
                </a:tc>
                <a:extLst>
                  <a:ext uri="{0D108BD9-81ED-4DB2-BD59-A6C34878D82A}">
                    <a16:rowId xmlns:a16="http://schemas.microsoft.com/office/drawing/2014/main" val="4019186747"/>
                  </a:ext>
                </a:extLst>
              </a:tr>
              <a:tr h="370840">
                <a:tc>
                  <a:txBody>
                    <a:bodyPr/>
                    <a:lstStyle/>
                    <a:p>
                      <a:pPr algn="l"/>
                      <a:r>
                        <a:rPr lang="en-US" sz="2000" dirty="0"/>
                        <a:t>Customer delays payment</a:t>
                      </a:r>
                      <a:endParaRPr lang="en-ZA" sz="2000" dirty="0"/>
                    </a:p>
                  </a:txBody>
                  <a:tcPr anchor="ctr"/>
                </a:tc>
                <a:tc>
                  <a:txBody>
                    <a:bodyPr/>
                    <a:lstStyle/>
                    <a:p>
                      <a:pPr algn="l"/>
                      <a:r>
                        <a:rPr lang="en-US" sz="2000" dirty="0"/>
                        <a:t>Collection expenses increase</a:t>
                      </a:r>
                      <a:endParaRPr lang="en-ZA" sz="2000" dirty="0"/>
                    </a:p>
                  </a:txBody>
                  <a:tcPr anchor="ctr"/>
                </a:tc>
                <a:tc>
                  <a:txBody>
                    <a:bodyPr/>
                    <a:lstStyle/>
                    <a:p>
                      <a:pPr algn="l"/>
                      <a:r>
                        <a:rPr lang="en-US" sz="2000" dirty="0"/>
                        <a:t>Lost sales and profitability minus collection expenses avoided</a:t>
                      </a:r>
                      <a:endParaRPr lang="en-ZA" sz="2000" dirty="0"/>
                    </a:p>
                  </a:txBody>
                  <a:tcPr anchor="ctr"/>
                </a:tc>
                <a:extLst>
                  <a:ext uri="{0D108BD9-81ED-4DB2-BD59-A6C34878D82A}">
                    <a16:rowId xmlns:a16="http://schemas.microsoft.com/office/drawing/2014/main" val="1991527390"/>
                  </a:ext>
                </a:extLst>
              </a:tr>
              <a:tr h="370840">
                <a:tc>
                  <a:txBody>
                    <a:bodyPr/>
                    <a:lstStyle/>
                    <a:p>
                      <a:pPr algn="l"/>
                      <a:r>
                        <a:rPr lang="en-US" sz="2000" dirty="0"/>
                        <a:t>Customer never pays</a:t>
                      </a:r>
                      <a:endParaRPr lang="en-ZA" sz="2000" dirty="0"/>
                    </a:p>
                  </a:txBody>
                  <a:tcPr anchor="ctr"/>
                </a:tc>
                <a:tc>
                  <a:txBody>
                    <a:bodyPr/>
                    <a:lstStyle/>
                    <a:p>
                      <a:pPr algn="l"/>
                      <a:r>
                        <a:rPr lang="en-US" sz="2000" dirty="0"/>
                        <a:t>Collection and bad debt expenses increase</a:t>
                      </a:r>
                      <a:endParaRPr lang="en-ZA" sz="2000" dirty="0"/>
                    </a:p>
                  </a:txBody>
                  <a:tcPr anchor="ctr"/>
                </a:tc>
                <a:tc>
                  <a:txBody>
                    <a:bodyPr/>
                    <a:lstStyle/>
                    <a:p>
                      <a:pPr algn="l"/>
                      <a:r>
                        <a:rPr lang="en-US" sz="2000" dirty="0"/>
                        <a:t>Collection and bad debt expenses avoided</a:t>
                      </a:r>
                      <a:endParaRPr lang="en-ZA" sz="2000" dirty="0"/>
                    </a:p>
                  </a:txBody>
                  <a:tcPr anchor="ctr"/>
                </a:tc>
                <a:extLst>
                  <a:ext uri="{0D108BD9-81ED-4DB2-BD59-A6C34878D82A}">
                    <a16:rowId xmlns:a16="http://schemas.microsoft.com/office/drawing/2014/main" val="3323202462"/>
                  </a:ext>
                </a:extLst>
              </a:tr>
            </a:tbl>
          </a:graphicData>
        </a:graphic>
      </p:graphicFrame>
    </p:spTree>
    <p:custDataLst>
      <p:tags r:id="rId1"/>
    </p:custDataLst>
    <p:extLst>
      <p:ext uri="{BB962C8B-B14F-4D97-AF65-F5344CB8AC3E}">
        <p14:creationId xmlns:p14="http://schemas.microsoft.com/office/powerpoint/2010/main" val="3435164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7F7D56-0208-1B79-8721-55D79D494D2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43C2FFC-6322-07D6-5A8A-94CCE7147B25}"/>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8CEA3281-0A79-2913-E96C-3CB4069127F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
        <p:nvSpPr>
          <p:cNvPr id="4" name="Rectangle 5">
            <a:extLst>
              <a:ext uri="{FF2B5EF4-FFF2-40B4-BE49-F238E27FC236}">
                <a16:creationId xmlns:a16="http://schemas.microsoft.com/office/drawing/2014/main" id="{EC865E61-1D4B-0F2A-3AF3-D8FAB50810D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a:t>
            </a:r>
          </a:p>
        </p:txBody>
      </p:sp>
      <p:graphicFrame>
        <p:nvGraphicFramePr>
          <p:cNvPr id="2" name="Diagram 1">
            <a:extLst>
              <a:ext uri="{FF2B5EF4-FFF2-40B4-BE49-F238E27FC236}">
                <a16:creationId xmlns:a16="http://schemas.microsoft.com/office/drawing/2014/main" id="{E43A99D7-0F3D-42C5-0D2A-7DD37810EF44}"/>
              </a:ext>
            </a:extLst>
          </p:cNvPr>
          <p:cNvGraphicFramePr/>
          <p:nvPr>
            <p:extLst>
              <p:ext uri="{D42A27DB-BD31-4B8C-83A1-F6EECF244321}">
                <p14:modId xmlns:p14="http://schemas.microsoft.com/office/powerpoint/2010/main" val="2059214475"/>
              </p:ext>
            </p:extLst>
          </p:nvPr>
        </p:nvGraphicFramePr>
        <p:xfrm>
          <a:off x="152400" y="1429843"/>
          <a:ext cx="6858000" cy="40565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0D04D233-4B83-B62D-6ED6-28C55430CDDF}"/>
              </a:ext>
            </a:extLst>
          </p:cNvPr>
          <p:cNvSpPr txBox="1"/>
          <p:nvPr/>
        </p:nvSpPr>
        <p:spPr>
          <a:xfrm>
            <a:off x="3200400" y="6400800"/>
            <a:ext cx="4800600" cy="338554"/>
          </a:xfrm>
          <a:prstGeom prst="rect">
            <a:avLst/>
          </a:prstGeom>
          <a:noFill/>
        </p:spPr>
        <p:txBody>
          <a:bodyPr wrap="square">
            <a:spAutoFit/>
          </a:bodyPr>
          <a:lstStyle/>
          <a:p>
            <a:r>
              <a:rPr lang="en-ZA" sz="1600" dirty="0"/>
              <a:t>https://woolworths.wfs.co.za/applynow/</a:t>
            </a:r>
          </a:p>
        </p:txBody>
      </p:sp>
    </p:spTree>
    <p:custDataLst>
      <p:tags r:id="rId1"/>
    </p:custDataLst>
    <p:extLst>
      <p:ext uri="{BB962C8B-B14F-4D97-AF65-F5344CB8AC3E}">
        <p14:creationId xmlns:p14="http://schemas.microsoft.com/office/powerpoint/2010/main" val="2590458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B6A761-11F8-5BF3-D337-42534EA29F6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6310B0D-003D-67DD-6C43-E67EEF2AE58C}"/>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E56D0B17-A686-73B7-77B3-5475AFC8D2F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
        <p:nvSpPr>
          <p:cNvPr id="4" name="Rectangle 5">
            <a:extLst>
              <a:ext uri="{FF2B5EF4-FFF2-40B4-BE49-F238E27FC236}">
                <a16:creationId xmlns:a16="http://schemas.microsoft.com/office/drawing/2014/main" id="{46FD7735-C6CA-0B18-E5E6-9B7EC522057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p:txBody>
      </p:sp>
      <p:graphicFrame>
        <p:nvGraphicFramePr>
          <p:cNvPr id="2" name="Diagram 1">
            <a:extLst>
              <a:ext uri="{FF2B5EF4-FFF2-40B4-BE49-F238E27FC236}">
                <a16:creationId xmlns:a16="http://schemas.microsoft.com/office/drawing/2014/main" id="{ED6F8824-B2C6-4D05-0AFC-B3E08C5FE506}"/>
              </a:ext>
            </a:extLst>
          </p:cNvPr>
          <p:cNvGraphicFramePr/>
          <p:nvPr>
            <p:extLst>
              <p:ext uri="{D42A27DB-BD31-4B8C-83A1-F6EECF244321}">
                <p14:modId xmlns:p14="http://schemas.microsoft.com/office/powerpoint/2010/main" val="1915762045"/>
              </p:ext>
            </p:extLst>
          </p:nvPr>
        </p:nvGraphicFramePr>
        <p:xfrm>
          <a:off x="381000" y="1582244"/>
          <a:ext cx="8503024" cy="48947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15404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A20C9B-FBCF-B4E6-65DA-C2E09CD8FE6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1F35399-41EF-349B-CEAF-EA761F0E8387}"/>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1F0080E7-5392-26B8-D402-E3DE06666D3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sp>
        <p:nvSpPr>
          <p:cNvPr id="4" name="Rectangle 5">
            <a:extLst>
              <a:ext uri="{FF2B5EF4-FFF2-40B4-BE49-F238E27FC236}">
                <a16:creationId xmlns:a16="http://schemas.microsoft.com/office/drawing/2014/main" id="{D4804F0F-73BE-81D9-BB68-480BD67218F9}"/>
              </a:ext>
            </a:extLst>
          </p:cNvPr>
          <p:cNvSpPr>
            <a:spLocks noGrp="1" noChangeArrowheads="1"/>
          </p:cNvSpPr>
          <p:nvPr>
            <p:ph idx="1"/>
          </p:nvPr>
        </p:nvSpPr>
        <p:spPr>
          <a:xfrm>
            <a:off x="259976" y="990600"/>
            <a:ext cx="8655424" cy="5247290"/>
          </a:xfrm>
        </p:spPr>
        <p:txBody>
          <a:bodyPr/>
          <a:lstStyle/>
          <a:p>
            <a:pPr algn="just">
              <a:lnSpc>
                <a:spcPct val="100000"/>
              </a:lnSpc>
              <a:spcBef>
                <a:spcPts val="0"/>
              </a:spcBef>
              <a:buSzPct val="100000"/>
              <a:buFont typeface="Arial" panose="020B0604020202020204" pitchFamily="34" charset="0"/>
              <a:buChar char="•"/>
            </a:pPr>
            <a:r>
              <a:rPr lang="en-US" sz="2100" dirty="0">
                <a:latin typeface="+mj-lt"/>
              </a:rPr>
              <a:t>The credit selection process (cont.)</a:t>
            </a:r>
          </a:p>
          <a:p>
            <a:pPr algn="just">
              <a:lnSpc>
                <a:spcPct val="100000"/>
              </a:lnSpc>
              <a:spcBef>
                <a:spcPts val="0"/>
              </a:spcBef>
              <a:buSzPct val="100000"/>
              <a:buFont typeface="Arial" panose="020B0604020202020204" pitchFamily="34" charset="0"/>
              <a:buChar char="•"/>
            </a:pPr>
            <a:r>
              <a:rPr lang="en-US" sz="2100" dirty="0">
                <a:latin typeface="+mj-lt"/>
              </a:rPr>
              <a:t>Sources of information</a:t>
            </a:r>
          </a:p>
          <a:p>
            <a:pPr marL="717550" algn="just">
              <a:lnSpc>
                <a:spcPct val="100000"/>
              </a:lnSpc>
              <a:spcBef>
                <a:spcPts val="0"/>
              </a:spcBef>
              <a:buSzPct val="100000"/>
              <a:buFont typeface="Wingdings" panose="05000000000000000000" pitchFamily="2" charset="2"/>
              <a:buChar char="§"/>
            </a:pPr>
            <a:r>
              <a:rPr lang="en-US" sz="2100" kern="1200" dirty="0">
                <a:latin typeface="+mj-lt"/>
                <a:ea typeface="ＭＳ Ｐゴシック"/>
                <a:cs typeface="+mn-cs"/>
              </a:rPr>
              <a:t>Trade</a:t>
            </a:r>
            <a:r>
              <a:rPr lang="en-US" sz="2100" kern="1200" dirty="0">
                <a:latin typeface="+mj-lt"/>
              </a:rPr>
              <a:t> references – use questionnaires, use additional sources of info</a:t>
            </a:r>
          </a:p>
          <a:p>
            <a:pPr marL="717550" algn="just">
              <a:lnSpc>
                <a:spcPct val="100000"/>
              </a:lnSpc>
              <a:spcBef>
                <a:spcPts val="0"/>
              </a:spcBef>
              <a:buSzPct val="100000"/>
              <a:buFont typeface="Wingdings" panose="05000000000000000000" pitchFamily="2" charset="2"/>
              <a:buChar char="§"/>
            </a:pPr>
            <a:r>
              <a:rPr lang="en-US" sz="2100" dirty="0">
                <a:latin typeface="+mj-lt"/>
              </a:rPr>
              <a:t>Bank references – overview of financial position of customer; compare size of order of balance of account; check loan position</a:t>
            </a:r>
            <a:endParaRPr lang="en-ZA" sz="2100" dirty="0">
              <a:latin typeface="+mj-lt"/>
            </a:endParaRPr>
          </a:p>
          <a:p>
            <a:pPr marL="717550" algn="just">
              <a:lnSpc>
                <a:spcPct val="100000"/>
              </a:lnSpc>
              <a:spcBef>
                <a:spcPts val="0"/>
              </a:spcBef>
              <a:buSzPct val="100000"/>
              <a:buFont typeface="Wingdings" panose="05000000000000000000" pitchFamily="2" charset="2"/>
              <a:buChar char="§"/>
            </a:pPr>
            <a:r>
              <a:rPr lang="en-US" sz="2100" kern="1200" dirty="0">
                <a:latin typeface="+mj-lt"/>
                <a:ea typeface="ＭＳ Ｐゴシック"/>
                <a:cs typeface="+mn-cs"/>
              </a:rPr>
              <a:t>Trade sources and competition – form associations; firms from same or type-related business</a:t>
            </a:r>
          </a:p>
          <a:p>
            <a:pPr marL="717550" algn="just">
              <a:lnSpc>
                <a:spcPct val="100000"/>
              </a:lnSpc>
              <a:spcBef>
                <a:spcPts val="0"/>
              </a:spcBef>
              <a:buSzPct val="100000"/>
              <a:buFont typeface="Wingdings" panose="05000000000000000000" pitchFamily="2" charset="2"/>
              <a:buChar char="§"/>
            </a:pPr>
            <a:r>
              <a:rPr lang="en-US" sz="2100" kern="1200" dirty="0">
                <a:latin typeface="+mj-lt"/>
                <a:ea typeface="ＭＳ Ｐゴシック"/>
                <a:cs typeface="+mn-cs"/>
              </a:rPr>
              <a:t>Credit agencies – professional businesses providing credit ratings of potential customers for a predetermined fee </a:t>
            </a:r>
          </a:p>
          <a:p>
            <a:pPr marL="717550" algn="just">
              <a:lnSpc>
                <a:spcPct val="100000"/>
              </a:lnSpc>
              <a:spcBef>
                <a:spcPts val="0"/>
              </a:spcBef>
              <a:buSzPct val="100000"/>
              <a:buFont typeface="Wingdings" panose="05000000000000000000" pitchFamily="2" charset="2"/>
              <a:buChar char="§"/>
            </a:pPr>
            <a:r>
              <a:rPr lang="en-US" sz="2100" dirty="0">
                <a:latin typeface="+mj-lt"/>
              </a:rPr>
              <a:t>Credit insurance – insure some or all debt against insolvency risk</a:t>
            </a:r>
          </a:p>
          <a:p>
            <a:pPr marL="717550" algn="just">
              <a:lnSpc>
                <a:spcPct val="100000"/>
              </a:lnSpc>
              <a:spcBef>
                <a:spcPts val="0"/>
              </a:spcBef>
              <a:buSzPct val="100000"/>
              <a:buFont typeface="Wingdings" panose="05000000000000000000" pitchFamily="2" charset="2"/>
              <a:buChar char="§"/>
            </a:pPr>
            <a:r>
              <a:rPr lang="en-US" sz="2100" kern="1200" dirty="0">
                <a:latin typeface="+mj-lt"/>
                <a:ea typeface="ＭＳ Ｐゴシック"/>
                <a:cs typeface="+mn-cs"/>
              </a:rPr>
              <a:t>In-house opinion – listen and pay attention to sales force comments re customers</a:t>
            </a:r>
          </a:p>
          <a:p>
            <a:pPr marL="717550" algn="just">
              <a:lnSpc>
                <a:spcPct val="100000"/>
              </a:lnSpc>
              <a:spcBef>
                <a:spcPts val="0"/>
              </a:spcBef>
              <a:buSzPct val="100000"/>
              <a:buFont typeface="Wingdings" panose="05000000000000000000" pitchFamily="2" charset="2"/>
              <a:buChar char="§"/>
            </a:pPr>
            <a:r>
              <a:rPr lang="en-US" sz="2100" kern="1200" dirty="0">
                <a:latin typeface="+mj-lt"/>
                <a:ea typeface="ＭＳ Ｐゴシック"/>
                <a:cs typeface="+mn-cs"/>
              </a:rPr>
              <a:t>Own records – customers’ track records to determine payment pattern</a:t>
            </a:r>
          </a:p>
          <a:p>
            <a:pPr marL="717550" algn="just">
              <a:lnSpc>
                <a:spcPct val="100000"/>
              </a:lnSpc>
              <a:spcBef>
                <a:spcPts val="0"/>
              </a:spcBef>
              <a:buSzPct val="100000"/>
              <a:buFont typeface="Wingdings" panose="05000000000000000000" pitchFamily="2" charset="2"/>
              <a:buChar char="§"/>
            </a:pPr>
            <a:r>
              <a:rPr lang="en-US" sz="2100" kern="1200" dirty="0">
                <a:latin typeface="+mj-lt"/>
                <a:ea typeface="ＭＳ Ｐゴシック"/>
                <a:cs typeface="+mn-cs"/>
              </a:rPr>
              <a:t>Civil judgements – subscribe to firms who provide info on all civil judgements</a:t>
            </a:r>
            <a:endParaRPr lang="en-US" sz="2100" dirty="0">
              <a:latin typeface="+mj-lt"/>
            </a:endParaRPr>
          </a:p>
        </p:txBody>
      </p:sp>
    </p:spTree>
    <p:custDataLst>
      <p:tags r:id="rId1"/>
    </p:custDataLst>
    <p:extLst>
      <p:ext uri="{BB962C8B-B14F-4D97-AF65-F5344CB8AC3E}">
        <p14:creationId xmlns:p14="http://schemas.microsoft.com/office/powerpoint/2010/main" val="3028590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ADC43A-06CE-6BAA-6E08-7AFD2EBBDE9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319EED7-6BAE-2194-24C7-391A021B04D9}"/>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9DA37AE3-4264-EC08-127B-5602C7F575D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sp>
        <p:nvSpPr>
          <p:cNvPr id="4" name="Rectangle 5">
            <a:extLst>
              <a:ext uri="{FF2B5EF4-FFF2-40B4-BE49-F238E27FC236}">
                <a16:creationId xmlns:a16="http://schemas.microsoft.com/office/drawing/2014/main" id="{1E738542-40CD-1221-2E2D-F0403AE79B45}"/>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a:p>
            <a:pPr algn="just">
              <a:lnSpc>
                <a:spcPct val="105000"/>
              </a:lnSpc>
              <a:buSzPct val="100000"/>
              <a:buFont typeface="Arial" panose="020B0604020202020204" pitchFamily="34" charset="0"/>
              <a:buChar char="•"/>
            </a:pPr>
            <a:r>
              <a:rPr lang="en-US" sz="2400" dirty="0">
                <a:latin typeface="+mj-lt"/>
              </a:rPr>
              <a:t>Credit analysis</a:t>
            </a:r>
          </a:p>
          <a:p>
            <a:pPr marL="717550" algn="just">
              <a:lnSpc>
                <a:spcPct val="105000"/>
              </a:lnSpc>
              <a:buSzPct val="100000"/>
              <a:buFont typeface="Wingdings" panose="05000000000000000000" pitchFamily="2" charset="2"/>
              <a:buChar char="§"/>
            </a:pPr>
            <a:r>
              <a:rPr lang="en-US" sz="2400" dirty="0">
                <a:latin typeface="+mj-lt"/>
              </a:rPr>
              <a:t>Process to determine creditworthiness of customer and to estimate maximum amount of credit capable of supporting</a:t>
            </a:r>
          </a:p>
          <a:p>
            <a:pPr marL="717550" algn="just">
              <a:lnSpc>
                <a:spcPct val="105000"/>
              </a:lnSpc>
              <a:buSzPct val="100000"/>
              <a:buFont typeface="Wingdings" panose="05000000000000000000" pitchFamily="2" charset="2"/>
              <a:buChar char="§"/>
            </a:pPr>
            <a:r>
              <a:rPr lang="en-US" sz="2400" dirty="0">
                <a:latin typeface="+mj-lt"/>
              </a:rPr>
              <a:t>Traditional approach – Five Cs of credit</a:t>
            </a:r>
          </a:p>
          <a:p>
            <a:pPr marL="1071563" algn="just">
              <a:lnSpc>
                <a:spcPct val="105000"/>
              </a:lnSpc>
              <a:buSzPct val="100000"/>
              <a:buFont typeface="Wingdings" panose="05000000000000000000" pitchFamily="2" charset="2"/>
              <a:buChar char="§"/>
            </a:pPr>
            <a:r>
              <a:rPr lang="en-US" sz="2400" dirty="0">
                <a:latin typeface="+mj-lt"/>
              </a:rPr>
              <a:t>Capital – financial position of customer</a:t>
            </a:r>
          </a:p>
          <a:p>
            <a:pPr marL="1071563" algn="just">
              <a:lnSpc>
                <a:spcPct val="105000"/>
              </a:lnSpc>
              <a:buSzPct val="100000"/>
              <a:buFont typeface="Wingdings" panose="05000000000000000000" pitchFamily="2" charset="2"/>
              <a:buChar char="§"/>
            </a:pPr>
            <a:r>
              <a:rPr lang="en-US" sz="2400" dirty="0">
                <a:latin typeface="+mj-lt"/>
              </a:rPr>
              <a:t>Collateral – what assets can be used to secure payment</a:t>
            </a:r>
          </a:p>
          <a:p>
            <a:pPr marL="1071563" algn="just">
              <a:lnSpc>
                <a:spcPct val="105000"/>
              </a:lnSpc>
              <a:buSzPct val="100000"/>
              <a:buFont typeface="Wingdings" panose="05000000000000000000" pitchFamily="2" charset="2"/>
              <a:buChar char="§"/>
            </a:pPr>
            <a:r>
              <a:rPr lang="en-US" sz="2400" dirty="0">
                <a:latin typeface="+mj-lt"/>
              </a:rPr>
              <a:t>Character – willingness of customer to pay</a:t>
            </a:r>
          </a:p>
          <a:p>
            <a:pPr marL="1071563" algn="just">
              <a:lnSpc>
                <a:spcPct val="105000"/>
              </a:lnSpc>
              <a:buSzPct val="100000"/>
              <a:buFont typeface="Wingdings" panose="05000000000000000000" pitchFamily="2" charset="2"/>
              <a:buChar char="§"/>
            </a:pPr>
            <a:r>
              <a:rPr lang="en-US" sz="2400" dirty="0">
                <a:latin typeface="+mj-lt"/>
              </a:rPr>
              <a:t>Capacity – ability to pay by due date</a:t>
            </a:r>
          </a:p>
          <a:p>
            <a:pPr marL="1071563" algn="just">
              <a:lnSpc>
                <a:spcPct val="105000"/>
              </a:lnSpc>
              <a:buSzPct val="100000"/>
              <a:buFont typeface="Wingdings" panose="05000000000000000000" pitchFamily="2" charset="2"/>
              <a:buChar char="§"/>
            </a:pPr>
            <a:r>
              <a:rPr lang="en-US" sz="2400" dirty="0">
                <a:latin typeface="+mj-lt"/>
              </a:rPr>
              <a:t>Conditions – economic and political environment</a:t>
            </a:r>
          </a:p>
        </p:txBody>
      </p:sp>
    </p:spTree>
    <p:custDataLst>
      <p:tags r:id="rId1"/>
    </p:custDataLst>
    <p:extLst>
      <p:ext uri="{BB962C8B-B14F-4D97-AF65-F5344CB8AC3E}">
        <p14:creationId xmlns:p14="http://schemas.microsoft.com/office/powerpoint/2010/main" val="2352740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C1C205-9A29-28A3-3076-45F29639991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0F88938-4591-9822-F4E1-4F86761A20EA}"/>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899AF1E6-B961-4BA7-BC52-35D392085D8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
        <p:nvSpPr>
          <p:cNvPr id="4" name="Rectangle 5">
            <a:extLst>
              <a:ext uri="{FF2B5EF4-FFF2-40B4-BE49-F238E27FC236}">
                <a16:creationId xmlns:a16="http://schemas.microsoft.com/office/drawing/2014/main" id="{4662474B-F2A7-AE6F-ECE6-C2E624C74113}"/>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a:p>
            <a:pPr algn="just">
              <a:lnSpc>
                <a:spcPct val="105000"/>
              </a:lnSpc>
              <a:buSzPct val="100000"/>
              <a:buFont typeface="Arial" panose="020B0604020202020204" pitchFamily="34" charset="0"/>
              <a:buChar char="•"/>
            </a:pPr>
            <a:r>
              <a:rPr lang="en-US" sz="2400" dirty="0">
                <a:latin typeface="+mj-lt"/>
              </a:rPr>
              <a:t>Credit analysis (cont.)</a:t>
            </a:r>
          </a:p>
          <a:p>
            <a:pPr marL="717550" algn="just">
              <a:lnSpc>
                <a:spcPct val="105000"/>
              </a:lnSpc>
              <a:buSzPct val="100000"/>
              <a:buFont typeface="Wingdings" panose="05000000000000000000" pitchFamily="2" charset="2"/>
              <a:buChar char="§"/>
            </a:pPr>
            <a:r>
              <a:rPr lang="en-US" sz="2400" dirty="0">
                <a:latin typeface="+mj-lt"/>
              </a:rPr>
              <a:t>Judgement scoring system – credit scoring method aimed at objectively assessing creditworthiness of potential customers</a:t>
            </a:r>
          </a:p>
          <a:p>
            <a:pPr marL="717550" algn="just">
              <a:lnSpc>
                <a:spcPct val="105000"/>
              </a:lnSpc>
              <a:buSzPct val="100000"/>
              <a:buFont typeface="Wingdings" panose="05000000000000000000" pitchFamily="2" charset="2"/>
              <a:buChar char="§"/>
            </a:pPr>
            <a:r>
              <a:rPr lang="en-US" sz="2400" dirty="0">
                <a:latin typeface="+mj-lt"/>
              </a:rPr>
              <a:t>See Table 10.2 and Table 10.3</a:t>
            </a:r>
          </a:p>
          <a:p>
            <a:pPr marL="717550" algn="just">
              <a:lnSpc>
                <a:spcPct val="105000"/>
              </a:lnSpc>
              <a:buSzPct val="100000"/>
              <a:buFont typeface="Wingdings" panose="05000000000000000000" pitchFamily="2" charset="2"/>
              <a:buChar char="§"/>
            </a:pPr>
            <a:r>
              <a:rPr lang="en-US" sz="2400" dirty="0">
                <a:latin typeface="+mj-lt"/>
              </a:rPr>
              <a:t>Net present value model – consider owners’ wealth </a:t>
            </a:r>
            <a:r>
              <a:rPr lang="en-US" sz="2400" dirty="0" err="1">
                <a:latin typeface="+mj-lt"/>
              </a:rPr>
              <a:t>maximisation</a:t>
            </a:r>
            <a:endParaRPr lang="en-US" sz="2400" dirty="0">
              <a:latin typeface="+mj-lt"/>
            </a:endParaRPr>
          </a:p>
        </p:txBody>
      </p:sp>
    </p:spTree>
    <p:custDataLst>
      <p:tags r:id="rId1"/>
    </p:custDataLst>
    <p:extLst>
      <p:ext uri="{BB962C8B-B14F-4D97-AF65-F5344CB8AC3E}">
        <p14:creationId xmlns:p14="http://schemas.microsoft.com/office/powerpoint/2010/main" val="1603475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4873243-5E35-EF6C-C960-3BFF7600A9D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45CA38F-B7B4-8634-8020-E8FF3233C818}"/>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792DB709-B661-C0E6-6FC4-12848CA0276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graphicFrame>
        <p:nvGraphicFramePr>
          <p:cNvPr id="2" name="Table 1">
            <a:extLst>
              <a:ext uri="{FF2B5EF4-FFF2-40B4-BE49-F238E27FC236}">
                <a16:creationId xmlns:a16="http://schemas.microsoft.com/office/drawing/2014/main" id="{76803FDC-52ED-A10B-1E0A-0AF38AC41440}"/>
              </a:ext>
            </a:extLst>
          </p:cNvPr>
          <p:cNvGraphicFramePr>
            <a:graphicFrameLocks noGrp="1"/>
          </p:cNvGraphicFramePr>
          <p:nvPr>
            <p:extLst>
              <p:ext uri="{D42A27DB-BD31-4B8C-83A1-F6EECF244321}">
                <p14:modId xmlns:p14="http://schemas.microsoft.com/office/powerpoint/2010/main" val="3758462035"/>
              </p:ext>
            </p:extLst>
          </p:nvPr>
        </p:nvGraphicFramePr>
        <p:xfrm>
          <a:off x="76200" y="990600"/>
          <a:ext cx="9000000" cy="3672003"/>
        </p:xfrm>
        <a:graphic>
          <a:graphicData uri="http://schemas.openxmlformats.org/drawingml/2006/table">
            <a:tbl>
              <a:tblPr firstRow="1" bandRow="1">
                <a:tableStyleId>{5C22544A-7EE6-4342-B048-85BDC9FD1C3A}</a:tableStyleId>
              </a:tblPr>
              <a:tblGrid>
                <a:gridCol w="2250000">
                  <a:extLst>
                    <a:ext uri="{9D8B030D-6E8A-4147-A177-3AD203B41FA5}">
                      <a16:colId xmlns:a16="http://schemas.microsoft.com/office/drawing/2014/main" val="3071802378"/>
                    </a:ext>
                  </a:extLst>
                </a:gridCol>
                <a:gridCol w="2250000">
                  <a:extLst>
                    <a:ext uri="{9D8B030D-6E8A-4147-A177-3AD203B41FA5}">
                      <a16:colId xmlns:a16="http://schemas.microsoft.com/office/drawing/2014/main" val="880862863"/>
                    </a:ext>
                  </a:extLst>
                </a:gridCol>
                <a:gridCol w="2250000">
                  <a:extLst>
                    <a:ext uri="{9D8B030D-6E8A-4147-A177-3AD203B41FA5}">
                      <a16:colId xmlns:a16="http://schemas.microsoft.com/office/drawing/2014/main" val="2637074701"/>
                    </a:ext>
                  </a:extLst>
                </a:gridCol>
                <a:gridCol w="2250000">
                  <a:extLst>
                    <a:ext uri="{9D8B030D-6E8A-4147-A177-3AD203B41FA5}">
                      <a16:colId xmlns:a16="http://schemas.microsoft.com/office/drawing/2014/main" val="1731959285"/>
                    </a:ext>
                  </a:extLst>
                </a:gridCol>
              </a:tblGrid>
              <a:tr h="651531">
                <a:tc>
                  <a:txBody>
                    <a:bodyPr/>
                    <a:lstStyle/>
                    <a:p>
                      <a:r>
                        <a:rPr lang="en-US" dirty="0"/>
                        <a:t>Characteristic</a:t>
                      </a:r>
                      <a:endParaRPr lang="en-ZA" dirty="0"/>
                    </a:p>
                  </a:txBody>
                  <a:tcPr/>
                </a:tc>
                <a:tc>
                  <a:txBody>
                    <a:bodyPr/>
                    <a:lstStyle/>
                    <a:p>
                      <a:r>
                        <a:rPr lang="en-US" dirty="0"/>
                        <a:t>Score (0-100)</a:t>
                      </a:r>
                      <a:endParaRPr lang="en-ZA" dirty="0"/>
                    </a:p>
                  </a:txBody>
                  <a:tcPr/>
                </a:tc>
                <a:tc>
                  <a:txBody>
                    <a:bodyPr/>
                    <a:lstStyle/>
                    <a:p>
                      <a:r>
                        <a:rPr lang="en-US" dirty="0"/>
                        <a:t>Predetermined weight</a:t>
                      </a:r>
                      <a:endParaRPr lang="en-ZA" dirty="0"/>
                    </a:p>
                  </a:txBody>
                  <a:tcPr/>
                </a:tc>
                <a:tc>
                  <a:txBody>
                    <a:bodyPr/>
                    <a:lstStyle/>
                    <a:p>
                      <a:r>
                        <a:rPr lang="en-US" dirty="0"/>
                        <a:t>Weighted score</a:t>
                      </a:r>
                      <a:endParaRPr lang="en-ZA" dirty="0"/>
                    </a:p>
                  </a:txBody>
                  <a:tcPr/>
                </a:tc>
                <a:extLst>
                  <a:ext uri="{0D108BD9-81ED-4DB2-BD59-A6C34878D82A}">
                    <a16:rowId xmlns:a16="http://schemas.microsoft.com/office/drawing/2014/main" val="865391460"/>
                  </a:ext>
                </a:extLst>
              </a:tr>
              <a:tr h="431496">
                <a:tc>
                  <a:txBody>
                    <a:bodyPr/>
                    <a:lstStyle/>
                    <a:p>
                      <a:pPr algn="l"/>
                      <a:r>
                        <a:rPr lang="en-US" dirty="0"/>
                        <a:t>Credit references</a:t>
                      </a:r>
                      <a:endParaRPr lang="en-ZA" dirty="0"/>
                    </a:p>
                  </a:txBody>
                  <a:tcPr anchor="ctr"/>
                </a:tc>
                <a:tc>
                  <a:txBody>
                    <a:bodyPr/>
                    <a:lstStyle/>
                    <a:p>
                      <a:pPr algn="ctr"/>
                      <a:r>
                        <a:rPr lang="en-US" dirty="0"/>
                        <a:t>80</a:t>
                      </a:r>
                      <a:endParaRPr lang="en-ZA" dirty="0"/>
                    </a:p>
                  </a:txBody>
                  <a:tcPr anchor="ctr"/>
                </a:tc>
                <a:tc>
                  <a:txBody>
                    <a:bodyPr/>
                    <a:lstStyle/>
                    <a:p>
                      <a:pPr algn="ctr"/>
                      <a:r>
                        <a:rPr lang="en-US" dirty="0"/>
                        <a:t>0.25</a:t>
                      </a:r>
                      <a:endParaRPr lang="en-ZA" dirty="0"/>
                    </a:p>
                  </a:txBody>
                  <a:tcPr anchor="ctr"/>
                </a:tc>
                <a:tc>
                  <a:txBody>
                    <a:bodyPr/>
                    <a:lstStyle/>
                    <a:p>
                      <a:pPr algn="ctr"/>
                      <a:r>
                        <a:rPr lang="en-US" dirty="0"/>
                        <a:t>20.00</a:t>
                      </a:r>
                      <a:endParaRPr lang="en-ZA" dirty="0"/>
                    </a:p>
                  </a:txBody>
                  <a:tcPr anchor="ctr"/>
                </a:tc>
                <a:extLst>
                  <a:ext uri="{0D108BD9-81ED-4DB2-BD59-A6C34878D82A}">
                    <a16:rowId xmlns:a16="http://schemas.microsoft.com/office/drawing/2014/main" val="1270513000"/>
                  </a:ext>
                </a:extLst>
              </a:tr>
              <a:tr h="431496">
                <a:tc>
                  <a:txBody>
                    <a:bodyPr/>
                    <a:lstStyle/>
                    <a:p>
                      <a:pPr algn="l"/>
                      <a:r>
                        <a:rPr lang="en-US" dirty="0"/>
                        <a:t>Home ownership</a:t>
                      </a:r>
                      <a:endParaRPr lang="en-ZA" dirty="0"/>
                    </a:p>
                  </a:txBody>
                  <a:tcPr anchor="ctr"/>
                </a:tc>
                <a:tc>
                  <a:txBody>
                    <a:bodyPr/>
                    <a:lstStyle/>
                    <a:p>
                      <a:pPr algn="ctr"/>
                      <a:r>
                        <a:rPr lang="en-US" dirty="0"/>
                        <a:t>100</a:t>
                      </a:r>
                      <a:endParaRPr lang="en-ZA" dirty="0"/>
                    </a:p>
                  </a:txBody>
                  <a:tcPr anchor="ctr"/>
                </a:tc>
                <a:tc>
                  <a:txBody>
                    <a:bodyPr/>
                    <a:lstStyle/>
                    <a:p>
                      <a:pPr algn="ctr"/>
                      <a:r>
                        <a:rPr lang="en-US" dirty="0"/>
                        <a:t>0.20</a:t>
                      </a:r>
                      <a:endParaRPr lang="en-ZA" dirty="0"/>
                    </a:p>
                  </a:txBody>
                  <a:tcPr anchor="ctr"/>
                </a:tc>
                <a:tc>
                  <a:txBody>
                    <a:bodyPr/>
                    <a:lstStyle/>
                    <a:p>
                      <a:pPr algn="ctr"/>
                      <a:r>
                        <a:rPr lang="en-US" dirty="0"/>
                        <a:t>20.00</a:t>
                      </a:r>
                      <a:endParaRPr lang="en-ZA" dirty="0"/>
                    </a:p>
                  </a:txBody>
                  <a:tcPr anchor="ctr"/>
                </a:tc>
                <a:extLst>
                  <a:ext uri="{0D108BD9-81ED-4DB2-BD59-A6C34878D82A}">
                    <a16:rowId xmlns:a16="http://schemas.microsoft.com/office/drawing/2014/main" val="1926831219"/>
                  </a:ext>
                </a:extLst>
              </a:tr>
              <a:tr h="431496">
                <a:tc>
                  <a:txBody>
                    <a:bodyPr/>
                    <a:lstStyle/>
                    <a:p>
                      <a:pPr algn="l"/>
                      <a:r>
                        <a:rPr lang="en-US" dirty="0"/>
                        <a:t>Income range</a:t>
                      </a:r>
                      <a:endParaRPr lang="en-ZA" dirty="0"/>
                    </a:p>
                  </a:txBody>
                  <a:tcPr anchor="ctr"/>
                </a:tc>
                <a:tc>
                  <a:txBody>
                    <a:bodyPr/>
                    <a:lstStyle/>
                    <a:p>
                      <a:pPr algn="ctr"/>
                      <a:r>
                        <a:rPr lang="en-US" dirty="0"/>
                        <a:t>60</a:t>
                      </a:r>
                      <a:endParaRPr lang="en-ZA" dirty="0"/>
                    </a:p>
                  </a:txBody>
                  <a:tcPr anchor="ctr"/>
                </a:tc>
                <a:tc>
                  <a:txBody>
                    <a:bodyPr/>
                    <a:lstStyle/>
                    <a:p>
                      <a:pPr algn="ctr"/>
                      <a:r>
                        <a:rPr lang="en-US" dirty="0"/>
                        <a:t>0.15</a:t>
                      </a:r>
                      <a:endParaRPr lang="en-ZA" dirty="0"/>
                    </a:p>
                  </a:txBody>
                  <a:tcPr anchor="ctr"/>
                </a:tc>
                <a:tc>
                  <a:txBody>
                    <a:bodyPr/>
                    <a:lstStyle/>
                    <a:p>
                      <a:pPr algn="ctr"/>
                      <a:r>
                        <a:rPr lang="en-US" dirty="0"/>
                        <a:t>9.00</a:t>
                      </a:r>
                      <a:endParaRPr lang="en-ZA" dirty="0"/>
                    </a:p>
                  </a:txBody>
                  <a:tcPr anchor="ctr"/>
                </a:tc>
                <a:extLst>
                  <a:ext uri="{0D108BD9-81ED-4DB2-BD59-A6C34878D82A}">
                    <a16:rowId xmlns:a16="http://schemas.microsoft.com/office/drawing/2014/main" val="2063850884"/>
                  </a:ext>
                </a:extLst>
              </a:tr>
              <a:tr h="431496">
                <a:tc>
                  <a:txBody>
                    <a:bodyPr/>
                    <a:lstStyle/>
                    <a:p>
                      <a:pPr algn="l"/>
                      <a:r>
                        <a:rPr lang="en-US" dirty="0"/>
                        <a:t>Payment history</a:t>
                      </a:r>
                      <a:endParaRPr lang="en-ZA" dirty="0"/>
                    </a:p>
                  </a:txBody>
                  <a:tcPr anchor="ctr"/>
                </a:tc>
                <a:tc>
                  <a:txBody>
                    <a:bodyPr/>
                    <a:lstStyle/>
                    <a:p>
                      <a:pPr algn="ctr"/>
                      <a:r>
                        <a:rPr lang="en-US" dirty="0"/>
                        <a:t>90</a:t>
                      </a:r>
                      <a:endParaRPr lang="en-ZA" dirty="0"/>
                    </a:p>
                  </a:txBody>
                  <a:tcPr anchor="ctr"/>
                </a:tc>
                <a:tc>
                  <a:txBody>
                    <a:bodyPr/>
                    <a:lstStyle/>
                    <a:p>
                      <a:pPr algn="ctr"/>
                      <a:r>
                        <a:rPr lang="en-US" dirty="0"/>
                        <a:t>0.15</a:t>
                      </a:r>
                      <a:endParaRPr lang="en-ZA" dirty="0"/>
                    </a:p>
                  </a:txBody>
                  <a:tcPr anchor="ctr"/>
                </a:tc>
                <a:tc>
                  <a:txBody>
                    <a:bodyPr/>
                    <a:lstStyle/>
                    <a:p>
                      <a:pPr algn="ctr"/>
                      <a:r>
                        <a:rPr lang="en-US" dirty="0"/>
                        <a:t>13.50</a:t>
                      </a:r>
                      <a:endParaRPr lang="en-ZA" dirty="0"/>
                    </a:p>
                  </a:txBody>
                  <a:tcPr anchor="ctr"/>
                </a:tc>
                <a:extLst>
                  <a:ext uri="{0D108BD9-81ED-4DB2-BD59-A6C34878D82A}">
                    <a16:rowId xmlns:a16="http://schemas.microsoft.com/office/drawing/2014/main" val="2599017605"/>
                  </a:ext>
                </a:extLst>
              </a:tr>
              <a:tr h="431496">
                <a:tc>
                  <a:txBody>
                    <a:bodyPr/>
                    <a:lstStyle/>
                    <a:p>
                      <a:pPr algn="l"/>
                      <a:r>
                        <a:rPr lang="en-US" dirty="0"/>
                        <a:t>Years at address</a:t>
                      </a:r>
                      <a:endParaRPr lang="en-ZA" dirty="0"/>
                    </a:p>
                  </a:txBody>
                  <a:tcPr anchor="ctr"/>
                </a:tc>
                <a:tc>
                  <a:txBody>
                    <a:bodyPr/>
                    <a:lstStyle/>
                    <a:p>
                      <a:pPr algn="ctr"/>
                      <a:r>
                        <a:rPr lang="en-US" dirty="0"/>
                        <a:t>70</a:t>
                      </a:r>
                      <a:endParaRPr lang="en-ZA" dirty="0"/>
                    </a:p>
                  </a:txBody>
                  <a:tcPr anchor="ctr"/>
                </a:tc>
                <a:tc>
                  <a:txBody>
                    <a:bodyPr/>
                    <a:lstStyle/>
                    <a:p>
                      <a:pPr algn="ctr"/>
                      <a:r>
                        <a:rPr lang="en-US" dirty="0"/>
                        <a:t>0.10</a:t>
                      </a:r>
                      <a:endParaRPr lang="en-ZA" dirty="0"/>
                    </a:p>
                  </a:txBody>
                  <a:tcPr anchor="ctr"/>
                </a:tc>
                <a:tc>
                  <a:txBody>
                    <a:bodyPr/>
                    <a:lstStyle/>
                    <a:p>
                      <a:pPr algn="ctr"/>
                      <a:r>
                        <a:rPr lang="en-US" dirty="0"/>
                        <a:t>7.00</a:t>
                      </a:r>
                      <a:endParaRPr lang="en-ZA" dirty="0"/>
                    </a:p>
                  </a:txBody>
                  <a:tcPr anchor="ctr"/>
                </a:tc>
                <a:extLst>
                  <a:ext uri="{0D108BD9-81ED-4DB2-BD59-A6C34878D82A}">
                    <a16:rowId xmlns:a16="http://schemas.microsoft.com/office/drawing/2014/main" val="950008034"/>
                  </a:ext>
                </a:extLst>
              </a:tr>
              <a:tr h="431496">
                <a:tc>
                  <a:txBody>
                    <a:bodyPr/>
                    <a:lstStyle/>
                    <a:p>
                      <a:pPr algn="l"/>
                      <a:r>
                        <a:rPr lang="en-US" dirty="0"/>
                        <a:t>Years in job</a:t>
                      </a:r>
                      <a:endParaRPr lang="en-ZA" dirty="0"/>
                    </a:p>
                  </a:txBody>
                  <a:tcPr anchor="ctr"/>
                </a:tc>
                <a:tc>
                  <a:txBody>
                    <a:bodyPr/>
                    <a:lstStyle/>
                    <a:p>
                      <a:pPr algn="ctr"/>
                      <a:r>
                        <a:rPr lang="en-US" dirty="0"/>
                        <a:t>70</a:t>
                      </a:r>
                      <a:endParaRPr lang="en-ZA" dirty="0"/>
                    </a:p>
                  </a:txBody>
                  <a:tcPr anchor="ctr"/>
                </a:tc>
                <a:tc>
                  <a:txBody>
                    <a:bodyPr/>
                    <a:lstStyle/>
                    <a:p>
                      <a:pPr algn="ctr"/>
                      <a:r>
                        <a:rPr lang="en-US" dirty="0"/>
                        <a:t>0.15</a:t>
                      </a:r>
                      <a:endParaRPr lang="en-ZA" dirty="0"/>
                    </a:p>
                  </a:txBody>
                  <a:tcPr anchor="ctr">
                    <a:lnB w="12700" cap="flat" cmpd="sng" algn="ctr">
                      <a:solidFill>
                        <a:schemeClr val="tx1"/>
                      </a:solidFill>
                      <a:prstDash val="solid"/>
                      <a:round/>
                      <a:headEnd type="none" w="med" len="med"/>
                      <a:tailEnd type="none" w="med" len="med"/>
                    </a:lnB>
                  </a:tcPr>
                </a:tc>
                <a:tc>
                  <a:txBody>
                    <a:bodyPr/>
                    <a:lstStyle/>
                    <a:p>
                      <a:pPr algn="ctr"/>
                      <a:r>
                        <a:rPr lang="en-US" dirty="0"/>
                        <a:t>10.50</a:t>
                      </a:r>
                      <a:endParaRPr lang="en-ZA"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8157451"/>
                  </a:ext>
                </a:extLst>
              </a:tr>
              <a:tr h="431496">
                <a:tc>
                  <a:txBody>
                    <a:bodyPr/>
                    <a:lstStyle/>
                    <a:p>
                      <a:pPr algn="l"/>
                      <a:r>
                        <a:rPr lang="en-US" b="1" dirty="0"/>
                        <a:t>TOTAL</a:t>
                      </a:r>
                      <a:endParaRPr lang="en-ZA" b="1" dirty="0"/>
                    </a:p>
                  </a:txBody>
                  <a:tcPr anchor="ctr"/>
                </a:tc>
                <a:tc>
                  <a:txBody>
                    <a:bodyPr/>
                    <a:lstStyle/>
                    <a:p>
                      <a:pPr algn="ctr"/>
                      <a:endParaRPr lang="en-ZA" b="1" dirty="0"/>
                    </a:p>
                  </a:txBody>
                  <a:tcPr anchor="ctr"/>
                </a:tc>
                <a:tc>
                  <a:txBody>
                    <a:bodyPr/>
                    <a:lstStyle/>
                    <a:p>
                      <a:pPr algn="ctr"/>
                      <a:r>
                        <a:rPr lang="en-US" b="1" dirty="0"/>
                        <a:t>1.00</a:t>
                      </a:r>
                      <a:endParaRPr lang="en-ZA" b="1" dirty="0"/>
                    </a:p>
                  </a:txBody>
                  <a:tcPr anchor="ct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b="1" dirty="0"/>
                        <a:t>80.00</a:t>
                      </a:r>
                      <a:endParaRPr lang="en-ZA" b="1" dirty="0"/>
                    </a:p>
                  </a:txBody>
                  <a:tcPr anchor="ct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141423"/>
                  </a:ext>
                </a:extLst>
              </a:tr>
            </a:tbl>
          </a:graphicData>
        </a:graphic>
      </p:graphicFrame>
      <p:graphicFrame>
        <p:nvGraphicFramePr>
          <p:cNvPr id="7" name="Table 6">
            <a:extLst>
              <a:ext uri="{FF2B5EF4-FFF2-40B4-BE49-F238E27FC236}">
                <a16:creationId xmlns:a16="http://schemas.microsoft.com/office/drawing/2014/main" id="{09ACBD52-09B3-B252-49CC-BA95423C828B}"/>
              </a:ext>
            </a:extLst>
          </p:cNvPr>
          <p:cNvGraphicFramePr>
            <a:graphicFrameLocks noGrp="1"/>
          </p:cNvGraphicFramePr>
          <p:nvPr>
            <p:extLst>
              <p:ext uri="{D42A27DB-BD31-4B8C-83A1-F6EECF244321}">
                <p14:modId xmlns:p14="http://schemas.microsoft.com/office/powerpoint/2010/main" val="1271909449"/>
              </p:ext>
            </p:extLst>
          </p:nvPr>
        </p:nvGraphicFramePr>
        <p:xfrm>
          <a:off x="76200" y="4840410"/>
          <a:ext cx="8991600" cy="1867521"/>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861572546"/>
                    </a:ext>
                  </a:extLst>
                </a:gridCol>
                <a:gridCol w="6781800">
                  <a:extLst>
                    <a:ext uri="{9D8B030D-6E8A-4147-A177-3AD203B41FA5}">
                      <a16:colId xmlns:a16="http://schemas.microsoft.com/office/drawing/2014/main" val="1952589943"/>
                    </a:ext>
                  </a:extLst>
                </a:gridCol>
              </a:tblGrid>
              <a:tr h="409147">
                <a:tc>
                  <a:txBody>
                    <a:bodyPr/>
                    <a:lstStyle/>
                    <a:p>
                      <a:r>
                        <a:rPr lang="en-US" dirty="0"/>
                        <a:t>Credit score</a:t>
                      </a:r>
                      <a:endParaRPr lang="en-ZA" dirty="0"/>
                    </a:p>
                  </a:txBody>
                  <a:tcPr/>
                </a:tc>
                <a:tc>
                  <a:txBody>
                    <a:bodyPr/>
                    <a:lstStyle/>
                    <a:p>
                      <a:endParaRPr lang="en-ZA"/>
                    </a:p>
                  </a:txBody>
                  <a:tcPr/>
                </a:tc>
                <a:extLst>
                  <a:ext uri="{0D108BD9-81ED-4DB2-BD59-A6C34878D82A}">
                    <a16:rowId xmlns:a16="http://schemas.microsoft.com/office/drawing/2014/main" val="2276513569"/>
                  </a:ext>
                </a:extLst>
              </a:tr>
              <a:tr h="409147">
                <a:tc>
                  <a:txBody>
                    <a:bodyPr/>
                    <a:lstStyle/>
                    <a:p>
                      <a:r>
                        <a:rPr lang="en-US" dirty="0"/>
                        <a:t>Greater than 75</a:t>
                      </a:r>
                      <a:endParaRPr lang="en-ZA" dirty="0"/>
                    </a:p>
                  </a:txBody>
                  <a:tcPr/>
                </a:tc>
                <a:tc>
                  <a:txBody>
                    <a:bodyPr/>
                    <a:lstStyle/>
                    <a:p>
                      <a:r>
                        <a:rPr lang="en-US" dirty="0"/>
                        <a:t>Extend standard credit terms</a:t>
                      </a:r>
                      <a:endParaRPr lang="en-ZA" dirty="0"/>
                    </a:p>
                  </a:txBody>
                  <a:tcPr/>
                </a:tc>
                <a:extLst>
                  <a:ext uri="{0D108BD9-81ED-4DB2-BD59-A6C34878D82A}">
                    <a16:rowId xmlns:a16="http://schemas.microsoft.com/office/drawing/2014/main" val="4221879758"/>
                  </a:ext>
                </a:extLst>
              </a:tr>
              <a:tr h="409147">
                <a:tc>
                  <a:txBody>
                    <a:bodyPr/>
                    <a:lstStyle/>
                    <a:p>
                      <a:r>
                        <a:rPr lang="en-US" dirty="0"/>
                        <a:t>60-74</a:t>
                      </a:r>
                      <a:endParaRPr lang="en-ZA" dirty="0"/>
                    </a:p>
                  </a:txBody>
                  <a:tcPr/>
                </a:tc>
                <a:tc>
                  <a:txBody>
                    <a:bodyPr/>
                    <a:lstStyle/>
                    <a:p>
                      <a:r>
                        <a:rPr lang="en-US" dirty="0"/>
                        <a:t>Extend limited credit; if account is properly maintained, it can be converted to standard credit terms after one year</a:t>
                      </a:r>
                      <a:endParaRPr lang="en-ZA" dirty="0"/>
                    </a:p>
                  </a:txBody>
                  <a:tcPr/>
                </a:tc>
                <a:extLst>
                  <a:ext uri="{0D108BD9-81ED-4DB2-BD59-A6C34878D82A}">
                    <a16:rowId xmlns:a16="http://schemas.microsoft.com/office/drawing/2014/main" val="3218156743"/>
                  </a:ext>
                </a:extLst>
              </a:tr>
              <a:tr h="409147">
                <a:tc>
                  <a:txBody>
                    <a:bodyPr/>
                    <a:lstStyle/>
                    <a:p>
                      <a:r>
                        <a:rPr lang="en-US" dirty="0"/>
                        <a:t>Less than 60</a:t>
                      </a:r>
                      <a:endParaRPr lang="en-ZA" dirty="0"/>
                    </a:p>
                  </a:txBody>
                  <a:tcPr/>
                </a:tc>
                <a:tc>
                  <a:txBody>
                    <a:bodyPr/>
                    <a:lstStyle/>
                    <a:p>
                      <a:r>
                        <a:rPr lang="en-US" dirty="0"/>
                        <a:t>Reject application</a:t>
                      </a:r>
                      <a:endParaRPr lang="en-ZA" dirty="0"/>
                    </a:p>
                  </a:txBody>
                  <a:tcPr/>
                </a:tc>
                <a:extLst>
                  <a:ext uri="{0D108BD9-81ED-4DB2-BD59-A6C34878D82A}">
                    <a16:rowId xmlns:a16="http://schemas.microsoft.com/office/drawing/2014/main" val="3089297944"/>
                  </a:ext>
                </a:extLst>
              </a:tr>
            </a:tbl>
          </a:graphicData>
        </a:graphic>
      </p:graphicFrame>
    </p:spTree>
    <p:custDataLst>
      <p:tags r:id="rId1"/>
    </p:custDataLst>
    <p:extLst>
      <p:ext uri="{BB962C8B-B14F-4D97-AF65-F5344CB8AC3E}">
        <p14:creationId xmlns:p14="http://schemas.microsoft.com/office/powerpoint/2010/main" val="1585165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D8EBA5D-128C-B844-AC3A-CD544520403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FA11731-D137-482C-DB69-3D9523C5C10D}"/>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F1BDAC7D-E8AF-984D-B3DA-F1A34E6CCA1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sp>
        <p:nvSpPr>
          <p:cNvPr id="4" name="Rectangle 5">
            <a:extLst>
              <a:ext uri="{FF2B5EF4-FFF2-40B4-BE49-F238E27FC236}">
                <a16:creationId xmlns:a16="http://schemas.microsoft.com/office/drawing/2014/main" id="{AA46DB4B-62E3-4078-3C75-14F010B3C2EA}"/>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a:p>
            <a:pPr algn="just">
              <a:lnSpc>
                <a:spcPct val="105000"/>
              </a:lnSpc>
              <a:buSzPct val="100000"/>
              <a:buFont typeface="Arial" panose="020B0604020202020204" pitchFamily="34" charset="0"/>
              <a:buChar char="•"/>
            </a:pPr>
            <a:r>
              <a:rPr lang="en-US" sz="2400" dirty="0">
                <a:latin typeface="+mj-lt"/>
              </a:rPr>
              <a:t>Credit standards</a:t>
            </a:r>
          </a:p>
          <a:p>
            <a:pPr marL="717550" algn="just">
              <a:lnSpc>
                <a:spcPct val="105000"/>
              </a:lnSpc>
              <a:buSzPct val="100000"/>
              <a:buFont typeface="Wingdings" panose="05000000000000000000" pitchFamily="2" charset="2"/>
              <a:buChar char="§"/>
            </a:pPr>
            <a:r>
              <a:rPr lang="en-US" sz="2400" dirty="0">
                <a:latin typeface="+mj-lt"/>
              </a:rPr>
              <a:t>Minimum requirements for extending credit to a customer</a:t>
            </a:r>
          </a:p>
          <a:p>
            <a:pPr marL="717550" algn="just">
              <a:lnSpc>
                <a:spcPct val="105000"/>
              </a:lnSpc>
              <a:buSzPct val="100000"/>
              <a:buFont typeface="Wingdings" panose="05000000000000000000" pitchFamily="2" charset="2"/>
              <a:buChar char="§"/>
            </a:pPr>
            <a:r>
              <a:rPr lang="en-US" sz="2400" dirty="0">
                <a:latin typeface="+mj-lt"/>
              </a:rPr>
              <a:t>Tightness or relaxing of credit standards</a:t>
            </a:r>
          </a:p>
          <a:p>
            <a:pPr marL="1071563" algn="just">
              <a:lnSpc>
                <a:spcPct val="105000"/>
              </a:lnSpc>
              <a:buSzPct val="100000"/>
              <a:buFont typeface="Wingdings" panose="05000000000000000000" pitchFamily="2" charset="2"/>
              <a:buChar char="§"/>
            </a:pPr>
            <a:r>
              <a:rPr lang="en-US" sz="2400" dirty="0">
                <a:latin typeface="+mj-lt"/>
              </a:rPr>
              <a:t>Sales volume – relaxing increase sales</a:t>
            </a:r>
          </a:p>
          <a:p>
            <a:pPr marL="1071563" algn="just">
              <a:lnSpc>
                <a:spcPct val="105000"/>
              </a:lnSpc>
              <a:buSzPct val="100000"/>
              <a:buFont typeface="Wingdings" panose="05000000000000000000" pitchFamily="2" charset="2"/>
              <a:buChar char="§"/>
            </a:pPr>
            <a:r>
              <a:rPr lang="en-US" sz="2400" dirty="0">
                <a:latin typeface="+mj-lt"/>
              </a:rPr>
              <a:t>Investment in AR – funds tied up and not available for investment in other opportunities</a:t>
            </a:r>
          </a:p>
          <a:p>
            <a:pPr marL="1071563" algn="just">
              <a:lnSpc>
                <a:spcPct val="105000"/>
              </a:lnSpc>
              <a:buSzPct val="100000"/>
              <a:buFont typeface="Wingdings" panose="05000000000000000000" pitchFamily="2" charset="2"/>
              <a:buChar char="§"/>
            </a:pPr>
            <a:r>
              <a:rPr lang="en-US" sz="2400" dirty="0">
                <a:latin typeface="+mj-lt"/>
              </a:rPr>
              <a:t>Bad debt costs – relaxing increase bad debt</a:t>
            </a:r>
          </a:p>
          <a:p>
            <a:pPr algn="just">
              <a:lnSpc>
                <a:spcPct val="105000"/>
              </a:lnSpc>
              <a:buSzPct val="100000"/>
              <a:buFont typeface="Arial" panose="020B0604020202020204" pitchFamily="34" charset="0"/>
              <a:buChar char="•"/>
            </a:pPr>
            <a:endParaRPr lang="en-US" sz="2400" dirty="0">
              <a:latin typeface="+mj-lt"/>
            </a:endParaRPr>
          </a:p>
        </p:txBody>
      </p:sp>
      <p:graphicFrame>
        <p:nvGraphicFramePr>
          <p:cNvPr id="2" name="Table 1">
            <a:extLst>
              <a:ext uri="{FF2B5EF4-FFF2-40B4-BE49-F238E27FC236}">
                <a16:creationId xmlns:a16="http://schemas.microsoft.com/office/drawing/2014/main" id="{C580C84F-F156-FEBA-32BD-927E5E6EB673}"/>
              </a:ext>
            </a:extLst>
          </p:cNvPr>
          <p:cNvGraphicFramePr>
            <a:graphicFrameLocks noGrp="1"/>
          </p:cNvGraphicFramePr>
          <p:nvPr>
            <p:extLst>
              <p:ext uri="{D42A27DB-BD31-4B8C-83A1-F6EECF244321}">
                <p14:modId xmlns:p14="http://schemas.microsoft.com/office/powerpoint/2010/main" val="3310760482"/>
              </p:ext>
            </p:extLst>
          </p:nvPr>
        </p:nvGraphicFramePr>
        <p:xfrm>
          <a:off x="110100" y="5209950"/>
          <a:ext cx="9000000" cy="1483360"/>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600494262"/>
                    </a:ext>
                  </a:extLst>
                </a:gridCol>
                <a:gridCol w="1295400">
                  <a:extLst>
                    <a:ext uri="{9D8B030D-6E8A-4147-A177-3AD203B41FA5}">
                      <a16:colId xmlns:a16="http://schemas.microsoft.com/office/drawing/2014/main" val="2484774810"/>
                    </a:ext>
                  </a:extLst>
                </a:gridCol>
                <a:gridCol w="2209800">
                  <a:extLst>
                    <a:ext uri="{9D8B030D-6E8A-4147-A177-3AD203B41FA5}">
                      <a16:colId xmlns:a16="http://schemas.microsoft.com/office/drawing/2014/main" val="1397682676"/>
                    </a:ext>
                  </a:extLst>
                </a:gridCol>
                <a:gridCol w="1447800">
                  <a:extLst>
                    <a:ext uri="{9D8B030D-6E8A-4147-A177-3AD203B41FA5}">
                      <a16:colId xmlns:a16="http://schemas.microsoft.com/office/drawing/2014/main" val="791607128"/>
                    </a:ext>
                  </a:extLst>
                </a:gridCol>
                <a:gridCol w="2065800">
                  <a:extLst>
                    <a:ext uri="{9D8B030D-6E8A-4147-A177-3AD203B41FA5}">
                      <a16:colId xmlns:a16="http://schemas.microsoft.com/office/drawing/2014/main" val="3737044237"/>
                    </a:ext>
                  </a:extLst>
                </a:gridCol>
              </a:tblGrid>
              <a:tr h="370840">
                <a:tc>
                  <a:txBody>
                    <a:bodyPr/>
                    <a:lstStyle/>
                    <a:p>
                      <a:r>
                        <a:rPr lang="en-US" dirty="0"/>
                        <a:t>Influence on</a:t>
                      </a:r>
                      <a:endParaRPr lang="en-ZA" dirty="0"/>
                    </a:p>
                  </a:txBody>
                  <a:tcPr/>
                </a:tc>
                <a:tc>
                  <a:txBody>
                    <a:bodyPr/>
                    <a:lstStyle/>
                    <a:p>
                      <a:r>
                        <a:rPr lang="en-US" dirty="0"/>
                        <a:t>Relaxing</a:t>
                      </a:r>
                      <a:endParaRPr lang="en-ZA" dirty="0"/>
                    </a:p>
                  </a:txBody>
                  <a:tcPr/>
                </a:tc>
                <a:tc>
                  <a:txBody>
                    <a:bodyPr/>
                    <a:lstStyle/>
                    <a:p>
                      <a:r>
                        <a:rPr lang="en-US" dirty="0"/>
                        <a:t>Influence on NI</a:t>
                      </a:r>
                      <a:endParaRPr lang="en-ZA" dirty="0"/>
                    </a:p>
                  </a:txBody>
                  <a:tcPr/>
                </a:tc>
                <a:tc>
                  <a:txBody>
                    <a:bodyPr/>
                    <a:lstStyle/>
                    <a:p>
                      <a:r>
                        <a:rPr lang="en-US" dirty="0"/>
                        <a:t>Tightening</a:t>
                      </a:r>
                      <a:endParaRPr lang="en-ZA" dirty="0"/>
                    </a:p>
                  </a:txBody>
                  <a:tcPr/>
                </a:tc>
                <a:tc>
                  <a:txBody>
                    <a:bodyPr/>
                    <a:lstStyle/>
                    <a:p>
                      <a:r>
                        <a:rPr lang="en-US" dirty="0"/>
                        <a:t>Influence on NI</a:t>
                      </a:r>
                      <a:endParaRPr lang="en-ZA" dirty="0"/>
                    </a:p>
                  </a:txBody>
                  <a:tcPr/>
                </a:tc>
                <a:extLst>
                  <a:ext uri="{0D108BD9-81ED-4DB2-BD59-A6C34878D82A}">
                    <a16:rowId xmlns:a16="http://schemas.microsoft.com/office/drawing/2014/main" val="3756947504"/>
                  </a:ext>
                </a:extLst>
              </a:tr>
              <a:tr h="370840">
                <a:tc>
                  <a:txBody>
                    <a:bodyPr/>
                    <a:lstStyle/>
                    <a:p>
                      <a:r>
                        <a:rPr lang="en-US" dirty="0"/>
                        <a:t>Sales</a:t>
                      </a:r>
                      <a:endParaRPr lang="en-ZA" dirty="0"/>
                    </a:p>
                  </a:txBody>
                  <a:tcPr/>
                </a:tc>
                <a:tc>
                  <a:txBody>
                    <a:bodyPr/>
                    <a:lstStyle/>
                    <a:p>
                      <a:r>
                        <a:rPr lang="en-US" dirty="0"/>
                        <a:t>Increase</a:t>
                      </a:r>
                      <a:endParaRPr lang="en-ZA" dirty="0"/>
                    </a:p>
                  </a:txBody>
                  <a:tcPr>
                    <a:solidFill>
                      <a:schemeClr val="accent2">
                        <a:lumMod val="40000"/>
                        <a:lumOff val="60000"/>
                      </a:schemeClr>
                    </a:solidFill>
                  </a:tcPr>
                </a:tc>
                <a:tc>
                  <a:txBody>
                    <a:bodyPr/>
                    <a:lstStyle/>
                    <a:p>
                      <a:r>
                        <a:rPr lang="en-US" dirty="0"/>
                        <a:t>Increase</a:t>
                      </a:r>
                      <a:endParaRPr lang="en-ZA" dirty="0"/>
                    </a:p>
                  </a:txBody>
                  <a:tcPr>
                    <a:solidFill>
                      <a:schemeClr val="accent2">
                        <a:lumMod val="40000"/>
                        <a:lumOff val="60000"/>
                      </a:schemeClr>
                    </a:solidFill>
                  </a:tcPr>
                </a:tc>
                <a:tc>
                  <a:txBody>
                    <a:bodyPr/>
                    <a:lstStyle/>
                    <a:p>
                      <a:r>
                        <a:rPr lang="en-US" dirty="0"/>
                        <a:t>Decrease</a:t>
                      </a:r>
                      <a:endParaRPr lang="en-ZA" dirty="0"/>
                    </a:p>
                  </a:txBody>
                  <a:tcPr>
                    <a:solidFill>
                      <a:schemeClr val="accent4">
                        <a:lumMod val="40000"/>
                        <a:lumOff val="60000"/>
                      </a:schemeClr>
                    </a:solidFill>
                  </a:tcPr>
                </a:tc>
                <a:tc>
                  <a:txBody>
                    <a:bodyPr/>
                    <a:lstStyle/>
                    <a:p>
                      <a:r>
                        <a:rPr lang="en-US" dirty="0"/>
                        <a:t>Decrease</a:t>
                      </a:r>
                      <a:endParaRPr lang="en-ZA" dirty="0"/>
                    </a:p>
                  </a:txBody>
                  <a:tcPr>
                    <a:solidFill>
                      <a:schemeClr val="accent4">
                        <a:lumMod val="40000"/>
                        <a:lumOff val="60000"/>
                      </a:schemeClr>
                    </a:solidFill>
                  </a:tcPr>
                </a:tc>
                <a:extLst>
                  <a:ext uri="{0D108BD9-81ED-4DB2-BD59-A6C34878D82A}">
                    <a16:rowId xmlns:a16="http://schemas.microsoft.com/office/drawing/2014/main" val="3456550864"/>
                  </a:ext>
                </a:extLst>
              </a:tr>
              <a:tr h="370840">
                <a:tc>
                  <a:txBody>
                    <a:bodyPr/>
                    <a:lstStyle/>
                    <a:p>
                      <a:r>
                        <a:rPr lang="en-US" dirty="0"/>
                        <a:t>Investment in AR</a:t>
                      </a:r>
                      <a:endParaRPr lang="en-ZA"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Tahoma"/>
                          <a:ea typeface="ＭＳ Ｐゴシック"/>
                          <a:cs typeface="+mn-cs"/>
                        </a:rPr>
                        <a:t>Increase</a:t>
                      </a:r>
                      <a:endParaRPr lang="en-ZA" dirty="0"/>
                    </a:p>
                  </a:txBody>
                  <a:tcPr>
                    <a:solidFill>
                      <a:schemeClr val="accent2">
                        <a:lumMod val="40000"/>
                        <a:lumOff val="60000"/>
                      </a:schemeClr>
                    </a:solidFill>
                  </a:tcPr>
                </a:tc>
                <a:tc>
                  <a:txBody>
                    <a:bodyPr/>
                    <a:lstStyle/>
                    <a:p>
                      <a:r>
                        <a:rPr lang="en-US" dirty="0"/>
                        <a:t>Decrease</a:t>
                      </a:r>
                      <a:endParaRPr lang="en-ZA" dirty="0"/>
                    </a:p>
                  </a:txBody>
                  <a:tcPr>
                    <a:solidFill>
                      <a:schemeClr val="accent2">
                        <a:lumMod val="40000"/>
                        <a:lumOff val="60000"/>
                      </a:schemeClr>
                    </a:solidFill>
                  </a:tcPr>
                </a:tc>
                <a:tc>
                  <a:txBody>
                    <a:bodyPr/>
                    <a:lstStyle/>
                    <a:p>
                      <a:r>
                        <a:rPr kumimoji="0" lang="en-US" sz="1800" b="0" i="0" u="none" strike="noStrike" kern="1200" cap="none" spc="0" normalizeH="0" baseline="0" noProof="0" dirty="0">
                          <a:ln>
                            <a:noFill/>
                          </a:ln>
                          <a:solidFill>
                            <a:prstClr val="black"/>
                          </a:solidFill>
                          <a:effectLst/>
                          <a:uLnTx/>
                          <a:uFillTx/>
                          <a:latin typeface="Tahoma"/>
                          <a:ea typeface="ＭＳ Ｐゴシック"/>
                          <a:cs typeface="+mn-cs"/>
                        </a:rPr>
                        <a:t>Decrease</a:t>
                      </a:r>
                      <a:endParaRPr lang="en-ZA" dirty="0"/>
                    </a:p>
                  </a:txBody>
                  <a:tcPr>
                    <a:solidFill>
                      <a:schemeClr val="accent4">
                        <a:lumMod val="40000"/>
                        <a:lumOff val="60000"/>
                      </a:schemeClr>
                    </a:solidFill>
                  </a:tcPr>
                </a:tc>
                <a:tc>
                  <a:txBody>
                    <a:bodyPr/>
                    <a:lstStyle/>
                    <a:p>
                      <a:r>
                        <a:rPr lang="en-US" dirty="0"/>
                        <a:t>Increase</a:t>
                      </a:r>
                      <a:endParaRPr lang="en-ZA" dirty="0"/>
                    </a:p>
                  </a:txBody>
                  <a:tcPr>
                    <a:solidFill>
                      <a:schemeClr val="accent4">
                        <a:lumMod val="40000"/>
                        <a:lumOff val="60000"/>
                      </a:schemeClr>
                    </a:solidFill>
                  </a:tcPr>
                </a:tc>
                <a:extLst>
                  <a:ext uri="{0D108BD9-81ED-4DB2-BD59-A6C34878D82A}">
                    <a16:rowId xmlns:a16="http://schemas.microsoft.com/office/drawing/2014/main" val="271298443"/>
                  </a:ext>
                </a:extLst>
              </a:tr>
              <a:tr h="370840">
                <a:tc>
                  <a:txBody>
                    <a:bodyPr/>
                    <a:lstStyle/>
                    <a:p>
                      <a:r>
                        <a:rPr lang="en-US" dirty="0"/>
                        <a:t>Bad debts</a:t>
                      </a:r>
                      <a:endParaRPr lang="en-ZA"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Tahoma"/>
                          <a:ea typeface="ＭＳ Ｐゴシック"/>
                          <a:cs typeface="+mn-cs"/>
                        </a:rPr>
                        <a:t>Increase</a:t>
                      </a:r>
                      <a:endParaRPr lang="en-ZA" dirty="0"/>
                    </a:p>
                  </a:txBody>
                  <a:tcPr>
                    <a:solidFill>
                      <a:schemeClr val="accent2">
                        <a:lumMod val="40000"/>
                        <a:lumOff val="60000"/>
                      </a:schemeClr>
                    </a:solidFill>
                  </a:tcPr>
                </a:tc>
                <a:tc>
                  <a:txBody>
                    <a:bodyPr/>
                    <a:lstStyle/>
                    <a:p>
                      <a:r>
                        <a:rPr lang="en-US" dirty="0"/>
                        <a:t>Decrease</a:t>
                      </a:r>
                      <a:endParaRPr lang="en-ZA" dirty="0"/>
                    </a:p>
                  </a:txBody>
                  <a:tcPr>
                    <a:solidFill>
                      <a:schemeClr val="accent2">
                        <a:lumMod val="40000"/>
                        <a:lumOff val="60000"/>
                      </a:schemeClr>
                    </a:solidFill>
                  </a:tcPr>
                </a:tc>
                <a:tc>
                  <a:txBody>
                    <a:bodyPr/>
                    <a:lstStyle/>
                    <a:p>
                      <a:r>
                        <a:rPr kumimoji="0" lang="en-US" sz="1800" b="0" i="0" u="none" strike="noStrike" kern="1200" cap="none" spc="0" normalizeH="0" baseline="0" noProof="0" dirty="0">
                          <a:ln>
                            <a:noFill/>
                          </a:ln>
                          <a:solidFill>
                            <a:prstClr val="black"/>
                          </a:solidFill>
                          <a:effectLst/>
                          <a:uLnTx/>
                          <a:uFillTx/>
                          <a:latin typeface="Tahoma"/>
                          <a:ea typeface="ＭＳ Ｐゴシック"/>
                          <a:cs typeface="+mn-cs"/>
                        </a:rPr>
                        <a:t>Decrease</a:t>
                      </a:r>
                      <a:endParaRPr lang="en-ZA" dirty="0"/>
                    </a:p>
                  </a:txBody>
                  <a:tcPr>
                    <a:solidFill>
                      <a:schemeClr val="accent4">
                        <a:lumMod val="40000"/>
                        <a:lumOff val="60000"/>
                      </a:schemeClr>
                    </a:solidFill>
                  </a:tcPr>
                </a:tc>
                <a:tc>
                  <a:txBody>
                    <a:bodyPr/>
                    <a:lstStyle/>
                    <a:p>
                      <a:r>
                        <a:rPr lang="en-US" dirty="0"/>
                        <a:t>Increase</a:t>
                      </a:r>
                      <a:endParaRPr lang="en-ZA" dirty="0"/>
                    </a:p>
                  </a:txBody>
                  <a:tcPr>
                    <a:solidFill>
                      <a:schemeClr val="accent4">
                        <a:lumMod val="40000"/>
                        <a:lumOff val="60000"/>
                      </a:schemeClr>
                    </a:solidFill>
                  </a:tcPr>
                </a:tc>
                <a:extLst>
                  <a:ext uri="{0D108BD9-81ED-4DB2-BD59-A6C34878D82A}">
                    <a16:rowId xmlns:a16="http://schemas.microsoft.com/office/drawing/2014/main" val="2490261050"/>
                  </a:ext>
                </a:extLst>
              </a:tr>
            </a:tbl>
          </a:graphicData>
        </a:graphic>
      </p:graphicFrame>
      <p:grpSp>
        <p:nvGrpSpPr>
          <p:cNvPr id="14" name="Group 13">
            <a:extLst>
              <a:ext uri="{FF2B5EF4-FFF2-40B4-BE49-F238E27FC236}">
                <a16:creationId xmlns:a16="http://schemas.microsoft.com/office/drawing/2014/main" id="{5203100E-B420-9DC2-9400-79C51E044AD8}"/>
              </a:ext>
            </a:extLst>
          </p:cNvPr>
          <p:cNvGrpSpPr/>
          <p:nvPr/>
        </p:nvGrpSpPr>
        <p:grpSpPr>
          <a:xfrm>
            <a:off x="5081006" y="4843657"/>
            <a:ext cx="1332720" cy="390240"/>
            <a:chOff x="5081006" y="4843657"/>
            <a:chExt cx="1332720" cy="39024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8E4AA8E7-411F-B74C-2E71-A8945477B808}"/>
                    </a:ext>
                  </a:extLst>
                </p14:cNvPr>
                <p14:cNvContentPartPr/>
                <p14:nvPr/>
              </p14:nvContentPartPr>
              <p14:xfrm>
                <a:off x="5081006" y="4938697"/>
                <a:ext cx="37800" cy="295200"/>
              </p14:xfrm>
            </p:contentPart>
          </mc:Choice>
          <mc:Fallback>
            <p:pic>
              <p:nvPicPr>
                <p:cNvPr id="5" name="Ink 4">
                  <a:extLst>
                    <a:ext uri="{FF2B5EF4-FFF2-40B4-BE49-F238E27FC236}">
                      <a16:creationId xmlns:a16="http://schemas.microsoft.com/office/drawing/2014/main" id="{8E4AA8E7-411F-B74C-2E71-A8945477B808}"/>
                    </a:ext>
                  </a:extLst>
                </p:cNvPr>
                <p:cNvPicPr/>
                <p:nvPr/>
              </p:nvPicPr>
              <p:blipFill>
                <a:blip r:embed="rId5"/>
                <a:stretch>
                  <a:fillRect/>
                </a:stretch>
              </p:blipFill>
              <p:spPr>
                <a:xfrm>
                  <a:off x="5074886" y="4932577"/>
                  <a:ext cx="5004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A583459-5801-0084-09C2-86CF931D6C1B}"/>
                    </a:ext>
                  </a:extLst>
                </p14:cNvPr>
                <p14:cNvContentPartPr/>
                <p14:nvPr/>
              </p14:nvContentPartPr>
              <p14:xfrm>
                <a:off x="5084606" y="4978657"/>
                <a:ext cx="388440" cy="32400"/>
              </p14:xfrm>
            </p:contentPart>
          </mc:Choice>
          <mc:Fallback>
            <p:pic>
              <p:nvPicPr>
                <p:cNvPr id="6" name="Ink 5">
                  <a:extLst>
                    <a:ext uri="{FF2B5EF4-FFF2-40B4-BE49-F238E27FC236}">
                      <a16:creationId xmlns:a16="http://schemas.microsoft.com/office/drawing/2014/main" id="{9A583459-5801-0084-09C2-86CF931D6C1B}"/>
                    </a:ext>
                  </a:extLst>
                </p:cNvPr>
                <p:cNvPicPr/>
                <p:nvPr/>
              </p:nvPicPr>
              <p:blipFill>
                <a:blip r:embed="rId7"/>
                <a:stretch>
                  <a:fillRect/>
                </a:stretch>
              </p:blipFill>
              <p:spPr>
                <a:xfrm>
                  <a:off x="5078486" y="4972537"/>
                  <a:ext cx="40068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79FFFCC4-4F83-7D5F-51FC-EDE9EBE34C2C}"/>
                    </a:ext>
                  </a:extLst>
                </p14:cNvPr>
                <p14:cNvContentPartPr/>
                <p14:nvPr/>
              </p14:nvContentPartPr>
              <p14:xfrm>
                <a:off x="5385566" y="4876057"/>
                <a:ext cx="213120" cy="194040"/>
              </p14:xfrm>
            </p:contentPart>
          </mc:Choice>
          <mc:Fallback>
            <p:pic>
              <p:nvPicPr>
                <p:cNvPr id="7" name="Ink 6">
                  <a:extLst>
                    <a:ext uri="{FF2B5EF4-FFF2-40B4-BE49-F238E27FC236}">
                      <a16:creationId xmlns:a16="http://schemas.microsoft.com/office/drawing/2014/main" id="{79FFFCC4-4F83-7D5F-51FC-EDE9EBE34C2C}"/>
                    </a:ext>
                  </a:extLst>
                </p:cNvPr>
                <p:cNvPicPr/>
                <p:nvPr/>
              </p:nvPicPr>
              <p:blipFill>
                <a:blip r:embed="rId9"/>
                <a:stretch>
                  <a:fillRect/>
                </a:stretch>
              </p:blipFill>
              <p:spPr>
                <a:xfrm>
                  <a:off x="5379446" y="4869937"/>
                  <a:ext cx="2253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EBF4AF81-5B38-DE9C-21F9-CB444FDDD37C}"/>
                    </a:ext>
                  </a:extLst>
                </p14:cNvPr>
                <p14:cNvContentPartPr/>
                <p14:nvPr/>
              </p14:nvContentPartPr>
              <p14:xfrm>
                <a:off x="5707046" y="4893697"/>
                <a:ext cx="37800" cy="264600"/>
              </p14:xfrm>
            </p:contentPart>
          </mc:Choice>
          <mc:Fallback>
            <p:pic>
              <p:nvPicPr>
                <p:cNvPr id="8" name="Ink 7">
                  <a:extLst>
                    <a:ext uri="{FF2B5EF4-FFF2-40B4-BE49-F238E27FC236}">
                      <a16:creationId xmlns:a16="http://schemas.microsoft.com/office/drawing/2014/main" id="{EBF4AF81-5B38-DE9C-21F9-CB444FDDD37C}"/>
                    </a:ext>
                  </a:extLst>
                </p:cNvPr>
                <p:cNvPicPr/>
                <p:nvPr/>
              </p:nvPicPr>
              <p:blipFill>
                <a:blip r:embed="rId11"/>
                <a:stretch>
                  <a:fillRect/>
                </a:stretch>
              </p:blipFill>
              <p:spPr>
                <a:xfrm>
                  <a:off x="5700926" y="4887577"/>
                  <a:ext cx="5004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E4334D56-F02A-D3C1-12DC-C3B90FBBD2ED}"/>
                    </a:ext>
                  </a:extLst>
                </p14:cNvPr>
                <p14:cNvContentPartPr/>
                <p14:nvPr/>
              </p14:nvContentPartPr>
              <p14:xfrm>
                <a:off x="5720726" y="4871737"/>
                <a:ext cx="236160" cy="136800"/>
              </p14:xfrm>
            </p:contentPart>
          </mc:Choice>
          <mc:Fallback>
            <p:pic>
              <p:nvPicPr>
                <p:cNvPr id="9" name="Ink 8">
                  <a:extLst>
                    <a:ext uri="{FF2B5EF4-FFF2-40B4-BE49-F238E27FC236}">
                      <a16:creationId xmlns:a16="http://schemas.microsoft.com/office/drawing/2014/main" id="{E4334D56-F02A-D3C1-12DC-C3B90FBBD2ED}"/>
                    </a:ext>
                  </a:extLst>
                </p:cNvPr>
                <p:cNvPicPr/>
                <p:nvPr/>
              </p:nvPicPr>
              <p:blipFill>
                <a:blip r:embed="rId13"/>
                <a:stretch>
                  <a:fillRect/>
                </a:stretch>
              </p:blipFill>
              <p:spPr>
                <a:xfrm>
                  <a:off x="5714606" y="4865617"/>
                  <a:ext cx="24840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366BB67D-9133-9D5A-FB04-39DD3FD8B969}"/>
                    </a:ext>
                  </a:extLst>
                </p14:cNvPr>
                <p14:cNvContentPartPr/>
                <p14:nvPr/>
              </p14:nvContentPartPr>
              <p14:xfrm>
                <a:off x="5939966" y="4889017"/>
                <a:ext cx="43560" cy="287280"/>
              </p14:xfrm>
            </p:contentPart>
          </mc:Choice>
          <mc:Fallback>
            <p:pic>
              <p:nvPicPr>
                <p:cNvPr id="10" name="Ink 9">
                  <a:extLst>
                    <a:ext uri="{FF2B5EF4-FFF2-40B4-BE49-F238E27FC236}">
                      <a16:creationId xmlns:a16="http://schemas.microsoft.com/office/drawing/2014/main" id="{366BB67D-9133-9D5A-FB04-39DD3FD8B969}"/>
                    </a:ext>
                  </a:extLst>
                </p:cNvPr>
                <p:cNvPicPr/>
                <p:nvPr/>
              </p:nvPicPr>
              <p:blipFill>
                <a:blip r:embed="rId15"/>
                <a:stretch>
                  <a:fillRect/>
                </a:stretch>
              </p:blipFill>
              <p:spPr>
                <a:xfrm>
                  <a:off x="5933846" y="4882897"/>
                  <a:ext cx="5580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A1553B1D-4653-B67C-EA14-C898076DFE2C}"/>
                    </a:ext>
                  </a:extLst>
                </p14:cNvPr>
                <p14:cNvContentPartPr/>
                <p14:nvPr/>
              </p14:nvContentPartPr>
              <p14:xfrm>
                <a:off x="6008006" y="4984777"/>
                <a:ext cx="202320" cy="194760"/>
              </p14:xfrm>
            </p:contentPart>
          </mc:Choice>
          <mc:Fallback>
            <p:pic>
              <p:nvPicPr>
                <p:cNvPr id="11" name="Ink 10">
                  <a:extLst>
                    <a:ext uri="{FF2B5EF4-FFF2-40B4-BE49-F238E27FC236}">
                      <a16:creationId xmlns:a16="http://schemas.microsoft.com/office/drawing/2014/main" id="{A1553B1D-4653-B67C-EA14-C898076DFE2C}"/>
                    </a:ext>
                  </a:extLst>
                </p:cNvPr>
                <p:cNvPicPr/>
                <p:nvPr/>
              </p:nvPicPr>
              <p:blipFill>
                <a:blip r:embed="rId17"/>
                <a:stretch>
                  <a:fillRect/>
                </a:stretch>
              </p:blipFill>
              <p:spPr>
                <a:xfrm>
                  <a:off x="6001886" y="4978657"/>
                  <a:ext cx="2145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78BA98FA-6221-FC8A-6B73-C4518CE85D0B}"/>
                    </a:ext>
                  </a:extLst>
                </p14:cNvPr>
                <p14:cNvContentPartPr/>
                <p14:nvPr/>
              </p14:nvContentPartPr>
              <p14:xfrm>
                <a:off x="6230126" y="4843657"/>
                <a:ext cx="77400" cy="347400"/>
              </p14:xfrm>
            </p:contentPart>
          </mc:Choice>
          <mc:Fallback>
            <p:pic>
              <p:nvPicPr>
                <p:cNvPr id="12" name="Ink 11">
                  <a:extLst>
                    <a:ext uri="{FF2B5EF4-FFF2-40B4-BE49-F238E27FC236}">
                      <a16:creationId xmlns:a16="http://schemas.microsoft.com/office/drawing/2014/main" id="{78BA98FA-6221-FC8A-6B73-C4518CE85D0B}"/>
                    </a:ext>
                  </a:extLst>
                </p:cNvPr>
                <p:cNvPicPr/>
                <p:nvPr/>
              </p:nvPicPr>
              <p:blipFill>
                <a:blip r:embed="rId19"/>
                <a:stretch>
                  <a:fillRect/>
                </a:stretch>
              </p:blipFill>
              <p:spPr>
                <a:xfrm>
                  <a:off x="6224006" y="4837537"/>
                  <a:ext cx="8964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EDCC320E-BE09-25CB-0111-C39A6C3931DD}"/>
                    </a:ext>
                  </a:extLst>
                </p14:cNvPr>
                <p14:cNvContentPartPr/>
                <p14:nvPr/>
              </p14:nvContentPartPr>
              <p14:xfrm>
                <a:off x="6199166" y="5055337"/>
                <a:ext cx="214560" cy="36000"/>
              </p14:xfrm>
            </p:contentPart>
          </mc:Choice>
          <mc:Fallback>
            <p:pic>
              <p:nvPicPr>
                <p:cNvPr id="13" name="Ink 12">
                  <a:extLst>
                    <a:ext uri="{FF2B5EF4-FFF2-40B4-BE49-F238E27FC236}">
                      <a16:creationId xmlns:a16="http://schemas.microsoft.com/office/drawing/2014/main" id="{EDCC320E-BE09-25CB-0111-C39A6C3931DD}"/>
                    </a:ext>
                  </a:extLst>
                </p:cNvPr>
                <p:cNvPicPr/>
                <p:nvPr/>
              </p:nvPicPr>
              <p:blipFill>
                <a:blip r:embed="rId21"/>
                <a:stretch>
                  <a:fillRect/>
                </a:stretch>
              </p:blipFill>
              <p:spPr>
                <a:xfrm>
                  <a:off x="6193046" y="5049217"/>
                  <a:ext cx="226800" cy="48240"/>
                </a:xfrm>
                <a:prstGeom prst="rect">
                  <a:avLst/>
                </a:prstGeom>
              </p:spPr>
            </p:pic>
          </mc:Fallback>
        </mc:AlternateContent>
      </p:grpSp>
      <p:grpSp>
        <p:nvGrpSpPr>
          <p:cNvPr id="21" name="Group 20">
            <a:extLst>
              <a:ext uri="{FF2B5EF4-FFF2-40B4-BE49-F238E27FC236}">
                <a16:creationId xmlns:a16="http://schemas.microsoft.com/office/drawing/2014/main" id="{60ADA1E9-5149-CF8D-3A98-EDE9D4FB427C}"/>
              </a:ext>
            </a:extLst>
          </p:cNvPr>
          <p:cNvGrpSpPr/>
          <p:nvPr/>
        </p:nvGrpSpPr>
        <p:grpSpPr>
          <a:xfrm>
            <a:off x="6698846" y="4864897"/>
            <a:ext cx="1076400" cy="327240"/>
            <a:chOff x="6698846" y="4864897"/>
            <a:chExt cx="1076400" cy="327240"/>
          </a:xfrm>
        </p:grpSpPr>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8C9F3156-4925-3075-B521-63F0ECF81497}"/>
                    </a:ext>
                  </a:extLst>
                </p14:cNvPr>
                <p14:cNvContentPartPr/>
                <p14:nvPr/>
              </p14:nvContentPartPr>
              <p14:xfrm>
                <a:off x="6698846" y="4864897"/>
                <a:ext cx="8280" cy="297360"/>
              </p14:xfrm>
            </p:contentPart>
          </mc:Choice>
          <mc:Fallback>
            <p:pic>
              <p:nvPicPr>
                <p:cNvPr id="15" name="Ink 14">
                  <a:extLst>
                    <a:ext uri="{FF2B5EF4-FFF2-40B4-BE49-F238E27FC236}">
                      <a16:creationId xmlns:a16="http://schemas.microsoft.com/office/drawing/2014/main" id="{8C9F3156-4925-3075-B521-63F0ECF81497}"/>
                    </a:ext>
                  </a:extLst>
                </p:cNvPr>
                <p:cNvPicPr/>
                <p:nvPr/>
              </p:nvPicPr>
              <p:blipFill>
                <a:blip r:embed="rId23"/>
                <a:stretch>
                  <a:fillRect/>
                </a:stretch>
              </p:blipFill>
              <p:spPr>
                <a:xfrm>
                  <a:off x="6692726" y="4858777"/>
                  <a:ext cx="2052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C23354C9-36BA-84F2-FC4D-427D0C739135}"/>
                    </a:ext>
                  </a:extLst>
                </p14:cNvPr>
                <p14:cNvContentPartPr/>
                <p14:nvPr/>
              </p14:nvContentPartPr>
              <p14:xfrm>
                <a:off x="6793886" y="5056777"/>
                <a:ext cx="221040" cy="127440"/>
              </p14:xfrm>
            </p:contentPart>
          </mc:Choice>
          <mc:Fallback>
            <p:pic>
              <p:nvPicPr>
                <p:cNvPr id="16" name="Ink 15">
                  <a:extLst>
                    <a:ext uri="{FF2B5EF4-FFF2-40B4-BE49-F238E27FC236}">
                      <a16:creationId xmlns:a16="http://schemas.microsoft.com/office/drawing/2014/main" id="{C23354C9-36BA-84F2-FC4D-427D0C739135}"/>
                    </a:ext>
                  </a:extLst>
                </p:cNvPr>
                <p:cNvPicPr/>
                <p:nvPr/>
              </p:nvPicPr>
              <p:blipFill>
                <a:blip r:embed="rId25"/>
                <a:stretch>
                  <a:fillRect/>
                </a:stretch>
              </p:blipFill>
              <p:spPr>
                <a:xfrm>
                  <a:off x="6787766" y="5050657"/>
                  <a:ext cx="23328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0BB277CF-5423-6474-C61D-E782A7FF2382}"/>
                    </a:ext>
                  </a:extLst>
                </p14:cNvPr>
                <p14:cNvContentPartPr/>
                <p14:nvPr/>
              </p14:nvContentPartPr>
              <p14:xfrm>
                <a:off x="7026446" y="4999537"/>
                <a:ext cx="110520" cy="192600"/>
              </p14:xfrm>
            </p:contentPart>
          </mc:Choice>
          <mc:Fallback>
            <p:pic>
              <p:nvPicPr>
                <p:cNvPr id="17" name="Ink 16">
                  <a:extLst>
                    <a:ext uri="{FF2B5EF4-FFF2-40B4-BE49-F238E27FC236}">
                      <a16:creationId xmlns:a16="http://schemas.microsoft.com/office/drawing/2014/main" id="{0BB277CF-5423-6474-C61D-E782A7FF2382}"/>
                    </a:ext>
                  </a:extLst>
                </p:cNvPr>
                <p:cNvPicPr/>
                <p:nvPr/>
              </p:nvPicPr>
              <p:blipFill>
                <a:blip r:embed="rId27"/>
                <a:stretch>
                  <a:fillRect/>
                </a:stretch>
              </p:blipFill>
              <p:spPr>
                <a:xfrm>
                  <a:off x="7020326" y="4993417"/>
                  <a:ext cx="12276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B3F87DB4-D302-A229-1B89-0BB7A19428FD}"/>
                    </a:ext>
                  </a:extLst>
                </p14:cNvPr>
                <p14:cNvContentPartPr/>
                <p14:nvPr/>
              </p14:nvContentPartPr>
              <p14:xfrm>
                <a:off x="7167566" y="4991977"/>
                <a:ext cx="137160" cy="196920"/>
              </p14:xfrm>
            </p:contentPart>
          </mc:Choice>
          <mc:Fallback>
            <p:pic>
              <p:nvPicPr>
                <p:cNvPr id="18" name="Ink 17">
                  <a:extLst>
                    <a:ext uri="{FF2B5EF4-FFF2-40B4-BE49-F238E27FC236}">
                      <a16:creationId xmlns:a16="http://schemas.microsoft.com/office/drawing/2014/main" id="{B3F87DB4-D302-A229-1B89-0BB7A19428FD}"/>
                    </a:ext>
                  </a:extLst>
                </p:cNvPr>
                <p:cNvPicPr/>
                <p:nvPr/>
              </p:nvPicPr>
              <p:blipFill>
                <a:blip r:embed="rId29"/>
                <a:stretch>
                  <a:fillRect/>
                </a:stretch>
              </p:blipFill>
              <p:spPr>
                <a:xfrm>
                  <a:off x="7161446" y="4985857"/>
                  <a:ext cx="1494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48FC8807-D527-07EC-8B1B-3A74A158299B}"/>
                    </a:ext>
                  </a:extLst>
                </p14:cNvPr>
                <p14:cNvContentPartPr/>
                <p14:nvPr/>
              </p14:nvContentPartPr>
              <p14:xfrm>
                <a:off x="7333886" y="5001337"/>
                <a:ext cx="276840" cy="174240"/>
              </p14:xfrm>
            </p:contentPart>
          </mc:Choice>
          <mc:Fallback>
            <p:pic>
              <p:nvPicPr>
                <p:cNvPr id="19" name="Ink 18">
                  <a:extLst>
                    <a:ext uri="{FF2B5EF4-FFF2-40B4-BE49-F238E27FC236}">
                      <a16:creationId xmlns:a16="http://schemas.microsoft.com/office/drawing/2014/main" id="{48FC8807-D527-07EC-8B1B-3A74A158299B}"/>
                    </a:ext>
                  </a:extLst>
                </p:cNvPr>
                <p:cNvPicPr/>
                <p:nvPr/>
              </p:nvPicPr>
              <p:blipFill>
                <a:blip r:embed="rId31"/>
                <a:stretch>
                  <a:fillRect/>
                </a:stretch>
              </p:blipFill>
              <p:spPr>
                <a:xfrm>
                  <a:off x="7327766" y="4995217"/>
                  <a:ext cx="2890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C74DA0B0-F260-30C1-F604-79C3611C000D}"/>
                    </a:ext>
                  </a:extLst>
                </p14:cNvPr>
                <p14:cNvContentPartPr/>
                <p14:nvPr/>
              </p14:nvContentPartPr>
              <p14:xfrm>
                <a:off x="7624406" y="4917097"/>
                <a:ext cx="150840" cy="253440"/>
              </p14:xfrm>
            </p:contentPart>
          </mc:Choice>
          <mc:Fallback>
            <p:pic>
              <p:nvPicPr>
                <p:cNvPr id="20" name="Ink 19">
                  <a:extLst>
                    <a:ext uri="{FF2B5EF4-FFF2-40B4-BE49-F238E27FC236}">
                      <a16:creationId xmlns:a16="http://schemas.microsoft.com/office/drawing/2014/main" id="{C74DA0B0-F260-30C1-F604-79C3611C000D}"/>
                    </a:ext>
                  </a:extLst>
                </p:cNvPr>
                <p:cNvPicPr/>
                <p:nvPr/>
              </p:nvPicPr>
              <p:blipFill>
                <a:blip r:embed="rId33"/>
                <a:stretch>
                  <a:fillRect/>
                </a:stretch>
              </p:blipFill>
              <p:spPr>
                <a:xfrm>
                  <a:off x="7618286" y="4910977"/>
                  <a:ext cx="163080" cy="265680"/>
                </a:xfrm>
                <a:prstGeom prst="rect">
                  <a:avLst/>
                </a:prstGeom>
              </p:spPr>
            </p:pic>
          </mc:Fallback>
        </mc:AlternateContent>
      </p:grpSp>
    </p:spTree>
    <p:custDataLst>
      <p:tags r:id="rId1"/>
    </p:custDataLst>
    <p:extLst>
      <p:ext uri="{BB962C8B-B14F-4D97-AF65-F5344CB8AC3E}">
        <p14:creationId xmlns:p14="http://schemas.microsoft.com/office/powerpoint/2010/main" val="4245667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DEA247-1746-C984-8B1A-8E1AA12385F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0032A5C-8738-E55A-5D68-7A8A2DA22B55}"/>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41D4B97E-708D-75A8-80BC-6BAC3AD6944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13</a:t>
            </a:fld>
            <a:endParaRPr lang="en-US">
              <a:solidFill>
                <a:schemeClr val="tx1"/>
              </a:solidFill>
            </a:endParaRPr>
          </a:p>
        </p:txBody>
      </p:sp>
      <p:sp>
        <p:nvSpPr>
          <p:cNvPr id="4" name="Rectangle 5">
            <a:extLst>
              <a:ext uri="{FF2B5EF4-FFF2-40B4-BE49-F238E27FC236}">
                <a16:creationId xmlns:a16="http://schemas.microsoft.com/office/drawing/2014/main" id="{3964B734-6D4B-6389-D77A-2F664ECAA9C8}"/>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a:p>
            <a:pPr algn="just">
              <a:lnSpc>
                <a:spcPct val="105000"/>
              </a:lnSpc>
              <a:buSzPct val="100000"/>
              <a:buFont typeface="Arial" panose="020B0604020202020204" pitchFamily="34" charset="0"/>
              <a:buChar char="•"/>
            </a:pPr>
            <a:r>
              <a:rPr lang="en-US" sz="2400" dirty="0">
                <a:latin typeface="+mj-lt"/>
              </a:rPr>
              <a:t>Credit limits</a:t>
            </a:r>
          </a:p>
          <a:p>
            <a:pPr marL="717550" indent="-354013" algn="just">
              <a:lnSpc>
                <a:spcPct val="105000"/>
              </a:lnSpc>
              <a:buSzPct val="100000"/>
              <a:buFont typeface="Wingdings" panose="05000000000000000000" pitchFamily="2" charset="2"/>
              <a:buChar char="§"/>
            </a:pPr>
            <a:r>
              <a:rPr lang="en-US" sz="2400" dirty="0">
                <a:latin typeface="+mj-lt"/>
              </a:rPr>
              <a:t>Maximum amount a firm is prepared to sell to customer on credit</a:t>
            </a:r>
          </a:p>
          <a:p>
            <a:pPr marL="717550" indent="-354013" algn="just">
              <a:lnSpc>
                <a:spcPct val="105000"/>
              </a:lnSpc>
              <a:buSzPct val="100000"/>
              <a:buFont typeface="Wingdings" panose="05000000000000000000" pitchFamily="2" charset="2"/>
              <a:buChar char="§"/>
            </a:pPr>
            <a:r>
              <a:rPr lang="en-US" sz="2400" dirty="0">
                <a:latin typeface="+mj-lt"/>
              </a:rPr>
              <a:t>Why have credit limits?</a:t>
            </a:r>
          </a:p>
          <a:p>
            <a:pPr marL="1071563" indent="-354013" algn="just">
              <a:lnSpc>
                <a:spcPct val="105000"/>
              </a:lnSpc>
              <a:buSzPct val="100000"/>
              <a:buFont typeface="Wingdings" panose="05000000000000000000" pitchFamily="2" charset="2"/>
              <a:buChar char="§"/>
            </a:pPr>
            <a:r>
              <a:rPr lang="en-US" sz="2400" dirty="0">
                <a:latin typeface="+mj-lt"/>
              </a:rPr>
              <a:t>Protects firm against credit risks</a:t>
            </a:r>
          </a:p>
          <a:p>
            <a:pPr marL="1071563" indent="-354013" algn="just">
              <a:lnSpc>
                <a:spcPct val="105000"/>
              </a:lnSpc>
              <a:buSzPct val="100000"/>
              <a:buFont typeface="Wingdings" panose="05000000000000000000" pitchFamily="2" charset="2"/>
              <a:buChar char="§"/>
            </a:pPr>
            <a:r>
              <a:rPr lang="en-US" sz="2400" dirty="0">
                <a:latin typeface="+mj-lt"/>
              </a:rPr>
              <a:t>Credit check may highlight cause for concern – set upper limit</a:t>
            </a:r>
          </a:p>
        </p:txBody>
      </p:sp>
    </p:spTree>
    <p:custDataLst>
      <p:tags r:id="rId1"/>
    </p:custDataLst>
    <p:extLst>
      <p:ext uri="{BB962C8B-B14F-4D97-AF65-F5344CB8AC3E}">
        <p14:creationId xmlns:p14="http://schemas.microsoft.com/office/powerpoint/2010/main" val="42006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E3EC95A-D7B3-6899-842E-E2FC9C52075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8745F9E-5570-639D-E639-DE48E654EC39}"/>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9EC6AA66-2AB4-05B3-95FF-5ACEF48B900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14</a:t>
            </a:fld>
            <a:endParaRPr lang="en-US">
              <a:solidFill>
                <a:schemeClr val="tx1"/>
              </a:solidFill>
            </a:endParaRPr>
          </a:p>
        </p:txBody>
      </p:sp>
      <p:sp>
        <p:nvSpPr>
          <p:cNvPr id="4" name="Rectangle 5">
            <a:extLst>
              <a:ext uri="{FF2B5EF4-FFF2-40B4-BE49-F238E27FC236}">
                <a16:creationId xmlns:a16="http://schemas.microsoft.com/office/drawing/2014/main" id="{CD92F146-686F-183F-DA17-1297AF79E3FE}"/>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a:p>
            <a:pPr algn="just">
              <a:lnSpc>
                <a:spcPct val="105000"/>
              </a:lnSpc>
              <a:buSzPct val="100000"/>
              <a:buFont typeface="Arial" panose="020B0604020202020204" pitchFamily="34" charset="0"/>
              <a:buChar char="•"/>
            </a:pPr>
            <a:r>
              <a:rPr lang="en-US" sz="2400" dirty="0">
                <a:latin typeface="+mj-lt"/>
              </a:rPr>
              <a:t>Credit terms</a:t>
            </a:r>
          </a:p>
          <a:p>
            <a:pPr marL="717550" indent="-354013" algn="just">
              <a:lnSpc>
                <a:spcPct val="105000"/>
              </a:lnSpc>
              <a:buSzPct val="100000"/>
              <a:buFont typeface="Wingdings" panose="05000000000000000000" pitchFamily="2" charset="2"/>
              <a:buChar char="§"/>
            </a:pPr>
            <a:r>
              <a:rPr lang="en-US" sz="2400" dirty="0">
                <a:latin typeface="+mj-lt"/>
              </a:rPr>
              <a:t>Repayment terms</a:t>
            </a:r>
          </a:p>
          <a:p>
            <a:pPr marL="717550" indent="-354013" algn="just">
              <a:lnSpc>
                <a:spcPct val="105000"/>
              </a:lnSpc>
              <a:buSzPct val="100000"/>
              <a:buFont typeface="Wingdings" panose="05000000000000000000" pitchFamily="2" charset="2"/>
              <a:buChar char="§"/>
            </a:pPr>
            <a:r>
              <a:rPr lang="en-US" sz="2400" dirty="0">
                <a:latin typeface="+mj-lt"/>
              </a:rPr>
              <a:t>Three parameters</a:t>
            </a:r>
          </a:p>
          <a:p>
            <a:pPr marL="1071563" indent="-354013" algn="just">
              <a:lnSpc>
                <a:spcPct val="105000"/>
              </a:lnSpc>
              <a:buSzPct val="100000"/>
              <a:buFont typeface="Wingdings" panose="05000000000000000000" pitchFamily="2" charset="2"/>
              <a:buChar char="§"/>
            </a:pPr>
            <a:r>
              <a:rPr lang="en-US" sz="2400" dirty="0">
                <a:latin typeface="+mj-lt"/>
              </a:rPr>
              <a:t>Settlement discount</a:t>
            </a:r>
          </a:p>
          <a:p>
            <a:pPr marL="1071563" indent="-354013" algn="just">
              <a:lnSpc>
                <a:spcPct val="105000"/>
              </a:lnSpc>
              <a:buSzPct val="100000"/>
              <a:buFont typeface="Wingdings" panose="05000000000000000000" pitchFamily="2" charset="2"/>
              <a:buChar char="§"/>
            </a:pPr>
            <a:r>
              <a:rPr lang="en-US" sz="2400" dirty="0">
                <a:latin typeface="+mj-lt"/>
              </a:rPr>
              <a:t>Period of time for discount allowed</a:t>
            </a:r>
          </a:p>
          <a:p>
            <a:pPr marL="1071563" indent="-354013" algn="just">
              <a:lnSpc>
                <a:spcPct val="105000"/>
              </a:lnSpc>
              <a:buSzPct val="100000"/>
              <a:buFont typeface="Wingdings" panose="05000000000000000000" pitchFamily="2" charset="2"/>
              <a:buChar char="§"/>
            </a:pPr>
            <a:r>
              <a:rPr lang="en-US" sz="2400" dirty="0">
                <a:latin typeface="+mj-lt"/>
              </a:rPr>
              <a:t>Net date (last day to make full payment without taking advance of discount)</a:t>
            </a:r>
          </a:p>
          <a:p>
            <a:pPr marL="1071563" indent="-354013" algn="just">
              <a:lnSpc>
                <a:spcPct val="105000"/>
              </a:lnSpc>
              <a:buSzPct val="100000"/>
              <a:buFont typeface="Wingdings" panose="05000000000000000000" pitchFamily="2" charset="2"/>
              <a:buChar char="§"/>
            </a:pPr>
            <a:r>
              <a:rPr lang="en-US" sz="2400" dirty="0">
                <a:latin typeface="+mj-lt"/>
              </a:rPr>
              <a:t>Example: </a:t>
            </a:r>
            <a:r>
              <a:rPr lang="en-US" sz="2400" dirty="0">
                <a:solidFill>
                  <a:srgbClr val="C00000"/>
                </a:solidFill>
                <a:latin typeface="+mj-lt"/>
              </a:rPr>
              <a:t>2</a:t>
            </a:r>
            <a:r>
              <a:rPr lang="en-US" sz="2400" dirty="0">
                <a:latin typeface="+mj-lt"/>
              </a:rPr>
              <a:t>/</a:t>
            </a:r>
            <a:r>
              <a:rPr lang="en-US" sz="2400" dirty="0">
                <a:solidFill>
                  <a:srgbClr val="00B050"/>
                </a:solidFill>
                <a:latin typeface="+mj-lt"/>
              </a:rPr>
              <a:t>10</a:t>
            </a:r>
            <a:r>
              <a:rPr lang="en-US" sz="2400" dirty="0">
                <a:latin typeface="+mj-lt"/>
              </a:rPr>
              <a:t> </a:t>
            </a:r>
            <a:r>
              <a:rPr lang="en-US" sz="2400" dirty="0">
                <a:solidFill>
                  <a:srgbClr val="7030A0"/>
                </a:solidFill>
                <a:latin typeface="+mj-lt"/>
              </a:rPr>
              <a:t>net 30 days</a:t>
            </a:r>
          </a:p>
          <a:p>
            <a:pPr marL="1435100" indent="-354013" algn="just">
              <a:lnSpc>
                <a:spcPct val="105000"/>
              </a:lnSpc>
              <a:buSzPct val="100000"/>
              <a:buFont typeface="Wingdings" panose="05000000000000000000" pitchFamily="2" charset="2"/>
              <a:buChar char="§"/>
            </a:pPr>
            <a:r>
              <a:rPr lang="en-US" sz="2400" dirty="0">
                <a:solidFill>
                  <a:srgbClr val="C00000"/>
                </a:solidFill>
                <a:latin typeface="+mj-lt"/>
              </a:rPr>
              <a:t>2% discount given</a:t>
            </a:r>
          </a:p>
          <a:p>
            <a:pPr marL="1435100" indent="-354013" algn="just">
              <a:lnSpc>
                <a:spcPct val="105000"/>
              </a:lnSpc>
              <a:buSzPct val="100000"/>
              <a:buFont typeface="Wingdings" panose="05000000000000000000" pitchFamily="2" charset="2"/>
              <a:buChar char="§"/>
            </a:pPr>
            <a:r>
              <a:rPr lang="en-US" sz="2400" dirty="0">
                <a:solidFill>
                  <a:srgbClr val="00B050"/>
                </a:solidFill>
                <a:latin typeface="+mj-lt"/>
              </a:rPr>
              <a:t>2% discount only allowed for 10 days</a:t>
            </a:r>
          </a:p>
          <a:p>
            <a:pPr marL="1435100" indent="-354013" algn="just">
              <a:lnSpc>
                <a:spcPct val="105000"/>
              </a:lnSpc>
              <a:buSzPct val="100000"/>
              <a:buFont typeface="Wingdings" panose="05000000000000000000" pitchFamily="2" charset="2"/>
              <a:buChar char="§"/>
            </a:pPr>
            <a:r>
              <a:rPr lang="en-US" sz="2400" dirty="0">
                <a:solidFill>
                  <a:srgbClr val="7030A0"/>
                </a:solidFill>
                <a:latin typeface="+mj-lt"/>
              </a:rPr>
              <a:t>Full payment to be received by 30 day</a:t>
            </a:r>
          </a:p>
          <a:p>
            <a:pPr marL="717550" indent="-354013" algn="just">
              <a:lnSpc>
                <a:spcPct val="105000"/>
              </a:lnSpc>
              <a:buSzPct val="100000"/>
              <a:buFont typeface="Wingdings" panose="05000000000000000000" pitchFamily="2" charset="2"/>
              <a:buChar char="§"/>
            </a:pPr>
            <a:endParaRPr lang="en-US" sz="2400" dirty="0">
              <a:latin typeface="+mj-lt"/>
            </a:endParaRPr>
          </a:p>
        </p:txBody>
      </p:sp>
    </p:spTree>
    <p:custDataLst>
      <p:tags r:id="rId1"/>
    </p:custDataLst>
    <p:extLst>
      <p:ext uri="{BB962C8B-B14F-4D97-AF65-F5344CB8AC3E}">
        <p14:creationId xmlns:p14="http://schemas.microsoft.com/office/powerpoint/2010/main" val="2309813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546DB43-7D8E-5B23-5F12-AFC15788B1F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B595BA2-E4F0-9344-C97C-5C5FFF005F42}"/>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94125740-3D99-426E-FDF3-A16FBF86301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15</a:t>
            </a:fld>
            <a:endParaRPr lang="en-US">
              <a:solidFill>
                <a:schemeClr val="tx1"/>
              </a:solidFill>
            </a:endParaRPr>
          </a:p>
        </p:txBody>
      </p:sp>
      <p:sp>
        <p:nvSpPr>
          <p:cNvPr id="4" name="Rectangle 5">
            <a:extLst>
              <a:ext uri="{FF2B5EF4-FFF2-40B4-BE49-F238E27FC236}">
                <a16:creationId xmlns:a16="http://schemas.microsoft.com/office/drawing/2014/main" id="{1403CB7B-0C51-FAE6-B68D-10860A8EB336}"/>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The credit selection process (cont.)</a:t>
            </a:r>
          </a:p>
          <a:p>
            <a:pPr algn="just">
              <a:lnSpc>
                <a:spcPct val="105000"/>
              </a:lnSpc>
              <a:buSzPct val="100000"/>
              <a:buFont typeface="Arial" panose="020B0604020202020204" pitchFamily="34" charset="0"/>
              <a:buChar char="•"/>
            </a:pPr>
            <a:r>
              <a:rPr lang="en-US" sz="2400" dirty="0">
                <a:latin typeface="+mj-lt"/>
              </a:rPr>
              <a:t>Credit period</a:t>
            </a:r>
          </a:p>
          <a:p>
            <a:pPr marL="717550" indent="-354013" algn="just">
              <a:lnSpc>
                <a:spcPct val="105000"/>
              </a:lnSpc>
              <a:buSzPct val="100000"/>
              <a:buFont typeface="Wingdings" panose="05000000000000000000" pitchFamily="2" charset="2"/>
              <a:buChar char="§"/>
            </a:pPr>
            <a:r>
              <a:rPr lang="en-US" sz="2400" dirty="0">
                <a:latin typeface="+mj-lt"/>
              </a:rPr>
              <a:t>Short as possible</a:t>
            </a:r>
          </a:p>
          <a:p>
            <a:pPr marL="717550" indent="-354013" algn="just">
              <a:lnSpc>
                <a:spcPct val="105000"/>
              </a:lnSpc>
              <a:buSzPct val="100000"/>
              <a:buFont typeface="Wingdings" panose="05000000000000000000" pitchFamily="2" charset="2"/>
              <a:buChar char="§"/>
            </a:pPr>
            <a:r>
              <a:rPr lang="en-US" sz="2400" dirty="0">
                <a:latin typeface="+mj-lt"/>
              </a:rPr>
              <a:t>Depends on firm’s resources</a:t>
            </a:r>
          </a:p>
          <a:p>
            <a:pPr algn="just">
              <a:lnSpc>
                <a:spcPct val="105000"/>
              </a:lnSpc>
              <a:buSzPct val="100000"/>
              <a:buFont typeface="Arial" panose="020B0604020202020204" pitchFamily="34" charset="0"/>
              <a:buChar char="•"/>
            </a:pPr>
            <a:r>
              <a:rPr lang="en-US" sz="2400" dirty="0">
                <a:latin typeface="+mj-lt"/>
              </a:rPr>
              <a:t>The </a:t>
            </a:r>
            <a:r>
              <a:rPr lang="en-US" sz="2400" dirty="0">
                <a:solidFill>
                  <a:srgbClr val="C00000"/>
                </a:solidFill>
                <a:latin typeface="+mj-lt"/>
              </a:rPr>
              <a:t>settlement discount </a:t>
            </a:r>
            <a:r>
              <a:rPr lang="en-US" sz="2400" dirty="0">
                <a:latin typeface="+mj-lt"/>
              </a:rPr>
              <a:t>and discount period</a:t>
            </a:r>
          </a:p>
          <a:p>
            <a:pPr marL="717550" indent="-354013" algn="just">
              <a:lnSpc>
                <a:spcPct val="105000"/>
              </a:lnSpc>
              <a:buSzPct val="100000"/>
              <a:buFont typeface="Wingdings" panose="05000000000000000000" pitchFamily="2" charset="2"/>
              <a:buChar char="§"/>
            </a:pPr>
            <a:r>
              <a:rPr lang="en-US" sz="2400" dirty="0">
                <a:latin typeface="+mj-lt"/>
              </a:rPr>
              <a:t>Example: </a:t>
            </a:r>
            <a:r>
              <a:rPr lang="en-US" sz="2400" dirty="0">
                <a:solidFill>
                  <a:srgbClr val="C00000"/>
                </a:solidFill>
                <a:latin typeface="+mj-lt"/>
              </a:rPr>
              <a:t>2</a:t>
            </a:r>
            <a:r>
              <a:rPr lang="en-US" sz="2400" dirty="0">
                <a:latin typeface="+mj-lt"/>
              </a:rPr>
              <a:t>/</a:t>
            </a:r>
            <a:r>
              <a:rPr lang="en-US" sz="2400" dirty="0">
                <a:solidFill>
                  <a:srgbClr val="00B050"/>
                </a:solidFill>
                <a:latin typeface="+mj-lt"/>
              </a:rPr>
              <a:t>10</a:t>
            </a:r>
            <a:r>
              <a:rPr lang="en-US" sz="2400" dirty="0">
                <a:latin typeface="+mj-lt"/>
              </a:rPr>
              <a:t> net 30 days</a:t>
            </a:r>
          </a:p>
          <a:p>
            <a:pPr marL="1071563" indent="-354013" algn="just">
              <a:lnSpc>
                <a:spcPct val="105000"/>
              </a:lnSpc>
              <a:buSzPct val="100000"/>
              <a:buFont typeface="Wingdings" panose="05000000000000000000" pitchFamily="2" charset="2"/>
              <a:buChar char="§"/>
            </a:pPr>
            <a:r>
              <a:rPr lang="en-US" sz="2400" dirty="0">
                <a:solidFill>
                  <a:srgbClr val="C00000"/>
                </a:solidFill>
                <a:latin typeface="+mj-lt"/>
              </a:rPr>
              <a:t>2% discount given</a:t>
            </a:r>
          </a:p>
          <a:p>
            <a:pPr marL="1071563" indent="-354013" algn="just">
              <a:lnSpc>
                <a:spcPct val="105000"/>
              </a:lnSpc>
              <a:buSzPct val="100000"/>
              <a:buFont typeface="Wingdings" panose="05000000000000000000" pitchFamily="2" charset="2"/>
              <a:buChar char="§"/>
            </a:pPr>
            <a:r>
              <a:rPr lang="en-US" sz="2400" dirty="0">
                <a:solidFill>
                  <a:srgbClr val="00B050"/>
                </a:solidFill>
                <a:latin typeface="+mj-lt"/>
              </a:rPr>
              <a:t>2% discount only allowed for 10 days</a:t>
            </a: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3094655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87F311-D040-9463-7CB2-5AE262B05B9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E51E7F4-6979-D72C-6FB9-F81CBD0D893E}"/>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ED257C4B-3714-A0E1-6AD8-474A0927E02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16</a:t>
            </a:fld>
            <a:endParaRPr lang="en-US">
              <a:solidFill>
                <a:schemeClr val="tx1"/>
              </a:solidFill>
            </a:endParaRPr>
          </a:p>
        </p:txBody>
      </p:sp>
      <p:sp>
        <p:nvSpPr>
          <p:cNvPr id="4" name="Rectangle 5">
            <a:extLst>
              <a:ext uri="{FF2B5EF4-FFF2-40B4-BE49-F238E27FC236}">
                <a16:creationId xmlns:a16="http://schemas.microsoft.com/office/drawing/2014/main" id="{798A9F6B-B33B-C6A2-751C-65970AA434A4}"/>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000" dirty="0">
                <a:latin typeface="+mj-lt"/>
              </a:rPr>
              <a:t>The credit selection process (cont.)</a:t>
            </a:r>
          </a:p>
          <a:p>
            <a:pPr algn="just">
              <a:lnSpc>
                <a:spcPct val="100000"/>
              </a:lnSpc>
              <a:buSzPct val="100000"/>
              <a:buFont typeface="Arial" panose="020B0604020202020204" pitchFamily="34" charset="0"/>
              <a:buChar char="•"/>
            </a:pPr>
            <a:r>
              <a:rPr lang="en-US" sz="2000" dirty="0">
                <a:latin typeface="+mj-lt"/>
              </a:rPr>
              <a:t>Influence of credit terms on profitability</a:t>
            </a:r>
          </a:p>
          <a:p>
            <a:pPr marL="717550" algn="just">
              <a:lnSpc>
                <a:spcPct val="100000"/>
              </a:lnSpc>
              <a:buSzPct val="100000"/>
              <a:buFont typeface="Wingdings" panose="05000000000000000000" pitchFamily="2" charset="2"/>
              <a:buChar char="§"/>
            </a:pPr>
            <a:r>
              <a:rPr lang="en-US" sz="2000" dirty="0">
                <a:latin typeface="+mj-lt"/>
              </a:rPr>
              <a:t>Example: Zama Traders is considering selling a printer to Mr A Money on credit. Cost price of machine is R1 500 and selling price is R2 500. A credit term of net 60 days is agreed upon. The cost of capital of Zama Traders is 10%. Assume a 360-day year.</a:t>
            </a:r>
          </a:p>
          <a:p>
            <a:pPr marL="374650" indent="0" algn="just">
              <a:lnSpc>
                <a:spcPct val="100000"/>
              </a:lnSpc>
              <a:buSzPct val="100000"/>
              <a:buNone/>
              <a:tabLst>
                <a:tab pos="717550" algn="l"/>
                <a:tab pos="4030663" algn="l"/>
              </a:tabLst>
            </a:pPr>
            <a:r>
              <a:rPr lang="en-US" sz="2000" dirty="0">
                <a:latin typeface="+mj-lt"/>
              </a:rPr>
              <a:t>	Added credit cost to firm = Cost x Cost of credit x credit term</a:t>
            </a:r>
          </a:p>
          <a:p>
            <a:pPr marL="374650" indent="0" algn="just">
              <a:lnSpc>
                <a:spcPct val="100000"/>
              </a:lnSpc>
              <a:buSzPct val="100000"/>
              <a:buNone/>
              <a:tabLst>
                <a:tab pos="717550" algn="l"/>
                <a:tab pos="3854450" algn="l"/>
              </a:tabLst>
            </a:pPr>
            <a:r>
              <a:rPr lang="en-US" sz="2000" dirty="0">
                <a:latin typeface="+mj-lt"/>
              </a:rPr>
              <a:t>		= R1 500 x 0.1 x (60 / 360)</a:t>
            </a:r>
          </a:p>
          <a:p>
            <a:pPr marL="374650" indent="0" algn="just">
              <a:lnSpc>
                <a:spcPct val="100000"/>
              </a:lnSpc>
              <a:buSzPct val="100000"/>
              <a:buNone/>
              <a:tabLst>
                <a:tab pos="717550" algn="l"/>
                <a:tab pos="3854450" algn="l"/>
              </a:tabLst>
            </a:pPr>
            <a:r>
              <a:rPr lang="en-US" sz="2000" dirty="0">
                <a:latin typeface="+mj-lt"/>
              </a:rPr>
              <a:t>		= R25</a:t>
            </a:r>
          </a:p>
          <a:p>
            <a:pPr marL="374650" indent="0" algn="just">
              <a:lnSpc>
                <a:spcPct val="100000"/>
              </a:lnSpc>
              <a:buSzPct val="100000"/>
              <a:buNone/>
              <a:tabLst>
                <a:tab pos="717550" algn="l"/>
                <a:tab pos="3854450" algn="l"/>
              </a:tabLst>
            </a:pPr>
            <a:r>
              <a:rPr lang="en-US" sz="2000" dirty="0">
                <a:latin typeface="+mj-lt"/>
              </a:rPr>
              <a:t>	Total cost of sale 	= Cost price + Cost of credit</a:t>
            </a:r>
          </a:p>
          <a:p>
            <a:pPr marL="374650" indent="0" algn="just">
              <a:lnSpc>
                <a:spcPct val="100000"/>
              </a:lnSpc>
              <a:buSzPct val="100000"/>
              <a:buNone/>
              <a:tabLst>
                <a:tab pos="717550" algn="l"/>
                <a:tab pos="3854450" algn="l"/>
              </a:tabLst>
            </a:pPr>
            <a:r>
              <a:rPr lang="en-US" sz="2000" dirty="0">
                <a:latin typeface="+mj-lt"/>
              </a:rPr>
              <a:t>		= R1 500 + R25</a:t>
            </a:r>
          </a:p>
          <a:p>
            <a:pPr marL="374650" indent="0" algn="just">
              <a:lnSpc>
                <a:spcPct val="100000"/>
              </a:lnSpc>
              <a:buSzPct val="100000"/>
              <a:buNone/>
              <a:tabLst>
                <a:tab pos="717550" algn="l"/>
                <a:tab pos="3854450" algn="l"/>
              </a:tabLst>
            </a:pPr>
            <a:r>
              <a:rPr lang="en-US" sz="2000" dirty="0">
                <a:latin typeface="+mj-lt"/>
              </a:rPr>
              <a:t>		= R1 525</a:t>
            </a:r>
          </a:p>
          <a:p>
            <a:pPr marL="374650" indent="0" algn="just">
              <a:lnSpc>
                <a:spcPct val="100000"/>
              </a:lnSpc>
              <a:buSzPct val="100000"/>
              <a:buNone/>
              <a:tabLst>
                <a:tab pos="717550" algn="l"/>
                <a:tab pos="3854450" algn="l"/>
              </a:tabLst>
            </a:pPr>
            <a:r>
              <a:rPr lang="en-US" sz="2000" dirty="0">
                <a:latin typeface="+mj-lt"/>
              </a:rPr>
              <a:t>	Effect on profit	= SP – Cost of sale</a:t>
            </a:r>
          </a:p>
          <a:p>
            <a:pPr marL="374650" indent="0" algn="just">
              <a:lnSpc>
                <a:spcPct val="100000"/>
              </a:lnSpc>
              <a:buSzPct val="100000"/>
              <a:buNone/>
              <a:tabLst>
                <a:tab pos="717550" algn="l"/>
                <a:tab pos="3854450" algn="l"/>
              </a:tabLst>
            </a:pPr>
            <a:r>
              <a:rPr lang="en-US" sz="2000" dirty="0">
                <a:latin typeface="+mj-lt"/>
              </a:rPr>
              <a:t>		= R2 500 – R1 525</a:t>
            </a:r>
          </a:p>
          <a:p>
            <a:pPr marL="374650" indent="0" algn="just">
              <a:lnSpc>
                <a:spcPct val="100000"/>
              </a:lnSpc>
              <a:buSzPct val="100000"/>
              <a:buNone/>
              <a:tabLst>
                <a:tab pos="717550" algn="l"/>
                <a:tab pos="3854450" algn="l"/>
              </a:tabLst>
            </a:pPr>
            <a:r>
              <a:rPr lang="en-US" sz="2000" dirty="0">
                <a:latin typeface="+mj-lt"/>
              </a:rPr>
              <a:t>		= R975</a:t>
            </a:r>
          </a:p>
        </p:txBody>
      </p:sp>
    </p:spTree>
    <p:custDataLst>
      <p:tags r:id="rId1"/>
    </p:custDataLst>
    <p:extLst>
      <p:ext uri="{BB962C8B-B14F-4D97-AF65-F5344CB8AC3E}">
        <p14:creationId xmlns:p14="http://schemas.microsoft.com/office/powerpoint/2010/main" val="626016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E14C7A-4403-C0C1-0459-C3C196403E7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C4B2417-0E82-BA9D-3413-707ACCCC9C38}"/>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D4752177-DCCE-D905-E280-7244ACBD04E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17</a:t>
            </a:fld>
            <a:endParaRPr lang="en-US">
              <a:solidFill>
                <a:schemeClr val="tx1"/>
              </a:solidFill>
            </a:endParaRPr>
          </a:p>
        </p:txBody>
      </p:sp>
      <p:sp>
        <p:nvSpPr>
          <p:cNvPr id="4" name="Rectangle 5">
            <a:extLst>
              <a:ext uri="{FF2B5EF4-FFF2-40B4-BE49-F238E27FC236}">
                <a16:creationId xmlns:a16="http://schemas.microsoft.com/office/drawing/2014/main" id="{D1E20C65-086E-91EA-9461-C7417593983B}"/>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200" dirty="0">
                <a:latin typeface="+mj-lt"/>
              </a:rPr>
              <a:t>The credit selection process (cont.)</a:t>
            </a:r>
          </a:p>
          <a:p>
            <a:pPr algn="just">
              <a:lnSpc>
                <a:spcPct val="100000"/>
              </a:lnSpc>
              <a:buSzPct val="100000"/>
              <a:buFont typeface="Arial" panose="020B0604020202020204" pitchFamily="34" charset="0"/>
              <a:buChar char="•"/>
            </a:pPr>
            <a:r>
              <a:rPr lang="en-US" sz="2200" dirty="0">
                <a:latin typeface="+mj-lt"/>
              </a:rPr>
              <a:t>Influence of credit terms on profitability (cont.)</a:t>
            </a:r>
          </a:p>
          <a:p>
            <a:pPr marL="717550" algn="just">
              <a:lnSpc>
                <a:spcPct val="100000"/>
              </a:lnSpc>
              <a:buSzPct val="100000"/>
              <a:buFont typeface="Wingdings" panose="05000000000000000000" pitchFamily="2" charset="2"/>
              <a:buChar char="§"/>
            </a:pPr>
            <a:r>
              <a:rPr lang="en-US" sz="2200" dirty="0">
                <a:latin typeface="+mj-lt"/>
              </a:rPr>
              <a:t>Example: Consider previous Zama Traders example. Zama Traders offers Mr A Money terms 2/30 net 60. Therefore Mr Money receives R50 discount (2% of R2 500).</a:t>
            </a:r>
          </a:p>
          <a:p>
            <a:pPr marL="374650" indent="0" algn="just">
              <a:lnSpc>
                <a:spcPct val="100000"/>
              </a:lnSpc>
              <a:buSzPct val="100000"/>
              <a:buNone/>
              <a:tabLst>
                <a:tab pos="717550" algn="l"/>
                <a:tab pos="3854450" algn="l"/>
              </a:tabLst>
            </a:pPr>
            <a:r>
              <a:rPr lang="en-US" sz="2200" dirty="0">
                <a:latin typeface="+mj-lt"/>
              </a:rPr>
              <a:t>	Cost of credit	= Cost x Cost of credit x credit term</a:t>
            </a:r>
          </a:p>
          <a:p>
            <a:pPr marL="374650" indent="0" algn="just">
              <a:lnSpc>
                <a:spcPct val="100000"/>
              </a:lnSpc>
              <a:buSzPct val="100000"/>
              <a:buNone/>
              <a:tabLst>
                <a:tab pos="717550" algn="l"/>
                <a:tab pos="3854450" algn="l"/>
              </a:tabLst>
            </a:pPr>
            <a:r>
              <a:rPr lang="en-US" sz="2200" dirty="0">
                <a:latin typeface="+mj-lt"/>
              </a:rPr>
              <a:t>		= R1 500 x 0.1 x (30 / </a:t>
            </a:r>
            <a:r>
              <a:rPr lang="en-US" sz="2200" dirty="0">
                <a:solidFill>
                  <a:srgbClr val="C00000"/>
                </a:solidFill>
                <a:latin typeface="+mj-lt"/>
              </a:rPr>
              <a:t>360*</a:t>
            </a:r>
            <a:r>
              <a:rPr lang="en-US" sz="2200" dirty="0">
                <a:latin typeface="+mj-lt"/>
              </a:rPr>
              <a:t>)</a:t>
            </a:r>
          </a:p>
          <a:p>
            <a:pPr marL="374650" indent="0" algn="just">
              <a:lnSpc>
                <a:spcPct val="100000"/>
              </a:lnSpc>
              <a:buSzPct val="100000"/>
              <a:buNone/>
              <a:tabLst>
                <a:tab pos="717550" algn="l"/>
                <a:tab pos="3854450" algn="l"/>
              </a:tabLst>
            </a:pPr>
            <a:r>
              <a:rPr lang="en-US" sz="2200" dirty="0">
                <a:latin typeface="+mj-lt"/>
              </a:rPr>
              <a:t>		= R12.50</a:t>
            </a:r>
          </a:p>
          <a:p>
            <a:pPr marL="374650" indent="0" algn="just">
              <a:lnSpc>
                <a:spcPct val="100000"/>
              </a:lnSpc>
              <a:buSzPct val="100000"/>
              <a:buNone/>
              <a:tabLst>
                <a:tab pos="717550" algn="l"/>
                <a:tab pos="3854450" algn="l"/>
              </a:tabLst>
            </a:pPr>
            <a:r>
              <a:rPr lang="en-US" sz="2200" dirty="0">
                <a:latin typeface="+mj-lt"/>
              </a:rPr>
              <a:t>	Total cost of sale 	= Cost price + Cost of credit</a:t>
            </a:r>
          </a:p>
          <a:p>
            <a:pPr marL="374650" indent="0" algn="just">
              <a:lnSpc>
                <a:spcPct val="100000"/>
              </a:lnSpc>
              <a:buSzPct val="100000"/>
              <a:buNone/>
              <a:tabLst>
                <a:tab pos="717550" algn="l"/>
                <a:tab pos="3854450" algn="l"/>
              </a:tabLst>
            </a:pPr>
            <a:r>
              <a:rPr lang="en-US" sz="2200" dirty="0">
                <a:latin typeface="+mj-lt"/>
              </a:rPr>
              <a:t>		= R1 500 + R12.50</a:t>
            </a:r>
          </a:p>
          <a:p>
            <a:pPr marL="374650" indent="0" algn="just">
              <a:lnSpc>
                <a:spcPct val="100000"/>
              </a:lnSpc>
              <a:buSzPct val="100000"/>
              <a:buNone/>
              <a:tabLst>
                <a:tab pos="717550" algn="l"/>
                <a:tab pos="3854450" algn="l"/>
              </a:tabLst>
            </a:pPr>
            <a:r>
              <a:rPr lang="en-US" sz="2200" dirty="0">
                <a:latin typeface="+mj-lt"/>
              </a:rPr>
              <a:t>		= R1 512.50</a:t>
            </a:r>
          </a:p>
          <a:p>
            <a:pPr marL="374650" indent="0" algn="just">
              <a:lnSpc>
                <a:spcPct val="100000"/>
              </a:lnSpc>
              <a:buSzPct val="100000"/>
              <a:buNone/>
              <a:tabLst>
                <a:tab pos="717550" algn="l"/>
                <a:tab pos="3854450" algn="l"/>
              </a:tabLst>
            </a:pPr>
            <a:r>
              <a:rPr lang="en-US" sz="2200" dirty="0">
                <a:latin typeface="+mj-lt"/>
              </a:rPr>
              <a:t>	Effect on profit	= SP – Cost of sale</a:t>
            </a:r>
          </a:p>
          <a:p>
            <a:pPr marL="374650" indent="0" algn="just">
              <a:lnSpc>
                <a:spcPct val="100000"/>
              </a:lnSpc>
              <a:buSzPct val="100000"/>
              <a:buNone/>
              <a:tabLst>
                <a:tab pos="717550" algn="l"/>
                <a:tab pos="3854450" algn="l"/>
              </a:tabLst>
            </a:pPr>
            <a:r>
              <a:rPr lang="en-US" sz="2200" dirty="0">
                <a:latin typeface="+mj-lt"/>
              </a:rPr>
              <a:t>		= R2 450 – R1 512.50</a:t>
            </a:r>
          </a:p>
          <a:p>
            <a:pPr marL="374650" indent="0" algn="just">
              <a:lnSpc>
                <a:spcPct val="100000"/>
              </a:lnSpc>
              <a:buSzPct val="100000"/>
              <a:buNone/>
              <a:tabLst>
                <a:tab pos="717550" algn="l"/>
                <a:tab pos="3854450" algn="l"/>
              </a:tabLst>
            </a:pPr>
            <a:r>
              <a:rPr lang="en-US" sz="2200" dirty="0">
                <a:latin typeface="+mj-lt"/>
              </a:rPr>
              <a:t>		= R937.50</a:t>
            </a:r>
          </a:p>
          <a:p>
            <a:pPr marL="0" indent="0" algn="just">
              <a:lnSpc>
                <a:spcPct val="100000"/>
              </a:lnSpc>
              <a:buSzPct val="100000"/>
              <a:buNone/>
              <a:tabLst>
                <a:tab pos="717550" algn="l"/>
                <a:tab pos="3854450" algn="l"/>
              </a:tabLst>
            </a:pPr>
            <a:r>
              <a:rPr lang="en-US" sz="2200" dirty="0">
                <a:latin typeface="+mj-lt"/>
              </a:rPr>
              <a:t>*mistake in textbook p 233 – should be 360 not 300</a:t>
            </a:r>
          </a:p>
        </p:txBody>
      </p:sp>
    </p:spTree>
    <p:custDataLst>
      <p:tags r:id="rId1"/>
    </p:custDataLst>
    <p:extLst>
      <p:ext uri="{BB962C8B-B14F-4D97-AF65-F5344CB8AC3E}">
        <p14:creationId xmlns:p14="http://schemas.microsoft.com/office/powerpoint/2010/main" val="3784214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7AC110-1216-3CC7-7967-E59B4C49FE6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D8B77697-B7F3-FFB5-81A2-D71BECA067D6}"/>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C9AED06E-11F1-BD20-4A13-369A485D52A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18</a:t>
            </a:fld>
            <a:endParaRPr lang="en-US">
              <a:solidFill>
                <a:schemeClr val="tx1"/>
              </a:solidFill>
            </a:endParaRPr>
          </a:p>
        </p:txBody>
      </p:sp>
      <p:graphicFrame>
        <p:nvGraphicFramePr>
          <p:cNvPr id="6" name="Table 5">
            <a:extLst>
              <a:ext uri="{FF2B5EF4-FFF2-40B4-BE49-F238E27FC236}">
                <a16:creationId xmlns:a16="http://schemas.microsoft.com/office/drawing/2014/main" id="{534B4494-A8E3-6034-568B-3230AA14187A}"/>
              </a:ext>
            </a:extLst>
          </p:cNvPr>
          <p:cNvGraphicFramePr>
            <a:graphicFrameLocks noGrp="1"/>
          </p:cNvGraphicFramePr>
          <p:nvPr>
            <p:extLst>
              <p:ext uri="{D42A27DB-BD31-4B8C-83A1-F6EECF244321}">
                <p14:modId xmlns:p14="http://schemas.microsoft.com/office/powerpoint/2010/main" val="768466633"/>
              </p:ext>
            </p:extLst>
          </p:nvPr>
        </p:nvGraphicFramePr>
        <p:xfrm>
          <a:off x="86594" y="2514600"/>
          <a:ext cx="8964000" cy="2286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188577414"/>
                    </a:ext>
                  </a:extLst>
                </a:gridCol>
                <a:gridCol w="3262800">
                  <a:extLst>
                    <a:ext uri="{9D8B030D-6E8A-4147-A177-3AD203B41FA5}">
                      <a16:colId xmlns:a16="http://schemas.microsoft.com/office/drawing/2014/main" val="2119256734"/>
                    </a:ext>
                  </a:extLst>
                </a:gridCol>
                <a:gridCol w="3262800">
                  <a:extLst>
                    <a:ext uri="{9D8B030D-6E8A-4147-A177-3AD203B41FA5}">
                      <a16:colId xmlns:a16="http://schemas.microsoft.com/office/drawing/2014/main" val="2013880313"/>
                    </a:ext>
                  </a:extLst>
                </a:gridCol>
              </a:tblGrid>
              <a:tr h="370840">
                <a:tc>
                  <a:txBody>
                    <a:bodyPr/>
                    <a:lstStyle/>
                    <a:p>
                      <a:endParaRPr lang="en-ZA" sz="2400" dirty="0"/>
                    </a:p>
                  </a:txBody>
                  <a:tcPr/>
                </a:tc>
                <a:tc>
                  <a:txBody>
                    <a:bodyPr/>
                    <a:lstStyle/>
                    <a:p>
                      <a:r>
                        <a:rPr lang="en-US" sz="2400" dirty="0"/>
                        <a:t>30-day  payment</a:t>
                      </a:r>
                      <a:endParaRPr lang="en-ZA" sz="2400" dirty="0"/>
                    </a:p>
                  </a:txBody>
                  <a:tcPr/>
                </a:tc>
                <a:tc>
                  <a:txBody>
                    <a:bodyPr/>
                    <a:lstStyle/>
                    <a:p>
                      <a:r>
                        <a:rPr lang="en-US" sz="2400" dirty="0"/>
                        <a:t>60-day payment</a:t>
                      </a:r>
                      <a:endParaRPr lang="en-ZA" sz="2400" dirty="0"/>
                    </a:p>
                  </a:txBody>
                  <a:tcPr/>
                </a:tc>
                <a:extLst>
                  <a:ext uri="{0D108BD9-81ED-4DB2-BD59-A6C34878D82A}">
                    <a16:rowId xmlns:a16="http://schemas.microsoft.com/office/drawing/2014/main" val="1422608688"/>
                  </a:ext>
                </a:extLst>
              </a:tr>
              <a:tr h="370840">
                <a:tc>
                  <a:txBody>
                    <a:bodyPr/>
                    <a:lstStyle/>
                    <a:p>
                      <a:r>
                        <a:rPr lang="en-US" sz="2400" dirty="0"/>
                        <a:t>Effective price</a:t>
                      </a:r>
                      <a:endParaRPr lang="en-ZA" sz="2400" dirty="0"/>
                    </a:p>
                  </a:txBody>
                  <a:tcPr/>
                </a:tc>
                <a:tc>
                  <a:txBody>
                    <a:bodyPr/>
                    <a:lstStyle/>
                    <a:p>
                      <a:pPr algn="r"/>
                      <a:r>
                        <a:rPr lang="en-US" sz="2400" dirty="0"/>
                        <a:t>R   2 450.00</a:t>
                      </a:r>
                      <a:endParaRPr lang="en-ZA" sz="2400" dirty="0"/>
                    </a:p>
                  </a:txBody>
                  <a:tcPr/>
                </a:tc>
                <a:tc>
                  <a:txBody>
                    <a:bodyPr/>
                    <a:lstStyle/>
                    <a:p>
                      <a:pPr algn="r"/>
                      <a:r>
                        <a:rPr lang="en-US" sz="2400" dirty="0"/>
                        <a:t>R   2 500.00</a:t>
                      </a:r>
                      <a:endParaRPr lang="en-ZA" sz="2400" dirty="0"/>
                    </a:p>
                  </a:txBody>
                  <a:tcPr/>
                </a:tc>
                <a:extLst>
                  <a:ext uri="{0D108BD9-81ED-4DB2-BD59-A6C34878D82A}">
                    <a16:rowId xmlns:a16="http://schemas.microsoft.com/office/drawing/2014/main" val="2816466073"/>
                  </a:ext>
                </a:extLst>
              </a:tr>
              <a:tr h="370840">
                <a:tc>
                  <a:txBody>
                    <a:bodyPr/>
                    <a:lstStyle/>
                    <a:p>
                      <a:r>
                        <a:rPr lang="en-US" sz="2400" dirty="0"/>
                        <a:t>Less cost price</a:t>
                      </a:r>
                      <a:endParaRPr lang="en-ZA" sz="2400" dirty="0"/>
                    </a:p>
                  </a:txBody>
                  <a:tcPr/>
                </a:tc>
                <a:tc>
                  <a:txBody>
                    <a:bodyPr/>
                    <a:lstStyle/>
                    <a:p>
                      <a:pPr algn="r"/>
                      <a:r>
                        <a:rPr lang="en-US" sz="2400" dirty="0"/>
                        <a:t>R   1 500.00</a:t>
                      </a:r>
                      <a:endParaRPr lang="en-ZA" sz="2400" dirty="0"/>
                    </a:p>
                  </a:txBody>
                  <a:tcPr/>
                </a:tc>
                <a:tc>
                  <a:txBody>
                    <a:bodyPr/>
                    <a:lstStyle/>
                    <a:p>
                      <a:pPr algn="r"/>
                      <a:r>
                        <a:rPr lang="en-US" sz="2400" dirty="0"/>
                        <a:t>R   1 500.00</a:t>
                      </a:r>
                      <a:endParaRPr lang="en-ZA" sz="2400" dirty="0"/>
                    </a:p>
                  </a:txBody>
                  <a:tcPr/>
                </a:tc>
                <a:extLst>
                  <a:ext uri="{0D108BD9-81ED-4DB2-BD59-A6C34878D82A}">
                    <a16:rowId xmlns:a16="http://schemas.microsoft.com/office/drawing/2014/main" val="1014757453"/>
                  </a:ext>
                </a:extLst>
              </a:tr>
              <a:tr h="370840">
                <a:tc>
                  <a:txBody>
                    <a:bodyPr/>
                    <a:lstStyle/>
                    <a:p>
                      <a:r>
                        <a:rPr lang="en-US" sz="2400" dirty="0"/>
                        <a:t>Less credit cost</a:t>
                      </a:r>
                      <a:endParaRPr lang="en-ZA" sz="2400" dirty="0"/>
                    </a:p>
                  </a:txBody>
                  <a:tcPr/>
                </a:tc>
                <a:tc>
                  <a:txBody>
                    <a:bodyPr/>
                    <a:lstStyle/>
                    <a:p>
                      <a:pPr algn="r"/>
                      <a:r>
                        <a:rPr lang="en-US" sz="2400" dirty="0"/>
                        <a:t>R       12.50</a:t>
                      </a:r>
                      <a:endParaRPr lang="en-ZA" sz="2400" dirty="0"/>
                    </a:p>
                  </a:txBody>
                  <a:tcPr>
                    <a:lnB w="12700" cap="flat" cmpd="sng" algn="ctr">
                      <a:solidFill>
                        <a:schemeClr val="tx1"/>
                      </a:solidFill>
                      <a:prstDash val="solid"/>
                      <a:round/>
                      <a:headEnd type="none" w="med" len="med"/>
                      <a:tailEnd type="none" w="med" len="med"/>
                    </a:lnB>
                  </a:tcPr>
                </a:tc>
                <a:tc>
                  <a:txBody>
                    <a:bodyPr/>
                    <a:lstStyle/>
                    <a:p>
                      <a:pPr algn="r"/>
                      <a:r>
                        <a:rPr lang="en-US" sz="2400" dirty="0"/>
                        <a:t>R       25.00</a:t>
                      </a:r>
                      <a:endParaRPr lang="en-ZA" sz="24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603874"/>
                  </a:ext>
                </a:extLst>
              </a:tr>
              <a:tr h="370840">
                <a:tc>
                  <a:txBody>
                    <a:bodyPr/>
                    <a:lstStyle/>
                    <a:p>
                      <a:r>
                        <a:rPr lang="en-US" sz="2400" dirty="0"/>
                        <a:t>Profit</a:t>
                      </a:r>
                      <a:endParaRPr lang="en-ZA" sz="2400" dirty="0"/>
                    </a:p>
                  </a:txBody>
                  <a:tcPr/>
                </a:tc>
                <a:tc>
                  <a:txBody>
                    <a:bodyPr/>
                    <a:lstStyle/>
                    <a:p>
                      <a:pPr algn="r"/>
                      <a:r>
                        <a:rPr lang="en-US" sz="2400" dirty="0"/>
                        <a:t>R     937.50</a:t>
                      </a:r>
                      <a:endParaRPr lang="en-ZA" sz="2400" dirty="0"/>
                    </a:p>
                  </a:txBody>
                  <a:tcP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2400" dirty="0"/>
                        <a:t>R     975.00</a:t>
                      </a:r>
                      <a:endParaRPr lang="en-ZA" sz="2400" dirty="0"/>
                    </a:p>
                  </a:txBody>
                  <a:tcP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042019"/>
                  </a:ext>
                </a:extLst>
              </a:tr>
            </a:tbl>
          </a:graphicData>
        </a:graphic>
      </p:graphicFrame>
      <p:sp>
        <p:nvSpPr>
          <p:cNvPr id="7" name="Rectangle 5">
            <a:extLst>
              <a:ext uri="{FF2B5EF4-FFF2-40B4-BE49-F238E27FC236}">
                <a16:creationId xmlns:a16="http://schemas.microsoft.com/office/drawing/2014/main" id="{FEE04016-C09B-6C4D-7B07-B3C44BAD0F2A}"/>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Influence of credit terms on profitability (cont.)</a:t>
            </a:r>
          </a:p>
          <a:p>
            <a:pPr marL="717550" algn="just">
              <a:lnSpc>
                <a:spcPct val="100000"/>
              </a:lnSpc>
              <a:buSzPct val="100000"/>
              <a:buFont typeface="Wingdings" panose="05000000000000000000" pitchFamily="2" charset="2"/>
              <a:buChar char="§"/>
            </a:pPr>
            <a:r>
              <a:rPr lang="en-US" sz="2400" dirty="0">
                <a:latin typeface="+mj-lt"/>
              </a:rPr>
              <a:t>Comparing payment at day 30 and day 60</a:t>
            </a:r>
          </a:p>
        </p:txBody>
      </p:sp>
    </p:spTree>
    <p:custDataLst>
      <p:tags r:id="rId1"/>
    </p:custDataLst>
    <p:extLst>
      <p:ext uri="{BB962C8B-B14F-4D97-AF65-F5344CB8AC3E}">
        <p14:creationId xmlns:p14="http://schemas.microsoft.com/office/powerpoint/2010/main" val="405542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7BA24A-8C2A-3E5F-B994-9B322EE87C3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4FD2A58-D276-ABAE-ED6D-78CB62609FBC}"/>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5B57F3EE-0A52-004D-224B-F5A759269B6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19</a:t>
            </a:fld>
            <a:endParaRPr lang="en-US">
              <a:solidFill>
                <a:schemeClr val="tx1"/>
              </a:solidFill>
            </a:endParaRPr>
          </a:p>
        </p:txBody>
      </p:sp>
      <p:graphicFrame>
        <p:nvGraphicFramePr>
          <p:cNvPr id="6" name="Table 5">
            <a:extLst>
              <a:ext uri="{FF2B5EF4-FFF2-40B4-BE49-F238E27FC236}">
                <a16:creationId xmlns:a16="http://schemas.microsoft.com/office/drawing/2014/main" id="{CAB88EE4-EA5E-FD4D-3259-BA93C15EC3E2}"/>
              </a:ext>
            </a:extLst>
          </p:cNvPr>
          <p:cNvGraphicFramePr>
            <a:graphicFrameLocks noGrp="1"/>
          </p:cNvGraphicFramePr>
          <p:nvPr>
            <p:extLst>
              <p:ext uri="{D42A27DB-BD31-4B8C-83A1-F6EECF244321}">
                <p14:modId xmlns:p14="http://schemas.microsoft.com/office/powerpoint/2010/main" val="1471617680"/>
              </p:ext>
            </p:extLst>
          </p:nvPr>
        </p:nvGraphicFramePr>
        <p:xfrm>
          <a:off x="76200" y="3124200"/>
          <a:ext cx="8964000" cy="2468880"/>
        </p:xfrm>
        <a:graphic>
          <a:graphicData uri="http://schemas.openxmlformats.org/drawingml/2006/table">
            <a:tbl>
              <a:tblPr firstRow="1" bandRow="1">
                <a:tableStyleId>{5C22544A-7EE6-4342-B048-85BDC9FD1C3A}</a:tableStyleId>
              </a:tblPr>
              <a:tblGrid>
                <a:gridCol w="2639400">
                  <a:extLst>
                    <a:ext uri="{9D8B030D-6E8A-4147-A177-3AD203B41FA5}">
                      <a16:colId xmlns:a16="http://schemas.microsoft.com/office/drawing/2014/main" val="3188577414"/>
                    </a:ext>
                  </a:extLst>
                </a:gridCol>
                <a:gridCol w="2108200">
                  <a:extLst>
                    <a:ext uri="{9D8B030D-6E8A-4147-A177-3AD203B41FA5}">
                      <a16:colId xmlns:a16="http://schemas.microsoft.com/office/drawing/2014/main" val="2119256734"/>
                    </a:ext>
                  </a:extLst>
                </a:gridCol>
                <a:gridCol w="2108200">
                  <a:extLst>
                    <a:ext uri="{9D8B030D-6E8A-4147-A177-3AD203B41FA5}">
                      <a16:colId xmlns:a16="http://schemas.microsoft.com/office/drawing/2014/main" val="3024448024"/>
                    </a:ext>
                  </a:extLst>
                </a:gridCol>
                <a:gridCol w="2108200">
                  <a:extLst>
                    <a:ext uri="{9D8B030D-6E8A-4147-A177-3AD203B41FA5}">
                      <a16:colId xmlns:a16="http://schemas.microsoft.com/office/drawing/2014/main" val="2013880313"/>
                    </a:ext>
                  </a:extLst>
                </a:gridCol>
              </a:tblGrid>
              <a:tr h="370840">
                <a:tc>
                  <a:txBody>
                    <a:bodyPr/>
                    <a:lstStyle/>
                    <a:p>
                      <a:r>
                        <a:rPr lang="en-US" sz="2200" dirty="0"/>
                        <a:t>Payment pattern</a:t>
                      </a:r>
                      <a:endParaRPr lang="en-ZA" sz="2200" dirty="0"/>
                    </a:p>
                  </a:txBody>
                  <a:tcPr/>
                </a:tc>
                <a:tc>
                  <a:txBody>
                    <a:bodyPr/>
                    <a:lstStyle/>
                    <a:p>
                      <a:pPr algn="ctr"/>
                      <a:r>
                        <a:rPr lang="en-US" sz="2200" dirty="0"/>
                        <a:t>Profit or </a:t>
                      </a:r>
                      <a:r>
                        <a:rPr lang="en-US" sz="2200" dirty="0">
                          <a:solidFill>
                            <a:srgbClr val="C00000"/>
                          </a:solidFill>
                        </a:rPr>
                        <a:t>Loss</a:t>
                      </a:r>
                      <a:endParaRPr lang="en-ZA" sz="2200" dirty="0">
                        <a:solidFill>
                          <a:srgbClr val="C00000"/>
                        </a:solidFill>
                      </a:endParaRPr>
                    </a:p>
                  </a:txBody>
                  <a:tcPr anchor="ctr"/>
                </a:tc>
                <a:tc>
                  <a:txBody>
                    <a:bodyPr/>
                    <a:lstStyle/>
                    <a:p>
                      <a:pPr algn="ctr"/>
                      <a:r>
                        <a:rPr lang="en-US" sz="2200" dirty="0"/>
                        <a:t>Probability</a:t>
                      </a:r>
                      <a:endParaRPr lang="en-ZA" sz="2200" dirty="0"/>
                    </a:p>
                  </a:txBody>
                  <a:tcPr anchor="ctr"/>
                </a:tc>
                <a:tc>
                  <a:txBody>
                    <a:bodyPr/>
                    <a:lstStyle/>
                    <a:p>
                      <a:pPr algn="ctr"/>
                      <a:r>
                        <a:rPr lang="en-US" sz="2200" dirty="0"/>
                        <a:t>Weighted income</a:t>
                      </a:r>
                      <a:endParaRPr lang="en-ZA" sz="2200" dirty="0"/>
                    </a:p>
                  </a:txBody>
                  <a:tcPr anchor="ctr"/>
                </a:tc>
                <a:extLst>
                  <a:ext uri="{0D108BD9-81ED-4DB2-BD59-A6C34878D82A}">
                    <a16:rowId xmlns:a16="http://schemas.microsoft.com/office/drawing/2014/main" val="1422608688"/>
                  </a:ext>
                </a:extLst>
              </a:tr>
              <a:tr h="370840">
                <a:tc>
                  <a:txBody>
                    <a:bodyPr/>
                    <a:lstStyle/>
                    <a:p>
                      <a:r>
                        <a:rPr lang="en-US" sz="2200" dirty="0"/>
                        <a:t>30 days</a:t>
                      </a:r>
                      <a:endParaRPr lang="en-ZA" sz="2200" dirty="0"/>
                    </a:p>
                  </a:txBody>
                  <a:tcPr/>
                </a:tc>
                <a:tc>
                  <a:txBody>
                    <a:bodyPr/>
                    <a:lstStyle/>
                    <a:p>
                      <a:pPr algn="r"/>
                      <a:r>
                        <a:rPr lang="en-US" sz="2200" dirty="0"/>
                        <a:t>R      937.50</a:t>
                      </a:r>
                      <a:endParaRPr lang="en-ZA" sz="2200" dirty="0"/>
                    </a:p>
                  </a:txBody>
                  <a:tcPr anchor="ctr"/>
                </a:tc>
                <a:tc>
                  <a:txBody>
                    <a:bodyPr/>
                    <a:lstStyle/>
                    <a:p>
                      <a:pPr algn="r"/>
                      <a:r>
                        <a:rPr lang="en-US" sz="2200" dirty="0"/>
                        <a:t>0.70</a:t>
                      </a:r>
                      <a:endParaRPr lang="en-ZA" sz="2200" dirty="0"/>
                    </a:p>
                  </a:txBody>
                  <a:tcPr anchor="ctr"/>
                </a:tc>
                <a:tc>
                  <a:txBody>
                    <a:bodyPr/>
                    <a:lstStyle/>
                    <a:p>
                      <a:pPr algn="r"/>
                      <a:r>
                        <a:rPr lang="en-US" sz="2200" dirty="0"/>
                        <a:t>R     656.25</a:t>
                      </a:r>
                      <a:endParaRPr lang="en-ZA" sz="2200" dirty="0"/>
                    </a:p>
                  </a:txBody>
                  <a:tcPr anchor="ctr"/>
                </a:tc>
                <a:extLst>
                  <a:ext uri="{0D108BD9-81ED-4DB2-BD59-A6C34878D82A}">
                    <a16:rowId xmlns:a16="http://schemas.microsoft.com/office/drawing/2014/main" val="2816466073"/>
                  </a:ext>
                </a:extLst>
              </a:tr>
              <a:tr h="370840">
                <a:tc>
                  <a:txBody>
                    <a:bodyPr/>
                    <a:lstStyle/>
                    <a:p>
                      <a:r>
                        <a:rPr lang="en-US" sz="2200" dirty="0"/>
                        <a:t>60 days</a:t>
                      </a:r>
                      <a:endParaRPr lang="en-ZA" sz="2200" dirty="0"/>
                    </a:p>
                  </a:txBody>
                  <a:tcPr/>
                </a:tc>
                <a:tc>
                  <a:txBody>
                    <a:bodyPr/>
                    <a:lstStyle/>
                    <a:p>
                      <a:pPr algn="r"/>
                      <a:r>
                        <a:rPr lang="en-US" sz="2200" dirty="0"/>
                        <a:t>R      975.00</a:t>
                      </a:r>
                      <a:endParaRPr lang="en-ZA" sz="2200" dirty="0"/>
                    </a:p>
                  </a:txBody>
                  <a:tcPr anchor="ctr"/>
                </a:tc>
                <a:tc>
                  <a:txBody>
                    <a:bodyPr/>
                    <a:lstStyle/>
                    <a:p>
                      <a:pPr algn="r"/>
                      <a:r>
                        <a:rPr lang="en-US" sz="2200" dirty="0"/>
                        <a:t>0.28</a:t>
                      </a:r>
                      <a:endParaRPr lang="en-ZA" sz="2200" dirty="0"/>
                    </a:p>
                  </a:txBody>
                  <a:tcPr anchor="ctr"/>
                </a:tc>
                <a:tc>
                  <a:txBody>
                    <a:bodyPr/>
                    <a:lstStyle/>
                    <a:p>
                      <a:pPr algn="r"/>
                      <a:r>
                        <a:rPr lang="en-US" sz="2200" dirty="0"/>
                        <a:t>R     273.00</a:t>
                      </a:r>
                      <a:endParaRPr lang="en-ZA" sz="2200" dirty="0"/>
                    </a:p>
                  </a:txBody>
                  <a:tcPr anchor="ctr"/>
                </a:tc>
                <a:extLst>
                  <a:ext uri="{0D108BD9-81ED-4DB2-BD59-A6C34878D82A}">
                    <a16:rowId xmlns:a16="http://schemas.microsoft.com/office/drawing/2014/main" val="1014757453"/>
                  </a:ext>
                </a:extLst>
              </a:tr>
              <a:tr h="370840">
                <a:tc>
                  <a:txBody>
                    <a:bodyPr/>
                    <a:lstStyle/>
                    <a:p>
                      <a:r>
                        <a:rPr lang="en-US" sz="2200" dirty="0"/>
                        <a:t>Bad debt</a:t>
                      </a:r>
                      <a:endParaRPr lang="en-ZA" sz="2200" dirty="0"/>
                    </a:p>
                  </a:txBody>
                  <a:tcPr/>
                </a:tc>
                <a:tc>
                  <a:txBody>
                    <a:bodyPr/>
                    <a:lstStyle/>
                    <a:p>
                      <a:pPr algn="r"/>
                      <a:r>
                        <a:rPr lang="en-US" sz="2200" dirty="0">
                          <a:solidFill>
                            <a:srgbClr val="C00000"/>
                          </a:solidFill>
                        </a:rPr>
                        <a:t>R   1 575.83</a:t>
                      </a:r>
                      <a:endParaRPr lang="en-ZA" sz="2200" dirty="0">
                        <a:solidFill>
                          <a:srgbClr val="C00000"/>
                        </a:solidFill>
                      </a:endParaRPr>
                    </a:p>
                  </a:txBody>
                  <a:tcPr anchor="ctr">
                    <a:lnB w="12700" cap="flat" cmpd="sng" algn="ctr">
                      <a:solidFill>
                        <a:schemeClr val="tx1"/>
                      </a:solidFill>
                      <a:prstDash val="solid"/>
                      <a:round/>
                      <a:headEnd type="none" w="med" len="med"/>
                      <a:tailEnd type="none" w="med" len="med"/>
                    </a:lnB>
                  </a:tcPr>
                </a:tc>
                <a:tc>
                  <a:txBody>
                    <a:bodyPr/>
                    <a:lstStyle/>
                    <a:p>
                      <a:pPr algn="r"/>
                      <a:r>
                        <a:rPr lang="en-US" sz="2200" dirty="0"/>
                        <a:t>0.02</a:t>
                      </a:r>
                      <a:endParaRPr lang="en-ZA" sz="2200" dirty="0"/>
                    </a:p>
                  </a:txBody>
                  <a:tcPr anchor="ctr">
                    <a:lnB w="12700" cap="flat" cmpd="sng" algn="ctr">
                      <a:solidFill>
                        <a:schemeClr val="tx1"/>
                      </a:solidFill>
                      <a:prstDash val="solid"/>
                      <a:round/>
                      <a:headEnd type="none" w="med" len="med"/>
                      <a:tailEnd type="none" w="med" len="med"/>
                    </a:lnB>
                  </a:tcPr>
                </a:tc>
                <a:tc>
                  <a:txBody>
                    <a:bodyPr/>
                    <a:lstStyle/>
                    <a:p>
                      <a:pPr algn="r"/>
                      <a:r>
                        <a:rPr lang="en-US" sz="2200" dirty="0">
                          <a:solidFill>
                            <a:srgbClr val="C00000"/>
                          </a:solidFill>
                        </a:rPr>
                        <a:t> R       31.52</a:t>
                      </a:r>
                      <a:endParaRPr lang="en-ZA" sz="2200" dirty="0">
                        <a:solidFill>
                          <a:srgbClr val="C00000"/>
                        </a:solidFill>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7603874"/>
                  </a:ext>
                </a:extLst>
              </a:tr>
              <a:tr h="370840">
                <a:tc>
                  <a:txBody>
                    <a:bodyPr/>
                    <a:lstStyle/>
                    <a:p>
                      <a:r>
                        <a:rPr lang="en-US" sz="2200" dirty="0"/>
                        <a:t>Expecting earnings</a:t>
                      </a:r>
                      <a:endParaRPr lang="en-ZA" sz="2200" dirty="0"/>
                    </a:p>
                  </a:txBody>
                  <a:tcPr/>
                </a:tc>
                <a:tc>
                  <a:txBody>
                    <a:bodyPr/>
                    <a:lstStyle/>
                    <a:p>
                      <a:pPr algn="r"/>
                      <a:endParaRPr lang="en-ZA" sz="2200" dirty="0"/>
                    </a:p>
                  </a:txBody>
                  <a:tcPr anchor="ct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endParaRPr lang="en-ZA" sz="2200" dirty="0"/>
                    </a:p>
                  </a:txBody>
                  <a:tcPr anchor="ct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r"/>
                      <a:r>
                        <a:rPr lang="en-US" sz="2200" dirty="0"/>
                        <a:t>R     897.73</a:t>
                      </a:r>
                      <a:endParaRPr lang="en-ZA" sz="2200" dirty="0"/>
                    </a:p>
                  </a:txBody>
                  <a:tcPr anchor="ct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042019"/>
                  </a:ext>
                </a:extLst>
              </a:tr>
            </a:tbl>
          </a:graphicData>
        </a:graphic>
      </p:graphicFrame>
      <p:sp>
        <p:nvSpPr>
          <p:cNvPr id="2" name="Rectangle 5">
            <a:extLst>
              <a:ext uri="{FF2B5EF4-FFF2-40B4-BE49-F238E27FC236}">
                <a16:creationId xmlns:a16="http://schemas.microsoft.com/office/drawing/2014/main" id="{33DC843F-4B74-4596-0929-F457872FBFEA}"/>
              </a:ext>
            </a:extLst>
          </p:cNvPr>
          <p:cNvSpPr>
            <a:spLocks noGrp="1" noChangeArrowheads="1"/>
          </p:cNvSpPr>
          <p:nvPr>
            <p:ph idx="1"/>
          </p:nvPr>
        </p:nvSpPr>
        <p:spPr>
          <a:xfrm>
            <a:off x="259976" y="990600"/>
            <a:ext cx="8655424" cy="160020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Influence of credit terms on profitability (cont.)</a:t>
            </a:r>
          </a:p>
          <a:p>
            <a:pPr marL="717550" algn="just">
              <a:lnSpc>
                <a:spcPct val="100000"/>
              </a:lnSpc>
              <a:buSzPct val="100000"/>
              <a:buFont typeface="Wingdings" panose="05000000000000000000" pitchFamily="2" charset="2"/>
              <a:buChar char="§"/>
            </a:pPr>
            <a:r>
              <a:rPr lang="en-US" sz="2400" dirty="0">
                <a:latin typeface="+mj-lt"/>
              </a:rPr>
              <a:t>Example: Consider Zama Traders example. Zama Traders writes off accounts after 182 days. Zama Traders assigned probabilities to following possible outcomes:</a:t>
            </a:r>
          </a:p>
          <a:p>
            <a:pPr marL="717550" algn="just">
              <a:lnSpc>
                <a:spcPct val="100000"/>
              </a:lnSpc>
              <a:buSzPct val="100000"/>
              <a:buFont typeface="Arial" panose="020B0604020202020204" pitchFamily="34" charset="0"/>
              <a:buChar char="•"/>
            </a:pPr>
            <a:endParaRPr lang="en-US" sz="2400" dirty="0">
              <a:latin typeface="+mj-lt"/>
            </a:endParaRPr>
          </a:p>
          <a:p>
            <a:pPr marL="717550" algn="just">
              <a:lnSpc>
                <a:spcPct val="100000"/>
              </a:lnSpc>
              <a:buSzPct val="100000"/>
              <a:buFont typeface="Arial" panose="020B0604020202020204" pitchFamily="34" charset="0"/>
              <a:buChar char="•"/>
            </a:pPr>
            <a:endParaRPr lang="en-US" sz="2400" dirty="0">
              <a:latin typeface="+mj-lt"/>
            </a:endParaRPr>
          </a:p>
          <a:p>
            <a:pPr marL="717550" algn="just">
              <a:lnSpc>
                <a:spcPct val="100000"/>
              </a:lnSpc>
              <a:buSzPct val="100000"/>
              <a:buFont typeface="Arial" panose="020B0604020202020204" pitchFamily="34" charset="0"/>
              <a:buChar char="•"/>
            </a:pPr>
            <a:endParaRPr lang="en-US" sz="2400" dirty="0">
              <a:latin typeface="+mj-lt"/>
            </a:endParaRPr>
          </a:p>
          <a:p>
            <a:pPr marL="717550" algn="just">
              <a:lnSpc>
                <a:spcPct val="100000"/>
              </a:lnSpc>
              <a:buSzPct val="100000"/>
              <a:buFont typeface="Arial" panose="020B0604020202020204" pitchFamily="34" charset="0"/>
              <a:buChar char="•"/>
            </a:pPr>
            <a:endParaRPr lang="en-US" sz="2400" dirty="0">
              <a:latin typeface="+mj-lt"/>
            </a:endParaRPr>
          </a:p>
          <a:p>
            <a:pPr marL="717550" algn="just">
              <a:lnSpc>
                <a:spcPct val="100000"/>
              </a:lnSpc>
              <a:buSzPct val="100000"/>
              <a:buFont typeface="Arial" panose="020B0604020202020204" pitchFamily="34" charset="0"/>
              <a:buChar char="•"/>
            </a:pPr>
            <a:endParaRPr lang="en-US" sz="2400" dirty="0">
              <a:latin typeface="+mj-lt"/>
            </a:endParaRPr>
          </a:p>
          <a:p>
            <a:pPr marL="374650" indent="0" algn="just">
              <a:lnSpc>
                <a:spcPct val="100000"/>
              </a:lnSpc>
              <a:buSzPct val="100000"/>
              <a:buNone/>
            </a:pPr>
            <a:r>
              <a:rPr lang="en-US" sz="2400" dirty="0">
                <a:latin typeface="+mj-lt"/>
              </a:rPr>
              <a:t>      </a:t>
            </a:r>
          </a:p>
          <a:p>
            <a:pPr marL="374650" indent="0" algn="just">
              <a:lnSpc>
                <a:spcPct val="100000"/>
              </a:lnSpc>
              <a:buSzPct val="100000"/>
              <a:buNone/>
            </a:pPr>
            <a:r>
              <a:rPr lang="en-US" sz="2400" dirty="0">
                <a:latin typeface="+mj-lt"/>
              </a:rPr>
              <a:t>Credit cost	= R1 500 x 0.1 x (182 / 360)</a:t>
            </a:r>
          </a:p>
          <a:p>
            <a:pPr marL="374650" indent="0" algn="just">
              <a:lnSpc>
                <a:spcPct val="100000"/>
              </a:lnSpc>
              <a:buSzPct val="100000"/>
              <a:buNone/>
            </a:pPr>
            <a:r>
              <a:rPr lang="en-US" sz="2400" dirty="0">
                <a:latin typeface="+mj-lt"/>
              </a:rPr>
              <a:t>		= R75.83</a:t>
            </a:r>
          </a:p>
        </p:txBody>
      </p:sp>
    </p:spTree>
    <p:custDataLst>
      <p:tags r:id="rId1"/>
    </p:custDataLst>
    <p:extLst>
      <p:ext uri="{BB962C8B-B14F-4D97-AF65-F5344CB8AC3E}">
        <p14:creationId xmlns:p14="http://schemas.microsoft.com/office/powerpoint/2010/main" val="2955231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975288-11C6-C2F7-83BE-5EE8A6C9C58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09EFAB0-90E5-E731-9302-FDDA01AB05B6}"/>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08CA6CAE-5E1A-4352-F274-163F72603B1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20</a:t>
            </a:fld>
            <a:endParaRPr lang="en-US">
              <a:solidFill>
                <a:schemeClr val="tx1"/>
              </a:solidFill>
            </a:endParaRPr>
          </a:p>
        </p:txBody>
      </p:sp>
      <p:sp>
        <p:nvSpPr>
          <p:cNvPr id="2" name="Rectangle 5">
            <a:extLst>
              <a:ext uri="{FF2B5EF4-FFF2-40B4-BE49-F238E27FC236}">
                <a16:creationId xmlns:a16="http://schemas.microsoft.com/office/drawing/2014/main" id="{DE2AB96E-DC57-0EFC-1C15-6A28F470A815}"/>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Changing credit terms</a:t>
            </a:r>
          </a:p>
          <a:p>
            <a:pPr marL="717550" algn="just">
              <a:lnSpc>
                <a:spcPct val="100000"/>
              </a:lnSpc>
              <a:buSzPct val="100000"/>
              <a:buFont typeface="Wingdings" panose="05000000000000000000" pitchFamily="2" charset="2"/>
              <a:buChar char="§"/>
            </a:pPr>
            <a:r>
              <a:rPr lang="en-US" sz="2400" dirty="0">
                <a:latin typeface="+mj-lt"/>
              </a:rPr>
              <a:t>Why changing credit terms?</a:t>
            </a:r>
          </a:p>
          <a:p>
            <a:pPr marL="717550" algn="just">
              <a:lnSpc>
                <a:spcPct val="100000"/>
              </a:lnSpc>
              <a:buSzPct val="100000"/>
              <a:buFont typeface="Wingdings" panose="05000000000000000000" pitchFamily="2" charset="2"/>
              <a:buChar char="§"/>
            </a:pPr>
            <a:r>
              <a:rPr lang="en-US" sz="2400" dirty="0">
                <a:latin typeface="+mj-lt"/>
              </a:rPr>
              <a:t>Increase in sales – discount received</a:t>
            </a:r>
          </a:p>
          <a:p>
            <a:pPr marL="717550" algn="just">
              <a:lnSpc>
                <a:spcPct val="100000"/>
              </a:lnSpc>
              <a:buSzPct val="100000"/>
              <a:buFont typeface="Wingdings" panose="05000000000000000000" pitchFamily="2" charset="2"/>
              <a:buChar char="§"/>
            </a:pPr>
            <a:r>
              <a:rPr lang="en-US" sz="2400" dirty="0">
                <a:latin typeface="+mj-lt"/>
              </a:rPr>
              <a:t>Customers take advantage of discount – decrease in AR</a:t>
            </a:r>
          </a:p>
          <a:p>
            <a:pPr marL="717550" algn="just">
              <a:lnSpc>
                <a:spcPct val="100000"/>
              </a:lnSpc>
              <a:buSzPct val="100000"/>
              <a:buFont typeface="Wingdings" panose="05000000000000000000" pitchFamily="2" charset="2"/>
              <a:buChar char="§"/>
            </a:pPr>
            <a:r>
              <a:rPr lang="en-US" sz="2400" dirty="0">
                <a:latin typeface="+mj-lt"/>
              </a:rPr>
              <a:t>Bad debt expense decrease – payment earlier</a:t>
            </a:r>
          </a:p>
          <a:p>
            <a:pPr marL="717550" algn="just">
              <a:lnSpc>
                <a:spcPct val="100000"/>
              </a:lnSpc>
              <a:buSzPct val="100000"/>
              <a:buFont typeface="Wingdings" panose="05000000000000000000" pitchFamily="2" charset="2"/>
              <a:buChar char="§"/>
            </a:pPr>
            <a:r>
              <a:rPr lang="en-US" sz="2400" dirty="0">
                <a:latin typeface="+mj-lt"/>
              </a:rPr>
              <a:t>Net earnings per unit sold may decrease – increase net profits</a:t>
            </a:r>
          </a:p>
          <a:p>
            <a:pPr marL="717550" algn="just">
              <a:lnSpc>
                <a:spcPct val="100000"/>
              </a:lnSpc>
              <a:buSzPct val="100000"/>
              <a:buFont typeface="Wingdings" panose="05000000000000000000" pitchFamily="2" charset="2"/>
              <a:buChar char="§"/>
            </a:pPr>
            <a:endParaRPr lang="en-US" sz="2400" dirty="0">
              <a:latin typeface="+mj-lt"/>
            </a:endParaRPr>
          </a:p>
        </p:txBody>
      </p:sp>
      <p:sp>
        <p:nvSpPr>
          <p:cNvPr id="10" name="TextBox 9">
            <a:extLst>
              <a:ext uri="{FF2B5EF4-FFF2-40B4-BE49-F238E27FC236}">
                <a16:creationId xmlns:a16="http://schemas.microsoft.com/office/drawing/2014/main" id="{93A138DD-15AE-E675-C35A-EFA4975283FD}"/>
              </a:ext>
            </a:extLst>
          </p:cNvPr>
          <p:cNvSpPr txBox="1"/>
          <p:nvPr/>
        </p:nvSpPr>
        <p:spPr>
          <a:xfrm>
            <a:off x="240926" y="6436673"/>
            <a:ext cx="6172200" cy="276999"/>
          </a:xfrm>
          <a:prstGeom prst="rect">
            <a:avLst/>
          </a:prstGeom>
          <a:noFill/>
        </p:spPr>
        <p:txBody>
          <a:bodyPr wrap="square">
            <a:spAutoFit/>
          </a:bodyPr>
          <a:lstStyle/>
          <a:p>
            <a:r>
              <a:rPr lang="en-ZA" sz="1200" dirty="0"/>
              <a:t>https://dailyinvestor.com/banking/73730/south-african-banks-opening-the-taps/</a:t>
            </a:r>
          </a:p>
        </p:txBody>
      </p:sp>
    </p:spTree>
    <p:custDataLst>
      <p:tags r:id="rId1"/>
    </p:custDataLst>
    <p:extLst>
      <p:ext uri="{BB962C8B-B14F-4D97-AF65-F5344CB8AC3E}">
        <p14:creationId xmlns:p14="http://schemas.microsoft.com/office/powerpoint/2010/main" val="505670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3DD3057-5BE7-49E4-2979-4D31927B19C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300B1B8-E0D9-8CD4-2126-01CC34626A90}"/>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C23CF8E5-9072-B05C-9C21-B78D6B4AFB6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21</a:t>
            </a:fld>
            <a:endParaRPr lang="en-US">
              <a:solidFill>
                <a:schemeClr val="tx1"/>
              </a:solidFill>
            </a:endParaRPr>
          </a:p>
        </p:txBody>
      </p:sp>
      <p:sp>
        <p:nvSpPr>
          <p:cNvPr id="2" name="Rectangle 5">
            <a:extLst>
              <a:ext uri="{FF2B5EF4-FFF2-40B4-BE49-F238E27FC236}">
                <a16:creationId xmlns:a16="http://schemas.microsoft.com/office/drawing/2014/main" id="{634CF3E7-F272-D320-F3B5-F95199C98349}"/>
              </a:ext>
            </a:extLst>
          </p:cNvPr>
          <p:cNvSpPr>
            <a:spLocks noGrp="1" noChangeArrowheads="1"/>
          </p:cNvSpPr>
          <p:nvPr>
            <p:ph idx="1"/>
          </p:nvPr>
        </p:nvSpPr>
        <p:spPr>
          <a:xfrm>
            <a:off x="259976" y="990600"/>
            <a:ext cx="8655424" cy="5247290"/>
          </a:xfrm>
        </p:spPr>
        <p:txBody>
          <a:bodyPr/>
          <a:lstStyle/>
          <a:p>
            <a:pPr algn="just">
              <a:lnSpc>
                <a:spcPct val="100000"/>
              </a:lnSpc>
              <a:spcBef>
                <a:spcPts val="0"/>
              </a:spcBef>
              <a:buSzPct val="100000"/>
              <a:buFont typeface="Arial" panose="020B0604020202020204" pitchFamily="34" charset="0"/>
              <a:buChar char="•"/>
            </a:pPr>
            <a:r>
              <a:rPr lang="en-US" sz="2300" dirty="0">
                <a:latin typeface="+mj-lt"/>
              </a:rPr>
              <a:t>The credit selection process (cont.)</a:t>
            </a:r>
          </a:p>
          <a:p>
            <a:pPr algn="just">
              <a:lnSpc>
                <a:spcPct val="100000"/>
              </a:lnSpc>
              <a:spcBef>
                <a:spcPts val="0"/>
              </a:spcBef>
              <a:buSzPct val="100000"/>
              <a:buFont typeface="Arial" panose="020B0604020202020204" pitchFamily="34" charset="0"/>
              <a:buChar char="•"/>
            </a:pPr>
            <a:r>
              <a:rPr lang="en-US" sz="2300" dirty="0">
                <a:latin typeface="+mj-lt"/>
              </a:rPr>
              <a:t>Example: </a:t>
            </a:r>
            <a:r>
              <a:rPr lang="en-US" sz="2300" dirty="0" err="1">
                <a:latin typeface="+mj-lt"/>
              </a:rPr>
              <a:t>Mabula</a:t>
            </a:r>
            <a:r>
              <a:rPr lang="en-US" sz="2300" dirty="0">
                <a:latin typeface="+mj-lt"/>
              </a:rPr>
              <a:t> Retailers currently sells on credit on basis of 2/10 net 30 terms. Firm’s current average collection period is 45 days, sales amount to 50 000 units, selling price is R45 per unit and variable cost per unit is R35. Firm is considering increasing percentage discount offered to 5% for payment within 10 days. Firm expects that change in credit terms will encourage 70% of customers to make use of increased discount. Under present terms, 60% of customers make use of discount.</a:t>
            </a:r>
          </a:p>
          <a:p>
            <a:pPr marL="717550" algn="just">
              <a:lnSpc>
                <a:spcPct val="100000"/>
              </a:lnSpc>
              <a:spcBef>
                <a:spcPts val="0"/>
              </a:spcBef>
              <a:buSzPct val="100000"/>
              <a:buFont typeface="Wingdings" panose="05000000000000000000" pitchFamily="2" charset="2"/>
              <a:buChar char="§"/>
            </a:pPr>
            <a:r>
              <a:rPr lang="en-US" sz="2300" dirty="0">
                <a:latin typeface="+mj-lt"/>
              </a:rPr>
              <a:t>Additional information:</a:t>
            </a:r>
          </a:p>
          <a:p>
            <a:pPr marL="1071563" algn="just">
              <a:lnSpc>
                <a:spcPct val="100000"/>
              </a:lnSpc>
              <a:spcBef>
                <a:spcPts val="0"/>
              </a:spcBef>
              <a:buSzPct val="100000"/>
              <a:buFont typeface="Wingdings" panose="05000000000000000000" pitchFamily="2" charset="2"/>
              <a:buChar char="§"/>
            </a:pPr>
            <a:r>
              <a:rPr lang="en-US" sz="2300" dirty="0">
                <a:latin typeface="+mj-lt"/>
              </a:rPr>
              <a:t>Sales to increase from 50 000 to 55 000 units</a:t>
            </a:r>
          </a:p>
          <a:p>
            <a:pPr marL="1071563" algn="just">
              <a:lnSpc>
                <a:spcPct val="100000"/>
              </a:lnSpc>
              <a:spcBef>
                <a:spcPts val="0"/>
              </a:spcBef>
              <a:buSzPct val="100000"/>
              <a:buFont typeface="Wingdings" panose="05000000000000000000" pitchFamily="2" charset="2"/>
              <a:buChar char="§"/>
            </a:pPr>
            <a:r>
              <a:rPr lang="en-US" sz="2300" dirty="0">
                <a:latin typeface="+mj-lt"/>
              </a:rPr>
              <a:t>ACP to decrease 45 to 35 days</a:t>
            </a:r>
          </a:p>
          <a:p>
            <a:pPr marL="1071563" algn="just">
              <a:lnSpc>
                <a:spcPct val="100000"/>
              </a:lnSpc>
              <a:spcBef>
                <a:spcPts val="0"/>
              </a:spcBef>
              <a:buSzPct val="100000"/>
              <a:buFont typeface="Wingdings" panose="05000000000000000000" pitchFamily="2" charset="2"/>
              <a:buChar char="§"/>
            </a:pPr>
            <a:r>
              <a:rPr lang="en-US" sz="2300" dirty="0">
                <a:latin typeface="+mj-lt"/>
              </a:rPr>
              <a:t>Bade debts to decrease from 1% of Sales to 0.05% of sales</a:t>
            </a:r>
          </a:p>
          <a:p>
            <a:pPr marL="1071563" algn="just">
              <a:lnSpc>
                <a:spcPct val="100000"/>
              </a:lnSpc>
              <a:spcBef>
                <a:spcPts val="0"/>
              </a:spcBef>
              <a:buSzPct val="100000"/>
              <a:buFont typeface="Wingdings" panose="05000000000000000000" pitchFamily="2" charset="2"/>
              <a:buChar char="§"/>
            </a:pPr>
            <a:r>
              <a:rPr lang="en-US" sz="2300" dirty="0">
                <a:latin typeface="+mj-lt"/>
              </a:rPr>
              <a:t>Firm’s required rate of return is 25%</a:t>
            </a:r>
          </a:p>
          <a:p>
            <a:pPr algn="just">
              <a:lnSpc>
                <a:spcPct val="100000"/>
              </a:lnSpc>
              <a:spcBef>
                <a:spcPts val="0"/>
              </a:spcBef>
              <a:buSzPct val="100000"/>
              <a:buFont typeface="Arial" panose="020B0604020202020204" pitchFamily="34" charset="0"/>
              <a:buChar char="•"/>
            </a:pPr>
            <a:endParaRPr lang="en-US" sz="2300" dirty="0">
              <a:latin typeface="+mj-lt"/>
            </a:endParaRPr>
          </a:p>
        </p:txBody>
      </p:sp>
      <p:grpSp>
        <p:nvGrpSpPr>
          <p:cNvPr id="40" name="Group 39">
            <a:extLst>
              <a:ext uri="{FF2B5EF4-FFF2-40B4-BE49-F238E27FC236}">
                <a16:creationId xmlns:a16="http://schemas.microsoft.com/office/drawing/2014/main" id="{2167DAE2-3053-400A-3034-5AB52E364A0D}"/>
              </a:ext>
            </a:extLst>
          </p:cNvPr>
          <p:cNvGrpSpPr/>
          <p:nvPr/>
        </p:nvGrpSpPr>
        <p:grpSpPr>
          <a:xfrm>
            <a:off x="377966" y="31177"/>
            <a:ext cx="1483920" cy="396720"/>
            <a:chOff x="377966" y="31177"/>
            <a:chExt cx="1483920" cy="39672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4B8B57F-4B4F-453C-B916-E342278E6C66}"/>
                    </a:ext>
                  </a:extLst>
                </p14:cNvPr>
                <p14:cNvContentPartPr/>
                <p14:nvPr/>
              </p14:nvContentPartPr>
              <p14:xfrm>
                <a:off x="377966" y="31177"/>
                <a:ext cx="166680" cy="379080"/>
              </p14:xfrm>
            </p:contentPart>
          </mc:Choice>
          <mc:Fallback>
            <p:pic>
              <p:nvPicPr>
                <p:cNvPr id="4" name="Ink 3">
                  <a:extLst>
                    <a:ext uri="{FF2B5EF4-FFF2-40B4-BE49-F238E27FC236}">
                      <a16:creationId xmlns:a16="http://schemas.microsoft.com/office/drawing/2014/main" id="{64B8B57F-4B4F-453C-B916-E342278E6C66}"/>
                    </a:ext>
                  </a:extLst>
                </p:cNvPr>
                <p:cNvPicPr/>
                <p:nvPr/>
              </p:nvPicPr>
              <p:blipFill>
                <a:blip r:embed="rId5"/>
                <a:stretch>
                  <a:fillRect/>
                </a:stretch>
              </p:blipFill>
              <p:spPr>
                <a:xfrm>
                  <a:off x="371846" y="25057"/>
                  <a:ext cx="17892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F3BC48EF-EACE-961C-2476-D52F3BF61200}"/>
                    </a:ext>
                  </a:extLst>
                </p14:cNvPr>
                <p14:cNvContentPartPr/>
                <p14:nvPr/>
              </p14:nvContentPartPr>
              <p14:xfrm>
                <a:off x="618086" y="132697"/>
                <a:ext cx="123120" cy="246600"/>
              </p14:xfrm>
            </p:contentPart>
          </mc:Choice>
          <mc:Fallback>
            <p:pic>
              <p:nvPicPr>
                <p:cNvPr id="5" name="Ink 4">
                  <a:extLst>
                    <a:ext uri="{FF2B5EF4-FFF2-40B4-BE49-F238E27FC236}">
                      <a16:creationId xmlns:a16="http://schemas.microsoft.com/office/drawing/2014/main" id="{F3BC48EF-EACE-961C-2476-D52F3BF61200}"/>
                    </a:ext>
                  </a:extLst>
                </p:cNvPr>
                <p:cNvPicPr/>
                <p:nvPr/>
              </p:nvPicPr>
              <p:blipFill>
                <a:blip r:embed="rId7"/>
                <a:stretch>
                  <a:fillRect/>
                </a:stretch>
              </p:blipFill>
              <p:spPr>
                <a:xfrm>
                  <a:off x="611966" y="126577"/>
                  <a:ext cx="1353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9344A1FC-9C66-00E9-F1A8-EC8AC2321871}"/>
                    </a:ext>
                  </a:extLst>
                </p14:cNvPr>
                <p14:cNvContentPartPr/>
                <p14:nvPr/>
              </p14:nvContentPartPr>
              <p14:xfrm>
                <a:off x="782606" y="156817"/>
                <a:ext cx="243360" cy="171000"/>
              </p14:xfrm>
            </p:contentPart>
          </mc:Choice>
          <mc:Fallback>
            <p:pic>
              <p:nvPicPr>
                <p:cNvPr id="6" name="Ink 5">
                  <a:extLst>
                    <a:ext uri="{FF2B5EF4-FFF2-40B4-BE49-F238E27FC236}">
                      <a16:creationId xmlns:a16="http://schemas.microsoft.com/office/drawing/2014/main" id="{9344A1FC-9C66-00E9-F1A8-EC8AC2321871}"/>
                    </a:ext>
                  </a:extLst>
                </p:cNvPr>
                <p:cNvPicPr/>
                <p:nvPr/>
              </p:nvPicPr>
              <p:blipFill>
                <a:blip r:embed="rId9"/>
                <a:stretch>
                  <a:fillRect/>
                </a:stretch>
              </p:blipFill>
              <p:spPr>
                <a:xfrm>
                  <a:off x="776486" y="150697"/>
                  <a:ext cx="25560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4C85F145-C115-DEC4-AD77-D99BF25893E2}"/>
                    </a:ext>
                  </a:extLst>
                </p14:cNvPr>
                <p14:cNvContentPartPr/>
                <p14:nvPr/>
              </p14:nvContentPartPr>
              <p14:xfrm>
                <a:off x="1227926" y="70777"/>
                <a:ext cx="344160" cy="50760"/>
              </p14:xfrm>
            </p:contentPart>
          </mc:Choice>
          <mc:Fallback>
            <p:pic>
              <p:nvPicPr>
                <p:cNvPr id="7" name="Ink 6">
                  <a:extLst>
                    <a:ext uri="{FF2B5EF4-FFF2-40B4-BE49-F238E27FC236}">
                      <a16:creationId xmlns:a16="http://schemas.microsoft.com/office/drawing/2014/main" id="{4C85F145-C115-DEC4-AD77-D99BF25893E2}"/>
                    </a:ext>
                  </a:extLst>
                </p:cNvPr>
                <p:cNvPicPr/>
                <p:nvPr/>
              </p:nvPicPr>
              <p:blipFill>
                <a:blip r:embed="rId11"/>
                <a:stretch>
                  <a:fillRect/>
                </a:stretch>
              </p:blipFill>
              <p:spPr>
                <a:xfrm>
                  <a:off x="1221806" y="64657"/>
                  <a:ext cx="35640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E6D3ACF5-BC69-6416-471C-28811FC416BB}"/>
                    </a:ext>
                  </a:extLst>
                </p14:cNvPr>
                <p14:cNvContentPartPr/>
                <p14:nvPr/>
              </p14:nvContentPartPr>
              <p14:xfrm>
                <a:off x="1347446" y="84817"/>
                <a:ext cx="84960" cy="271800"/>
              </p14:xfrm>
            </p:contentPart>
          </mc:Choice>
          <mc:Fallback>
            <p:pic>
              <p:nvPicPr>
                <p:cNvPr id="8" name="Ink 7">
                  <a:extLst>
                    <a:ext uri="{FF2B5EF4-FFF2-40B4-BE49-F238E27FC236}">
                      <a16:creationId xmlns:a16="http://schemas.microsoft.com/office/drawing/2014/main" id="{E6D3ACF5-BC69-6416-471C-28811FC416BB}"/>
                    </a:ext>
                  </a:extLst>
                </p:cNvPr>
                <p:cNvPicPr/>
                <p:nvPr/>
              </p:nvPicPr>
              <p:blipFill>
                <a:blip r:embed="rId13"/>
                <a:stretch>
                  <a:fillRect/>
                </a:stretch>
              </p:blipFill>
              <p:spPr>
                <a:xfrm>
                  <a:off x="1341326" y="78697"/>
                  <a:ext cx="9720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60507D0E-3A3C-5BE0-89A5-35041EBA9BDE}"/>
                    </a:ext>
                  </a:extLst>
                </p14:cNvPr>
                <p14:cNvContentPartPr/>
                <p14:nvPr/>
              </p14:nvContentPartPr>
              <p14:xfrm>
                <a:off x="1443566" y="104617"/>
                <a:ext cx="180000" cy="252720"/>
              </p14:xfrm>
            </p:contentPart>
          </mc:Choice>
          <mc:Fallback>
            <p:pic>
              <p:nvPicPr>
                <p:cNvPr id="9" name="Ink 8">
                  <a:extLst>
                    <a:ext uri="{FF2B5EF4-FFF2-40B4-BE49-F238E27FC236}">
                      <a16:creationId xmlns:a16="http://schemas.microsoft.com/office/drawing/2014/main" id="{60507D0E-3A3C-5BE0-89A5-35041EBA9BDE}"/>
                    </a:ext>
                  </a:extLst>
                </p:cNvPr>
                <p:cNvPicPr/>
                <p:nvPr/>
              </p:nvPicPr>
              <p:blipFill>
                <a:blip r:embed="rId15"/>
                <a:stretch>
                  <a:fillRect/>
                </a:stretch>
              </p:blipFill>
              <p:spPr>
                <a:xfrm>
                  <a:off x="1437446" y="98497"/>
                  <a:ext cx="19224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67928110-F4AB-2E59-0269-BFE107A87260}"/>
                    </a:ext>
                  </a:extLst>
                </p14:cNvPr>
                <p14:cNvContentPartPr/>
                <p14:nvPr/>
              </p14:nvContentPartPr>
              <p14:xfrm>
                <a:off x="1671446" y="230977"/>
                <a:ext cx="42120" cy="133200"/>
              </p14:xfrm>
            </p:contentPart>
          </mc:Choice>
          <mc:Fallback>
            <p:pic>
              <p:nvPicPr>
                <p:cNvPr id="10" name="Ink 9">
                  <a:extLst>
                    <a:ext uri="{FF2B5EF4-FFF2-40B4-BE49-F238E27FC236}">
                      <a16:creationId xmlns:a16="http://schemas.microsoft.com/office/drawing/2014/main" id="{67928110-F4AB-2E59-0269-BFE107A87260}"/>
                    </a:ext>
                  </a:extLst>
                </p:cNvPr>
                <p:cNvPicPr/>
                <p:nvPr/>
              </p:nvPicPr>
              <p:blipFill>
                <a:blip r:embed="rId17"/>
                <a:stretch>
                  <a:fillRect/>
                </a:stretch>
              </p:blipFill>
              <p:spPr>
                <a:xfrm>
                  <a:off x="1665326" y="224857"/>
                  <a:ext cx="5436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29850705-A2F7-D0CB-28DB-0025B96202C2}"/>
                    </a:ext>
                  </a:extLst>
                </p14:cNvPr>
                <p14:cNvContentPartPr/>
                <p14:nvPr/>
              </p14:nvContentPartPr>
              <p14:xfrm>
                <a:off x="1676486" y="39457"/>
                <a:ext cx="25560" cy="29160"/>
              </p14:xfrm>
            </p:contentPart>
          </mc:Choice>
          <mc:Fallback>
            <p:pic>
              <p:nvPicPr>
                <p:cNvPr id="11" name="Ink 10">
                  <a:extLst>
                    <a:ext uri="{FF2B5EF4-FFF2-40B4-BE49-F238E27FC236}">
                      <a16:creationId xmlns:a16="http://schemas.microsoft.com/office/drawing/2014/main" id="{29850705-A2F7-D0CB-28DB-0025B96202C2}"/>
                    </a:ext>
                  </a:extLst>
                </p:cNvPr>
                <p:cNvPicPr/>
                <p:nvPr/>
              </p:nvPicPr>
              <p:blipFill>
                <a:blip r:embed="rId19"/>
                <a:stretch>
                  <a:fillRect/>
                </a:stretch>
              </p:blipFill>
              <p:spPr>
                <a:xfrm>
                  <a:off x="1670366" y="33337"/>
                  <a:ext cx="3780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D8657F79-5C18-21AA-9990-C29C0D9CD77A}"/>
                    </a:ext>
                  </a:extLst>
                </p14:cNvPr>
                <p14:cNvContentPartPr/>
                <p14:nvPr/>
              </p14:nvContentPartPr>
              <p14:xfrm>
                <a:off x="1713926" y="112897"/>
                <a:ext cx="147960" cy="315000"/>
              </p14:xfrm>
            </p:contentPart>
          </mc:Choice>
          <mc:Fallback>
            <p:pic>
              <p:nvPicPr>
                <p:cNvPr id="12" name="Ink 11">
                  <a:extLst>
                    <a:ext uri="{FF2B5EF4-FFF2-40B4-BE49-F238E27FC236}">
                      <a16:creationId xmlns:a16="http://schemas.microsoft.com/office/drawing/2014/main" id="{D8657F79-5C18-21AA-9990-C29C0D9CD77A}"/>
                    </a:ext>
                  </a:extLst>
                </p:cNvPr>
                <p:cNvPicPr/>
                <p:nvPr/>
              </p:nvPicPr>
              <p:blipFill>
                <a:blip r:embed="rId21"/>
                <a:stretch>
                  <a:fillRect/>
                </a:stretch>
              </p:blipFill>
              <p:spPr>
                <a:xfrm>
                  <a:off x="1707806" y="106777"/>
                  <a:ext cx="160200" cy="327240"/>
                </a:xfrm>
                <a:prstGeom prst="rect">
                  <a:avLst/>
                </a:prstGeom>
              </p:spPr>
            </p:pic>
          </mc:Fallback>
        </mc:AlternateContent>
      </p:grpSp>
      <p:grpSp>
        <p:nvGrpSpPr>
          <p:cNvPr id="39" name="Group 38">
            <a:extLst>
              <a:ext uri="{FF2B5EF4-FFF2-40B4-BE49-F238E27FC236}">
                <a16:creationId xmlns:a16="http://schemas.microsoft.com/office/drawing/2014/main" id="{AA6B2EDF-F965-871D-65F1-8D4A9317E36E}"/>
              </a:ext>
            </a:extLst>
          </p:cNvPr>
          <p:cNvGrpSpPr/>
          <p:nvPr/>
        </p:nvGrpSpPr>
        <p:grpSpPr>
          <a:xfrm>
            <a:off x="2198846" y="57817"/>
            <a:ext cx="431640" cy="385560"/>
            <a:chOff x="2198846" y="57817"/>
            <a:chExt cx="431640" cy="385560"/>
          </a:xfrm>
        </p:grpSpPr>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AE7BACF3-698D-94C9-FDB9-E6E78C99E751}"/>
                    </a:ext>
                  </a:extLst>
                </p14:cNvPr>
                <p14:cNvContentPartPr/>
                <p14:nvPr/>
              </p14:nvContentPartPr>
              <p14:xfrm>
                <a:off x="2198846" y="57817"/>
                <a:ext cx="430920" cy="98640"/>
              </p14:xfrm>
            </p:contentPart>
          </mc:Choice>
          <mc:Fallback>
            <p:pic>
              <p:nvPicPr>
                <p:cNvPr id="13" name="Ink 12">
                  <a:extLst>
                    <a:ext uri="{FF2B5EF4-FFF2-40B4-BE49-F238E27FC236}">
                      <a16:creationId xmlns:a16="http://schemas.microsoft.com/office/drawing/2014/main" id="{AE7BACF3-698D-94C9-FDB9-E6E78C99E751}"/>
                    </a:ext>
                  </a:extLst>
                </p:cNvPr>
                <p:cNvPicPr/>
                <p:nvPr/>
              </p:nvPicPr>
              <p:blipFill>
                <a:blip r:embed="rId23"/>
                <a:stretch>
                  <a:fillRect/>
                </a:stretch>
              </p:blipFill>
              <p:spPr>
                <a:xfrm>
                  <a:off x="2192726" y="51697"/>
                  <a:ext cx="44316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B3D7B5EC-A39C-6E2E-5DB7-7224CEFD0733}"/>
                    </a:ext>
                  </a:extLst>
                </p14:cNvPr>
                <p14:cNvContentPartPr/>
                <p14:nvPr/>
              </p14:nvContentPartPr>
              <p14:xfrm>
                <a:off x="2386766" y="135217"/>
                <a:ext cx="75960" cy="308160"/>
              </p14:xfrm>
            </p:contentPart>
          </mc:Choice>
          <mc:Fallback>
            <p:pic>
              <p:nvPicPr>
                <p:cNvPr id="14" name="Ink 13">
                  <a:extLst>
                    <a:ext uri="{FF2B5EF4-FFF2-40B4-BE49-F238E27FC236}">
                      <a16:creationId xmlns:a16="http://schemas.microsoft.com/office/drawing/2014/main" id="{B3D7B5EC-A39C-6E2E-5DB7-7224CEFD0733}"/>
                    </a:ext>
                  </a:extLst>
                </p:cNvPr>
                <p:cNvPicPr/>
                <p:nvPr/>
              </p:nvPicPr>
              <p:blipFill>
                <a:blip r:embed="rId25"/>
                <a:stretch>
                  <a:fillRect/>
                </a:stretch>
              </p:blipFill>
              <p:spPr>
                <a:xfrm>
                  <a:off x="2380646" y="129097"/>
                  <a:ext cx="8820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D2B948FE-7948-53E3-EF2A-29A074AB4560}"/>
                    </a:ext>
                  </a:extLst>
                </p14:cNvPr>
                <p14:cNvContentPartPr/>
                <p14:nvPr/>
              </p14:nvContentPartPr>
              <p14:xfrm>
                <a:off x="2504486" y="248977"/>
                <a:ext cx="126000" cy="168120"/>
              </p14:xfrm>
            </p:contentPart>
          </mc:Choice>
          <mc:Fallback>
            <p:pic>
              <p:nvPicPr>
                <p:cNvPr id="15" name="Ink 14">
                  <a:extLst>
                    <a:ext uri="{FF2B5EF4-FFF2-40B4-BE49-F238E27FC236}">
                      <a16:creationId xmlns:a16="http://schemas.microsoft.com/office/drawing/2014/main" id="{D2B948FE-7948-53E3-EF2A-29A074AB4560}"/>
                    </a:ext>
                  </a:extLst>
                </p:cNvPr>
                <p:cNvPicPr/>
                <p:nvPr/>
              </p:nvPicPr>
              <p:blipFill>
                <a:blip r:embed="rId27"/>
                <a:stretch>
                  <a:fillRect/>
                </a:stretch>
              </p:blipFill>
              <p:spPr>
                <a:xfrm>
                  <a:off x="2498366" y="242857"/>
                  <a:ext cx="138240" cy="180360"/>
                </a:xfrm>
                <a:prstGeom prst="rect">
                  <a:avLst/>
                </a:prstGeom>
              </p:spPr>
            </p:pic>
          </mc:Fallback>
        </mc:AlternateContent>
      </p:grpSp>
      <p:grpSp>
        <p:nvGrpSpPr>
          <p:cNvPr id="38" name="Group 37">
            <a:extLst>
              <a:ext uri="{FF2B5EF4-FFF2-40B4-BE49-F238E27FC236}">
                <a16:creationId xmlns:a16="http://schemas.microsoft.com/office/drawing/2014/main" id="{A306EE22-9563-28F9-3C37-BB15C19650E6}"/>
              </a:ext>
            </a:extLst>
          </p:cNvPr>
          <p:cNvGrpSpPr/>
          <p:nvPr/>
        </p:nvGrpSpPr>
        <p:grpSpPr>
          <a:xfrm>
            <a:off x="2864846" y="-31463"/>
            <a:ext cx="780480" cy="653760"/>
            <a:chOff x="2864846" y="-31463"/>
            <a:chExt cx="780480" cy="653760"/>
          </a:xfrm>
        </p:grpSpPr>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B575BEC0-A4D6-1C67-EE02-2956117AE06A}"/>
                    </a:ext>
                  </a:extLst>
                </p14:cNvPr>
                <p14:cNvContentPartPr/>
                <p14:nvPr/>
              </p14:nvContentPartPr>
              <p14:xfrm>
                <a:off x="2864846" y="99937"/>
                <a:ext cx="132480" cy="480600"/>
              </p14:xfrm>
            </p:contentPart>
          </mc:Choice>
          <mc:Fallback>
            <p:pic>
              <p:nvPicPr>
                <p:cNvPr id="16" name="Ink 15">
                  <a:extLst>
                    <a:ext uri="{FF2B5EF4-FFF2-40B4-BE49-F238E27FC236}">
                      <a16:creationId xmlns:a16="http://schemas.microsoft.com/office/drawing/2014/main" id="{B575BEC0-A4D6-1C67-EE02-2956117AE06A}"/>
                    </a:ext>
                  </a:extLst>
                </p:cNvPr>
                <p:cNvPicPr/>
                <p:nvPr/>
              </p:nvPicPr>
              <p:blipFill>
                <a:blip r:embed="rId29"/>
                <a:stretch>
                  <a:fillRect/>
                </a:stretch>
              </p:blipFill>
              <p:spPr>
                <a:xfrm>
                  <a:off x="2858726" y="93817"/>
                  <a:ext cx="144720" cy="4928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6E4AA3A8-9167-0CB8-AA5A-E73C2DF765A0}"/>
                    </a:ext>
                  </a:extLst>
                </p14:cNvPr>
                <p14:cNvContentPartPr/>
                <p14:nvPr/>
              </p14:nvContentPartPr>
              <p14:xfrm>
                <a:off x="2896526" y="-31463"/>
                <a:ext cx="199080" cy="307440"/>
              </p14:xfrm>
            </p:contentPart>
          </mc:Choice>
          <mc:Fallback>
            <p:pic>
              <p:nvPicPr>
                <p:cNvPr id="17" name="Ink 16">
                  <a:extLst>
                    <a:ext uri="{FF2B5EF4-FFF2-40B4-BE49-F238E27FC236}">
                      <a16:creationId xmlns:a16="http://schemas.microsoft.com/office/drawing/2014/main" id="{6E4AA3A8-9167-0CB8-AA5A-E73C2DF765A0}"/>
                    </a:ext>
                  </a:extLst>
                </p:cNvPr>
                <p:cNvPicPr/>
                <p:nvPr/>
              </p:nvPicPr>
              <p:blipFill>
                <a:blip r:embed="rId31"/>
                <a:stretch>
                  <a:fillRect/>
                </a:stretch>
              </p:blipFill>
              <p:spPr>
                <a:xfrm>
                  <a:off x="2890406" y="-37583"/>
                  <a:ext cx="21132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6BF9A66A-E9DF-33CD-AD4A-5E18A7D3B39A}"/>
                    </a:ext>
                  </a:extLst>
                </p14:cNvPr>
                <p14:cNvContentPartPr/>
                <p14:nvPr/>
              </p14:nvContentPartPr>
              <p14:xfrm>
                <a:off x="3067526" y="178777"/>
                <a:ext cx="393120" cy="213480"/>
              </p14:xfrm>
            </p:contentPart>
          </mc:Choice>
          <mc:Fallback>
            <p:pic>
              <p:nvPicPr>
                <p:cNvPr id="18" name="Ink 17">
                  <a:extLst>
                    <a:ext uri="{FF2B5EF4-FFF2-40B4-BE49-F238E27FC236}">
                      <a16:creationId xmlns:a16="http://schemas.microsoft.com/office/drawing/2014/main" id="{6BF9A66A-E9DF-33CD-AD4A-5E18A7D3B39A}"/>
                    </a:ext>
                  </a:extLst>
                </p:cNvPr>
                <p:cNvPicPr/>
                <p:nvPr/>
              </p:nvPicPr>
              <p:blipFill>
                <a:blip r:embed="rId33"/>
                <a:stretch>
                  <a:fillRect/>
                </a:stretch>
              </p:blipFill>
              <p:spPr>
                <a:xfrm>
                  <a:off x="3061406" y="172657"/>
                  <a:ext cx="40536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3E707F63-2BBD-43E9-CCE2-5FE03DE579FC}"/>
                    </a:ext>
                  </a:extLst>
                </p14:cNvPr>
                <p14:cNvContentPartPr/>
                <p14:nvPr/>
              </p14:nvContentPartPr>
              <p14:xfrm>
                <a:off x="3441566" y="186697"/>
                <a:ext cx="86760" cy="435600"/>
              </p14:xfrm>
            </p:contentPart>
          </mc:Choice>
          <mc:Fallback>
            <p:pic>
              <p:nvPicPr>
                <p:cNvPr id="19" name="Ink 18">
                  <a:extLst>
                    <a:ext uri="{FF2B5EF4-FFF2-40B4-BE49-F238E27FC236}">
                      <a16:creationId xmlns:a16="http://schemas.microsoft.com/office/drawing/2014/main" id="{3E707F63-2BBD-43E9-CCE2-5FE03DE579FC}"/>
                    </a:ext>
                  </a:extLst>
                </p:cNvPr>
                <p:cNvPicPr/>
                <p:nvPr/>
              </p:nvPicPr>
              <p:blipFill>
                <a:blip r:embed="rId35"/>
                <a:stretch>
                  <a:fillRect/>
                </a:stretch>
              </p:blipFill>
              <p:spPr>
                <a:xfrm>
                  <a:off x="3435446" y="180577"/>
                  <a:ext cx="99000" cy="447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B0F9624D-20C3-1E89-2409-55F2A3BF1E47}"/>
                    </a:ext>
                  </a:extLst>
                </p14:cNvPr>
                <p14:cNvContentPartPr/>
                <p14:nvPr/>
              </p14:nvContentPartPr>
              <p14:xfrm>
                <a:off x="3412046" y="124417"/>
                <a:ext cx="233280" cy="216360"/>
              </p14:xfrm>
            </p:contentPart>
          </mc:Choice>
          <mc:Fallback>
            <p:pic>
              <p:nvPicPr>
                <p:cNvPr id="20" name="Ink 19">
                  <a:extLst>
                    <a:ext uri="{FF2B5EF4-FFF2-40B4-BE49-F238E27FC236}">
                      <a16:creationId xmlns:a16="http://schemas.microsoft.com/office/drawing/2014/main" id="{B0F9624D-20C3-1E89-2409-55F2A3BF1E47}"/>
                    </a:ext>
                  </a:extLst>
                </p:cNvPr>
                <p:cNvPicPr/>
                <p:nvPr/>
              </p:nvPicPr>
              <p:blipFill>
                <a:blip r:embed="rId37"/>
                <a:stretch>
                  <a:fillRect/>
                </a:stretch>
              </p:blipFill>
              <p:spPr>
                <a:xfrm>
                  <a:off x="3405926" y="118297"/>
                  <a:ext cx="245520" cy="228600"/>
                </a:xfrm>
                <a:prstGeom prst="rect">
                  <a:avLst/>
                </a:prstGeom>
              </p:spPr>
            </p:pic>
          </mc:Fallback>
        </mc:AlternateContent>
      </p:grpSp>
      <p:grpSp>
        <p:nvGrpSpPr>
          <p:cNvPr id="37" name="Group 36">
            <a:extLst>
              <a:ext uri="{FF2B5EF4-FFF2-40B4-BE49-F238E27FC236}">
                <a16:creationId xmlns:a16="http://schemas.microsoft.com/office/drawing/2014/main" id="{3CD0709C-CE6B-2542-A986-552E38C1CDE0}"/>
              </a:ext>
            </a:extLst>
          </p:cNvPr>
          <p:cNvGrpSpPr/>
          <p:nvPr/>
        </p:nvGrpSpPr>
        <p:grpSpPr>
          <a:xfrm>
            <a:off x="3975806" y="124777"/>
            <a:ext cx="670320" cy="375480"/>
            <a:chOff x="3975806" y="124777"/>
            <a:chExt cx="670320" cy="375480"/>
          </a:xfrm>
        </p:grpSpPr>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517DF457-FE70-5D98-D7F4-1E0893BC464C}"/>
                    </a:ext>
                  </a:extLst>
                </p14:cNvPr>
                <p14:cNvContentPartPr/>
                <p14:nvPr/>
              </p14:nvContentPartPr>
              <p14:xfrm>
                <a:off x="4051766" y="130897"/>
                <a:ext cx="38880" cy="369360"/>
              </p14:xfrm>
            </p:contentPart>
          </mc:Choice>
          <mc:Fallback>
            <p:pic>
              <p:nvPicPr>
                <p:cNvPr id="21" name="Ink 20">
                  <a:extLst>
                    <a:ext uri="{FF2B5EF4-FFF2-40B4-BE49-F238E27FC236}">
                      <a16:creationId xmlns:a16="http://schemas.microsoft.com/office/drawing/2014/main" id="{517DF457-FE70-5D98-D7F4-1E0893BC464C}"/>
                    </a:ext>
                  </a:extLst>
                </p:cNvPr>
                <p:cNvPicPr/>
                <p:nvPr/>
              </p:nvPicPr>
              <p:blipFill>
                <a:blip r:embed="rId39"/>
                <a:stretch>
                  <a:fillRect/>
                </a:stretch>
              </p:blipFill>
              <p:spPr>
                <a:xfrm>
                  <a:off x="4045646" y="124777"/>
                  <a:ext cx="5112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5A06B39F-3784-32A2-1F2F-C85365775178}"/>
                    </a:ext>
                  </a:extLst>
                </p14:cNvPr>
                <p14:cNvContentPartPr/>
                <p14:nvPr/>
              </p14:nvContentPartPr>
              <p14:xfrm>
                <a:off x="4030166" y="124777"/>
                <a:ext cx="306720" cy="37440"/>
              </p14:xfrm>
            </p:contentPart>
          </mc:Choice>
          <mc:Fallback>
            <p:pic>
              <p:nvPicPr>
                <p:cNvPr id="22" name="Ink 21">
                  <a:extLst>
                    <a:ext uri="{FF2B5EF4-FFF2-40B4-BE49-F238E27FC236}">
                      <a16:creationId xmlns:a16="http://schemas.microsoft.com/office/drawing/2014/main" id="{5A06B39F-3784-32A2-1F2F-C85365775178}"/>
                    </a:ext>
                  </a:extLst>
                </p:cNvPr>
                <p:cNvPicPr/>
                <p:nvPr/>
              </p:nvPicPr>
              <p:blipFill>
                <a:blip r:embed="rId41"/>
                <a:stretch>
                  <a:fillRect/>
                </a:stretch>
              </p:blipFill>
              <p:spPr>
                <a:xfrm>
                  <a:off x="4024046" y="118657"/>
                  <a:ext cx="31896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65321CF8-1561-D313-8F92-506B6A38EDED}"/>
                    </a:ext>
                  </a:extLst>
                </p14:cNvPr>
                <p14:cNvContentPartPr/>
                <p14:nvPr/>
              </p14:nvContentPartPr>
              <p14:xfrm>
                <a:off x="3975806" y="301177"/>
                <a:ext cx="253440" cy="46800"/>
              </p14:xfrm>
            </p:contentPart>
          </mc:Choice>
          <mc:Fallback>
            <p:pic>
              <p:nvPicPr>
                <p:cNvPr id="23" name="Ink 22">
                  <a:extLst>
                    <a:ext uri="{FF2B5EF4-FFF2-40B4-BE49-F238E27FC236}">
                      <a16:creationId xmlns:a16="http://schemas.microsoft.com/office/drawing/2014/main" id="{65321CF8-1561-D313-8F92-506B6A38EDED}"/>
                    </a:ext>
                  </a:extLst>
                </p:cNvPr>
                <p:cNvPicPr/>
                <p:nvPr/>
              </p:nvPicPr>
              <p:blipFill>
                <a:blip r:embed="rId43"/>
                <a:stretch>
                  <a:fillRect/>
                </a:stretch>
              </p:blipFill>
              <p:spPr>
                <a:xfrm>
                  <a:off x="3969686" y="295057"/>
                  <a:ext cx="26568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85DA809E-B791-99B6-EFAC-10D9C0A81440}"/>
                    </a:ext>
                  </a:extLst>
                </p14:cNvPr>
                <p14:cNvContentPartPr/>
                <p14:nvPr/>
              </p14:nvContentPartPr>
              <p14:xfrm>
                <a:off x="4275686" y="257977"/>
                <a:ext cx="118440" cy="147240"/>
              </p14:xfrm>
            </p:contentPart>
          </mc:Choice>
          <mc:Fallback>
            <p:pic>
              <p:nvPicPr>
                <p:cNvPr id="24" name="Ink 23">
                  <a:extLst>
                    <a:ext uri="{FF2B5EF4-FFF2-40B4-BE49-F238E27FC236}">
                      <a16:creationId xmlns:a16="http://schemas.microsoft.com/office/drawing/2014/main" id="{85DA809E-B791-99B6-EFAC-10D9C0A81440}"/>
                    </a:ext>
                  </a:extLst>
                </p:cNvPr>
                <p:cNvPicPr/>
                <p:nvPr/>
              </p:nvPicPr>
              <p:blipFill>
                <a:blip r:embed="rId45"/>
                <a:stretch>
                  <a:fillRect/>
                </a:stretch>
              </p:blipFill>
              <p:spPr>
                <a:xfrm>
                  <a:off x="4269566" y="251857"/>
                  <a:ext cx="13068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5" name="Ink 24">
                  <a:extLst>
                    <a:ext uri="{FF2B5EF4-FFF2-40B4-BE49-F238E27FC236}">
                      <a16:creationId xmlns:a16="http://schemas.microsoft.com/office/drawing/2014/main" id="{95A85E24-FA99-7A59-1F10-A952927189E3}"/>
                    </a:ext>
                  </a:extLst>
                </p14:cNvPr>
                <p14:cNvContentPartPr/>
                <p14:nvPr/>
              </p14:nvContentPartPr>
              <p14:xfrm>
                <a:off x="4452806" y="219457"/>
                <a:ext cx="193320" cy="161280"/>
              </p14:xfrm>
            </p:contentPart>
          </mc:Choice>
          <mc:Fallback>
            <p:pic>
              <p:nvPicPr>
                <p:cNvPr id="25" name="Ink 24">
                  <a:extLst>
                    <a:ext uri="{FF2B5EF4-FFF2-40B4-BE49-F238E27FC236}">
                      <a16:creationId xmlns:a16="http://schemas.microsoft.com/office/drawing/2014/main" id="{95A85E24-FA99-7A59-1F10-A952927189E3}"/>
                    </a:ext>
                  </a:extLst>
                </p:cNvPr>
                <p:cNvPicPr/>
                <p:nvPr/>
              </p:nvPicPr>
              <p:blipFill>
                <a:blip r:embed="rId47"/>
                <a:stretch>
                  <a:fillRect/>
                </a:stretch>
              </p:blipFill>
              <p:spPr>
                <a:xfrm>
                  <a:off x="4446686" y="213337"/>
                  <a:ext cx="205560" cy="173520"/>
                </a:xfrm>
                <a:prstGeom prst="rect">
                  <a:avLst/>
                </a:prstGeom>
              </p:spPr>
            </p:pic>
          </mc:Fallback>
        </mc:AlternateContent>
      </p:grpSp>
      <p:grpSp>
        <p:nvGrpSpPr>
          <p:cNvPr id="36" name="Group 35">
            <a:extLst>
              <a:ext uri="{FF2B5EF4-FFF2-40B4-BE49-F238E27FC236}">
                <a16:creationId xmlns:a16="http://schemas.microsoft.com/office/drawing/2014/main" id="{D70CDB97-6940-1969-6BFD-C5B295F238F5}"/>
              </a:ext>
            </a:extLst>
          </p:cNvPr>
          <p:cNvGrpSpPr/>
          <p:nvPr/>
        </p:nvGrpSpPr>
        <p:grpSpPr>
          <a:xfrm>
            <a:off x="4948166" y="-65663"/>
            <a:ext cx="2615040" cy="535320"/>
            <a:chOff x="4948166" y="-65663"/>
            <a:chExt cx="2615040" cy="535320"/>
          </a:xfrm>
        </p:grpSpPr>
        <mc:AlternateContent xmlns:mc="http://schemas.openxmlformats.org/markup-compatibility/2006">
          <mc:Choice xmlns:p14="http://schemas.microsoft.com/office/powerpoint/2010/main" Requires="p14">
            <p:contentPart p14:bwMode="auto" r:id="rId48">
              <p14:nvContentPartPr>
                <p14:cNvPr id="26" name="Ink 25">
                  <a:extLst>
                    <a:ext uri="{FF2B5EF4-FFF2-40B4-BE49-F238E27FC236}">
                      <a16:creationId xmlns:a16="http://schemas.microsoft.com/office/drawing/2014/main" id="{1ADE8CFE-7C1E-2EC3-45F4-A03CD8AA11A8}"/>
                    </a:ext>
                  </a:extLst>
                </p14:cNvPr>
                <p14:cNvContentPartPr/>
                <p14:nvPr/>
              </p14:nvContentPartPr>
              <p14:xfrm>
                <a:off x="4948166" y="-65663"/>
                <a:ext cx="286200" cy="436680"/>
              </p14:xfrm>
            </p:contentPart>
          </mc:Choice>
          <mc:Fallback>
            <p:pic>
              <p:nvPicPr>
                <p:cNvPr id="26" name="Ink 25">
                  <a:extLst>
                    <a:ext uri="{FF2B5EF4-FFF2-40B4-BE49-F238E27FC236}">
                      <a16:creationId xmlns:a16="http://schemas.microsoft.com/office/drawing/2014/main" id="{1ADE8CFE-7C1E-2EC3-45F4-A03CD8AA11A8}"/>
                    </a:ext>
                  </a:extLst>
                </p:cNvPr>
                <p:cNvPicPr/>
                <p:nvPr/>
              </p:nvPicPr>
              <p:blipFill>
                <a:blip r:embed="rId49"/>
                <a:stretch>
                  <a:fillRect/>
                </a:stretch>
              </p:blipFill>
              <p:spPr>
                <a:xfrm>
                  <a:off x="4942046" y="-71783"/>
                  <a:ext cx="298440" cy="448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7" name="Ink 26">
                  <a:extLst>
                    <a:ext uri="{FF2B5EF4-FFF2-40B4-BE49-F238E27FC236}">
                      <a16:creationId xmlns:a16="http://schemas.microsoft.com/office/drawing/2014/main" id="{C36E86F3-DA0E-D814-3935-50EBA2B69A2F}"/>
                    </a:ext>
                  </a:extLst>
                </p14:cNvPr>
                <p14:cNvContentPartPr/>
                <p14:nvPr/>
              </p14:nvContentPartPr>
              <p14:xfrm>
                <a:off x="4997846" y="172657"/>
                <a:ext cx="303480" cy="51120"/>
              </p14:xfrm>
            </p:contentPart>
          </mc:Choice>
          <mc:Fallback>
            <p:pic>
              <p:nvPicPr>
                <p:cNvPr id="27" name="Ink 26">
                  <a:extLst>
                    <a:ext uri="{FF2B5EF4-FFF2-40B4-BE49-F238E27FC236}">
                      <a16:creationId xmlns:a16="http://schemas.microsoft.com/office/drawing/2014/main" id="{C36E86F3-DA0E-D814-3935-50EBA2B69A2F}"/>
                    </a:ext>
                  </a:extLst>
                </p:cNvPr>
                <p:cNvPicPr/>
                <p:nvPr/>
              </p:nvPicPr>
              <p:blipFill>
                <a:blip r:embed="rId51"/>
                <a:stretch>
                  <a:fillRect/>
                </a:stretch>
              </p:blipFill>
              <p:spPr>
                <a:xfrm>
                  <a:off x="4991726" y="166537"/>
                  <a:ext cx="3157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8" name="Ink 27">
                  <a:extLst>
                    <a:ext uri="{FF2B5EF4-FFF2-40B4-BE49-F238E27FC236}">
                      <a16:creationId xmlns:a16="http://schemas.microsoft.com/office/drawing/2014/main" id="{005B4FF1-7F00-15DC-4B65-3DB161ECF723}"/>
                    </a:ext>
                  </a:extLst>
                </p14:cNvPr>
                <p14:cNvContentPartPr/>
                <p14:nvPr/>
              </p14:nvContentPartPr>
              <p14:xfrm>
                <a:off x="5233286" y="159697"/>
                <a:ext cx="277920" cy="264240"/>
              </p14:xfrm>
            </p:contentPart>
          </mc:Choice>
          <mc:Fallback>
            <p:pic>
              <p:nvPicPr>
                <p:cNvPr id="28" name="Ink 27">
                  <a:extLst>
                    <a:ext uri="{FF2B5EF4-FFF2-40B4-BE49-F238E27FC236}">
                      <a16:creationId xmlns:a16="http://schemas.microsoft.com/office/drawing/2014/main" id="{005B4FF1-7F00-15DC-4B65-3DB161ECF723}"/>
                    </a:ext>
                  </a:extLst>
                </p:cNvPr>
                <p:cNvPicPr/>
                <p:nvPr/>
              </p:nvPicPr>
              <p:blipFill>
                <a:blip r:embed="rId53"/>
                <a:stretch>
                  <a:fillRect/>
                </a:stretch>
              </p:blipFill>
              <p:spPr>
                <a:xfrm>
                  <a:off x="5227166" y="153577"/>
                  <a:ext cx="29016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9" name="Ink 28">
                  <a:extLst>
                    <a:ext uri="{FF2B5EF4-FFF2-40B4-BE49-F238E27FC236}">
                      <a16:creationId xmlns:a16="http://schemas.microsoft.com/office/drawing/2014/main" id="{CDFA80FC-A33F-82F2-E194-D044FAA5C3FF}"/>
                    </a:ext>
                  </a:extLst>
                </p14:cNvPr>
                <p14:cNvContentPartPr/>
                <p14:nvPr/>
              </p14:nvContentPartPr>
              <p14:xfrm>
                <a:off x="5535326" y="166537"/>
                <a:ext cx="521640" cy="289080"/>
              </p14:xfrm>
            </p:contentPart>
          </mc:Choice>
          <mc:Fallback>
            <p:pic>
              <p:nvPicPr>
                <p:cNvPr id="29" name="Ink 28">
                  <a:extLst>
                    <a:ext uri="{FF2B5EF4-FFF2-40B4-BE49-F238E27FC236}">
                      <a16:creationId xmlns:a16="http://schemas.microsoft.com/office/drawing/2014/main" id="{CDFA80FC-A33F-82F2-E194-D044FAA5C3FF}"/>
                    </a:ext>
                  </a:extLst>
                </p:cNvPr>
                <p:cNvPicPr/>
                <p:nvPr/>
              </p:nvPicPr>
              <p:blipFill>
                <a:blip r:embed="rId55"/>
                <a:stretch>
                  <a:fillRect/>
                </a:stretch>
              </p:blipFill>
              <p:spPr>
                <a:xfrm>
                  <a:off x="5529206" y="160417"/>
                  <a:ext cx="53388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0" name="Ink 29">
                  <a:extLst>
                    <a:ext uri="{FF2B5EF4-FFF2-40B4-BE49-F238E27FC236}">
                      <a16:creationId xmlns:a16="http://schemas.microsoft.com/office/drawing/2014/main" id="{61D2B858-8646-6157-F80F-88C63A0B21B4}"/>
                    </a:ext>
                  </a:extLst>
                </p14:cNvPr>
                <p14:cNvContentPartPr/>
                <p14:nvPr/>
              </p14:nvContentPartPr>
              <p14:xfrm>
                <a:off x="6132926" y="170857"/>
                <a:ext cx="400320" cy="243000"/>
              </p14:xfrm>
            </p:contentPart>
          </mc:Choice>
          <mc:Fallback>
            <p:pic>
              <p:nvPicPr>
                <p:cNvPr id="30" name="Ink 29">
                  <a:extLst>
                    <a:ext uri="{FF2B5EF4-FFF2-40B4-BE49-F238E27FC236}">
                      <a16:creationId xmlns:a16="http://schemas.microsoft.com/office/drawing/2014/main" id="{61D2B858-8646-6157-F80F-88C63A0B21B4}"/>
                    </a:ext>
                  </a:extLst>
                </p:cNvPr>
                <p:cNvPicPr/>
                <p:nvPr/>
              </p:nvPicPr>
              <p:blipFill>
                <a:blip r:embed="rId57"/>
                <a:stretch>
                  <a:fillRect/>
                </a:stretch>
              </p:blipFill>
              <p:spPr>
                <a:xfrm>
                  <a:off x="6126806" y="164737"/>
                  <a:ext cx="41256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1" name="Ink 30">
                  <a:extLst>
                    <a:ext uri="{FF2B5EF4-FFF2-40B4-BE49-F238E27FC236}">
                      <a16:creationId xmlns:a16="http://schemas.microsoft.com/office/drawing/2014/main" id="{22999C1F-8AE0-CDD3-9904-11C9AB29A2DE}"/>
                    </a:ext>
                  </a:extLst>
                </p14:cNvPr>
                <p14:cNvContentPartPr/>
                <p14:nvPr/>
              </p14:nvContentPartPr>
              <p14:xfrm>
                <a:off x="6538286" y="142417"/>
                <a:ext cx="186120" cy="251280"/>
              </p14:xfrm>
            </p:contentPart>
          </mc:Choice>
          <mc:Fallback>
            <p:pic>
              <p:nvPicPr>
                <p:cNvPr id="31" name="Ink 30">
                  <a:extLst>
                    <a:ext uri="{FF2B5EF4-FFF2-40B4-BE49-F238E27FC236}">
                      <a16:creationId xmlns:a16="http://schemas.microsoft.com/office/drawing/2014/main" id="{22999C1F-8AE0-CDD3-9904-11C9AB29A2DE}"/>
                    </a:ext>
                  </a:extLst>
                </p:cNvPr>
                <p:cNvPicPr/>
                <p:nvPr/>
              </p:nvPicPr>
              <p:blipFill>
                <a:blip r:embed="rId59"/>
                <a:stretch>
                  <a:fillRect/>
                </a:stretch>
              </p:blipFill>
              <p:spPr>
                <a:xfrm>
                  <a:off x="6532166" y="136297"/>
                  <a:ext cx="19836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2" name="Ink 31">
                  <a:extLst>
                    <a:ext uri="{FF2B5EF4-FFF2-40B4-BE49-F238E27FC236}">
                      <a16:creationId xmlns:a16="http://schemas.microsoft.com/office/drawing/2014/main" id="{F010978B-F95B-F0CB-40BD-6990826D4DB5}"/>
                    </a:ext>
                  </a:extLst>
                </p14:cNvPr>
                <p14:cNvContentPartPr/>
                <p14:nvPr/>
              </p14:nvContentPartPr>
              <p14:xfrm>
                <a:off x="6721886" y="-31463"/>
                <a:ext cx="482760" cy="501120"/>
              </p14:xfrm>
            </p:contentPart>
          </mc:Choice>
          <mc:Fallback>
            <p:pic>
              <p:nvPicPr>
                <p:cNvPr id="32" name="Ink 31">
                  <a:extLst>
                    <a:ext uri="{FF2B5EF4-FFF2-40B4-BE49-F238E27FC236}">
                      <a16:creationId xmlns:a16="http://schemas.microsoft.com/office/drawing/2014/main" id="{F010978B-F95B-F0CB-40BD-6990826D4DB5}"/>
                    </a:ext>
                  </a:extLst>
                </p:cNvPr>
                <p:cNvPicPr/>
                <p:nvPr/>
              </p:nvPicPr>
              <p:blipFill>
                <a:blip r:embed="rId61"/>
                <a:stretch>
                  <a:fillRect/>
                </a:stretch>
              </p:blipFill>
              <p:spPr>
                <a:xfrm>
                  <a:off x="6715766" y="-37583"/>
                  <a:ext cx="495000" cy="513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3" name="Ink 32">
                  <a:extLst>
                    <a:ext uri="{FF2B5EF4-FFF2-40B4-BE49-F238E27FC236}">
                      <a16:creationId xmlns:a16="http://schemas.microsoft.com/office/drawing/2014/main" id="{3C166299-2C4A-7426-95D0-4C07292203BD}"/>
                    </a:ext>
                  </a:extLst>
                </p14:cNvPr>
                <p14:cNvContentPartPr/>
                <p14:nvPr/>
              </p14:nvContentPartPr>
              <p14:xfrm>
                <a:off x="7007366" y="228457"/>
                <a:ext cx="329760" cy="51840"/>
              </p14:xfrm>
            </p:contentPart>
          </mc:Choice>
          <mc:Fallback>
            <p:pic>
              <p:nvPicPr>
                <p:cNvPr id="33" name="Ink 32">
                  <a:extLst>
                    <a:ext uri="{FF2B5EF4-FFF2-40B4-BE49-F238E27FC236}">
                      <a16:creationId xmlns:a16="http://schemas.microsoft.com/office/drawing/2014/main" id="{3C166299-2C4A-7426-95D0-4C07292203BD}"/>
                    </a:ext>
                  </a:extLst>
                </p:cNvPr>
                <p:cNvPicPr/>
                <p:nvPr/>
              </p:nvPicPr>
              <p:blipFill>
                <a:blip r:embed="rId63"/>
                <a:stretch>
                  <a:fillRect/>
                </a:stretch>
              </p:blipFill>
              <p:spPr>
                <a:xfrm>
                  <a:off x="7001246" y="222337"/>
                  <a:ext cx="34200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4" name="Ink 33">
                  <a:extLst>
                    <a:ext uri="{FF2B5EF4-FFF2-40B4-BE49-F238E27FC236}">
                      <a16:creationId xmlns:a16="http://schemas.microsoft.com/office/drawing/2014/main" id="{679E5E1B-AA41-D728-61BF-F241C4FFCB1B}"/>
                    </a:ext>
                  </a:extLst>
                </p14:cNvPr>
                <p14:cNvContentPartPr/>
                <p14:nvPr/>
              </p14:nvContentPartPr>
              <p14:xfrm>
                <a:off x="7230206" y="173377"/>
                <a:ext cx="173880" cy="222480"/>
              </p14:xfrm>
            </p:contentPart>
          </mc:Choice>
          <mc:Fallback>
            <p:pic>
              <p:nvPicPr>
                <p:cNvPr id="34" name="Ink 33">
                  <a:extLst>
                    <a:ext uri="{FF2B5EF4-FFF2-40B4-BE49-F238E27FC236}">
                      <a16:creationId xmlns:a16="http://schemas.microsoft.com/office/drawing/2014/main" id="{679E5E1B-AA41-D728-61BF-F241C4FFCB1B}"/>
                    </a:ext>
                  </a:extLst>
                </p:cNvPr>
                <p:cNvPicPr/>
                <p:nvPr/>
              </p:nvPicPr>
              <p:blipFill>
                <a:blip r:embed="rId65"/>
                <a:stretch>
                  <a:fillRect/>
                </a:stretch>
              </p:blipFill>
              <p:spPr>
                <a:xfrm>
                  <a:off x="7224086" y="167257"/>
                  <a:ext cx="1861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5" name="Ink 34">
                  <a:extLst>
                    <a:ext uri="{FF2B5EF4-FFF2-40B4-BE49-F238E27FC236}">
                      <a16:creationId xmlns:a16="http://schemas.microsoft.com/office/drawing/2014/main" id="{0073D424-DFB4-A4FC-4E0A-46661758B49B}"/>
                    </a:ext>
                  </a:extLst>
                </p14:cNvPr>
                <p14:cNvContentPartPr/>
                <p14:nvPr/>
              </p14:nvContentPartPr>
              <p14:xfrm>
                <a:off x="7523966" y="251137"/>
                <a:ext cx="39240" cy="35280"/>
              </p14:xfrm>
            </p:contentPart>
          </mc:Choice>
          <mc:Fallback>
            <p:pic>
              <p:nvPicPr>
                <p:cNvPr id="35" name="Ink 34">
                  <a:extLst>
                    <a:ext uri="{FF2B5EF4-FFF2-40B4-BE49-F238E27FC236}">
                      <a16:creationId xmlns:a16="http://schemas.microsoft.com/office/drawing/2014/main" id="{0073D424-DFB4-A4FC-4E0A-46661758B49B}"/>
                    </a:ext>
                  </a:extLst>
                </p:cNvPr>
                <p:cNvPicPr/>
                <p:nvPr/>
              </p:nvPicPr>
              <p:blipFill>
                <a:blip r:embed="rId67"/>
                <a:stretch>
                  <a:fillRect/>
                </a:stretch>
              </p:blipFill>
              <p:spPr>
                <a:xfrm>
                  <a:off x="7517846" y="245017"/>
                  <a:ext cx="51480" cy="47520"/>
                </a:xfrm>
                <a:prstGeom prst="rect">
                  <a:avLst/>
                </a:prstGeom>
              </p:spPr>
            </p:pic>
          </mc:Fallback>
        </mc:AlternateContent>
      </p:grpSp>
    </p:spTree>
    <p:custDataLst>
      <p:tags r:id="rId1"/>
    </p:custDataLst>
    <p:extLst>
      <p:ext uri="{BB962C8B-B14F-4D97-AF65-F5344CB8AC3E}">
        <p14:creationId xmlns:p14="http://schemas.microsoft.com/office/powerpoint/2010/main" val="2966318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D38AD49-386C-6B9D-962B-6F7781EFEE0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6A4C6A1-FE3E-82A5-56D0-5A0E98A3FE0F}"/>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CB382E43-4A1D-0D65-EADE-38CB9FBC7564}"/>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22</a:t>
            </a:fld>
            <a:endParaRPr lang="en-US">
              <a:solidFill>
                <a:schemeClr val="tx1"/>
              </a:solidFill>
            </a:endParaRPr>
          </a:p>
        </p:txBody>
      </p:sp>
      <p:sp>
        <p:nvSpPr>
          <p:cNvPr id="2" name="Rectangle 5">
            <a:extLst>
              <a:ext uri="{FF2B5EF4-FFF2-40B4-BE49-F238E27FC236}">
                <a16:creationId xmlns:a16="http://schemas.microsoft.com/office/drawing/2014/main" id="{267976A1-EF15-B1FA-F5FB-AC62EAEBD0FD}"/>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Step 1: Determine effect on profit</a:t>
            </a:r>
          </a:p>
          <a:p>
            <a:pPr marL="0" indent="0" algn="just">
              <a:lnSpc>
                <a:spcPct val="100000"/>
              </a:lnSpc>
              <a:buSzPct val="100000"/>
              <a:buNone/>
            </a:pPr>
            <a:r>
              <a:rPr lang="en-US" sz="2400" dirty="0">
                <a:latin typeface="+mj-lt"/>
              </a:rPr>
              <a:t>	Increase in profit	= Increase in units x (SP</a:t>
            </a:r>
            <a:r>
              <a:rPr lang="en-US" sz="2400" baseline="-25000" dirty="0">
                <a:latin typeface="+mj-lt"/>
              </a:rPr>
              <a:t>U</a:t>
            </a:r>
            <a:r>
              <a:rPr lang="en-US" sz="2400" dirty="0">
                <a:latin typeface="+mj-lt"/>
              </a:rPr>
              <a:t> – VC</a:t>
            </a:r>
            <a:r>
              <a:rPr lang="en-US" sz="2400" baseline="-25000" dirty="0">
                <a:latin typeface="+mj-lt"/>
              </a:rPr>
              <a:t>U</a:t>
            </a:r>
            <a:r>
              <a:rPr lang="en-US" sz="2400" dirty="0">
                <a:latin typeface="+mj-lt"/>
              </a:rPr>
              <a:t>)*</a:t>
            </a:r>
          </a:p>
          <a:p>
            <a:pPr marL="0" indent="0" algn="just">
              <a:lnSpc>
                <a:spcPct val="100000"/>
              </a:lnSpc>
              <a:buSzPct val="100000"/>
              <a:buNone/>
            </a:pPr>
            <a:r>
              <a:rPr lang="en-US" sz="2400" dirty="0">
                <a:latin typeface="+mj-lt"/>
              </a:rPr>
              <a:t>				= 5 000 x (R45 – R35)</a:t>
            </a:r>
          </a:p>
          <a:p>
            <a:pPr marL="0" indent="0" algn="just">
              <a:lnSpc>
                <a:spcPct val="100000"/>
              </a:lnSpc>
              <a:buSzPct val="100000"/>
              <a:buNone/>
            </a:pPr>
            <a:r>
              <a:rPr lang="en-US" sz="2400" dirty="0">
                <a:latin typeface="+mj-lt"/>
              </a:rPr>
              <a:t>				= R50 000</a:t>
            </a:r>
          </a:p>
          <a:p>
            <a:pPr marL="0" indent="0" algn="just">
              <a:lnSpc>
                <a:spcPct val="100000"/>
              </a:lnSpc>
              <a:buSzPct val="100000"/>
              <a:buNone/>
            </a:pPr>
            <a:endParaRPr lang="en-US" sz="2400" dirty="0">
              <a:latin typeface="+mj-lt"/>
            </a:endParaRPr>
          </a:p>
          <a:p>
            <a:pPr marL="0" indent="0" algn="just">
              <a:lnSpc>
                <a:spcPct val="100000"/>
              </a:lnSpc>
              <a:buSzPct val="100000"/>
              <a:buNone/>
            </a:pPr>
            <a:endParaRPr lang="en-US" sz="2400" dirty="0">
              <a:latin typeface="+mj-lt"/>
            </a:endParaRPr>
          </a:p>
          <a:p>
            <a:pPr marL="0" indent="0" algn="just">
              <a:lnSpc>
                <a:spcPct val="100000"/>
              </a:lnSpc>
              <a:buSzPct val="100000"/>
              <a:buNone/>
            </a:pPr>
            <a:endParaRPr lang="en-US" sz="2400" dirty="0">
              <a:latin typeface="+mj-lt"/>
            </a:endParaRPr>
          </a:p>
          <a:p>
            <a:pPr marL="0" indent="0" algn="just">
              <a:lnSpc>
                <a:spcPct val="100000"/>
              </a:lnSpc>
              <a:buSzPct val="100000"/>
              <a:buNone/>
            </a:pPr>
            <a:endParaRPr lang="en-US" sz="2400" dirty="0">
              <a:latin typeface="+mj-lt"/>
            </a:endParaRPr>
          </a:p>
          <a:p>
            <a:pPr marL="0" indent="0" algn="just">
              <a:lnSpc>
                <a:spcPct val="100000"/>
              </a:lnSpc>
              <a:buSzPct val="100000"/>
              <a:buNone/>
            </a:pPr>
            <a:endParaRPr lang="en-US" sz="2400" dirty="0">
              <a:latin typeface="+mj-lt"/>
            </a:endParaRPr>
          </a:p>
          <a:p>
            <a:pPr marL="0" indent="0" algn="just">
              <a:lnSpc>
                <a:spcPct val="100000"/>
              </a:lnSpc>
              <a:buSzPct val="100000"/>
              <a:buNone/>
            </a:pPr>
            <a:endParaRPr lang="en-US" sz="2400" dirty="0">
              <a:latin typeface="+mj-lt"/>
            </a:endParaRPr>
          </a:p>
          <a:p>
            <a:pPr marL="0" indent="0" algn="just">
              <a:lnSpc>
                <a:spcPct val="100000"/>
              </a:lnSpc>
              <a:buSzPct val="100000"/>
              <a:buNone/>
            </a:pPr>
            <a:endParaRPr lang="en-US" sz="2400" dirty="0">
              <a:latin typeface="+mj-lt"/>
            </a:endParaRPr>
          </a:p>
          <a:p>
            <a:pPr marL="0" indent="0" algn="just">
              <a:lnSpc>
                <a:spcPct val="100000"/>
              </a:lnSpc>
              <a:buSzPct val="100000"/>
              <a:buNone/>
            </a:pPr>
            <a:r>
              <a:rPr lang="en-US" sz="2400" dirty="0">
                <a:latin typeface="+mj-lt"/>
              </a:rPr>
              <a:t>*Contribution per unit</a:t>
            </a:r>
          </a:p>
        </p:txBody>
      </p:sp>
    </p:spTree>
    <p:custDataLst>
      <p:tags r:id="rId1"/>
    </p:custDataLst>
    <p:extLst>
      <p:ext uri="{BB962C8B-B14F-4D97-AF65-F5344CB8AC3E}">
        <p14:creationId xmlns:p14="http://schemas.microsoft.com/office/powerpoint/2010/main" val="2188489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E291A4-8B07-8414-5658-C463B95D8C2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751C697-7B16-8626-0E27-0A267401C660}"/>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744BA3C2-03F6-E37C-4267-D8B7484043C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23</a:t>
            </a:fld>
            <a:endParaRPr lang="en-US">
              <a:solidFill>
                <a:schemeClr val="tx1"/>
              </a:solidFill>
            </a:endParaRPr>
          </a:p>
        </p:txBody>
      </p:sp>
      <p:sp>
        <p:nvSpPr>
          <p:cNvPr id="2" name="Rectangle 5">
            <a:extLst>
              <a:ext uri="{FF2B5EF4-FFF2-40B4-BE49-F238E27FC236}">
                <a16:creationId xmlns:a16="http://schemas.microsoft.com/office/drawing/2014/main" id="{FCED6D61-B75B-BE38-E2A4-78C0BB97286D}"/>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Step 2: Cost of marginal investment in accounts receivable</a:t>
            </a:r>
          </a:p>
          <a:p>
            <a:pPr marL="717550" algn="just">
              <a:lnSpc>
                <a:spcPct val="100000"/>
              </a:lnSpc>
              <a:buSzPct val="100000"/>
              <a:buFont typeface="Wingdings" panose="05000000000000000000" pitchFamily="2" charset="2"/>
              <a:buChar char="§"/>
            </a:pPr>
            <a:r>
              <a:rPr lang="en-US" sz="2400" dirty="0">
                <a:latin typeface="+mj-lt"/>
              </a:rPr>
              <a:t>Difference between cost of carrying receivables before and after change in credit terms</a:t>
            </a:r>
          </a:p>
          <a:p>
            <a:pPr marL="374650" indent="0" algn="just">
              <a:lnSpc>
                <a:spcPct val="100000"/>
              </a:lnSpc>
              <a:buSzPct val="100000"/>
              <a:buNone/>
            </a:pPr>
            <a:r>
              <a:rPr lang="en-US" sz="2400" dirty="0">
                <a:latin typeface="+mj-lt"/>
              </a:rPr>
              <a:t>	Total variable </a:t>
            </a:r>
            <a:r>
              <a:rPr lang="en-US" sz="2400" dirty="0" err="1">
                <a:latin typeface="+mj-lt"/>
              </a:rPr>
              <a:t>cost</a:t>
            </a:r>
            <a:r>
              <a:rPr lang="en-US" sz="2400" baseline="-25000" dirty="0" err="1">
                <a:latin typeface="+mj-lt"/>
              </a:rPr>
              <a:t>New</a:t>
            </a:r>
            <a:r>
              <a:rPr lang="en-US" sz="2400" dirty="0">
                <a:latin typeface="+mj-lt"/>
              </a:rPr>
              <a:t>	= R35 x 55 000</a:t>
            </a:r>
          </a:p>
          <a:p>
            <a:pPr marL="374650" indent="0" algn="just">
              <a:lnSpc>
                <a:spcPct val="100000"/>
              </a:lnSpc>
              <a:buSzPct val="100000"/>
              <a:buNone/>
            </a:pPr>
            <a:r>
              <a:rPr lang="en-US" sz="2400" dirty="0">
                <a:latin typeface="+mj-lt"/>
              </a:rPr>
              <a:t>					= R1 925 000</a:t>
            </a:r>
          </a:p>
          <a:p>
            <a:pPr marL="374650" indent="0" algn="just">
              <a:lnSpc>
                <a:spcPct val="100000"/>
              </a:lnSpc>
              <a:buSzPct val="100000"/>
              <a:buNone/>
            </a:pPr>
            <a:r>
              <a:rPr lang="en-US" sz="2400" dirty="0">
                <a:latin typeface="+mj-lt"/>
              </a:rPr>
              <a:t>	Total variable </a:t>
            </a:r>
            <a:r>
              <a:rPr lang="en-US" sz="2400" dirty="0" err="1">
                <a:latin typeface="+mj-lt"/>
              </a:rPr>
              <a:t>cost</a:t>
            </a:r>
            <a:r>
              <a:rPr lang="en-US" sz="2400" baseline="-25000" dirty="0" err="1">
                <a:latin typeface="+mj-lt"/>
              </a:rPr>
              <a:t>Current</a:t>
            </a:r>
            <a:r>
              <a:rPr lang="en-US" sz="2400" dirty="0">
                <a:latin typeface="+mj-lt"/>
              </a:rPr>
              <a:t>	= R35 x 50 000</a:t>
            </a:r>
          </a:p>
          <a:p>
            <a:pPr marL="374650" indent="0" algn="just">
              <a:lnSpc>
                <a:spcPct val="100000"/>
              </a:lnSpc>
              <a:buSzPct val="100000"/>
              <a:buNone/>
            </a:pPr>
            <a:r>
              <a:rPr lang="en-US" sz="2400" dirty="0">
                <a:latin typeface="+mj-lt"/>
              </a:rPr>
              <a:t>					= R1 750 000</a:t>
            </a:r>
          </a:p>
          <a:p>
            <a:pPr marL="374650" indent="0" algn="just">
              <a:lnSpc>
                <a:spcPct val="100000"/>
              </a:lnSpc>
              <a:buSzPct val="100000"/>
              <a:buNone/>
            </a:pPr>
            <a:r>
              <a:rPr lang="en-US" sz="2400" dirty="0">
                <a:latin typeface="+mj-lt"/>
              </a:rPr>
              <a:t>	</a:t>
            </a:r>
          </a:p>
          <a:p>
            <a:pPr marL="374650" indent="0" algn="just">
              <a:lnSpc>
                <a:spcPct val="100000"/>
              </a:lnSpc>
              <a:buSzPct val="100000"/>
              <a:buNone/>
            </a:pPr>
            <a:r>
              <a:rPr lang="en-US" sz="2400" dirty="0">
                <a:latin typeface="+mj-lt"/>
              </a:rPr>
              <a:t>	Turnover of </a:t>
            </a:r>
            <a:r>
              <a:rPr lang="en-US" sz="2400" dirty="0" err="1">
                <a:latin typeface="+mj-lt"/>
              </a:rPr>
              <a:t>AR</a:t>
            </a:r>
            <a:r>
              <a:rPr lang="en-US" sz="2400" baseline="-25000" dirty="0" err="1">
                <a:latin typeface="+mj-lt"/>
              </a:rPr>
              <a:t>New</a:t>
            </a:r>
            <a:r>
              <a:rPr lang="en-US" sz="2400" dirty="0">
                <a:latin typeface="+mj-lt"/>
              </a:rPr>
              <a:t>		= 360 / 35</a:t>
            </a:r>
          </a:p>
          <a:p>
            <a:pPr marL="374650" indent="0" algn="just">
              <a:lnSpc>
                <a:spcPct val="100000"/>
              </a:lnSpc>
              <a:buSzPct val="100000"/>
              <a:buNone/>
            </a:pPr>
            <a:r>
              <a:rPr lang="en-US" sz="2400" dirty="0">
                <a:latin typeface="+mj-lt"/>
              </a:rPr>
              <a:t>					= 10 times</a:t>
            </a:r>
          </a:p>
          <a:p>
            <a:pPr marL="374650" indent="0" algn="just">
              <a:lnSpc>
                <a:spcPct val="100000"/>
              </a:lnSpc>
              <a:buSzPct val="100000"/>
              <a:buNone/>
            </a:pPr>
            <a:r>
              <a:rPr lang="en-US" sz="2400" dirty="0">
                <a:latin typeface="+mj-lt"/>
              </a:rPr>
              <a:t>	Turnover of </a:t>
            </a:r>
            <a:r>
              <a:rPr lang="en-US" sz="2400" dirty="0" err="1">
                <a:latin typeface="+mj-lt"/>
              </a:rPr>
              <a:t>AR</a:t>
            </a:r>
            <a:r>
              <a:rPr lang="en-US" sz="2400" baseline="-25000" dirty="0" err="1">
                <a:latin typeface="+mj-lt"/>
              </a:rPr>
              <a:t>Current</a:t>
            </a:r>
            <a:r>
              <a:rPr lang="en-US" sz="2400" dirty="0">
                <a:latin typeface="+mj-lt"/>
              </a:rPr>
              <a:t>		= 360 / 45 </a:t>
            </a:r>
          </a:p>
          <a:p>
            <a:pPr marL="374650" indent="0" algn="just">
              <a:lnSpc>
                <a:spcPct val="100000"/>
              </a:lnSpc>
              <a:buSzPct val="100000"/>
              <a:buNone/>
            </a:pPr>
            <a:r>
              <a:rPr lang="en-US" sz="2400" dirty="0">
                <a:latin typeface="+mj-lt"/>
              </a:rPr>
              <a:t>					= 8 times</a:t>
            </a:r>
          </a:p>
        </p:txBody>
      </p:sp>
    </p:spTree>
    <p:custDataLst>
      <p:tags r:id="rId1"/>
    </p:custDataLst>
    <p:extLst>
      <p:ext uri="{BB962C8B-B14F-4D97-AF65-F5344CB8AC3E}">
        <p14:creationId xmlns:p14="http://schemas.microsoft.com/office/powerpoint/2010/main" val="3793902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414C8A6-B198-6DCA-7F45-2ED8EFAB63D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878CF72-9E60-CB1A-0DF9-30A1E2541D62}"/>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9F7CFD5B-DA40-9708-757A-FE5BFB6763A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24</a:t>
            </a:fld>
            <a:endParaRPr lang="en-US">
              <a:solidFill>
                <a:schemeClr val="tx1"/>
              </a:solidFill>
            </a:endParaRPr>
          </a:p>
        </p:txBody>
      </p:sp>
      <p:sp>
        <p:nvSpPr>
          <p:cNvPr id="2" name="Rectangle 5">
            <a:extLst>
              <a:ext uri="{FF2B5EF4-FFF2-40B4-BE49-F238E27FC236}">
                <a16:creationId xmlns:a16="http://schemas.microsoft.com/office/drawing/2014/main" id="{3AAFCA91-5220-8204-1270-0EA76EA8C82D}"/>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Step 2: Cost of marginal investment in accounts receivable (cont.)</a:t>
            </a:r>
          </a:p>
          <a:p>
            <a:pPr marL="374650" indent="0" algn="just">
              <a:lnSpc>
                <a:spcPct val="100000"/>
              </a:lnSpc>
              <a:buSzPct val="100000"/>
              <a:buNone/>
            </a:pPr>
            <a:r>
              <a:rPr lang="en-US" sz="2400" dirty="0">
                <a:latin typeface="+mj-lt"/>
              </a:rPr>
              <a:t>	Average </a:t>
            </a:r>
            <a:r>
              <a:rPr lang="en-US" sz="2400" dirty="0" err="1">
                <a:latin typeface="+mj-lt"/>
              </a:rPr>
              <a:t>investment</a:t>
            </a:r>
            <a:r>
              <a:rPr lang="en-US" sz="2400" baseline="-25000" dirty="0" err="1">
                <a:latin typeface="+mj-lt"/>
              </a:rPr>
              <a:t>New</a:t>
            </a:r>
            <a:r>
              <a:rPr lang="en-US" sz="2400" dirty="0">
                <a:latin typeface="+mj-lt"/>
              </a:rPr>
              <a:t>	= R1 925 000 / 10</a:t>
            </a:r>
          </a:p>
          <a:p>
            <a:pPr marL="374650" indent="0" algn="just">
              <a:lnSpc>
                <a:spcPct val="100000"/>
              </a:lnSpc>
              <a:buSzPct val="100000"/>
              <a:buNone/>
            </a:pPr>
            <a:r>
              <a:rPr lang="en-US" sz="2400" dirty="0">
                <a:latin typeface="+mj-lt"/>
              </a:rPr>
              <a:t>					= R192 500</a:t>
            </a:r>
          </a:p>
          <a:p>
            <a:pPr marL="374650" indent="0" algn="just">
              <a:lnSpc>
                <a:spcPct val="100000"/>
              </a:lnSpc>
              <a:buSzPct val="100000"/>
              <a:buNone/>
            </a:pPr>
            <a:r>
              <a:rPr lang="en-US" sz="2400" dirty="0">
                <a:latin typeface="+mj-lt"/>
              </a:rPr>
              <a:t>	Average </a:t>
            </a:r>
            <a:r>
              <a:rPr lang="en-US" sz="2400" dirty="0" err="1">
                <a:latin typeface="+mj-lt"/>
              </a:rPr>
              <a:t>investment</a:t>
            </a:r>
            <a:r>
              <a:rPr lang="en-US" sz="2400" baseline="-25000" dirty="0" err="1">
                <a:latin typeface="+mj-lt"/>
              </a:rPr>
              <a:t>Current</a:t>
            </a:r>
            <a:r>
              <a:rPr lang="en-US" sz="2400" dirty="0">
                <a:latin typeface="+mj-lt"/>
              </a:rPr>
              <a:t>	= R1 750 000 / 8</a:t>
            </a:r>
          </a:p>
          <a:p>
            <a:pPr marL="374650" indent="0" algn="just">
              <a:lnSpc>
                <a:spcPct val="100000"/>
              </a:lnSpc>
              <a:buSzPct val="100000"/>
              <a:buNone/>
            </a:pPr>
            <a:r>
              <a:rPr lang="en-US" sz="2400" dirty="0">
                <a:latin typeface="+mj-lt"/>
              </a:rPr>
              <a:t>					= R218 750</a:t>
            </a:r>
          </a:p>
          <a:p>
            <a:pPr marL="374650" indent="0" algn="just">
              <a:lnSpc>
                <a:spcPct val="100000"/>
              </a:lnSpc>
              <a:buSzPct val="100000"/>
              <a:buNone/>
            </a:pPr>
            <a:r>
              <a:rPr lang="en-US" sz="2400" dirty="0">
                <a:latin typeface="+mj-lt"/>
              </a:rPr>
              <a:t>	Marginal investment in AR	= R26 250 (saving)</a:t>
            </a:r>
          </a:p>
          <a:p>
            <a:pPr marL="374650" indent="0" algn="just">
              <a:lnSpc>
                <a:spcPct val="100000"/>
              </a:lnSpc>
              <a:buSzPct val="100000"/>
              <a:buNone/>
            </a:pPr>
            <a:endParaRPr lang="en-US" sz="2400" dirty="0">
              <a:latin typeface="+mj-lt"/>
            </a:endParaRPr>
          </a:p>
          <a:p>
            <a:pPr marL="374650" indent="0" algn="just">
              <a:lnSpc>
                <a:spcPct val="100000"/>
              </a:lnSpc>
              <a:buSzPct val="100000"/>
              <a:buNone/>
            </a:pPr>
            <a:r>
              <a:rPr lang="en-US" sz="2400" dirty="0">
                <a:latin typeface="+mj-lt"/>
              </a:rPr>
              <a:t>	Cost of marginal investment in AR</a:t>
            </a:r>
          </a:p>
          <a:p>
            <a:pPr marL="374650" indent="0" algn="just">
              <a:lnSpc>
                <a:spcPct val="100000"/>
              </a:lnSpc>
              <a:buSzPct val="100000"/>
              <a:buNone/>
            </a:pPr>
            <a:r>
              <a:rPr lang="en-US" sz="2400" dirty="0">
                <a:latin typeface="+mj-lt"/>
              </a:rPr>
              <a:t>					= 0.25 x R26 250</a:t>
            </a:r>
          </a:p>
          <a:p>
            <a:pPr marL="374650" indent="0" algn="just">
              <a:lnSpc>
                <a:spcPct val="100000"/>
              </a:lnSpc>
              <a:buSzPct val="100000"/>
              <a:buNone/>
            </a:pPr>
            <a:r>
              <a:rPr lang="en-US" sz="2400" dirty="0">
                <a:latin typeface="+mj-lt"/>
              </a:rPr>
              <a:t>					= R6 562.50</a:t>
            </a:r>
          </a:p>
          <a:p>
            <a:pPr marL="374650" indent="0" algn="just">
              <a:lnSpc>
                <a:spcPct val="100000"/>
              </a:lnSpc>
              <a:buSzPct val="100000"/>
              <a:buNone/>
            </a:pPr>
            <a:r>
              <a:rPr lang="en-US" sz="2400" dirty="0">
                <a:latin typeface="+mj-lt"/>
              </a:rPr>
              <a:t>	</a:t>
            </a:r>
          </a:p>
        </p:txBody>
      </p:sp>
    </p:spTree>
    <p:custDataLst>
      <p:tags r:id="rId1"/>
    </p:custDataLst>
    <p:extLst>
      <p:ext uri="{BB962C8B-B14F-4D97-AF65-F5344CB8AC3E}">
        <p14:creationId xmlns:p14="http://schemas.microsoft.com/office/powerpoint/2010/main" val="1241416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A3B8E8C-46D0-D29A-374A-671BEA5B50E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941E517-AB3C-4B4B-0F63-225C70509BDF}"/>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C1824918-5031-0901-199D-67F2074753B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25</a:t>
            </a:fld>
            <a:endParaRPr lang="en-US">
              <a:solidFill>
                <a:schemeClr val="tx1"/>
              </a:solidFill>
            </a:endParaRPr>
          </a:p>
        </p:txBody>
      </p:sp>
      <p:sp>
        <p:nvSpPr>
          <p:cNvPr id="2" name="Rectangle 5">
            <a:extLst>
              <a:ext uri="{FF2B5EF4-FFF2-40B4-BE49-F238E27FC236}">
                <a16:creationId xmlns:a16="http://schemas.microsoft.com/office/drawing/2014/main" id="{1FD710F6-6E4C-2594-BAAD-C12A692E064A}"/>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400" dirty="0">
                <a:latin typeface="+mj-lt"/>
              </a:rPr>
              <a:t>The credit selection process (cont.)</a:t>
            </a:r>
          </a:p>
          <a:p>
            <a:pPr algn="just">
              <a:lnSpc>
                <a:spcPct val="100000"/>
              </a:lnSpc>
              <a:buSzPct val="100000"/>
              <a:buFont typeface="Arial" panose="020B0604020202020204" pitchFamily="34" charset="0"/>
              <a:buChar char="•"/>
            </a:pPr>
            <a:r>
              <a:rPr lang="en-US" sz="2400" dirty="0">
                <a:latin typeface="+mj-lt"/>
              </a:rPr>
              <a:t>Step 3: Cost of marginal bad debts</a:t>
            </a:r>
          </a:p>
          <a:p>
            <a:pPr marL="0" indent="0" algn="just">
              <a:lnSpc>
                <a:spcPct val="100000"/>
              </a:lnSpc>
              <a:buSzPct val="100000"/>
              <a:buNone/>
            </a:pPr>
            <a:r>
              <a:rPr lang="en-US" sz="2400" dirty="0">
                <a:latin typeface="+mj-lt"/>
              </a:rPr>
              <a:t>	Bad debts		= % of Bad debt x SP x Q </a:t>
            </a:r>
          </a:p>
          <a:p>
            <a:pPr marL="0" indent="0" algn="just">
              <a:lnSpc>
                <a:spcPct val="100000"/>
              </a:lnSpc>
              <a:buSzPct val="100000"/>
              <a:buNone/>
            </a:pPr>
            <a:r>
              <a:rPr lang="en-US" sz="2400" dirty="0">
                <a:latin typeface="+mj-lt"/>
              </a:rPr>
              <a:t>	Bad </a:t>
            </a:r>
            <a:r>
              <a:rPr lang="en-US" sz="2400" dirty="0" err="1">
                <a:latin typeface="+mj-lt"/>
              </a:rPr>
              <a:t>debts</a:t>
            </a:r>
            <a:r>
              <a:rPr lang="en-US" sz="2400" baseline="-25000" dirty="0" err="1">
                <a:latin typeface="+mj-lt"/>
              </a:rPr>
              <a:t>New</a:t>
            </a:r>
            <a:r>
              <a:rPr lang="en-US" sz="2400" dirty="0">
                <a:latin typeface="+mj-lt"/>
              </a:rPr>
              <a:t>		= 0.0005 x R45 x 55 000</a:t>
            </a:r>
          </a:p>
          <a:p>
            <a:pPr marL="0" indent="0" algn="just">
              <a:lnSpc>
                <a:spcPct val="100000"/>
              </a:lnSpc>
              <a:buSzPct val="100000"/>
              <a:buNone/>
            </a:pPr>
            <a:r>
              <a:rPr lang="en-US" sz="2400" dirty="0">
                <a:latin typeface="+mj-lt"/>
              </a:rPr>
              <a:t>				= R1 237.50</a:t>
            </a:r>
          </a:p>
          <a:p>
            <a:pPr marL="0" indent="0" algn="just">
              <a:lnSpc>
                <a:spcPct val="100000"/>
              </a:lnSpc>
              <a:buSzPct val="100000"/>
              <a:buNone/>
            </a:pPr>
            <a:r>
              <a:rPr lang="en-US" sz="2400" dirty="0">
                <a:latin typeface="+mj-lt"/>
              </a:rPr>
              <a:t>	Bad </a:t>
            </a:r>
            <a:r>
              <a:rPr lang="en-US" sz="2400" dirty="0" err="1">
                <a:latin typeface="+mj-lt"/>
              </a:rPr>
              <a:t>debts</a:t>
            </a:r>
            <a:r>
              <a:rPr lang="en-US" sz="2400" baseline="-25000" dirty="0" err="1">
                <a:latin typeface="+mj-lt"/>
              </a:rPr>
              <a:t>Current</a:t>
            </a:r>
            <a:r>
              <a:rPr lang="en-US" sz="2400" dirty="0">
                <a:latin typeface="+mj-lt"/>
              </a:rPr>
              <a:t>	= 0.01 x R45 x 50 000</a:t>
            </a:r>
          </a:p>
          <a:p>
            <a:pPr marL="0" indent="0" algn="just">
              <a:lnSpc>
                <a:spcPct val="100000"/>
              </a:lnSpc>
              <a:buSzPct val="100000"/>
              <a:buNone/>
            </a:pPr>
            <a:r>
              <a:rPr lang="en-US" sz="2400" dirty="0">
                <a:latin typeface="+mj-lt"/>
              </a:rPr>
              <a:t>				= R22 500.00</a:t>
            </a:r>
          </a:p>
          <a:p>
            <a:pPr marL="0" indent="0" algn="just">
              <a:lnSpc>
                <a:spcPct val="100000"/>
              </a:lnSpc>
              <a:buSzPct val="100000"/>
              <a:buNone/>
            </a:pPr>
            <a:endParaRPr lang="en-US" sz="2400" dirty="0">
              <a:latin typeface="+mj-lt"/>
            </a:endParaRPr>
          </a:p>
          <a:p>
            <a:pPr marL="0" indent="0" algn="just">
              <a:lnSpc>
                <a:spcPct val="100000"/>
              </a:lnSpc>
              <a:buSzPct val="100000"/>
              <a:buNone/>
            </a:pPr>
            <a:r>
              <a:rPr lang="en-US" sz="2400" dirty="0">
                <a:latin typeface="+mj-lt"/>
              </a:rPr>
              <a:t>	Decrease in bad debts to amount of R21 262.50</a:t>
            </a:r>
          </a:p>
        </p:txBody>
      </p:sp>
    </p:spTree>
    <p:custDataLst>
      <p:tags r:id="rId1"/>
    </p:custDataLst>
    <p:extLst>
      <p:ext uri="{BB962C8B-B14F-4D97-AF65-F5344CB8AC3E}">
        <p14:creationId xmlns:p14="http://schemas.microsoft.com/office/powerpoint/2010/main" val="1800687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6AB98E-0AE9-5FBC-FB81-7E23B96C1B7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E206322A-6A43-5AC7-82DA-7633C7020236}"/>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803ED5B6-1497-44C0-8C9B-68CC795C897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26</a:t>
            </a:fld>
            <a:endParaRPr lang="en-US">
              <a:solidFill>
                <a:schemeClr val="tx1"/>
              </a:solidFill>
            </a:endParaRPr>
          </a:p>
        </p:txBody>
      </p:sp>
      <p:sp>
        <p:nvSpPr>
          <p:cNvPr id="2" name="Rectangle 5">
            <a:extLst>
              <a:ext uri="{FF2B5EF4-FFF2-40B4-BE49-F238E27FC236}">
                <a16:creationId xmlns:a16="http://schemas.microsoft.com/office/drawing/2014/main" id="{BBEFBBDA-4189-AD37-B136-58D6778BB333}"/>
              </a:ext>
            </a:extLst>
          </p:cNvPr>
          <p:cNvSpPr>
            <a:spLocks noGrp="1" noChangeArrowheads="1"/>
          </p:cNvSpPr>
          <p:nvPr>
            <p:ph idx="1"/>
          </p:nvPr>
        </p:nvSpPr>
        <p:spPr>
          <a:xfrm>
            <a:off x="259976" y="990600"/>
            <a:ext cx="8655424" cy="5247290"/>
          </a:xfrm>
        </p:spPr>
        <p:txBody>
          <a:bodyPr/>
          <a:lstStyle/>
          <a:p>
            <a:pPr algn="just">
              <a:lnSpc>
                <a:spcPct val="100000"/>
              </a:lnSpc>
              <a:buSzPct val="100000"/>
              <a:buFont typeface="Arial" panose="020B0604020202020204" pitchFamily="34" charset="0"/>
              <a:buChar char="•"/>
            </a:pPr>
            <a:r>
              <a:rPr lang="en-US" sz="2200" dirty="0">
                <a:latin typeface="+mj-lt"/>
              </a:rPr>
              <a:t>The credit selection process (cont.)</a:t>
            </a:r>
          </a:p>
          <a:p>
            <a:pPr algn="just">
              <a:lnSpc>
                <a:spcPct val="100000"/>
              </a:lnSpc>
              <a:buSzPct val="100000"/>
              <a:buFont typeface="Arial" panose="020B0604020202020204" pitchFamily="34" charset="0"/>
              <a:buChar char="•"/>
            </a:pPr>
            <a:r>
              <a:rPr lang="en-US" sz="2200" dirty="0">
                <a:latin typeface="+mj-lt"/>
              </a:rPr>
              <a:t>Step 4: Cost of settlement discount</a:t>
            </a:r>
          </a:p>
          <a:p>
            <a:pPr marL="0" indent="0" algn="just">
              <a:lnSpc>
                <a:spcPct val="100000"/>
              </a:lnSpc>
              <a:buSzPct val="100000"/>
              <a:buNone/>
              <a:tabLst>
                <a:tab pos="895350" algn="l"/>
                <a:tab pos="4129088" algn="l"/>
              </a:tabLst>
            </a:pPr>
            <a:r>
              <a:rPr lang="en-US" sz="2200" dirty="0">
                <a:latin typeface="+mj-lt"/>
              </a:rPr>
              <a:t>	Settlement discount</a:t>
            </a:r>
            <a:r>
              <a:rPr lang="en-US" sz="2200" baseline="-25000" dirty="0">
                <a:latin typeface="+mj-lt"/>
              </a:rPr>
              <a:t>	</a:t>
            </a:r>
            <a:r>
              <a:rPr lang="en-US" sz="2200" dirty="0">
                <a:latin typeface="+mj-lt"/>
              </a:rPr>
              <a:t>= Disc % x % Customers x SP x Q</a:t>
            </a:r>
          </a:p>
          <a:p>
            <a:pPr marL="0" indent="0" algn="just">
              <a:lnSpc>
                <a:spcPct val="100000"/>
              </a:lnSpc>
              <a:buSzPct val="100000"/>
              <a:buNone/>
              <a:tabLst>
                <a:tab pos="895350" algn="l"/>
                <a:tab pos="4129088" algn="l"/>
              </a:tabLst>
            </a:pPr>
            <a:r>
              <a:rPr lang="en-US" sz="2200" dirty="0">
                <a:latin typeface="+mj-lt"/>
              </a:rPr>
              <a:t>	Settlement </a:t>
            </a:r>
            <a:r>
              <a:rPr lang="en-US" sz="2200" dirty="0" err="1">
                <a:latin typeface="+mj-lt"/>
              </a:rPr>
              <a:t>discount</a:t>
            </a:r>
            <a:r>
              <a:rPr lang="en-US" sz="2200" baseline="-25000" dirty="0" err="1">
                <a:latin typeface="+mj-lt"/>
              </a:rPr>
              <a:t>New</a:t>
            </a:r>
            <a:r>
              <a:rPr lang="en-US" sz="2200" dirty="0">
                <a:latin typeface="+mj-lt"/>
              </a:rPr>
              <a:t>	= 0.05 x 0.70 x R45 x 55 000</a:t>
            </a:r>
          </a:p>
          <a:p>
            <a:pPr marL="0" indent="0" algn="just">
              <a:lnSpc>
                <a:spcPct val="100000"/>
              </a:lnSpc>
              <a:buSzPct val="100000"/>
              <a:buNone/>
              <a:tabLst>
                <a:tab pos="895350" algn="l"/>
                <a:tab pos="4129088" algn="l"/>
              </a:tabLst>
            </a:pPr>
            <a:r>
              <a:rPr lang="en-US" sz="2200" dirty="0">
                <a:latin typeface="+mj-lt"/>
              </a:rPr>
              <a:t>		= R86 625.00</a:t>
            </a:r>
          </a:p>
          <a:p>
            <a:pPr marL="0" indent="0" algn="just">
              <a:lnSpc>
                <a:spcPct val="100000"/>
              </a:lnSpc>
              <a:buSzPct val="100000"/>
              <a:buNone/>
              <a:tabLst>
                <a:tab pos="895350" algn="l"/>
                <a:tab pos="4129088" algn="l"/>
              </a:tabLst>
            </a:pPr>
            <a:r>
              <a:rPr lang="en-US" sz="2200" dirty="0">
                <a:latin typeface="+mj-lt"/>
              </a:rPr>
              <a:t>	Settlement </a:t>
            </a:r>
            <a:r>
              <a:rPr lang="en-US" sz="2200" dirty="0" err="1">
                <a:latin typeface="+mj-lt"/>
              </a:rPr>
              <a:t>discount</a:t>
            </a:r>
            <a:r>
              <a:rPr lang="en-US" sz="2200" baseline="-25000" dirty="0" err="1">
                <a:latin typeface="+mj-lt"/>
              </a:rPr>
              <a:t>Current</a:t>
            </a:r>
            <a:r>
              <a:rPr lang="en-US" sz="2200" dirty="0">
                <a:latin typeface="+mj-lt"/>
              </a:rPr>
              <a:t>	= 0.02 x 0.60 x R45 x 50 000</a:t>
            </a:r>
          </a:p>
          <a:p>
            <a:pPr marL="0" indent="0" algn="just">
              <a:lnSpc>
                <a:spcPct val="100000"/>
              </a:lnSpc>
              <a:buSzPct val="100000"/>
              <a:buNone/>
              <a:tabLst>
                <a:tab pos="895350" algn="l"/>
                <a:tab pos="4129088" algn="l"/>
              </a:tabLst>
            </a:pPr>
            <a:r>
              <a:rPr lang="en-US" sz="2200" dirty="0">
                <a:latin typeface="+mj-lt"/>
              </a:rPr>
              <a:t>		= R27 000.00</a:t>
            </a:r>
          </a:p>
          <a:p>
            <a:pPr marL="0" indent="0" algn="just">
              <a:lnSpc>
                <a:spcPct val="100000"/>
              </a:lnSpc>
              <a:buSzPct val="100000"/>
              <a:buNone/>
              <a:tabLst>
                <a:tab pos="895350" algn="l"/>
                <a:tab pos="4129088" algn="l"/>
              </a:tabLst>
            </a:pPr>
            <a:endParaRPr lang="en-US" sz="2200" dirty="0">
              <a:latin typeface="+mj-lt"/>
            </a:endParaRPr>
          </a:p>
          <a:p>
            <a:pPr marL="0" indent="0" algn="just">
              <a:lnSpc>
                <a:spcPct val="100000"/>
              </a:lnSpc>
              <a:buSzPct val="100000"/>
              <a:buNone/>
              <a:tabLst>
                <a:tab pos="895350" algn="l"/>
                <a:tab pos="4129088" algn="l"/>
              </a:tabLst>
            </a:pPr>
            <a:r>
              <a:rPr lang="en-US" sz="2200" dirty="0">
                <a:latin typeface="+mj-lt"/>
              </a:rPr>
              <a:t>	Cost of settlement	= R59 625</a:t>
            </a:r>
          </a:p>
        </p:txBody>
      </p:sp>
    </p:spTree>
    <p:custDataLst>
      <p:tags r:id="rId1"/>
    </p:custDataLst>
    <p:extLst>
      <p:ext uri="{BB962C8B-B14F-4D97-AF65-F5344CB8AC3E}">
        <p14:creationId xmlns:p14="http://schemas.microsoft.com/office/powerpoint/2010/main" val="3414465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AE61B1D-7FA8-E1DB-09D4-0E82ADB013B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3FB04C7-66F5-1076-1442-C680D3225046}"/>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A17D72A1-3FF1-E023-2FA1-B795F31289F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27</a:t>
            </a:fld>
            <a:endParaRPr lang="en-US">
              <a:solidFill>
                <a:schemeClr val="tx1"/>
              </a:solidFill>
            </a:endParaRPr>
          </a:p>
        </p:txBody>
      </p:sp>
      <p:sp>
        <p:nvSpPr>
          <p:cNvPr id="2" name="Rectangle 5">
            <a:extLst>
              <a:ext uri="{FF2B5EF4-FFF2-40B4-BE49-F238E27FC236}">
                <a16:creationId xmlns:a16="http://schemas.microsoft.com/office/drawing/2014/main" id="{EA9D3C3A-1548-3C66-E1A5-6C6AFF51BD89}"/>
              </a:ext>
            </a:extLst>
          </p:cNvPr>
          <p:cNvSpPr>
            <a:spLocks noGrp="1" noChangeArrowheads="1"/>
          </p:cNvSpPr>
          <p:nvPr>
            <p:ph idx="1"/>
          </p:nvPr>
        </p:nvSpPr>
        <p:spPr>
          <a:xfrm>
            <a:off x="259976" y="990600"/>
            <a:ext cx="8655424" cy="5247290"/>
          </a:xfrm>
        </p:spPr>
        <p:txBody>
          <a:bodyPr/>
          <a:lstStyle/>
          <a:p>
            <a:pPr algn="just">
              <a:lnSpc>
                <a:spcPct val="100000"/>
              </a:lnSpc>
              <a:spcBef>
                <a:spcPts val="0"/>
              </a:spcBef>
              <a:buSzPct val="100000"/>
              <a:buFont typeface="Arial" panose="020B0604020202020204" pitchFamily="34" charset="0"/>
              <a:buChar char="•"/>
            </a:pPr>
            <a:r>
              <a:rPr lang="en-US" sz="2400" dirty="0">
                <a:latin typeface="+mj-lt"/>
              </a:rPr>
              <a:t>The credit selection process (cont.)</a:t>
            </a:r>
          </a:p>
          <a:p>
            <a:pPr algn="just">
              <a:lnSpc>
                <a:spcPct val="100000"/>
              </a:lnSpc>
              <a:spcBef>
                <a:spcPts val="0"/>
              </a:spcBef>
              <a:buSzPct val="100000"/>
              <a:buFont typeface="Arial" panose="020B0604020202020204" pitchFamily="34" charset="0"/>
              <a:buChar char="•"/>
            </a:pPr>
            <a:r>
              <a:rPr lang="en-US" sz="2400" dirty="0">
                <a:latin typeface="+mj-lt"/>
              </a:rPr>
              <a:t>Step 5: Making final decision</a:t>
            </a:r>
          </a:p>
          <a:p>
            <a:pPr marL="717550" algn="just">
              <a:lnSpc>
                <a:spcPct val="100000"/>
              </a:lnSpc>
              <a:spcBef>
                <a:spcPts val="0"/>
              </a:spcBef>
              <a:buSzPct val="100000"/>
              <a:buFont typeface="Wingdings" panose="05000000000000000000" pitchFamily="2" charset="2"/>
              <a:buChar char="§"/>
            </a:pPr>
            <a:r>
              <a:rPr lang="en-US" sz="2400" dirty="0">
                <a:latin typeface="+mj-lt"/>
              </a:rPr>
              <a:t>Effects of proposed change in credit terms</a:t>
            </a:r>
          </a:p>
          <a:p>
            <a:pPr marL="1071563" algn="just">
              <a:lnSpc>
                <a:spcPct val="100000"/>
              </a:lnSpc>
              <a:spcBef>
                <a:spcPts val="0"/>
              </a:spcBef>
              <a:buSzPct val="100000"/>
              <a:buFont typeface="Wingdings" panose="05000000000000000000" pitchFamily="2" charset="2"/>
              <a:buChar char="§"/>
              <a:tabLst>
                <a:tab pos="2152650" algn="l"/>
              </a:tabLst>
            </a:pPr>
            <a:r>
              <a:rPr lang="en-US" sz="2400" dirty="0">
                <a:latin typeface="+mj-lt"/>
              </a:rPr>
              <a:t>Step 1: 	Increase in profit contribution from sales</a:t>
            </a:r>
          </a:p>
          <a:p>
            <a:pPr marL="1071563" algn="just">
              <a:lnSpc>
                <a:spcPct val="100000"/>
              </a:lnSpc>
              <a:spcBef>
                <a:spcPts val="0"/>
              </a:spcBef>
              <a:buSzPct val="100000"/>
              <a:buFont typeface="Wingdings" panose="05000000000000000000" pitchFamily="2" charset="2"/>
              <a:buChar char="§"/>
              <a:tabLst>
                <a:tab pos="2152650" algn="l"/>
              </a:tabLst>
            </a:pPr>
            <a:r>
              <a:rPr lang="en-US" sz="2400" dirty="0">
                <a:latin typeface="+mj-lt"/>
              </a:rPr>
              <a:t>Step 2: 	Saving in cost (decrease in marginal 			investment in AR)</a:t>
            </a:r>
          </a:p>
          <a:p>
            <a:pPr marL="1071563" algn="just">
              <a:lnSpc>
                <a:spcPct val="100000"/>
              </a:lnSpc>
              <a:spcBef>
                <a:spcPts val="0"/>
              </a:spcBef>
              <a:buSzPct val="100000"/>
              <a:buFont typeface="Wingdings" panose="05000000000000000000" pitchFamily="2" charset="2"/>
              <a:buChar char="§"/>
              <a:tabLst>
                <a:tab pos="2152650" algn="l"/>
              </a:tabLst>
            </a:pPr>
            <a:r>
              <a:rPr lang="en-US" sz="2400" dirty="0">
                <a:latin typeface="+mj-lt"/>
              </a:rPr>
              <a:t>Step 3:	Saving in cost (decrease in marginal bad 		debt cost)</a:t>
            </a:r>
          </a:p>
          <a:p>
            <a:pPr marL="1071563" algn="just">
              <a:lnSpc>
                <a:spcPct val="100000"/>
              </a:lnSpc>
              <a:spcBef>
                <a:spcPts val="300"/>
              </a:spcBef>
              <a:buSzPct val="100000"/>
              <a:buFont typeface="Wingdings" panose="05000000000000000000" pitchFamily="2" charset="2"/>
              <a:buChar char="§"/>
              <a:tabLst>
                <a:tab pos="2152650" algn="l"/>
              </a:tabLst>
            </a:pPr>
            <a:r>
              <a:rPr lang="en-US" sz="2400" dirty="0">
                <a:latin typeface="+mj-lt"/>
              </a:rPr>
              <a:t>Step 4:	Cost of settlement</a:t>
            </a:r>
          </a:p>
          <a:p>
            <a:pPr marL="728663" indent="0" algn="just">
              <a:lnSpc>
                <a:spcPct val="100000"/>
              </a:lnSpc>
              <a:spcBef>
                <a:spcPts val="0"/>
              </a:spcBef>
              <a:buSzPct val="100000"/>
              <a:buNone/>
            </a:pPr>
            <a:r>
              <a:rPr lang="en-US" sz="2400" dirty="0">
                <a:latin typeface="+mj-lt"/>
              </a:rPr>
              <a:t>			Step 1		R50 000.00</a:t>
            </a:r>
          </a:p>
          <a:p>
            <a:pPr marL="728663" indent="0" algn="just">
              <a:lnSpc>
                <a:spcPct val="100000"/>
              </a:lnSpc>
              <a:spcBef>
                <a:spcPts val="0"/>
              </a:spcBef>
              <a:buSzPct val="100000"/>
              <a:buNone/>
            </a:pPr>
            <a:r>
              <a:rPr lang="en-US" sz="2400" dirty="0">
                <a:latin typeface="+mj-lt"/>
              </a:rPr>
              <a:t>			Step 2		R  6 562.50</a:t>
            </a:r>
          </a:p>
          <a:p>
            <a:pPr marL="728663" indent="0" algn="just">
              <a:lnSpc>
                <a:spcPct val="100000"/>
              </a:lnSpc>
              <a:spcBef>
                <a:spcPts val="0"/>
              </a:spcBef>
              <a:buSzPct val="100000"/>
              <a:buNone/>
            </a:pPr>
            <a:r>
              <a:rPr lang="en-US" sz="2400" dirty="0">
                <a:latin typeface="+mj-lt"/>
              </a:rPr>
              <a:t>			Step 3		R21 262.50</a:t>
            </a:r>
          </a:p>
          <a:p>
            <a:pPr marL="728663" indent="0" algn="just">
              <a:lnSpc>
                <a:spcPct val="100000"/>
              </a:lnSpc>
              <a:spcBef>
                <a:spcPts val="0"/>
              </a:spcBef>
              <a:buSzPct val="100000"/>
              <a:buNone/>
            </a:pPr>
            <a:r>
              <a:rPr lang="en-US" sz="2400" dirty="0">
                <a:latin typeface="+mj-lt"/>
              </a:rPr>
              <a:t>			Step 4		</a:t>
            </a:r>
            <a:r>
              <a:rPr lang="en-US" sz="2400" u="sng" dirty="0">
                <a:solidFill>
                  <a:srgbClr val="FF0000"/>
                </a:solidFill>
                <a:latin typeface="+mj-lt"/>
              </a:rPr>
              <a:t>R59 625.00</a:t>
            </a:r>
          </a:p>
          <a:p>
            <a:pPr marL="728663" indent="0" algn="just">
              <a:lnSpc>
                <a:spcPct val="100000"/>
              </a:lnSpc>
              <a:spcBef>
                <a:spcPts val="0"/>
              </a:spcBef>
              <a:buSzPct val="100000"/>
              <a:buNone/>
            </a:pPr>
            <a:r>
              <a:rPr lang="en-US" sz="2400" dirty="0">
                <a:latin typeface="+mj-lt"/>
              </a:rPr>
              <a:t>					</a:t>
            </a:r>
            <a:r>
              <a:rPr lang="en-US" sz="2400" u="dbl" dirty="0">
                <a:latin typeface="+mj-lt"/>
              </a:rPr>
              <a:t>R18 200.00</a:t>
            </a:r>
          </a:p>
        </p:txBody>
      </p:sp>
    </p:spTree>
    <p:custDataLst>
      <p:tags r:id="rId1"/>
    </p:custDataLst>
    <p:extLst>
      <p:ext uri="{BB962C8B-B14F-4D97-AF65-F5344CB8AC3E}">
        <p14:creationId xmlns:p14="http://schemas.microsoft.com/office/powerpoint/2010/main" val="144690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FED2A32-3AE7-7170-28E0-97C96470817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B953070-E41B-07F2-4751-5A388B01F6DC}"/>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7CB961E7-F335-24CE-1E2A-BFA944C77EA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28</a:t>
            </a:fld>
            <a:endParaRPr lang="en-US">
              <a:solidFill>
                <a:schemeClr val="tx1"/>
              </a:solidFill>
            </a:endParaRPr>
          </a:p>
        </p:txBody>
      </p:sp>
      <p:sp>
        <p:nvSpPr>
          <p:cNvPr id="4" name="Rectangle 5">
            <a:extLst>
              <a:ext uri="{FF2B5EF4-FFF2-40B4-BE49-F238E27FC236}">
                <a16:creationId xmlns:a16="http://schemas.microsoft.com/office/drawing/2014/main" id="{E9C155EE-1F5D-EB6A-8D8B-90F1608731F1}"/>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Collection policy</a:t>
            </a:r>
          </a:p>
          <a:p>
            <a:pPr marL="717550" algn="just">
              <a:lnSpc>
                <a:spcPct val="105000"/>
              </a:lnSpc>
              <a:buSzPct val="100000"/>
              <a:buFont typeface="Wingdings" panose="05000000000000000000" pitchFamily="2" charset="2"/>
              <a:buChar char="§"/>
            </a:pPr>
            <a:r>
              <a:rPr lang="en-US" sz="2400" dirty="0">
                <a:latin typeface="+mj-lt"/>
              </a:rPr>
              <a:t>Guidelines governing procedures to collect AR once they become due</a:t>
            </a:r>
          </a:p>
          <a:p>
            <a:pPr algn="just">
              <a:lnSpc>
                <a:spcPct val="105000"/>
              </a:lnSpc>
              <a:buSzPct val="100000"/>
              <a:buFont typeface="Arial" panose="020B0604020202020204" pitchFamily="34" charset="0"/>
              <a:buChar char="•"/>
            </a:pPr>
            <a:r>
              <a:rPr lang="en-US" sz="2400" dirty="0">
                <a:latin typeface="+mj-lt"/>
              </a:rPr>
              <a:t>Invoice</a:t>
            </a:r>
          </a:p>
          <a:p>
            <a:pPr marL="717550" algn="just">
              <a:lnSpc>
                <a:spcPct val="105000"/>
              </a:lnSpc>
              <a:buSzPct val="100000"/>
              <a:buFont typeface="Wingdings" panose="05000000000000000000" pitchFamily="2" charset="2"/>
              <a:buChar char="§"/>
            </a:pPr>
            <a:r>
              <a:rPr lang="en-US" sz="2400" dirty="0">
                <a:latin typeface="+mj-lt"/>
              </a:rPr>
              <a:t>Mail/email/SMS invoices timeously – timing important</a:t>
            </a:r>
          </a:p>
          <a:p>
            <a:pPr marL="717550" algn="just">
              <a:lnSpc>
                <a:spcPct val="105000"/>
              </a:lnSpc>
              <a:buSzPct val="100000"/>
              <a:buFont typeface="Wingdings" panose="05000000000000000000" pitchFamily="2" charset="2"/>
              <a:buChar char="§"/>
            </a:pPr>
            <a:r>
              <a:rPr lang="en-US" sz="2400" dirty="0">
                <a:latin typeface="+mj-lt"/>
              </a:rPr>
              <a:t>Dating of invoices – earliest date possible</a:t>
            </a:r>
          </a:p>
          <a:p>
            <a:pPr marL="717550" algn="just">
              <a:lnSpc>
                <a:spcPct val="105000"/>
              </a:lnSpc>
              <a:buSzPct val="100000"/>
              <a:buFont typeface="Wingdings" panose="05000000000000000000" pitchFamily="2" charset="2"/>
              <a:buChar char="§"/>
            </a:pPr>
            <a:r>
              <a:rPr lang="en-US" sz="2400" dirty="0">
                <a:latin typeface="+mj-lt"/>
              </a:rPr>
              <a:t>Size and frequency of invoices</a:t>
            </a:r>
          </a:p>
          <a:p>
            <a:pPr marL="1071563" algn="just">
              <a:lnSpc>
                <a:spcPct val="105000"/>
              </a:lnSpc>
              <a:buSzPct val="100000"/>
              <a:buFont typeface="Wingdings" panose="05000000000000000000" pitchFamily="2" charset="2"/>
              <a:buChar char="§"/>
            </a:pPr>
            <a:r>
              <a:rPr lang="en-US" sz="2400" dirty="0">
                <a:latin typeface="+mj-lt"/>
              </a:rPr>
              <a:t>Due for payment earlier</a:t>
            </a:r>
          </a:p>
          <a:p>
            <a:pPr marL="1071563" algn="just">
              <a:lnSpc>
                <a:spcPct val="105000"/>
              </a:lnSpc>
              <a:buSzPct val="100000"/>
              <a:buFont typeface="Wingdings" panose="05000000000000000000" pitchFamily="2" charset="2"/>
              <a:buChar char="§"/>
            </a:pPr>
            <a:r>
              <a:rPr lang="en-US" sz="2400" dirty="0">
                <a:latin typeface="+mj-lt"/>
              </a:rPr>
              <a:t>Smaller rather than large invoices paid earlier</a:t>
            </a:r>
          </a:p>
          <a:p>
            <a:pPr marL="1071563" algn="just">
              <a:lnSpc>
                <a:spcPct val="105000"/>
              </a:lnSpc>
              <a:buSzPct val="100000"/>
              <a:buFont typeface="Wingdings" panose="05000000000000000000" pitchFamily="2" charset="2"/>
              <a:buChar char="§"/>
            </a:pPr>
            <a:r>
              <a:rPr lang="en-US" sz="2400" dirty="0">
                <a:latin typeface="+mj-lt"/>
              </a:rPr>
              <a:t>Dispute over invoice may delay payment</a:t>
            </a:r>
          </a:p>
          <a:p>
            <a:pPr marL="1071563" algn="just">
              <a:lnSpc>
                <a:spcPct val="105000"/>
              </a:lnSpc>
              <a:buSzPct val="100000"/>
              <a:buFont typeface="Wingdings" panose="05000000000000000000" pitchFamily="2" charset="2"/>
              <a:buChar char="§"/>
            </a:pPr>
            <a:r>
              <a:rPr lang="en-US" sz="2400" dirty="0">
                <a:latin typeface="+mj-lt"/>
              </a:rPr>
              <a:t>Larger invoices required approval signatures (takes time)</a:t>
            </a: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1071589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0E4E1B6-5A80-002D-BE0A-0712F3291DE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D873C22-2D6C-23E6-A2D1-315BCB1873A3}"/>
              </a:ext>
            </a:extLst>
          </p:cNvPr>
          <p:cNvSpPr>
            <a:spLocks noGrp="1" noChangeArrowheads="1"/>
          </p:cNvSpPr>
          <p:nvPr>
            <p:ph type="title"/>
          </p:nvPr>
        </p:nvSpPr>
        <p:spPr>
          <a:xfrm>
            <a:off x="228600" y="10510"/>
            <a:ext cx="8763000" cy="1143000"/>
          </a:xfrm>
        </p:spPr>
        <p:txBody>
          <a:bodyPr/>
          <a:lstStyle/>
          <a:p>
            <a:r>
              <a:rPr lang="en-US" dirty="0">
                <a:solidFill>
                  <a:schemeClr val="tx2"/>
                </a:solidFill>
              </a:rPr>
              <a:t>Establishment of a credit policy (cont.)</a:t>
            </a:r>
          </a:p>
        </p:txBody>
      </p:sp>
      <p:sp>
        <p:nvSpPr>
          <p:cNvPr id="3" name="Slide Number Placeholder 2">
            <a:extLst>
              <a:ext uri="{FF2B5EF4-FFF2-40B4-BE49-F238E27FC236}">
                <a16:creationId xmlns:a16="http://schemas.microsoft.com/office/drawing/2014/main" id="{90F209BE-204E-72B8-E50B-7DC15BFE3A8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29</a:t>
            </a:fld>
            <a:endParaRPr lang="en-US">
              <a:solidFill>
                <a:schemeClr val="tx1"/>
              </a:solidFill>
            </a:endParaRPr>
          </a:p>
        </p:txBody>
      </p:sp>
      <p:sp>
        <p:nvSpPr>
          <p:cNvPr id="4" name="Rectangle 5">
            <a:extLst>
              <a:ext uri="{FF2B5EF4-FFF2-40B4-BE49-F238E27FC236}">
                <a16:creationId xmlns:a16="http://schemas.microsoft.com/office/drawing/2014/main" id="{FD215250-AC5B-E44C-3FD5-04BB9C3540D0}"/>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Invoice details</a:t>
            </a:r>
          </a:p>
          <a:p>
            <a:pPr marL="717550" algn="just">
              <a:lnSpc>
                <a:spcPct val="105000"/>
              </a:lnSpc>
              <a:buSzPct val="100000"/>
              <a:buFont typeface="Wingdings" panose="05000000000000000000" pitchFamily="2" charset="2"/>
              <a:buChar char="§"/>
            </a:pPr>
            <a:r>
              <a:rPr lang="en-US" sz="2400" dirty="0">
                <a:latin typeface="+mj-lt"/>
              </a:rPr>
              <a:t>Specific department including name and details of contact person</a:t>
            </a:r>
          </a:p>
          <a:p>
            <a:pPr algn="just">
              <a:lnSpc>
                <a:spcPct val="105000"/>
              </a:lnSpc>
              <a:buSzPct val="100000"/>
              <a:buFont typeface="Arial" panose="020B0604020202020204" pitchFamily="34" charset="0"/>
              <a:buChar char="•"/>
            </a:pPr>
            <a:r>
              <a:rPr lang="en-US" sz="2400" dirty="0">
                <a:latin typeface="+mj-lt"/>
              </a:rPr>
              <a:t>Statements</a:t>
            </a:r>
          </a:p>
          <a:p>
            <a:pPr marL="717550" algn="just">
              <a:lnSpc>
                <a:spcPct val="105000"/>
              </a:lnSpc>
              <a:buSzPct val="100000"/>
              <a:buFont typeface="Wingdings" panose="05000000000000000000" pitchFamily="2" charset="2"/>
              <a:buChar char="§"/>
            </a:pPr>
            <a:r>
              <a:rPr lang="en-US" sz="2400" dirty="0">
                <a:latin typeface="+mj-lt"/>
              </a:rPr>
              <a:t>Statement and invoice required by some firms before payment to take place</a:t>
            </a:r>
          </a:p>
          <a:p>
            <a:pPr algn="just">
              <a:lnSpc>
                <a:spcPct val="105000"/>
              </a:lnSpc>
              <a:buSzPct val="100000"/>
              <a:buFont typeface="Arial" panose="020B0604020202020204" pitchFamily="34" charset="0"/>
              <a:buChar char="•"/>
            </a:pPr>
            <a:endParaRPr lang="en-US" sz="2400" dirty="0">
              <a:latin typeface="+mj-lt"/>
            </a:endParaRPr>
          </a:p>
          <a:p>
            <a:pPr algn="just">
              <a:lnSpc>
                <a:spcPct val="105000"/>
              </a:lnSpc>
              <a:buSzPct val="100000"/>
              <a:buFont typeface="Arial" panose="020B0604020202020204" pitchFamily="34" charset="0"/>
              <a:buChar char="•"/>
            </a:pPr>
            <a:endParaRPr lang="en-US" sz="2400" dirty="0">
              <a:latin typeface="+mj-lt"/>
            </a:endParaRPr>
          </a:p>
        </p:txBody>
      </p:sp>
    </p:spTree>
    <p:custDataLst>
      <p:tags r:id="rId1"/>
    </p:custDataLst>
    <p:extLst>
      <p:ext uri="{BB962C8B-B14F-4D97-AF65-F5344CB8AC3E}">
        <p14:creationId xmlns:p14="http://schemas.microsoft.com/office/powerpoint/2010/main" val="1433807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46E9BB-1E33-8AA4-BB5D-BFA4878B762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6BB7AA8-26DA-B434-CB91-4BE49A4EE621}"/>
              </a:ext>
            </a:extLst>
          </p:cNvPr>
          <p:cNvSpPr>
            <a:spLocks noGrp="1" noChangeArrowheads="1"/>
          </p:cNvSpPr>
          <p:nvPr>
            <p:ph type="title"/>
          </p:nvPr>
        </p:nvSpPr>
        <p:spPr>
          <a:xfrm>
            <a:off x="228600" y="10510"/>
            <a:ext cx="8763000" cy="1143000"/>
          </a:xfrm>
        </p:spPr>
        <p:txBody>
          <a:bodyPr/>
          <a:lstStyle/>
          <a:p>
            <a:r>
              <a:rPr lang="en-US" dirty="0">
                <a:solidFill>
                  <a:schemeClr val="tx2"/>
                </a:solidFill>
              </a:rPr>
              <a:t>Follow up on delinquent accounts</a:t>
            </a:r>
          </a:p>
        </p:txBody>
      </p:sp>
      <p:sp>
        <p:nvSpPr>
          <p:cNvPr id="3" name="Slide Number Placeholder 2">
            <a:extLst>
              <a:ext uri="{FF2B5EF4-FFF2-40B4-BE49-F238E27FC236}">
                <a16:creationId xmlns:a16="http://schemas.microsoft.com/office/drawing/2014/main" id="{AEA0B681-4345-861F-657E-74801F82E2F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30</a:t>
            </a:fld>
            <a:endParaRPr lang="en-US">
              <a:solidFill>
                <a:schemeClr val="tx1"/>
              </a:solidFill>
            </a:endParaRPr>
          </a:p>
        </p:txBody>
      </p:sp>
      <p:sp>
        <p:nvSpPr>
          <p:cNvPr id="2" name="Rectangle 5">
            <a:extLst>
              <a:ext uri="{FF2B5EF4-FFF2-40B4-BE49-F238E27FC236}">
                <a16:creationId xmlns:a16="http://schemas.microsoft.com/office/drawing/2014/main" id="{F803CD4A-C832-EA4C-F9D5-AF0AB0E08B36}"/>
              </a:ext>
            </a:extLst>
          </p:cNvPr>
          <p:cNvSpPr>
            <a:spLocks noGrp="1" noChangeArrowheads="1"/>
          </p:cNvSpPr>
          <p:nvPr>
            <p:ph idx="1"/>
          </p:nvPr>
        </p:nvSpPr>
        <p:spPr>
          <a:xfrm>
            <a:off x="259976" y="990600"/>
            <a:ext cx="8655424" cy="5247290"/>
          </a:xfrm>
        </p:spPr>
        <p:txBody>
          <a:bodyPr/>
          <a:lstStyle/>
          <a:p>
            <a:pPr algn="just">
              <a:lnSpc>
                <a:spcPct val="100000"/>
              </a:lnSpc>
              <a:spcBef>
                <a:spcPts val="600"/>
              </a:spcBef>
              <a:buSzPct val="100000"/>
              <a:buFont typeface="Arial" panose="020B0604020202020204" pitchFamily="34" charset="0"/>
              <a:buChar char="•"/>
            </a:pPr>
            <a:r>
              <a:rPr lang="en-US" sz="2400" dirty="0">
                <a:latin typeface="+mj-lt"/>
              </a:rPr>
              <a:t>Telephone calls</a:t>
            </a:r>
          </a:p>
          <a:p>
            <a:pPr algn="just">
              <a:lnSpc>
                <a:spcPct val="100000"/>
              </a:lnSpc>
              <a:spcBef>
                <a:spcPts val="600"/>
              </a:spcBef>
              <a:buSzPct val="100000"/>
              <a:buFont typeface="Arial" panose="020B0604020202020204" pitchFamily="34" charset="0"/>
              <a:buChar char="•"/>
            </a:pPr>
            <a:r>
              <a:rPr lang="en-US" sz="2400" dirty="0">
                <a:latin typeface="+mj-lt"/>
              </a:rPr>
              <a:t>SMS reminders</a:t>
            </a:r>
          </a:p>
          <a:p>
            <a:pPr algn="just">
              <a:lnSpc>
                <a:spcPct val="100000"/>
              </a:lnSpc>
              <a:spcBef>
                <a:spcPts val="600"/>
              </a:spcBef>
              <a:buSzPct val="100000"/>
              <a:buFont typeface="Arial" panose="020B0604020202020204" pitchFamily="34" charset="0"/>
              <a:buChar char="•"/>
            </a:pPr>
            <a:r>
              <a:rPr lang="en-US" sz="2400" dirty="0">
                <a:latin typeface="+mj-lt"/>
              </a:rPr>
              <a:t>Letters</a:t>
            </a:r>
          </a:p>
          <a:p>
            <a:pPr marL="717550" algn="just">
              <a:lnSpc>
                <a:spcPct val="100000"/>
              </a:lnSpc>
              <a:spcBef>
                <a:spcPts val="600"/>
              </a:spcBef>
              <a:buSzPct val="100000"/>
              <a:buFont typeface="Wingdings" panose="05000000000000000000" pitchFamily="2" charset="2"/>
              <a:buChar char="§"/>
            </a:pPr>
            <a:r>
              <a:rPr lang="en-US" sz="2400" dirty="0">
                <a:latin typeface="+mj-lt"/>
              </a:rPr>
              <a:t>Standard letters</a:t>
            </a:r>
          </a:p>
          <a:p>
            <a:pPr marL="717550" algn="just">
              <a:lnSpc>
                <a:spcPct val="100000"/>
              </a:lnSpc>
              <a:spcBef>
                <a:spcPts val="600"/>
              </a:spcBef>
              <a:buSzPct val="100000"/>
              <a:buFont typeface="Wingdings" panose="05000000000000000000" pitchFamily="2" charset="2"/>
              <a:buChar char="§"/>
            </a:pPr>
            <a:r>
              <a:rPr lang="en-US" sz="2400" dirty="0">
                <a:latin typeface="+mj-lt"/>
              </a:rPr>
              <a:t>Final warning letters</a:t>
            </a:r>
          </a:p>
        </p:txBody>
      </p:sp>
    </p:spTree>
    <p:custDataLst>
      <p:tags r:id="rId1"/>
    </p:custDataLst>
    <p:extLst>
      <p:ext uri="{BB962C8B-B14F-4D97-AF65-F5344CB8AC3E}">
        <p14:creationId xmlns:p14="http://schemas.microsoft.com/office/powerpoint/2010/main" val="42897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BA024BE-2461-FBA7-5F38-440958B298F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AE942FA-0B23-EB16-0DDE-4EF5DC7B2658}"/>
              </a:ext>
            </a:extLst>
          </p:cNvPr>
          <p:cNvSpPr>
            <a:spLocks noGrp="1" noChangeArrowheads="1"/>
          </p:cNvSpPr>
          <p:nvPr>
            <p:ph type="title"/>
          </p:nvPr>
        </p:nvSpPr>
        <p:spPr>
          <a:xfrm>
            <a:off x="228600" y="10510"/>
            <a:ext cx="8763000" cy="1143000"/>
          </a:xfrm>
        </p:spPr>
        <p:txBody>
          <a:bodyPr/>
          <a:lstStyle/>
          <a:p>
            <a:r>
              <a:rPr lang="en-US" dirty="0">
                <a:solidFill>
                  <a:schemeClr val="tx2"/>
                </a:solidFill>
              </a:rPr>
              <a:t>Follow up on delinquent accounts (cont.)</a:t>
            </a:r>
          </a:p>
        </p:txBody>
      </p:sp>
      <p:sp>
        <p:nvSpPr>
          <p:cNvPr id="3" name="Slide Number Placeholder 2">
            <a:extLst>
              <a:ext uri="{FF2B5EF4-FFF2-40B4-BE49-F238E27FC236}">
                <a16:creationId xmlns:a16="http://schemas.microsoft.com/office/drawing/2014/main" id="{9D0BA84D-9D54-B0C7-DE3F-F6821115073E}"/>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31</a:t>
            </a:fld>
            <a:endParaRPr lang="en-US">
              <a:solidFill>
                <a:schemeClr val="tx1"/>
              </a:solidFill>
            </a:endParaRPr>
          </a:p>
        </p:txBody>
      </p:sp>
      <p:sp>
        <p:nvSpPr>
          <p:cNvPr id="2" name="Rectangle 5">
            <a:extLst>
              <a:ext uri="{FF2B5EF4-FFF2-40B4-BE49-F238E27FC236}">
                <a16:creationId xmlns:a16="http://schemas.microsoft.com/office/drawing/2014/main" id="{C64C0307-2514-A585-5495-5C68279C0144}"/>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Legal action</a:t>
            </a:r>
          </a:p>
          <a:p>
            <a:pPr marL="717550" algn="just">
              <a:lnSpc>
                <a:spcPct val="105000"/>
              </a:lnSpc>
              <a:buSzPct val="100000"/>
              <a:buFont typeface="Wingdings" panose="05000000000000000000" pitchFamily="2" charset="2"/>
              <a:buChar char="§"/>
            </a:pPr>
            <a:r>
              <a:rPr lang="en-US" sz="2400" dirty="0">
                <a:latin typeface="+mj-lt"/>
              </a:rPr>
              <a:t>Only after all reasonable procedures have been tried</a:t>
            </a:r>
          </a:p>
          <a:p>
            <a:pPr marL="717550" algn="just">
              <a:lnSpc>
                <a:spcPct val="105000"/>
              </a:lnSpc>
              <a:buSzPct val="100000"/>
              <a:buFont typeface="Wingdings" panose="05000000000000000000" pitchFamily="2" charset="2"/>
              <a:buChar char="§"/>
            </a:pPr>
            <a:r>
              <a:rPr lang="en-US" sz="2400" dirty="0">
                <a:latin typeface="+mj-lt"/>
              </a:rPr>
              <a:t>No reason to dispute claim</a:t>
            </a:r>
          </a:p>
          <a:p>
            <a:pPr marL="717550" algn="just">
              <a:lnSpc>
                <a:spcPct val="105000"/>
              </a:lnSpc>
              <a:buSzPct val="100000"/>
              <a:buFont typeface="Wingdings" panose="05000000000000000000" pitchFamily="2" charset="2"/>
              <a:buChar char="§"/>
            </a:pPr>
            <a:r>
              <a:rPr lang="en-US" sz="2400" dirty="0">
                <a:latin typeface="+mj-lt"/>
              </a:rPr>
              <a:t>Debtor is able to pay</a:t>
            </a:r>
          </a:p>
          <a:p>
            <a:pPr marL="717550" algn="just">
              <a:lnSpc>
                <a:spcPct val="105000"/>
              </a:lnSpc>
              <a:buSzPct val="100000"/>
              <a:buFont typeface="Wingdings" panose="05000000000000000000" pitchFamily="2" charset="2"/>
              <a:buChar char="§"/>
            </a:pPr>
            <a:r>
              <a:rPr lang="en-US" sz="2400" dirty="0">
                <a:latin typeface="+mj-lt"/>
              </a:rPr>
              <a:t>Guidelines</a:t>
            </a:r>
          </a:p>
          <a:p>
            <a:pPr marL="717550" algn="just">
              <a:lnSpc>
                <a:spcPct val="105000"/>
              </a:lnSpc>
              <a:buSzPct val="100000"/>
              <a:buFont typeface="Wingdings" panose="05000000000000000000" pitchFamily="2" charset="2"/>
              <a:buChar char="§"/>
            </a:pPr>
            <a:r>
              <a:rPr lang="en-US" sz="2400" dirty="0">
                <a:latin typeface="+mj-lt"/>
              </a:rPr>
              <a:t>Enforce terms of contract</a:t>
            </a:r>
          </a:p>
          <a:p>
            <a:pPr marL="717550" algn="just">
              <a:lnSpc>
                <a:spcPct val="105000"/>
              </a:lnSpc>
              <a:buSzPct val="100000"/>
              <a:buFont typeface="Wingdings" panose="05000000000000000000" pitchFamily="2" charset="2"/>
              <a:buChar char="§"/>
            </a:pPr>
            <a:r>
              <a:rPr lang="en-US" sz="2400" dirty="0">
                <a:latin typeface="+mj-lt"/>
              </a:rPr>
              <a:t>Sending final warning before taking legal action</a:t>
            </a:r>
          </a:p>
          <a:p>
            <a:pPr marL="717550" algn="just">
              <a:lnSpc>
                <a:spcPct val="105000"/>
              </a:lnSpc>
              <a:buSzPct val="100000"/>
              <a:buFont typeface="Wingdings" panose="05000000000000000000" pitchFamily="2" charset="2"/>
              <a:buChar char="§"/>
            </a:pPr>
            <a:r>
              <a:rPr lang="en-US" sz="2400" dirty="0">
                <a:latin typeface="+mj-lt"/>
              </a:rPr>
              <a:t>Choose attorney or credit agency</a:t>
            </a:r>
          </a:p>
          <a:p>
            <a:pPr marL="717550" algn="just">
              <a:lnSpc>
                <a:spcPct val="105000"/>
              </a:lnSpc>
              <a:buSzPct val="100000"/>
              <a:buFont typeface="Wingdings" panose="05000000000000000000" pitchFamily="2" charset="2"/>
              <a:buChar char="§"/>
            </a:pPr>
            <a:r>
              <a:rPr lang="en-US" sz="2400" dirty="0">
                <a:latin typeface="+mj-lt"/>
              </a:rPr>
              <a:t>Monitor situation</a:t>
            </a:r>
          </a:p>
          <a:p>
            <a:pPr marL="717550" algn="just">
              <a:lnSpc>
                <a:spcPct val="105000"/>
              </a:lnSpc>
              <a:buSzPct val="100000"/>
              <a:buFont typeface="Wingdings" panose="05000000000000000000" pitchFamily="2" charset="2"/>
              <a:buChar char="§"/>
            </a:pPr>
            <a:r>
              <a:rPr lang="en-US" sz="2400" dirty="0">
                <a:latin typeface="+mj-lt"/>
              </a:rPr>
              <a:t>Making sure all facts correct</a:t>
            </a:r>
          </a:p>
          <a:p>
            <a:pPr marL="717550" algn="just">
              <a:lnSpc>
                <a:spcPct val="105000"/>
              </a:lnSpc>
              <a:buSzPct val="100000"/>
              <a:buFont typeface="Wingdings" panose="05000000000000000000" pitchFamily="2" charset="2"/>
              <a:buChar char="§"/>
            </a:pPr>
            <a:r>
              <a:rPr lang="en-US" sz="2400" dirty="0">
                <a:latin typeface="+mj-lt"/>
              </a:rPr>
              <a:t>Not delaying actions</a:t>
            </a:r>
          </a:p>
          <a:p>
            <a:pPr marL="717550" algn="just">
              <a:lnSpc>
                <a:spcPct val="105000"/>
              </a:lnSpc>
              <a:buSzPct val="100000"/>
              <a:buFont typeface="Wingdings" panose="05000000000000000000" pitchFamily="2" charset="2"/>
              <a:buChar char="§"/>
            </a:pPr>
            <a:r>
              <a:rPr lang="en-US" sz="2400" dirty="0">
                <a:latin typeface="+mj-lt"/>
              </a:rPr>
              <a:t>Enforcing judgement</a:t>
            </a:r>
          </a:p>
        </p:txBody>
      </p:sp>
    </p:spTree>
    <p:custDataLst>
      <p:tags r:id="rId1"/>
    </p:custDataLst>
    <p:extLst>
      <p:ext uri="{BB962C8B-B14F-4D97-AF65-F5344CB8AC3E}">
        <p14:creationId xmlns:p14="http://schemas.microsoft.com/office/powerpoint/2010/main" val="1936046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2C2CBB-2AF7-0F34-A643-6F13D623A89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21DF97C-9117-B7CA-933F-567FDAC12904}"/>
              </a:ext>
            </a:extLst>
          </p:cNvPr>
          <p:cNvSpPr>
            <a:spLocks noGrp="1" noChangeArrowheads="1"/>
          </p:cNvSpPr>
          <p:nvPr>
            <p:ph type="title"/>
          </p:nvPr>
        </p:nvSpPr>
        <p:spPr>
          <a:xfrm>
            <a:off x="228600" y="10510"/>
            <a:ext cx="8763000" cy="1143000"/>
          </a:xfrm>
        </p:spPr>
        <p:txBody>
          <a:bodyPr/>
          <a:lstStyle/>
          <a:p>
            <a:r>
              <a:rPr lang="en-US" dirty="0">
                <a:solidFill>
                  <a:schemeClr val="tx2"/>
                </a:solidFill>
              </a:rPr>
              <a:t>Follow up on delinquent accounts (cont.)</a:t>
            </a:r>
          </a:p>
        </p:txBody>
      </p:sp>
      <p:sp>
        <p:nvSpPr>
          <p:cNvPr id="3" name="Slide Number Placeholder 2">
            <a:extLst>
              <a:ext uri="{FF2B5EF4-FFF2-40B4-BE49-F238E27FC236}">
                <a16:creationId xmlns:a16="http://schemas.microsoft.com/office/drawing/2014/main" id="{65A9DF7F-7C40-03E0-6E8E-5B217EF2085D}"/>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32</a:t>
            </a:fld>
            <a:endParaRPr lang="en-US">
              <a:solidFill>
                <a:schemeClr val="tx1"/>
              </a:solidFill>
            </a:endParaRPr>
          </a:p>
        </p:txBody>
      </p:sp>
      <p:sp>
        <p:nvSpPr>
          <p:cNvPr id="2" name="Rectangle 5">
            <a:extLst>
              <a:ext uri="{FF2B5EF4-FFF2-40B4-BE49-F238E27FC236}">
                <a16:creationId xmlns:a16="http://schemas.microsoft.com/office/drawing/2014/main" id="{633A3E50-6188-A30A-69B9-02C139E50F49}"/>
              </a:ext>
            </a:extLst>
          </p:cNvPr>
          <p:cNvSpPr>
            <a:spLocks noGrp="1" noChangeArrowheads="1"/>
          </p:cNvSpPr>
          <p:nvPr>
            <p:ph idx="1"/>
          </p:nvPr>
        </p:nvSpPr>
        <p:spPr>
          <a:xfrm>
            <a:off x="259976" y="990600"/>
            <a:ext cx="8655424" cy="5247290"/>
          </a:xfrm>
        </p:spPr>
        <p:txBody>
          <a:bodyPr/>
          <a:lstStyle/>
          <a:p>
            <a:pPr algn="just">
              <a:lnSpc>
                <a:spcPct val="105000"/>
              </a:lnSpc>
              <a:buSzPct val="100000"/>
              <a:buFont typeface="Arial" panose="020B0604020202020204" pitchFamily="34" charset="0"/>
              <a:buChar char="•"/>
            </a:pPr>
            <a:r>
              <a:rPr lang="en-US" sz="2400" dirty="0">
                <a:latin typeface="+mj-lt"/>
              </a:rPr>
              <a:t>Issuing a warrant of execution</a:t>
            </a:r>
          </a:p>
          <a:p>
            <a:pPr marL="717550" algn="just">
              <a:lnSpc>
                <a:spcPct val="105000"/>
              </a:lnSpc>
              <a:buSzPct val="100000"/>
              <a:buFont typeface="Arial" panose="020B0604020202020204" pitchFamily="34" charset="0"/>
              <a:buChar char="•"/>
            </a:pPr>
            <a:r>
              <a:rPr lang="en-US" sz="2400" dirty="0">
                <a:latin typeface="+mj-lt"/>
              </a:rPr>
              <a:t>Assets available but income low</a:t>
            </a:r>
          </a:p>
          <a:p>
            <a:pPr marL="717550" algn="just">
              <a:lnSpc>
                <a:spcPct val="105000"/>
              </a:lnSpc>
              <a:buSzPct val="100000"/>
              <a:buFont typeface="Arial" panose="020B0604020202020204" pitchFamily="34" charset="0"/>
              <a:buChar char="•"/>
            </a:pPr>
            <a:r>
              <a:rPr lang="en-US" sz="2400" dirty="0">
                <a:latin typeface="+mj-lt"/>
              </a:rPr>
              <a:t>Sheriff of court seize assets to sell</a:t>
            </a:r>
          </a:p>
          <a:p>
            <a:pPr marL="717550" algn="just">
              <a:lnSpc>
                <a:spcPct val="105000"/>
              </a:lnSpc>
              <a:buSzPct val="100000"/>
              <a:buFont typeface="Arial" panose="020B0604020202020204" pitchFamily="34" charset="0"/>
              <a:buChar char="•"/>
            </a:pPr>
            <a:r>
              <a:rPr lang="en-US" sz="2400" dirty="0">
                <a:latin typeface="+mj-lt"/>
              </a:rPr>
              <a:t>Not all assets allowed to be seized</a:t>
            </a:r>
          </a:p>
          <a:p>
            <a:pPr marL="717550" algn="just">
              <a:lnSpc>
                <a:spcPct val="105000"/>
              </a:lnSpc>
              <a:buSzPct val="100000"/>
              <a:buFont typeface="Arial" panose="020B0604020202020204" pitchFamily="34" charset="0"/>
              <a:buChar char="•"/>
            </a:pPr>
            <a:r>
              <a:rPr lang="en-US" sz="2400" dirty="0">
                <a:latin typeface="+mj-lt"/>
              </a:rPr>
              <a:t>Sequestration of natural person or liquidation of firm</a:t>
            </a:r>
          </a:p>
        </p:txBody>
      </p:sp>
    </p:spTree>
    <p:custDataLst>
      <p:tags r:id="rId1"/>
    </p:custDataLst>
    <p:extLst>
      <p:ext uri="{BB962C8B-B14F-4D97-AF65-F5344CB8AC3E}">
        <p14:creationId xmlns:p14="http://schemas.microsoft.com/office/powerpoint/2010/main" val="3698414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304CA2-08C0-6B9B-AB41-9FE1BEAC425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CC7F8BC-B2A9-CFA9-7D21-807CC0FAE414}"/>
              </a:ext>
            </a:extLst>
          </p:cNvPr>
          <p:cNvSpPr>
            <a:spLocks noGrp="1" noChangeArrowheads="1"/>
          </p:cNvSpPr>
          <p:nvPr>
            <p:ph type="title"/>
          </p:nvPr>
        </p:nvSpPr>
        <p:spPr>
          <a:xfrm>
            <a:off x="228600" y="10510"/>
            <a:ext cx="8763000" cy="1143000"/>
          </a:xfrm>
        </p:spPr>
        <p:txBody>
          <a:bodyPr/>
          <a:lstStyle/>
          <a:p>
            <a:r>
              <a:rPr lang="en-US" dirty="0">
                <a:solidFill>
                  <a:schemeClr val="tx2"/>
                </a:solidFill>
              </a:rPr>
              <a:t>Monitoring control of accounts receivable</a:t>
            </a:r>
          </a:p>
        </p:txBody>
      </p:sp>
      <p:sp>
        <p:nvSpPr>
          <p:cNvPr id="3" name="Slide Number Placeholder 2">
            <a:extLst>
              <a:ext uri="{FF2B5EF4-FFF2-40B4-BE49-F238E27FC236}">
                <a16:creationId xmlns:a16="http://schemas.microsoft.com/office/drawing/2014/main" id="{DC362EB9-4C79-51FF-CDEF-4931F8477D5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33</a:t>
            </a:fld>
            <a:endParaRPr lang="en-US">
              <a:solidFill>
                <a:schemeClr val="tx1"/>
              </a:solidFill>
            </a:endParaRPr>
          </a:p>
        </p:txBody>
      </p:sp>
      <p:sp>
        <p:nvSpPr>
          <p:cNvPr id="4" name="Rectangle 5">
            <a:extLst>
              <a:ext uri="{FF2B5EF4-FFF2-40B4-BE49-F238E27FC236}">
                <a16:creationId xmlns:a16="http://schemas.microsoft.com/office/drawing/2014/main" id="{943B3BAF-05C7-958C-7268-5CF1783CE46A}"/>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Monitoring payment patterns</a:t>
            </a:r>
          </a:p>
          <a:p>
            <a:pPr>
              <a:lnSpc>
                <a:spcPct val="105000"/>
              </a:lnSpc>
              <a:buSzPct val="100000"/>
              <a:buFont typeface="Arial" panose="020B0604020202020204" pitchFamily="34" charset="0"/>
              <a:buChar char="•"/>
            </a:pPr>
            <a:r>
              <a:rPr lang="en-US" sz="2400" dirty="0">
                <a:latin typeface="+mj-lt"/>
              </a:rPr>
              <a:t>Determine % of total resources invested in AR</a:t>
            </a:r>
          </a:p>
          <a:p>
            <a:pPr marL="0" indent="0">
              <a:lnSpc>
                <a:spcPct val="105000"/>
              </a:lnSpc>
              <a:buSzPct val="100000"/>
              <a:buNone/>
            </a:pPr>
            <a:r>
              <a:rPr lang="en-US" sz="2400" dirty="0">
                <a:latin typeface="+mj-lt"/>
              </a:rPr>
              <a:t>		= AR / TA</a:t>
            </a:r>
          </a:p>
          <a:p>
            <a:pPr marL="0" indent="0">
              <a:lnSpc>
                <a:spcPct val="105000"/>
              </a:lnSpc>
              <a:buSzPct val="100000"/>
              <a:buNone/>
            </a:pPr>
            <a:r>
              <a:rPr lang="en-US" sz="2400" dirty="0">
                <a:latin typeface="+mj-lt"/>
              </a:rPr>
              <a:t>	ACP	= AR / Average daily credit sales</a:t>
            </a: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r>
              <a:rPr lang="en-US" sz="2400" dirty="0">
                <a:latin typeface="+mj-lt"/>
              </a:rPr>
              <a:t>Example: Delphi Traders had average monthly credit sales of R6 000 and outstanding AR of R9 000.</a:t>
            </a:r>
          </a:p>
          <a:p>
            <a:pPr marL="0" indent="0">
              <a:lnSpc>
                <a:spcPct val="105000"/>
              </a:lnSpc>
              <a:buSzPct val="100000"/>
              <a:buNone/>
            </a:pPr>
            <a:r>
              <a:rPr lang="en-US" sz="2400" dirty="0">
                <a:latin typeface="+mj-lt"/>
              </a:rPr>
              <a:t>	Avg daily credit sales	= R6 000 / 30</a:t>
            </a:r>
          </a:p>
          <a:p>
            <a:pPr marL="0" indent="0">
              <a:lnSpc>
                <a:spcPct val="105000"/>
              </a:lnSpc>
              <a:buSzPct val="100000"/>
              <a:buNone/>
            </a:pPr>
            <a:r>
              <a:rPr lang="en-US" sz="2400" dirty="0">
                <a:latin typeface="+mj-lt"/>
              </a:rPr>
              <a:t>					= R200</a:t>
            </a:r>
          </a:p>
          <a:p>
            <a:pPr marL="0" indent="0">
              <a:lnSpc>
                <a:spcPct val="105000"/>
              </a:lnSpc>
              <a:buSzPct val="100000"/>
              <a:buNone/>
            </a:pPr>
            <a:r>
              <a:rPr lang="en-US" sz="2400" dirty="0">
                <a:latin typeface="+mj-lt"/>
              </a:rPr>
              <a:t>	ACP				= R9 000 / R200</a:t>
            </a:r>
          </a:p>
          <a:p>
            <a:pPr marL="0" indent="0">
              <a:lnSpc>
                <a:spcPct val="105000"/>
              </a:lnSpc>
              <a:buSzPct val="100000"/>
              <a:buNone/>
            </a:pPr>
            <a:r>
              <a:rPr lang="en-US" sz="2400" dirty="0">
                <a:latin typeface="+mj-lt"/>
              </a:rPr>
              <a:t>					= 45 days</a:t>
            </a:r>
          </a:p>
          <a:p>
            <a:pPr marL="0" indent="0">
              <a:lnSpc>
                <a:spcPct val="105000"/>
              </a:lnSpc>
              <a:buSzPct val="100000"/>
              <a:buNone/>
            </a:pPr>
            <a:endParaRPr lang="en-US" sz="2400" dirty="0">
              <a:latin typeface="+mj-lt"/>
            </a:endParaRPr>
          </a:p>
        </p:txBody>
      </p:sp>
    </p:spTree>
    <p:custDataLst>
      <p:tags r:id="rId1"/>
    </p:custDataLst>
    <p:extLst>
      <p:ext uri="{BB962C8B-B14F-4D97-AF65-F5344CB8AC3E}">
        <p14:creationId xmlns:p14="http://schemas.microsoft.com/office/powerpoint/2010/main" val="3338329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68B06E-D30A-94A7-731A-629FC56502E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188FF58-36A1-3011-A7EB-5B5ED4391FB7}"/>
              </a:ext>
            </a:extLst>
          </p:cNvPr>
          <p:cNvSpPr>
            <a:spLocks noGrp="1" noChangeArrowheads="1"/>
          </p:cNvSpPr>
          <p:nvPr>
            <p:ph type="title"/>
          </p:nvPr>
        </p:nvSpPr>
        <p:spPr>
          <a:xfrm>
            <a:off x="228600" y="10510"/>
            <a:ext cx="8763000" cy="1143000"/>
          </a:xfrm>
        </p:spPr>
        <p:txBody>
          <a:bodyPr/>
          <a:lstStyle/>
          <a:p>
            <a:r>
              <a:rPr lang="en-US" dirty="0">
                <a:solidFill>
                  <a:schemeClr val="tx2"/>
                </a:solidFill>
              </a:rPr>
              <a:t>Monitoring control of accounts receivable (cont.)</a:t>
            </a:r>
          </a:p>
        </p:txBody>
      </p:sp>
      <p:sp>
        <p:nvSpPr>
          <p:cNvPr id="3" name="Slide Number Placeholder 2">
            <a:extLst>
              <a:ext uri="{FF2B5EF4-FFF2-40B4-BE49-F238E27FC236}">
                <a16:creationId xmlns:a16="http://schemas.microsoft.com/office/drawing/2014/main" id="{9DFADFC3-7DD7-0267-BA9E-0536C35FD9F5}"/>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34</a:t>
            </a:fld>
            <a:endParaRPr lang="en-US">
              <a:solidFill>
                <a:schemeClr val="tx1"/>
              </a:solidFill>
            </a:endParaRPr>
          </a:p>
        </p:txBody>
      </p:sp>
      <p:sp>
        <p:nvSpPr>
          <p:cNvPr id="4" name="Rectangle 5">
            <a:extLst>
              <a:ext uri="{FF2B5EF4-FFF2-40B4-BE49-F238E27FC236}">
                <a16:creationId xmlns:a16="http://schemas.microsoft.com/office/drawing/2014/main" id="{E17BD15D-2FC1-3F67-5E7E-213F10BBCAEA}"/>
              </a:ext>
            </a:extLst>
          </p:cNvPr>
          <p:cNvSpPr>
            <a:spLocks noGrp="1" noChangeArrowheads="1"/>
          </p:cNvSpPr>
          <p:nvPr>
            <p:ph idx="1"/>
          </p:nvPr>
        </p:nvSpPr>
        <p:spPr>
          <a:xfrm>
            <a:off x="259976" y="1153510"/>
            <a:ext cx="8655424" cy="5247290"/>
          </a:xfrm>
        </p:spPr>
        <p:txBody>
          <a:bodyPr/>
          <a:lstStyle/>
          <a:p>
            <a:pPr>
              <a:lnSpc>
                <a:spcPct val="105000"/>
              </a:lnSpc>
              <a:buSzPct val="100000"/>
              <a:buFont typeface="Arial" panose="020B0604020202020204" pitchFamily="34" charset="0"/>
              <a:buChar char="•"/>
            </a:pPr>
            <a:r>
              <a:rPr lang="en-US" sz="2400" dirty="0">
                <a:latin typeface="+mj-lt"/>
              </a:rPr>
              <a:t>Aging schedule</a:t>
            </a:r>
          </a:p>
        </p:txBody>
      </p:sp>
      <p:graphicFrame>
        <p:nvGraphicFramePr>
          <p:cNvPr id="2" name="Table 1">
            <a:extLst>
              <a:ext uri="{FF2B5EF4-FFF2-40B4-BE49-F238E27FC236}">
                <a16:creationId xmlns:a16="http://schemas.microsoft.com/office/drawing/2014/main" id="{F23858F1-6EAD-BD89-6603-67AA9C70E50D}"/>
              </a:ext>
            </a:extLst>
          </p:cNvPr>
          <p:cNvGraphicFramePr>
            <a:graphicFrameLocks noGrp="1"/>
          </p:cNvGraphicFramePr>
          <p:nvPr>
            <p:extLst>
              <p:ext uri="{D42A27DB-BD31-4B8C-83A1-F6EECF244321}">
                <p14:modId xmlns:p14="http://schemas.microsoft.com/office/powerpoint/2010/main" val="2520875122"/>
              </p:ext>
            </p:extLst>
          </p:nvPr>
        </p:nvGraphicFramePr>
        <p:xfrm>
          <a:off x="76200" y="1639200"/>
          <a:ext cx="9000000" cy="23400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1997833420"/>
                    </a:ext>
                  </a:extLst>
                </a:gridCol>
                <a:gridCol w="1800000">
                  <a:extLst>
                    <a:ext uri="{9D8B030D-6E8A-4147-A177-3AD203B41FA5}">
                      <a16:colId xmlns:a16="http://schemas.microsoft.com/office/drawing/2014/main" val="994234531"/>
                    </a:ext>
                  </a:extLst>
                </a:gridCol>
                <a:gridCol w="1800000">
                  <a:extLst>
                    <a:ext uri="{9D8B030D-6E8A-4147-A177-3AD203B41FA5}">
                      <a16:colId xmlns:a16="http://schemas.microsoft.com/office/drawing/2014/main" val="4077328465"/>
                    </a:ext>
                  </a:extLst>
                </a:gridCol>
                <a:gridCol w="1800000">
                  <a:extLst>
                    <a:ext uri="{9D8B030D-6E8A-4147-A177-3AD203B41FA5}">
                      <a16:colId xmlns:a16="http://schemas.microsoft.com/office/drawing/2014/main" val="1456336326"/>
                    </a:ext>
                  </a:extLst>
                </a:gridCol>
                <a:gridCol w="1800000">
                  <a:extLst>
                    <a:ext uri="{9D8B030D-6E8A-4147-A177-3AD203B41FA5}">
                      <a16:colId xmlns:a16="http://schemas.microsoft.com/office/drawing/2014/main" val="1639280529"/>
                    </a:ext>
                  </a:extLst>
                </a:gridCol>
              </a:tblGrid>
              <a:tr h="390000">
                <a:tc>
                  <a:txBody>
                    <a:bodyPr/>
                    <a:lstStyle/>
                    <a:p>
                      <a:pPr algn="ctr"/>
                      <a:r>
                        <a:rPr lang="en-US" dirty="0"/>
                        <a:t>Interval</a:t>
                      </a:r>
                      <a:endParaRPr lang="en-ZA" dirty="0"/>
                    </a:p>
                  </a:txBody>
                  <a:tcPr anchor="ctr"/>
                </a:tc>
                <a:tc>
                  <a:txBody>
                    <a:bodyPr/>
                    <a:lstStyle/>
                    <a:p>
                      <a:pPr algn="ctr"/>
                      <a:r>
                        <a:rPr lang="en-US" dirty="0"/>
                        <a:t>1</a:t>
                      </a:r>
                      <a:r>
                        <a:rPr lang="en-US" baseline="30000" dirty="0"/>
                        <a:t>st</a:t>
                      </a:r>
                      <a:r>
                        <a:rPr lang="en-US" dirty="0"/>
                        <a:t> quarter</a:t>
                      </a:r>
                      <a:endParaRPr lang="en-ZA" dirty="0"/>
                    </a:p>
                  </a:txBody>
                  <a:tcPr anchor="ctr"/>
                </a:tc>
                <a:tc>
                  <a:txBody>
                    <a:bodyPr/>
                    <a:lstStyle/>
                    <a:p>
                      <a:pPr algn="ctr"/>
                      <a:r>
                        <a:rPr lang="en-US" dirty="0"/>
                        <a:t>2</a:t>
                      </a:r>
                      <a:r>
                        <a:rPr lang="en-US" baseline="30000" dirty="0"/>
                        <a:t>nd</a:t>
                      </a:r>
                      <a:r>
                        <a:rPr lang="en-US" dirty="0"/>
                        <a:t> quarter</a:t>
                      </a:r>
                      <a:endParaRPr lang="en-ZA" dirty="0"/>
                    </a:p>
                  </a:txBody>
                  <a:tcPr anchor="ctr"/>
                </a:tc>
                <a:tc>
                  <a:txBody>
                    <a:bodyPr/>
                    <a:lstStyle/>
                    <a:p>
                      <a:pPr algn="ctr"/>
                      <a:r>
                        <a:rPr lang="en-US" dirty="0"/>
                        <a:t>3</a:t>
                      </a:r>
                      <a:r>
                        <a:rPr lang="en-US" baseline="30000" dirty="0"/>
                        <a:t>rd</a:t>
                      </a:r>
                      <a:r>
                        <a:rPr lang="en-US" dirty="0"/>
                        <a:t> quarter</a:t>
                      </a:r>
                      <a:endParaRPr lang="en-ZA" dirty="0"/>
                    </a:p>
                  </a:txBody>
                  <a:tcPr anchor="ctr"/>
                </a:tc>
                <a:tc>
                  <a:txBody>
                    <a:bodyPr/>
                    <a:lstStyle/>
                    <a:p>
                      <a:pPr algn="ctr"/>
                      <a:r>
                        <a:rPr lang="en-US" dirty="0"/>
                        <a:t>4</a:t>
                      </a:r>
                      <a:r>
                        <a:rPr lang="en-US" baseline="30000" dirty="0"/>
                        <a:t>th</a:t>
                      </a:r>
                      <a:r>
                        <a:rPr lang="en-US" dirty="0"/>
                        <a:t> quarter</a:t>
                      </a:r>
                      <a:endParaRPr lang="en-ZA" dirty="0"/>
                    </a:p>
                  </a:txBody>
                  <a:tcPr anchor="ctr"/>
                </a:tc>
                <a:extLst>
                  <a:ext uri="{0D108BD9-81ED-4DB2-BD59-A6C34878D82A}">
                    <a16:rowId xmlns:a16="http://schemas.microsoft.com/office/drawing/2014/main" val="1496946262"/>
                  </a:ext>
                </a:extLst>
              </a:tr>
              <a:tr h="390000">
                <a:tc>
                  <a:txBody>
                    <a:bodyPr/>
                    <a:lstStyle/>
                    <a:p>
                      <a:r>
                        <a:rPr lang="en-US" dirty="0"/>
                        <a:t>0-30 days</a:t>
                      </a:r>
                      <a:endParaRPr lang="en-ZA" dirty="0"/>
                    </a:p>
                  </a:txBody>
                  <a:tcPr anchor="ctr"/>
                </a:tc>
                <a:tc>
                  <a:txBody>
                    <a:bodyPr/>
                    <a:lstStyle/>
                    <a:p>
                      <a:pPr algn="ctr"/>
                      <a:r>
                        <a:rPr lang="en-US" dirty="0"/>
                        <a:t>R30 000</a:t>
                      </a:r>
                      <a:endParaRPr lang="en-ZA" dirty="0"/>
                    </a:p>
                  </a:txBody>
                  <a:tcPr anchor="ctr"/>
                </a:tc>
                <a:tc>
                  <a:txBody>
                    <a:bodyPr/>
                    <a:lstStyle/>
                    <a:p>
                      <a:pPr algn="ctr"/>
                      <a:r>
                        <a:rPr lang="en-US" dirty="0"/>
                        <a:t>R45 000</a:t>
                      </a:r>
                      <a:endParaRPr lang="en-ZA" dirty="0"/>
                    </a:p>
                  </a:txBody>
                  <a:tcPr anchor="ctr"/>
                </a:tc>
                <a:tc>
                  <a:txBody>
                    <a:bodyPr/>
                    <a:lstStyle/>
                    <a:p>
                      <a:pPr algn="ctr"/>
                      <a:r>
                        <a:rPr lang="en-US" dirty="0"/>
                        <a:t>R50 000</a:t>
                      </a:r>
                      <a:endParaRPr lang="en-ZA" dirty="0"/>
                    </a:p>
                  </a:txBody>
                  <a:tcPr anchor="ctr"/>
                </a:tc>
                <a:tc>
                  <a:txBody>
                    <a:bodyPr/>
                    <a:lstStyle/>
                    <a:p>
                      <a:pPr algn="ctr"/>
                      <a:r>
                        <a:rPr lang="en-US" dirty="0"/>
                        <a:t>R65 000</a:t>
                      </a:r>
                      <a:endParaRPr lang="en-ZA" dirty="0"/>
                    </a:p>
                  </a:txBody>
                  <a:tcPr anchor="ctr"/>
                </a:tc>
                <a:extLst>
                  <a:ext uri="{0D108BD9-81ED-4DB2-BD59-A6C34878D82A}">
                    <a16:rowId xmlns:a16="http://schemas.microsoft.com/office/drawing/2014/main" val="3793390644"/>
                  </a:ext>
                </a:extLst>
              </a:tr>
              <a:tr h="390000">
                <a:tc>
                  <a:txBody>
                    <a:bodyPr/>
                    <a:lstStyle/>
                    <a:p>
                      <a:r>
                        <a:rPr lang="en-US" dirty="0"/>
                        <a:t>31-60 days</a:t>
                      </a:r>
                      <a:endParaRPr lang="en-ZA" dirty="0"/>
                    </a:p>
                  </a:txBody>
                  <a:tcPr anchor="ctr"/>
                </a:tc>
                <a:tc>
                  <a:txBody>
                    <a:bodyPr/>
                    <a:lstStyle/>
                    <a:p>
                      <a:pPr algn="ctr"/>
                      <a:r>
                        <a:rPr lang="en-US" dirty="0"/>
                        <a:t>R21 000</a:t>
                      </a:r>
                      <a:endParaRPr lang="en-ZA" dirty="0"/>
                    </a:p>
                  </a:txBody>
                  <a:tcPr anchor="ctr"/>
                </a:tc>
                <a:tc>
                  <a:txBody>
                    <a:bodyPr/>
                    <a:lstStyle/>
                    <a:p>
                      <a:pPr algn="ctr"/>
                      <a:r>
                        <a:rPr lang="en-US" dirty="0"/>
                        <a:t>R25 000</a:t>
                      </a:r>
                      <a:endParaRPr lang="en-ZA" dirty="0"/>
                    </a:p>
                  </a:txBody>
                  <a:tcPr anchor="ctr"/>
                </a:tc>
                <a:tc>
                  <a:txBody>
                    <a:bodyPr/>
                    <a:lstStyle/>
                    <a:p>
                      <a:pPr algn="ctr"/>
                      <a:r>
                        <a:rPr lang="en-US" dirty="0"/>
                        <a:t>R30 000</a:t>
                      </a:r>
                      <a:endParaRPr lang="en-ZA" dirty="0"/>
                    </a:p>
                  </a:txBody>
                  <a:tcPr anchor="ctr"/>
                </a:tc>
                <a:tc>
                  <a:txBody>
                    <a:bodyPr/>
                    <a:lstStyle/>
                    <a:p>
                      <a:pPr algn="ctr"/>
                      <a:r>
                        <a:rPr lang="en-US" dirty="0"/>
                        <a:t>R42 000</a:t>
                      </a:r>
                      <a:endParaRPr lang="en-ZA" dirty="0"/>
                    </a:p>
                  </a:txBody>
                  <a:tcPr anchor="ctr"/>
                </a:tc>
                <a:extLst>
                  <a:ext uri="{0D108BD9-81ED-4DB2-BD59-A6C34878D82A}">
                    <a16:rowId xmlns:a16="http://schemas.microsoft.com/office/drawing/2014/main" val="3459921169"/>
                  </a:ext>
                </a:extLst>
              </a:tr>
              <a:tr h="390000">
                <a:tc>
                  <a:txBody>
                    <a:bodyPr/>
                    <a:lstStyle/>
                    <a:p>
                      <a:r>
                        <a:rPr lang="en-US" dirty="0"/>
                        <a:t>61-90 days</a:t>
                      </a:r>
                      <a:endParaRPr lang="en-ZA" dirty="0"/>
                    </a:p>
                  </a:txBody>
                  <a:tcPr anchor="ctr"/>
                </a:tc>
                <a:tc>
                  <a:txBody>
                    <a:bodyPr/>
                    <a:lstStyle/>
                    <a:p>
                      <a:pPr algn="ctr"/>
                      <a:r>
                        <a:rPr lang="en-US" dirty="0"/>
                        <a:t>R6 000</a:t>
                      </a:r>
                      <a:endParaRPr lang="en-ZA" dirty="0"/>
                    </a:p>
                  </a:txBody>
                  <a:tcPr anchor="ctr"/>
                </a:tc>
                <a:tc>
                  <a:txBody>
                    <a:bodyPr/>
                    <a:lstStyle/>
                    <a:p>
                      <a:pPr algn="ctr"/>
                      <a:r>
                        <a:rPr lang="en-US" dirty="0"/>
                        <a:t>R6 000</a:t>
                      </a:r>
                      <a:endParaRPr lang="en-ZA" dirty="0"/>
                    </a:p>
                  </a:txBody>
                  <a:tcPr anchor="ctr"/>
                </a:tc>
                <a:tc>
                  <a:txBody>
                    <a:bodyPr/>
                    <a:lstStyle/>
                    <a:p>
                      <a:pPr algn="ctr"/>
                      <a:r>
                        <a:rPr lang="en-US" dirty="0"/>
                        <a:t>R15 000</a:t>
                      </a:r>
                      <a:endParaRPr lang="en-ZA" dirty="0"/>
                    </a:p>
                  </a:txBody>
                  <a:tcPr anchor="ctr"/>
                </a:tc>
                <a:tc>
                  <a:txBody>
                    <a:bodyPr/>
                    <a:lstStyle/>
                    <a:p>
                      <a:pPr algn="ctr"/>
                      <a:r>
                        <a:rPr lang="en-US" dirty="0"/>
                        <a:t>R12 000</a:t>
                      </a:r>
                      <a:endParaRPr lang="en-ZA" dirty="0"/>
                    </a:p>
                  </a:txBody>
                  <a:tcPr anchor="ctr"/>
                </a:tc>
                <a:extLst>
                  <a:ext uri="{0D108BD9-81ED-4DB2-BD59-A6C34878D82A}">
                    <a16:rowId xmlns:a16="http://schemas.microsoft.com/office/drawing/2014/main" val="1172674810"/>
                  </a:ext>
                </a:extLst>
              </a:tr>
              <a:tr h="390000">
                <a:tc>
                  <a:txBody>
                    <a:bodyPr/>
                    <a:lstStyle/>
                    <a:p>
                      <a:r>
                        <a:rPr lang="en-US" dirty="0"/>
                        <a:t>91-120 days</a:t>
                      </a:r>
                      <a:endParaRPr lang="en-ZA" dirty="0"/>
                    </a:p>
                  </a:txBody>
                  <a:tcPr anchor="ctr"/>
                </a:tc>
                <a:tc>
                  <a:txBody>
                    <a:bodyPr/>
                    <a:lstStyle/>
                    <a:p>
                      <a:pPr algn="ctr"/>
                      <a:r>
                        <a:rPr lang="en-US" dirty="0"/>
                        <a:t>0</a:t>
                      </a:r>
                      <a:endParaRPr lang="en-ZA" dirty="0"/>
                    </a:p>
                  </a:txBody>
                  <a:tcPr anchor="ctr"/>
                </a:tc>
                <a:tc>
                  <a:txBody>
                    <a:bodyPr/>
                    <a:lstStyle/>
                    <a:p>
                      <a:pPr algn="ctr"/>
                      <a:r>
                        <a:rPr lang="en-US" dirty="0"/>
                        <a:t>0</a:t>
                      </a:r>
                      <a:endParaRPr lang="en-ZA" dirty="0"/>
                    </a:p>
                  </a:txBody>
                  <a:tcPr anchor="ctr"/>
                </a:tc>
                <a:tc>
                  <a:txBody>
                    <a:bodyPr/>
                    <a:lstStyle/>
                    <a:p>
                      <a:pPr algn="ctr"/>
                      <a:r>
                        <a:rPr lang="en-US" dirty="0"/>
                        <a:t>0</a:t>
                      </a:r>
                      <a:endParaRPr lang="en-ZA" dirty="0"/>
                    </a:p>
                  </a:txBody>
                  <a:tcPr anchor="ctr"/>
                </a:tc>
                <a:tc>
                  <a:txBody>
                    <a:bodyPr/>
                    <a:lstStyle/>
                    <a:p>
                      <a:pPr algn="ctr"/>
                      <a:r>
                        <a:rPr lang="en-US" dirty="0"/>
                        <a:t>0</a:t>
                      </a:r>
                      <a:endParaRPr lang="en-ZA" dirty="0"/>
                    </a:p>
                  </a:txBody>
                  <a:tcPr anchor="ctr"/>
                </a:tc>
                <a:extLst>
                  <a:ext uri="{0D108BD9-81ED-4DB2-BD59-A6C34878D82A}">
                    <a16:rowId xmlns:a16="http://schemas.microsoft.com/office/drawing/2014/main" val="3288361611"/>
                  </a:ext>
                </a:extLst>
              </a:tr>
              <a:tr h="390000">
                <a:tc>
                  <a:txBody>
                    <a:bodyPr/>
                    <a:lstStyle/>
                    <a:p>
                      <a:r>
                        <a:rPr lang="en-US" dirty="0"/>
                        <a:t>TOTAL</a:t>
                      </a:r>
                      <a:endParaRPr lang="en-ZA" dirty="0"/>
                    </a:p>
                  </a:txBody>
                  <a:tcPr anchor="ctr"/>
                </a:tc>
                <a:tc>
                  <a:txBody>
                    <a:bodyPr/>
                    <a:lstStyle/>
                    <a:p>
                      <a:pPr algn="ctr"/>
                      <a:r>
                        <a:rPr lang="en-US" dirty="0"/>
                        <a:t>R57 000</a:t>
                      </a:r>
                      <a:endParaRPr lang="en-ZA" dirty="0"/>
                    </a:p>
                  </a:txBody>
                  <a:tcPr anchor="ctr"/>
                </a:tc>
                <a:tc>
                  <a:txBody>
                    <a:bodyPr/>
                    <a:lstStyle/>
                    <a:p>
                      <a:pPr algn="ctr"/>
                      <a:r>
                        <a:rPr lang="en-US" dirty="0"/>
                        <a:t>R76 000</a:t>
                      </a:r>
                      <a:endParaRPr lang="en-ZA" dirty="0"/>
                    </a:p>
                  </a:txBody>
                  <a:tcPr anchor="ctr"/>
                </a:tc>
                <a:tc>
                  <a:txBody>
                    <a:bodyPr/>
                    <a:lstStyle/>
                    <a:p>
                      <a:pPr algn="ctr"/>
                      <a:r>
                        <a:rPr lang="en-US" dirty="0"/>
                        <a:t>R95 000</a:t>
                      </a:r>
                      <a:endParaRPr lang="en-ZA" dirty="0"/>
                    </a:p>
                  </a:txBody>
                  <a:tcPr anchor="ctr"/>
                </a:tc>
                <a:tc>
                  <a:txBody>
                    <a:bodyPr/>
                    <a:lstStyle/>
                    <a:p>
                      <a:pPr algn="ctr"/>
                      <a:r>
                        <a:rPr lang="en-US" dirty="0"/>
                        <a:t>R119 000</a:t>
                      </a:r>
                      <a:endParaRPr lang="en-ZA" dirty="0"/>
                    </a:p>
                  </a:txBody>
                  <a:tcPr anchor="ctr"/>
                </a:tc>
                <a:extLst>
                  <a:ext uri="{0D108BD9-81ED-4DB2-BD59-A6C34878D82A}">
                    <a16:rowId xmlns:a16="http://schemas.microsoft.com/office/drawing/2014/main" val="3339337023"/>
                  </a:ext>
                </a:extLst>
              </a:tr>
            </a:tbl>
          </a:graphicData>
        </a:graphic>
      </p:graphicFrame>
      <p:graphicFrame>
        <p:nvGraphicFramePr>
          <p:cNvPr id="5" name="Table 4">
            <a:extLst>
              <a:ext uri="{FF2B5EF4-FFF2-40B4-BE49-F238E27FC236}">
                <a16:creationId xmlns:a16="http://schemas.microsoft.com/office/drawing/2014/main" id="{AA92A4E3-B7F7-0AF8-EE83-79F1C9724A9A}"/>
              </a:ext>
            </a:extLst>
          </p:cNvPr>
          <p:cNvGraphicFramePr>
            <a:graphicFrameLocks noGrp="1"/>
          </p:cNvGraphicFramePr>
          <p:nvPr>
            <p:extLst>
              <p:ext uri="{D42A27DB-BD31-4B8C-83A1-F6EECF244321}">
                <p14:modId xmlns:p14="http://schemas.microsoft.com/office/powerpoint/2010/main" val="1557251839"/>
              </p:ext>
            </p:extLst>
          </p:nvPr>
        </p:nvGraphicFramePr>
        <p:xfrm>
          <a:off x="76200" y="4191720"/>
          <a:ext cx="9000000" cy="2590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1997833420"/>
                    </a:ext>
                  </a:extLst>
                </a:gridCol>
                <a:gridCol w="1119000">
                  <a:extLst>
                    <a:ext uri="{9D8B030D-6E8A-4147-A177-3AD203B41FA5}">
                      <a16:colId xmlns:a16="http://schemas.microsoft.com/office/drawing/2014/main" val="994234531"/>
                    </a:ext>
                  </a:extLst>
                </a:gridCol>
                <a:gridCol w="1119000">
                  <a:extLst>
                    <a:ext uri="{9D8B030D-6E8A-4147-A177-3AD203B41FA5}">
                      <a16:colId xmlns:a16="http://schemas.microsoft.com/office/drawing/2014/main" val="4077328465"/>
                    </a:ext>
                  </a:extLst>
                </a:gridCol>
                <a:gridCol w="1119000">
                  <a:extLst>
                    <a:ext uri="{9D8B030D-6E8A-4147-A177-3AD203B41FA5}">
                      <a16:colId xmlns:a16="http://schemas.microsoft.com/office/drawing/2014/main" val="1456336326"/>
                    </a:ext>
                  </a:extLst>
                </a:gridCol>
                <a:gridCol w="1119000">
                  <a:extLst>
                    <a:ext uri="{9D8B030D-6E8A-4147-A177-3AD203B41FA5}">
                      <a16:colId xmlns:a16="http://schemas.microsoft.com/office/drawing/2014/main" val="1639280529"/>
                    </a:ext>
                  </a:extLst>
                </a:gridCol>
                <a:gridCol w="1119000">
                  <a:extLst>
                    <a:ext uri="{9D8B030D-6E8A-4147-A177-3AD203B41FA5}">
                      <a16:colId xmlns:a16="http://schemas.microsoft.com/office/drawing/2014/main" val="893221450"/>
                    </a:ext>
                  </a:extLst>
                </a:gridCol>
                <a:gridCol w="1119000">
                  <a:extLst>
                    <a:ext uri="{9D8B030D-6E8A-4147-A177-3AD203B41FA5}">
                      <a16:colId xmlns:a16="http://schemas.microsoft.com/office/drawing/2014/main" val="3506486251"/>
                    </a:ext>
                  </a:extLst>
                </a:gridCol>
              </a:tblGrid>
              <a:tr h="390000">
                <a:tc>
                  <a:txBody>
                    <a:bodyPr/>
                    <a:lstStyle/>
                    <a:p>
                      <a:pPr algn="ctr"/>
                      <a:r>
                        <a:rPr lang="en-US" dirty="0"/>
                        <a:t>% of credit sales outstanding after</a:t>
                      </a:r>
                      <a:endParaRPr lang="en-ZA" dirty="0"/>
                    </a:p>
                  </a:txBody>
                  <a:tcPr anchor="ctr"/>
                </a:tc>
                <a:tc>
                  <a:txBody>
                    <a:bodyPr/>
                    <a:lstStyle/>
                    <a:p>
                      <a:pPr algn="ctr"/>
                      <a:r>
                        <a:rPr lang="en-US" dirty="0"/>
                        <a:t>Jan</a:t>
                      </a:r>
                      <a:endParaRPr lang="en-ZA" dirty="0"/>
                    </a:p>
                  </a:txBody>
                  <a:tcPr anchor="ctr"/>
                </a:tc>
                <a:tc>
                  <a:txBody>
                    <a:bodyPr/>
                    <a:lstStyle/>
                    <a:p>
                      <a:pPr algn="ctr"/>
                      <a:r>
                        <a:rPr lang="en-US" dirty="0"/>
                        <a:t>Feb</a:t>
                      </a:r>
                      <a:endParaRPr lang="en-ZA" dirty="0"/>
                    </a:p>
                  </a:txBody>
                  <a:tcPr anchor="ctr"/>
                </a:tc>
                <a:tc>
                  <a:txBody>
                    <a:bodyPr/>
                    <a:lstStyle/>
                    <a:p>
                      <a:pPr algn="ctr"/>
                      <a:r>
                        <a:rPr lang="en-US" dirty="0"/>
                        <a:t>Mar</a:t>
                      </a:r>
                      <a:endParaRPr lang="en-ZA" dirty="0"/>
                    </a:p>
                  </a:txBody>
                  <a:tcPr anchor="ctr"/>
                </a:tc>
                <a:tc>
                  <a:txBody>
                    <a:bodyPr/>
                    <a:lstStyle/>
                    <a:p>
                      <a:pPr algn="ctr"/>
                      <a:r>
                        <a:rPr lang="en-US" dirty="0"/>
                        <a:t>Apr</a:t>
                      </a:r>
                      <a:endParaRPr lang="en-ZA" dirty="0"/>
                    </a:p>
                  </a:txBody>
                  <a:tcPr anchor="ctr"/>
                </a:tc>
                <a:tc>
                  <a:txBody>
                    <a:bodyPr/>
                    <a:lstStyle/>
                    <a:p>
                      <a:pPr algn="ctr"/>
                      <a:r>
                        <a:rPr lang="en-US" dirty="0"/>
                        <a:t>May</a:t>
                      </a:r>
                      <a:endParaRPr lang="en-ZA" dirty="0"/>
                    </a:p>
                  </a:txBody>
                  <a:tcPr anchor="ctr"/>
                </a:tc>
                <a:tc>
                  <a:txBody>
                    <a:bodyPr/>
                    <a:lstStyle/>
                    <a:p>
                      <a:pPr algn="ctr"/>
                      <a:r>
                        <a:rPr lang="en-US" dirty="0"/>
                        <a:t>June</a:t>
                      </a:r>
                      <a:endParaRPr lang="en-ZA" dirty="0"/>
                    </a:p>
                  </a:txBody>
                  <a:tcPr anchor="ctr"/>
                </a:tc>
                <a:extLst>
                  <a:ext uri="{0D108BD9-81ED-4DB2-BD59-A6C34878D82A}">
                    <a16:rowId xmlns:a16="http://schemas.microsoft.com/office/drawing/2014/main" val="1496946262"/>
                  </a:ext>
                </a:extLst>
              </a:tr>
              <a:tr h="390000">
                <a:tc>
                  <a:txBody>
                    <a:bodyPr/>
                    <a:lstStyle/>
                    <a:p>
                      <a:r>
                        <a:rPr lang="en-US" dirty="0"/>
                        <a:t>Current month</a:t>
                      </a:r>
                      <a:endParaRPr lang="en-ZA" dirty="0"/>
                    </a:p>
                  </a:txBody>
                  <a:tcPr anchor="ctr"/>
                </a:tc>
                <a:tc>
                  <a:txBody>
                    <a:bodyPr/>
                    <a:lstStyle/>
                    <a:p>
                      <a:pPr algn="ctr"/>
                      <a:r>
                        <a:rPr lang="en-US" dirty="0"/>
                        <a:t>100%</a:t>
                      </a:r>
                      <a:endParaRPr lang="en-ZA"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100%</a:t>
                      </a:r>
                      <a:endParaRPr kumimoji="0" lang="en-ZA" sz="1800" b="0" i="0" u="none" strike="noStrike" kern="1200" cap="none" spc="0" normalizeH="0" baseline="0" noProof="0" dirty="0">
                        <a:ln>
                          <a:noFill/>
                        </a:ln>
                        <a:solidFill>
                          <a:prstClr val="black"/>
                        </a:solidFill>
                        <a:effectLst/>
                        <a:uLnTx/>
                        <a:uFillTx/>
                        <a:latin typeface="Tahoma"/>
                        <a:ea typeface="ＭＳ Ｐゴシック"/>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100%</a:t>
                      </a:r>
                      <a:endParaRPr kumimoji="0" lang="en-ZA" sz="1800" b="0" i="0" u="none" strike="noStrike" kern="1200" cap="none" spc="0" normalizeH="0" baseline="0" noProof="0" dirty="0">
                        <a:ln>
                          <a:noFill/>
                        </a:ln>
                        <a:solidFill>
                          <a:prstClr val="black"/>
                        </a:solidFill>
                        <a:effectLst/>
                        <a:uLnTx/>
                        <a:uFillTx/>
                        <a:latin typeface="Tahoma"/>
                        <a:ea typeface="ＭＳ Ｐゴシック"/>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100%</a:t>
                      </a:r>
                      <a:endParaRPr kumimoji="0" lang="en-ZA" sz="1800" b="0" i="0" u="none" strike="noStrike" kern="1200" cap="none" spc="0" normalizeH="0" baseline="0" noProof="0" dirty="0">
                        <a:ln>
                          <a:noFill/>
                        </a:ln>
                        <a:solidFill>
                          <a:prstClr val="black"/>
                        </a:solidFill>
                        <a:effectLst/>
                        <a:uLnTx/>
                        <a:uFillTx/>
                        <a:latin typeface="Tahoma"/>
                        <a:ea typeface="ＭＳ Ｐゴシック"/>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100%</a:t>
                      </a:r>
                      <a:endParaRPr kumimoji="0" lang="en-ZA" sz="1800" b="0" i="0" u="none" strike="noStrike" kern="1200" cap="none" spc="0" normalizeH="0" baseline="0" noProof="0" dirty="0">
                        <a:ln>
                          <a:noFill/>
                        </a:ln>
                        <a:solidFill>
                          <a:prstClr val="black"/>
                        </a:solidFill>
                        <a:effectLst/>
                        <a:uLnTx/>
                        <a:uFillTx/>
                        <a:latin typeface="Tahoma"/>
                        <a:ea typeface="ＭＳ Ｐゴシック"/>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ahoma"/>
                          <a:ea typeface="ＭＳ Ｐゴシック"/>
                          <a:cs typeface="+mn-cs"/>
                        </a:rPr>
                        <a:t>100%</a:t>
                      </a:r>
                      <a:endParaRPr kumimoji="0" lang="en-ZA" sz="1800" b="0" i="0" u="none" strike="noStrike" kern="1200" cap="none" spc="0" normalizeH="0" baseline="0" noProof="0" dirty="0">
                        <a:ln>
                          <a:noFill/>
                        </a:ln>
                        <a:solidFill>
                          <a:prstClr val="black"/>
                        </a:solidFill>
                        <a:effectLst/>
                        <a:uLnTx/>
                        <a:uFillTx/>
                        <a:latin typeface="Tahoma"/>
                        <a:ea typeface="ＭＳ Ｐゴシック"/>
                        <a:cs typeface="+mn-cs"/>
                      </a:endParaRPr>
                    </a:p>
                  </a:txBody>
                  <a:tcPr anchor="ctr"/>
                </a:tc>
                <a:extLst>
                  <a:ext uri="{0D108BD9-81ED-4DB2-BD59-A6C34878D82A}">
                    <a16:rowId xmlns:a16="http://schemas.microsoft.com/office/drawing/2014/main" val="3793390644"/>
                  </a:ext>
                </a:extLst>
              </a:tr>
              <a:tr h="390000">
                <a:tc>
                  <a:txBody>
                    <a:bodyPr/>
                    <a:lstStyle/>
                    <a:p>
                      <a:r>
                        <a:rPr lang="en-US" dirty="0"/>
                        <a:t>1 month</a:t>
                      </a:r>
                      <a:endParaRPr lang="en-ZA" dirty="0"/>
                    </a:p>
                  </a:txBody>
                  <a:tcPr anchor="ctr"/>
                </a:tc>
                <a:tc>
                  <a:txBody>
                    <a:bodyPr/>
                    <a:lstStyle/>
                    <a:p>
                      <a:pPr algn="ctr"/>
                      <a:r>
                        <a:rPr lang="en-US" dirty="0"/>
                        <a:t>70%</a:t>
                      </a:r>
                      <a:endParaRPr lang="en-ZA" dirty="0"/>
                    </a:p>
                  </a:txBody>
                  <a:tcPr anchor="ctr"/>
                </a:tc>
                <a:tc>
                  <a:txBody>
                    <a:bodyPr/>
                    <a:lstStyle/>
                    <a:p>
                      <a:pPr algn="ctr"/>
                      <a:r>
                        <a:rPr lang="en-US" dirty="0"/>
                        <a:t>72%</a:t>
                      </a:r>
                      <a:endParaRPr lang="en-ZA" dirty="0"/>
                    </a:p>
                  </a:txBody>
                  <a:tcPr anchor="ctr"/>
                </a:tc>
                <a:tc>
                  <a:txBody>
                    <a:bodyPr/>
                    <a:lstStyle/>
                    <a:p>
                      <a:pPr algn="ctr"/>
                      <a:r>
                        <a:rPr lang="en-US" dirty="0"/>
                        <a:t>70%</a:t>
                      </a:r>
                      <a:endParaRPr lang="en-ZA" dirty="0"/>
                    </a:p>
                  </a:txBody>
                  <a:tcPr anchor="ctr"/>
                </a:tc>
                <a:tc>
                  <a:txBody>
                    <a:bodyPr/>
                    <a:lstStyle/>
                    <a:p>
                      <a:pPr algn="ctr"/>
                      <a:r>
                        <a:rPr lang="en-US" dirty="0"/>
                        <a:t>75%</a:t>
                      </a:r>
                      <a:endParaRPr lang="en-ZA" dirty="0"/>
                    </a:p>
                  </a:txBody>
                  <a:tcPr anchor="ctr"/>
                </a:tc>
                <a:tc>
                  <a:txBody>
                    <a:bodyPr/>
                    <a:lstStyle/>
                    <a:p>
                      <a:pPr algn="ctr"/>
                      <a:r>
                        <a:rPr lang="en-US" dirty="0"/>
                        <a:t>76%</a:t>
                      </a:r>
                      <a:endParaRPr lang="en-ZA" dirty="0"/>
                    </a:p>
                  </a:txBody>
                  <a:tcPr anchor="ctr"/>
                </a:tc>
                <a:tc>
                  <a:txBody>
                    <a:bodyPr/>
                    <a:lstStyle/>
                    <a:p>
                      <a:pPr algn="ctr"/>
                      <a:r>
                        <a:rPr lang="en-US" dirty="0"/>
                        <a:t>70%</a:t>
                      </a:r>
                      <a:endParaRPr lang="en-ZA" dirty="0"/>
                    </a:p>
                  </a:txBody>
                  <a:tcPr anchor="ctr"/>
                </a:tc>
                <a:extLst>
                  <a:ext uri="{0D108BD9-81ED-4DB2-BD59-A6C34878D82A}">
                    <a16:rowId xmlns:a16="http://schemas.microsoft.com/office/drawing/2014/main" val="3459921169"/>
                  </a:ext>
                </a:extLst>
              </a:tr>
              <a:tr h="390000">
                <a:tc>
                  <a:txBody>
                    <a:bodyPr/>
                    <a:lstStyle/>
                    <a:p>
                      <a:r>
                        <a:rPr lang="en-US" dirty="0"/>
                        <a:t>2 month</a:t>
                      </a:r>
                      <a:endParaRPr lang="en-ZA" dirty="0"/>
                    </a:p>
                  </a:txBody>
                  <a:tcPr anchor="ctr"/>
                </a:tc>
                <a:tc>
                  <a:txBody>
                    <a:bodyPr/>
                    <a:lstStyle/>
                    <a:p>
                      <a:pPr algn="ctr"/>
                      <a:r>
                        <a:rPr lang="en-US" dirty="0"/>
                        <a:t>20%</a:t>
                      </a:r>
                      <a:endParaRPr lang="en-ZA" dirty="0"/>
                    </a:p>
                  </a:txBody>
                  <a:tcPr anchor="ctr"/>
                </a:tc>
                <a:tc>
                  <a:txBody>
                    <a:bodyPr/>
                    <a:lstStyle/>
                    <a:p>
                      <a:pPr algn="ctr"/>
                      <a:r>
                        <a:rPr lang="en-US" dirty="0"/>
                        <a:t>20%</a:t>
                      </a:r>
                      <a:endParaRPr lang="en-ZA" dirty="0"/>
                    </a:p>
                  </a:txBody>
                  <a:tcPr anchor="ctr"/>
                </a:tc>
                <a:tc>
                  <a:txBody>
                    <a:bodyPr/>
                    <a:lstStyle/>
                    <a:p>
                      <a:pPr algn="ctr"/>
                      <a:r>
                        <a:rPr lang="en-US" dirty="0"/>
                        <a:t>21%</a:t>
                      </a:r>
                      <a:endParaRPr lang="en-ZA" dirty="0"/>
                    </a:p>
                  </a:txBody>
                  <a:tcPr anchor="ctr"/>
                </a:tc>
                <a:tc>
                  <a:txBody>
                    <a:bodyPr/>
                    <a:lstStyle/>
                    <a:p>
                      <a:pPr algn="ctr"/>
                      <a:r>
                        <a:rPr lang="en-US" dirty="0"/>
                        <a:t>30%</a:t>
                      </a:r>
                      <a:endParaRPr lang="en-ZA" dirty="0"/>
                    </a:p>
                  </a:txBody>
                  <a:tcPr anchor="ctr"/>
                </a:tc>
                <a:tc>
                  <a:txBody>
                    <a:bodyPr/>
                    <a:lstStyle/>
                    <a:p>
                      <a:pPr algn="ctr"/>
                      <a:r>
                        <a:rPr lang="en-US" dirty="0"/>
                        <a:t>32%</a:t>
                      </a:r>
                      <a:endParaRPr lang="en-ZA" dirty="0"/>
                    </a:p>
                  </a:txBody>
                  <a:tcPr anchor="ctr"/>
                </a:tc>
                <a:tc>
                  <a:txBody>
                    <a:bodyPr/>
                    <a:lstStyle/>
                    <a:p>
                      <a:pPr algn="ctr"/>
                      <a:r>
                        <a:rPr lang="en-US" dirty="0"/>
                        <a:t>21%</a:t>
                      </a:r>
                      <a:endParaRPr lang="en-ZA" dirty="0"/>
                    </a:p>
                  </a:txBody>
                  <a:tcPr anchor="ctr"/>
                </a:tc>
                <a:extLst>
                  <a:ext uri="{0D108BD9-81ED-4DB2-BD59-A6C34878D82A}">
                    <a16:rowId xmlns:a16="http://schemas.microsoft.com/office/drawing/2014/main" val="1172674810"/>
                  </a:ext>
                </a:extLst>
              </a:tr>
              <a:tr h="390000">
                <a:tc>
                  <a:txBody>
                    <a:bodyPr/>
                    <a:lstStyle/>
                    <a:p>
                      <a:r>
                        <a:rPr lang="en-US" dirty="0"/>
                        <a:t>3 month</a:t>
                      </a:r>
                      <a:endParaRPr lang="en-ZA" dirty="0"/>
                    </a:p>
                  </a:txBody>
                  <a:tcPr anchor="ctr"/>
                </a:tc>
                <a:tc>
                  <a:txBody>
                    <a:bodyPr/>
                    <a:lstStyle/>
                    <a:p>
                      <a:pPr algn="ctr"/>
                      <a:r>
                        <a:rPr lang="en-US" dirty="0"/>
                        <a:t>5%</a:t>
                      </a:r>
                      <a:endParaRPr lang="en-ZA" dirty="0"/>
                    </a:p>
                  </a:txBody>
                  <a:tcPr anchor="ctr"/>
                </a:tc>
                <a:tc>
                  <a:txBody>
                    <a:bodyPr/>
                    <a:lstStyle/>
                    <a:p>
                      <a:pPr algn="ctr"/>
                      <a:r>
                        <a:rPr lang="en-US" dirty="0"/>
                        <a:t>4%</a:t>
                      </a:r>
                      <a:endParaRPr lang="en-ZA" dirty="0"/>
                    </a:p>
                  </a:txBody>
                  <a:tcPr anchor="ctr"/>
                </a:tc>
                <a:tc>
                  <a:txBody>
                    <a:bodyPr/>
                    <a:lstStyle/>
                    <a:p>
                      <a:pPr algn="ctr"/>
                      <a:r>
                        <a:rPr lang="en-US" dirty="0"/>
                        <a:t>5%</a:t>
                      </a:r>
                      <a:endParaRPr lang="en-ZA" dirty="0"/>
                    </a:p>
                  </a:txBody>
                  <a:tcPr anchor="ctr"/>
                </a:tc>
                <a:tc>
                  <a:txBody>
                    <a:bodyPr/>
                    <a:lstStyle/>
                    <a:p>
                      <a:pPr algn="ctr"/>
                      <a:r>
                        <a:rPr lang="en-US" dirty="0"/>
                        <a:t>6%</a:t>
                      </a:r>
                      <a:endParaRPr lang="en-ZA" dirty="0"/>
                    </a:p>
                  </a:txBody>
                  <a:tcPr anchor="ctr"/>
                </a:tc>
                <a:tc>
                  <a:txBody>
                    <a:bodyPr/>
                    <a:lstStyle/>
                    <a:p>
                      <a:pPr algn="ctr"/>
                      <a:r>
                        <a:rPr lang="en-US" dirty="0"/>
                        <a:t>8%</a:t>
                      </a:r>
                      <a:endParaRPr lang="en-ZA" dirty="0"/>
                    </a:p>
                  </a:txBody>
                  <a:tcPr anchor="ctr"/>
                </a:tc>
                <a:tc>
                  <a:txBody>
                    <a:bodyPr/>
                    <a:lstStyle/>
                    <a:p>
                      <a:pPr algn="ctr"/>
                      <a:r>
                        <a:rPr lang="en-US" dirty="0"/>
                        <a:t>4%</a:t>
                      </a:r>
                      <a:endParaRPr lang="en-ZA" dirty="0"/>
                    </a:p>
                  </a:txBody>
                  <a:tcPr anchor="ctr"/>
                </a:tc>
                <a:extLst>
                  <a:ext uri="{0D108BD9-81ED-4DB2-BD59-A6C34878D82A}">
                    <a16:rowId xmlns:a16="http://schemas.microsoft.com/office/drawing/2014/main" val="3288361611"/>
                  </a:ext>
                </a:extLst>
              </a:tr>
              <a:tr h="390000">
                <a:tc>
                  <a:txBody>
                    <a:bodyPr/>
                    <a:lstStyle/>
                    <a:p>
                      <a:r>
                        <a:rPr lang="en-US" dirty="0"/>
                        <a:t>4 month</a:t>
                      </a:r>
                      <a:endParaRPr lang="en-ZA" dirty="0"/>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0%</a:t>
                      </a:r>
                      <a:endParaRPr lang="en-ZA" dirty="0"/>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0%</a:t>
                      </a:r>
                      <a:endParaRPr lang="en-ZA" dirty="0"/>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0%</a:t>
                      </a:r>
                      <a:endParaRPr lang="en-ZA" dirty="0"/>
                    </a:p>
                  </a:txBody>
                  <a:tcPr anchor="ctr"/>
                </a:tc>
                <a:tc>
                  <a:txBody>
                    <a:bodyPr/>
                    <a:lstStyle/>
                    <a:p>
                      <a:pPr algn="ctr"/>
                      <a:r>
                        <a:rPr kumimoji="0" lang="en-US" sz="1800" b="0" i="0" u="none" strike="noStrike" kern="1200" cap="none" spc="0" normalizeH="0" baseline="0" noProof="0">
                          <a:ln>
                            <a:noFill/>
                          </a:ln>
                          <a:solidFill>
                            <a:prstClr val="black"/>
                          </a:solidFill>
                          <a:effectLst/>
                          <a:uLnTx/>
                          <a:uFillTx/>
                          <a:latin typeface="Tahoma"/>
                          <a:ea typeface="ＭＳ Ｐゴシック"/>
                          <a:cs typeface="+mn-cs"/>
                        </a:rPr>
                        <a:t>0%</a:t>
                      </a:r>
                      <a:endParaRPr lang="en-ZA" dirty="0"/>
                    </a:p>
                  </a:txBody>
                  <a:tcPr anchor="ctr"/>
                </a:tc>
                <a:tc>
                  <a:txBody>
                    <a:bodyPr/>
                    <a:lstStyle/>
                    <a:p>
                      <a:pPr algn="ctr"/>
                      <a:r>
                        <a:rPr kumimoji="0" lang="en-US" sz="1800" b="0" i="0" u="none" strike="noStrike" kern="1200" cap="none" spc="0" normalizeH="0" baseline="0" noProof="0" dirty="0">
                          <a:ln>
                            <a:noFill/>
                          </a:ln>
                          <a:solidFill>
                            <a:prstClr val="black"/>
                          </a:solidFill>
                          <a:effectLst/>
                          <a:uLnTx/>
                          <a:uFillTx/>
                          <a:latin typeface="Tahoma"/>
                          <a:ea typeface="ＭＳ Ｐゴシック"/>
                          <a:cs typeface="+mn-cs"/>
                        </a:rPr>
                        <a:t>0%</a:t>
                      </a:r>
                      <a:endParaRPr lang="en-ZA" dirty="0"/>
                    </a:p>
                  </a:txBody>
                  <a:tcPr anchor="ctr"/>
                </a:tc>
                <a:tc>
                  <a:txBody>
                    <a:bodyPr/>
                    <a:lstStyle/>
                    <a:p>
                      <a:pPr algn="ctr"/>
                      <a:r>
                        <a:rPr lang="en-US" dirty="0"/>
                        <a:t>0%</a:t>
                      </a:r>
                      <a:endParaRPr lang="en-ZA" dirty="0"/>
                    </a:p>
                  </a:txBody>
                  <a:tcPr anchor="ctr"/>
                </a:tc>
                <a:extLst>
                  <a:ext uri="{0D108BD9-81ED-4DB2-BD59-A6C34878D82A}">
                    <a16:rowId xmlns:a16="http://schemas.microsoft.com/office/drawing/2014/main" val="3339337023"/>
                  </a:ext>
                </a:extLst>
              </a:tr>
            </a:tbl>
          </a:graphicData>
        </a:graphic>
      </p:graphicFrame>
    </p:spTree>
    <p:custDataLst>
      <p:tags r:id="rId1"/>
    </p:custDataLst>
    <p:extLst>
      <p:ext uri="{BB962C8B-B14F-4D97-AF65-F5344CB8AC3E}">
        <p14:creationId xmlns:p14="http://schemas.microsoft.com/office/powerpoint/2010/main" val="40536853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EB1B3AC-6947-9B80-9D32-DB163557F55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4904E8A-392E-8B3F-07D5-A9D917444FA0}"/>
              </a:ext>
            </a:extLst>
          </p:cNvPr>
          <p:cNvSpPr>
            <a:spLocks noGrp="1" noChangeArrowheads="1"/>
          </p:cNvSpPr>
          <p:nvPr>
            <p:ph type="title"/>
          </p:nvPr>
        </p:nvSpPr>
        <p:spPr>
          <a:xfrm>
            <a:off x="228600" y="10510"/>
            <a:ext cx="8763000" cy="1143000"/>
          </a:xfrm>
        </p:spPr>
        <p:txBody>
          <a:bodyPr/>
          <a:lstStyle/>
          <a:p>
            <a:r>
              <a:rPr lang="en-US" dirty="0">
                <a:solidFill>
                  <a:schemeClr val="tx2"/>
                </a:solidFill>
              </a:rPr>
              <a:t>Monitoring control of accounts receivable (cont.)</a:t>
            </a:r>
          </a:p>
        </p:txBody>
      </p:sp>
      <p:sp>
        <p:nvSpPr>
          <p:cNvPr id="3" name="Slide Number Placeholder 2">
            <a:extLst>
              <a:ext uri="{FF2B5EF4-FFF2-40B4-BE49-F238E27FC236}">
                <a16:creationId xmlns:a16="http://schemas.microsoft.com/office/drawing/2014/main" id="{0489357F-1A56-E657-3A96-A65C1161B7F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35</a:t>
            </a:fld>
            <a:endParaRPr lang="en-US">
              <a:solidFill>
                <a:schemeClr val="tx1"/>
              </a:solidFill>
            </a:endParaRPr>
          </a:p>
        </p:txBody>
      </p:sp>
      <p:sp>
        <p:nvSpPr>
          <p:cNvPr id="4" name="Rectangle 5">
            <a:extLst>
              <a:ext uri="{FF2B5EF4-FFF2-40B4-BE49-F238E27FC236}">
                <a16:creationId xmlns:a16="http://schemas.microsoft.com/office/drawing/2014/main" id="{EADB3BC2-347F-9CF9-7D42-622FBFCF254E}"/>
              </a:ext>
            </a:extLst>
          </p:cNvPr>
          <p:cNvSpPr>
            <a:spLocks noGrp="1" noChangeArrowheads="1"/>
          </p:cNvSpPr>
          <p:nvPr>
            <p:ph idx="1"/>
          </p:nvPr>
        </p:nvSpPr>
        <p:spPr>
          <a:xfrm>
            <a:off x="259976" y="1153510"/>
            <a:ext cx="8655424" cy="5247290"/>
          </a:xfrm>
        </p:spPr>
        <p:txBody>
          <a:bodyPr/>
          <a:lstStyle/>
          <a:p>
            <a:pPr>
              <a:lnSpc>
                <a:spcPct val="105000"/>
              </a:lnSpc>
              <a:buSzPct val="100000"/>
              <a:buFont typeface="Arial" panose="020B0604020202020204" pitchFamily="34" charset="0"/>
              <a:buChar char="•"/>
            </a:pPr>
            <a:r>
              <a:rPr lang="en-US" sz="2400" dirty="0">
                <a:latin typeface="+mj-lt"/>
              </a:rPr>
              <a:t>Monitoring bad debts</a:t>
            </a:r>
          </a:p>
          <a:p>
            <a:pPr marL="0" indent="0">
              <a:lnSpc>
                <a:spcPct val="105000"/>
              </a:lnSpc>
              <a:buSzPct val="100000"/>
              <a:buNone/>
            </a:pPr>
            <a:r>
              <a:rPr lang="en-US" sz="2400" dirty="0">
                <a:latin typeface="+mj-lt"/>
              </a:rPr>
              <a:t>	Bad debt ratio	= Bad debts / credit sales x 100</a:t>
            </a:r>
          </a:p>
          <a:p>
            <a:pPr marL="0" indent="0">
              <a:lnSpc>
                <a:spcPct val="105000"/>
              </a:lnSpc>
              <a:buSzPct val="100000"/>
              <a:buNone/>
            </a:pPr>
            <a:endParaRPr lang="en-US" sz="2400" dirty="0">
              <a:latin typeface="+mj-lt"/>
            </a:endParaRPr>
          </a:p>
          <a:p>
            <a:pPr marL="717550">
              <a:lnSpc>
                <a:spcPct val="105000"/>
              </a:lnSpc>
              <a:buSzPct val="100000"/>
              <a:buFont typeface="Wingdings" panose="05000000000000000000" pitchFamily="2" charset="2"/>
              <a:buChar char="§"/>
            </a:pPr>
            <a:r>
              <a:rPr lang="en-US" sz="2400" dirty="0">
                <a:latin typeface="+mj-lt"/>
              </a:rPr>
              <a:t>Investigation required if bad debt ratio outside of parameters set (</a:t>
            </a:r>
            <a:r>
              <a:rPr lang="en-US" sz="2400" dirty="0" err="1">
                <a:latin typeface="+mj-lt"/>
              </a:rPr>
              <a:t>eg</a:t>
            </a:r>
            <a:r>
              <a:rPr lang="en-US" sz="2400" dirty="0">
                <a:latin typeface="+mj-lt"/>
              </a:rPr>
              <a:t> bad debts = 5% of credit sales acceptable)</a:t>
            </a:r>
          </a:p>
          <a:p>
            <a:pPr marL="717550">
              <a:lnSpc>
                <a:spcPct val="105000"/>
              </a:lnSpc>
              <a:buSzPct val="100000"/>
              <a:buFont typeface="Wingdings" panose="05000000000000000000" pitchFamily="2" charset="2"/>
              <a:buChar char="§"/>
            </a:pPr>
            <a:r>
              <a:rPr lang="en-US" sz="2400" dirty="0">
                <a:latin typeface="+mj-lt"/>
              </a:rPr>
              <a:t>Bad debts </a:t>
            </a:r>
            <a:r>
              <a:rPr lang="en-US" sz="2400" dirty="0" err="1">
                <a:latin typeface="+mj-lt"/>
              </a:rPr>
              <a:t>recognised</a:t>
            </a:r>
            <a:r>
              <a:rPr lang="en-US" sz="2400" dirty="0">
                <a:latin typeface="+mj-lt"/>
              </a:rPr>
              <a:t> after occurrence of sale</a:t>
            </a:r>
          </a:p>
          <a:p>
            <a:pPr marL="717550">
              <a:lnSpc>
                <a:spcPct val="105000"/>
              </a:lnSpc>
              <a:buSzPct val="100000"/>
              <a:buFont typeface="Wingdings" panose="05000000000000000000" pitchFamily="2" charset="2"/>
              <a:buChar char="§"/>
            </a:pPr>
            <a:r>
              <a:rPr lang="en-US" sz="2400" dirty="0">
                <a:latin typeface="+mj-lt"/>
              </a:rPr>
              <a:t>Bad debts result of only a few defaults</a:t>
            </a:r>
          </a:p>
        </p:txBody>
      </p:sp>
    </p:spTree>
    <p:custDataLst>
      <p:tags r:id="rId1"/>
    </p:custDataLst>
    <p:extLst>
      <p:ext uri="{BB962C8B-B14F-4D97-AF65-F5344CB8AC3E}">
        <p14:creationId xmlns:p14="http://schemas.microsoft.com/office/powerpoint/2010/main" val="23208332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solidFill>
                  <a:schemeClr val="tx2"/>
                </a:solidFill>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10</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 relating to the content already covered</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11</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lang="en-US" sz="2800" kern="0" dirty="0">
              <a:solidFill>
                <a:prstClr val="black"/>
              </a:solidFill>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lang="en-US" sz="2800" kern="0" dirty="0">
                <a:solidFill>
                  <a:prstClr val="black"/>
                </a:solidFill>
                <a:latin typeface="Tahoma"/>
                <a:ea typeface="ＭＳ Ｐゴシック"/>
              </a:rPr>
              <a:t>Individual tutorial B opens 13 April and closes 20 April</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ags/tag27.xml><?xml version="1.0" encoding="utf-8"?>
<p:tagLst xmlns:a="http://schemas.openxmlformats.org/drawingml/2006/main" xmlns:r="http://schemas.openxmlformats.org/officeDocument/2006/relationships" xmlns:p="http://schemas.openxmlformats.org/presentationml/2006/main">
  <p:tag name="TIMING" val="|41.1|7.7|19|3.7"/>
</p:tagLst>
</file>

<file path=ppt/tags/tag28.xml><?xml version="1.0" encoding="utf-8"?>
<p:tagLst xmlns:a="http://schemas.openxmlformats.org/drawingml/2006/main" xmlns:r="http://schemas.openxmlformats.org/officeDocument/2006/relationships" xmlns:p="http://schemas.openxmlformats.org/presentationml/2006/main">
  <p:tag name="TIMING" val="|41.1|7.7|19|3.7"/>
</p:tagLst>
</file>

<file path=ppt/tags/tag29.xml><?xml version="1.0" encoding="utf-8"?>
<p:tagLst xmlns:a="http://schemas.openxmlformats.org/drawingml/2006/main" xmlns:r="http://schemas.openxmlformats.org/officeDocument/2006/relationships" xmlns:p="http://schemas.openxmlformats.org/presentationml/2006/main">
  <p:tag name="TIMING" val="|41.1|7.7|19|3.7"/>
</p:tagLst>
</file>

<file path=ppt/tags/tag30.xml><?xml version="1.0" encoding="utf-8"?>
<p:tagLst xmlns:a="http://schemas.openxmlformats.org/drawingml/2006/main" xmlns:r="http://schemas.openxmlformats.org/officeDocument/2006/relationships" xmlns:p="http://schemas.openxmlformats.org/presentationml/2006/main">
  <p:tag name="TIMING" val="|41.1|7.7|19|3.7"/>
</p:tagLst>
</file>

<file path=ppt/tags/tag31.xml><?xml version="1.0" encoding="utf-8"?>
<p:tagLst xmlns:a="http://schemas.openxmlformats.org/drawingml/2006/main" xmlns:r="http://schemas.openxmlformats.org/officeDocument/2006/relationships" xmlns:p="http://schemas.openxmlformats.org/presentationml/2006/main">
  <p:tag name="TIMING" val="|41.1|7.7|19|3.7"/>
</p:tagLst>
</file>

<file path=ppt/tags/tag32.xml><?xml version="1.0" encoding="utf-8"?>
<p:tagLst xmlns:a="http://schemas.openxmlformats.org/drawingml/2006/main" xmlns:r="http://schemas.openxmlformats.org/officeDocument/2006/relationships" xmlns:p="http://schemas.openxmlformats.org/presentationml/2006/main">
  <p:tag name="TIMING" val="|41.1|7.7|19|3.7"/>
</p:tagLst>
</file>

<file path=ppt/tags/tag33.xml><?xml version="1.0" encoding="utf-8"?>
<p:tagLst xmlns:a="http://schemas.openxmlformats.org/drawingml/2006/main" xmlns:r="http://schemas.openxmlformats.org/officeDocument/2006/relationships" xmlns:p="http://schemas.openxmlformats.org/presentationml/2006/main">
  <p:tag name="TIMING" val="|41.1|7.7|19|3.7"/>
</p:tagLst>
</file>

<file path=ppt/tags/tag34.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7513</TotalTime>
  <Words>2829</Words>
  <Application>Microsoft Office PowerPoint</Application>
  <PresentationFormat>On-screen Show (4:3)</PresentationFormat>
  <Paragraphs>536</Paragraphs>
  <Slides>36</Slides>
  <Notes>36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36</vt:i4>
      </vt:variant>
    </vt:vector>
  </HeadingPairs>
  <TitlesOfParts>
    <vt:vector size="45" baseType="lpstr">
      <vt:lpstr>ＭＳ Ｐゴシック</vt:lpstr>
      <vt:lpstr>Arial</vt:lpstr>
      <vt:lpstr>Symbol</vt:lpstr>
      <vt:lpstr>Tahoma</vt:lpstr>
      <vt:lpstr>Times</vt:lpstr>
      <vt:lpstr>Wingdings</vt:lpstr>
      <vt:lpstr>Wingdings 2</vt:lpstr>
      <vt:lpstr>Blank Presentation</vt:lpstr>
      <vt:lpstr>1_Blank Presentation</vt:lpstr>
      <vt:lpstr>PowerPoint Presentation</vt:lpstr>
      <vt:lpstr>Learning outcomes: Chapter 10</vt:lpstr>
      <vt:lpstr>Introduction</vt:lpstr>
      <vt:lpstr>Establishment of a credit policy</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Establishment of a credit policy (cont.)</vt:lpstr>
      <vt:lpstr>Follow up on delinquent accounts</vt:lpstr>
      <vt:lpstr>Follow up on delinquent accounts (cont.)</vt:lpstr>
      <vt:lpstr>Follow up on delinquent accounts (cont.)</vt:lpstr>
      <vt:lpstr>Monitoring control of accounts receivable</vt:lpstr>
      <vt:lpstr>Monitoring control of accounts receivable (cont.)</vt:lpstr>
      <vt:lpstr>Monitoring control of accounts receivable (cont.)</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Nsovo W. Maswanganyi</cp:lastModifiedBy>
  <cp:revision>875</cp:revision>
  <cp:lastPrinted>2025-04-06T15:36:34Z</cp:lastPrinted>
  <dcterms:created xsi:type="dcterms:W3CDTF">2010-03-21T13:43:06Z</dcterms:created>
  <dcterms:modified xsi:type="dcterms:W3CDTF">2026-04-08T10:29:54Z</dcterms:modified>
</cp:coreProperties>
</file>