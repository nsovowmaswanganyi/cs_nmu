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notesSlides/notesSlide36.xml" ContentType="application/vnd.openxmlformats-officedocument.presentationml.notesSlide+xml"/>
  <Override PartName="/ppt/tags/tag36.xml" ContentType="application/vnd.openxmlformats-officedocument.presentationml.tags+xml"/>
  <Override PartName="/ppt/notesSlides/notesSlide37.xml" ContentType="application/vnd.openxmlformats-officedocument.presentationml.notesSlide+xml"/>
  <Override PartName="/ppt/tags/tag37.xml" ContentType="application/vnd.openxmlformats-officedocument.presentationml.tags+xml"/>
  <Override PartName="/ppt/notesSlides/notesSlide38.xml" ContentType="application/vnd.openxmlformats-officedocument.presentationml.notesSlide+xml"/>
  <Override PartName="/ppt/tags/tag3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1"/>
    <p:sldMasterId id="2147483664" r:id="rId2"/>
  </p:sldMasterIdLst>
  <p:notesMasterIdLst>
    <p:notesMasterId r:id="rId43"/>
  </p:notesMasterIdLst>
  <p:handoutMasterIdLst>
    <p:handoutMasterId r:id="rId44"/>
  </p:handoutMasterIdLst>
  <p:sldIdLst>
    <p:sldId id="283" r:id="rId3"/>
    <p:sldId id="291" r:id="rId4"/>
    <p:sldId id="259" r:id="rId5"/>
    <p:sldId id="367" r:id="rId6"/>
    <p:sldId id="485" r:id="rId7"/>
    <p:sldId id="451" r:id="rId8"/>
    <p:sldId id="467" r:id="rId9"/>
    <p:sldId id="469" r:id="rId10"/>
    <p:sldId id="470" r:id="rId11"/>
    <p:sldId id="468" r:id="rId12"/>
    <p:sldId id="452" r:id="rId13"/>
    <p:sldId id="453" r:id="rId14"/>
    <p:sldId id="474" r:id="rId15"/>
    <p:sldId id="476" r:id="rId16"/>
    <p:sldId id="471" r:id="rId17"/>
    <p:sldId id="484" r:id="rId18"/>
    <p:sldId id="454" r:id="rId19"/>
    <p:sldId id="483" r:id="rId20"/>
    <p:sldId id="482" r:id="rId21"/>
    <p:sldId id="455" r:id="rId22"/>
    <p:sldId id="481" r:id="rId23"/>
    <p:sldId id="486" r:id="rId24"/>
    <p:sldId id="487" r:id="rId25"/>
    <p:sldId id="488" r:id="rId26"/>
    <p:sldId id="489" r:id="rId27"/>
    <p:sldId id="456" r:id="rId28"/>
    <p:sldId id="490" r:id="rId29"/>
    <p:sldId id="459" r:id="rId30"/>
    <p:sldId id="461" r:id="rId31"/>
    <p:sldId id="491" r:id="rId32"/>
    <p:sldId id="462" r:id="rId33"/>
    <p:sldId id="463" r:id="rId34"/>
    <p:sldId id="492" r:id="rId35"/>
    <p:sldId id="496" r:id="rId36"/>
    <p:sldId id="464" r:id="rId37"/>
    <p:sldId id="497" r:id="rId38"/>
    <p:sldId id="493" r:id="rId39"/>
    <p:sldId id="465" r:id="rId40"/>
    <p:sldId id="466" r:id="rId41"/>
    <p:sldId id="335" r:id="rId42"/>
  </p:sldIdLst>
  <p:sldSz cx="9144000" cy="6858000" type="screen4x3"/>
  <p:notesSz cx="6794500" cy="9931400"/>
  <p:custDataLst>
    <p:tags r:id="rId45"/>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FF00FF"/>
    <a:srgbClr val="009900"/>
    <a:srgbClr val="990000"/>
    <a:srgbClr val="3BFF9D"/>
    <a:srgbClr val="FFFFCC"/>
    <a:srgbClr val="FFFF66"/>
    <a:srgbClr val="D63A17"/>
    <a:srgbClr val="ADB3BF"/>
    <a:srgbClr val="D692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5" d="100"/>
          <a:sy n="105" d="100"/>
        </p:scale>
        <p:origin x="179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15988" y="744538"/>
            <a:ext cx="4964112" cy="3724275"/>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05934" y="4717417"/>
            <a:ext cx="4982633" cy="4469129"/>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0919-F969-CE19-38EC-E6ED7C0EE3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BB06B9F-E188-7B41-1132-4FD80011819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010E94-FD98-C886-7975-2366C462754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274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EA54-355E-299B-6FF8-F76C2F6F81F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D5F8200-0C66-4713-6E11-961D0BF786A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EF12800-E4A0-849B-F12E-32B69A47C55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2084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95660-AFAD-7394-FAA0-BE66AF5E56C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D03498D-6B1C-96A7-15D9-B2DC01C41FF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B92D3D4-DBB4-CC29-9692-965981B5391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12977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F192-C2C1-DE90-EA7A-52152B796E5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E234A2A-35FA-84DF-5985-EF454398225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1628359-A478-9E10-6371-11EA0C0E057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93976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5A39A-AEBA-224A-1B2B-B07EFEA9E76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842DEAC-FB98-5DEB-EB64-09DCF5627C30}"/>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B9604C-B8D4-A2AB-276D-A082B614BEC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15436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F75A-53E9-42D8-E86F-A787DC6928D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93163BE-8FCE-1510-3D72-AD41EE41B9C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25B1076-D6DF-4DA8-A23D-4FF14E88CC9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61492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FCD42-E4E5-42AE-8EEE-2E30D92723F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71460EE-6383-E250-43ED-EBA3CBDF757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3EEF51B-2563-F707-D48D-793DD075209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12109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9B994-CBA5-3B06-8AB7-FF30F3D44EC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31AF952-1234-75A3-95FC-AA5D40D479A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9B4A36E-7301-568B-9B04-1ECBD409D13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25939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7031E-C4A7-0153-A296-B2E9197C9C2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DB32D80-BD8F-9659-D40B-41F88512F60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31776EF-A05C-F7AD-5C09-3C9D6A71BC7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9442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5425-3537-8889-BC7B-F5CB3EB4916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FFB2876-7C44-89DD-D417-F3445AB07C6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565F460-BF2B-530E-FDED-03C52FB38EC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4351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FF3F-B804-C3D7-1366-3D7C2F09950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40818ED-BD52-04DE-A682-DCDBDCA7157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B5395B7-44A5-BA95-26B8-CDBE48902B6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80031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C4DF7-CF8F-D917-C895-C8912B94741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F314950-7DD5-FBDE-ECB9-FE394C1D85CE}"/>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882893C-BB38-AB3A-96CC-B560B6231F1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155804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2944-3E3C-1A97-6803-25ABF0FD353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E12B84C-5641-1B1F-B8D4-DBEA7348E52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8065ADF-F7EA-5ABA-5729-1AB295F8051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377621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0190-7AFB-210B-4B8B-B3A5C8ED5B7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55810A4-5F3A-1EA1-BB68-604838EA83A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63DCBEF-CCF1-23D8-F1F9-8B1D618FADA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30741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0162F-815C-3A57-7415-08DDECFFFEC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15C523F-1F39-3F79-62BF-E31BAA5EF93E}"/>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A7F7B91D-497C-C19B-B250-647548E0B54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6229417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B142-67AE-53AD-4115-1C7A9E57868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4E260E8-0C39-7EAD-F649-6E63B140998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CB21169-6D0B-3024-6173-E0FF076EC47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0170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B6973-F558-0A12-B279-B5AFC65D61E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7ED03D8-B557-839F-B1F1-B5E599AE625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5450ADA-A5A1-3433-2F34-2FDACF622417}"/>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833757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3921-5E4A-029E-0196-916689590B2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D66C3C7-4288-CFA0-2EEC-20B5BC97FB2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88CFB8A-6C91-6F03-E0F3-8B3A52E2824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72057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A9666-C7F7-0365-EC43-038F11B81BB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A8AF68F-3755-90F6-F3D1-3B6D561F61C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B61A847-9925-BF98-92DF-F8767847AB4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973570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6A41F-A5DA-5FA5-2A4E-D865B21F6E4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D07368D-CDD4-FEAE-D8AD-01BF8FEA8E4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0AED8D1-4B1F-C679-2B31-E1F88330126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59547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C1260-454B-128B-FC86-2F8B4308693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4667259-104A-1728-CB84-785436AAAFE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E4219E2-5A16-BC75-E21D-3CD26893605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86819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69B7C-BC2F-7421-6883-B00FD5B1C54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4BA2CF5-6A63-66F8-D669-3F1164D8931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AF71CF7D-EC04-5A90-E97F-E21130D4A1B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27989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EADB9-CE7E-BCA2-EB42-78B038476F0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09DEF86-0190-6B2F-75B5-E3DAB9562BB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BA37697-5428-DD4D-9C35-2D4EA08A1D9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155873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5734A-45CB-E9C2-BF0F-1CBD3705F49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7C927FC-4CC5-AAAB-07DA-4C8C99B1F1F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EF396F3-B394-D464-0DD1-D68695B8B6F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60024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BC90D-B90E-C4BE-9278-43110EA734A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EF8EE90-765B-1A83-5117-FDBA0E4CCCD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B13909E-8BDE-5BC3-B1F1-A76032DD9B6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757950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79D18-C5C8-464B-35CC-BBFD387F280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FCD4F37-CA4E-F5CB-90F9-6B5D8B78B55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610D2E-F750-C0E9-5A08-427D5B106515}"/>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918025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EA6FA-2B62-05AD-17CB-7B39CB7A082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EBD4AEF-3DCF-05AF-202F-F172FA8EBB0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ACCAAF0-F19F-7AA8-BC88-E8978DBD9453}"/>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20500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75293-CB3D-2632-106B-CD5A64509D2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4638C22-869A-C2B8-5E59-CF27A44BB3C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A7C1C537-D911-5A4B-4580-A0DDAEACC9F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1983588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A2D9D-33C4-EDEE-EF08-2A566FB613E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65D011F-C280-2B80-2815-F15AAE8459B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0EB32FC-D057-3CCB-0CCC-1CC5F90342E5}"/>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34512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7BC4E-9B89-874A-FB10-9B254766F51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3A3374F-12ED-69B9-930E-7FD72B132B7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7A2326F-CB2C-2A68-B2C0-55F4B08E9D67}"/>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18574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178C4-FA86-3299-713A-235AC6EB120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3C0D713-B6A9-BCCF-5AA3-8B278B7C4E1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008DEB97-12F4-68FE-17BC-2C80C818F3B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887689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25E1A-3A90-4C40-127A-30B4CCEF406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BB96406-D17E-0FCC-EE83-076BFEB7010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CC5A069-99DB-4C50-4C90-E4B7F85B68E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0239588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7CEBA-0DEB-0A7D-0F85-1B46DEC65D8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423B304-00FF-25AF-0981-94EE361F335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B818E9A-21E4-CD2F-A2DC-63AE94B31F4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8927951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CEDB3-D9DD-D261-51D4-632C52994B3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1E726D0-F080-7600-5FEE-4DF3759DCE2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45813B-F452-D252-8797-9FEF7B51005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052799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9D6C5-ACDE-A55B-729C-9B3F0265837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3701BB-0E2B-3583-55C1-9D843C57812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1D9932F-C81F-3B7F-0807-621B1B338BB5}"/>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010205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883BD-99D4-23E2-A163-994AAACD2C5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72EF2BE-7AC3-7410-E543-109BAE4DA560}"/>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083EFA3-824F-DEBD-33F6-C219584E1CD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78539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4380"/>
            <a:fld id="{73303AEE-F764-0E46-AFB6-085D8FECA2EE}" type="slidenum">
              <a:rPr lang="en-US">
                <a:solidFill>
                  <a:srgbClr val="000000"/>
                </a:solidFill>
              </a:rPr>
              <a:pPr defTabSz="914380"/>
              <a:t>40</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3/6/2026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3/6/2026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3/6/2026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3/6/2026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3/6/2026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3/6/2026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3/6/2026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3/6/2026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3/6/2026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3/6/2026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3/6/2026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334000" y="2514600"/>
            <a:ext cx="3238583" cy="1074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Time value of money</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7</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lang="en-GB" sz="2000" b="1" dirty="0">
                <a:solidFill>
                  <a:srgbClr val="28287A"/>
                </a:solidFill>
                <a:latin typeface="+mn-lt"/>
                <a:ea typeface="+mn-ea"/>
                <a:cs typeface="Arial" charset="0"/>
              </a:rPr>
              <a:t>Slides by </a:t>
            </a: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Prof C </a:t>
            </a:r>
            <a:r>
              <a:rPr kumimoji="0" lang="en-GB" sz="2000" b="1" i="0" u="none" strike="noStrike" kern="1200" cap="none" spc="0" normalizeH="0" baseline="0" noProof="0" dirty="0" err="1">
                <a:ln>
                  <a:noFill/>
                </a:ln>
                <a:solidFill>
                  <a:srgbClr val="28287A"/>
                </a:solidFill>
                <a:effectLst/>
                <a:uLnTx/>
                <a:uFillTx/>
                <a:latin typeface="Tahoma"/>
                <a:ea typeface="ＭＳ Ｐゴシック"/>
                <a:cs typeface="Arial" charset="0"/>
              </a:rPr>
              <a:t>Rootman</a:t>
            </a: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 Dr S Watson, Ms E Kobese </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&amp; Ms N </a:t>
            </a:r>
            <a:r>
              <a:rPr kumimoji="0" lang="en-GB" sz="2000" b="1" i="0" u="none" strike="noStrike" kern="1200" cap="none" spc="0" normalizeH="0" baseline="0" noProof="0" dirty="0" err="1">
                <a:ln>
                  <a:noFill/>
                </a:ln>
                <a:solidFill>
                  <a:srgbClr val="28287A"/>
                </a:solidFill>
                <a:effectLst/>
                <a:uLnTx/>
                <a:uFillTx/>
                <a:latin typeface="Tahoma"/>
                <a:ea typeface="ＭＳ Ｐゴシック"/>
                <a:cs typeface="Arial" charset="0"/>
              </a:rPr>
              <a:t>Maliwa</a:t>
            </a:r>
            <a:endPar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endParaRPr>
          </a:p>
        </p:txBody>
      </p:sp>
    </p:spTree>
    <p:extLst>
      <p:ext uri="{BB962C8B-B14F-4D97-AF65-F5344CB8AC3E}">
        <p14:creationId xmlns:p14="http://schemas.microsoft.com/office/powerpoint/2010/main" val="10671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7</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pPr>
            <a:r>
              <a:rPr lang="en-ZA" sz="2400" dirty="0"/>
              <a:t>the future value of a single amount</a:t>
            </a:r>
          </a:p>
          <a:p>
            <a:pPr marL="342900" lvl="0" indent="-342900" algn="just">
              <a:buFont typeface="Symbol" panose="05050102010706020507" pitchFamily="18" charset="2"/>
              <a:buChar char=""/>
            </a:pPr>
            <a:r>
              <a:rPr lang="en-ZA" sz="2400" dirty="0"/>
              <a:t>the future value of an annuity</a:t>
            </a:r>
          </a:p>
          <a:p>
            <a:pPr marL="342900" lvl="0" indent="-342900" algn="just">
              <a:buFont typeface="Symbol" panose="05050102010706020507" pitchFamily="18" charset="2"/>
              <a:buChar char=""/>
            </a:pPr>
            <a:r>
              <a:rPr lang="en-ZA" sz="2400" dirty="0"/>
              <a:t>the present value of a single amount</a:t>
            </a:r>
          </a:p>
          <a:p>
            <a:pPr marL="342900" lvl="0" indent="-342900" algn="just">
              <a:buFont typeface="Symbol" panose="05050102010706020507" pitchFamily="18" charset="2"/>
              <a:buChar char=""/>
            </a:pPr>
            <a:r>
              <a:rPr lang="en-ZA" sz="2400" dirty="0"/>
              <a:t>the present value of a mixed stream of cash flows</a:t>
            </a:r>
          </a:p>
          <a:p>
            <a:pPr marL="342900" lvl="0" indent="-342900" algn="just">
              <a:buFont typeface="Symbol" panose="05050102010706020507" pitchFamily="18" charset="2"/>
              <a:buChar char=""/>
            </a:pPr>
            <a:r>
              <a:rPr lang="en-ZA" sz="2400" dirty="0"/>
              <a:t>the present value of an annuity</a:t>
            </a:r>
          </a:p>
          <a:p>
            <a:pPr marL="342900" lvl="0" indent="-342900" algn="just">
              <a:buFont typeface="Symbol" panose="05050102010706020507" pitchFamily="18" charset="2"/>
              <a:buChar char=""/>
            </a:pPr>
            <a:r>
              <a:rPr lang="en-ZA" sz="2400" dirty="0"/>
              <a:t>the present value of a perpetuity</a:t>
            </a:r>
          </a:p>
          <a:p>
            <a:pPr marL="342900" lvl="0" indent="-342900" algn="just">
              <a:buFont typeface="Symbol" panose="05050102010706020507" pitchFamily="18" charset="2"/>
              <a:buChar char=""/>
            </a:pPr>
            <a:r>
              <a:rPr lang="en-ZA" sz="2400" dirty="0"/>
              <a:t>the present value of a growing perpetuity</a:t>
            </a:r>
          </a:p>
          <a:p>
            <a:pPr marL="342900" lvl="0" indent="-342900" algn="just">
              <a:buFont typeface="Symbol" panose="05050102010706020507" pitchFamily="18" charset="2"/>
              <a:buChar char=""/>
            </a:pPr>
            <a:r>
              <a:rPr lang="en-ZA" sz="2400" dirty="0"/>
              <a:t>the deposits required to accumulate a future sum</a:t>
            </a:r>
          </a:p>
          <a:p>
            <a:pPr marL="342900" lvl="0" indent="-342900" algn="just">
              <a:buFont typeface="Symbol" panose="05050102010706020507" pitchFamily="18" charset="2"/>
              <a:buChar char=""/>
            </a:pPr>
            <a:r>
              <a:rPr lang="en-ZA" sz="2400" dirty="0"/>
              <a:t>the instalments required to amortise a loan</a:t>
            </a:r>
          </a:p>
          <a:p>
            <a:pPr marL="342900" lvl="0" indent="-342900" algn="just">
              <a:buFont typeface="Symbol" panose="05050102010706020507" pitchFamily="18" charset="2"/>
              <a:buChar char=""/>
            </a:pPr>
            <a:r>
              <a:rPr lang="en-ZA" sz="2400" dirty="0"/>
              <a:t>growth rates</a:t>
            </a:r>
          </a:p>
          <a:p>
            <a:pPr marL="342900" lvl="0" indent="-342900" algn="just">
              <a:buFont typeface="Symbol" panose="05050102010706020507" pitchFamily="18" charset="2"/>
              <a:buChar char=""/>
            </a:pPr>
            <a:r>
              <a:rPr lang="en-ZA" sz="2400" dirty="0"/>
              <a:t>effective interest rates.</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Main objective – increase S/H wealth by increasing value of firm</a:t>
            </a:r>
          </a:p>
          <a:p>
            <a:pPr>
              <a:lnSpc>
                <a:spcPct val="105000"/>
              </a:lnSpc>
              <a:buSzPct val="100000"/>
              <a:buFont typeface="Arial" panose="020B0604020202020204" pitchFamily="34" charset="0"/>
              <a:buChar char="•"/>
            </a:pPr>
            <a:r>
              <a:rPr lang="en-US" sz="2400" dirty="0">
                <a:solidFill>
                  <a:prstClr val="black"/>
                </a:solidFill>
                <a:latin typeface="+mj-lt"/>
                <a:ea typeface="ＭＳ Ｐゴシック"/>
              </a:rPr>
              <a:t>Invest in assets earning return &gt; cost of capital</a:t>
            </a:r>
          </a:p>
          <a:p>
            <a:pPr>
              <a:lnSpc>
                <a:spcPct val="105000"/>
              </a:lnSpc>
              <a:buSzPct val="100000"/>
              <a:buFont typeface="Arial" panose="020B0604020202020204" pitchFamily="34" charset="0"/>
              <a:buChar char="•"/>
            </a:pPr>
            <a:r>
              <a:rPr lang="en-US" sz="2400" dirty="0">
                <a:solidFill>
                  <a:prstClr val="black"/>
                </a:solidFill>
                <a:latin typeface="+mj-lt"/>
                <a:ea typeface="ＭＳ Ｐゴシック"/>
              </a:rPr>
              <a:t>Timing of investment in funds (cash outflows) ≠ returned earned (cash inflows)</a:t>
            </a:r>
          </a:p>
          <a:p>
            <a:pPr marL="717550">
              <a:lnSpc>
                <a:spcPct val="105000"/>
              </a:lnSpc>
              <a:buSzPct val="100000"/>
              <a:buFont typeface="Wingdings" panose="05000000000000000000" pitchFamily="2" charset="2"/>
              <a:buChar char="§"/>
            </a:pPr>
            <a:r>
              <a:rPr lang="en-US" sz="2400" dirty="0">
                <a:solidFill>
                  <a:prstClr val="black"/>
                </a:solidFill>
                <a:latin typeface="+mj-lt"/>
                <a:ea typeface="ＭＳ Ｐゴシック"/>
              </a:rPr>
              <a:t>Rand value today worth more than at some future point in time … time value of money (TVM)</a:t>
            </a:r>
          </a:p>
          <a:p>
            <a:pPr marL="717550">
              <a:lnSpc>
                <a:spcPct val="105000"/>
              </a:lnSpc>
              <a:buSzPct val="100000"/>
              <a:buFont typeface="Wingdings" panose="05000000000000000000" pitchFamily="2" charset="2"/>
              <a:buChar char="§"/>
            </a:pPr>
            <a:r>
              <a:rPr lang="en-US" sz="2400" dirty="0">
                <a:solidFill>
                  <a:prstClr val="black"/>
                </a:solidFill>
                <a:latin typeface="+mj-lt"/>
                <a:ea typeface="ＭＳ Ｐゴシック"/>
              </a:rPr>
              <a:t>Money invested today earn interest (dividend or capital gain) and interest (dividend or CG) can be reinvested …</a:t>
            </a:r>
          </a:p>
          <a:p>
            <a:pPr>
              <a:lnSpc>
                <a:spcPct val="105000"/>
              </a:lnSpc>
              <a:buSzPct val="100000"/>
              <a:buFont typeface="Arial" panose="020B0604020202020204" pitchFamily="34" charset="0"/>
              <a:buChar char="•"/>
            </a:pPr>
            <a:r>
              <a:rPr lang="en-US" sz="2400" dirty="0">
                <a:solidFill>
                  <a:prstClr val="black"/>
                </a:solidFill>
                <a:latin typeface="+mj-lt"/>
                <a:ea typeface="ＭＳ Ｐゴシック"/>
              </a:rPr>
              <a:t>TVM ≠ decrease in purchasing power (known as inflation)</a:t>
            </a:r>
            <a:endParaRPr lang="en-US" sz="2400" dirty="0">
              <a:solidFill>
                <a:prstClr val="black"/>
              </a:solidFill>
              <a:ea typeface="ＭＳ Ｐゴシック"/>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E40687-BFE8-54E7-DDDC-ACCA77E91F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9DA4652-4A70-C93B-A2FA-4EEBF6FE59CC}"/>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a:t>
            </a:r>
          </a:p>
        </p:txBody>
      </p:sp>
      <p:sp>
        <p:nvSpPr>
          <p:cNvPr id="3" name="Slide Number Placeholder 2">
            <a:extLst>
              <a:ext uri="{FF2B5EF4-FFF2-40B4-BE49-F238E27FC236}">
                <a16:creationId xmlns:a16="http://schemas.microsoft.com/office/drawing/2014/main" id="{07259366-BAA3-1640-6A19-C6498098FE9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
        <p:nvSpPr>
          <p:cNvPr id="4" name="Rectangle 5">
            <a:extLst>
              <a:ext uri="{FF2B5EF4-FFF2-40B4-BE49-F238E27FC236}">
                <a16:creationId xmlns:a16="http://schemas.microsoft.com/office/drawing/2014/main" id="{20255557-EFE5-5ADF-882C-341C487842FD}"/>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Calculation of interest on present amount (PV) to result in some future amount (FV)</a:t>
            </a:r>
          </a:p>
          <a:p>
            <a:pPr marL="717550" algn="just">
              <a:lnSpc>
                <a:spcPct val="105000"/>
              </a:lnSpc>
              <a:buSzPct val="100000"/>
              <a:buFont typeface="Wingdings" panose="05000000000000000000" pitchFamily="2" charset="2"/>
              <a:buChar char="§"/>
            </a:pPr>
            <a:r>
              <a:rPr lang="en-US" sz="2400" b="1" dirty="0">
                <a:solidFill>
                  <a:srgbClr val="C00000"/>
                </a:solidFill>
                <a:latin typeface="+mj-lt"/>
              </a:rPr>
              <a:t>Compounding</a:t>
            </a:r>
            <a:r>
              <a:rPr lang="en-US" sz="2400" dirty="0">
                <a:latin typeface="+mj-lt"/>
              </a:rPr>
              <a:t> –  to compute FV of amount by pushing forward current amount by adding interest for each period in which money can earn interest in future</a:t>
            </a:r>
          </a:p>
          <a:p>
            <a:pPr marL="717550" algn="just">
              <a:lnSpc>
                <a:spcPct val="105000"/>
              </a:lnSpc>
              <a:buSzPct val="100000"/>
              <a:buFont typeface="Wingdings" panose="05000000000000000000" pitchFamily="2" charset="2"/>
              <a:buChar char="§"/>
            </a:pPr>
            <a:r>
              <a:rPr lang="en-US" sz="2400" dirty="0">
                <a:latin typeface="+mj-lt"/>
              </a:rPr>
              <a:t>Methods</a:t>
            </a:r>
          </a:p>
          <a:p>
            <a:pPr marL="1076325">
              <a:lnSpc>
                <a:spcPct val="105000"/>
              </a:lnSpc>
              <a:buSzPct val="100000"/>
              <a:buFont typeface="Wingdings" panose="05000000000000000000" pitchFamily="2" charset="2"/>
              <a:buChar char="§"/>
            </a:pPr>
            <a:r>
              <a:rPr lang="en-US" sz="2400" dirty="0">
                <a:latin typeface="+mj-lt"/>
              </a:rPr>
              <a:t>Equation</a:t>
            </a:r>
          </a:p>
          <a:p>
            <a:pPr marL="1076325">
              <a:lnSpc>
                <a:spcPct val="105000"/>
              </a:lnSpc>
              <a:buSzPct val="100000"/>
              <a:buFont typeface="Wingdings" panose="05000000000000000000" pitchFamily="2" charset="2"/>
              <a:buChar char="§"/>
            </a:pPr>
            <a:r>
              <a:rPr lang="en-US" sz="2400" dirty="0">
                <a:latin typeface="+mj-lt"/>
              </a:rPr>
              <a:t>Interest tables</a:t>
            </a:r>
          </a:p>
          <a:p>
            <a:pPr marL="1076325">
              <a:lnSpc>
                <a:spcPct val="105000"/>
              </a:lnSpc>
              <a:buSzPct val="100000"/>
              <a:buFont typeface="Wingdings" panose="05000000000000000000" pitchFamily="2" charset="2"/>
              <a:buChar char="§"/>
            </a:pPr>
            <a:r>
              <a:rPr lang="en-US" sz="2400" b="1" dirty="0">
                <a:solidFill>
                  <a:srgbClr val="C00000"/>
                </a:solidFill>
                <a:latin typeface="+mj-lt"/>
              </a:rPr>
              <a:t>Financial calculator</a:t>
            </a:r>
          </a:p>
          <a:p>
            <a:pPr>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98334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46E9BB-1E33-8AA4-BB5D-BFA4878B762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6BB7AA8-26DA-B434-CB91-4BE49A4EE621}"/>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AEA0B681-4345-861F-657E-74801F82E2F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
        <p:nvSpPr>
          <p:cNvPr id="4" name="Rectangle 5">
            <a:extLst>
              <a:ext uri="{FF2B5EF4-FFF2-40B4-BE49-F238E27FC236}">
                <a16:creationId xmlns:a16="http://schemas.microsoft.com/office/drawing/2014/main" id="{1B7A05D4-F0BE-11EB-94B5-AC11CA3F6B62}"/>
              </a:ext>
            </a:extLst>
          </p:cNvPr>
          <p:cNvSpPr>
            <a:spLocks noGrp="1" noChangeArrowheads="1"/>
          </p:cNvSpPr>
          <p:nvPr>
            <p:ph idx="1"/>
          </p:nvPr>
        </p:nvSpPr>
        <p:spPr>
          <a:xfrm>
            <a:off x="270658" y="990600"/>
            <a:ext cx="8655424" cy="5247290"/>
          </a:xfrm>
        </p:spPr>
        <p:txBody>
          <a:bodyPr/>
          <a:lstStyle/>
          <a:p>
            <a:pPr>
              <a:lnSpc>
                <a:spcPct val="100000"/>
              </a:lnSpc>
              <a:spcBef>
                <a:spcPts val="0"/>
              </a:spcBef>
              <a:spcAft>
                <a:spcPts val="300"/>
              </a:spcAft>
              <a:buSzPct val="100000"/>
              <a:buFont typeface="Arial" panose="020B0604020202020204" pitchFamily="34" charset="0"/>
              <a:buChar char="•"/>
            </a:pPr>
            <a:r>
              <a:rPr lang="en-US" sz="2400" dirty="0">
                <a:latin typeface="+mj-lt"/>
              </a:rPr>
              <a:t>Interest calculation</a:t>
            </a:r>
          </a:p>
          <a:p>
            <a:pPr marL="717550">
              <a:lnSpc>
                <a:spcPct val="100000"/>
              </a:lnSpc>
              <a:spcBef>
                <a:spcPts val="0"/>
              </a:spcBef>
              <a:spcAft>
                <a:spcPts val="300"/>
              </a:spcAft>
              <a:buSzPct val="100000"/>
              <a:buFont typeface="Wingdings" panose="05000000000000000000" pitchFamily="2" charset="2"/>
              <a:buChar char="§"/>
            </a:pPr>
            <a:r>
              <a:rPr lang="en-US" sz="2400" dirty="0">
                <a:latin typeface="+mj-lt"/>
              </a:rPr>
              <a:t>Annual compounding</a:t>
            </a:r>
          </a:p>
          <a:p>
            <a:pPr marL="717550">
              <a:lnSpc>
                <a:spcPct val="100000"/>
              </a:lnSpc>
              <a:spcBef>
                <a:spcPts val="0"/>
              </a:spcBef>
              <a:spcAft>
                <a:spcPts val="300"/>
              </a:spcAft>
              <a:buSzPct val="100000"/>
              <a:buFont typeface="Wingdings" panose="05000000000000000000" pitchFamily="2" charset="2"/>
              <a:buChar char="§"/>
            </a:pPr>
            <a:r>
              <a:rPr lang="en-US" sz="2400" dirty="0">
                <a:latin typeface="+mj-lt"/>
              </a:rPr>
              <a:t>Intra-year compounding</a:t>
            </a:r>
          </a:p>
          <a:p>
            <a:pPr marL="1076325">
              <a:lnSpc>
                <a:spcPct val="100000"/>
              </a:lnSpc>
              <a:spcBef>
                <a:spcPts val="0"/>
              </a:spcBef>
              <a:spcAft>
                <a:spcPts val="300"/>
              </a:spcAft>
              <a:buSzPct val="100000"/>
              <a:buFont typeface="Wingdings" panose="05000000000000000000" pitchFamily="2" charset="2"/>
              <a:buChar char="§"/>
            </a:pPr>
            <a:r>
              <a:rPr lang="en-US" sz="2400" dirty="0">
                <a:latin typeface="+mj-lt"/>
              </a:rPr>
              <a:t>Semi-annually (2x – 2 six-month’s period in 1 year)</a:t>
            </a:r>
          </a:p>
          <a:p>
            <a:pPr marL="1076325">
              <a:lnSpc>
                <a:spcPct val="100000"/>
              </a:lnSpc>
              <a:spcBef>
                <a:spcPts val="0"/>
              </a:spcBef>
              <a:spcAft>
                <a:spcPts val="300"/>
              </a:spcAft>
              <a:buSzPct val="100000"/>
              <a:buFont typeface="Wingdings" panose="05000000000000000000" pitchFamily="2" charset="2"/>
              <a:buChar char="§"/>
            </a:pPr>
            <a:r>
              <a:rPr lang="en-US" sz="2400" dirty="0">
                <a:latin typeface="+mj-lt"/>
              </a:rPr>
              <a:t>Quarterly (4x – 4 3-month’s periods in 1 year)</a:t>
            </a:r>
          </a:p>
          <a:p>
            <a:pPr marL="1076325">
              <a:lnSpc>
                <a:spcPct val="100000"/>
              </a:lnSpc>
              <a:spcBef>
                <a:spcPts val="0"/>
              </a:spcBef>
              <a:spcAft>
                <a:spcPts val="300"/>
              </a:spcAft>
              <a:buSzPct val="100000"/>
              <a:buFont typeface="Wingdings" panose="05000000000000000000" pitchFamily="2" charset="2"/>
              <a:buChar char="§"/>
            </a:pPr>
            <a:r>
              <a:rPr lang="en-US" sz="2400" dirty="0">
                <a:latin typeface="+mj-lt"/>
              </a:rPr>
              <a:t>Daily (365x – 365 days in 1 year)</a:t>
            </a:r>
          </a:p>
          <a:p>
            <a:pPr marL="717550">
              <a:lnSpc>
                <a:spcPct val="100000"/>
              </a:lnSpc>
              <a:spcBef>
                <a:spcPts val="0"/>
              </a:spcBef>
              <a:spcAft>
                <a:spcPts val="300"/>
              </a:spcAft>
              <a:buSzPct val="100000"/>
              <a:buFont typeface="Wingdings" panose="05000000000000000000" pitchFamily="2" charset="2"/>
              <a:buChar char="§"/>
            </a:pPr>
            <a:r>
              <a:rPr lang="en-US" sz="2400" dirty="0">
                <a:latin typeface="+mj-lt"/>
              </a:rPr>
              <a:t>Finding FV of annuity</a:t>
            </a:r>
          </a:p>
          <a:p>
            <a:pPr>
              <a:lnSpc>
                <a:spcPct val="100000"/>
              </a:lnSpc>
              <a:spcBef>
                <a:spcPts val="0"/>
              </a:spcBef>
              <a:spcAft>
                <a:spcPts val="300"/>
              </a:spcAft>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42897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304CA2-08C0-6B9B-AB41-9FE1BEAC425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CC7F8BC-B2A9-CFA9-7D21-807CC0FAE414}"/>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DC362EB9-4C79-51FF-CDEF-4931F8477D5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
        <p:nvSpPr>
          <p:cNvPr id="4" name="Rectangle 5">
            <a:extLst>
              <a:ext uri="{FF2B5EF4-FFF2-40B4-BE49-F238E27FC236}">
                <a16:creationId xmlns:a16="http://schemas.microsoft.com/office/drawing/2014/main" id="{943B3BAF-05C7-958C-7268-5CF1783CE46A}"/>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Annual compounding</a:t>
            </a:r>
          </a:p>
          <a:p>
            <a:pPr>
              <a:lnSpc>
                <a:spcPct val="105000"/>
              </a:lnSpc>
              <a:buSzPct val="100000"/>
              <a:buFont typeface="Arial" panose="020B0604020202020204" pitchFamily="34" charset="0"/>
              <a:buChar char="•"/>
            </a:pPr>
            <a:r>
              <a:rPr lang="en-US" sz="2400" dirty="0">
                <a:latin typeface="+mj-lt"/>
              </a:rPr>
              <a:t>Example: An investor placed R1 000 in a debenture paying 10% interest compounded annually. What is the value after one year? Two years?</a:t>
            </a:r>
          </a:p>
        </p:txBody>
      </p:sp>
      <p:pic>
        <p:nvPicPr>
          <p:cNvPr id="5" name="Picture 4">
            <a:extLst>
              <a:ext uri="{FF2B5EF4-FFF2-40B4-BE49-F238E27FC236}">
                <a16:creationId xmlns:a16="http://schemas.microsoft.com/office/drawing/2014/main" id="{9B902F17-EB29-0F47-C6AB-A36188AC7070}"/>
              </a:ext>
            </a:extLst>
          </p:cNvPr>
          <p:cNvPicPr>
            <a:picLocks noChangeAspect="1"/>
          </p:cNvPicPr>
          <p:nvPr/>
        </p:nvPicPr>
        <p:blipFill>
          <a:blip r:embed="rId4"/>
          <a:stretch>
            <a:fillRect/>
          </a:stretch>
        </p:blipFill>
        <p:spPr>
          <a:xfrm>
            <a:off x="762000" y="3581400"/>
            <a:ext cx="3124200" cy="2209972"/>
          </a:xfrm>
          <a:prstGeom prst="rect">
            <a:avLst/>
          </a:prstGeom>
        </p:spPr>
      </p:pic>
      <p:pic>
        <p:nvPicPr>
          <p:cNvPr id="7" name="Picture 6">
            <a:extLst>
              <a:ext uri="{FF2B5EF4-FFF2-40B4-BE49-F238E27FC236}">
                <a16:creationId xmlns:a16="http://schemas.microsoft.com/office/drawing/2014/main" id="{9394EB96-109E-81F6-48ED-45B3EBA6052F}"/>
              </a:ext>
            </a:extLst>
          </p:cNvPr>
          <p:cNvPicPr>
            <a:picLocks noChangeAspect="1"/>
          </p:cNvPicPr>
          <p:nvPr/>
        </p:nvPicPr>
        <p:blipFill>
          <a:blip r:embed="rId5"/>
          <a:stretch>
            <a:fillRect/>
          </a:stretch>
        </p:blipFill>
        <p:spPr>
          <a:xfrm>
            <a:off x="5029200" y="2676888"/>
            <a:ext cx="3292013" cy="3266884"/>
          </a:xfrm>
          <a:prstGeom prst="rect">
            <a:avLst/>
          </a:prstGeom>
        </p:spPr>
      </p:pic>
      <p:sp>
        <p:nvSpPr>
          <p:cNvPr id="8" name="TextBox 7">
            <a:extLst>
              <a:ext uri="{FF2B5EF4-FFF2-40B4-BE49-F238E27FC236}">
                <a16:creationId xmlns:a16="http://schemas.microsoft.com/office/drawing/2014/main" id="{2357BD2B-9CF0-D789-F198-F540653E15C3}"/>
              </a:ext>
            </a:extLst>
          </p:cNvPr>
          <p:cNvSpPr txBox="1"/>
          <p:nvPr/>
        </p:nvSpPr>
        <p:spPr>
          <a:xfrm>
            <a:off x="1600200" y="3581400"/>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
        <p:nvSpPr>
          <p:cNvPr id="9" name="TextBox 8">
            <a:extLst>
              <a:ext uri="{FF2B5EF4-FFF2-40B4-BE49-F238E27FC236}">
                <a16:creationId xmlns:a16="http://schemas.microsoft.com/office/drawing/2014/main" id="{FD6E0067-9AA2-FFA3-E86B-26F35CAB3186}"/>
              </a:ext>
            </a:extLst>
          </p:cNvPr>
          <p:cNvSpPr txBox="1"/>
          <p:nvPr/>
        </p:nvSpPr>
        <p:spPr>
          <a:xfrm>
            <a:off x="5456006" y="3557200"/>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
        <p:nvSpPr>
          <p:cNvPr id="10" name="TextBox 9">
            <a:extLst>
              <a:ext uri="{FF2B5EF4-FFF2-40B4-BE49-F238E27FC236}">
                <a16:creationId xmlns:a16="http://schemas.microsoft.com/office/drawing/2014/main" id="{CD8C0AAC-D119-A1F9-8689-6C577720F537}"/>
              </a:ext>
            </a:extLst>
          </p:cNvPr>
          <p:cNvSpPr txBox="1"/>
          <p:nvPr/>
        </p:nvSpPr>
        <p:spPr>
          <a:xfrm>
            <a:off x="6786658" y="2421312"/>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Tree>
    <p:custDataLst>
      <p:tags r:id="rId1"/>
    </p:custDataLst>
    <p:extLst>
      <p:ext uri="{BB962C8B-B14F-4D97-AF65-F5344CB8AC3E}">
        <p14:creationId xmlns:p14="http://schemas.microsoft.com/office/powerpoint/2010/main" val="3338329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677C1C-01CD-7CD7-F817-010D44FD998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98BB9B4-8261-35AE-AA44-920DDE672CD9}"/>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1073C940-319F-8908-9AA5-E941429F694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
        <p:nvSpPr>
          <p:cNvPr id="4" name="Rectangle 5">
            <a:extLst>
              <a:ext uri="{FF2B5EF4-FFF2-40B4-BE49-F238E27FC236}">
                <a16:creationId xmlns:a16="http://schemas.microsoft.com/office/drawing/2014/main" id="{474CEC13-E606-7797-2A90-3040505F548D}"/>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Annual compounding (cont.)	</a:t>
            </a:r>
          </a:p>
          <a:p>
            <a:pPr marL="0" indent="0">
              <a:lnSpc>
                <a:spcPct val="105000"/>
              </a:lnSpc>
              <a:buSzPct val="100000"/>
              <a:buNone/>
            </a:pPr>
            <a:r>
              <a:rPr lang="en-US" sz="2400" dirty="0">
                <a:latin typeface="+mj-lt"/>
              </a:rPr>
              <a:t>	</a:t>
            </a:r>
            <a:r>
              <a:rPr lang="en-US" sz="2400" dirty="0" err="1">
                <a:latin typeface="+mj-lt"/>
              </a:rPr>
              <a:t>FV</a:t>
            </a:r>
            <a:r>
              <a:rPr lang="en-US" sz="2400" baseline="-25000" dirty="0" err="1">
                <a:latin typeface="+mj-lt"/>
              </a:rPr>
              <a:t>n</a:t>
            </a:r>
            <a:r>
              <a:rPr lang="en-US" sz="2400" dirty="0">
                <a:latin typeface="+mj-lt"/>
              </a:rPr>
              <a:t>	= PV</a:t>
            </a:r>
            <a:r>
              <a:rPr lang="en-US" sz="2400" dirty="0">
                <a:solidFill>
                  <a:srgbClr val="C00000"/>
                </a:solidFill>
                <a:latin typeface="+mj-lt"/>
              </a:rPr>
              <a:t>(1 + </a:t>
            </a:r>
            <a:r>
              <a:rPr lang="en-US" sz="2400" dirty="0" err="1">
                <a:solidFill>
                  <a:srgbClr val="C00000"/>
                </a:solidFill>
                <a:latin typeface="+mj-lt"/>
              </a:rPr>
              <a:t>i</a:t>
            </a:r>
            <a:r>
              <a:rPr lang="en-US" sz="2400" dirty="0">
                <a:solidFill>
                  <a:srgbClr val="C00000"/>
                </a:solidFill>
                <a:latin typeface="+mj-lt"/>
              </a:rPr>
              <a:t>)</a:t>
            </a:r>
            <a:r>
              <a:rPr lang="en-US" sz="2400" baseline="30000" dirty="0">
                <a:solidFill>
                  <a:srgbClr val="C00000"/>
                </a:solidFill>
                <a:latin typeface="+mj-lt"/>
              </a:rPr>
              <a:t>n</a:t>
            </a:r>
          </a:p>
          <a:p>
            <a:pPr marL="0" indent="0">
              <a:lnSpc>
                <a:spcPct val="105000"/>
              </a:lnSpc>
              <a:buSzPct val="100000"/>
              <a:buNone/>
            </a:pPr>
            <a:r>
              <a:rPr lang="en-US" sz="2400" dirty="0">
                <a:latin typeface="+mj-lt"/>
              </a:rPr>
              <a:t>		= 1 000 x (1 + 0.10)</a:t>
            </a:r>
            <a:r>
              <a:rPr lang="en-US" sz="2400" baseline="30000" dirty="0">
                <a:latin typeface="+mj-lt"/>
              </a:rPr>
              <a:t>1</a:t>
            </a:r>
          </a:p>
          <a:p>
            <a:pPr marL="0" indent="0">
              <a:lnSpc>
                <a:spcPct val="105000"/>
              </a:lnSpc>
              <a:buSzPct val="100000"/>
              <a:buNone/>
            </a:pPr>
            <a:r>
              <a:rPr lang="en-US" sz="2400" dirty="0">
                <a:latin typeface="+mj-lt"/>
              </a:rPr>
              <a:t>		= R1 100</a:t>
            </a:r>
          </a:p>
          <a:p>
            <a:pPr marL="0" indent="0">
              <a:lnSpc>
                <a:spcPct val="105000"/>
              </a:lnSpc>
              <a:buSzPct val="100000"/>
              <a:buNone/>
            </a:pPr>
            <a:endParaRPr lang="en-US" sz="1000" dirty="0">
              <a:latin typeface="+mj-lt"/>
            </a:endParaRPr>
          </a:p>
          <a:p>
            <a:pPr marL="0" indent="0">
              <a:lnSpc>
                <a:spcPct val="105000"/>
              </a:lnSpc>
              <a:buSzPct val="100000"/>
              <a:buNone/>
            </a:pPr>
            <a:r>
              <a:rPr lang="en-US" sz="2400" dirty="0">
                <a:latin typeface="+mj-lt"/>
              </a:rPr>
              <a:t>	</a:t>
            </a:r>
            <a:r>
              <a:rPr lang="en-US" sz="2400" dirty="0" err="1">
                <a:latin typeface="+mj-lt"/>
              </a:rPr>
              <a:t>FV</a:t>
            </a:r>
            <a:r>
              <a:rPr lang="en-US" sz="2400" baseline="-25000" dirty="0" err="1">
                <a:latin typeface="+mj-lt"/>
              </a:rPr>
              <a:t>n</a:t>
            </a:r>
            <a:r>
              <a:rPr lang="en-US" sz="2400" dirty="0">
                <a:latin typeface="+mj-lt"/>
              </a:rPr>
              <a:t>	future value after </a:t>
            </a:r>
            <a:r>
              <a:rPr lang="en-US" sz="2400" i="1" dirty="0">
                <a:latin typeface="+mj-lt"/>
              </a:rPr>
              <a:t>n</a:t>
            </a:r>
            <a:r>
              <a:rPr lang="en-US" sz="2400" dirty="0">
                <a:latin typeface="+mj-lt"/>
              </a:rPr>
              <a:t> periods</a:t>
            </a:r>
          </a:p>
          <a:p>
            <a:pPr marL="0" indent="0">
              <a:lnSpc>
                <a:spcPct val="105000"/>
              </a:lnSpc>
              <a:buSzPct val="100000"/>
              <a:buNone/>
            </a:pPr>
            <a:r>
              <a:rPr lang="en-US" sz="2400" dirty="0">
                <a:latin typeface="+mj-lt"/>
              </a:rPr>
              <a:t>	PV	present value</a:t>
            </a:r>
          </a:p>
          <a:p>
            <a:pPr marL="0" indent="0">
              <a:lnSpc>
                <a:spcPct val="105000"/>
              </a:lnSpc>
              <a:buSzPct val="100000"/>
              <a:buNone/>
            </a:pPr>
            <a:r>
              <a:rPr lang="en-US" sz="2400" dirty="0">
                <a:latin typeface="+mj-lt"/>
              </a:rPr>
              <a:t>	</a:t>
            </a:r>
            <a:r>
              <a:rPr lang="en-US" sz="2400" dirty="0" err="1">
                <a:latin typeface="+mj-lt"/>
              </a:rPr>
              <a:t>i</a:t>
            </a:r>
            <a:r>
              <a:rPr lang="en-US" sz="2400" dirty="0">
                <a:latin typeface="+mj-lt"/>
              </a:rPr>
              <a:t>	annual interest rate</a:t>
            </a:r>
          </a:p>
          <a:p>
            <a:pPr marL="0" indent="0">
              <a:lnSpc>
                <a:spcPct val="105000"/>
              </a:lnSpc>
              <a:buSzPct val="100000"/>
              <a:buNone/>
            </a:pPr>
            <a:r>
              <a:rPr lang="en-US" sz="2400" dirty="0">
                <a:latin typeface="+mj-lt"/>
              </a:rPr>
              <a:t>	n	number of period</a:t>
            </a:r>
            <a:endParaRPr lang="en-US" sz="2400" baseline="30000" dirty="0">
              <a:latin typeface="+mj-lt"/>
            </a:endParaRPr>
          </a:p>
          <a:p>
            <a:pPr marL="0" indent="0">
              <a:lnSpc>
                <a:spcPct val="105000"/>
              </a:lnSpc>
              <a:buSzPct val="100000"/>
              <a:buNone/>
            </a:pPr>
            <a:endParaRPr lang="en-US" sz="2400" dirty="0">
              <a:latin typeface="+mj-lt"/>
            </a:endParaRPr>
          </a:p>
        </p:txBody>
      </p:sp>
      <p:pic>
        <p:nvPicPr>
          <p:cNvPr id="5" name="Picture 4">
            <a:extLst>
              <a:ext uri="{FF2B5EF4-FFF2-40B4-BE49-F238E27FC236}">
                <a16:creationId xmlns:a16="http://schemas.microsoft.com/office/drawing/2014/main" id="{3A133A83-469C-834C-B7E5-9A233B850512}"/>
              </a:ext>
            </a:extLst>
          </p:cNvPr>
          <p:cNvPicPr>
            <a:picLocks noChangeAspect="1"/>
          </p:cNvPicPr>
          <p:nvPr/>
        </p:nvPicPr>
        <p:blipFill>
          <a:blip r:embed="rId4"/>
          <a:stretch>
            <a:fillRect/>
          </a:stretch>
        </p:blipFill>
        <p:spPr>
          <a:xfrm>
            <a:off x="5562600" y="832503"/>
            <a:ext cx="3124200" cy="2209972"/>
          </a:xfrm>
          <a:prstGeom prst="rect">
            <a:avLst/>
          </a:prstGeom>
        </p:spPr>
      </p:pic>
      <p:sp>
        <p:nvSpPr>
          <p:cNvPr id="2" name="Rectangle 1">
            <a:extLst>
              <a:ext uri="{FF2B5EF4-FFF2-40B4-BE49-F238E27FC236}">
                <a16:creationId xmlns:a16="http://schemas.microsoft.com/office/drawing/2014/main" id="{71125851-8644-C312-5BCA-1D0F99D0E096}"/>
              </a:ext>
            </a:extLst>
          </p:cNvPr>
          <p:cNvSpPr/>
          <p:nvPr/>
        </p:nvSpPr>
        <p:spPr bwMode="auto">
          <a:xfrm>
            <a:off x="1838504" y="55269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N</a:t>
            </a:r>
          </a:p>
        </p:txBody>
      </p:sp>
      <p:sp>
        <p:nvSpPr>
          <p:cNvPr id="6" name="Rectangle 5">
            <a:extLst>
              <a:ext uri="{FF2B5EF4-FFF2-40B4-BE49-F238E27FC236}">
                <a16:creationId xmlns:a16="http://schemas.microsoft.com/office/drawing/2014/main" id="{06C25E61-33A9-25C6-B7CC-30449818295D}"/>
              </a:ext>
            </a:extLst>
          </p:cNvPr>
          <p:cNvSpPr/>
          <p:nvPr/>
        </p:nvSpPr>
        <p:spPr bwMode="auto">
          <a:xfrm>
            <a:off x="3285088" y="55269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I/Y</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8" name="Rectangle 7">
            <a:extLst>
              <a:ext uri="{FF2B5EF4-FFF2-40B4-BE49-F238E27FC236}">
                <a16:creationId xmlns:a16="http://schemas.microsoft.com/office/drawing/2014/main" id="{959ED0ED-B124-6F67-BF2C-946120E5C576}"/>
              </a:ext>
            </a:extLst>
          </p:cNvPr>
          <p:cNvSpPr/>
          <p:nvPr/>
        </p:nvSpPr>
        <p:spPr bwMode="auto">
          <a:xfrm>
            <a:off x="4656688" y="55269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PV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9" name="Rectangle 8">
            <a:extLst>
              <a:ext uri="{FF2B5EF4-FFF2-40B4-BE49-F238E27FC236}">
                <a16:creationId xmlns:a16="http://schemas.microsoft.com/office/drawing/2014/main" id="{C09005C0-EFFA-E30F-D29D-3695FA594849}"/>
              </a:ext>
            </a:extLst>
          </p:cNvPr>
          <p:cNvSpPr/>
          <p:nvPr/>
        </p:nvSpPr>
        <p:spPr bwMode="auto">
          <a:xfrm>
            <a:off x="6028288" y="55269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PMT</a:t>
            </a:r>
          </a:p>
        </p:txBody>
      </p:sp>
      <p:sp>
        <p:nvSpPr>
          <p:cNvPr id="10" name="Rectangle 9">
            <a:extLst>
              <a:ext uri="{FF2B5EF4-FFF2-40B4-BE49-F238E27FC236}">
                <a16:creationId xmlns:a16="http://schemas.microsoft.com/office/drawing/2014/main" id="{3369B539-5EF2-033A-66D6-DD25E94E4C08}"/>
              </a:ext>
            </a:extLst>
          </p:cNvPr>
          <p:cNvSpPr/>
          <p:nvPr/>
        </p:nvSpPr>
        <p:spPr bwMode="auto">
          <a:xfrm>
            <a:off x="7399888" y="55269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FV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1" name="TextBox 10">
            <a:extLst>
              <a:ext uri="{FF2B5EF4-FFF2-40B4-BE49-F238E27FC236}">
                <a16:creationId xmlns:a16="http://schemas.microsoft.com/office/drawing/2014/main" id="{DCA380C7-6C3E-D298-502B-6DEB5FED4098}"/>
              </a:ext>
            </a:extLst>
          </p:cNvPr>
          <p:cNvSpPr txBox="1"/>
          <p:nvPr/>
        </p:nvSpPr>
        <p:spPr>
          <a:xfrm>
            <a:off x="764062" y="5181600"/>
            <a:ext cx="8083626" cy="369332"/>
          </a:xfrm>
          <a:prstGeom prst="rect">
            <a:avLst/>
          </a:prstGeom>
          <a:noFill/>
        </p:spPr>
        <p:txBody>
          <a:bodyPr wrap="square" rtlCol="0">
            <a:spAutoFit/>
          </a:bodyPr>
          <a:lstStyle/>
          <a:p>
            <a:pPr defTabSz="1350963">
              <a:tabLst>
                <a:tab pos="1435100" algn="l"/>
                <a:tab pos="2786063" algn="l"/>
              </a:tabLst>
            </a:pPr>
            <a:r>
              <a:rPr lang="en-ZA" sz="1800" dirty="0"/>
              <a:t>Inputs:	1	10              ±1 000	  0	  ?</a:t>
            </a:r>
          </a:p>
        </p:txBody>
      </p:sp>
      <p:sp>
        <p:nvSpPr>
          <p:cNvPr id="12" name="TextBox 11">
            <a:extLst>
              <a:ext uri="{FF2B5EF4-FFF2-40B4-BE49-F238E27FC236}">
                <a16:creationId xmlns:a16="http://schemas.microsoft.com/office/drawing/2014/main" id="{FCB5C052-76B9-5BD5-C61B-6F2CAF7ECC2C}"/>
              </a:ext>
            </a:extLst>
          </p:cNvPr>
          <p:cNvSpPr txBox="1"/>
          <p:nvPr/>
        </p:nvSpPr>
        <p:spPr>
          <a:xfrm>
            <a:off x="770488" y="6172200"/>
            <a:ext cx="8083626" cy="369332"/>
          </a:xfrm>
          <a:prstGeom prst="rect">
            <a:avLst/>
          </a:prstGeom>
          <a:noFill/>
        </p:spPr>
        <p:txBody>
          <a:bodyPr wrap="square" rtlCol="0">
            <a:spAutoFit/>
          </a:bodyPr>
          <a:lstStyle/>
          <a:p>
            <a:pPr defTabSz="1350963">
              <a:tabLst>
                <a:tab pos="1435100" algn="l"/>
                <a:tab pos="2786063" algn="l"/>
              </a:tabLst>
            </a:pPr>
            <a:r>
              <a:rPr lang="en-ZA" sz="1800" dirty="0"/>
              <a:t>Output:				                   = 1 100</a:t>
            </a:r>
          </a:p>
        </p:txBody>
      </p:sp>
      <p:sp>
        <p:nvSpPr>
          <p:cNvPr id="13" name="TextBox 12">
            <a:extLst>
              <a:ext uri="{FF2B5EF4-FFF2-40B4-BE49-F238E27FC236}">
                <a16:creationId xmlns:a16="http://schemas.microsoft.com/office/drawing/2014/main" id="{D3643245-8746-0846-F933-F257CC7178DA}"/>
              </a:ext>
            </a:extLst>
          </p:cNvPr>
          <p:cNvSpPr txBox="1"/>
          <p:nvPr/>
        </p:nvSpPr>
        <p:spPr>
          <a:xfrm>
            <a:off x="6705600" y="832503"/>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
        <p:nvSpPr>
          <p:cNvPr id="14" name="Speech Bubble: Oval 13">
            <a:extLst>
              <a:ext uri="{FF2B5EF4-FFF2-40B4-BE49-F238E27FC236}">
                <a16:creationId xmlns:a16="http://schemas.microsoft.com/office/drawing/2014/main" id="{F65B3167-BAA1-10C8-6909-22884BEBEEE3}"/>
              </a:ext>
            </a:extLst>
          </p:cNvPr>
          <p:cNvSpPr/>
          <p:nvPr/>
        </p:nvSpPr>
        <p:spPr bwMode="auto">
          <a:xfrm rot="2005427">
            <a:off x="4495426" y="340952"/>
            <a:ext cx="1778440" cy="1003757"/>
          </a:xfrm>
          <a:prstGeom prst="wedgeEllipseCallout">
            <a:avLst>
              <a:gd name="adj1" fmla="val -45983"/>
              <a:gd name="adj2" fmla="val 152820"/>
            </a:avLst>
          </a:prstGeom>
          <a:no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a:ln>
                  <a:noFill/>
                </a:ln>
                <a:solidFill>
                  <a:srgbClr val="C00000"/>
                </a:solidFill>
                <a:effectLst/>
                <a:latin typeface="+mj-lt"/>
                <a:ea typeface="ＭＳ Ｐゴシック" pitchFamily="1" charset="-128"/>
              </a:rPr>
              <a:t>Interest factor</a:t>
            </a:r>
            <a:endParaRPr kumimoji="0" lang="en-ZA" sz="2200" b="0" i="0" u="none" strike="noStrike" cap="none" normalizeH="0" baseline="0" dirty="0">
              <a:ln>
                <a:noFill/>
              </a:ln>
              <a:solidFill>
                <a:srgbClr val="C00000"/>
              </a:solidFill>
              <a:effectLst/>
              <a:latin typeface="+mj-lt"/>
              <a:ea typeface="ＭＳ Ｐゴシック" pitchFamily="1" charset="-128"/>
            </a:endParaRPr>
          </a:p>
        </p:txBody>
      </p:sp>
    </p:spTree>
    <p:custDataLst>
      <p:tags r:id="rId1"/>
    </p:custDataLst>
    <p:extLst>
      <p:ext uri="{BB962C8B-B14F-4D97-AF65-F5344CB8AC3E}">
        <p14:creationId xmlns:p14="http://schemas.microsoft.com/office/powerpoint/2010/main" val="743187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7B3E3A2-694E-126A-DC5B-40833B5FC9B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2B9346E-5127-B282-1024-EF9978F88460}"/>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2A5F38FE-BC78-7A59-65EA-14A946FDEB0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sp>
        <p:nvSpPr>
          <p:cNvPr id="4" name="Rectangle 5">
            <a:extLst>
              <a:ext uri="{FF2B5EF4-FFF2-40B4-BE49-F238E27FC236}">
                <a16:creationId xmlns:a16="http://schemas.microsoft.com/office/drawing/2014/main" id="{648EC2DC-438C-4C60-15F0-50087BE2E616}"/>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Annual compounding (cont.)	</a:t>
            </a:r>
          </a:p>
          <a:p>
            <a:pPr marL="0" indent="0">
              <a:lnSpc>
                <a:spcPct val="105000"/>
              </a:lnSpc>
              <a:buSzPct val="100000"/>
              <a:buNone/>
            </a:pPr>
            <a:r>
              <a:rPr lang="en-US" sz="2400" dirty="0">
                <a:latin typeface="+mj-lt"/>
              </a:rPr>
              <a:t>	</a:t>
            </a:r>
            <a:r>
              <a:rPr lang="en-US" sz="2400" dirty="0" err="1">
                <a:latin typeface="+mj-lt"/>
              </a:rPr>
              <a:t>FV</a:t>
            </a:r>
            <a:r>
              <a:rPr lang="en-US" sz="2400" baseline="-25000" dirty="0" err="1">
                <a:latin typeface="+mj-lt"/>
              </a:rPr>
              <a:t>n</a:t>
            </a:r>
            <a:r>
              <a:rPr lang="en-US" sz="2400" dirty="0">
                <a:latin typeface="+mj-lt"/>
              </a:rPr>
              <a:t>	=	PV(1 + </a:t>
            </a:r>
            <a:r>
              <a:rPr lang="en-US" sz="2400" dirty="0" err="1">
                <a:latin typeface="+mj-lt"/>
              </a:rPr>
              <a:t>i</a:t>
            </a:r>
            <a:r>
              <a:rPr lang="en-US" sz="2400" dirty="0">
                <a:latin typeface="+mj-lt"/>
              </a:rPr>
              <a:t>)</a:t>
            </a:r>
            <a:r>
              <a:rPr lang="en-US" sz="2400" baseline="30000" dirty="0">
                <a:latin typeface="+mj-lt"/>
              </a:rPr>
              <a:t>n</a:t>
            </a:r>
          </a:p>
          <a:p>
            <a:pPr marL="0" indent="0">
              <a:lnSpc>
                <a:spcPct val="105000"/>
              </a:lnSpc>
              <a:buSzPct val="100000"/>
              <a:buNone/>
            </a:pPr>
            <a:r>
              <a:rPr lang="en-US" sz="2400" dirty="0">
                <a:latin typeface="+mj-lt"/>
              </a:rPr>
              <a:t>		</a:t>
            </a:r>
          </a:p>
        </p:txBody>
      </p:sp>
      <p:pic>
        <p:nvPicPr>
          <p:cNvPr id="5" name="Picture 4">
            <a:extLst>
              <a:ext uri="{FF2B5EF4-FFF2-40B4-BE49-F238E27FC236}">
                <a16:creationId xmlns:a16="http://schemas.microsoft.com/office/drawing/2014/main" id="{EC4E9C4B-86C0-23E9-359D-C0F1F9C81378}"/>
              </a:ext>
            </a:extLst>
          </p:cNvPr>
          <p:cNvPicPr>
            <a:picLocks noChangeAspect="1"/>
          </p:cNvPicPr>
          <p:nvPr/>
        </p:nvPicPr>
        <p:blipFill>
          <a:blip r:embed="rId4"/>
          <a:stretch>
            <a:fillRect/>
          </a:stretch>
        </p:blipFill>
        <p:spPr>
          <a:xfrm>
            <a:off x="4572000" y="1521336"/>
            <a:ext cx="3124200" cy="2209972"/>
          </a:xfrm>
          <a:prstGeom prst="rect">
            <a:avLst/>
          </a:prstGeom>
        </p:spPr>
      </p:pic>
      <p:sp>
        <p:nvSpPr>
          <p:cNvPr id="2" name="Rectangle 1">
            <a:extLst>
              <a:ext uri="{FF2B5EF4-FFF2-40B4-BE49-F238E27FC236}">
                <a16:creationId xmlns:a16="http://schemas.microsoft.com/office/drawing/2014/main" id="{5B4FADD8-F54B-90F3-3B4C-96CFEA23BF81}"/>
              </a:ext>
            </a:extLst>
          </p:cNvPr>
          <p:cNvSpPr/>
          <p:nvPr/>
        </p:nvSpPr>
        <p:spPr bwMode="auto">
          <a:xfrm>
            <a:off x="1684042" y="4703781"/>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N</a:t>
            </a:r>
          </a:p>
        </p:txBody>
      </p:sp>
      <p:sp>
        <p:nvSpPr>
          <p:cNvPr id="6" name="Rectangle 5">
            <a:extLst>
              <a:ext uri="{FF2B5EF4-FFF2-40B4-BE49-F238E27FC236}">
                <a16:creationId xmlns:a16="http://schemas.microsoft.com/office/drawing/2014/main" id="{439C654E-9760-352C-72C3-2D93D0AF8B69}"/>
              </a:ext>
            </a:extLst>
          </p:cNvPr>
          <p:cNvSpPr/>
          <p:nvPr/>
        </p:nvSpPr>
        <p:spPr bwMode="auto">
          <a:xfrm>
            <a:off x="3130626" y="4703781"/>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I/Y</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7" name="Rectangle 6">
            <a:extLst>
              <a:ext uri="{FF2B5EF4-FFF2-40B4-BE49-F238E27FC236}">
                <a16:creationId xmlns:a16="http://schemas.microsoft.com/office/drawing/2014/main" id="{3CE32C0C-CA0B-DC1F-77BF-918CA7A1B233}"/>
              </a:ext>
            </a:extLst>
          </p:cNvPr>
          <p:cNvSpPr/>
          <p:nvPr/>
        </p:nvSpPr>
        <p:spPr bwMode="auto">
          <a:xfrm>
            <a:off x="4502226" y="4703781"/>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PV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8" name="Rectangle 7">
            <a:extLst>
              <a:ext uri="{FF2B5EF4-FFF2-40B4-BE49-F238E27FC236}">
                <a16:creationId xmlns:a16="http://schemas.microsoft.com/office/drawing/2014/main" id="{FC71325B-9AF2-EA5E-589B-808AB072B7F7}"/>
              </a:ext>
            </a:extLst>
          </p:cNvPr>
          <p:cNvSpPr/>
          <p:nvPr/>
        </p:nvSpPr>
        <p:spPr bwMode="auto">
          <a:xfrm>
            <a:off x="5873826" y="4703781"/>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PMT</a:t>
            </a:r>
          </a:p>
        </p:txBody>
      </p:sp>
      <p:sp>
        <p:nvSpPr>
          <p:cNvPr id="9" name="Rectangle 8">
            <a:extLst>
              <a:ext uri="{FF2B5EF4-FFF2-40B4-BE49-F238E27FC236}">
                <a16:creationId xmlns:a16="http://schemas.microsoft.com/office/drawing/2014/main" id="{577028C4-3F21-D945-0229-50A6A2E4E77F}"/>
              </a:ext>
            </a:extLst>
          </p:cNvPr>
          <p:cNvSpPr/>
          <p:nvPr/>
        </p:nvSpPr>
        <p:spPr bwMode="auto">
          <a:xfrm>
            <a:off x="7245426" y="4703781"/>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FV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0" name="TextBox 9">
            <a:extLst>
              <a:ext uri="{FF2B5EF4-FFF2-40B4-BE49-F238E27FC236}">
                <a16:creationId xmlns:a16="http://schemas.microsoft.com/office/drawing/2014/main" id="{B69C210F-385B-C8BC-09ED-1C6868948D88}"/>
              </a:ext>
            </a:extLst>
          </p:cNvPr>
          <p:cNvSpPr txBox="1"/>
          <p:nvPr/>
        </p:nvSpPr>
        <p:spPr>
          <a:xfrm>
            <a:off x="609600" y="4358445"/>
            <a:ext cx="8083626" cy="369332"/>
          </a:xfrm>
          <a:prstGeom prst="rect">
            <a:avLst/>
          </a:prstGeom>
          <a:noFill/>
        </p:spPr>
        <p:txBody>
          <a:bodyPr wrap="square" rtlCol="0">
            <a:spAutoFit/>
          </a:bodyPr>
          <a:lstStyle/>
          <a:p>
            <a:pPr defTabSz="1350963">
              <a:tabLst>
                <a:tab pos="1435100" algn="l"/>
                <a:tab pos="2786063" algn="l"/>
              </a:tabLst>
            </a:pPr>
            <a:r>
              <a:rPr lang="en-ZA" sz="1800" dirty="0"/>
              <a:t>Inputs:	1	10             ±1 000	  0	  ?</a:t>
            </a:r>
          </a:p>
        </p:txBody>
      </p:sp>
      <p:sp>
        <p:nvSpPr>
          <p:cNvPr id="11" name="TextBox 10">
            <a:extLst>
              <a:ext uri="{FF2B5EF4-FFF2-40B4-BE49-F238E27FC236}">
                <a16:creationId xmlns:a16="http://schemas.microsoft.com/office/drawing/2014/main" id="{4C890D1A-9A1F-259E-D1FA-EA890613DE60}"/>
              </a:ext>
            </a:extLst>
          </p:cNvPr>
          <p:cNvSpPr txBox="1"/>
          <p:nvPr/>
        </p:nvSpPr>
        <p:spPr>
          <a:xfrm>
            <a:off x="616026" y="5349045"/>
            <a:ext cx="8083626" cy="369332"/>
          </a:xfrm>
          <a:prstGeom prst="rect">
            <a:avLst/>
          </a:prstGeom>
          <a:noFill/>
        </p:spPr>
        <p:txBody>
          <a:bodyPr wrap="square" rtlCol="0">
            <a:spAutoFit/>
          </a:bodyPr>
          <a:lstStyle/>
          <a:p>
            <a:pPr defTabSz="1350963">
              <a:tabLst>
                <a:tab pos="1435100" algn="l"/>
                <a:tab pos="2786063" algn="l"/>
              </a:tabLst>
            </a:pPr>
            <a:r>
              <a:rPr lang="en-ZA" sz="1800" dirty="0"/>
              <a:t>Output:				                   = 1 100</a:t>
            </a:r>
          </a:p>
        </p:txBody>
      </p:sp>
      <p:sp>
        <p:nvSpPr>
          <p:cNvPr id="12" name="TextBox 11">
            <a:extLst>
              <a:ext uri="{FF2B5EF4-FFF2-40B4-BE49-F238E27FC236}">
                <a16:creationId xmlns:a16="http://schemas.microsoft.com/office/drawing/2014/main" id="{3851261E-56E4-687C-41A8-F6EA52F030D9}"/>
              </a:ext>
            </a:extLst>
          </p:cNvPr>
          <p:cNvSpPr txBox="1"/>
          <p:nvPr/>
        </p:nvSpPr>
        <p:spPr>
          <a:xfrm>
            <a:off x="5644010" y="1521336"/>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Tree>
    <p:custDataLst>
      <p:tags r:id="rId1"/>
    </p:custDataLst>
    <p:extLst>
      <p:ext uri="{BB962C8B-B14F-4D97-AF65-F5344CB8AC3E}">
        <p14:creationId xmlns:p14="http://schemas.microsoft.com/office/powerpoint/2010/main" val="3249275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52CFA2D-2635-622D-E91E-BAE9B0DF380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8D04118-1961-9B0F-7E75-0F2E8E026144}"/>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860755D9-0F7C-C331-6517-C98FEF3231E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sp>
        <p:nvSpPr>
          <p:cNvPr id="4" name="Rectangle 5">
            <a:extLst>
              <a:ext uri="{FF2B5EF4-FFF2-40B4-BE49-F238E27FC236}">
                <a16:creationId xmlns:a16="http://schemas.microsoft.com/office/drawing/2014/main" id="{A41C3E0A-0645-50CD-DC0D-1BD0702C6614}"/>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Annual compounding (cont.)	</a:t>
            </a:r>
          </a:p>
          <a:p>
            <a:pPr marL="0" indent="0">
              <a:lnSpc>
                <a:spcPct val="105000"/>
              </a:lnSpc>
              <a:buSzPct val="100000"/>
              <a:buNone/>
            </a:pPr>
            <a:r>
              <a:rPr lang="en-US" sz="2400" dirty="0">
                <a:latin typeface="+mj-lt"/>
              </a:rPr>
              <a:t>	</a:t>
            </a:r>
            <a:r>
              <a:rPr lang="en-US" sz="2400" dirty="0" err="1">
                <a:latin typeface="+mj-lt"/>
              </a:rPr>
              <a:t>FV</a:t>
            </a:r>
            <a:r>
              <a:rPr lang="en-US" sz="2400" baseline="-25000" dirty="0" err="1">
                <a:latin typeface="+mj-lt"/>
              </a:rPr>
              <a:t>n</a:t>
            </a:r>
            <a:r>
              <a:rPr lang="en-US" sz="2400" dirty="0">
                <a:latin typeface="+mj-lt"/>
              </a:rPr>
              <a:t>	=	PV(1 + </a:t>
            </a:r>
            <a:r>
              <a:rPr lang="en-US" sz="2400" dirty="0" err="1">
                <a:latin typeface="+mj-lt"/>
              </a:rPr>
              <a:t>i</a:t>
            </a:r>
            <a:r>
              <a:rPr lang="en-US" sz="2400" dirty="0">
                <a:latin typeface="+mj-lt"/>
              </a:rPr>
              <a:t>)</a:t>
            </a:r>
            <a:r>
              <a:rPr lang="en-US" sz="2400" baseline="30000" dirty="0">
                <a:latin typeface="+mj-lt"/>
              </a:rPr>
              <a:t>n</a:t>
            </a:r>
          </a:p>
          <a:p>
            <a:pPr marL="0" indent="0">
              <a:lnSpc>
                <a:spcPct val="105000"/>
              </a:lnSpc>
              <a:buSzPct val="100000"/>
              <a:buNone/>
            </a:pPr>
            <a:r>
              <a:rPr lang="en-US" sz="2400" dirty="0">
                <a:latin typeface="+mj-lt"/>
              </a:rPr>
              <a:t>		=	1 000 x (1 + 0.10)</a:t>
            </a:r>
            <a:r>
              <a:rPr lang="en-US" sz="2400" baseline="30000" dirty="0">
                <a:latin typeface="+mj-lt"/>
              </a:rPr>
              <a:t>2</a:t>
            </a:r>
          </a:p>
          <a:p>
            <a:pPr marL="0" indent="0">
              <a:lnSpc>
                <a:spcPct val="105000"/>
              </a:lnSpc>
              <a:buSzPct val="100000"/>
              <a:buNone/>
            </a:pPr>
            <a:r>
              <a:rPr lang="en-US" sz="2400" dirty="0">
                <a:latin typeface="+mj-lt"/>
              </a:rPr>
              <a:t>		=	R1 210</a:t>
            </a:r>
          </a:p>
          <a:p>
            <a:pPr marL="0" indent="0">
              <a:lnSpc>
                <a:spcPct val="105000"/>
              </a:lnSpc>
              <a:buSzPct val="100000"/>
              <a:buNone/>
            </a:pPr>
            <a:r>
              <a:rPr lang="en-US" sz="2400" dirty="0">
                <a:latin typeface="+mj-lt"/>
              </a:rPr>
              <a:t>	</a:t>
            </a:r>
          </a:p>
        </p:txBody>
      </p:sp>
      <p:sp>
        <p:nvSpPr>
          <p:cNvPr id="2" name="Rectangle 1">
            <a:extLst>
              <a:ext uri="{FF2B5EF4-FFF2-40B4-BE49-F238E27FC236}">
                <a16:creationId xmlns:a16="http://schemas.microsoft.com/office/drawing/2014/main" id="{2D409A5A-9072-3676-6D2F-97F609F5E0DE}"/>
              </a:ext>
            </a:extLst>
          </p:cNvPr>
          <p:cNvSpPr/>
          <p:nvPr/>
        </p:nvSpPr>
        <p:spPr bwMode="auto">
          <a:xfrm>
            <a:off x="1753816" y="544317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N</a:t>
            </a:r>
          </a:p>
        </p:txBody>
      </p:sp>
      <p:sp>
        <p:nvSpPr>
          <p:cNvPr id="6" name="Rectangle 5">
            <a:extLst>
              <a:ext uri="{FF2B5EF4-FFF2-40B4-BE49-F238E27FC236}">
                <a16:creationId xmlns:a16="http://schemas.microsoft.com/office/drawing/2014/main" id="{CFDC6EC0-F891-150D-856A-C633D5E33F64}"/>
              </a:ext>
            </a:extLst>
          </p:cNvPr>
          <p:cNvSpPr/>
          <p:nvPr/>
        </p:nvSpPr>
        <p:spPr bwMode="auto">
          <a:xfrm>
            <a:off x="3200400" y="544317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I/Y</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7" name="Rectangle 6">
            <a:extLst>
              <a:ext uri="{FF2B5EF4-FFF2-40B4-BE49-F238E27FC236}">
                <a16:creationId xmlns:a16="http://schemas.microsoft.com/office/drawing/2014/main" id="{FC731121-4853-238B-A8B2-8AC2C24E33B5}"/>
              </a:ext>
            </a:extLst>
          </p:cNvPr>
          <p:cNvSpPr/>
          <p:nvPr/>
        </p:nvSpPr>
        <p:spPr bwMode="auto">
          <a:xfrm>
            <a:off x="4572000" y="544317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PV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8" name="Rectangle 7">
            <a:extLst>
              <a:ext uri="{FF2B5EF4-FFF2-40B4-BE49-F238E27FC236}">
                <a16:creationId xmlns:a16="http://schemas.microsoft.com/office/drawing/2014/main" id="{E1357639-D6A8-1140-E163-30228305F01A}"/>
              </a:ext>
            </a:extLst>
          </p:cNvPr>
          <p:cNvSpPr/>
          <p:nvPr/>
        </p:nvSpPr>
        <p:spPr bwMode="auto">
          <a:xfrm>
            <a:off x="5943600" y="544317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PMT</a:t>
            </a:r>
          </a:p>
        </p:txBody>
      </p:sp>
      <p:sp>
        <p:nvSpPr>
          <p:cNvPr id="9" name="Rectangle 8">
            <a:extLst>
              <a:ext uri="{FF2B5EF4-FFF2-40B4-BE49-F238E27FC236}">
                <a16:creationId xmlns:a16="http://schemas.microsoft.com/office/drawing/2014/main" id="{0CEB0404-B06C-98F1-5680-0361B2245DC3}"/>
              </a:ext>
            </a:extLst>
          </p:cNvPr>
          <p:cNvSpPr/>
          <p:nvPr/>
        </p:nvSpPr>
        <p:spPr bwMode="auto">
          <a:xfrm>
            <a:off x="7315200" y="544317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FV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0" name="TextBox 9">
            <a:extLst>
              <a:ext uri="{FF2B5EF4-FFF2-40B4-BE49-F238E27FC236}">
                <a16:creationId xmlns:a16="http://schemas.microsoft.com/office/drawing/2014/main" id="{2C00BB07-2224-6CED-DC77-5A5918364196}"/>
              </a:ext>
            </a:extLst>
          </p:cNvPr>
          <p:cNvSpPr txBox="1"/>
          <p:nvPr/>
        </p:nvSpPr>
        <p:spPr>
          <a:xfrm>
            <a:off x="679374" y="5097840"/>
            <a:ext cx="8083626" cy="369332"/>
          </a:xfrm>
          <a:prstGeom prst="rect">
            <a:avLst/>
          </a:prstGeom>
          <a:noFill/>
        </p:spPr>
        <p:txBody>
          <a:bodyPr wrap="square" rtlCol="0">
            <a:spAutoFit/>
          </a:bodyPr>
          <a:lstStyle/>
          <a:p>
            <a:pPr defTabSz="1350963">
              <a:tabLst>
                <a:tab pos="1435100" algn="l"/>
                <a:tab pos="2786063" algn="l"/>
              </a:tabLst>
            </a:pPr>
            <a:r>
              <a:rPr lang="en-ZA" sz="1800" dirty="0"/>
              <a:t>Inputs:	2	10             ±1 000	  0	  ?</a:t>
            </a:r>
          </a:p>
        </p:txBody>
      </p:sp>
      <p:sp>
        <p:nvSpPr>
          <p:cNvPr id="11" name="TextBox 10">
            <a:extLst>
              <a:ext uri="{FF2B5EF4-FFF2-40B4-BE49-F238E27FC236}">
                <a16:creationId xmlns:a16="http://schemas.microsoft.com/office/drawing/2014/main" id="{0889DE03-7C28-711D-9AF9-C7C93F3B441B}"/>
              </a:ext>
            </a:extLst>
          </p:cNvPr>
          <p:cNvSpPr txBox="1"/>
          <p:nvPr/>
        </p:nvSpPr>
        <p:spPr>
          <a:xfrm>
            <a:off x="685800" y="6088440"/>
            <a:ext cx="8083626" cy="369332"/>
          </a:xfrm>
          <a:prstGeom prst="rect">
            <a:avLst/>
          </a:prstGeom>
          <a:noFill/>
        </p:spPr>
        <p:txBody>
          <a:bodyPr wrap="square" rtlCol="0">
            <a:spAutoFit/>
          </a:bodyPr>
          <a:lstStyle/>
          <a:p>
            <a:pPr defTabSz="1350963">
              <a:tabLst>
                <a:tab pos="1435100" algn="l"/>
                <a:tab pos="2786063" algn="l"/>
              </a:tabLst>
            </a:pPr>
            <a:r>
              <a:rPr lang="en-ZA" sz="1800" dirty="0"/>
              <a:t>Output:				                   = 1 210</a:t>
            </a:r>
          </a:p>
        </p:txBody>
      </p:sp>
      <p:pic>
        <p:nvPicPr>
          <p:cNvPr id="12" name="Picture 11">
            <a:extLst>
              <a:ext uri="{FF2B5EF4-FFF2-40B4-BE49-F238E27FC236}">
                <a16:creationId xmlns:a16="http://schemas.microsoft.com/office/drawing/2014/main" id="{14FC01AA-27BB-1FAD-554A-ACD08368D99B}"/>
              </a:ext>
            </a:extLst>
          </p:cNvPr>
          <p:cNvPicPr>
            <a:picLocks noChangeAspect="1"/>
          </p:cNvPicPr>
          <p:nvPr/>
        </p:nvPicPr>
        <p:blipFill>
          <a:blip r:embed="rId4"/>
          <a:stretch>
            <a:fillRect/>
          </a:stretch>
        </p:blipFill>
        <p:spPr>
          <a:xfrm>
            <a:off x="5727361" y="1796480"/>
            <a:ext cx="3292013" cy="3266884"/>
          </a:xfrm>
          <a:prstGeom prst="rect">
            <a:avLst/>
          </a:prstGeom>
        </p:spPr>
      </p:pic>
      <p:sp>
        <p:nvSpPr>
          <p:cNvPr id="15" name="TextBox 14">
            <a:extLst>
              <a:ext uri="{FF2B5EF4-FFF2-40B4-BE49-F238E27FC236}">
                <a16:creationId xmlns:a16="http://schemas.microsoft.com/office/drawing/2014/main" id="{ED0FF31F-4CBD-E1CC-0A7D-85BCD3A867B9}"/>
              </a:ext>
            </a:extLst>
          </p:cNvPr>
          <p:cNvSpPr txBox="1"/>
          <p:nvPr/>
        </p:nvSpPr>
        <p:spPr>
          <a:xfrm>
            <a:off x="7289563" y="1485005"/>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
        <p:nvSpPr>
          <p:cNvPr id="16" name="TextBox 15">
            <a:extLst>
              <a:ext uri="{FF2B5EF4-FFF2-40B4-BE49-F238E27FC236}">
                <a16:creationId xmlns:a16="http://schemas.microsoft.com/office/drawing/2014/main" id="{79C8D09C-2B5F-3CAC-E185-FEE96CBC90E7}"/>
              </a:ext>
            </a:extLst>
          </p:cNvPr>
          <p:cNvSpPr txBox="1"/>
          <p:nvPr/>
        </p:nvSpPr>
        <p:spPr>
          <a:xfrm>
            <a:off x="6154167" y="2667000"/>
            <a:ext cx="1219200" cy="276999"/>
          </a:xfrm>
          <a:prstGeom prst="rect">
            <a:avLst/>
          </a:prstGeom>
          <a:noFill/>
        </p:spPr>
        <p:txBody>
          <a:bodyPr wrap="square" rtlCol="0">
            <a:spAutoFit/>
          </a:bodyPr>
          <a:lstStyle/>
          <a:p>
            <a:r>
              <a:rPr lang="en-US" sz="1200" dirty="0" err="1">
                <a:latin typeface="+mn-lt"/>
              </a:rPr>
              <a:t>i</a:t>
            </a:r>
            <a:r>
              <a:rPr lang="en-US" sz="1200" dirty="0">
                <a:latin typeface="+mn-lt"/>
              </a:rPr>
              <a:t> = 10%</a:t>
            </a:r>
            <a:endParaRPr lang="en-ZA" sz="1200" dirty="0">
              <a:latin typeface="+mn-lt"/>
            </a:endParaRPr>
          </a:p>
        </p:txBody>
      </p:sp>
    </p:spTree>
    <p:custDataLst>
      <p:tags r:id="rId1"/>
    </p:custDataLst>
    <p:extLst>
      <p:ext uri="{BB962C8B-B14F-4D97-AF65-F5344CB8AC3E}">
        <p14:creationId xmlns:p14="http://schemas.microsoft.com/office/powerpoint/2010/main" val="2468937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4E407E-3F27-039A-0AC7-86CFB34D8E2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D2EF0DD-B954-C40B-41A0-E0A734FEBB57}"/>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AE68F6E0-BE1D-442D-5434-C279C57C1D39}"/>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
        <p:nvSpPr>
          <p:cNvPr id="4" name="Rectangle 5">
            <a:extLst>
              <a:ext uri="{FF2B5EF4-FFF2-40B4-BE49-F238E27FC236}">
                <a16:creationId xmlns:a16="http://schemas.microsoft.com/office/drawing/2014/main" id="{80C41DA7-CF98-1868-5A60-9742C2CB0736}"/>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Annual compounding (cont.)</a:t>
            </a:r>
          </a:p>
          <a:p>
            <a:pPr marL="0" indent="0">
              <a:lnSpc>
                <a:spcPct val="105000"/>
              </a:lnSpc>
              <a:buSzPct val="100000"/>
              <a:buNone/>
            </a:pPr>
            <a:r>
              <a:rPr lang="en-US" sz="2400" dirty="0">
                <a:latin typeface="+mj-lt"/>
              </a:rPr>
              <a:t>Figure 7.4: The relationship between interest rates and periods that interest is earned</a:t>
            </a:r>
          </a:p>
        </p:txBody>
      </p:sp>
    </p:spTree>
    <p:custDataLst>
      <p:tags r:id="rId1"/>
    </p:custDataLst>
    <p:extLst>
      <p:ext uri="{BB962C8B-B14F-4D97-AF65-F5344CB8AC3E}">
        <p14:creationId xmlns:p14="http://schemas.microsoft.com/office/powerpoint/2010/main" val="398232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D0435CD-3E68-472B-521C-66F1EFFC5F4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2DE19B6-79D9-65E3-DDF4-AD3E2E315BFE}"/>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E3453027-B949-B3D1-C2CF-919C8802B6D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sp>
        <p:nvSpPr>
          <p:cNvPr id="4" name="Rectangle 5">
            <a:extLst>
              <a:ext uri="{FF2B5EF4-FFF2-40B4-BE49-F238E27FC236}">
                <a16:creationId xmlns:a16="http://schemas.microsoft.com/office/drawing/2014/main" id="{D4861854-E705-47E2-4445-9A0AAFB2821E}"/>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200" dirty="0">
                <a:latin typeface="+mj-lt"/>
              </a:rPr>
              <a:t>Intra-year compounding</a:t>
            </a:r>
          </a:p>
          <a:p>
            <a:pPr marL="717550">
              <a:lnSpc>
                <a:spcPct val="105000"/>
              </a:lnSpc>
              <a:buSzPct val="100000"/>
              <a:buFont typeface="Wingdings" panose="05000000000000000000" pitchFamily="2" charset="2"/>
              <a:buChar char="§"/>
            </a:pPr>
            <a:r>
              <a:rPr lang="en-US" sz="2200" dirty="0">
                <a:latin typeface="+mj-lt"/>
              </a:rPr>
              <a:t>Earning interest more than once a year</a:t>
            </a:r>
          </a:p>
          <a:p>
            <a:pPr>
              <a:lnSpc>
                <a:spcPct val="105000"/>
              </a:lnSpc>
              <a:buSzPct val="100000"/>
              <a:buFont typeface="Arial" panose="020B0604020202020204" pitchFamily="34" charset="0"/>
              <a:buChar char="•"/>
            </a:pPr>
            <a:r>
              <a:rPr lang="en-US" sz="2200" dirty="0">
                <a:latin typeface="+mj-lt"/>
              </a:rPr>
              <a:t>Example: An investor placed R1 000 in a debenture paying 10% interest compounded semi-annually. What is the value after two years?</a:t>
            </a:r>
          </a:p>
          <a:p>
            <a:pPr>
              <a:lnSpc>
                <a:spcPct val="105000"/>
              </a:lnSpc>
              <a:buSzPct val="100000"/>
              <a:buFont typeface="Arial" panose="020B0604020202020204" pitchFamily="34" charset="0"/>
              <a:buChar char="•"/>
            </a:pPr>
            <a:endParaRPr lang="en-US" sz="2000" dirty="0">
              <a:latin typeface="+mj-lt"/>
            </a:endParaRP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a:p>
            <a:pPr marL="0" indent="0">
              <a:lnSpc>
                <a:spcPct val="105000"/>
              </a:lnSpc>
              <a:buSzPct val="100000"/>
              <a:buNone/>
            </a:pPr>
            <a:endParaRPr lang="en-US" sz="1000" dirty="0">
              <a:latin typeface="+mj-lt"/>
            </a:endParaRPr>
          </a:p>
          <a:p>
            <a:pPr marL="0" indent="0">
              <a:lnSpc>
                <a:spcPct val="105000"/>
              </a:lnSpc>
              <a:buSzPct val="100000"/>
              <a:buNone/>
            </a:pPr>
            <a:r>
              <a:rPr lang="en-US" sz="2200" dirty="0">
                <a:latin typeface="+mj-lt"/>
              </a:rPr>
              <a:t>NB: Your n, </a:t>
            </a:r>
            <a:r>
              <a:rPr lang="en-US" sz="2200" dirty="0" err="1">
                <a:latin typeface="+mj-lt"/>
              </a:rPr>
              <a:t>i</a:t>
            </a:r>
            <a:r>
              <a:rPr lang="en-US" sz="2200" dirty="0">
                <a:latin typeface="+mj-lt"/>
              </a:rPr>
              <a:t> and PMT should always be in the same time period</a:t>
            </a:r>
          </a:p>
        </p:txBody>
      </p:sp>
      <p:sp>
        <p:nvSpPr>
          <p:cNvPr id="2" name="Right Brace 1">
            <a:extLst>
              <a:ext uri="{FF2B5EF4-FFF2-40B4-BE49-F238E27FC236}">
                <a16:creationId xmlns:a16="http://schemas.microsoft.com/office/drawing/2014/main" id="{88109C90-180C-EF2A-84D6-043D6C1DD070}"/>
              </a:ext>
            </a:extLst>
          </p:cNvPr>
          <p:cNvSpPr/>
          <p:nvPr/>
        </p:nvSpPr>
        <p:spPr bwMode="auto">
          <a:xfrm rot="16200000">
            <a:off x="2868924" y="2013351"/>
            <a:ext cx="358139" cy="2438402"/>
          </a:xfrm>
          <a:prstGeom prst="rightBrac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5" name="Right Brace 4">
            <a:extLst>
              <a:ext uri="{FF2B5EF4-FFF2-40B4-BE49-F238E27FC236}">
                <a16:creationId xmlns:a16="http://schemas.microsoft.com/office/drawing/2014/main" id="{394C1A3F-23FD-451F-A76E-DCFA64FECC2D}"/>
              </a:ext>
            </a:extLst>
          </p:cNvPr>
          <p:cNvSpPr/>
          <p:nvPr/>
        </p:nvSpPr>
        <p:spPr bwMode="auto">
          <a:xfrm rot="16200000">
            <a:off x="5358442" y="1975126"/>
            <a:ext cx="358139" cy="2516706"/>
          </a:xfrm>
          <a:prstGeom prst="rightBrac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7" name="TextBox 6">
            <a:extLst>
              <a:ext uri="{FF2B5EF4-FFF2-40B4-BE49-F238E27FC236}">
                <a16:creationId xmlns:a16="http://schemas.microsoft.com/office/drawing/2014/main" id="{6907F8FC-85A2-9AEA-B9E5-C51D3F75C49D}"/>
              </a:ext>
            </a:extLst>
          </p:cNvPr>
          <p:cNvSpPr txBox="1"/>
          <p:nvPr/>
        </p:nvSpPr>
        <p:spPr>
          <a:xfrm>
            <a:off x="2757268" y="4912669"/>
            <a:ext cx="1143000" cy="461665"/>
          </a:xfrm>
          <a:prstGeom prst="rect">
            <a:avLst/>
          </a:prstGeom>
          <a:solidFill>
            <a:schemeClr val="bg1"/>
          </a:solidFill>
        </p:spPr>
        <p:txBody>
          <a:bodyPr wrap="square" rtlCol="0">
            <a:spAutoFit/>
          </a:bodyPr>
          <a:lstStyle/>
          <a:p>
            <a:endParaRPr lang="en-ZA" sz="2400" dirty="0"/>
          </a:p>
        </p:txBody>
      </p:sp>
      <p:sp>
        <p:nvSpPr>
          <p:cNvPr id="8" name="TextBox 7">
            <a:extLst>
              <a:ext uri="{FF2B5EF4-FFF2-40B4-BE49-F238E27FC236}">
                <a16:creationId xmlns:a16="http://schemas.microsoft.com/office/drawing/2014/main" id="{707C6E23-204F-44DC-AA63-62EB356FDE7D}"/>
              </a:ext>
            </a:extLst>
          </p:cNvPr>
          <p:cNvSpPr txBox="1"/>
          <p:nvPr/>
        </p:nvSpPr>
        <p:spPr>
          <a:xfrm>
            <a:off x="1409700" y="4886235"/>
            <a:ext cx="1143000" cy="461665"/>
          </a:xfrm>
          <a:prstGeom prst="rect">
            <a:avLst/>
          </a:prstGeom>
          <a:solidFill>
            <a:schemeClr val="bg1"/>
          </a:solidFill>
        </p:spPr>
        <p:txBody>
          <a:bodyPr wrap="square" rtlCol="0">
            <a:spAutoFit/>
          </a:bodyPr>
          <a:lstStyle/>
          <a:p>
            <a:endParaRPr lang="en-ZA" sz="2400" dirty="0"/>
          </a:p>
        </p:txBody>
      </p:sp>
      <p:sp>
        <p:nvSpPr>
          <p:cNvPr id="10" name="Rectangle 9">
            <a:extLst>
              <a:ext uri="{FF2B5EF4-FFF2-40B4-BE49-F238E27FC236}">
                <a16:creationId xmlns:a16="http://schemas.microsoft.com/office/drawing/2014/main" id="{99F7131E-C1C3-9E32-5406-C1489A778BC0}"/>
              </a:ext>
            </a:extLst>
          </p:cNvPr>
          <p:cNvSpPr/>
          <p:nvPr/>
        </p:nvSpPr>
        <p:spPr bwMode="auto">
          <a:xfrm>
            <a:off x="1460980" y="5462404"/>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N</a:t>
            </a:r>
          </a:p>
        </p:txBody>
      </p:sp>
      <p:sp>
        <p:nvSpPr>
          <p:cNvPr id="11" name="Rectangle 10">
            <a:extLst>
              <a:ext uri="{FF2B5EF4-FFF2-40B4-BE49-F238E27FC236}">
                <a16:creationId xmlns:a16="http://schemas.microsoft.com/office/drawing/2014/main" id="{33A6AA18-EAE7-2C32-3285-F6CF5B44FFAF}"/>
              </a:ext>
            </a:extLst>
          </p:cNvPr>
          <p:cNvSpPr/>
          <p:nvPr/>
        </p:nvSpPr>
        <p:spPr bwMode="auto">
          <a:xfrm>
            <a:off x="2907564" y="5462404"/>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I/Y</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2" name="Rectangle 11">
            <a:extLst>
              <a:ext uri="{FF2B5EF4-FFF2-40B4-BE49-F238E27FC236}">
                <a16:creationId xmlns:a16="http://schemas.microsoft.com/office/drawing/2014/main" id="{CFDBCB43-1647-4FA6-BEC5-720875893470}"/>
              </a:ext>
            </a:extLst>
          </p:cNvPr>
          <p:cNvSpPr/>
          <p:nvPr/>
        </p:nvSpPr>
        <p:spPr bwMode="auto">
          <a:xfrm>
            <a:off x="4279164" y="5462404"/>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PV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3" name="Rectangle 12">
            <a:extLst>
              <a:ext uri="{FF2B5EF4-FFF2-40B4-BE49-F238E27FC236}">
                <a16:creationId xmlns:a16="http://schemas.microsoft.com/office/drawing/2014/main" id="{34B7720D-5E9E-5148-7E91-466A824D49DE}"/>
              </a:ext>
            </a:extLst>
          </p:cNvPr>
          <p:cNvSpPr/>
          <p:nvPr/>
        </p:nvSpPr>
        <p:spPr bwMode="auto">
          <a:xfrm>
            <a:off x="5650764" y="5462404"/>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PMT</a:t>
            </a:r>
          </a:p>
        </p:txBody>
      </p:sp>
      <p:sp>
        <p:nvSpPr>
          <p:cNvPr id="14" name="Rectangle 13">
            <a:extLst>
              <a:ext uri="{FF2B5EF4-FFF2-40B4-BE49-F238E27FC236}">
                <a16:creationId xmlns:a16="http://schemas.microsoft.com/office/drawing/2014/main" id="{0128862C-449D-51F5-6D0C-A86FADFEA373}"/>
              </a:ext>
            </a:extLst>
          </p:cNvPr>
          <p:cNvSpPr/>
          <p:nvPr/>
        </p:nvSpPr>
        <p:spPr bwMode="auto">
          <a:xfrm>
            <a:off x="7022364" y="5462404"/>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FV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5" name="TextBox 14">
            <a:extLst>
              <a:ext uri="{FF2B5EF4-FFF2-40B4-BE49-F238E27FC236}">
                <a16:creationId xmlns:a16="http://schemas.microsoft.com/office/drawing/2014/main" id="{04294FF5-E1ED-CDED-5BF0-70F453BB5D69}"/>
              </a:ext>
            </a:extLst>
          </p:cNvPr>
          <p:cNvSpPr txBox="1"/>
          <p:nvPr/>
        </p:nvSpPr>
        <p:spPr>
          <a:xfrm>
            <a:off x="386538" y="5117068"/>
            <a:ext cx="8083626" cy="369332"/>
          </a:xfrm>
          <a:prstGeom prst="rect">
            <a:avLst/>
          </a:prstGeom>
          <a:noFill/>
        </p:spPr>
        <p:txBody>
          <a:bodyPr wrap="square" rtlCol="0">
            <a:spAutoFit/>
          </a:bodyPr>
          <a:lstStyle/>
          <a:p>
            <a:pPr defTabSz="1350963">
              <a:tabLst>
                <a:tab pos="1435100" algn="l"/>
                <a:tab pos="2786063" algn="l"/>
              </a:tabLst>
            </a:pPr>
            <a:r>
              <a:rPr lang="en-ZA" sz="1800" dirty="0"/>
              <a:t>Inputs        2x2=4            10/2=5          ±1 000	  0	  ?</a:t>
            </a:r>
          </a:p>
        </p:txBody>
      </p:sp>
      <p:sp>
        <p:nvSpPr>
          <p:cNvPr id="16" name="TextBox 15">
            <a:extLst>
              <a:ext uri="{FF2B5EF4-FFF2-40B4-BE49-F238E27FC236}">
                <a16:creationId xmlns:a16="http://schemas.microsoft.com/office/drawing/2014/main" id="{456B175B-CD26-65E0-EAC0-0E14BCB6D972}"/>
              </a:ext>
            </a:extLst>
          </p:cNvPr>
          <p:cNvSpPr txBox="1"/>
          <p:nvPr/>
        </p:nvSpPr>
        <p:spPr>
          <a:xfrm>
            <a:off x="392964" y="6107668"/>
            <a:ext cx="8083626" cy="369332"/>
          </a:xfrm>
          <a:prstGeom prst="rect">
            <a:avLst/>
          </a:prstGeom>
          <a:noFill/>
        </p:spPr>
        <p:txBody>
          <a:bodyPr wrap="square" rtlCol="0">
            <a:spAutoFit/>
          </a:bodyPr>
          <a:lstStyle/>
          <a:p>
            <a:pPr defTabSz="1350963">
              <a:tabLst>
                <a:tab pos="1435100" algn="l"/>
                <a:tab pos="2786063" algn="l"/>
              </a:tabLst>
            </a:pPr>
            <a:r>
              <a:rPr lang="en-ZA" sz="1800" dirty="0"/>
              <a:t>Output:				                   = 1 215.51</a:t>
            </a:r>
          </a:p>
        </p:txBody>
      </p:sp>
      <p:cxnSp>
        <p:nvCxnSpPr>
          <p:cNvPr id="17" name="Straight Connector 16">
            <a:extLst>
              <a:ext uri="{FF2B5EF4-FFF2-40B4-BE49-F238E27FC236}">
                <a16:creationId xmlns:a16="http://schemas.microsoft.com/office/drawing/2014/main" id="{08C756DE-B456-75EB-B8BF-2973A0B30C30}"/>
              </a:ext>
            </a:extLst>
          </p:cNvPr>
          <p:cNvCxnSpPr>
            <a:cxnSpLocks/>
          </p:cNvCxnSpPr>
          <p:nvPr/>
        </p:nvCxnSpPr>
        <p:spPr bwMode="auto">
          <a:xfrm>
            <a:off x="1790695" y="4122217"/>
            <a:ext cx="5005166"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74C5C96-70C4-8E4C-4FCE-55402301BF94}"/>
              </a:ext>
            </a:extLst>
          </p:cNvPr>
          <p:cNvCxnSpPr>
            <a:cxnSpLocks/>
          </p:cNvCxnSpPr>
          <p:nvPr/>
        </p:nvCxnSpPr>
        <p:spPr bwMode="auto">
          <a:xfrm>
            <a:off x="6795863" y="396231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95D245A7-2FB7-F545-5C63-B38A3472CDA8}"/>
              </a:ext>
            </a:extLst>
          </p:cNvPr>
          <p:cNvCxnSpPr>
            <a:cxnSpLocks/>
          </p:cNvCxnSpPr>
          <p:nvPr/>
        </p:nvCxnSpPr>
        <p:spPr bwMode="auto">
          <a:xfrm>
            <a:off x="4267195" y="3941212"/>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1" name="Straight Arrow Connector 20">
            <a:extLst>
              <a:ext uri="{FF2B5EF4-FFF2-40B4-BE49-F238E27FC236}">
                <a16:creationId xmlns:a16="http://schemas.microsoft.com/office/drawing/2014/main" id="{40320C81-27F9-8878-B1FD-2B1E50EE72F6}"/>
              </a:ext>
            </a:extLst>
          </p:cNvPr>
          <p:cNvCxnSpPr>
            <a:cxnSpLocks/>
          </p:cNvCxnSpPr>
          <p:nvPr/>
        </p:nvCxnSpPr>
        <p:spPr bwMode="auto">
          <a:xfrm>
            <a:off x="2515507" y="4674546"/>
            <a:ext cx="30389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22" name="TextBox 21">
            <a:extLst>
              <a:ext uri="{FF2B5EF4-FFF2-40B4-BE49-F238E27FC236}">
                <a16:creationId xmlns:a16="http://schemas.microsoft.com/office/drawing/2014/main" id="{D40DE65A-4306-22D3-3838-15BE9E02AB0C}"/>
              </a:ext>
            </a:extLst>
          </p:cNvPr>
          <p:cNvSpPr txBox="1"/>
          <p:nvPr/>
        </p:nvSpPr>
        <p:spPr>
          <a:xfrm>
            <a:off x="1600195" y="3349857"/>
            <a:ext cx="5334000" cy="646331"/>
          </a:xfrm>
          <a:prstGeom prst="rect">
            <a:avLst/>
          </a:prstGeom>
          <a:noFill/>
        </p:spPr>
        <p:txBody>
          <a:bodyPr wrap="square" rtlCol="0">
            <a:spAutoFit/>
          </a:bodyPr>
          <a:lstStyle/>
          <a:p>
            <a:r>
              <a:rPr lang="en-ZA" sz="1800" dirty="0"/>
              <a:t> 0                                    1                                      2</a:t>
            </a:r>
          </a:p>
          <a:p>
            <a:r>
              <a:rPr lang="en-ZA" sz="1800" dirty="0"/>
              <a:t> 0	      1	           2                 3                  4</a:t>
            </a:r>
          </a:p>
        </p:txBody>
      </p:sp>
      <p:sp>
        <p:nvSpPr>
          <p:cNvPr id="23" name="TextBox 22">
            <a:extLst>
              <a:ext uri="{FF2B5EF4-FFF2-40B4-BE49-F238E27FC236}">
                <a16:creationId xmlns:a16="http://schemas.microsoft.com/office/drawing/2014/main" id="{231E8359-97C6-D815-2C7C-4442515A3630}"/>
              </a:ext>
            </a:extLst>
          </p:cNvPr>
          <p:cNvSpPr txBox="1"/>
          <p:nvPr/>
        </p:nvSpPr>
        <p:spPr>
          <a:xfrm>
            <a:off x="1840761" y="4139401"/>
            <a:ext cx="4955100" cy="400110"/>
          </a:xfrm>
          <a:prstGeom prst="rect">
            <a:avLst/>
          </a:prstGeom>
          <a:noFill/>
        </p:spPr>
        <p:txBody>
          <a:bodyPr wrap="square" rtlCol="0">
            <a:spAutoFit/>
          </a:bodyPr>
          <a:lstStyle/>
          <a:p>
            <a:r>
              <a:rPr lang="en-ZA" sz="2000" dirty="0"/>
              <a:t>  x1.05        x 1.05         x 1.05        x 1.05</a:t>
            </a:r>
          </a:p>
        </p:txBody>
      </p:sp>
      <p:sp>
        <p:nvSpPr>
          <p:cNvPr id="24" name="TextBox 23">
            <a:extLst>
              <a:ext uri="{FF2B5EF4-FFF2-40B4-BE49-F238E27FC236}">
                <a16:creationId xmlns:a16="http://schemas.microsoft.com/office/drawing/2014/main" id="{19395068-6E17-A9F6-911B-7459B012AB90}"/>
              </a:ext>
            </a:extLst>
          </p:cNvPr>
          <p:cNvSpPr txBox="1"/>
          <p:nvPr/>
        </p:nvSpPr>
        <p:spPr>
          <a:xfrm>
            <a:off x="1066795" y="4488392"/>
            <a:ext cx="7086599" cy="338554"/>
          </a:xfrm>
          <a:prstGeom prst="rect">
            <a:avLst/>
          </a:prstGeom>
          <a:noFill/>
        </p:spPr>
        <p:txBody>
          <a:bodyPr wrap="square" rtlCol="0">
            <a:spAutoFit/>
          </a:bodyPr>
          <a:lstStyle/>
          <a:p>
            <a:r>
              <a:rPr lang="en-ZA" sz="1600" dirty="0"/>
              <a:t>PV = 1 000.00        1 050.00        1 102.50       1 157.63        1 215.51 = FV</a:t>
            </a:r>
            <a:r>
              <a:rPr lang="en-ZA" sz="1600" baseline="-25000" dirty="0"/>
              <a:t>2</a:t>
            </a:r>
            <a:r>
              <a:rPr lang="en-ZA" sz="1600" dirty="0"/>
              <a:t>      </a:t>
            </a:r>
            <a:endParaRPr lang="en-ZA" sz="1600" baseline="-25000" dirty="0"/>
          </a:p>
        </p:txBody>
      </p:sp>
      <p:sp>
        <p:nvSpPr>
          <p:cNvPr id="25" name="Rectangle 24">
            <a:extLst>
              <a:ext uri="{FF2B5EF4-FFF2-40B4-BE49-F238E27FC236}">
                <a16:creationId xmlns:a16="http://schemas.microsoft.com/office/drawing/2014/main" id="{2DBBACBC-B3F0-3DA7-6CC8-D82B612FBAD6}"/>
              </a:ext>
            </a:extLst>
          </p:cNvPr>
          <p:cNvSpPr/>
          <p:nvPr/>
        </p:nvSpPr>
        <p:spPr bwMode="auto">
          <a:xfrm>
            <a:off x="914400" y="2929388"/>
            <a:ext cx="7238997" cy="1982123"/>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cxnSp>
        <p:nvCxnSpPr>
          <p:cNvPr id="26" name="Straight Connector 25">
            <a:extLst>
              <a:ext uri="{FF2B5EF4-FFF2-40B4-BE49-F238E27FC236}">
                <a16:creationId xmlns:a16="http://schemas.microsoft.com/office/drawing/2014/main" id="{68910C2B-8626-B7B2-AAE9-6DEC260D76F0}"/>
              </a:ext>
            </a:extLst>
          </p:cNvPr>
          <p:cNvCxnSpPr>
            <a:cxnSpLocks/>
          </p:cNvCxnSpPr>
          <p:nvPr/>
        </p:nvCxnSpPr>
        <p:spPr bwMode="auto">
          <a:xfrm>
            <a:off x="3047993" y="396981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EEB130C2-C662-713D-3360-5A673983DD0B}"/>
              </a:ext>
            </a:extLst>
          </p:cNvPr>
          <p:cNvCxnSpPr>
            <a:cxnSpLocks/>
          </p:cNvCxnSpPr>
          <p:nvPr/>
        </p:nvCxnSpPr>
        <p:spPr bwMode="auto">
          <a:xfrm>
            <a:off x="5510366" y="3941212"/>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7547059E-0457-2DBB-3FD1-1A678A96B1E5}"/>
              </a:ext>
            </a:extLst>
          </p:cNvPr>
          <p:cNvCxnSpPr>
            <a:cxnSpLocks/>
          </p:cNvCxnSpPr>
          <p:nvPr/>
        </p:nvCxnSpPr>
        <p:spPr bwMode="auto">
          <a:xfrm>
            <a:off x="1790695" y="396981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30" name="TextBox 29">
            <a:extLst>
              <a:ext uri="{FF2B5EF4-FFF2-40B4-BE49-F238E27FC236}">
                <a16:creationId xmlns:a16="http://schemas.microsoft.com/office/drawing/2014/main" id="{584EB00C-B90B-1C77-FF9E-76D360C2328A}"/>
              </a:ext>
            </a:extLst>
          </p:cNvPr>
          <p:cNvSpPr txBox="1"/>
          <p:nvPr/>
        </p:nvSpPr>
        <p:spPr>
          <a:xfrm>
            <a:off x="1904997" y="3691388"/>
            <a:ext cx="1234397" cy="369332"/>
          </a:xfrm>
          <a:prstGeom prst="rect">
            <a:avLst/>
          </a:prstGeom>
          <a:noFill/>
        </p:spPr>
        <p:txBody>
          <a:bodyPr wrap="square" rtlCol="0">
            <a:spAutoFit/>
          </a:bodyPr>
          <a:lstStyle/>
          <a:p>
            <a:r>
              <a:rPr lang="en-ZA" sz="1800" dirty="0" err="1"/>
              <a:t>r</a:t>
            </a:r>
            <a:r>
              <a:rPr lang="en-ZA" sz="1800" baseline="-25000" dirty="0" err="1"/>
              <a:t>PER</a:t>
            </a:r>
            <a:r>
              <a:rPr lang="en-ZA" sz="1800" dirty="0"/>
              <a:t>=10%</a:t>
            </a:r>
            <a:endParaRPr lang="en-ZA" dirty="0"/>
          </a:p>
        </p:txBody>
      </p:sp>
      <p:cxnSp>
        <p:nvCxnSpPr>
          <p:cNvPr id="31" name="Straight Arrow Connector 30">
            <a:extLst>
              <a:ext uri="{FF2B5EF4-FFF2-40B4-BE49-F238E27FC236}">
                <a16:creationId xmlns:a16="http://schemas.microsoft.com/office/drawing/2014/main" id="{0D8D4D51-26B9-3BB0-95D9-98C15F2809FC}"/>
              </a:ext>
            </a:extLst>
          </p:cNvPr>
          <p:cNvCxnSpPr>
            <a:cxnSpLocks/>
          </p:cNvCxnSpPr>
          <p:nvPr/>
        </p:nvCxnSpPr>
        <p:spPr bwMode="auto">
          <a:xfrm>
            <a:off x="5029200" y="4647490"/>
            <a:ext cx="30389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32" name="Straight Arrow Connector 31">
            <a:extLst>
              <a:ext uri="{FF2B5EF4-FFF2-40B4-BE49-F238E27FC236}">
                <a16:creationId xmlns:a16="http://schemas.microsoft.com/office/drawing/2014/main" id="{F46EB539-6C31-9C20-DB5A-93B297240BBC}"/>
              </a:ext>
            </a:extLst>
          </p:cNvPr>
          <p:cNvCxnSpPr>
            <a:cxnSpLocks/>
          </p:cNvCxnSpPr>
          <p:nvPr/>
        </p:nvCxnSpPr>
        <p:spPr bwMode="auto">
          <a:xfrm>
            <a:off x="6172200" y="4649355"/>
            <a:ext cx="30389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35" name="Straight Arrow Connector 34">
            <a:extLst>
              <a:ext uri="{FF2B5EF4-FFF2-40B4-BE49-F238E27FC236}">
                <a16:creationId xmlns:a16="http://schemas.microsoft.com/office/drawing/2014/main" id="{5C0A3F42-279C-F196-812D-EFAFB9131AC4}"/>
              </a:ext>
            </a:extLst>
          </p:cNvPr>
          <p:cNvCxnSpPr>
            <a:cxnSpLocks/>
          </p:cNvCxnSpPr>
          <p:nvPr/>
        </p:nvCxnSpPr>
        <p:spPr bwMode="auto">
          <a:xfrm>
            <a:off x="3810907" y="4647490"/>
            <a:ext cx="30389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Tree>
    <p:custDataLst>
      <p:tags r:id="rId1"/>
    </p:custDataLst>
    <p:extLst>
      <p:ext uri="{BB962C8B-B14F-4D97-AF65-F5344CB8AC3E}">
        <p14:creationId xmlns:p14="http://schemas.microsoft.com/office/powerpoint/2010/main" val="1965901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DE9777-484D-81DB-5E07-90BDE71130E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D120875-B927-138E-6793-0CD8101C62D2}"/>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596AA92D-1306-525B-A336-4460B96D311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sp>
        <p:nvSpPr>
          <p:cNvPr id="4" name="Rectangle 5">
            <a:extLst>
              <a:ext uri="{FF2B5EF4-FFF2-40B4-BE49-F238E27FC236}">
                <a16:creationId xmlns:a16="http://schemas.microsoft.com/office/drawing/2014/main" id="{9C90FEB2-8050-34F0-FCA2-8D3202FA405E}"/>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Future value of an annuity</a:t>
            </a:r>
          </a:p>
          <a:p>
            <a:pPr marL="717550">
              <a:lnSpc>
                <a:spcPct val="105000"/>
              </a:lnSpc>
              <a:buSzPct val="100000"/>
              <a:buFont typeface="Wingdings" panose="05000000000000000000" pitchFamily="2" charset="2"/>
              <a:buChar char="§"/>
            </a:pPr>
            <a:r>
              <a:rPr lang="en-US" sz="2400" dirty="0">
                <a:latin typeface="+mj-lt"/>
              </a:rPr>
              <a:t>Ordinary annuity</a:t>
            </a:r>
          </a:p>
          <a:p>
            <a:pPr marL="1076325">
              <a:lnSpc>
                <a:spcPct val="105000"/>
              </a:lnSpc>
              <a:buSzPct val="100000"/>
              <a:buFont typeface="Wingdings" panose="05000000000000000000" pitchFamily="2" charset="2"/>
              <a:buChar char="§"/>
            </a:pPr>
            <a:r>
              <a:rPr lang="en-US" sz="2400" dirty="0">
                <a:latin typeface="+mj-lt"/>
              </a:rPr>
              <a:t>Same amounts received/deposited at </a:t>
            </a:r>
            <a:r>
              <a:rPr lang="en-US" sz="2400" b="1" dirty="0">
                <a:solidFill>
                  <a:srgbClr val="C00000"/>
                </a:solidFill>
                <a:latin typeface="+mj-lt"/>
              </a:rPr>
              <a:t>end</a:t>
            </a:r>
            <a:r>
              <a:rPr lang="en-US" sz="2400" b="1" dirty="0">
                <a:latin typeface="+mj-lt"/>
              </a:rPr>
              <a:t> </a:t>
            </a:r>
            <a:r>
              <a:rPr lang="en-US" sz="2400" dirty="0">
                <a:latin typeface="+mj-lt"/>
              </a:rPr>
              <a:t>of each period</a:t>
            </a:r>
          </a:p>
          <a:p>
            <a:pPr marL="717550">
              <a:lnSpc>
                <a:spcPct val="105000"/>
              </a:lnSpc>
              <a:buSzPct val="100000"/>
              <a:buFont typeface="Wingdings" panose="05000000000000000000" pitchFamily="2" charset="2"/>
              <a:buChar char="§"/>
            </a:pPr>
            <a:r>
              <a:rPr lang="en-US" sz="2400" dirty="0">
                <a:latin typeface="+mj-lt"/>
              </a:rPr>
              <a:t>Annuity due</a:t>
            </a:r>
          </a:p>
          <a:p>
            <a:pPr marL="1076325">
              <a:lnSpc>
                <a:spcPct val="105000"/>
              </a:lnSpc>
              <a:buSzPct val="100000"/>
              <a:buFont typeface="Wingdings" panose="05000000000000000000" pitchFamily="2" charset="2"/>
              <a:buChar char="§"/>
            </a:pPr>
            <a:r>
              <a:rPr lang="en-US" sz="2400" dirty="0">
                <a:latin typeface="+mj-lt"/>
              </a:rPr>
              <a:t>Same amounts received/deposited at </a:t>
            </a:r>
            <a:r>
              <a:rPr lang="en-US" sz="2400" b="1" dirty="0">
                <a:solidFill>
                  <a:srgbClr val="C00000"/>
                </a:solidFill>
                <a:latin typeface="+mj-lt"/>
              </a:rPr>
              <a:t>beginning</a:t>
            </a:r>
            <a:r>
              <a:rPr lang="en-US" sz="2400" b="1" dirty="0">
                <a:latin typeface="+mj-lt"/>
              </a:rPr>
              <a:t> </a:t>
            </a:r>
            <a:r>
              <a:rPr lang="en-US" sz="2400" dirty="0">
                <a:latin typeface="+mj-lt"/>
              </a:rPr>
              <a:t>of each period</a:t>
            </a:r>
          </a:p>
          <a:p>
            <a:pPr marL="1076325">
              <a:lnSpc>
                <a:spcPct val="105000"/>
              </a:lnSpc>
              <a:buSzPct val="100000"/>
              <a:buFont typeface="Wingdings" panose="05000000000000000000" pitchFamily="2" charset="2"/>
              <a:buChar char="§"/>
            </a:pPr>
            <a:r>
              <a:rPr lang="en-ZA" altLang="en-US" sz="2400" b="1" dirty="0">
                <a:solidFill>
                  <a:srgbClr val="C00000"/>
                </a:solidFill>
              </a:rPr>
              <a:t>Very NB: Calculator steps same as for ordinary annuity BUT turn on BGN before you continue with your calculations! </a:t>
            </a:r>
          </a:p>
        </p:txBody>
      </p:sp>
    </p:spTree>
    <p:custDataLst>
      <p:tags r:id="rId1"/>
    </p:custDataLst>
    <p:extLst>
      <p:ext uri="{BB962C8B-B14F-4D97-AF65-F5344CB8AC3E}">
        <p14:creationId xmlns:p14="http://schemas.microsoft.com/office/powerpoint/2010/main" val="3765372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10865BB-4353-3C2E-8C14-C511DE103F4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1DDFDD5-A014-DDF4-05B0-665145C45AB5}"/>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B880B5B3-6540-8C77-15EC-953A5825172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13</a:t>
            </a:fld>
            <a:endParaRPr lang="en-US">
              <a:solidFill>
                <a:schemeClr val="tx1"/>
              </a:solidFill>
            </a:endParaRPr>
          </a:p>
        </p:txBody>
      </p:sp>
      <p:sp>
        <p:nvSpPr>
          <p:cNvPr id="4" name="Rectangle 5">
            <a:extLst>
              <a:ext uri="{FF2B5EF4-FFF2-40B4-BE49-F238E27FC236}">
                <a16:creationId xmlns:a16="http://schemas.microsoft.com/office/drawing/2014/main" id="{238C3509-6903-62D6-5DC6-CCA86C718302}"/>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000" dirty="0"/>
              <a:t>Future value of an annuity (cont.)</a:t>
            </a:r>
          </a:p>
          <a:p>
            <a:pPr marL="717550">
              <a:lnSpc>
                <a:spcPct val="105000"/>
              </a:lnSpc>
              <a:buSzPct val="100000"/>
              <a:buFont typeface="Wingdings" panose="05000000000000000000" pitchFamily="2" charset="2"/>
              <a:buChar char="§"/>
            </a:pPr>
            <a:r>
              <a:rPr lang="en-US" sz="2000" dirty="0"/>
              <a:t>Ordinary annuity</a:t>
            </a:r>
          </a:p>
          <a:p>
            <a:pPr marL="717550">
              <a:lnSpc>
                <a:spcPct val="105000"/>
              </a:lnSpc>
              <a:buSzPct val="100000"/>
              <a:buFont typeface="Wingdings" panose="05000000000000000000" pitchFamily="2" charset="2"/>
              <a:buChar char="§"/>
            </a:pPr>
            <a:r>
              <a:rPr lang="en-US" sz="2000" dirty="0"/>
              <a:t>Example: Assume you invest R1 000 annually (</a:t>
            </a:r>
            <a:r>
              <a:rPr lang="en-US" sz="2000" b="1" dirty="0">
                <a:solidFill>
                  <a:srgbClr val="C00000"/>
                </a:solidFill>
              </a:rPr>
              <a:t>end of year</a:t>
            </a:r>
            <a:r>
              <a:rPr lang="en-US" sz="2000" dirty="0"/>
              <a:t>) for five years earning interest at 16% pa</a:t>
            </a:r>
          </a:p>
        </p:txBody>
      </p:sp>
      <p:sp>
        <p:nvSpPr>
          <p:cNvPr id="31" name="Rectangle 30">
            <a:extLst>
              <a:ext uri="{FF2B5EF4-FFF2-40B4-BE49-F238E27FC236}">
                <a16:creationId xmlns:a16="http://schemas.microsoft.com/office/drawing/2014/main" id="{553BAA5E-2063-B2A1-CF3F-4D9EB38647CC}"/>
              </a:ext>
            </a:extLst>
          </p:cNvPr>
          <p:cNvSpPr/>
          <p:nvPr/>
        </p:nvSpPr>
        <p:spPr bwMode="auto">
          <a:xfrm>
            <a:off x="1677616"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32" name="Rectangle 31">
            <a:extLst>
              <a:ext uri="{FF2B5EF4-FFF2-40B4-BE49-F238E27FC236}">
                <a16:creationId xmlns:a16="http://schemas.microsoft.com/office/drawing/2014/main" id="{B2408C0C-2C35-E0CC-B5FB-749A051DD28C}"/>
              </a:ext>
            </a:extLst>
          </p:cNvPr>
          <p:cNvSpPr/>
          <p:nvPr/>
        </p:nvSpPr>
        <p:spPr bwMode="auto">
          <a:xfrm>
            <a:off x="31242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33" name="Rectangle 32">
            <a:extLst>
              <a:ext uri="{FF2B5EF4-FFF2-40B4-BE49-F238E27FC236}">
                <a16:creationId xmlns:a16="http://schemas.microsoft.com/office/drawing/2014/main" id="{65BC7141-E98E-889D-7FE9-A9324641FA4F}"/>
              </a:ext>
            </a:extLst>
          </p:cNvPr>
          <p:cNvSpPr/>
          <p:nvPr/>
        </p:nvSpPr>
        <p:spPr bwMode="auto">
          <a:xfrm>
            <a:off x="44958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34" name="Rectangle 33">
            <a:extLst>
              <a:ext uri="{FF2B5EF4-FFF2-40B4-BE49-F238E27FC236}">
                <a16:creationId xmlns:a16="http://schemas.microsoft.com/office/drawing/2014/main" id="{C254BA1C-0B82-5DCF-5C28-440BAD4BDD2A}"/>
              </a:ext>
            </a:extLst>
          </p:cNvPr>
          <p:cNvSpPr/>
          <p:nvPr/>
        </p:nvSpPr>
        <p:spPr bwMode="auto">
          <a:xfrm>
            <a:off x="58674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35" name="Rectangle 34">
            <a:extLst>
              <a:ext uri="{FF2B5EF4-FFF2-40B4-BE49-F238E27FC236}">
                <a16:creationId xmlns:a16="http://schemas.microsoft.com/office/drawing/2014/main" id="{1482E272-D19C-9168-FCE6-8427D505666C}"/>
              </a:ext>
            </a:extLst>
          </p:cNvPr>
          <p:cNvSpPr/>
          <p:nvPr/>
        </p:nvSpPr>
        <p:spPr bwMode="auto">
          <a:xfrm>
            <a:off x="72390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36" name="TextBox 35">
            <a:extLst>
              <a:ext uri="{FF2B5EF4-FFF2-40B4-BE49-F238E27FC236}">
                <a16:creationId xmlns:a16="http://schemas.microsoft.com/office/drawing/2014/main" id="{14B8345F-4593-C59F-8480-D635FE0783EC}"/>
              </a:ext>
            </a:extLst>
          </p:cNvPr>
          <p:cNvSpPr txBox="1"/>
          <p:nvPr/>
        </p:nvSpPr>
        <p:spPr>
          <a:xfrm>
            <a:off x="609600" y="5440489"/>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Inputs:	5	16	  0                  </a:t>
            </a:r>
            <a:r>
              <a:rPr lang="en-ZA" sz="1400" dirty="0"/>
              <a:t>±</a:t>
            </a:r>
            <a:r>
              <a:rPr lang="en-ZA" sz="1400" dirty="0">
                <a:latin typeface="+mj-lt"/>
              </a:rPr>
              <a:t>1 000	  ?</a:t>
            </a:r>
          </a:p>
        </p:txBody>
      </p:sp>
      <p:sp>
        <p:nvSpPr>
          <p:cNvPr id="37" name="TextBox 36">
            <a:extLst>
              <a:ext uri="{FF2B5EF4-FFF2-40B4-BE49-F238E27FC236}">
                <a16:creationId xmlns:a16="http://schemas.microsoft.com/office/drawing/2014/main" id="{3B825CCB-E5F9-0A72-3E81-E034FD586248}"/>
              </a:ext>
            </a:extLst>
          </p:cNvPr>
          <p:cNvSpPr txBox="1"/>
          <p:nvPr/>
        </p:nvSpPr>
        <p:spPr>
          <a:xfrm>
            <a:off x="609600" y="6474023"/>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 6 877.14</a:t>
            </a:r>
          </a:p>
        </p:txBody>
      </p:sp>
      <p:cxnSp>
        <p:nvCxnSpPr>
          <p:cNvPr id="38" name="Straight Connector 37">
            <a:extLst>
              <a:ext uri="{FF2B5EF4-FFF2-40B4-BE49-F238E27FC236}">
                <a16:creationId xmlns:a16="http://schemas.microsoft.com/office/drawing/2014/main" id="{AEA0B032-1F89-4310-CC66-0E39F39D11BB}"/>
              </a:ext>
            </a:extLst>
          </p:cNvPr>
          <p:cNvCxnSpPr>
            <a:cxnSpLocks/>
          </p:cNvCxnSpPr>
          <p:nvPr/>
        </p:nvCxnSpPr>
        <p:spPr bwMode="auto">
          <a:xfrm>
            <a:off x="310800" y="3134034"/>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BCA9BFC7-8810-D718-1BEB-FCF6A89C99D3}"/>
              </a:ext>
            </a:extLst>
          </p:cNvPr>
          <p:cNvCxnSpPr>
            <a:cxnSpLocks/>
          </p:cNvCxnSpPr>
          <p:nvPr/>
        </p:nvCxnSpPr>
        <p:spPr bwMode="auto">
          <a:xfrm>
            <a:off x="310801" y="29816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0" name="Straight Connector 39">
            <a:extLst>
              <a:ext uri="{FF2B5EF4-FFF2-40B4-BE49-F238E27FC236}">
                <a16:creationId xmlns:a16="http://schemas.microsoft.com/office/drawing/2014/main" id="{2CDED41E-0DD3-AF11-522D-22E81A3CD79D}"/>
              </a:ext>
            </a:extLst>
          </p:cNvPr>
          <p:cNvCxnSpPr>
            <a:cxnSpLocks/>
          </p:cNvCxnSpPr>
          <p:nvPr/>
        </p:nvCxnSpPr>
        <p:spPr bwMode="auto">
          <a:xfrm>
            <a:off x="2896326" y="2991188"/>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1" name="Straight Connector 40">
            <a:extLst>
              <a:ext uri="{FF2B5EF4-FFF2-40B4-BE49-F238E27FC236}">
                <a16:creationId xmlns:a16="http://schemas.microsoft.com/office/drawing/2014/main" id="{BE9AC9AD-4483-629F-E35C-EF85451A1583}"/>
              </a:ext>
            </a:extLst>
          </p:cNvPr>
          <p:cNvCxnSpPr>
            <a:cxnSpLocks/>
          </p:cNvCxnSpPr>
          <p:nvPr/>
        </p:nvCxnSpPr>
        <p:spPr bwMode="auto">
          <a:xfrm>
            <a:off x="1600926" y="29816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B4258CD9-925C-8B3A-480B-02E45334E4AA}"/>
              </a:ext>
            </a:extLst>
          </p:cNvPr>
          <p:cNvCxnSpPr>
            <a:cxnSpLocks/>
          </p:cNvCxnSpPr>
          <p:nvPr/>
        </p:nvCxnSpPr>
        <p:spPr bwMode="auto">
          <a:xfrm>
            <a:off x="4191726" y="2991188"/>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3" name="Straight Arrow Connector 42">
            <a:extLst>
              <a:ext uri="{FF2B5EF4-FFF2-40B4-BE49-F238E27FC236}">
                <a16:creationId xmlns:a16="http://schemas.microsoft.com/office/drawing/2014/main" id="{E4F0FCE7-BE0B-02A0-3C95-0C7A32A57A2B}"/>
              </a:ext>
            </a:extLst>
          </p:cNvPr>
          <p:cNvCxnSpPr>
            <a:cxnSpLocks/>
          </p:cNvCxnSpPr>
          <p:nvPr/>
        </p:nvCxnSpPr>
        <p:spPr bwMode="auto">
          <a:xfrm>
            <a:off x="1600200" y="4928588"/>
            <a:ext cx="5436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4" name="Straight Arrow Connector 43">
            <a:extLst>
              <a:ext uri="{FF2B5EF4-FFF2-40B4-BE49-F238E27FC236}">
                <a16:creationId xmlns:a16="http://schemas.microsoft.com/office/drawing/2014/main" id="{53271935-0C16-A9B0-BBCB-BEF36918E4A5}"/>
              </a:ext>
            </a:extLst>
          </p:cNvPr>
          <p:cNvCxnSpPr>
            <a:cxnSpLocks/>
          </p:cNvCxnSpPr>
          <p:nvPr/>
        </p:nvCxnSpPr>
        <p:spPr bwMode="auto">
          <a:xfrm>
            <a:off x="2896326" y="4659698"/>
            <a:ext cx="410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5" name="Straight Arrow Connector 44">
            <a:extLst>
              <a:ext uri="{FF2B5EF4-FFF2-40B4-BE49-F238E27FC236}">
                <a16:creationId xmlns:a16="http://schemas.microsoft.com/office/drawing/2014/main" id="{7EBC9D39-758F-678A-1C82-308714D08615}"/>
              </a:ext>
            </a:extLst>
          </p:cNvPr>
          <p:cNvCxnSpPr>
            <a:cxnSpLocks/>
          </p:cNvCxnSpPr>
          <p:nvPr/>
        </p:nvCxnSpPr>
        <p:spPr bwMode="auto">
          <a:xfrm>
            <a:off x="5415797" y="4106594"/>
            <a:ext cx="158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46" name="TextBox 45">
            <a:extLst>
              <a:ext uri="{FF2B5EF4-FFF2-40B4-BE49-F238E27FC236}">
                <a16:creationId xmlns:a16="http://schemas.microsoft.com/office/drawing/2014/main" id="{7D29E4D7-D219-7D0B-1B21-AC5BD1E39942}"/>
              </a:ext>
            </a:extLst>
          </p:cNvPr>
          <p:cNvSpPr txBox="1"/>
          <p:nvPr/>
        </p:nvSpPr>
        <p:spPr>
          <a:xfrm>
            <a:off x="342900" y="2591038"/>
            <a:ext cx="8534400" cy="307777"/>
          </a:xfrm>
          <a:prstGeom prst="rect">
            <a:avLst/>
          </a:prstGeom>
          <a:noFill/>
        </p:spPr>
        <p:txBody>
          <a:bodyPr wrap="square" rtlCol="0">
            <a:spAutoFit/>
          </a:bodyPr>
          <a:lstStyle/>
          <a:p>
            <a:r>
              <a:rPr lang="en-ZA" sz="1400" dirty="0">
                <a:latin typeface="+mj-lt"/>
              </a:rPr>
              <a:t> 0   r = 16%  1                      2                     3                     4                   5</a:t>
            </a:r>
          </a:p>
        </p:txBody>
      </p:sp>
      <p:sp>
        <p:nvSpPr>
          <p:cNvPr id="47" name="TextBox 46">
            <a:extLst>
              <a:ext uri="{FF2B5EF4-FFF2-40B4-BE49-F238E27FC236}">
                <a16:creationId xmlns:a16="http://schemas.microsoft.com/office/drawing/2014/main" id="{5929FDC2-FEBF-5592-D792-F32FC0AEEAF0}"/>
              </a:ext>
            </a:extLst>
          </p:cNvPr>
          <p:cNvSpPr txBox="1"/>
          <p:nvPr/>
        </p:nvSpPr>
        <p:spPr>
          <a:xfrm>
            <a:off x="1447799" y="3274682"/>
            <a:ext cx="7046067" cy="307777"/>
          </a:xfrm>
          <a:prstGeom prst="rect">
            <a:avLst/>
          </a:prstGeom>
          <a:noFill/>
        </p:spPr>
        <p:txBody>
          <a:bodyPr wrap="square" rtlCol="0">
            <a:spAutoFit/>
          </a:bodyPr>
          <a:lstStyle/>
          <a:p>
            <a:r>
              <a:rPr lang="en-ZA" sz="1400" dirty="0">
                <a:latin typeface="+mj-lt"/>
              </a:rPr>
              <a:t>1 000	      1 000	            1 000	   1 000	        1 000</a:t>
            </a:r>
            <a:endParaRPr lang="en-ZA" sz="1400" baseline="-25000" dirty="0">
              <a:latin typeface="+mj-lt"/>
            </a:endParaRPr>
          </a:p>
        </p:txBody>
      </p:sp>
      <p:sp>
        <p:nvSpPr>
          <p:cNvPr id="48" name="Rectangle 47">
            <a:extLst>
              <a:ext uri="{FF2B5EF4-FFF2-40B4-BE49-F238E27FC236}">
                <a16:creationId xmlns:a16="http://schemas.microsoft.com/office/drawing/2014/main" id="{72D8EE2F-9CEB-E4B8-8405-147A981EBF32}"/>
              </a:ext>
            </a:extLst>
          </p:cNvPr>
          <p:cNvSpPr/>
          <p:nvPr/>
        </p:nvSpPr>
        <p:spPr bwMode="auto">
          <a:xfrm>
            <a:off x="76200" y="2501276"/>
            <a:ext cx="8991595" cy="2700504"/>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cxnSp>
        <p:nvCxnSpPr>
          <p:cNvPr id="49" name="Straight Connector 48">
            <a:extLst>
              <a:ext uri="{FF2B5EF4-FFF2-40B4-BE49-F238E27FC236}">
                <a16:creationId xmlns:a16="http://schemas.microsoft.com/office/drawing/2014/main" id="{F6B3448C-1C8F-E3F6-1454-A107CCA5E0C1}"/>
              </a:ext>
            </a:extLst>
          </p:cNvPr>
          <p:cNvCxnSpPr/>
          <p:nvPr/>
        </p:nvCxnSpPr>
        <p:spPr bwMode="auto">
          <a:xfrm flipV="1">
            <a:off x="1600200" y="3524588"/>
            <a:ext cx="0" cy="1404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E3CD17DF-BF77-9513-FCFE-D4C9A01D9B99}"/>
              </a:ext>
            </a:extLst>
          </p:cNvPr>
          <p:cNvCxnSpPr>
            <a:cxnSpLocks/>
          </p:cNvCxnSpPr>
          <p:nvPr/>
        </p:nvCxnSpPr>
        <p:spPr bwMode="auto">
          <a:xfrm flipV="1">
            <a:off x="2896326" y="3524588"/>
            <a:ext cx="0" cy="1152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016D6B06-5071-DBD7-0027-B829380A4BBE}"/>
              </a:ext>
            </a:extLst>
          </p:cNvPr>
          <p:cNvCxnSpPr>
            <a:cxnSpLocks/>
          </p:cNvCxnSpPr>
          <p:nvPr/>
        </p:nvCxnSpPr>
        <p:spPr bwMode="auto">
          <a:xfrm flipV="1">
            <a:off x="5412197" y="3543698"/>
            <a:ext cx="0" cy="576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52" name="TextBox 51">
            <a:extLst>
              <a:ext uri="{FF2B5EF4-FFF2-40B4-BE49-F238E27FC236}">
                <a16:creationId xmlns:a16="http://schemas.microsoft.com/office/drawing/2014/main" id="{B9F705DC-7EFA-122E-2127-B881CABFA22A}"/>
              </a:ext>
            </a:extLst>
          </p:cNvPr>
          <p:cNvSpPr txBox="1"/>
          <p:nvPr/>
        </p:nvSpPr>
        <p:spPr>
          <a:xfrm>
            <a:off x="1585179" y="4629078"/>
            <a:ext cx="1320797" cy="307777"/>
          </a:xfrm>
          <a:prstGeom prst="rect">
            <a:avLst/>
          </a:prstGeom>
          <a:noFill/>
        </p:spPr>
        <p:txBody>
          <a:bodyPr wrap="square" rtlCol="0">
            <a:spAutoFit/>
          </a:bodyPr>
          <a:lstStyle/>
          <a:p>
            <a:r>
              <a:rPr lang="en-ZA" sz="1400" dirty="0">
                <a:latin typeface="+mj-lt"/>
              </a:rPr>
              <a:t> x (1.16)</a:t>
            </a:r>
            <a:r>
              <a:rPr lang="en-ZA" sz="1400" baseline="30000" dirty="0">
                <a:latin typeface="+mj-lt"/>
              </a:rPr>
              <a:t>4</a:t>
            </a:r>
          </a:p>
        </p:txBody>
      </p:sp>
      <p:sp>
        <p:nvSpPr>
          <p:cNvPr id="53" name="TextBox 52">
            <a:extLst>
              <a:ext uri="{FF2B5EF4-FFF2-40B4-BE49-F238E27FC236}">
                <a16:creationId xmlns:a16="http://schemas.microsoft.com/office/drawing/2014/main" id="{C14337C1-8FED-26A8-9EFF-D2ED8E0C2088}"/>
              </a:ext>
            </a:extLst>
          </p:cNvPr>
          <p:cNvSpPr txBox="1"/>
          <p:nvPr/>
        </p:nvSpPr>
        <p:spPr>
          <a:xfrm>
            <a:off x="5372831" y="3785203"/>
            <a:ext cx="951767" cy="307777"/>
          </a:xfrm>
          <a:prstGeom prst="rect">
            <a:avLst/>
          </a:prstGeom>
          <a:noFill/>
        </p:spPr>
        <p:txBody>
          <a:bodyPr wrap="square" rtlCol="0">
            <a:spAutoFit/>
          </a:bodyPr>
          <a:lstStyle/>
          <a:p>
            <a:r>
              <a:rPr lang="en-ZA" sz="1400" dirty="0">
                <a:latin typeface="+mj-lt"/>
              </a:rPr>
              <a:t> x (1.16)</a:t>
            </a:r>
            <a:r>
              <a:rPr lang="en-ZA" sz="1400" baseline="30000" dirty="0">
                <a:latin typeface="+mj-lt"/>
              </a:rPr>
              <a:t>1</a:t>
            </a:r>
          </a:p>
        </p:txBody>
      </p:sp>
      <p:sp>
        <p:nvSpPr>
          <p:cNvPr id="54" name="TextBox 53">
            <a:extLst>
              <a:ext uri="{FF2B5EF4-FFF2-40B4-BE49-F238E27FC236}">
                <a16:creationId xmlns:a16="http://schemas.microsoft.com/office/drawing/2014/main" id="{DC2741A2-AA68-3934-8894-F0EF85D734CE}"/>
              </a:ext>
            </a:extLst>
          </p:cNvPr>
          <p:cNvSpPr txBox="1"/>
          <p:nvPr/>
        </p:nvSpPr>
        <p:spPr>
          <a:xfrm>
            <a:off x="7038337" y="3699369"/>
            <a:ext cx="2114900" cy="1384995"/>
          </a:xfrm>
          <a:prstGeom prst="rect">
            <a:avLst/>
          </a:prstGeom>
          <a:noFill/>
        </p:spPr>
        <p:txBody>
          <a:bodyPr wrap="square" rtlCol="0">
            <a:spAutoFit/>
          </a:bodyPr>
          <a:lstStyle/>
          <a:p>
            <a:r>
              <a:rPr lang="en-ZA" sz="1400" dirty="0">
                <a:latin typeface="+mj-lt"/>
              </a:rPr>
              <a:t>            1 000.00</a:t>
            </a:r>
          </a:p>
          <a:p>
            <a:r>
              <a:rPr lang="en-ZA" sz="1400" dirty="0">
                <a:latin typeface="+mj-lt"/>
              </a:rPr>
              <a:t>            1 160.00</a:t>
            </a:r>
          </a:p>
          <a:p>
            <a:r>
              <a:rPr lang="en-ZA" sz="1400" dirty="0">
                <a:latin typeface="+mj-lt"/>
              </a:rPr>
              <a:t>            1 345.60</a:t>
            </a:r>
          </a:p>
          <a:p>
            <a:r>
              <a:rPr lang="en-ZA" sz="1400" dirty="0">
                <a:latin typeface="+mj-lt"/>
              </a:rPr>
              <a:t>            1 560.90</a:t>
            </a:r>
          </a:p>
          <a:p>
            <a:r>
              <a:rPr lang="en-ZA" sz="1400" dirty="0">
                <a:latin typeface="+mj-lt"/>
              </a:rPr>
              <a:t>            </a:t>
            </a:r>
            <a:r>
              <a:rPr lang="en-ZA" sz="1400" u="sng" dirty="0">
                <a:latin typeface="+mj-lt"/>
              </a:rPr>
              <a:t>1 810.64</a:t>
            </a:r>
          </a:p>
          <a:p>
            <a:r>
              <a:rPr lang="en-ZA" sz="1400" dirty="0">
                <a:latin typeface="+mj-lt"/>
              </a:rPr>
              <a:t>FVA</a:t>
            </a:r>
            <a:r>
              <a:rPr lang="en-ZA" sz="1400" baseline="-25000" dirty="0">
                <a:latin typeface="+mj-lt"/>
              </a:rPr>
              <a:t>5</a:t>
            </a:r>
            <a:r>
              <a:rPr lang="en-ZA" sz="1400" dirty="0">
                <a:latin typeface="+mj-lt"/>
              </a:rPr>
              <a:t> =  </a:t>
            </a:r>
            <a:r>
              <a:rPr lang="en-ZA" sz="1400" u="dbl" dirty="0">
                <a:latin typeface="+mj-lt"/>
              </a:rPr>
              <a:t>6 877.14</a:t>
            </a:r>
          </a:p>
        </p:txBody>
      </p:sp>
      <p:sp>
        <p:nvSpPr>
          <p:cNvPr id="55" name="TextBox 54">
            <a:extLst>
              <a:ext uri="{FF2B5EF4-FFF2-40B4-BE49-F238E27FC236}">
                <a16:creationId xmlns:a16="http://schemas.microsoft.com/office/drawing/2014/main" id="{8CDF27E4-E632-5D7A-41A0-9942F5E481AE}"/>
              </a:ext>
            </a:extLst>
          </p:cNvPr>
          <p:cNvSpPr txBox="1"/>
          <p:nvPr/>
        </p:nvSpPr>
        <p:spPr>
          <a:xfrm>
            <a:off x="6999726" y="2607622"/>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end of year 5</a:t>
            </a:r>
            <a:endParaRPr lang="en-ZA" sz="1400" baseline="30000" dirty="0">
              <a:latin typeface="+mj-lt"/>
            </a:endParaRPr>
          </a:p>
        </p:txBody>
      </p:sp>
      <p:cxnSp>
        <p:nvCxnSpPr>
          <p:cNvPr id="56" name="Straight Connector 55">
            <a:extLst>
              <a:ext uri="{FF2B5EF4-FFF2-40B4-BE49-F238E27FC236}">
                <a16:creationId xmlns:a16="http://schemas.microsoft.com/office/drawing/2014/main" id="{75E5E421-70EF-5C80-0CDC-EA1D17B59477}"/>
              </a:ext>
            </a:extLst>
          </p:cNvPr>
          <p:cNvCxnSpPr>
            <a:cxnSpLocks/>
          </p:cNvCxnSpPr>
          <p:nvPr/>
        </p:nvCxnSpPr>
        <p:spPr bwMode="auto">
          <a:xfrm>
            <a:off x="6594028" y="2978442"/>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43C2CEC3-A032-818D-04CC-E0F90043C10A}"/>
              </a:ext>
            </a:extLst>
          </p:cNvPr>
          <p:cNvCxnSpPr>
            <a:cxnSpLocks/>
          </p:cNvCxnSpPr>
          <p:nvPr/>
        </p:nvCxnSpPr>
        <p:spPr bwMode="auto">
          <a:xfrm>
            <a:off x="5417196" y="2978442"/>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8" name="Straight Arrow Connector 57">
            <a:extLst>
              <a:ext uri="{FF2B5EF4-FFF2-40B4-BE49-F238E27FC236}">
                <a16:creationId xmlns:a16="http://schemas.microsoft.com/office/drawing/2014/main" id="{FDF609A4-92E1-BA88-3413-FBB0DD0D0AF9}"/>
              </a:ext>
            </a:extLst>
          </p:cNvPr>
          <p:cNvCxnSpPr>
            <a:cxnSpLocks/>
          </p:cNvCxnSpPr>
          <p:nvPr/>
        </p:nvCxnSpPr>
        <p:spPr bwMode="auto">
          <a:xfrm>
            <a:off x="4191726" y="4370863"/>
            <a:ext cx="2808000" cy="196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9" name="Straight Connector 58">
            <a:extLst>
              <a:ext uri="{FF2B5EF4-FFF2-40B4-BE49-F238E27FC236}">
                <a16:creationId xmlns:a16="http://schemas.microsoft.com/office/drawing/2014/main" id="{F6640BC4-88FE-2538-FD95-6E55F0BBDA5B}"/>
              </a:ext>
            </a:extLst>
          </p:cNvPr>
          <p:cNvCxnSpPr>
            <a:cxnSpLocks/>
          </p:cNvCxnSpPr>
          <p:nvPr/>
        </p:nvCxnSpPr>
        <p:spPr bwMode="auto">
          <a:xfrm flipV="1">
            <a:off x="4191000" y="3543698"/>
            <a:ext cx="0" cy="82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9175EE84-2C9F-9B25-716C-54BA41470B68}"/>
              </a:ext>
            </a:extLst>
          </p:cNvPr>
          <p:cNvCxnSpPr>
            <a:cxnSpLocks/>
          </p:cNvCxnSpPr>
          <p:nvPr/>
        </p:nvCxnSpPr>
        <p:spPr bwMode="auto">
          <a:xfrm flipV="1">
            <a:off x="6599586" y="3543698"/>
            <a:ext cx="0" cy="28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1" name="Straight Arrow Connector 60">
            <a:extLst>
              <a:ext uri="{FF2B5EF4-FFF2-40B4-BE49-F238E27FC236}">
                <a16:creationId xmlns:a16="http://schemas.microsoft.com/office/drawing/2014/main" id="{F465809A-C116-7F30-D7F3-1BF9CF2A2B28}"/>
              </a:ext>
            </a:extLst>
          </p:cNvPr>
          <p:cNvCxnSpPr>
            <a:cxnSpLocks/>
          </p:cNvCxnSpPr>
          <p:nvPr/>
        </p:nvCxnSpPr>
        <p:spPr bwMode="auto">
          <a:xfrm>
            <a:off x="6594028" y="3829388"/>
            <a:ext cx="396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62" name="TextBox 61">
            <a:extLst>
              <a:ext uri="{FF2B5EF4-FFF2-40B4-BE49-F238E27FC236}">
                <a16:creationId xmlns:a16="http://schemas.microsoft.com/office/drawing/2014/main" id="{9B54AD33-87BC-7B77-EDE0-35EDE0A52E77}"/>
              </a:ext>
            </a:extLst>
          </p:cNvPr>
          <p:cNvSpPr txBox="1"/>
          <p:nvPr/>
        </p:nvSpPr>
        <p:spPr>
          <a:xfrm>
            <a:off x="6523841" y="3521611"/>
            <a:ext cx="936000" cy="307777"/>
          </a:xfrm>
          <a:prstGeom prst="rect">
            <a:avLst/>
          </a:prstGeom>
          <a:noFill/>
        </p:spPr>
        <p:txBody>
          <a:bodyPr wrap="square" rtlCol="0">
            <a:spAutoFit/>
          </a:bodyPr>
          <a:lstStyle/>
          <a:p>
            <a:r>
              <a:rPr lang="en-ZA" sz="1400" dirty="0">
                <a:latin typeface="+mj-lt"/>
              </a:rPr>
              <a:t> x (1.16)</a:t>
            </a:r>
            <a:r>
              <a:rPr lang="en-ZA" sz="1400" baseline="30000" dirty="0">
                <a:latin typeface="+mj-lt"/>
              </a:rPr>
              <a:t>0</a:t>
            </a:r>
          </a:p>
        </p:txBody>
      </p:sp>
      <p:sp>
        <p:nvSpPr>
          <p:cNvPr id="63" name="TextBox 62">
            <a:extLst>
              <a:ext uri="{FF2B5EF4-FFF2-40B4-BE49-F238E27FC236}">
                <a16:creationId xmlns:a16="http://schemas.microsoft.com/office/drawing/2014/main" id="{8BE77AD9-FB4F-C9CE-3A29-EDAACF223ED6}"/>
              </a:ext>
            </a:extLst>
          </p:cNvPr>
          <p:cNvSpPr txBox="1"/>
          <p:nvPr/>
        </p:nvSpPr>
        <p:spPr>
          <a:xfrm>
            <a:off x="4229833" y="4084090"/>
            <a:ext cx="951767" cy="307777"/>
          </a:xfrm>
          <a:prstGeom prst="rect">
            <a:avLst/>
          </a:prstGeom>
          <a:noFill/>
        </p:spPr>
        <p:txBody>
          <a:bodyPr wrap="square" rtlCol="0">
            <a:spAutoFit/>
          </a:bodyPr>
          <a:lstStyle/>
          <a:p>
            <a:r>
              <a:rPr lang="en-ZA" sz="1400" dirty="0">
                <a:latin typeface="+mj-lt"/>
              </a:rPr>
              <a:t> x (1.16)</a:t>
            </a:r>
            <a:r>
              <a:rPr lang="en-ZA" sz="1400" baseline="30000" dirty="0">
                <a:latin typeface="+mj-lt"/>
              </a:rPr>
              <a:t>2</a:t>
            </a:r>
          </a:p>
        </p:txBody>
      </p:sp>
      <p:sp>
        <p:nvSpPr>
          <p:cNvPr id="9216" name="TextBox 9215">
            <a:extLst>
              <a:ext uri="{FF2B5EF4-FFF2-40B4-BE49-F238E27FC236}">
                <a16:creationId xmlns:a16="http://schemas.microsoft.com/office/drawing/2014/main" id="{4EEE108C-EEA4-E176-2CD2-BF90589A3028}"/>
              </a:ext>
            </a:extLst>
          </p:cNvPr>
          <p:cNvSpPr txBox="1"/>
          <p:nvPr/>
        </p:nvSpPr>
        <p:spPr>
          <a:xfrm>
            <a:off x="2894874" y="4359811"/>
            <a:ext cx="951767" cy="307777"/>
          </a:xfrm>
          <a:prstGeom prst="rect">
            <a:avLst/>
          </a:prstGeom>
          <a:noFill/>
        </p:spPr>
        <p:txBody>
          <a:bodyPr wrap="square" rtlCol="0">
            <a:spAutoFit/>
          </a:bodyPr>
          <a:lstStyle/>
          <a:p>
            <a:r>
              <a:rPr lang="en-ZA" sz="1400" dirty="0">
                <a:latin typeface="+mj-lt"/>
              </a:rPr>
              <a:t> x (1.16)</a:t>
            </a:r>
            <a:r>
              <a:rPr lang="en-ZA" sz="1400" baseline="30000" dirty="0">
                <a:latin typeface="+mj-lt"/>
              </a:rPr>
              <a:t>3</a:t>
            </a:r>
          </a:p>
        </p:txBody>
      </p:sp>
    </p:spTree>
    <p:custDataLst>
      <p:tags r:id="rId1"/>
    </p:custDataLst>
    <p:extLst>
      <p:ext uri="{BB962C8B-B14F-4D97-AF65-F5344CB8AC3E}">
        <p14:creationId xmlns:p14="http://schemas.microsoft.com/office/powerpoint/2010/main" val="3963815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512A7F-F0F6-9C38-83A8-9BEAB7AEE91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06836D4-AAFD-1BBD-CDA9-E156F07C09E8}"/>
              </a:ext>
            </a:extLst>
          </p:cNvPr>
          <p:cNvSpPr>
            <a:spLocks noGrp="1" noChangeArrowheads="1"/>
          </p:cNvSpPr>
          <p:nvPr>
            <p:ph type="title"/>
          </p:nvPr>
        </p:nvSpPr>
        <p:spPr>
          <a:xfrm>
            <a:off x="228600" y="10510"/>
            <a:ext cx="8763000" cy="1143000"/>
          </a:xfrm>
        </p:spPr>
        <p:txBody>
          <a:bodyPr/>
          <a:lstStyle/>
          <a:p>
            <a:r>
              <a:rPr lang="en-US" dirty="0">
                <a:solidFill>
                  <a:schemeClr val="tx2"/>
                </a:solidFill>
              </a:rPr>
              <a:t>Future values (cont.)</a:t>
            </a:r>
          </a:p>
        </p:txBody>
      </p:sp>
      <p:sp>
        <p:nvSpPr>
          <p:cNvPr id="3" name="Slide Number Placeholder 2">
            <a:extLst>
              <a:ext uri="{FF2B5EF4-FFF2-40B4-BE49-F238E27FC236}">
                <a16:creationId xmlns:a16="http://schemas.microsoft.com/office/drawing/2014/main" id="{91EA01CB-68C5-688C-F756-D9F8F1271E97}"/>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14</a:t>
            </a:fld>
            <a:endParaRPr lang="en-US">
              <a:solidFill>
                <a:schemeClr val="tx1"/>
              </a:solidFill>
            </a:endParaRPr>
          </a:p>
        </p:txBody>
      </p:sp>
      <p:sp>
        <p:nvSpPr>
          <p:cNvPr id="4" name="Rectangle 5">
            <a:extLst>
              <a:ext uri="{FF2B5EF4-FFF2-40B4-BE49-F238E27FC236}">
                <a16:creationId xmlns:a16="http://schemas.microsoft.com/office/drawing/2014/main" id="{4AE8FA28-947F-6F62-449B-21AC778D633E}"/>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000" dirty="0"/>
              <a:t>Future value of an annuity (cont.)</a:t>
            </a:r>
          </a:p>
          <a:p>
            <a:pPr marL="717550">
              <a:lnSpc>
                <a:spcPct val="105000"/>
              </a:lnSpc>
              <a:buSzPct val="100000"/>
              <a:buFont typeface="Wingdings" panose="05000000000000000000" pitchFamily="2" charset="2"/>
              <a:buChar char="§"/>
            </a:pPr>
            <a:r>
              <a:rPr lang="en-US" sz="2000" dirty="0"/>
              <a:t>Annuity due</a:t>
            </a:r>
          </a:p>
          <a:p>
            <a:pPr marL="717550">
              <a:lnSpc>
                <a:spcPct val="105000"/>
              </a:lnSpc>
              <a:buSzPct val="100000"/>
              <a:buFont typeface="Wingdings" panose="05000000000000000000" pitchFamily="2" charset="2"/>
              <a:buChar char="§"/>
            </a:pPr>
            <a:r>
              <a:rPr lang="en-US" sz="2000" dirty="0"/>
              <a:t>Example: Assume you invest R1 000 annually (</a:t>
            </a:r>
            <a:r>
              <a:rPr lang="en-US" sz="2000" b="1" dirty="0">
                <a:solidFill>
                  <a:srgbClr val="C00000"/>
                </a:solidFill>
              </a:rPr>
              <a:t>beginning of year</a:t>
            </a:r>
            <a:r>
              <a:rPr lang="en-US" sz="2000" dirty="0"/>
              <a:t>) for five years earning interest at 16% pa</a:t>
            </a:r>
          </a:p>
        </p:txBody>
      </p:sp>
      <p:sp>
        <p:nvSpPr>
          <p:cNvPr id="31" name="Rectangle 30">
            <a:extLst>
              <a:ext uri="{FF2B5EF4-FFF2-40B4-BE49-F238E27FC236}">
                <a16:creationId xmlns:a16="http://schemas.microsoft.com/office/drawing/2014/main" id="{43E4E95F-1136-49F6-311C-6DC0AED50423}"/>
              </a:ext>
            </a:extLst>
          </p:cNvPr>
          <p:cNvSpPr/>
          <p:nvPr/>
        </p:nvSpPr>
        <p:spPr bwMode="auto">
          <a:xfrm>
            <a:off x="1677616"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32" name="Rectangle 31">
            <a:extLst>
              <a:ext uri="{FF2B5EF4-FFF2-40B4-BE49-F238E27FC236}">
                <a16:creationId xmlns:a16="http://schemas.microsoft.com/office/drawing/2014/main" id="{3809EE52-CAFC-0C14-B3DE-294CCE16527C}"/>
              </a:ext>
            </a:extLst>
          </p:cNvPr>
          <p:cNvSpPr/>
          <p:nvPr/>
        </p:nvSpPr>
        <p:spPr bwMode="auto">
          <a:xfrm>
            <a:off x="31242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33" name="Rectangle 32">
            <a:extLst>
              <a:ext uri="{FF2B5EF4-FFF2-40B4-BE49-F238E27FC236}">
                <a16:creationId xmlns:a16="http://schemas.microsoft.com/office/drawing/2014/main" id="{79097A88-3A16-7057-1D51-BE1D10E334FE}"/>
              </a:ext>
            </a:extLst>
          </p:cNvPr>
          <p:cNvSpPr/>
          <p:nvPr/>
        </p:nvSpPr>
        <p:spPr bwMode="auto">
          <a:xfrm>
            <a:off x="44958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34" name="Rectangle 33">
            <a:extLst>
              <a:ext uri="{FF2B5EF4-FFF2-40B4-BE49-F238E27FC236}">
                <a16:creationId xmlns:a16="http://schemas.microsoft.com/office/drawing/2014/main" id="{33C166F9-0362-EDD4-9458-CCFCCC53C234}"/>
              </a:ext>
            </a:extLst>
          </p:cNvPr>
          <p:cNvSpPr/>
          <p:nvPr/>
        </p:nvSpPr>
        <p:spPr bwMode="auto">
          <a:xfrm>
            <a:off x="58674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35" name="Rectangle 34">
            <a:extLst>
              <a:ext uri="{FF2B5EF4-FFF2-40B4-BE49-F238E27FC236}">
                <a16:creationId xmlns:a16="http://schemas.microsoft.com/office/drawing/2014/main" id="{92030BD0-8252-754B-FD1D-7323DEA639BD}"/>
              </a:ext>
            </a:extLst>
          </p:cNvPr>
          <p:cNvSpPr/>
          <p:nvPr/>
        </p:nvSpPr>
        <p:spPr bwMode="auto">
          <a:xfrm>
            <a:off x="7239000" y="58287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36" name="TextBox 35">
            <a:extLst>
              <a:ext uri="{FF2B5EF4-FFF2-40B4-BE49-F238E27FC236}">
                <a16:creationId xmlns:a16="http://schemas.microsoft.com/office/drawing/2014/main" id="{6A0D2E96-EFF2-24DA-E588-201445DE6AFE}"/>
              </a:ext>
            </a:extLst>
          </p:cNvPr>
          <p:cNvSpPr txBox="1"/>
          <p:nvPr/>
        </p:nvSpPr>
        <p:spPr>
          <a:xfrm>
            <a:off x="609600" y="5257800"/>
            <a:ext cx="8083626" cy="523220"/>
          </a:xfrm>
          <a:prstGeom prst="rect">
            <a:avLst/>
          </a:prstGeom>
          <a:noFill/>
        </p:spPr>
        <p:txBody>
          <a:bodyPr wrap="square" rtlCol="0">
            <a:spAutoFit/>
          </a:bodyPr>
          <a:lstStyle/>
          <a:p>
            <a:pPr defTabSz="1350963">
              <a:tabLst>
                <a:tab pos="1435100" algn="l"/>
                <a:tab pos="2786063" algn="l"/>
              </a:tabLst>
            </a:pPr>
            <a:r>
              <a:rPr lang="en-ZA" sz="1400" dirty="0">
                <a:latin typeface="+mj-lt"/>
              </a:rPr>
              <a:t>					</a:t>
            </a:r>
            <a:r>
              <a:rPr lang="en-ZA" sz="1400" b="1" dirty="0">
                <a:solidFill>
                  <a:srgbClr val="C00000"/>
                </a:solidFill>
                <a:latin typeface="+mj-lt"/>
              </a:rPr>
              <a:t>BGN</a:t>
            </a:r>
          </a:p>
          <a:p>
            <a:pPr defTabSz="1350963">
              <a:tabLst>
                <a:tab pos="1435100" algn="l"/>
                <a:tab pos="2786063" algn="l"/>
              </a:tabLst>
            </a:pPr>
            <a:r>
              <a:rPr lang="en-ZA" sz="1400" dirty="0">
                <a:latin typeface="+mj-lt"/>
              </a:rPr>
              <a:t>Inputs:	5	16	  0                  </a:t>
            </a:r>
            <a:r>
              <a:rPr lang="en-ZA" sz="1400" dirty="0"/>
              <a:t>±</a:t>
            </a:r>
            <a:r>
              <a:rPr lang="en-ZA" sz="1400" dirty="0">
                <a:latin typeface="+mj-lt"/>
              </a:rPr>
              <a:t>1 000	  ?</a:t>
            </a:r>
          </a:p>
        </p:txBody>
      </p:sp>
      <p:sp>
        <p:nvSpPr>
          <p:cNvPr id="37" name="TextBox 36">
            <a:extLst>
              <a:ext uri="{FF2B5EF4-FFF2-40B4-BE49-F238E27FC236}">
                <a16:creationId xmlns:a16="http://schemas.microsoft.com/office/drawing/2014/main" id="{AB9FEBFE-5DC1-CB6A-4124-50239F021637}"/>
              </a:ext>
            </a:extLst>
          </p:cNvPr>
          <p:cNvSpPr txBox="1"/>
          <p:nvPr/>
        </p:nvSpPr>
        <p:spPr>
          <a:xfrm>
            <a:off x="609600" y="6474023"/>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 7 977.48</a:t>
            </a:r>
          </a:p>
        </p:txBody>
      </p:sp>
      <p:cxnSp>
        <p:nvCxnSpPr>
          <p:cNvPr id="38" name="Straight Connector 37">
            <a:extLst>
              <a:ext uri="{FF2B5EF4-FFF2-40B4-BE49-F238E27FC236}">
                <a16:creationId xmlns:a16="http://schemas.microsoft.com/office/drawing/2014/main" id="{E6C8FC1D-C6F3-01B8-C605-60F703338827}"/>
              </a:ext>
            </a:extLst>
          </p:cNvPr>
          <p:cNvCxnSpPr>
            <a:cxnSpLocks/>
          </p:cNvCxnSpPr>
          <p:nvPr/>
        </p:nvCxnSpPr>
        <p:spPr bwMode="auto">
          <a:xfrm>
            <a:off x="310800" y="3134034"/>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E1012BD3-5053-9144-76AA-50594FB0E346}"/>
              </a:ext>
            </a:extLst>
          </p:cNvPr>
          <p:cNvCxnSpPr>
            <a:cxnSpLocks/>
          </p:cNvCxnSpPr>
          <p:nvPr/>
        </p:nvCxnSpPr>
        <p:spPr bwMode="auto">
          <a:xfrm>
            <a:off x="310801" y="29816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0" name="Straight Connector 39">
            <a:extLst>
              <a:ext uri="{FF2B5EF4-FFF2-40B4-BE49-F238E27FC236}">
                <a16:creationId xmlns:a16="http://schemas.microsoft.com/office/drawing/2014/main" id="{74DE3411-C647-20DC-98FE-212198C0CC39}"/>
              </a:ext>
            </a:extLst>
          </p:cNvPr>
          <p:cNvCxnSpPr>
            <a:cxnSpLocks/>
          </p:cNvCxnSpPr>
          <p:nvPr/>
        </p:nvCxnSpPr>
        <p:spPr bwMode="auto">
          <a:xfrm>
            <a:off x="2896326" y="2991188"/>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1" name="Straight Connector 40">
            <a:extLst>
              <a:ext uri="{FF2B5EF4-FFF2-40B4-BE49-F238E27FC236}">
                <a16:creationId xmlns:a16="http://schemas.microsoft.com/office/drawing/2014/main" id="{9A758D58-BD24-5776-8DEA-1BB734079CC9}"/>
              </a:ext>
            </a:extLst>
          </p:cNvPr>
          <p:cNvCxnSpPr>
            <a:cxnSpLocks/>
          </p:cNvCxnSpPr>
          <p:nvPr/>
        </p:nvCxnSpPr>
        <p:spPr bwMode="auto">
          <a:xfrm>
            <a:off x="1600926" y="29816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D2D6A390-3DE8-F0D4-D7B1-BBDBD67B4182}"/>
              </a:ext>
            </a:extLst>
          </p:cNvPr>
          <p:cNvCxnSpPr>
            <a:cxnSpLocks/>
          </p:cNvCxnSpPr>
          <p:nvPr/>
        </p:nvCxnSpPr>
        <p:spPr bwMode="auto">
          <a:xfrm>
            <a:off x="4191726" y="2991188"/>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3" name="Straight Arrow Connector 42">
            <a:extLst>
              <a:ext uri="{FF2B5EF4-FFF2-40B4-BE49-F238E27FC236}">
                <a16:creationId xmlns:a16="http://schemas.microsoft.com/office/drawing/2014/main" id="{98028F70-7341-0773-CABB-852D62A13C3A}"/>
              </a:ext>
            </a:extLst>
          </p:cNvPr>
          <p:cNvCxnSpPr>
            <a:cxnSpLocks/>
          </p:cNvCxnSpPr>
          <p:nvPr/>
        </p:nvCxnSpPr>
        <p:spPr bwMode="auto">
          <a:xfrm>
            <a:off x="319239" y="4956354"/>
            <a:ext cx="644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4" name="Straight Arrow Connector 43">
            <a:extLst>
              <a:ext uri="{FF2B5EF4-FFF2-40B4-BE49-F238E27FC236}">
                <a16:creationId xmlns:a16="http://schemas.microsoft.com/office/drawing/2014/main" id="{DCD8362C-EC98-47A2-70BE-EAF6A079F35C}"/>
              </a:ext>
            </a:extLst>
          </p:cNvPr>
          <p:cNvCxnSpPr>
            <a:cxnSpLocks/>
          </p:cNvCxnSpPr>
          <p:nvPr/>
        </p:nvCxnSpPr>
        <p:spPr bwMode="auto">
          <a:xfrm>
            <a:off x="1615365" y="4687464"/>
            <a:ext cx="5148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5" name="Straight Arrow Connector 44">
            <a:extLst>
              <a:ext uri="{FF2B5EF4-FFF2-40B4-BE49-F238E27FC236}">
                <a16:creationId xmlns:a16="http://schemas.microsoft.com/office/drawing/2014/main" id="{1525BAD5-3325-2F88-BA00-E0A9735987A5}"/>
              </a:ext>
            </a:extLst>
          </p:cNvPr>
          <p:cNvCxnSpPr>
            <a:cxnSpLocks/>
          </p:cNvCxnSpPr>
          <p:nvPr/>
        </p:nvCxnSpPr>
        <p:spPr bwMode="auto">
          <a:xfrm>
            <a:off x="4191000" y="4134360"/>
            <a:ext cx="2556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46" name="TextBox 45">
            <a:extLst>
              <a:ext uri="{FF2B5EF4-FFF2-40B4-BE49-F238E27FC236}">
                <a16:creationId xmlns:a16="http://schemas.microsoft.com/office/drawing/2014/main" id="{2E28B4D6-594A-8B86-E8CA-33FEF1F80CBD}"/>
              </a:ext>
            </a:extLst>
          </p:cNvPr>
          <p:cNvSpPr txBox="1"/>
          <p:nvPr/>
        </p:nvSpPr>
        <p:spPr>
          <a:xfrm>
            <a:off x="342900" y="2591038"/>
            <a:ext cx="8534400" cy="307777"/>
          </a:xfrm>
          <a:prstGeom prst="rect">
            <a:avLst/>
          </a:prstGeom>
          <a:noFill/>
        </p:spPr>
        <p:txBody>
          <a:bodyPr wrap="square" rtlCol="0">
            <a:spAutoFit/>
          </a:bodyPr>
          <a:lstStyle/>
          <a:p>
            <a:r>
              <a:rPr lang="en-ZA" sz="1400" dirty="0">
                <a:latin typeface="+mj-lt"/>
              </a:rPr>
              <a:t> 0   r = 16%  1                      2                     3                     4                   5</a:t>
            </a:r>
          </a:p>
        </p:txBody>
      </p:sp>
      <p:sp>
        <p:nvSpPr>
          <p:cNvPr id="47" name="TextBox 46">
            <a:extLst>
              <a:ext uri="{FF2B5EF4-FFF2-40B4-BE49-F238E27FC236}">
                <a16:creationId xmlns:a16="http://schemas.microsoft.com/office/drawing/2014/main" id="{49925646-1008-1C48-E716-95590DF0799B}"/>
              </a:ext>
            </a:extLst>
          </p:cNvPr>
          <p:cNvSpPr txBox="1"/>
          <p:nvPr/>
        </p:nvSpPr>
        <p:spPr>
          <a:xfrm>
            <a:off x="144331" y="3254262"/>
            <a:ext cx="7046067" cy="307777"/>
          </a:xfrm>
          <a:prstGeom prst="rect">
            <a:avLst/>
          </a:prstGeom>
          <a:noFill/>
        </p:spPr>
        <p:txBody>
          <a:bodyPr wrap="square" rtlCol="0">
            <a:spAutoFit/>
          </a:bodyPr>
          <a:lstStyle/>
          <a:p>
            <a:r>
              <a:rPr lang="en-ZA" sz="1400" dirty="0">
                <a:latin typeface="+mj-lt"/>
              </a:rPr>
              <a:t>1 000	      1 000	            1 000	   1 000	        1 000</a:t>
            </a:r>
            <a:endParaRPr lang="en-ZA" sz="1400" baseline="-25000" dirty="0">
              <a:latin typeface="+mj-lt"/>
            </a:endParaRPr>
          </a:p>
        </p:txBody>
      </p:sp>
      <p:sp>
        <p:nvSpPr>
          <p:cNvPr id="48" name="Rectangle 47">
            <a:extLst>
              <a:ext uri="{FF2B5EF4-FFF2-40B4-BE49-F238E27FC236}">
                <a16:creationId xmlns:a16="http://schemas.microsoft.com/office/drawing/2014/main" id="{46E3AD1F-5D0A-763D-7F12-6F140A852FE7}"/>
              </a:ext>
            </a:extLst>
          </p:cNvPr>
          <p:cNvSpPr/>
          <p:nvPr/>
        </p:nvSpPr>
        <p:spPr bwMode="auto">
          <a:xfrm>
            <a:off x="76200" y="2501276"/>
            <a:ext cx="8991595" cy="2700504"/>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cxnSp>
        <p:nvCxnSpPr>
          <p:cNvPr id="49" name="Straight Connector 48">
            <a:extLst>
              <a:ext uri="{FF2B5EF4-FFF2-40B4-BE49-F238E27FC236}">
                <a16:creationId xmlns:a16="http://schemas.microsoft.com/office/drawing/2014/main" id="{90A24A08-DBC2-ED18-913C-9DA5EAAE3F98}"/>
              </a:ext>
            </a:extLst>
          </p:cNvPr>
          <p:cNvCxnSpPr/>
          <p:nvPr/>
        </p:nvCxnSpPr>
        <p:spPr bwMode="auto">
          <a:xfrm flipV="1">
            <a:off x="319239" y="3552354"/>
            <a:ext cx="0" cy="1404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3DF58DB4-1C41-0B2A-2CCE-E7BB0F77536C}"/>
              </a:ext>
            </a:extLst>
          </p:cNvPr>
          <p:cNvCxnSpPr>
            <a:cxnSpLocks/>
          </p:cNvCxnSpPr>
          <p:nvPr/>
        </p:nvCxnSpPr>
        <p:spPr bwMode="auto">
          <a:xfrm flipV="1">
            <a:off x="1615365" y="3552354"/>
            <a:ext cx="0" cy="1152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E47D3BCE-DB15-ADC6-DA0A-8B74223C8E45}"/>
              </a:ext>
            </a:extLst>
          </p:cNvPr>
          <p:cNvCxnSpPr>
            <a:cxnSpLocks/>
          </p:cNvCxnSpPr>
          <p:nvPr/>
        </p:nvCxnSpPr>
        <p:spPr bwMode="auto">
          <a:xfrm flipV="1">
            <a:off x="4191000" y="3571464"/>
            <a:ext cx="0" cy="576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52" name="TextBox 51">
            <a:extLst>
              <a:ext uri="{FF2B5EF4-FFF2-40B4-BE49-F238E27FC236}">
                <a16:creationId xmlns:a16="http://schemas.microsoft.com/office/drawing/2014/main" id="{9842C8A6-E66E-EC1B-BA5B-53EC00FE14CE}"/>
              </a:ext>
            </a:extLst>
          </p:cNvPr>
          <p:cNvSpPr txBox="1"/>
          <p:nvPr/>
        </p:nvSpPr>
        <p:spPr>
          <a:xfrm>
            <a:off x="304218" y="4656844"/>
            <a:ext cx="1320797" cy="307777"/>
          </a:xfrm>
          <a:prstGeom prst="rect">
            <a:avLst/>
          </a:prstGeom>
          <a:noFill/>
        </p:spPr>
        <p:txBody>
          <a:bodyPr wrap="square" rtlCol="0">
            <a:spAutoFit/>
          </a:bodyPr>
          <a:lstStyle/>
          <a:p>
            <a:r>
              <a:rPr lang="en-ZA" sz="1400" dirty="0">
                <a:latin typeface="+mj-lt"/>
              </a:rPr>
              <a:t> x (1.16)</a:t>
            </a:r>
            <a:r>
              <a:rPr lang="en-ZA" sz="1400" baseline="30000" dirty="0">
                <a:latin typeface="+mj-lt"/>
              </a:rPr>
              <a:t>5</a:t>
            </a:r>
          </a:p>
        </p:txBody>
      </p:sp>
      <p:sp>
        <p:nvSpPr>
          <p:cNvPr id="53" name="TextBox 52">
            <a:extLst>
              <a:ext uri="{FF2B5EF4-FFF2-40B4-BE49-F238E27FC236}">
                <a16:creationId xmlns:a16="http://schemas.microsoft.com/office/drawing/2014/main" id="{272D9C28-E43D-3A40-A66D-18493049C797}"/>
              </a:ext>
            </a:extLst>
          </p:cNvPr>
          <p:cNvSpPr txBox="1"/>
          <p:nvPr/>
        </p:nvSpPr>
        <p:spPr>
          <a:xfrm>
            <a:off x="4189365" y="3807023"/>
            <a:ext cx="951767" cy="307777"/>
          </a:xfrm>
          <a:prstGeom prst="rect">
            <a:avLst/>
          </a:prstGeom>
          <a:noFill/>
        </p:spPr>
        <p:txBody>
          <a:bodyPr wrap="square" rtlCol="0">
            <a:spAutoFit/>
          </a:bodyPr>
          <a:lstStyle/>
          <a:p>
            <a:r>
              <a:rPr lang="en-ZA" sz="1400" dirty="0">
                <a:latin typeface="+mj-lt"/>
              </a:rPr>
              <a:t> x (1.16)</a:t>
            </a:r>
            <a:r>
              <a:rPr lang="en-ZA" sz="1400" baseline="30000" dirty="0">
                <a:latin typeface="+mj-lt"/>
              </a:rPr>
              <a:t>2</a:t>
            </a:r>
          </a:p>
        </p:txBody>
      </p:sp>
      <p:sp>
        <p:nvSpPr>
          <p:cNvPr id="54" name="TextBox 53">
            <a:extLst>
              <a:ext uri="{FF2B5EF4-FFF2-40B4-BE49-F238E27FC236}">
                <a16:creationId xmlns:a16="http://schemas.microsoft.com/office/drawing/2014/main" id="{596B5F28-BA70-55E7-34E8-19A9AB58D1D8}"/>
              </a:ext>
            </a:extLst>
          </p:cNvPr>
          <p:cNvSpPr txBox="1"/>
          <p:nvPr/>
        </p:nvSpPr>
        <p:spPr>
          <a:xfrm>
            <a:off x="6715975" y="3699369"/>
            <a:ext cx="2437262" cy="1384995"/>
          </a:xfrm>
          <a:prstGeom prst="rect">
            <a:avLst/>
          </a:prstGeom>
          <a:noFill/>
        </p:spPr>
        <p:txBody>
          <a:bodyPr wrap="square" rtlCol="0">
            <a:spAutoFit/>
          </a:bodyPr>
          <a:lstStyle/>
          <a:p>
            <a:r>
              <a:rPr lang="en-ZA" sz="1400" dirty="0">
                <a:latin typeface="+mj-lt"/>
              </a:rPr>
              <a:t>                    1 160.00</a:t>
            </a:r>
          </a:p>
          <a:p>
            <a:r>
              <a:rPr lang="en-ZA" sz="1400" dirty="0">
                <a:latin typeface="+mj-lt"/>
              </a:rPr>
              <a:t>                    1 345.60</a:t>
            </a:r>
          </a:p>
          <a:p>
            <a:r>
              <a:rPr lang="en-ZA" sz="1400" dirty="0">
                <a:latin typeface="+mj-lt"/>
              </a:rPr>
              <a:t>                    1 560.90</a:t>
            </a:r>
          </a:p>
          <a:p>
            <a:r>
              <a:rPr lang="en-ZA" sz="1400" dirty="0">
                <a:latin typeface="+mj-lt"/>
              </a:rPr>
              <a:t>                    1 810.64</a:t>
            </a:r>
          </a:p>
          <a:p>
            <a:r>
              <a:rPr lang="en-ZA" sz="1400" dirty="0">
                <a:latin typeface="+mj-lt"/>
              </a:rPr>
              <a:t>                    </a:t>
            </a:r>
            <a:r>
              <a:rPr lang="en-ZA" sz="1400" u="sng" dirty="0">
                <a:latin typeface="+mj-lt"/>
              </a:rPr>
              <a:t>2 100.34</a:t>
            </a:r>
          </a:p>
          <a:p>
            <a:r>
              <a:rPr lang="en-ZA" sz="1400" dirty="0">
                <a:latin typeface="+mj-lt"/>
              </a:rPr>
              <a:t>FVA(Due)</a:t>
            </a:r>
            <a:r>
              <a:rPr lang="en-ZA" sz="1400" baseline="-25000" dirty="0">
                <a:latin typeface="+mj-lt"/>
              </a:rPr>
              <a:t>5</a:t>
            </a:r>
            <a:r>
              <a:rPr lang="en-ZA" sz="1400" dirty="0">
                <a:latin typeface="+mj-lt"/>
              </a:rPr>
              <a:t> =  </a:t>
            </a:r>
            <a:r>
              <a:rPr lang="en-ZA" sz="1400" u="dbl" dirty="0">
                <a:latin typeface="+mj-lt"/>
              </a:rPr>
              <a:t>7 977.48</a:t>
            </a:r>
          </a:p>
        </p:txBody>
      </p:sp>
      <p:sp>
        <p:nvSpPr>
          <p:cNvPr id="55" name="TextBox 54">
            <a:extLst>
              <a:ext uri="{FF2B5EF4-FFF2-40B4-BE49-F238E27FC236}">
                <a16:creationId xmlns:a16="http://schemas.microsoft.com/office/drawing/2014/main" id="{270B8D2A-EDB5-1DE0-86A8-0EC116E96683}"/>
              </a:ext>
            </a:extLst>
          </p:cNvPr>
          <p:cNvSpPr txBox="1"/>
          <p:nvPr/>
        </p:nvSpPr>
        <p:spPr>
          <a:xfrm>
            <a:off x="6999726" y="2607622"/>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end of year 5</a:t>
            </a:r>
            <a:endParaRPr lang="en-ZA" sz="1400" baseline="30000" dirty="0">
              <a:latin typeface="+mj-lt"/>
            </a:endParaRPr>
          </a:p>
        </p:txBody>
      </p:sp>
      <p:cxnSp>
        <p:nvCxnSpPr>
          <p:cNvPr id="56" name="Straight Connector 55">
            <a:extLst>
              <a:ext uri="{FF2B5EF4-FFF2-40B4-BE49-F238E27FC236}">
                <a16:creationId xmlns:a16="http://schemas.microsoft.com/office/drawing/2014/main" id="{01A52D86-0560-FECA-8049-DA037B21A9DC}"/>
              </a:ext>
            </a:extLst>
          </p:cNvPr>
          <p:cNvCxnSpPr>
            <a:cxnSpLocks/>
          </p:cNvCxnSpPr>
          <p:nvPr/>
        </p:nvCxnSpPr>
        <p:spPr bwMode="auto">
          <a:xfrm>
            <a:off x="6594028" y="2978442"/>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6BB89C69-A7F8-132B-09A5-8120E1ECF4B3}"/>
              </a:ext>
            </a:extLst>
          </p:cNvPr>
          <p:cNvCxnSpPr>
            <a:cxnSpLocks/>
          </p:cNvCxnSpPr>
          <p:nvPr/>
        </p:nvCxnSpPr>
        <p:spPr bwMode="auto">
          <a:xfrm>
            <a:off x="5417196" y="2978442"/>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8" name="Straight Arrow Connector 57">
            <a:extLst>
              <a:ext uri="{FF2B5EF4-FFF2-40B4-BE49-F238E27FC236}">
                <a16:creationId xmlns:a16="http://schemas.microsoft.com/office/drawing/2014/main" id="{2C41F1CC-5C70-DED4-C4DB-B23D7AD76F21}"/>
              </a:ext>
            </a:extLst>
          </p:cNvPr>
          <p:cNvCxnSpPr>
            <a:cxnSpLocks/>
          </p:cNvCxnSpPr>
          <p:nvPr/>
        </p:nvCxnSpPr>
        <p:spPr bwMode="auto">
          <a:xfrm>
            <a:off x="2910765" y="4398629"/>
            <a:ext cx="3852000" cy="196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9" name="Straight Connector 58">
            <a:extLst>
              <a:ext uri="{FF2B5EF4-FFF2-40B4-BE49-F238E27FC236}">
                <a16:creationId xmlns:a16="http://schemas.microsoft.com/office/drawing/2014/main" id="{3A882265-3E09-0721-FA6D-D2AC52976D25}"/>
              </a:ext>
            </a:extLst>
          </p:cNvPr>
          <p:cNvCxnSpPr>
            <a:cxnSpLocks/>
          </p:cNvCxnSpPr>
          <p:nvPr/>
        </p:nvCxnSpPr>
        <p:spPr bwMode="auto">
          <a:xfrm flipV="1">
            <a:off x="2910039" y="3571464"/>
            <a:ext cx="0" cy="82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E36329A2-4493-455B-A60B-05549DEF3722}"/>
              </a:ext>
            </a:extLst>
          </p:cNvPr>
          <p:cNvCxnSpPr>
            <a:cxnSpLocks/>
          </p:cNvCxnSpPr>
          <p:nvPr/>
        </p:nvCxnSpPr>
        <p:spPr bwMode="auto">
          <a:xfrm flipV="1">
            <a:off x="5417196" y="3563528"/>
            <a:ext cx="0" cy="28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1" name="Straight Arrow Connector 60">
            <a:extLst>
              <a:ext uri="{FF2B5EF4-FFF2-40B4-BE49-F238E27FC236}">
                <a16:creationId xmlns:a16="http://schemas.microsoft.com/office/drawing/2014/main" id="{7F3E7F54-DAFE-9798-9C0A-7491FB04159F}"/>
              </a:ext>
            </a:extLst>
          </p:cNvPr>
          <p:cNvCxnSpPr>
            <a:cxnSpLocks/>
          </p:cNvCxnSpPr>
          <p:nvPr/>
        </p:nvCxnSpPr>
        <p:spPr bwMode="auto">
          <a:xfrm>
            <a:off x="5410200" y="3851528"/>
            <a:ext cx="1332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62" name="TextBox 61">
            <a:extLst>
              <a:ext uri="{FF2B5EF4-FFF2-40B4-BE49-F238E27FC236}">
                <a16:creationId xmlns:a16="http://schemas.microsoft.com/office/drawing/2014/main" id="{B170B81B-2973-5ED0-BCD8-6B97FD037D45}"/>
              </a:ext>
            </a:extLst>
          </p:cNvPr>
          <p:cNvSpPr txBox="1"/>
          <p:nvPr/>
        </p:nvSpPr>
        <p:spPr>
          <a:xfrm>
            <a:off x="5410200" y="3542275"/>
            <a:ext cx="936000" cy="307777"/>
          </a:xfrm>
          <a:prstGeom prst="rect">
            <a:avLst/>
          </a:prstGeom>
          <a:noFill/>
        </p:spPr>
        <p:txBody>
          <a:bodyPr wrap="square" rtlCol="0">
            <a:spAutoFit/>
          </a:bodyPr>
          <a:lstStyle/>
          <a:p>
            <a:r>
              <a:rPr lang="en-ZA" sz="1400" dirty="0">
                <a:latin typeface="+mj-lt"/>
              </a:rPr>
              <a:t> x (1.16)</a:t>
            </a:r>
            <a:r>
              <a:rPr lang="en-ZA" sz="1400" baseline="30000" dirty="0">
                <a:latin typeface="+mj-lt"/>
              </a:rPr>
              <a:t>1</a:t>
            </a:r>
          </a:p>
        </p:txBody>
      </p:sp>
      <p:sp>
        <p:nvSpPr>
          <p:cNvPr id="63" name="TextBox 62">
            <a:extLst>
              <a:ext uri="{FF2B5EF4-FFF2-40B4-BE49-F238E27FC236}">
                <a16:creationId xmlns:a16="http://schemas.microsoft.com/office/drawing/2014/main" id="{B435C3F0-2E98-A8EA-4E41-C1043C4ADBE8}"/>
              </a:ext>
            </a:extLst>
          </p:cNvPr>
          <p:cNvSpPr txBox="1"/>
          <p:nvPr/>
        </p:nvSpPr>
        <p:spPr>
          <a:xfrm>
            <a:off x="2895600" y="4111856"/>
            <a:ext cx="951767" cy="307777"/>
          </a:xfrm>
          <a:prstGeom prst="rect">
            <a:avLst/>
          </a:prstGeom>
          <a:noFill/>
        </p:spPr>
        <p:txBody>
          <a:bodyPr wrap="square" rtlCol="0">
            <a:spAutoFit/>
          </a:bodyPr>
          <a:lstStyle/>
          <a:p>
            <a:r>
              <a:rPr lang="en-ZA" sz="1400" dirty="0">
                <a:latin typeface="+mj-lt"/>
              </a:rPr>
              <a:t> x (1.16)</a:t>
            </a:r>
            <a:r>
              <a:rPr lang="en-ZA" sz="1400" baseline="30000" dirty="0">
                <a:latin typeface="+mj-lt"/>
              </a:rPr>
              <a:t>3</a:t>
            </a:r>
          </a:p>
        </p:txBody>
      </p:sp>
      <p:sp>
        <p:nvSpPr>
          <p:cNvPr id="9216" name="TextBox 9215">
            <a:extLst>
              <a:ext uri="{FF2B5EF4-FFF2-40B4-BE49-F238E27FC236}">
                <a16:creationId xmlns:a16="http://schemas.microsoft.com/office/drawing/2014/main" id="{C8C48C11-B3FA-7E88-5303-FA2233FF1B8D}"/>
              </a:ext>
            </a:extLst>
          </p:cNvPr>
          <p:cNvSpPr txBox="1"/>
          <p:nvPr/>
        </p:nvSpPr>
        <p:spPr>
          <a:xfrm>
            <a:off x="1613913" y="4387577"/>
            <a:ext cx="951767" cy="307777"/>
          </a:xfrm>
          <a:prstGeom prst="rect">
            <a:avLst/>
          </a:prstGeom>
          <a:noFill/>
        </p:spPr>
        <p:txBody>
          <a:bodyPr wrap="square" rtlCol="0">
            <a:spAutoFit/>
          </a:bodyPr>
          <a:lstStyle/>
          <a:p>
            <a:r>
              <a:rPr lang="en-ZA" sz="1400" dirty="0">
                <a:latin typeface="+mj-lt"/>
              </a:rPr>
              <a:t> x (1.16)</a:t>
            </a:r>
            <a:r>
              <a:rPr lang="en-ZA" sz="1400" baseline="30000" dirty="0">
                <a:latin typeface="+mj-lt"/>
              </a:rPr>
              <a:t>4</a:t>
            </a:r>
          </a:p>
        </p:txBody>
      </p:sp>
      <p:sp>
        <p:nvSpPr>
          <p:cNvPr id="2" name="Down Arrow 1">
            <a:extLst>
              <a:ext uri="{FF2B5EF4-FFF2-40B4-BE49-F238E27FC236}">
                <a16:creationId xmlns:a16="http://schemas.microsoft.com/office/drawing/2014/main" id="{B8B282FF-784A-6CD0-0BAF-8FF68C23BA76}"/>
              </a:ext>
            </a:extLst>
          </p:cNvPr>
          <p:cNvSpPr/>
          <p:nvPr/>
        </p:nvSpPr>
        <p:spPr bwMode="auto">
          <a:xfrm rot="16200000">
            <a:off x="6660460" y="4926876"/>
            <a:ext cx="392647" cy="989383"/>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dirty="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30554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CAC82D4-6252-8EDA-0164-9CEC1EB1DFC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0CAE4EB-8215-CF30-1E4E-48E29C9DBE46}"/>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Comparing future value and present value</a:t>
            </a:r>
          </a:p>
        </p:txBody>
      </p:sp>
      <p:sp>
        <p:nvSpPr>
          <p:cNvPr id="3" name="Slide Number Placeholder 2">
            <a:extLst>
              <a:ext uri="{FF2B5EF4-FFF2-40B4-BE49-F238E27FC236}">
                <a16:creationId xmlns:a16="http://schemas.microsoft.com/office/drawing/2014/main" id="{2C56550A-1B00-BE8D-BAE4-089357A13DD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15</a:t>
            </a:fld>
            <a:endParaRPr lang="en-US">
              <a:solidFill>
                <a:schemeClr val="tx1"/>
              </a:solidFill>
            </a:endParaRPr>
          </a:p>
        </p:txBody>
      </p:sp>
      <p:sp>
        <p:nvSpPr>
          <p:cNvPr id="4" name="Rectangle 5">
            <a:extLst>
              <a:ext uri="{FF2B5EF4-FFF2-40B4-BE49-F238E27FC236}">
                <a16:creationId xmlns:a16="http://schemas.microsoft.com/office/drawing/2014/main" id="{1A8E80B4-D183-3837-65DB-2768DEF10F74}"/>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FV inverse of PV</a:t>
            </a:r>
          </a:p>
          <a:p>
            <a:pPr marL="0" indent="0" defTabSz="717550">
              <a:lnSpc>
                <a:spcPct val="105000"/>
              </a:lnSpc>
              <a:buSzPct val="100000"/>
              <a:buNone/>
              <a:tabLst>
                <a:tab pos="538163" algn="l"/>
              </a:tabLst>
            </a:pPr>
            <a:r>
              <a:rPr lang="en-US" sz="2400" dirty="0">
                <a:latin typeface="+mj-lt"/>
              </a:rPr>
              <a:t>	</a:t>
            </a:r>
            <a:r>
              <a:rPr lang="en-US" sz="2400" dirty="0" err="1">
                <a:latin typeface="+mj-lt"/>
              </a:rPr>
              <a:t>FV</a:t>
            </a:r>
            <a:r>
              <a:rPr lang="en-US" sz="2400" baseline="-25000" dirty="0" err="1">
                <a:latin typeface="+mj-lt"/>
              </a:rPr>
              <a:t>n</a:t>
            </a:r>
            <a:r>
              <a:rPr lang="en-US" sz="2400" dirty="0">
                <a:latin typeface="+mj-lt"/>
              </a:rPr>
              <a:t>	=	PV</a:t>
            </a:r>
            <a:r>
              <a:rPr lang="en-US" sz="2400" dirty="0">
                <a:solidFill>
                  <a:srgbClr val="C00000"/>
                </a:solidFill>
                <a:latin typeface="+mj-lt"/>
              </a:rPr>
              <a:t>(1 + </a:t>
            </a:r>
            <a:r>
              <a:rPr lang="en-US" sz="2400" dirty="0" err="1">
                <a:solidFill>
                  <a:srgbClr val="C00000"/>
                </a:solidFill>
                <a:latin typeface="+mj-lt"/>
              </a:rPr>
              <a:t>i</a:t>
            </a:r>
            <a:r>
              <a:rPr lang="en-US" sz="2400" dirty="0">
                <a:solidFill>
                  <a:srgbClr val="C00000"/>
                </a:solidFill>
                <a:latin typeface="+mj-lt"/>
              </a:rPr>
              <a:t>)</a:t>
            </a:r>
            <a:r>
              <a:rPr lang="en-US" sz="2400" baseline="30000" dirty="0">
                <a:solidFill>
                  <a:srgbClr val="C00000"/>
                </a:solidFill>
                <a:latin typeface="+mj-lt"/>
              </a:rPr>
              <a:t>n</a:t>
            </a:r>
            <a:r>
              <a:rPr lang="en-US" sz="2400" dirty="0">
                <a:latin typeface="+mj-lt"/>
              </a:rPr>
              <a:t>			</a:t>
            </a:r>
            <a:r>
              <a:rPr lang="en-US" sz="2400" dirty="0" err="1">
                <a:latin typeface="+mj-lt"/>
              </a:rPr>
              <a:t>PV</a:t>
            </a:r>
            <a:r>
              <a:rPr lang="en-US" sz="2400" baseline="-25000" dirty="0" err="1">
                <a:latin typeface="+mj-lt"/>
              </a:rPr>
              <a:t>n</a:t>
            </a:r>
            <a:r>
              <a:rPr lang="en-US" sz="2400" dirty="0">
                <a:latin typeface="+mj-lt"/>
              </a:rPr>
              <a:t>	=	FV / </a:t>
            </a:r>
            <a:r>
              <a:rPr lang="en-US" sz="2400" dirty="0">
                <a:solidFill>
                  <a:srgbClr val="C00000"/>
                </a:solidFill>
                <a:latin typeface="+mj-lt"/>
              </a:rPr>
              <a:t>(1 + </a:t>
            </a:r>
            <a:r>
              <a:rPr lang="en-US" sz="2400" dirty="0" err="1">
                <a:solidFill>
                  <a:srgbClr val="C00000"/>
                </a:solidFill>
                <a:latin typeface="+mj-lt"/>
              </a:rPr>
              <a:t>i</a:t>
            </a:r>
            <a:r>
              <a:rPr lang="en-US" sz="2400" dirty="0">
                <a:solidFill>
                  <a:srgbClr val="C00000"/>
                </a:solidFill>
                <a:latin typeface="+mj-lt"/>
              </a:rPr>
              <a:t>)</a:t>
            </a:r>
            <a:r>
              <a:rPr lang="en-US" sz="2400" baseline="30000" dirty="0">
                <a:solidFill>
                  <a:srgbClr val="C00000"/>
                </a:solidFill>
                <a:latin typeface="+mj-lt"/>
              </a:rPr>
              <a:t>n</a:t>
            </a:r>
          </a:p>
          <a:p>
            <a:pPr marL="0" indent="0">
              <a:lnSpc>
                <a:spcPct val="105000"/>
              </a:lnSpc>
              <a:buSzPct val="100000"/>
              <a:buNone/>
            </a:pPr>
            <a:endParaRPr lang="en-US" sz="2400" baseline="30000" dirty="0">
              <a:latin typeface="+mj-lt"/>
            </a:endParaRPr>
          </a:p>
          <a:p>
            <a:pPr>
              <a:lnSpc>
                <a:spcPct val="105000"/>
              </a:lnSpc>
              <a:buSzPct val="100000"/>
              <a:buFont typeface="Arial" panose="020B0604020202020204" pitchFamily="34" charset="0"/>
              <a:buChar char="•"/>
            </a:pPr>
            <a:endParaRPr lang="en-US" sz="2400" baseline="30000" dirty="0">
              <a:latin typeface="+mj-lt"/>
            </a:endParaRPr>
          </a:p>
          <a:p>
            <a:pPr>
              <a:lnSpc>
                <a:spcPct val="105000"/>
              </a:lnSpc>
              <a:buSzPct val="100000"/>
              <a:buFont typeface="Arial" panose="020B0604020202020204" pitchFamily="34" charset="0"/>
              <a:buChar char="•"/>
            </a:pPr>
            <a:endParaRPr lang="en-US" sz="2400" dirty="0">
              <a:latin typeface="+mj-lt"/>
            </a:endParaRPr>
          </a:p>
        </p:txBody>
      </p:sp>
      <p:sp>
        <p:nvSpPr>
          <p:cNvPr id="8" name="TextBox 7">
            <a:extLst>
              <a:ext uri="{FF2B5EF4-FFF2-40B4-BE49-F238E27FC236}">
                <a16:creationId xmlns:a16="http://schemas.microsoft.com/office/drawing/2014/main" id="{A30DF0BE-B187-B17F-ADC7-8522D634D3DE}"/>
              </a:ext>
            </a:extLst>
          </p:cNvPr>
          <p:cNvSpPr txBox="1"/>
          <p:nvPr/>
        </p:nvSpPr>
        <p:spPr>
          <a:xfrm>
            <a:off x="210553" y="6133033"/>
            <a:ext cx="4894847" cy="648767"/>
          </a:xfrm>
          <a:prstGeom prst="rect">
            <a:avLst/>
          </a:prstGeom>
          <a:noFill/>
        </p:spPr>
        <p:txBody>
          <a:bodyPr wrap="square">
            <a:spAutoFit/>
          </a:bodyPr>
          <a:lstStyle/>
          <a:p>
            <a:pPr marL="0" indent="0">
              <a:lnSpc>
                <a:spcPct val="105000"/>
              </a:lnSpc>
              <a:buSzPct val="100000"/>
              <a:buNone/>
            </a:pPr>
            <a:r>
              <a:rPr lang="en-US" sz="1800" dirty="0">
                <a:latin typeface="+mj-lt"/>
              </a:rPr>
              <a:t>Figure 7.4: The relationship between interest rates and periods that interest is earned</a:t>
            </a:r>
          </a:p>
        </p:txBody>
      </p:sp>
      <p:sp>
        <p:nvSpPr>
          <p:cNvPr id="9" name="TextBox 8">
            <a:extLst>
              <a:ext uri="{FF2B5EF4-FFF2-40B4-BE49-F238E27FC236}">
                <a16:creationId xmlns:a16="http://schemas.microsoft.com/office/drawing/2014/main" id="{6853104C-B4EC-BDC1-E129-34283624FDD1}"/>
              </a:ext>
            </a:extLst>
          </p:cNvPr>
          <p:cNvSpPr txBox="1"/>
          <p:nvPr/>
        </p:nvSpPr>
        <p:spPr>
          <a:xfrm>
            <a:off x="4984375" y="6096000"/>
            <a:ext cx="4007225" cy="648767"/>
          </a:xfrm>
          <a:prstGeom prst="rect">
            <a:avLst/>
          </a:prstGeom>
          <a:noFill/>
        </p:spPr>
        <p:txBody>
          <a:bodyPr wrap="square">
            <a:spAutoFit/>
          </a:bodyPr>
          <a:lstStyle/>
          <a:p>
            <a:pPr marL="0" indent="0">
              <a:lnSpc>
                <a:spcPct val="105000"/>
              </a:lnSpc>
              <a:buSzPct val="100000"/>
              <a:buNone/>
            </a:pPr>
            <a:r>
              <a:rPr lang="en-US" sz="1800" dirty="0">
                <a:latin typeface="+mj-lt"/>
              </a:rPr>
              <a:t>Figure 7.7: The relationship between PV and periods interest is earned</a:t>
            </a:r>
          </a:p>
        </p:txBody>
      </p:sp>
      <p:sp>
        <p:nvSpPr>
          <p:cNvPr id="2" name="Speech Bubble: Oval 1">
            <a:extLst>
              <a:ext uri="{FF2B5EF4-FFF2-40B4-BE49-F238E27FC236}">
                <a16:creationId xmlns:a16="http://schemas.microsoft.com/office/drawing/2014/main" id="{F24C4485-C0E3-DCC5-81F2-3EDABADE2C9C}"/>
              </a:ext>
            </a:extLst>
          </p:cNvPr>
          <p:cNvSpPr/>
          <p:nvPr/>
        </p:nvSpPr>
        <p:spPr bwMode="auto">
          <a:xfrm rot="600260">
            <a:off x="3904522" y="763871"/>
            <a:ext cx="2107840" cy="481835"/>
          </a:xfrm>
          <a:prstGeom prst="wedgeEllipseCallout">
            <a:avLst>
              <a:gd name="adj1" fmla="val -45983"/>
              <a:gd name="adj2" fmla="val 152820"/>
            </a:avLst>
          </a:prstGeom>
          <a:no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C00000"/>
                </a:solidFill>
                <a:effectLst/>
                <a:latin typeface="+mj-lt"/>
                <a:ea typeface="ＭＳ Ｐゴシック" pitchFamily="1" charset="-128"/>
              </a:rPr>
              <a:t>Interest factor</a:t>
            </a:r>
            <a:endParaRPr kumimoji="0" lang="en-ZA" sz="1600" b="0" i="0" u="none" strike="noStrike" cap="none" normalizeH="0" baseline="0" dirty="0">
              <a:ln>
                <a:noFill/>
              </a:ln>
              <a:solidFill>
                <a:srgbClr val="C00000"/>
              </a:solidFill>
              <a:effectLst/>
              <a:latin typeface="+mj-lt"/>
              <a:ea typeface="ＭＳ Ｐゴシック" pitchFamily="1" charset="-128"/>
            </a:endParaRPr>
          </a:p>
        </p:txBody>
      </p:sp>
      <p:sp>
        <p:nvSpPr>
          <p:cNvPr id="7" name="Speech Bubble: Oval 6">
            <a:extLst>
              <a:ext uri="{FF2B5EF4-FFF2-40B4-BE49-F238E27FC236}">
                <a16:creationId xmlns:a16="http://schemas.microsoft.com/office/drawing/2014/main" id="{CE4E729D-31BB-B466-F712-910FD4E31C27}"/>
              </a:ext>
            </a:extLst>
          </p:cNvPr>
          <p:cNvSpPr/>
          <p:nvPr/>
        </p:nvSpPr>
        <p:spPr bwMode="auto">
          <a:xfrm rot="769160">
            <a:off x="6942947" y="893203"/>
            <a:ext cx="2206058" cy="360190"/>
          </a:xfrm>
          <a:prstGeom prst="wedgeEllipseCallout">
            <a:avLst>
              <a:gd name="adj1" fmla="val 8036"/>
              <a:gd name="adj2" fmla="val 100494"/>
            </a:avLst>
          </a:prstGeom>
          <a:no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C00000"/>
                </a:solidFill>
                <a:effectLst/>
                <a:latin typeface="+mj-lt"/>
                <a:ea typeface="ＭＳ Ｐゴシック" pitchFamily="1" charset="-128"/>
              </a:rPr>
              <a:t>Interest factor</a:t>
            </a:r>
            <a:endParaRPr kumimoji="0" lang="en-ZA" sz="1600" b="0" i="0" u="none" strike="noStrike" cap="none" normalizeH="0" baseline="0" dirty="0">
              <a:ln>
                <a:noFill/>
              </a:ln>
              <a:solidFill>
                <a:srgbClr val="C00000"/>
              </a:solidFill>
              <a:effectLst/>
              <a:latin typeface="+mj-lt"/>
              <a:ea typeface="ＭＳ Ｐゴシック" pitchFamily="1" charset="-128"/>
            </a:endParaRPr>
          </a:p>
        </p:txBody>
      </p:sp>
    </p:spTree>
    <p:custDataLst>
      <p:tags r:id="rId1"/>
    </p:custDataLst>
    <p:extLst>
      <p:ext uri="{BB962C8B-B14F-4D97-AF65-F5344CB8AC3E}">
        <p14:creationId xmlns:p14="http://schemas.microsoft.com/office/powerpoint/2010/main" val="331838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8AD03F1-EF0F-5DE3-1FC8-FF29B98DBE5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B06C8AD-2DDC-5D00-8C06-8AFE76CD61BC}"/>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a:t>
            </a:r>
          </a:p>
        </p:txBody>
      </p:sp>
      <p:sp>
        <p:nvSpPr>
          <p:cNvPr id="3" name="Slide Number Placeholder 2">
            <a:extLst>
              <a:ext uri="{FF2B5EF4-FFF2-40B4-BE49-F238E27FC236}">
                <a16:creationId xmlns:a16="http://schemas.microsoft.com/office/drawing/2014/main" id="{8437314A-B21F-9859-11B0-750D4E7099F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16</a:t>
            </a:fld>
            <a:endParaRPr lang="en-US">
              <a:solidFill>
                <a:schemeClr val="tx1"/>
              </a:solidFill>
            </a:endParaRPr>
          </a:p>
        </p:txBody>
      </p:sp>
      <p:sp>
        <p:nvSpPr>
          <p:cNvPr id="4" name="Rectangle 5">
            <a:extLst>
              <a:ext uri="{FF2B5EF4-FFF2-40B4-BE49-F238E27FC236}">
                <a16:creationId xmlns:a16="http://schemas.microsoft.com/office/drawing/2014/main" id="{0AE68B0C-5D6F-99E8-9C5A-0D956117123D}"/>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b="1" dirty="0">
                <a:solidFill>
                  <a:srgbClr val="C00000"/>
                </a:solidFill>
                <a:latin typeface="+mj-lt"/>
              </a:rPr>
              <a:t>Discounting</a:t>
            </a:r>
            <a:r>
              <a:rPr lang="en-US" sz="2400" dirty="0">
                <a:latin typeface="+mj-lt"/>
              </a:rPr>
              <a:t> future cash flow to worth today (FV – compounding)</a:t>
            </a:r>
          </a:p>
          <a:p>
            <a:pPr marL="717550">
              <a:lnSpc>
                <a:spcPct val="105000"/>
              </a:lnSpc>
              <a:buSzPct val="100000"/>
              <a:buFont typeface="Wingdings" panose="05000000000000000000" pitchFamily="2" charset="2"/>
              <a:buChar char="§"/>
            </a:pPr>
            <a:r>
              <a:rPr lang="en-US" sz="2400" dirty="0">
                <a:latin typeface="+mj-lt"/>
              </a:rPr>
              <a:t>Lump sum (single amount)</a:t>
            </a:r>
          </a:p>
          <a:p>
            <a:pPr marL="717550">
              <a:lnSpc>
                <a:spcPct val="105000"/>
              </a:lnSpc>
              <a:buSzPct val="100000"/>
              <a:buFont typeface="Wingdings" panose="05000000000000000000" pitchFamily="2" charset="2"/>
              <a:buChar char="§"/>
            </a:pPr>
            <a:r>
              <a:rPr lang="en-US" sz="2400" dirty="0">
                <a:latin typeface="+mj-lt"/>
              </a:rPr>
              <a:t>Constant CFs (annuity and annuity due)</a:t>
            </a:r>
          </a:p>
          <a:p>
            <a:pPr marL="717550">
              <a:lnSpc>
                <a:spcPct val="105000"/>
              </a:lnSpc>
              <a:buSzPct val="100000"/>
              <a:buFont typeface="Wingdings" panose="05000000000000000000" pitchFamily="2" charset="2"/>
              <a:buChar char="§"/>
            </a:pPr>
            <a:r>
              <a:rPr lang="en-US" sz="2400" dirty="0">
                <a:latin typeface="+mj-lt"/>
              </a:rPr>
              <a:t>Mixed stream (uneven cash flows)</a:t>
            </a:r>
          </a:p>
          <a:p>
            <a:pPr marL="0" indent="0">
              <a:lnSpc>
                <a:spcPct val="105000"/>
              </a:lnSpc>
              <a:buSzPct val="100000"/>
              <a:buNone/>
            </a:pPr>
            <a:endParaRPr lang="en-US" sz="2400" dirty="0">
              <a:latin typeface="+mj-lt"/>
            </a:endParaRPr>
          </a:p>
          <a:p>
            <a:pPr marL="0" indent="0" defTabSz="717550">
              <a:lnSpc>
                <a:spcPct val="105000"/>
              </a:lnSpc>
              <a:buSzPct val="100000"/>
              <a:buNone/>
              <a:tabLst>
                <a:tab pos="538163" algn="l"/>
              </a:tabLst>
            </a:pPr>
            <a:r>
              <a:rPr lang="en-US" sz="2400" dirty="0">
                <a:latin typeface="+mj-lt"/>
              </a:rPr>
              <a:t>				</a:t>
            </a:r>
            <a:endParaRPr lang="en-US" sz="2400" baseline="30000" dirty="0">
              <a:latin typeface="+mj-lt"/>
            </a:endParaRPr>
          </a:p>
          <a:p>
            <a:pPr marL="0" indent="0">
              <a:lnSpc>
                <a:spcPct val="105000"/>
              </a:lnSpc>
              <a:buSzPct val="100000"/>
              <a:buNone/>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1006354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AB7EAF-5EC5-3247-D492-A45C4372BE1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7BC84301-14AF-64CD-8821-AB5A1D3E468D}"/>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CC6D6A88-FBB7-8787-E6A7-59B76C5D1B1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17</a:t>
            </a:fld>
            <a:endParaRPr lang="en-US">
              <a:solidFill>
                <a:schemeClr val="tx1"/>
              </a:solidFill>
            </a:endParaRPr>
          </a:p>
        </p:txBody>
      </p:sp>
      <p:sp>
        <p:nvSpPr>
          <p:cNvPr id="4" name="Rectangle 5">
            <a:extLst>
              <a:ext uri="{FF2B5EF4-FFF2-40B4-BE49-F238E27FC236}">
                <a16:creationId xmlns:a16="http://schemas.microsoft.com/office/drawing/2014/main" id="{862DE547-EFE1-F606-F78B-40F345296FDE}"/>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Lump sum (single amount)</a:t>
            </a:r>
          </a:p>
          <a:p>
            <a:pPr>
              <a:lnSpc>
                <a:spcPct val="105000"/>
              </a:lnSpc>
              <a:buSzPct val="100000"/>
              <a:buFont typeface="Arial" panose="020B0604020202020204" pitchFamily="34" charset="0"/>
              <a:buChar char="•"/>
            </a:pPr>
            <a:r>
              <a:rPr lang="en-US" sz="2400" dirty="0">
                <a:latin typeface="+mj-lt"/>
              </a:rPr>
              <a:t>Example: You have the opportunity to receive R1 000 in one year. If you can earn 16% pa, what is the PV?</a:t>
            </a:r>
          </a:p>
        </p:txBody>
      </p:sp>
      <p:sp>
        <p:nvSpPr>
          <p:cNvPr id="6" name="TextBox 5">
            <a:extLst>
              <a:ext uri="{FF2B5EF4-FFF2-40B4-BE49-F238E27FC236}">
                <a16:creationId xmlns:a16="http://schemas.microsoft.com/office/drawing/2014/main" id="{4719EBA6-EACE-766D-AE1C-B96F2933135D}"/>
              </a:ext>
            </a:extLst>
          </p:cNvPr>
          <p:cNvSpPr txBox="1"/>
          <p:nvPr/>
        </p:nvSpPr>
        <p:spPr>
          <a:xfrm>
            <a:off x="2681068" y="4575292"/>
            <a:ext cx="1143000" cy="461665"/>
          </a:xfrm>
          <a:prstGeom prst="rect">
            <a:avLst/>
          </a:prstGeom>
          <a:solidFill>
            <a:schemeClr val="bg1"/>
          </a:solidFill>
        </p:spPr>
        <p:txBody>
          <a:bodyPr wrap="square" rtlCol="0">
            <a:spAutoFit/>
          </a:bodyPr>
          <a:lstStyle/>
          <a:p>
            <a:endParaRPr lang="en-ZA" sz="2400" dirty="0"/>
          </a:p>
        </p:txBody>
      </p:sp>
      <p:sp>
        <p:nvSpPr>
          <p:cNvPr id="7" name="TextBox 6">
            <a:extLst>
              <a:ext uri="{FF2B5EF4-FFF2-40B4-BE49-F238E27FC236}">
                <a16:creationId xmlns:a16="http://schemas.microsoft.com/office/drawing/2014/main" id="{89FC094B-3CBD-5999-3821-22AF0A78BCAA}"/>
              </a:ext>
            </a:extLst>
          </p:cNvPr>
          <p:cNvSpPr txBox="1"/>
          <p:nvPr/>
        </p:nvSpPr>
        <p:spPr>
          <a:xfrm>
            <a:off x="1333500" y="4548858"/>
            <a:ext cx="1143000" cy="461665"/>
          </a:xfrm>
          <a:prstGeom prst="rect">
            <a:avLst/>
          </a:prstGeom>
          <a:solidFill>
            <a:schemeClr val="bg1"/>
          </a:solidFill>
        </p:spPr>
        <p:txBody>
          <a:bodyPr wrap="square" rtlCol="0">
            <a:spAutoFit/>
          </a:bodyPr>
          <a:lstStyle/>
          <a:p>
            <a:endParaRPr lang="en-ZA" sz="2400" dirty="0"/>
          </a:p>
        </p:txBody>
      </p:sp>
      <p:sp>
        <p:nvSpPr>
          <p:cNvPr id="8" name="Rectangle 7">
            <a:extLst>
              <a:ext uri="{FF2B5EF4-FFF2-40B4-BE49-F238E27FC236}">
                <a16:creationId xmlns:a16="http://schemas.microsoft.com/office/drawing/2014/main" id="{56DF774A-CD3A-916C-3624-FDF5305DC621}"/>
              </a:ext>
            </a:extLst>
          </p:cNvPr>
          <p:cNvSpPr/>
          <p:nvPr/>
        </p:nvSpPr>
        <p:spPr bwMode="auto">
          <a:xfrm>
            <a:off x="1384780" y="5125027"/>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N</a:t>
            </a:r>
          </a:p>
        </p:txBody>
      </p:sp>
      <p:sp>
        <p:nvSpPr>
          <p:cNvPr id="9" name="Rectangle 8">
            <a:extLst>
              <a:ext uri="{FF2B5EF4-FFF2-40B4-BE49-F238E27FC236}">
                <a16:creationId xmlns:a16="http://schemas.microsoft.com/office/drawing/2014/main" id="{CE83AB40-534A-124A-0F6B-3429FD851B97}"/>
              </a:ext>
            </a:extLst>
          </p:cNvPr>
          <p:cNvSpPr/>
          <p:nvPr/>
        </p:nvSpPr>
        <p:spPr bwMode="auto">
          <a:xfrm>
            <a:off x="2831364" y="5125027"/>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I/Y</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0" name="Rectangle 9">
            <a:extLst>
              <a:ext uri="{FF2B5EF4-FFF2-40B4-BE49-F238E27FC236}">
                <a16:creationId xmlns:a16="http://schemas.microsoft.com/office/drawing/2014/main" id="{5432AD74-0980-3610-9E13-025B8B835681}"/>
              </a:ext>
            </a:extLst>
          </p:cNvPr>
          <p:cNvSpPr/>
          <p:nvPr/>
        </p:nvSpPr>
        <p:spPr bwMode="auto">
          <a:xfrm>
            <a:off x="4202964" y="5125027"/>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PV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1" name="Rectangle 10">
            <a:extLst>
              <a:ext uri="{FF2B5EF4-FFF2-40B4-BE49-F238E27FC236}">
                <a16:creationId xmlns:a16="http://schemas.microsoft.com/office/drawing/2014/main" id="{94CB10BC-2755-7613-D4BC-B4ABCB88B782}"/>
              </a:ext>
            </a:extLst>
          </p:cNvPr>
          <p:cNvSpPr/>
          <p:nvPr/>
        </p:nvSpPr>
        <p:spPr bwMode="auto">
          <a:xfrm>
            <a:off x="5574564" y="5125027"/>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800" b="1" i="0" u="none" strike="noStrike" cap="none" normalizeH="0" baseline="0" dirty="0">
                <a:ln>
                  <a:noFill/>
                </a:ln>
                <a:solidFill>
                  <a:schemeClr val="bg1"/>
                </a:solidFill>
                <a:effectLst/>
                <a:latin typeface="Arial" charset="0"/>
                <a:ea typeface="ＭＳ Ｐゴシック" pitchFamily="1" charset="-128"/>
              </a:rPr>
              <a:t>PMT</a:t>
            </a:r>
          </a:p>
        </p:txBody>
      </p:sp>
      <p:sp>
        <p:nvSpPr>
          <p:cNvPr id="12" name="Rectangle 11">
            <a:extLst>
              <a:ext uri="{FF2B5EF4-FFF2-40B4-BE49-F238E27FC236}">
                <a16:creationId xmlns:a16="http://schemas.microsoft.com/office/drawing/2014/main" id="{75ACD20D-9376-112F-1FBF-BE8BA7A1DD6E}"/>
              </a:ext>
            </a:extLst>
          </p:cNvPr>
          <p:cNvSpPr/>
          <p:nvPr/>
        </p:nvSpPr>
        <p:spPr bwMode="auto">
          <a:xfrm>
            <a:off x="6946164" y="5125027"/>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b="1" dirty="0">
                <a:solidFill>
                  <a:schemeClr val="bg1"/>
                </a:solidFill>
                <a:ea typeface="ＭＳ Ｐゴシック" pitchFamily="1" charset="-128"/>
              </a:rPr>
              <a:t>FV</a:t>
            </a:r>
            <a:endParaRPr kumimoji="0" lang="en-ZA" sz="2800" b="1" i="0" u="none" strike="noStrike" cap="none" normalizeH="0" baseline="0" dirty="0">
              <a:ln>
                <a:noFill/>
              </a:ln>
              <a:solidFill>
                <a:schemeClr val="bg1"/>
              </a:solidFill>
              <a:effectLst/>
              <a:latin typeface="Arial" charset="0"/>
              <a:ea typeface="ＭＳ Ｐゴシック" pitchFamily="1" charset="-128"/>
            </a:endParaRPr>
          </a:p>
        </p:txBody>
      </p:sp>
      <p:sp>
        <p:nvSpPr>
          <p:cNvPr id="13" name="TextBox 12">
            <a:extLst>
              <a:ext uri="{FF2B5EF4-FFF2-40B4-BE49-F238E27FC236}">
                <a16:creationId xmlns:a16="http://schemas.microsoft.com/office/drawing/2014/main" id="{C53682FC-DCB0-9A94-EFFF-001403BC081A}"/>
              </a:ext>
            </a:extLst>
          </p:cNvPr>
          <p:cNvSpPr txBox="1"/>
          <p:nvPr/>
        </p:nvSpPr>
        <p:spPr>
          <a:xfrm>
            <a:off x="392537" y="4726535"/>
            <a:ext cx="8083626" cy="369332"/>
          </a:xfrm>
          <a:prstGeom prst="rect">
            <a:avLst/>
          </a:prstGeom>
          <a:noFill/>
        </p:spPr>
        <p:txBody>
          <a:bodyPr wrap="square" rtlCol="0">
            <a:spAutoFit/>
          </a:bodyPr>
          <a:lstStyle/>
          <a:p>
            <a:pPr defTabSz="1350963">
              <a:tabLst>
                <a:tab pos="1435100" algn="l"/>
                <a:tab pos="2786063" algn="l"/>
              </a:tabLst>
            </a:pPr>
            <a:r>
              <a:rPr lang="en-ZA" sz="1800" dirty="0"/>
              <a:t>Inputs            1                     16                 ?                   0               ±1 000</a:t>
            </a:r>
          </a:p>
        </p:txBody>
      </p:sp>
      <p:sp>
        <p:nvSpPr>
          <p:cNvPr id="14" name="TextBox 13">
            <a:extLst>
              <a:ext uri="{FF2B5EF4-FFF2-40B4-BE49-F238E27FC236}">
                <a16:creationId xmlns:a16="http://schemas.microsoft.com/office/drawing/2014/main" id="{172B5415-6230-AC88-0069-8BF60389FB93}"/>
              </a:ext>
            </a:extLst>
          </p:cNvPr>
          <p:cNvSpPr txBox="1"/>
          <p:nvPr/>
        </p:nvSpPr>
        <p:spPr>
          <a:xfrm>
            <a:off x="377789" y="5805795"/>
            <a:ext cx="8083626" cy="369332"/>
          </a:xfrm>
          <a:prstGeom prst="rect">
            <a:avLst/>
          </a:prstGeom>
          <a:noFill/>
        </p:spPr>
        <p:txBody>
          <a:bodyPr wrap="square" rtlCol="0">
            <a:spAutoFit/>
          </a:bodyPr>
          <a:lstStyle/>
          <a:p>
            <a:pPr defTabSz="1350963">
              <a:tabLst>
                <a:tab pos="1435100" algn="l"/>
                <a:tab pos="2786063" algn="l"/>
              </a:tabLst>
            </a:pPr>
            <a:r>
              <a:rPr lang="en-ZA" sz="1800" dirty="0"/>
              <a:t>Output:				                   = 862.07</a:t>
            </a:r>
          </a:p>
        </p:txBody>
      </p:sp>
      <p:cxnSp>
        <p:nvCxnSpPr>
          <p:cNvPr id="15" name="Straight Connector 14">
            <a:extLst>
              <a:ext uri="{FF2B5EF4-FFF2-40B4-BE49-F238E27FC236}">
                <a16:creationId xmlns:a16="http://schemas.microsoft.com/office/drawing/2014/main" id="{B65AF2E7-1BEF-CCA1-881B-8D14C9E84C54}"/>
              </a:ext>
            </a:extLst>
          </p:cNvPr>
          <p:cNvCxnSpPr>
            <a:cxnSpLocks/>
          </p:cNvCxnSpPr>
          <p:nvPr/>
        </p:nvCxnSpPr>
        <p:spPr bwMode="auto">
          <a:xfrm>
            <a:off x="1714495" y="3784840"/>
            <a:ext cx="5005166"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BFB5741C-577E-EBAE-0499-F60FE8823D68}"/>
              </a:ext>
            </a:extLst>
          </p:cNvPr>
          <p:cNvCxnSpPr>
            <a:cxnSpLocks/>
          </p:cNvCxnSpPr>
          <p:nvPr/>
        </p:nvCxnSpPr>
        <p:spPr bwMode="auto">
          <a:xfrm>
            <a:off x="6719663" y="362493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8" name="Straight Arrow Connector 17">
            <a:extLst>
              <a:ext uri="{FF2B5EF4-FFF2-40B4-BE49-F238E27FC236}">
                <a16:creationId xmlns:a16="http://schemas.microsoft.com/office/drawing/2014/main" id="{4446090A-658A-8A17-32EB-7008F07E4EFB}"/>
              </a:ext>
            </a:extLst>
          </p:cNvPr>
          <p:cNvCxnSpPr>
            <a:cxnSpLocks/>
          </p:cNvCxnSpPr>
          <p:nvPr/>
        </p:nvCxnSpPr>
        <p:spPr bwMode="auto">
          <a:xfrm flipH="1">
            <a:off x="2819400" y="4158423"/>
            <a:ext cx="3240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19" name="TextBox 18">
            <a:extLst>
              <a:ext uri="{FF2B5EF4-FFF2-40B4-BE49-F238E27FC236}">
                <a16:creationId xmlns:a16="http://schemas.microsoft.com/office/drawing/2014/main" id="{AA71F526-BFC8-C62C-49A3-94B4FAD7E65A}"/>
              </a:ext>
            </a:extLst>
          </p:cNvPr>
          <p:cNvSpPr txBox="1"/>
          <p:nvPr/>
        </p:nvSpPr>
        <p:spPr>
          <a:xfrm>
            <a:off x="1532016" y="3012480"/>
            <a:ext cx="5334000" cy="369332"/>
          </a:xfrm>
          <a:prstGeom prst="rect">
            <a:avLst/>
          </a:prstGeom>
          <a:noFill/>
        </p:spPr>
        <p:txBody>
          <a:bodyPr wrap="square" rtlCol="0">
            <a:spAutoFit/>
          </a:bodyPr>
          <a:lstStyle/>
          <a:p>
            <a:r>
              <a:rPr lang="en-ZA" sz="1800" dirty="0"/>
              <a:t>0	      				      1</a:t>
            </a:r>
          </a:p>
        </p:txBody>
      </p:sp>
      <p:sp>
        <p:nvSpPr>
          <p:cNvPr id="20" name="TextBox 19">
            <a:extLst>
              <a:ext uri="{FF2B5EF4-FFF2-40B4-BE49-F238E27FC236}">
                <a16:creationId xmlns:a16="http://schemas.microsoft.com/office/drawing/2014/main" id="{6304CBFD-9424-272E-F218-A753F57B69E9}"/>
              </a:ext>
            </a:extLst>
          </p:cNvPr>
          <p:cNvSpPr txBox="1"/>
          <p:nvPr/>
        </p:nvSpPr>
        <p:spPr>
          <a:xfrm>
            <a:off x="876304" y="3929823"/>
            <a:ext cx="7086596" cy="400110"/>
          </a:xfrm>
          <a:prstGeom prst="rect">
            <a:avLst/>
          </a:prstGeom>
          <a:noFill/>
        </p:spPr>
        <p:txBody>
          <a:bodyPr wrap="square" rtlCol="0">
            <a:spAutoFit/>
          </a:bodyPr>
          <a:lstStyle/>
          <a:p>
            <a:r>
              <a:rPr lang="en-US" sz="2000" dirty="0"/>
              <a:t>PV = R862.07 				            FV = R1 000</a:t>
            </a:r>
            <a:endParaRPr lang="en-ZA" sz="2000" dirty="0"/>
          </a:p>
        </p:txBody>
      </p:sp>
      <p:sp>
        <p:nvSpPr>
          <p:cNvPr id="22" name="Rectangle 21">
            <a:extLst>
              <a:ext uri="{FF2B5EF4-FFF2-40B4-BE49-F238E27FC236}">
                <a16:creationId xmlns:a16="http://schemas.microsoft.com/office/drawing/2014/main" id="{ACC584E6-CDEC-8CD4-F62F-01AB5F045BA3}"/>
              </a:ext>
            </a:extLst>
          </p:cNvPr>
          <p:cNvSpPr/>
          <p:nvPr/>
        </p:nvSpPr>
        <p:spPr bwMode="auto">
          <a:xfrm>
            <a:off x="838200" y="2592011"/>
            <a:ext cx="7238997" cy="1982123"/>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cxnSp>
        <p:nvCxnSpPr>
          <p:cNvPr id="25" name="Straight Connector 24">
            <a:extLst>
              <a:ext uri="{FF2B5EF4-FFF2-40B4-BE49-F238E27FC236}">
                <a16:creationId xmlns:a16="http://schemas.microsoft.com/office/drawing/2014/main" id="{C24878F7-5AB5-53FF-8343-F2C302C1AE61}"/>
              </a:ext>
            </a:extLst>
          </p:cNvPr>
          <p:cNvCxnSpPr>
            <a:cxnSpLocks/>
          </p:cNvCxnSpPr>
          <p:nvPr/>
        </p:nvCxnSpPr>
        <p:spPr bwMode="auto">
          <a:xfrm>
            <a:off x="1714495" y="363243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6" name="TextBox 25">
            <a:extLst>
              <a:ext uri="{FF2B5EF4-FFF2-40B4-BE49-F238E27FC236}">
                <a16:creationId xmlns:a16="http://schemas.microsoft.com/office/drawing/2014/main" id="{96CB760B-C1AC-0C87-5EB0-73D3CFADF21A}"/>
              </a:ext>
            </a:extLst>
          </p:cNvPr>
          <p:cNvSpPr txBox="1"/>
          <p:nvPr/>
        </p:nvSpPr>
        <p:spPr>
          <a:xfrm>
            <a:off x="3421398" y="3386411"/>
            <a:ext cx="1234397" cy="369332"/>
          </a:xfrm>
          <a:prstGeom prst="rect">
            <a:avLst/>
          </a:prstGeom>
          <a:noFill/>
        </p:spPr>
        <p:txBody>
          <a:bodyPr wrap="square" rtlCol="0">
            <a:spAutoFit/>
          </a:bodyPr>
          <a:lstStyle/>
          <a:p>
            <a:r>
              <a:rPr lang="en-ZA" sz="1800" dirty="0" err="1"/>
              <a:t>r</a:t>
            </a:r>
            <a:r>
              <a:rPr lang="en-ZA" sz="1800" baseline="-25000" dirty="0" err="1"/>
              <a:t>PER</a:t>
            </a:r>
            <a:r>
              <a:rPr lang="en-ZA" sz="1800" dirty="0"/>
              <a:t>=16%</a:t>
            </a:r>
            <a:endParaRPr lang="en-ZA" dirty="0"/>
          </a:p>
        </p:txBody>
      </p:sp>
      <p:sp>
        <p:nvSpPr>
          <p:cNvPr id="31" name="TextBox 30">
            <a:extLst>
              <a:ext uri="{FF2B5EF4-FFF2-40B4-BE49-F238E27FC236}">
                <a16:creationId xmlns:a16="http://schemas.microsoft.com/office/drawing/2014/main" id="{AF38EE21-ACC1-2524-6642-227B56BB07A8}"/>
              </a:ext>
            </a:extLst>
          </p:cNvPr>
          <p:cNvSpPr txBox="1"/>
          <p:nvPr/>
        </p:nvSpPr>
        <p:spPr>
          <a:xfrm>
            <a:off x="3435253" y="3813938"/>
            <a:ext cx="1871347" cy="369332"/>
          </a:xfrm>
          <a:prstGeom prst="rect">
            <a:avLst/>
          </a:prstGeom>
          <a:noFill/>
        </p:spPr>
        <p:txBody>
          <a:bodyPr wrap="square" rtlCol="0">
            <a:spAutoFit/>
          </a:bodyPr>
          <a:lstStyle/>
          <a:p>
            <a:r>
              <a:rPr lang="en-US" sz="1800" dirty="0">
                <a:latin typeface="+mj-lt"/>
              </a:rPr>
              <a:t>1 / (1 + 0.16) x</a:t>
            </a:r>
            <a:endParaRPr lang="en-ZA" sz="1800" dirty="0">
              <a:latin typeface="+mj-lt"/>
            </a:endParaRPr>
          </a:p>
        </p:txBody>
      </p:sp>
    </p:spTree>
    <p:custDataLst>
      <p:tags r:id="rId1"/>
    </p:custDataLst>
    <p:extLst>
      <p:ext uri="{BB962C8B-B14F-4D97-AF65-F5344CB8AC3E}">
        <p14:creationId xmlns:p14="http://schemas.microsoft.com/office/powerpoint/2010/main" val="2616557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708CDF-C1BB-EC12-3166-8208EB7FDA4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543D15E-EA69-9E43-3BB8-A7CF781567F5}"/>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9A6EBF21-FD82-F396-16CC-535BF621303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18</a:t>
            </a:fld>
            <a:endParaRPr lang="en-US">
              <a:solidFill>
                <a:schemeClr val="tx1"/>
              </a:solidFill>
            </a:endParaRPr>
          </a:p>
        </p:txBody>
      </p:sp>
      <p:sp>
        <p:nvSpPr>
          <p:cNvPr id="4" name="Rectangle 5">
            <a:extLst>
              <a:ext uri="{FF2B5EF4-FFF2-40B4-BE49-F238E27FC236}">
                <a16:creationId xmlns:a16="http://schemas.microsoft.com/office/drawing/2014/main" id="{C5AB3123-F3A9-43B6-DFDC-FE950BB8BC8B}"/>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200" dirty="0"/>
              <a:t>Constant CF (annuity)</a:t>
            </a:r>
          </a:p>
          <a:p>
            <a:pPr>
              <a:lnSpc>
                <a:spcPct val="105000"/>
              </a:lnSpc>
              <a:buSzPct val="100000"/>
              <a:buFont typeface="Arial" panose="020B0604020202020204" pitchFamily="34" charset="0"/>
              <a:buChar char="•"/>
            </a:pPr>
            <a:r>
              <a:rPr lang="en-US" sz="2200" dirty="0"/>
              <a:t>Example: What is the PV of a cash flow of R1 000 per year for 5 years if r = 12% and cash flows at </a:t>
            </a:r>
            <a:r>
              <a:rPr lang="en-US" sz="2200" b="1" dirty="0">
                <a:solidFill>
                  <a:srgbClr val="C00000"/>
                </a:solidFill>
              </a:rPr>
              <a:t>end </a:t>
            </a:r>
            <a:r>
              <a:rPr lang="en-US" sz="2200" dirty="0"/>
              <a:t>of each period?</a:t>
            </a:r>
            <a:endParaRPr lang="en-US" sz="2200" dirty="0">
              <a:latin typeface="+mj-lt"/>
            </a:endParaRPr>
          </a:p>
        </p:txBody>
      </p:sp>
      <p:sp>
        <p:nvSpPr>
          <p:cNvPr id="48" name="Rectangle 47">
            <a:extLst>
              <a:ext uri="{FF2B5EF4-FFF2-40B4-BE49-F238E27FC236}">
                <a16:creationId xmlns:a16="http://schemas.microsoft.com/office/drawing/2014/main" id="{A33C6A29-C7BF-CB0C-C785-516B79D53209}"/>
              </a:ext>
            </a:extLst>
          </p:cNvPr>
          <p:cNvSpPr/>
          <p:nvPr/>
        </p:nvSpPr>
        <p:spPr bwMode="auto">
          <a:xfrm>
            <a:off x="1554134" y="59049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49" name="Rectangle 48">
            <a:extLst>
              <a:ext uri="{FF2B5EF4-FFF2-40B4-BE49-F238E27FC236}">
                <a16:creationId xmlns:a16="http://schemas.microsoft.com/office/drawing/2014/main" id="{D1DB9914-A03D-FA99-5434-E0547A462DE7}"/>
              </a:ext>
            </a:extLst>
          </p:cNvPr>
          <p:cNvSpPr/>
          <p:nvPr/>
        </p:nvSpPr>
        <p:spPr bwMode="auto">
          <a:xfrm>
            <a:off x="3000718" y="59049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50" name="Rectangle 49">
            <a:extLst>
              <a:ext uri="{FF2B5EF4-FFF2-40B4-BE49-F238E27FC236}">
                <a16:creationId xmlns:a16="http://schemas.microsoft.com/office/drawing/2014/main" id="{1378F219-7342-A686-31BE-4F357C7A5EAD}"/>
              </a:ext>
            </a:extLst>
          </p:cNvPr>
          <p:cNvSpPr/>
          <p:nvPr/>
        </p:nvSpPr>
        <p:spPr bwMode="auto">
          <a:xfrm>
            <a:off x="4372318" y="59049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51" name="Rectangle 50">
            <a:extLst>
              <a:ext uri="{FF2B5EF4-FFF2-40B4-BE49-F238E27FC236}">
                <a16:creationId xmlns:a16="http://schemas.microsoft.com/office/drawing/2014/main" id="{A7F75F1A-79D4-D5E8-C3E6-0A23DB0D5D7D}"/>
              </a:ext>
            </a:extLst>
          </p:cNvPr>
          <p:cNvSpPr/>
          <p:nvPr/>
        </p:nvSpPr>
        <p:spPr bwMode="auto">
          <a:xfrm>
            <a:off x="5743918" y="59049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52" name="Rectangle 51">
            <a:extLst>
              <a:ext uri="{FF2B5EF4-FFF2-40B4-BE49-F238E27FC236}">
                <a16:creationId xmlns:a16="http://schemas.microsoft.com/office/drawing/2014/main" id="{87BD3865-7CB2-767D-FD9C-885315AAA9C9}"/>
              </a:ext>
            </a:extLst>
          </p:cNvPr>
          <p:cNvSpPr/>
          <p:nvPr/>
        </p:nvSpPr>
        <p:spPr bwMode="auto">
          <a:xfrm>
            <a:off x="7115518" y="5904959"/>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53" name="TextBox 52">
            <a:extLst>
              <a:ext uri="{FF2B5EF4-FFF2-40B4-BE49-F238E27FC236}">
                <a16:creationId xmlns:a16="http://schemas.microsoft.com/office/drawing/2014/main" id="{6ECF3646-46DB-D9F8-9402-A1DB0D7FDD7C}"/>
              </a:ext>
            </a:extLst>
          </p:cNvPr>
          <p:cNvSpPr txBox="1"/>
          <p:nvPr/>
        </p:nvSpPr>
        <p:spPr>
          <a:xfrm>
            <a:off x="330505" y="5559623"/>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Inputs:	 5	    12	     ?	 ±1 000                   0</a:t>
            </a:r>
          </a:p>
        </p:txBody>
      </p:sp>
      <p:sp>
        <p:nvSpPr>
          <p:cNvPr id="54" name="TextBox 53">
            <a:extLst>
              <a:ext uri="{FF2B5EF4-FFF2-40B4-BE49-F238E27FC236}">
                <a16:creationId xmlns:a16="http://schemas.microsoft.com/office/drawing/2014/main" id="{A8ACBFE3-BE31-5D05-339B-1B441C88A75D}"/>
              </a:ext>
            </a:extLst>
          </p:cNvPr>
          <p:cNvSpPr txBox="1"/>
          <p:nvPr/>
        </p:nvSpPr>
        <p:spPr>
          <a:xfrm>
            <a:off x="304800" y="6477000"/>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 3 604.78	</a:t>
            </a:r>
          </a:p>
        </p:txBody>
      </p:sp>
      <p:cxnSp>
        <p:nvCxnSpPr>
          <p:cNvPr id="55" name="Straight Connector 54">
            <a:extLst>
              <a:ext uri="{FF2B5EF4-FFF2-40B4-BE49-F238E27FC236}">
                <a16:creationId xmlns:a16="http://schemas.microsoft.com/office/drawing/2014/main" id="{5A284CA7-F160-C4EC-725C-31AA42ACF8CF}"/>
              </a:ext>
            </a:extLst>
          </p:cNvPr>
          <p:cNvCxnSpPr>
            <a:cxnSpLocks/>
          </p:cNvCxnSpPr>
          <p:nvPr/>
        </p:nvCxnSpPr>
        <p:spPr bwMode="auto">
          <a:xfrm>
            <a:off x="2385461" y="2886110"/>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D6026168-4E20-65A6-F012-E03278D964A7}"/>
              </a:ext>
            </a:extLst>
          </p:cNvPr>
          <p:cNvCxnSpPr>
            <a:cxnSpLocks/>
          </p:cNvCxnSpPr>
          <p:nvPr/>
        </p:nvCxnSpPr>
        <p:spPr bwMode="auto">
          <a:xfrm>
            <a:off x="2385462" y="273371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2E2C9A65-C6A6-6241-C13A-3E6354D2000F}"/>
              </a:ext>
            </a:extLst>
          </p:cNvPr>
          <p:cNvCxnSpPr>
            <a:cxnSpLocks/>
          </p:cNvCxnSpPr>
          <p:nvPr/>
        </p:nvCxnSpPr>
        <p:spPr bwMode="auto">
          <a:xfrm>
            <a:off x="4970987" y="274326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8" name="Straight Connector 57">
            <a:extLst>
              <a:ext uri="{FF2B5EF4-FFF2-40B4-BE49-F238E27FC236}">
                <a16:creationId xmlns:a16="http://schemas.microsoft.com/office/drawing/2014/main" id="{BBB6E0E0-6E03-A23A-3EF0-1871F424915C}"/>
              </a:ext>
            </a:extLst>
          </p:cNvPr>
          <p:cNvCxnSpPr>
            <a:cxnSpLocks/>
          </p:cNvCxnSpPr>
          <p:nvPr/>
        </p:nvCxnSpPr>
        <p:spPr bwMode="auto">
          <a:xfrm>
            <a:off x="3675587" y="273371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EA283DCD-2B4B-07A9-D746-3A1C2FE033B3}"/>
              </a:ext>
            </a:extLst>
          </p:cNvPr>
          <p:cNvCxnSpPr>
            <a:cxnSpLocks/>
          </p:cNvCxnSpPr>
          <p:nvPr/>
        </p:nvCxnSpPr>
        <p:spPr bwMode="auto">
          <a:xfrm>
            <a:off x="6266387" y="274326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0" name="Straight Arrow Connector 59">
            <a:extLst>
              <a:ext uri="{FF2B5EF4-FFF2-40B4-BE49-F238E27FC236}">
                <a16:creationId xmlns:a16="http://schemas.microsoft.com/office/drawing/2014/main" id="{765296DA-B50E-A675-2096-012D557559B1}"/>
              </a:ext>
            </a:extLst>
          </p:cNvPr>
          <p:cNvCxnSpPr>
            <a:cxnSpLocks/>
          </p:cNvCxnSpPr>
          <p:nvPr/>
        </p:nvCxnSpPr>
        <p:spPr bwMode="auto">
          <a:xfrm flipH="1">
            <a:off x="2355769" y="4791110"/>
            <a:ext cx="6336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61" name="TextBox 60">
            <a:extLst>
              <a:ext uri="{FF2B5EF4-FFF2-40B4-BE49-F238E27FC236}">
                <a16:creationId xmlns:a16="http://schemas.microsoft.com/office/drawing/2014/main" id="{8878625A-C251-BFF3-2CCD-A3C91C7A82A2}"/>
              </a:ext>
            </a:extLst>
          </p:cNvPr>
          <p:cNvSpPr txBox="1"/>
          <p:nvPr/>
        </p:nvSpPr>
        <p:spPr>
          <a:xfrm>
            <a:off x="2203369" y="2328471"/>
            <a:ext cx="6705600" cy="307777"/>
          </a:xfrm>
          <a:prstGeom prst="rect">
            <a:avLst/>
          </a:prstGeom>
          <a:noFill/>
        </p:spPr>
        <p:txBody>
          <a:bodyPr wrap="square" rtlCol="0">
            <a:spAutoFit/>
          </a:bodyPr>
          <a:lstStyle/>
          <a:p>
            <a:r>
              <a:rPr lang="en-ZA" sz="1400" dirty="0">
                <a:latin typeface="+mj-lt"/>
              </a:rPr>
              <a:t> 0   r = 12%      1                      2                     3                    4                   5</a:t>
            </a:r>
          </a:p>
        </p:txBody>
      </p:sp>
      <p:sp>
        <p:nvSpPr>
          <p:cNvPr id="62" name="TextBox 61">
            <a:extLst>
              <a:ext uri="{FF2B5EF4-FFF2-40B4-BE49-F238E27FC236}">
                <a16:creationId xmlns:a16="http://schemas.microsoft.com/office/drawing/2014/main" id="{FB66C449-9D2C-A2EA-D410-398634C4E9B6}"/>
              </a:ext>
            </a:extLst>
          </p:cNvPr>
          <p:cNvSpPr txBox="1"/>
          <p:nvPr/>
        </p:nvSpPr>
        <p:spPr>
          <a:xfrm>
            <a:off x="3429000" y="3073011"/>
            <a:ext cx="5692418" cy="307777"/>
          </a:xfrm>
          <a:prstGeom prst="rect">
            <a:avLst/>
          </a:prstGeom>
          <a:noFill/>
        </p:spPr>
        <p:txBody>
          <a:bodyPr wrap="square" rtlCol="0">
            <a:spAutoFit/>
          </a:bodyPr>
          <a:lstStyle/>
          <a:p>
            <a:r>
              <a:rPr lang="en-ZA" sz="1400" dirty="0">
                <a:latin typeface="+mj-lt"/>
              </a:rPr>
              <a:t>1 000	       1 000	              1 000	   1 000	        1 000</a:t>
            </a:r>
            <a:endParaRPr lang="en-ZA" sz="1400" baseline="-25000" dirty="0">
              <a:latin typeface="+mj-lt"/>
            </a:endParaRPr>
          </a:p>
        </p:txBody>
      </p:sp>
      <p:sp>
        <p:nvSpPr>
          <p:cNvPr id="63" name="Rectangle 62">
            <a:extLst>
              <a:ext uri="{FF2B5EF4-FFF2-40B4-BE49-F238E27FC236}">
                <a16:creationId xmlns:a16="http://schemas.microsoft.com/office/drawing/2014/main" id="{160381D4-E87C-DF15-B14B-9CEEAB2B0BCF}"/>
              </a:ext>
            </a:extLst>
          </p:cNvPr>
          <p:cNvSpPr/>
          <p:nvPr/>
        </p:nvSpPr>
        <p:spPr bwMode="auto">
          <a:xfrm>
            <a:off x="76200" y="2209800"/>
            <a:ext cx="8991595" cy="3129557"/>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cxnSp>
        <p:nvCxnSpPr>
          <p:cNvPr id="9216" name="Straight Connector 9215">
            <a:extLst>
              <a:ext uri="{FF2B5EF4-FFF2-40B4-BE49-F238E27FC236}">
                <a16:creationId xmlns:a16="http://schemas.microsoft.com/office/drawing/2014/main" id="{C9C509F6-7806-D8D0-B433-9838494699A0}"/>
              </a:ext>
            </a:extLst>
          </p:cNvPr>
          <p:cNvCxnSpPr/>
          <p:nvPr/>
        </p:nvCxnSpPr>
        <p:spPr bwMode="auto">
          <a:xfrm flipV="1">
            <a:off x="8686413" y="3387110"/>
            <a:ext cx="0" cy="1404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17" name="Straight Connector 9216">
            <a:extLst>
              <a:ext uri="{FF2B5EF4-FFF2-40B4-BE49-F238E27FC236}">
                <a16:creationId xmlns:a16="http://schemas.microsoft.com/office/drawing/2014/main" id="{00D1BB9A-26FC-05D9-AD08-525CED7708F5}"/>
              </a:ext>
            </a:extLst>
          </p:cNvPr>
          <p:cNvCxnSpPr>
            <a:cxnSpLocks/>
          </p:cNvCxnSpPr>
          <p:nvPr/>
        </p:nvCxnSpPr>
        <p:spPr bwMode="auto">
          <a:xfrm flipV="1">
            <a:off x="7491857" y="3358665"/>
            <a:ext cx="0" cy="1152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18" name="Straight Connector 9217">
            <a:extLst>
              <a:ext uri="{FF2B5EF4-FFF2-40B4-BE49-F238E27FC236}">
                <a16:creationId xmlns:a16="http://schemas.microsoft.com/office/drawing/2014/main" id="{67BCF917-7692-473B-9526-276657EF8D08}"/>
              </a:ext>
            </a:extLst>
          </p:cNvPr>
          <p:cNvCxnSpPr>
            <a:cxnSpLocks/>
          </p:cNvCxnSpPr>
          <p:nvPr/>
        </p:nvCxnSpPr>
        <p:spPr bwMode="auto">
          <a:xfrm flipV="1">
            <a:off x="4970987" y="3359831"/>
            <a:ext cx="0" cy="576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9219" name="TextBox 9218">
            <a:extLst>
              <a:ext uri="{FF2B5EF4-FFF2-40B4-BE49-F238E27FC236}">
                <a16:creationId xmlns:a16="http://schemas.microsoft.com/office/drawing/2014/main" id="{A823BF0B-0FF6-CB48-903B-5CC31472671E}"/>
              </a:ext>
            </a:extLst>
          </p:cNvPr>
          <p:cNvSpPr txBox="1"/>
          <p:nvPr/>
        </p:nvSpPr>
        <p:spPr>
          <a:xfrm>
            <a:off x="419443" y="3504797"/>
            <a:ext cx="2114900" cy="1754326"/>
          </a:xfrm>
          <a:prstGeom prst="rect">
            <a:avLst/>
          </a:prstGeom>
          <a:noFill/>
        </p:spPr>
        <p:txBody>
          <a:bodyPr wrap="square" rtlCol="0">
            <a:spAutoFit/>
          </a:bodyPr>
          <a:lstStyle/>
          <a:p>
            <a:r>
              <a:rPr lang="en-ZA" sz="1800" dirty="0">
                <a:latin typeface="+mj-lt"/>
              </a:rPr>
              <a:t>               892.86</a:t>
            </a:r>
          </a:p>
          <a:p>
            <a:r>
              <a:rPr lang="en-ZA" sz="1800" dirty="0">
                <a:latin typeface="+mj-lt"/>
              </a:rPr>
              <a:t>               797.19</a:t>
            </a:r>
          </a:p>
          <a:p>
            <a:r>
              <a:rPr lang="en-ZA" sz="1800" dirty="0">
                <a:latin typeface="+mj-lt"/>
              </a:rPr>
              <a:t>               711.78</a:t>
            </a:r>
          </a:p>
          <a:p>
            <a:r>
              <a:rPr lang="en-ZA" sz="1800" dirty="0">
                <a:latin typeface="+mj-lt"/>
              </a:rPr>
              <a:t>               635.52</a:t>
            </a:r>
          </a:p>
          <a:p>
            <a:r>
              <a:rPr lang="en-ZA" sz="1800" dirty="0">
                <a:latin typeface="+mj-lt"/>
              </a:rPr>
              <a:t>            </a:t>
            </a:r>
            <a:r>
              <a:rPr lang="en-ZA" sz="1800" u="sng" dirty="0">
                <a:latin typeface="+mj-lt"/>
              </a:rPr>
              <a:t>   567.43</a:t>
            </a:r>
          </a:p>
          <a:p>
            <a:r>
              <a:rPr lang="en-ZA" sz="1800" dirty="0">
                <a:latin typeface="+mj-lt"/>
              </a:rPr>
              <a:t>   PV =  </a:t>
            </a:r>
            <a:r>
              <a:rPr lang="en-ZA" sz="1800" u="dbl" dirty="0">
                <a:latin typeface="+mj-lt"/>
              </a:rPr>
              <a:t>3 604.78</a:t>
            </a:r>
          </a:p>
        </p:txBody>
      </p:sp>
      <p:sp>
        <p:nvSpPr>
          <p:cNvPr id="9221" name="TextBox 9220">
            <a:extLst>
              <a:ext uri="{FF2B5EF4-FFF2-40B4-BE49-F238E27FC236}">
                <a16:creationId xmlns:a16="http://schemas.microsoft.com/office/drawing/2014/main" id="{1A34EFA3-9C20-9E48-C77F-ACFC2FAA9A84}"/>
              </a:ext>
            </a:extLst>
          </p:cNvPr>
          <p:cNvSpPr txBox="1"/>
          <p:nvPr/>
        </p:nvSpPr>
        <p:spPr>
          <a:xfrm>
            <a:off x="170590" y="2675085"/>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beginning of year 1</a:t>
            </a:r>
            <a:endParaRPr lang="en-ZA" sz="1400" baseline="30000" dirty="0">
              <a:latin typeface="+mj-lt"/>
            </a:endParaRPr>
          </a:p>
        </p:txBody>
      </p:sp>
      <p:cxnSp>
        <p:nvCxnSpPr>
          <p:cNvPr id="9222" name="Straight Connector 9221">
            <a:extLst>
              <a:ext uri="{FF2B5EF4-FFF2-40B4-BE49-F238E27FC236}">
                <a16:creationId xmlns:a16="http://schemas.microsoft.com/office/drawing/2014/main" id="{AEC88EF6-1D40-C618-93AE-2ADE9A866E51}"/>
              </a:ext>
            </a:extLst>
          </p:cNvPr>
          <p:cNvCxnSpPr>
            <a:cxnSpLocks/>
          </p:cNvCxnSpPr>
          <p:nvPr/>
        </p:nvCxnSpPr>
        <p:spPr bwMode="auto">
          <a:xfrm>
            <a:off x="8668689" y="2730518"/>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23" name="Straight Connector 9222">
            <a:extLst>
              <a:ext uri="{FF2B5EF4-FFF2-40B4-BE49-F238E27FC236}">
                <a16:creationId xmlns:a16="http://schemas.microsoft.com/office/drawing/2014/main" id="{64F8931D-064C-B456-20E1-2321DF8E8328}"/>
              </a:ext>
            </a:extLst>
          </p:cNvPr>
          <p:cNvCxnSpPr>
            <a:cxnSpLocks/>
          </p:cNvCxnSpPr>
          <p:nvPr/>
        </p:nvCxnSpPr>
        <p:spPr bwMode="auto">
          <a:xfrm>
            <a:off x="7491857" y="2730518"/>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24" name="Straight Connector 9223">
            <a:extLst>
              <a:ext uri="{FF2B5EF4-FFF2-40B4-BE49-F238E27FC236}">
                <a16:creationId xmlns:a16="http://schemas.microsoft.com/office/drawing/2014/main" id="{03D78EFE-D682-4824-64F0-C798597F924E}"/>
              </a:ext>
            </a:extLst>
          </p:cNvPr>
          <p:cNvCxnSpPr>
            <a:cxnSpLocks/>
          </p:cNvCxnSpPr>
          <p:nvPr/>
        </p:nvCxnSpPr>
        <p:spPr bwMode="auto">
          <a:xfrm flipV="1">
            <a:off x="6266387" y="3359831"/>
            <a:ext cx="0" cy="82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25" name="Straight Connector 9224">
            <a:extLst>
              <a:ext uri="{FF2B5EF4-FFF2-40B4-BE49-F238E27FC236}">
                <a16:creationId xmlns:a16="http://schemas.microsoft.com/office/drawing/2014/main" id="{CE02D9EB-09FD-E89A-23D2-2A0DFBF8E789}"/>
              </a:ext>
            </a:extLst>
          </p:cNvPr>
          <p:cNvCxnSpPr>
            <a:cxnSpLocks/>
          </p:cNvCxnSpPr>
          <p:nvPr/>
        </p:nvCxnSpPr>
        <p:spPr bwMode="auto">
          <a:xfrm flipV="1">
            <a:off x="3675587" y="3359831"/>
            <a:ext cx="0" cy="28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226" name="Straight Arrow Connector 9225">
            <a:extLst>
              <a:ext uri="{FF2B5EF4-FFF2-40B4-BE49-F238E27FC236}">
                <a16:creationId xmlns:a16="http://schemas.microsoft.com/office/drawing/2014/main" id="{CA9F9558-16DF-ED61-A86A-0754F12EB2AA}"/>
              </a:ext>
            </a:extLst>
          </p:cNvPr>
          <p:cNvCxnSpPr>
            <a:cxnSpLocks/>
          </p:cNvCxnSpPr>
          <p:nvPr/>
        </p:nvCxnSpPr>
        <p:spPr bwMode="auto">
          <a:xfrm flipH="1">
            <a:off x="2353369" y="4510665"/>
            <a:ext cx="5148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9227" name="Straight Arrow Connector 9226">
            <a:extLst>
              <a:ext uri="{FF2B5EF4-FFF2-40B4-BE49-F238E27FC236}">
                <a16:creationId xmlns:a16="http://schemas.microsoft.com/office/drawing/2014/main" id="{D97D19BE-6073-3C47-B5DC-5315654AEF4A}"/>
              </a:ext>
            </a:extLst>
          </p:cNvPr>
          <p:cNvCxnSpPr>
            <a:cxnSpLocks/>
          </p:cNvCxnSpPr>
          <p:nvPr/>
        </p:nvCxnSpPr>
        <p:spPr bwMode="auto">
          <a:xfrm flipH="1">
            <a:off x="2342337" y="4187831"/>
            <a:ext cx="392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9228" name="Straight Arrow Connector 9227">
            <a:extLst>
              <a:ext uri="{FF2B5EF4-FFF2-40B4-BE49-F238E27FC236}">
                <a16:creationId xmlns:a16="http://schemas.microsoft.com/office/drawing/2014/main" id="{9FA9410F-65BA-446C-7713-E576DAB14B5E}"/>
              </a:ext>
            </a:extLst>
          </p:cNvPr>
          <p:cNvCxnSpPr>
            <a:cxnSpLocks/>
          </p:cNvCxnSpPr>
          <p:nvPr/>
        </p:nvCxnSpPr>
        <p:spPr bwMode="auto">
          <a:xfrm flipH="1">
            <a:off x="2342337" y="3647831"/>
            <a:ext cx="1332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9229" name="Straight Arrow Connector 9228">
            <a:extLst>
              <a:ext uri="{FF2B5EF4-FFF2-40B4-BE49-F238E27FC236}">
                <a16:creationId xmlns:a16="http://schemas.microsoft.com/office/drawing/2014/main" id="{60AF0537-3BD1-7B13-54F3-90DBF9CA60C8}"/>
              </a:ext>
            </a:extLst>
          </p:cNvPr>
          <p:cNvCxnSpPr>
            <a:cxnSpLocks/>
          </p:cNvCxnSpPr>
          <p:nvPr/>
        </p:nvCxnSpPr>
        <p:spPr bwMode="auto">
          <a:xfrm flipH="1">
            <a:off x="2353369" y="3913836"/>
            <a:ext cx="2628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Tree>
    <p:custDataLst>
      <p:tags r:id="rId1"/>
    </p:custDataLst>
    <p:extLst>
      <p:ext uri="{BB962C8B-B14F-4D97-AF65-F5344CB8AC3E}">
        <p14:creationId xmlns:p14="http://schemas.microsoft.com/office/powerpoint/2010/main" val="1343925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7ACEA6C-FFFE-7D33-7514-1E5F9D3AE7D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96F5B57-7293-75EA-8779-5A5D65994853}"/>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ED45653F-7BBA-3492-BC54-000F81E21F19}"/>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19</a:t>
            </a:fld>
            <a:endParaRPr lang="en-US">
              <a:solidFill>
                <a:schemeClr val="tx1"/>
              </a:solidFill>
            </a:endParaRPr>
          </a:p>
        </p:txBody>
      </p:sp>
      <p:sp>
        <p:nvSpPr>
          <p:cNvPr id="4" name="Rectangle 5">
            <a:extLst>
              <a:ext uri="{FF2B5EF4-FFF2-40B4-BE49-F238E27FC236}">
                <a16:creationId xmlns:a16="http://schemas.microsoft.com/office/drawing/2014/main" id="{4F647B19-2F5A-352B-AF10-E77480E85393}"/>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mixed stream</a:t>
            </a:r>
          </a:p>
          <a:p>
            <a:pPr marL="717550" algn="just">
              <a:lnSpc>
                <a:spcPct val="100000"/>
              </a:lnSpc>
              <a:spcBef>
                <a:spcPts val="0"/>
              </a:spcBef>
              <a:spcAft>
                <a:spcPts val="600"/>
              </a:spcAft>
              <a:buSzPct val="100000"/>
              <a:buFont typeface="Wingdings" panose="05000000000000000000" pitchFamily="2" charset="2"/>
              <a:buChar char="§"/>
            </a:pPr>
            <a:r>
              <a:rPr lang="en-US" sz="2400" dirty="0">
                <a:latin typeface="+mj-lt"/>
              </a:rPr>
              <a:t>A series of CF flows in which amount varies from one period to next:</a:t>
            </a:r>
          </a:p>
          <a:p>
            <a:pPr marL="1071563" algn="just">
              <a:lnSpc>
                <a:spcPct val="100000"/>
              </a:lnSpc>
              <a:spcBef>
                <a:spcPts val="0"/>
              </a:spcBef>
              <a:spcAft>
                <a:spcPts val="600"/>
              </a:spcAft>
              <a:buSzPct val="100000"/>
              <a:buFont typeface="Wingdings" panose="05000000000000000000" pitchFamily="2" charset="2"/>
              <a:buChar char="§"/>
            </a:pPr>
            <a:r>
              <a:rPr lang="en-US" sz="2400" dirty="0">
                <a:latin typeface="+mj-lt"/>
              </a:rPr>
              <a:t>Payment (PMT) designates constant CF (annuity stream) – slide 18</a:t>
            </a:r>
          </a:p>
          <a:p>
            <a:pPr marL="1071563" algn="just">
              <a:lnSpc>
                <a:spcPct val="100000"/>
              </a:lnSpc>
              <a:spcBef>
                <a:spcPts val="0"/>
              </a:spcBef>
              <a:spcAft>
                <a:spcPts val="600"/>
              </a:spcAft>
              <a:buSzPct val="100000"/>
              <a:buFont typeface="Wingdings" panose="05000000000000000000" pitchFamily="2" charset="2"/>
              <a:buChar char="§"/>
            </a:pPr>
            <a:r>
              <a:rPr lang="en-US" sz="2400" dirty="0">
                <a:latin typeface="+mj-lt"/>
              </a:rPr>
              <a:t>Cash flow (CF) designates CF in general, both constant cash flows and </a:t>
            </a:r>
            <a:r>
              <a:rPr lang="en-US" sz="2400" dirty="0">
                <a:solidFill>
                  <a:srgbClr val="C00000"/>
                </a:solidFill>
                <a:latin typeface="+mj-lt"/>
              </a:rPr>
              <a:t>uneven cash flows</a:t>
            </a:r>
          </a:p>
          <a:p>
            <a:pPr marL="1071563" algn="just">
              <a:lnSpc>
                <a:spcPct val="100000"/>
              </a:lnSpc>
              <a:spcBef>
                <a:spcPts val="0"/>
              </a:spcBef>
              <a:spcAft>
                <a:spcPts val="600"/>
              </a:spcAft>
              <a:buSzPct val="100000"/>
              <a:buFont typeface="Wingdings" panose="05000000000000000000" pitchFamily="2" charset="2"/>
              <a:buChar char="§"/>
            </a:pPr>
            <a:endParaRPr lang="en-US" sz="2400" dirty="0">
              <a:solidFill>
                <a:srgbClr val="C00000"/>
              </a:solidFill>
              <a:latin typeface="+mj-lt"/>
            </a:endParaRPr>
          </a:p>
        </p:txBody>
      </p:sp>
    </p:spTree>
    <p:custDataLst>
      <p:tags r:id="rId1"/>
    </p:custDataLst>
    <p:extLst>
      <p:ext uri="{BB962C8B-B14F-4D97-AF65-F5344CB8AC3E}">
        <p14:creationId xmlns:p14="http://schemas.microsoft.com/office/powerpoint/2010/main" val="600444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4CEDCC-2BC0-8982-7B49-3E4DD1AE3AA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4B03095-C8FF-B684-3780-1AF36FA1EC0B}"/>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25EC0383-8692-6CF7-B9B1-66A23F0BFF5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20</a:t>
            </a:fld>
            <a:endParaRPr lang="en-US">
              <a:solidFill>
                <a:schemeClr val="tx1"/>
              </a:solidFill>
            </a:endParaRPr>
          </a:p>
        </p:txBody>
      </p:sp>
      <p:sp>
        <p:nvSpPr>
          <p:cNvPr id="4" name="Rectangle 5">
            <a:extLst>
              <a:ext uri="{FF2B5EF4-FFF2-40B4-BE49-F238E27FC236}">
                <a16:creationId xmlns:a16="http://schemas.microsoft.com/office/drawing/2014/main" id="{48CE10BC-C943-D13E-5A01-6A4BEEF629E4}"/>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mixed stream (cont.)</a:t>
            </a:r>
          </a:p>
          <a:p>
            <a:pPr>
              <a:lnSpc>
                <a:spcPct val="105000"/>
              </a:lnSpc>
              <a:buSzPct val="100000"/>
              <a:buFont typeface="Arial" panose="020B0604020202020204" pitchFamily="34" charset="0"/>
              <a:buChar char="•"/>
            </a:pPr>
            <a:r>
              <a:rPr lang="en-US" sz="2400" dirty="0">
                <a:latin typeface="+mj-lt"/>
              </a:rPr>
              <a:t>Example: Assume you receive the following cash flows over the next five years (</a:t>
            </a:r>
            <a:r>
              <a:rPr lang="en-US" sz="2400" b="1" dirty="0">
                <a:solidFill>
                  <a:srgbClr val="C00000"/>
                </a:solidFill>
                <a:latin typeface="+mj-lt"/>
              </a:rPr>
              <a:t>end</a:t>
            </a:r>
            <a:r>
              <a:rPr lang="en-US" sz="2400" dirty="0">
                <a:latin typeface="+mj-lt"/>
              </a:rPr>
              <a:t> of each year). The required rate of return is 12%.</a:t>
            </a:r>
          </a:p>
        </p:txBody>
      </p:sp>
      <p:graphicFrame>
        <p:nvGraphicFramePr>
          <p:cNvPr id="2" name="Table 1">
            <a:extLst>
              <a:ext uri="{FF2B5EF4-FFF2-40B4-BE49-F238E27FC236}">
                <a16:creationId xmlns:a16="http://schemas.microsoft.com/office/drawing/2014/main" id="{364846B7-2178-125C-226E-EE9D4C49F390}"/>
              </a:ext>
            </a:extLst>
          </p:cNvPr>
          <p:cNvGraphicFramePr>
            <a:graphicFrameLocks noGrp="1"/>
          </p:cNvGraphicFramePr>
          <p:nvPr>
            <p:extLst>
              <p:ext uri="{D42A27DB-BD31-4B8C-83A1-F6EECF244321}">
                <p14:modId xmlns:p14="http://schemas.microsoft.com/office/powerpoint/2010/main" val="409545668"/>
              </p:ext>
            </p:extLst>
          </p:nvPr>
        </p:nvGraphicFramePr>
        <p:xfrm>
          <a:off x="1524000" y="2895600"/>
          <a:ext cx="6096000" cy="2743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965623577"/>
                    </a:ext>
                  </a:extLst>
                </a:gridCol>
                <a:gridCol w="3048000">
                  <a:extLst>
                    <a:ext uri="{9D8B030D-6E8A-4147-A177-3AD203B41FA5}">
                      <a16:colId xmlns:a16="http://schemas.microsoft.com/office/drawing/2014/main" val="3081405519"/>
                    </a:ext>
                  </a:extLst>
                </a:gridCol>
              </a:tblGrid>
              <a:tr h="365011">
                <a:tc>
                  <a:txBody>
                    <a:bodyPr/>
                    <a:lstStyle/>
                    <a:p>
                      <a:pPr algn="ctr"/>
                      <a:r>
                        <a:rPr lang="en-US" sz="2400" dirty="0"/>
                        <a:t>Year end</a:t>
                      </a:r>
                      <a:endParaRPr lang="en-ZA" sz="2400" dirty="0"/>
                    </a:p>
                  </a:txBody>
                  <a:tcPr anchor="ctr"/>
                </a:tc>
                <a:tc>
                  <a:txBody>
                    <a:bodyPr/>
                    <a:lstStyle/>
                    <a:p>
                      <a:pPr algn="ctr"/>
                      <a:r>
                        <a:rPr lang="en-US" sz="2400" dirty="0"/>
                        <a:t>Cash flow</a:t>
                      </a:r>
                      <a:endParaRPr lang="en-ZA" sz="2400" dirty="0"/>
                    </a:p>
                  </a:txBody>
                  <a:tcPr anchor="ctr"/>
                </a:tc>
                <a:extLst>
                  <a:ext uri="{0D108BD9-81ED-4DB2-BD59-A6C34878D82A}">
                    <a16:rowId xmlns:a16="http://schemas.microsoft.com/office/drawing/2014/main" val="329204689"/>
                  </a:ext>
                </a:extLst>
              </a:tr>
              <a:tr h="370840">
                <a:tc>
                  <a:txBody>
                    <a:bodyPr/>
                    <a:lstStyle/>
                    <a:p>
                      <a:pPr algn="ctr"/>
                      <a:r>
                        <a:rPr lang="en-US" sz="2400" dirty="0"/>
                        <a:t>1</a:t>
                      </a:r>
                      <a:endParaRPr lang="en-ZA" sz="2400" dirty="0"/>
                    </a:p>
                  </a:txBody>
                  <a:tcPr anchor="ctr"/>
                </a:tc>
                <a:tc>
                  <a:txBody>
                    <a:bodyPr/>
                    <a:lstStyle/>
                    <a:p>
                      <a:pPr algn="ctr"/>
                      <a:r>
                        <a:rPr lang="en-US" sz="2400" dirty="0"/>
                        <a:t>R1 000</a:t>
                      </a:r>
                      <a:endParaRPr lang="en-ZA" sz="2400" dirty="0"/>
                    </a:p>
                  </a:txBody>
                  <a:tcPr anchor="ctr"/>
                </a:tc>
                <a:extLst>
                  <a:ext uri="{0D108BD9-81ED-4DB2-BD59-A6C34878D82A}">
                    <a16:rowId xmlns:a16="http://schemas.microsoft.com/office/drawing/2014/main" val="3163490180"/>
                  </a:ext>
                </a:extLst>
              </a:tr>
              <a:tr h="370840">
                <a:tc>
                  <a:txBody>
                    <a:bodyPr/>
                    <a:lstStyle/>
                    <a:p>
                      <a:pPr algn="ctr"/>
                      <a:r>
                        <a:rPr lang="en-US" sz="2400" dirty="0"/>
                        <a:t>2</a:t>
                      </a:r>
                      <a:endParaRPr lang="en-ZA" sz="2400" dirty="0"/>
                    </a:p>
                  </a:txBody>
                  <a:tcPr anchor="ctr"/>
                </a:tc>
                <a:tc>
                  <a:txBody>
                    <a:bodyPr/>
                    <a:lstStyle/>
                    <a:p>
                      <a:pPr algn="ctr"/>
                      <a:r>
                        <a:rPr lang="en-US" sz="2400" dirty="0"/>
                        <a:t>R1 200</a:t>
                      </a:r>
                      <a:endParaRPr lang="en-ZA" sz="2400" dirty="0"/>
                    </a:p>
                  </a:txBody>
                  <a:tcPr anchor="ctr"/>
                </a:tc>
                <a:extLst>
                  <a:ext uri="{0D108BD9-81ED-4DB2-BD59-A6C34878D82A}">
                    <a16:rowId xmlns:a16="http://schemas.microsoft.com/office/drawing/2014/main" val="2013238092"/>
                  </a:ext>
                </a:extLst>
              </a:tr>
              <a:tr h="370840">
                <a:tc>
                  <a:txBody>
                    <a:bodyPr/>
                    <a:lstStyle/>
                    <a:p>
                      <a:pPr algn="ctr"/>
                      <a:r>
                        <a:rPr lang="en-US" sz="2400" dirty="0"/>
                        <a:t>3</a:t>
                      </a:r>
                      <a:endParaRPr lang="en-ZA" sz="2400" dirty="0"/>
                    </a:p>
                  </a:txBody>
                  <a:tcPr anchor="ctr"/>
                </a:tc>
                <a:tc>
                  <a:txBody>
                    <a:bodyPr/>
                    <a:lstStyle/>
                    <a:p>
                      <a:pPr algn="ctr"/>
                      <a:r>
                        <a:rPr lang="en-US" sz="2400" dirty="0"/>
                        <a:t>R1 300</a:t>
                      </a:r>
                      <a:endParaRPr lang="en-ZA" sz="2400" dirty="0"/>
                    </a:p>
                  </a:txBody>
                  <a:tcPr anchor="ctr"/>
                </a:tc>
                <a:extLst>
                  <a:ext uri="{0D108BD9-81ED-4DB2-BD59-A6C34878D82A}">
                    <a16:rowId xmlns:a16="http://schemas.microsoft.com/office/drawing/2014/main" val="2841028882"/>
                  </a:ext>
                </a:extLst>
              </a:tr>
              <a:tr h="370840">
                <a:tc>
                  <a:txBody>
                    <a:bodyPr/>
                    <a:lstStyle/>
                    <a:p>
                      <a:pPr algn="ctr"/>
                      <a:r>
                        <a:rPr lang="en-US" sz="2400" dirty="0"/>
                        <a:t>4</a:t>
                      </a:r>
                      <a:endParaRPr lang="en-ZA" sz="2400" dirty="0"/>
                    </a:p>
                  </a:txBody>
                  <a:tcPr anchor="ctr"/>
                </a:tc>
                <a:tc>
                  <a:txBody>
                    <a:bodyPr/>
                    <a:lstStyle/>
                    <a:p>
                      <a:pPr algn="ctr"/>
                      <a:r>
                        <a:rPr lang="en-US" sz="2400" dirty="0"/>
                        <a:t>R1 100</a:t>
                      </a:r>
                      <a:endParaRPr lang="en-ZA" sz="2400" dirty="0"/>
                    </a:p>
                  </a:txBody>
                  <a:tcPr anchor="ctr"/>
                </a:tc>
                <a:extLst>
                  <a:ext uri="{0D108BD9-81ED-4DB2-BD59-A6C34878D82A}">
                    <a16:rowId xmlns:a16="http://schemas.microsoft.com/office/drawing/2014/main" val="888000783"/>
                  </a:ext>
                </a:extLst>
              </a:tr>
              <a:tr h="370840">
                <a:tc>
                  <a:txBody>
                    <a:bodyPr/>
                    <a:lstStyle/>
                    <a:p>
                      <a:pPr algn="ctr"/>
                      <a:r>
                        <a:rPr lang="en-US" sz="2400" dirty="0"/>
                        <a:t>5</a:t>
                      </a:r>
                      <a:endParaRPr lang="en-ZA" sz="2400" dirty="0"/>
                    </a:p>
                  </a:txBody>
                  <a:tcPr anchor="ctr"/>
                </a:tc>
                <a:tc>
                  <a:txBody>
                    <a:bodyPr/>
                    <a:lstStyle/>
                    <a:p>
                      <a:pPr algn="ctr"/>
                      <a:r>
                        <a:rPr lang="en-US" sz="2400" dirty="0"/>
                        <a:t>R1 400</a:t>
                      </a:r>
                      <a:endParaRPr lang="en-ZA" sz="2400" dirty="0"/>
                    </a:p>
                  </a:txBody>
                  <a:tcPr anchor="ctr"/>
                </a:tc>
                <a:extLst>
                  <a:ext uri="{0D108BD9-81ED-4DB2-BD59-A6C34878D82A}">
                    <a16:rowId xmlns:a16="http://schemas.microsoft.com/office/drawing/2014/main" val="3645707496"/>
                  </a:ext>
                </a:extLst>
              </a:tr>
            </a:tbl>
          </a:graphicData>
        </a:graphic>
      </p:graphicFrame>
    </p:spTree>
    <p:custDataLst>
      <p:tags r:id="rId1"/>
    </p:custDataLst>
    <p:extLst>
      <p:ext uri="{BB962C8B-B14F-4D97-AF65-F5344CB8AC3E}">
        <p14:creationId xmlns:p14="http://schemas.microsoft.com/office/powerpoint/2010/main" val="3437606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63D05B2-1AFC-0088-F8E8-4ADB489EE05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D366729-8983-A59D-0DCE-53F3B9319A4D}"/>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25E58038-E82D-84B2-C523-0680125F793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21</a:t>
            </a:fld>
            <a:endParaRPr lang="en-US">
              <a:solidFill>
                <a:schemeClr val="tx1"/>
              </a:solidFill>
            </a:endParaRPr>
          </a:p>
        </p:txBody>
      </p:sp>
      <p:sp>
        <p:nvSpPr>
          <p:cNvPr id="4" name="Rectangle 5">
            <a:extLst>
              <a:ext uri="{FF2B5EF4-FFF2-40B4-BE49-F238E27FC236}">
                <a16:creationId xmlns:a16="http://schemas.microsoft.com/office/drawing/2014/main" id="{0A347CC4-1CF7-514F-EBA5-5ADA677E0629}"/>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mixed stream (cont.)</a:t>
            </a:r>
          </a:p>
        </p:txBody>
      </p:sp>
      <p:sp>
        <p:nvSpPr>
          <p:cNvPr id="6" name="Rectangle 5">
            <a:extLst>
              <a:ext uri="{FF2B5EF4-FFF2-40B4-BE49-F238E27FC236}">
                <a16:creationId xmlns:a16="http://schemas.microsoft.com/office/drawing/2014/main" id="{68B93844-4EEA-E83A-A60D-10B15BF14908}"/>
              </a:ext>
            </a:extLst>
          </p:cNvPr>
          <p:cNvSpPr/>
          <p:nvPr/>
        </p:nvSpPr>
        <p:spPr bwMode="auto">
          <a:xfrm>
            <a:off x="1554134" y="5456770"/>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7" name="Rectangle 6">
            <a:extLst>
              <a:ext uri="{FF2B5EF4-FFF2-40B4-BE49-F238E27FC236}">
                <a16:creationId xmlns:a16="http://schemas.microsoft.com/office/drawing/2014/main" id="{BF749FE2-ED14-166A-E9C6-DAAE590723F5}"/>
              </a:ext>
            </a:extLst>
          </p:cNvPr>
          <p:cNvSpPr/>
          <p:nvPr/>
        </p:nvSpPr>
        <p:spPr bwMode="auto">
          <a:xfrm>
            <a:off x="3000718" y="5456770"/>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8" name="Rectangle 7">
            <a:extLst>
              <a:ext uri="{FF2B5EF4-FFF2-40B4-BE49-F238E27FC236}">
                <a16:creationId xmlns:a16="http://schemas.microsoft.com/office/drawing/2014/main" id="{76334809-7BAC-D4CF-5172-78F1702A810C}"/>
              </a:ext>
            </a:extLst>
          </p:cNvPr>
          <p:cNvSpPr/>
          <p:nvPr/>
        </p:nvSpPr>
        <p:spPr bwMode="auto">
          <a:xfrm>
            <a:off x="4372318" y="5456770"/>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9" name="Rectangle 8">
            <a:extLst>
              <a:ext uri="{FF2B5EF4-FFF2-40B4-BE49-F238E27FC236}">
                <a16:creationId xmlns:a16="http://schemas.microsoft.com/office/drawing/2014/main" id="{319B92CB-93E6-FC7D-6B8D-D060989B4F01}"/>
              </a:ext>
            </a:extLst>
          </p:cNvPr>
          <p:cNvSpPr/>
          <p:nvPr/>
        </p:nvSpPr>
        <p:spPr bwMode="auto">
          <a:xfrm>
            <a:off x="5743918" y="5456770"/>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10" name="Rectangle 9">
            <a:extLst>
              <a:ext uri="{FF2B5EF4-FFF2-40B4-BE49-F238E27FC236}">
                <a16:creationId xmlns:a16="http://schemas.microsoft.com/office/drawing/2014/main" id="{C9B8CD1D-5A9D-4DEC-A352-A2B9944B5FFF}"/>
              </a:ext>
            </a:extLst>
          </p:cNvPr>
          <p:cNvSpPr/>
          <p:nvPr/>
        </p:nvSpPr>
        <p:spPr bwMode="auto">
          <a:xfrm>
            <a:off x="7115518" y="5456770"/>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1" name="TextBox 10">
            <a:extLst>
              <a:ext uri="{FF2B5EF4-FFF2-40B4-BE49-F238E27FC236}">
                <a16:creationId xmlns:a16="http://schemas.microsoft.com/office/drawing/2014/main" id="{C0EE2835-AD0E-4241-108C-1D62506725B8}"/>
              </a:ext>
            </a:extLst>
          </p:cNvPr>
          <p:cNvSpPr txBox="1"/>
          <p:nvPr/>
        </p:nvSpPr>
        <p:spPr>
          <a:xfrm>
            <a:off x="486118" y="5068500"/>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Inputs:	</a:t>
            </a:r>
          </a:p>
        </p:txBody>
      </p:sp>
      <p:sp>
        <p:nvSpPr>
          <p:cNvPr id="12" name="TextBox 11">
            <a:extLst>
              <a:ext uri="{FF2B5EF4-FFF2-40B4-BE49-F238E27FC236}">
                <a16:creationId xmlns:a16="http://schemas.microsoft.com/office/drawing/2014/main" id="{DF57826D-2C24-8DD6-753E-ABFE57A18DAF}"/>
              </a:ext>
            </a:extLst>
          </p:cNvPr>
          <p:cNvSpPr txBox="1"/>
          <p:nvPr/>
        </p:nvSpPr>
        <p:spPr>
          <a:xfrm>
            <a:off x="486118" y="6102034"/>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a:t>
            </a:r>
          </a:p>
        </p:txBody>
      </p:sp>
      <p:cxnSp>
        <p:nvCxnSpPr>
          <p:cNvPr id="13" name="Straight Connector 12">
            <a:extLst>
              <a:ext uri="{FF2B5EF4-FFF2-40B4-BE49-F238E27FC236}">
                <a16:creationId xmlns:a16="http://schemas.microsoft.com/office/drawing/2014/main" id="{9B6102ED-495A-F991-4433-95A351F16C8D}"/>
              </a:ext>
            </a:extLst>
          </p:cNvPr>
          <p:cNvCxnSpPr>
            <a:cxnSpLocks/>
          </p:cNvCxnSpPr>
          <p:nvPr/>
        </p:nvCxnSpPr>
        <p:spPr bwMode="auto">
          <a:xfrm>
            <a:off x="2239492" y="2367425"/>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731D5B3-AB79-DDDA-7C0B-001AEF253A95}"/>
              </a:ext>
            </a:extLst>
          </p:cNvPr>
          <p:cNvCxnSpPr>
            <a:cxnSpLocks/>
          </p:cNvCxnSpPr>
          <p:nvPr/>
        </p:nvCxnSpPr>
        <p:spPr bwMode="auto">
          <a:xfrm>
            <a:off x="2239493" y="2215025"/>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B3553C5A-0258-5D49-7ED2-FE63129F3C49}"/>
              </a:ext>
            </a:extLst>
          </p:cNvPr>
          <p:cNvCxnSpPr>
            <a:cxnSpLocks/>
          </p:cNvCxnSpPr>
          <p:nvPr/>
        </p:nvCxnSpPr>
        <p:spPr bwMode="auto">
          <a:xfrm>
            <a:off x="4825018" y="222457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F4176861-39BF-BE58-40D0-4C038B6FFD09}"/>
              </a:ext>
            </a:extLst>
          </p:cNvPr>
          <p:cNvCxnSpPr>
            <a:cxnSpLocks/>
          </p:cNvCxnSpPr>
          <p:nvPr/>
        </p:nvCxnSpPr>
        <p:spPr bwMode="auto">
          <a:xfrm>
            <a:off x="3529618" y="2215025"/>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7DFFAE2C-06D2-119C-1B6F-7388E9BE542C}"/>
              </a:ext>
            </a:extLst>
          </p:cNvPr>
          <p:cNvCxnSpPr>
            <a:cxnSpLocks/>
          </p:cNvCxnSpPr>
          <p:nvPr/>
        </p:nvCxnSpPr>
        <p:spPr bwMode="auto">
          <a:xfrm>
            <a:off x="6120418" y="222457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0" name="Straight Arrow Connector 19">
            <a:extLst>
              <a:ext uri="{FF2B5EF4-FFF2-40B4-BE49-F238E27FC236}">
                <a16:creationId xmlns:a16="http://schemas.microsoft.com/office/drawing/2014/main" id="{73C9BEDD-FC60-574E-9A39-2CAE7233BAB2}"/>
              </a:ext>
            </a:extLst>
          </p:cNvPr>
          <p:cNvCxnSpPr>
            <a:cxnSpLocks/>
          </p:cNvCxnSpPr>
          <p:nvPr/>
        </p:nvCxnSpPr>
        <p:spPr bwMode="auto">
          <a:xfrm flipH="1">
            <a:off x="2209800" y="4272425"/>
            <a:ext cx="6336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21" name="TextBox 20">
            <a:extLst>
              <a:ext uri="{FF2B5EF4-FFF2-40B4-BE49-F238E27FC236}">
                <a16:creationId xmlns:a16="http://schemas.microsoft.com/office/drawing/2014/main" id="{66A2590E-D60A-4C4C-3207-059B206C65B8}"/>
              </a:ext>
            </a:extLst>
          </p:cNvPr>
          <p:cNvSpPr txBox="1"/>
          <p:nvPr/>
        </p:nvSpPr>
        <p:spPr>
          <a:xfrm>
            <a:off x="2057400" y="1809786"/>
            <a:ext cx="6705600" cy="307777"/>
          </a:xfrm>
          <a:prstGeom prst="rect">
            <a:avLst/>
          </a:prstGeom>
          <a:noFill/>
        </p:spPr>
        <p:txBody>
          <a:bodyPr wrap="square" rtlCol="0">
            <a:spAutoFit/>
          </a:bodyPr>
          <a:lstStyle/>
          <a:p>
            <a:r>
              <a:rPr lang="en-ZA" sz="1400" dirty="0">
                <a:latin typeface="+mj-lt"/>
              </a:rPr>
              <a:t> 0   r = 12%      1                      2                     3                    4                   5</a:t>
            </a:r>
          </a:p>
        </p:txBody>
      </p:sp>
      <p:sp>
        <p:nvSpPr>
          <p:cNvPr id="22" name="TextBox 21">
            <a:extLst>
              <a:ext uri="{FF2B5EF4-FFF2-40B4-BE49-F238E27FC236}">
                <a16:creationId xmlns:a16="http://schemas.microsoft.com/office/drawing/2014/main" id="{B724E86E-E47F-1053-D65C-BDE6B2EF066B}"/>
              </a:ext>
            </a:extLst>
          </p:cNvPr>
          <p:cNvSpPr txBox="1"/>
          <p:nvPr/>
        </p:nvSpPr>
        <p:spPr>
          <a:xfrm>
            <a:off x="3381808" y="2554326"/>
            <a:ext cx="5692418" cy="307777"/>
          </a:xfrm>
          <a:prstGeom prst="rect">
            <a:avLst/>
          </a:prstGeom>
          <a:noFill/>
        </p:spPr>
        <p:txBody>
          <a:bodyPr wrap="square" rtlCol="0">
            <a:spAutoFit/>
          </a:bodyPr>
          <a:lstStyle/>
          <a:p>
            <a:r>
              <a:rPr lang="en-ZA" sz="1400" dirty="0">
                <a:latin typeface="+mj-lt"/>
              </a:rPr>
              <a:t>1 000	       1 200	              1 300	   1 100	        1 400</a:t>
            </a:r>
            <a:endParaRPr lang="en-ZA" sz="1400" baseline="-25000" dirty="0">
              <a:latin typeface="+mj-lt"/>
            </a:endParaRPr>
          </a:p>
        </p:txBody>
      </p:sp>
      <p:sp>
        <p:nvSpPr>
          <p:cNvPr id="23" name="Rectangle 22">
            <a:extLst>
              <a:ext uri="{FF2B5EF4-FFF2-40B4-BE49-F238E27FC236}">
                <a16:creationId xmlns:a16="http://schemas.microsoft.com/office/drawing/2014/main" id="{DF7AA584-99CB-E749-9AB9-FBCAAF82C4E9}"/>
              </a:ext>
            </a:extLst>
          </p:cNvPr>
          <p:cNvSpPr/>
          <p:nvPr/>
        </p:nvSpPr>
        <p:spPr bwMode="auto">
          <a:xfrm>
            <a:off x="82631" y="1699832"/>
            <a:ext cx="8991595" cy="3129557"/>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cxnSp>
        <p:nvCxnSpPr>
          <p:cNvPr id="24" name="Straight Connector 23">
            <a:extLst>
              <a:ext uri="{FF2B5EF4-FFF2-40B4-BE49-F238E27FC236}">
                <a16:creationId xmlns:a16="http://schemas.microsoft.com/office/drawing/2014/main" id="{B10A3B02-567D-5A22-6D52-F2919BCAF328}"/>
              </a:ext>
            </a:extLst>
          </p:cNvPr>
          <p:cNvCxnSpPr/>
          <p:nvPr/>
        </p:nvCxnSpPr>
        <p:spPr bwMode="auto">
          <a:xfrm flipV="1">
            <a:off x="8540444" y="2868425"/>
            <a:ext cx="0" cy="1404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92FBA0BA-25F8-F08B-68D0-8FABDB93F972}"/>
              </a:ext>
            </a:extLst>
          </p:cNvPr>
          <p:cNvCxnSpPr>
            <a:cxnSpLocks/>
          </p:cNvCxnSpPr>
          <p:nvPr/>
        </p:nvCxnSpPr>
        <p:spPr bwMode="auto">
          <a:xfrm flipV="1">
            <a:off x="7345888" y="2839980"/>
            <a:ext cx="0" cy="1152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BEE1C972-DFDC-E2D3-E3B1-02CE1F24C55D}"/>
              </a:ext>
            </a:extLst>
          </p:cNvPr>
          <p:cNvCxnSpPr>
            <a:cxnSpLocks/>
          </p:cNvCxnSpPr>
          <p:nvPr/>
        </p:nvCxnSpPr>
        <p:spPr bwMode="auto">
          <a:xfrm flipV="1">
            <a:off x="4825018" y="2841146"/>
            <a:ext cx="0" cy="576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9" name="TextBox 28">
            <a:extLst>
              <a:ext uri="{FF2B5EF4-FFF2-40B4-BE49-F238E27FC236}">
                <a16:creationId xmlns:a16="http://schemas.microsoft.com/office/drawing/2014/main" id="{0387C35F-BA5B-2D1F-83BD-406B2D4F3DC6}"/>
              </a:ext>
            </a:extLst>
          </p:cNvPr>
          <p:cNvSpPr txBox="1"/>
          <p:nvPr/>
        </p:nvSpPr>
        <p:spPr>
          <a:xfrm>
            <a:off x="273474" y="2986112"/>
            <a:ext cx="2114900" cy="1754326"/>
          </a:xfrm>
          <a:prstGeom prst="rect">
            <a:avLst/>
          </a:prstGeom>
          <a:noFill/>
        </p:spPr>
        <p:txBody>
          <a:bodyPr wrap="square" rtlCol="0">
            <a:spAutoFit/>
          </a:bodyPr>
          <a:lstStyle/>
          <a:p>
            <a:r>
              <a:rPr lang="en-ZA" sz="1800" dirty="0">
                <a:latin typeface="+mj-lt"/>
              </a:rPr>
              <a:t>               892.86</a:t>
            </a:r>
          </a:p>
          <a:p>
            <a:r>
              <a:rPr lang="en-ZA" sz="1800" dirty="0">
                <a:latin typeface="+mj-lt"/>
              </a:rPr>
              <a:t>               956.63</a:t>
            </a:r>
          </a:p>
          <a:p>
            <a:r>
              <a:rPr lang="en-ZA" sz="1800" dirty="0">
                <a:latin typeface="+mj-lt"/>
              </a:rPr>
              <a:t>               925.31</a:t>
            </a:r>
          </a:p>
          <a:p>
            <a:r>
              <a:rPr lang="en-ZA" sz="1800" dirty="0">
                <a:latin typeface="+mj-lt"/>
              </a:rPr>
              <a:t>               699.06</a:t>
            </a:r>
          </a:p>
          <a:p>
            <a:r>
              <a:rPr lang="en-ZA" sz="1800" dirty="0">
                <a:latin typeface="+mj-lt"/>
              </a:rPr>
              <a:t>            </a:t>
            </a:r>
            <a:r>
              <a:rPr lang="en-ZA" sz="1800" u="sng" dirty="0">
                <a:latin typeface="+mj-lt"/>
              </a:rPr>
              <a:t>   794.40</a:t>
            </a:r>
          </a:p>
          <a:p>
            <a:r>
              <a:rPr lang="en-ZA" sz="1800" dirty="0">
                <a:latin typeface="+mj-lt"/>
              </a:rPr>
              <a:t>   PV =  </a:t>
            </a:r>
            <a:r>
              <a:rPr lang="en-ZA" sz="1800" u="dbl" dirty="0">
                <a:latin typeface="+mj-lt"/>
              </a:rPr>
              <a:t>4 268.26</a:t>
            </a:r>
          </a:p>
        </p:txBody>
      </p:sp>
      <p:sp>
        <p:nvSpPr>
          <p:cNvPr id="30" name="TextBox 29">
            <a:extLst>
              <a:ext uri="{FF2B5EF4-FFF2-40B4-BE49-F238E27FC236}">
                <a16:creationId xmlns:a16="http://schemas.microsoft.com/office/drawing/2014/main" id="{D850DB94-8A80-DE57-17F2-47DD55A7855F}"/>
              </a:ext>
            </a:extLst>
          </p:cNvPr>
          <p:cNvSpPr txBox="1"/>
          <p:nvPr/>
        </p:nvSpPr>
        <p:spPr>
          <a:xfrm>
            <a:off x="24621" y="2156400"/>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beginning of year 1</a:t>
            </a:r>
            <a:endParaRPr lang="en-ZA" sz="1400" baseline="30000" dirty="0">
              <a:latin typeface="+mj-lt"/>
            </a:endParaRPr>
          </a:p>
        </p:txBody>
      </p:sp>
      <p:cxnSp>
        <p:nvCxnSpPr>
          <p:cNvPr id="31" name="Straight Connector 30">
            <a:extLst>
              <a:ext uri="{FF2B5EF4-FFF2-40B4-BE49-F238E27FC236}">
                <a16:creationId xmlns:a16="http://schemas.microsoft.com/office/drawing/2014/main" id="{45488301-F32E-6BFC-3D0F-0689C3FC180D}"/>
              </a:ext>
            </a:extLst>
          </p:cNvPr>
          <p:cNvCxnSpPr>
            <a:cxnSpLocks/>
          </p:cNvCxnSpPr>
          <p:nvPr/>
        </p:nvCxnSpPr>
        <p:spPr bwMode="auto">
          <a:xfrm>
            <a:off x="8522720" y="2211833"/>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6CEB5CE1-C91A-3784-10C4-8115BB761390}"/>
              </a:ext>
            </a:extLst>
          </p:cNvPr>
          <p:cNvCxnSpPr>
            <a:cxnSpLocks/>
          </p:cNvCxnSpPr>
          <p:nvPr/>
        </p:nvCxnSpPr>
        <p:spPr bwMode="auto">
          <a:xfrm>
            <a:off x="7345888" y="2211833"/>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0FFAA8DB-80AF-B519-5F5B-3916CE4D064F}"/>
              </a:ext>
            </a:extLst>
          </p:cNvPr>
          <p:cNvCxnSpPr>
            <a:cxnSpLocks/>
          </p:cNvCxnSpPr>
          <p:nvPr/>
        </p:nvCxnSpPr>
        <p:spPr bwMode="auto">
          <a:xfrm flipV="1">
            <a:off x="6120418" y="2841146"/>
            <a:ext cx="0" cy="82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9DC134EC-19B6-E95E-CAB9-D022079A22B7}"/>
              </a:ext>
            </a:extLst>
          </p:cNvPr>
          <p:cNvCxnSpPr>
            <a:cxnSpLocks/>
          </p:cNvCxnSpPr>
          <p:nvPr/>
        </p:nvCxnSpPr>
        <p:spPr bwMode="auto">
          <a:xfrm flipV="1">
            <a:off x="3529618" y="2841146"/>
            <a:ext cx="0" cy="28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1" name="Straight Arrow Connector 40">
            <a:extLst>
              <a:ext uri="{FF2B5EF4-FFF2-40B4-BE49-F238E27FC236}">
                <a16:creationId xmlns:a16="http://schemas.microsoft.com/office/drawing/2014/main" id="{675AA3D8-75D8-F4E3-CF3D-2C7C2AD3C023}"/>
              </a:ext>
            </a:extLst>
          </p:cNvPr>
          <p:cNvCxnSpPr>
            <a:cxnSpLocks/>
          </p:cNvCxnSpPr>
          <p:nvPr/>
        </p:nvCxnSpPr>
        <p:spPr bwMode="auto">
          <a:xfrm flipH="1">
            <a:off x="2207400" y="3991980"/>
            <a:ext cx="5148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2" name="Straight Arrow Connector 41">
            <a:extLst>
              <a:ext uri="{FF2B5EF4-FFF2-40B4-BE49-F238E27FC236}">
                <a16:creationId xmlns:a16="http://schemas.microsoft.com/office/drawing/2014/main" id="{2CD38263-2FE3-1D32-78DF-7A7782D5B936}"/>
              </a:ext>
            </a:extLst>
          </p:cNvPr>
          <p:cNvCxnSpPr>
            <a:cxnSpLocks/>
          </p:cNvCxnSpPr>
          <p:nvPr/>
        </p:nvCxnSpPr>
        <p:spPr bwMode="auto">
          <a:xfrm flipH="1">
            <a:off x="2196368" y="3669146"/>
            <a:ext cx="392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3" name="Straight Arrow Connector 42">
            <a:extLst>
              <a:ext uri="{FF2B5EF4-FFF2-40B4-BE49-F238E27FC236}">
                <a16:creationId xmlns:a16="http://schemas.microsoft.com/office/drawing/2014/main" id="{F1A47753-1DC7-ED67-FAA3-39234950F305}"/>
              </a:ext>
            </a:extLst>
          </p:cNvPr>
          <p:cNvCxnSpPr>
            <a:cxnSpLocks/>
          </p:cNvCxnSpPr>
          <p:nvPr/>
        </p:nvCxnSpPr>
        <p:spPr bwMode="auto">
          <a:xfrm flipH="1">
            <a:off x="2196368" y="3129146"/>
            <a:ext cx="1332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4" name="Straight Arrow Connector 43">
            <a:extLst>
              <a:ext uri="{FF2B5EF4-FFF2-40B4-BE49-F238E27FC236}">
                <a16:creationId xmlns:a16="http://schemas.microsoft.com/office/drawing/2014/main" id="{39D8C773-11D0-681C-1485-1B8F1328FE6F}"/>
              </a:ext>
            </a:extLst>
          </p:cNvPr>
          <p:cNvCxnSpPr>
            <a:cxnSpLocks/>
          </p:cNvCxnSpPr>
          <p:nvPr/>
        </p:nvCxnSpPr>
        <p:spPr bwMode="auto">
          <a:xfrm flipH="1">
            <a:off x="2207400" y="3395151"/>
            <a:ext cx="2628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46" name="Multiplication Sign 45">
            <a:extLst>
              <a:ext uri="{FF2B5EF4-FFF2-40B4-BE49-F238E27FC236}">
                <a16:creationId xmlns:a16="http://schemas.microsoft.com/office/drawing/2014/main" id="{62F1B8EC-E5FC-EF55-A86B-A7902708B551}"/>
              </a:ext>
            </a:extLst>
          </p:cNvPr>
          <p:cNvSpPr/>
          <p:nvPr/>
        </p:nvSpPr>
        <p:spPr bwMode="auto">
          <a:xfrm>
            <a:off x="3117774" y="4661323"/>
            <a:ext cx="2415232" cy="2186167"/>
          </a:xfrm>
          <a:prstGeom prst="mathMultiply">
            <a:avLst/>
          </a:prstGeom>
          <a:solidFill>
            <a:srgbClr val="990000"/>
          </a:solid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924634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05DF01-17EE-F705-908E-83689217FE1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58B6FB1-74FD-58F9-41E4-4B604DDDE83F}"/>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702FA3BF-F1D0-92B0-04A0-22066561843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22</a:t>
            </a:fld>
            <a:endParaRPr lang="en-US">
              <a:solidFill>
                <a:schemeClr val="tx1"/>
              </a:solidFill>
            </a:endParaRPr>
          </a:p>
        </p:txBody>
      </p:sp>
      <p:sp>
        <p:nvSpPr>
          <p:cNvPr id="4" name="Rectangle 5">
            <a:extLst>
              <a:ext uri="{FF2B5EF4-FFF2-40B4-BE49-F238E27FC236}">
                <a16:creationId xmlns:a16="http://schemas.microsoft.com/office/drawing/2014/main" id="{BF5FD8BF-A469-2B6D-ADDA-1ECA7CE99DF3}"/>
              </a:ext>
            </a:extLst>
          </p:cNvPr>
          <p:cNvSpPr>
            <a:spLocks noGrp="1" noChangeArrowheads="1"/>
          </p:cNvSpPr>
          <p:nvPr>
            <p:ph idx="1"/>
          </p:nvPr>
        </p:nvSpPr>
        <p:spPr>
          <a:xfrm>
            <a:off x="259976" y="990600"/>
            <a:ext cx="8655424" cy="5247290"/>
          </a:xfrm>
        </p:spPr>
        <p:txBody>
          <a:bodyPr/>
          <a:lstStyle/>
          <a:p>
            <a:pPr>
              <a:lnSpc>
                <a:spcPct val="100000"/>
              </a:lnSpc>
              <a:spcBef>
                <a:spcPts val="0"/>
              </a:spcBef>
              <a:spcAft>
                <a:spcPts val="0"/>
              </a:spcAft>
              <a:buSzPct val="100000"/>
              <a:buFont typeface="Arial" panose="020B0604020202020204" pitchFamily="34" charset="0"/>
              <a:buChar char="•"/>
            </a:pPr>
            <a:r>
              <a:rPr lang="en-US" sz="2000" dirty="0">
                <a:latin typeface="+mj-lt"/>
              </a:rPr>
              <a:t>PV of mixed stream (cont.)</a:t>
            </a:r>
          </a:p>
          <a:p>
            <a:pPr>
              <a:lnSpc>
                <a:spcPct val="100000"/>
              </a:lnSpc>
              <a:spcBef>
                <a:spcPts val="0"/>
              </a:spcBef>
              <a:spcAft>
                <a:spcPts val="0"/>
              </a:spcAft>
              <a:buSzPct val="100000"/>
              <a:buFont typeface="Arial" panose="020B0604020202020204" pitchFamily="34" charset="0"/>
              <a:buChar char="•"/>
            </a:pPr>
            <a:endParaRPr lang="en-US" sz="2000" dirty="0">
              <a:latin typeface="+mj-lt"/>
            </a:endParaRPr>
          </a:p>
          <a:p>
            <a:pPr>
              <a:lnSpc>
                <a:spcPct val="100000"/>
              </a:lnSpc>
              <a:spcBef>
                <a:spcPts val="0"/>
              </a:spcBef>
              <a:spcAft>
                <a:spcPts val="0"/>
              </a:spcAft>
              <a:buSzPct val="100000"/>
              <a:buFont typeface="Arial" panose="020B0604020202020204" pitchFamily="34" charset="0"/>
              <a:buChar char="•"/>
            </a:pPr>
            <a:endParaRPr lang="en-US" sz="2000" dirty="0">
              <a:latin typeface="+mj-lt"/>
            </a:endParaRPr>
          </a:p>
          <a:p>
            <a:pPr>
              <a:lnSpc>
                <a:spcPct val="100000"/>
              </a:lnSpc>
              <a:spcBef>
                <a:spcPts val="0"/>
              </a:spcBef>
              <a:spcAft>
                <a:spcPts val="0"/>
              </a:spcAft>
              <a:buSzPct val="100000"/>
              <a:buFont typeface="Arial" panose="020B0604020202020204" pitchFamily="34" charset="0"/>
              <a:buChar char="•"/>
            </a:pPr>
            <a:endParaRPr lang="en-US" sz="2000" dirty="0">
              <a:latin typeface="+mj-lt"/>
            </a:endParaRPr>
          </a:p>
          <a:p>
            <a:pPr>
              <a:lnSpc>
                <a:spcPct val="100000"/>
              </a:lnSpc>
              <a:spcBef>
                <a:spcPts val="0"/>
              </a:spcBef>
              <a:spcAft>
                <a:spcPts val="0"/>
              </a:spcAft>
              <a:buSzPct val="100000"/>
              <a:buFont typeface="Arial" panose="020B0604020202020204" pitchFamily="34" charset="0"/>
              <a:buChar char="•"/>
            </a:pPr>
            <a:endParaRPr lang="en-US" sz="2000" dirty="0">
              <a:latin typeface="+mj-lt"/>
            </a:endParaRPr>
          </a:p>
          <a:p>
            <a:pPr>
              <a:lnSpc>
                <a:spcPct val="100000"/>
              </a:lnSpc>
              <a:spcBef>
                <a:spcPts val="0"/>
              </a:spcBef>
              <a:spcAft>
                <a:spcPts val="0"/>
              </a:spcAft>
              <a:buSzPct val="100000"/>
              <a:buFont typeface="Arial" panose="020B0604020202020204" pitchFamily="34" charset="0"/>
              <a:buChar char="•"/>
            </a:pPr>
            <a:endParaRPr lang="en-US" sz="2000" dirty="0">
              <a:latin typeface="+mj-lt"/>
            </a:endParaRPr>
          </a:p>
          <a:p>
            <a:pPr marL="0" indent="0">
              <a:lnSpc>
                <a:spcPct val="100000"/>
              </a:lnSpc>
              <a:spcBef>
                <a:spcPts val="0"/>
              </a:spcBef>
              <a:spcAft>
                <a:spcPts val="0"/>
              </a:spcAft>
              <a:buNone/>
            </a:pPr>
            <a:r>
              <a:rPr lang="en-US" sz="2000" dirty="0">
                <a:latin typeface="+mj-lt"/>
              </a:rPr>
              <a:t>Input in “CF” register:		Steps</a:t>
            </a:r>
          </a:p>
          <a:p>
            <a:pPr marL="0" indent="0">
              <a:lnSpc>
                <a:spcPct val="100000"/>
              </a:lnSpc>
              <a:spcBef>
                <a:spcPts val="0"/>
              </a:spcBef>
              <a:spcAft>
                <a:spcPts val="0"/>
              </a:spcAft>
              <a:buNone/>
            </a:pPr>
            <a:r>
              <a:rPr lang="en-US" sz="2000" dirty="0">
                <a:latin typeface="+mj-lt"/>
              </a:rPr>
              <a:t>				</a:t>
            </a:r>
            <a:r>
              <a:rPr lang="en-US" sz="2000" b="1" dirty="0">
                <a:solidFill>
                  <a:srgbClr val="C00000"/>
                </a:solidFill>
                <a:latin typeface="+mj-lt"/>
              </a:rPr>
              <a:t>Clear memory of calculator</a:t>
            </a:r>
          </a:p>
          <a:p>
            <a:pPr marL="0" indent="0">
              <a:lnSpc>
                <a:spcPct val="100000"/>
              </a:lnSpc>
              <a:spcBef>
                <a:spcPts val="0"/>
              </a:spcBef>
              <a:spcAft>
                <a:spcPts val="0"/>
              </a:spcAft>
              <a:buNone/>
              <a:tabLst>
                <a:tab pos="358775" algn="l"/>
                <a:tab pos="1435100" algn="l"/>
              </a:tabLst>
            </a:pPr>
            <a:r>
              <a:rPr lang="en-US" sz="2000" dirty="0">
                <a:latin typeface="+mj-lt"/>
              </a:rPr>
              <a:t>	CF</a:t>
            </a:r>
            <a:r>
              <a:rPr lang="en-US" sz="2000" baseline="-25000" dirty="0">
                <a:latin typeface="+mj-lt"/>
              </a:rPr>
              <a:t>0</a:t>
            </a:r>
            <a:r>
              <a:rPr lang="en-US" sz="2000" dirty="0">
                <a:latin typeface="+mj-lt"/>
              </a:rPr>
              <a:t> 	=	0		0 ENT</a:t>
            </a:r>
          </a:p>
          <a:p>
            <a:pPr marL="0" indent="0">
              <a:lnSpc>
                <a:spcPct val="100000"/>
              </a:lnSpc>
              <a:spcBef>
                <a:spcPts val="0"/>
              </a:spcBef>
              <a:spcAft>
                <a:spcPts val="0"/>
              </a:spcAft>
              <a:buNone/>
              <a:tabLst>
                <a:tab pos="358775" algn="l"/>
                <a:tab pos="1435100" algn="l"/>
              </a:tabLst>
            </a:pPr>
            <a:r>
              <a:rPr lang="en-US" sz="2000" dirty="0">
                <a:latin typeface="+mj-lt"/>
              </a:rPr>
              <a:t>	CF</a:t>
            </a:r>
            <a:r>
              <a:rPr lang="en-US" sz="2000" baseline="-25000" dirty="0">
                <a:latin typeface="+mj-lt"/>
              </a:rPr>
              <a:t>1</a:t>
            </a:r>
            <a:r>
              <a:rPr lang="en-US" sz="2000" dirty="0">
                <a:latin typeface="+mj-lt"/>
              </a:rPr>
              <a:t> 	=	1 000		1 000 ENT</a:t>
            </a:r>
          </a:p>
          <a:p>
            <a:pPr marL="0" indent="0">
              <a:lnSpc>
                <a:spcPct val="100000"/>
              </a:lnSpc>
              <a:spcBef>
                <a:spcPts val="0"/>
              </a:spcBef>
              <a:spcAft>
                <a:spcPts val="0"/>
              </a:spcAft>
              <a:buNone/>
              <a:tabLst>
                <a:tab pos="358775" algn="l"/>
                <a:tab pos="1435100" algn="l"/>
              </a:tabLst>
            </a:pPr>
            <a:r>
              <a:rPr lang="en-US" sz="2000" dirty="0">
                <a:latin typeface="+mj-lt"/>
              </a:rPr>
              <a:t>	CF</a:t>
            </a:r>
            <a:r>
              <a:rPr lang="en-US" sz="2000" baseline="-25000" dirty="0">
                <a:latin typeface="+mj-lt"/>
              </a:rPr>
              <a:t>2</a:t>
            </a:r>
            <a:r>
              <a:rPr lang="en-US" sz="2000" dirty="0">
                <a:latin typeface="+mj-lt"/>
              </a:rPr>
              <a:t> 	=	1 200		1 200 ENT</a:t>
            </a:r>
          </a:p>
          <a:p>
            <a:pPr marL="0" indent="0">
              <a:lnSpc>
                <a:spcPct val="100000"/>
              </a:lnSpc>
              <a:spcBef>
                <a:spcPts val="0"/>
              </a:spcBef>
              <a:spcAft>
                <a:spcPts val="0"/>
              </a:spcAft>
              <a:buNone/>
              <a:tabLst>
                <a:tab pos="358775" algn="l"/>
                <a:tab pos="1435100" algn="l"/>
              </a:tabLst>
            </a:pPr>
            <a:r>
              <a:rPr lang="en-US" sz="2000" dirty="0">
                <a:latin typeface="+mj-lt"/>
              </a:rPr>
              <a:t>	CF</a:t>
            </a:r>
            <a:r>
              <a:rPr lang="en-US" sz="2000" baseline="-25000" dirty="0">
                <a:latin typeface="+mj-lt"/>
              </a:rPr>
              <a:t>3</a:t>
            </a:r>
            <a:r>
              <a:rPr lang="en-US" sz="2000" dirty="0">
                <a:latin typeface="+mj-lt"/>
              </a:rPr>
              <a:t> 	=	1 300		1 300 ENT</a:t>
            </a:r>
          </a:p>
          <a:p>
            <a:pPr marL="0" indent="0">
              <a:lnSpc>
                <a:spcPct val="100000"/>
              </a:lnSpc>
              <a:spcBef>
                <a:spcPts val="0"/>
              </a:spcBef>
              <a:spcAft>
                <a:spcPts val="0"/>
              </a:spcAft>
              <a:buNone/>
              <a:tabLst>
                <a:tab pos="358775" algn="l"/>
                <a:tab pos="1435100" algn="l"/>
              </a:tabLst>
            </a:pPr>
            <a:r>
              <a:rPr lang="en-US" sz="2000" dirty="0">
                <a:latin typeface="+mj-lt"/>
              </a:rPr>
              <a:t>	CF</a:t>
            </a:r>
            <a:r>
              <a:rPr lang="en-US" sz="2000" baseline="-25000" dirty="0">
                <a:latin typeface="+mj-lt"/>
              </a:rPr>
              <a:t>4</a:t>
            </a:r>
            <a:r>
              <a:rPr lang="en-US" sz="2000" dirty="0">
                <a:latin typeface="+mj-lt"/>
              </a:rPr>
              <a:t> 	=	1 100		1 100 ENT</a:t>
            </a:r>
          </a:p>
          <a:p>
            <a:pPr marL="0" indent="0">
              <a:lnSpc>
                <a:spcPct val="100000"/>
              </a:lnSpc>
              <a:spcBef>
                <a:spcPts val="0"/>
              </a:spcBef>
              <a:spcAft>
                <a:spcPts val="0"/>
              </a:spcAft>
              <a:buNone/>
              <a:tabLst>
                <a:tab pos="358775" algn="l"/>
                <a:tab pos="1435100" algn="l"/>
              </a:tabLst>
            </a:pPr>
            <a:r>
              <a:rPr lang="en-US" sz="2000" dirty="0">
                <a:latin typeface="+mj-lt"/>
              </a:rPr>
              <a:t>	CF</a:t>
            </a:r>
            <a:r>
              <a:rPr lang="en-US" sz="2000" baseline="-25000" dirty="0">
                <a:latin typeface="+mj-lt"/>
              </a:rPr>
              <a:t>5</a:t>
            </a:r>
            <a:r>
              <a:rPr lang="en-US" sz="2000" dirty="0">
                <a:latin typeface="+mj-lt"/>
              </a:rPr>
              <a:t>  	=	1 400		1 400 ENT</a:t>
            </a:r>
          </a:p>
          <a:p>
            <a:pPr marL="0" indent="0">
              <a:lnSpc>
                <a:spcPct val="100000"/>
              </a:lnSpc>
              <a:spcBef>
                <a:spcPts val="0"/>
              </a:spcBef>
              <a:spcAft>
                <a:spcPts val="0"/>
              </a:spcAft>
              <a:buNone/>
              <a:tabLst>
                <a:tab pos="358775" algn="l"/>
                <a:tab pos="1435100" algn="l"/>
              </a:tabLst>
            </a:pPr>
            <a:r>
              <a:rPr lang="en-US" sz="2000" dirty="0">
                <a:latin typeface="+mj-lt"/>
              </a:rPr>
              <a:t>	Enter I 	= 	12		2</a:t>
            </a:r>
            <a:r>
              <a:rPr lang="en-US" sz="2000" baseline="30000" dirty="0">
                <a:latin typeface="+mj-lt"/>
              </a:rPr>
              <a:t>ND</a:t>
            </a:r>
            <a:r>
              <a:rPr lang="en-US" sz="2000" dirty="0">
                <a:latin typeface="+mj-lt"/>
              </a:rPr>
              <a:t>F </a:t>
            </a:r>
            <a:r>
              <a:rPr lang="en-US" sz="2000" dirty="0" err="1">
                <a:latin typeface="+mj-lt"/>
              </a:rPr>
              <a:t>CFi</a:t>
            </a:r>
            <a:r>
              <a:rPr lang="en-US" sz="2000" dirty="0">
                <a:latin typeface="+mj-lt"/>
              </a:rPr>
              <a:t> 12 ENT	 </a:t>
            </a:r>
          </a:p>
          <a:p>
            <a:pPr marL="0" indent="0">
              <a:lnSpc>
                <a:spcPct val="100000"/>
              </a:lnSpc>
              <a:spcBef>
                <a:spcPts val="0"/>
              </a:spcBef>
              <a:spcAft>
                <a:spcPts val="0"/>
              </a:spcAft>
              <a:buNone/>
              <a:tabLst>
                <a:tab pos="358775" algn="l"/>
                <a:tab pos="1435100" algn="l"/>
              </a:tabLst>
            </a:pPr>
            <a:r>
              <a:rPr lang="en-US" sz="2000" dirty="0">
                <a:latin typeface="+mj-lt"/>
              </a:rPr>
              <a:t>	NPV	= 	4 268.27	Arrow down COMP – NPV of 4 268.27 will 					show</a:t>
            </a:r>
          </a:p>
        </p:txBody>
      </p:sp>
      <p:cxnSp>
        <p:nvCxnSpPr>
          <p:cNvPr id="13" name="Straight Connector 12">
            <a:extLst>
              <a:ext uri="{FF2B5EF4-FFF2-40B4-BE49-F238E27FC236}">
                <a16:creationId xmlns:a16="http://schemas.microsoft.com/office/drawing/2014/main" id="{084D4448-B253-F366-C54B-E190322CD893}"/>
              </a:ext>
            </a:extLst>
          </p:cNvPr>
          <p:cNvCxnSpPr>
            <a:cxnSpLocks/>
          </p:cNvCxnSpPr>
          <p:nvPr/>
        </p:nvCxnSpPr>
        <p:spPr bwMode="auto">
          <a:xfrm>
            <a:off x="2233066" y="2098926"/>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D103753-A221-D058-3E5C-75CF95C4A525}"/>
              </a:ext>
            </a:extLst>
          </p:cNvPr>
          <p:cNvCxnSpPr>
            <a:cxnSpLocks/>
          </p:cNvCxnSpPr>
          <p:nvPr/>
        </p:nvCxnSpPr>
        <p:spPr bwMode="auto">
          <a:xfrm>
            <a:off x="2233067" y="194652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DCCFBFC1-E80B-2C9F-C81A-063993F798E2}"/>
              </a:ext>
            </a:extLst>
          </p:cNvPr>
          <p:cNvCxnSpPr>
            <a:cxnSpLocks/>
          </p:cNvCxnSpPr>
          <p:nvPr/>
        </p:nvCxnSpPr>
        <p:spPr bwMode="auto">
          <a:xfrm>
            <a:off x="4818592" y="195608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FC565FDB-A4B4-348C-942C-0260CC62B857}"/>
              </a:ext>
            </a:extLst>
          </p:cNvPr>
          <p:cNvCxnSpPr>
            <a:cxnSpLocks/>
          </p:cNvCxnSpPr>
          <p:nvPr/>
        </p:nvCxnSpPr>
        <p:spPr bwMode="auto">
          <a:xfrm>
            <a:off x="3523192" y="194652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22983ABE-B66A-4626-61DA-B47472980DB7}"/>
              </a:ext>
            </a:extLst>
          </p:cNvPr>
          <p:cNvCxnSpPr>
            <a:cxnSpLocks/>
          </p:cNvCxnSpPr>
          <p:nvPr/>
        </p:nvCxnSpPr>
        <p:spPr bwMode="auto">
          <a:xfrm>
            <a:off x="6113992" y="195608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1" name="TextBox 20">
            <a:extLst>
              <a:ext uri="{FF2B5EF4-FFF2-40B4-BE49-F238E27FC236}">
                <a16:creationId xmlns:a16="http://schemas.microsoft.com/office/drawing/2014/main" id="{5380D0A6-5644-EAA2-40D8-48F82A201524}"/>
              </a:ext>
            </a:extLst>
          </p:cNvPr>
          <p:cNvSpPr txBox="1"/>
          <p:nvPr/>
        </p:nvSpPr>
        <p:spPr>
          <a:xfrm>
            <a:off x="2050974" y="1541287"/>
            <a:ext cx="6705600" cy="307777"/>
          </a:xfrm>
          <a:prstGeom prst="rect">
            <a:avLst/>
          </a:prstGeom>
          <a:noFill/>
        </p:spPr>
        <p:txBody>
          <a:bodyPr wrap="square" rtlCol="0">
            <a:spAutoFit/>
          </a:bodyPr>
          <a:lstStyle/>
          <a:p>
            <a:r>
              <a:rPr lang="en-ZA" sz="1400" dirty="0">
                <a:latin typeface="+mj-lt"/>
              </a:rPr>
              <a:t> 0   r = 12%      1                      2                     3                    4                   5</a:t>
            </a:r>
          </a:p>
        </p:txBody>
      </p:sp>
      <p:sp>
        <p:nvSpPr>
          <p:cNvPr id="22" name="TextBox 21">
            <a:extLst>
              <a:ext uri="{FF2B5EF4-FFF2-40B4-BE49-F238E27FC236}">
                <a16:creationId xmlns:a16="http://schemas.microsoft.com/office/drawing/2014/main" id="{56B7F6AF-0AB9-8962-ACF4-7F9AB5D9A1B4}"/>
              </a:ext>
            </a:extLst>
          </p:cNvPr>
          <p:cNvSpPr txBox="1"/>
          <p:nvPr/>
        </p:nvSpPr>
        <p:spPr>
          <a:xfrm>
            <a:off x="3375382" y="2285827"/>
            <a:ext cx="5692418" cy="307777"/>
          </a:xfrm>
          <a:prstGeom prst="rect">
            <a:avLst/>
          </a:prstGeom>
          <a:noFill/>
        </p:spPr>
        <p:txBody>
          <a:bodyPr wrap="square" rtlCol="0">
            <a:spAutoFit/>
          </a:bodyPr>
          <a:lstStyle/>
          <a:p>
            <a:r>
              <a:rPr lang="en-ZA" sz="1400" dirty="0">
                <a:latin typeface="+mj-lt"/>
              </a:rPr>
              <a:t>1 000	       1 200	              1 300	   1 100	        1 400</a:t>
            </a:r>
            <a:endParaRPr lang="en-ZA" sz="1400" baseline="-25000" dirty="0">
              <a:latin typeface="+mj-lt"/>
            </a:endParaRPr>
          </a:p>
        </p:txBody>
      </p:sp>
      <p:sp>
        <p:nvSpPr>
          <p:cNvPr id="23" name="Rectangle 22">
            <a:extLst>
              <a:ext uri="{FF2B5EF4-FFF2-40B4-BE49-F238E27FC236}">
                <a16:creationId xmlns:a16="http://schemas.microsoft.com/office/drawing/2014/main" id="{D63D50FB-A03D-62ED-8FBC-4BC955D1C818}"/>
              </a:ext>
            </a:extLst>
          </p:cNvPr>
          <p:cNvSpPr/>
          <p:nvPr/>
        </p:nvSpPr>
        <p:spPr bwMode="auto">
          <a:xfrm>
            <a:off x="76205" y="1431333"/>
            <a:ext cx="8991595" cy="1311867"/>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sp>
        <p:nvSpPr>
          <p:cNvPr id="30" name="TextBox 29">
            <a:extLst>
              <a:ext uri="{FF2B5EF4-FFF2-40B4-BE49-F238E27FC236}">
                <a16:creationId xmlns:a16="http://schemas.microsoft.com/office/drawing/2014/main" id="{A209A907-C367-A4AA-27AA-6F303EEB0CBD}"/>
              </a:ext>
            </a:extLst>
          </p:cNvPr>
          <p:cNvSpPr txBox="1"/>
          <p:nvPr/>
        </p:nvSpPr>
        <p:spPr>
          <a:xfrm>
            <a:off x="18195" y="1887901"/>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beginning of year 1</a:t>
            </a:r>
            <a:endParaRPr lang="en-ZA" sz="1400" baseline="30000" dirty="0">
              <a:latin typeface="+mj-lt"/>
            </a:endParaRPr>
          </a:p>
        </p:txBody>
      </p:sp>
      <p:cxnSp>
        <p:nvCxnSpPr>
          <p:cNvPr id="31" name="Straight Connector 30">
            <a:extLst>
              <a:ext uri="{FF2B5EF4-FFF2-40B4-BE49-F238E27FC236}">
                <a16:creationId xmlns:a16="http://schemas.microsoft.com/office/drawing/2014/main" id="{2BA03B4C-02B1-35DF-3B5E-76BBE1EA494F}"/>
              </a:ext>
            </a:extLst>
          </p:cNvPr>
          <p:cNvCxnSpPr>
            <a:cxnSpLocks/>
          </p:cNvCxnSpPr>
          <p:nvPr/>
        </p:nvCxnSpPr>
        <p:spPr bwMode="auto">
          <a:xfrm>
            <a:off x="8516294" y="19433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B78BB074-1BC0-BC67-AC60-B7CB5FD2046A}"/>
              </a:ext>
            </a:extLst>
          </p:cNvPr>
          <p:cNvCxnSpPr>
            <a:cxnSpLocks/>
          </p:cNvCxnSpPr>
          <p:nvPr/>
        </p:nvCxnSpPr>
        <p:spPr bwMode="auto">
          <a:xfrm>
            <a:off x="7339462" y="19433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671521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9FFF3-9C65-7DEA-59E1-2424B8D9835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5C20FF3-8D08-13F6-CC74-B4B3127A9040}"/>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7C9BB163-DFB2-759F-5CB8-FECE2C0524B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23</a:t>
            </a:fld>
            <a:endParaRPr lang="en-US">
              <a:solidFill>
                <a:schemeClr val="tx1"/>
              </a:solidFill>
            </a:endParaRPr>
          </a:p>
        </p:txBody>
      </p:sp>
      <p:sp>
        <p:nvSpPr>
          <p:cNvPr id="4" name="Rectangle 5">
            <a:extLst>
              <a:ext uri="{FF2B5EF4-FFF2-40B4-BE49-F238E27FC236}">
                <a16:creationId xmlns:a16="http://schemas.microsoft.com/office/drawing/2014/main" id="{BC0CC78A-A450-1A49-E492-2FB1DFE6D505}"/>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mixed stream (cont.)</a:t>
            </a:r>
          </a:p>
          <a:p>
            <a:pPr>
              <a:lnSpc>
                <a:spcPct val="105000"/>
              </a:lnSpc>
              <a:buSzPct val="100000"/>
              <a:buFont typeface="Arial" panose="020B0604020202020204" pitchFamily="34" charset="0"/>
              <a:buChar char="•"/>
            </a:pPr>
            <a:r>
              <a:rPr lang="en-US" sz="2400" dirty="0">
                <a:latin typeface="+mj-lt"/>
              </a:rPr>
              <a:t>Example: Assume you receive the following cash flows over the next five years (</a:t>
            </a:r>
            <a:r>
              <a:rPr lang="en-US" sz="2400" b="1" dirty="0">
                <a:solidFill>
                  <a:srgbClr val="C00000"/>
                </a:solidFill>
                <a:latin typeface="+mj-lt"/>
              </a:rPr>
              <a:t>beginning</a:t>
            </a:r>
            <a:r>
              <a:rPr lang="en-US" sz="2400" dirty="0">
                <a:latin typeface="+mj-lt"/>
              </a:rPr>
              <a:t> of each year). The required rate of return is 12%.</a:t>
            </a:r>
          </a:p>
        </p:txBody>
      </p:sp>
      <p:graphicFrame>
        <p:nvGraphicFramePr>
          <p:cNvPr id="2" name="Table 1">
            <a:extLst>
              <a:ext uri="{FF2B5EF4-FFF2-40B4-BE49-F238E27FC236}">
                <a16:creationId xmlns:a16="http://schemas.microsoft.com/office/drawing/2014/main" id="{4C67E3D0-4ABC-852D-DAD4-C9C061F2E20B}"/>
              </a:ext>
            </a:extLst>
          </p:cNvPr>
          <p:cNvGraphicFramePr>
            <a:graphicFrameLocks noGrp="1"/>
          </p:cNvGraphicFramePr>
          <p:nvPr/>
        </p:nvGraphicFramePr>
        <p:xfrm>
          <a:off x="1524000" y="2895600"/>
          <a:ext cx="6096000" cy="2743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965623577"/>
                    </a:ext>
                  </a:extLst>
                </a:gridCol>
                <a:gridCol w="3048000">
                  <a:extLst>
                    <a:ext uri="{9D8B030D-6E8A-4147-A177-3AD203B41FA5}">
                      <a16:colId xmlns:a16="http://schemas.microsoft.com/office/drawing/2014/main" val="3081405519"/>
                    </a:ext>
                  </a:extLst>
                </a:gridCol>
              </a:tblGrid>
              <a:tr h="365011">
                <a:tc>
                  <a:txBody>
                    <a:bodyPr/>
                    <a:lstStyle/>
                    <a:p>
                      <a:pPr algn="ctr"/>
                      <a:r>
                        <a:rPr lang="en-US" sz="2400" dirty="0"/>
                        <a:t>Year end</a:t>
                      </a:r>
                      <a:endParaRPr lang="en-ZA" sz="2400" dirty="0"/>
                    </a:p>
                  </a:txBody>
                  <a:tcPr anchor="ctr"/>
                </a:tc>
                <a:tc>
                  <a:txBody>
                    <a:bodyPr/>
                    <a:lstStyle/>
                    <a:p>
                      <a:pPr algn="ctr"/>
                      <a:r>
                        <a:rPr lang="en-US" sz="2400" dirty="0"/>
                        <a:t>Cash flow</a:t>
                      </a:r>
                      <a:endParaRPr lang="en-ZA" sz="2400" dirty="0"/>
                    </a:p>
                  </a:txBody>
                  <a:tcPr anchor="ctr"/>
                </a:tc>
                <a:extLst>
                  <a:ext uri="{0D108BD9-81ED-4DB2-BD59-A6C34878D82A}">
                    <a16:rowId xmlns:a16="http://schemas.microsoft.com/office/drawing/2014/main" val="329204689"/>
                  </a:ext>
                </a:extLst>
              </a:tr>
              <a:tr h="370840">
                <a:tc>
                  <a:txBody>
                    <a:bodyPr/>
                    <a:lstStyle/>
                    <a:p>
                      <a:pPr algn="ctr"/>
                      <a:r>
                        <a:rPr lang="en-US" sz="2400" dirty="0"/>
                        <a:t>1</a:t>
                      </a:r>
                      <a:endParaRPr lang="en-ZA" sz="2400" dirty="0"/>
                    </a:p>
                  </a:txBody>
                  <a:tcPr anchor="ctr"/>
                </a:tc>
                <a:tc>
                  <a:txBody>
                    <a:bodyPr/>
                    <a:lstStyle/>
                    <a:p>
                      <a:pPr algn="ctr"/>
                      <a:r>
                        <a:rPr lang="en-US" sz="2400" dirty="0"/>
                        <a:t>R1 000</a:t>
                      </a:r>
                      <a:endParaRPr lang="en-ZA" sz="2400" dirty="0"/>
                    </a:p>
                  </a:txBody>
                  <a:tcPr anchor="ctr"/>
                </a:tc>
                <a:extLst>
                  <a:ext uri="{0D108BD9-81ED-4DB2-BD59-A6C34878D82A}">
                    <a16:rowId xmlns:a16="http://schemas.microsoft.com/office/drawing/2014/main" val="3163490180"/>
                  </a:ext>
                </a:extLst>
              </a:tr>
              <a:tr h="370840">
                <a:tc>
                  <a:txBody>
                    <a:bodyPr/>
                    <a:lstStyle/>
                    <a:p>
                      <a:pPr algn="ctr"/>
                      <a:r>
                        <a:rPr lang="en-US" sz="2400" dirty="0"/>
                        <a:t>2</a:t>
                      </a:r>
                      <a:endParaRPr lang="en-ZA" sz="2400" dirty="0"/>
                    </a:p>
                  </a:txBody>
                  <a:tcPr anchor="ctr"/>
                </a:tc>
                <a:tc>
                  <a:txBody>
                    <a:bodyPr/>
                    <a:lstStyle/>
                    <a:p>
                      <a:pPr algn="ctr"/>
                      <a:r>
                        <a:rPr lang="en-US" sz="2400" dirty="0"/>
                        <a:t>R1 200</a:t>
                      </a:r>
                      <a:endParaRPr lang="en-ZA" sz="2400" dirty="0"/>
                    </a:p>
                  </a:txBody>
                  <a:tcPr anchor="ctr"/>
                </a:tc>
                <a:extLst>
                  <a:ext uri="{0D108BD9-81ED-4DB2-BD59-A6C34878D82A}">
                    <a16:rowId xmlns:a16="http://schemas.microsoft.com/office/drawing/2014/main" val="2013238092"/>
                  </a:ext>
                </a:extLst>
              </a:tr>
              <a:tr h="370840">
                <a:tc>
                  <a:txBody>
                    <a:bodyPr/>
                    <a:lstStyle/>
                    <a:p>
                      <a:pPr algn="ctr"/>
                      <a:r>
                        <a:rPr lang="en-US" sz="2400" dirty="0"/>
                        <a:t>3</a:t>
                      </a:r>
                      <a:endParaRPr lang="en-ZA" sz="2400" dirty="0"/>
                    </a:p>
                  </a:txBody>
                  <a:tcPr anchor="ctr"/>
                </a:tc>
                <a:tc>
                  <a:txBody>
                    <a:bodyPr/>
                    <a:lstStyle/>
                    <a:p>
                      <a:pPr algn="ctr"/>
                      <a:r>
                        <a:rPr lang="en-US" sz="2400" dirty="0"/>
                        <a:t>R1 300</a:t>
                      </a:r>
                      <a:endParaRPr lang="en-ZA" sz="2400" dirty="0"/>
                    </a:p>
                  </a:txBody>
                  <a:tcPr anchor="ctr"/>
                </a:tc>
                <a:extLst>
                  <a:ext uri="{0D108BD9-81ED-4DB2-BD59-A6C34878D82A}">
                    <a16:rowId xmlns:a16="http://schemas.microsoft.com/office/drawing/2014/main" val="2841028882"/>
                  </a:ext>
                </a:extLst>
              </a:tr>
              <a:tr h="370840">
                <a:tc>
                  <a:txBody>
                    <a:bodyPr/>
                    <a:lstStyle/>
                    <a:p>
                      <a:pPr algn="ctr"/>
                      <a:r>
                        <a:rPr lang="en-US" sz="2400" dirty="0"/>
                        <a:t>4</a:t>
                      </a:r>
                      <a:endParaRPr lang="en-ZA" sz="2400" dirty="0"/>
                    </a:p>
                  </a:txBody>
                  <a:tcPr anchor="ctr"/>
                </a:tc>
                <a:tc>
                  <a:txBody>
                    <a:bodyPr/>
                    <a:lstStyle/>
                    <a:p>
                      <a:pPr algn="ctr"/>
                      <a:r>
                        <a:rPr lang="en-US" sz="2400" dirty="0"/>
                        <a:t>R1 100</a:t>
                      </a:r>
                      <a:endParaRPr lang="en-ZA" sz="2400" dirty="0"/>
                    </a:p>
                  </a:txBody>
                  <a:tcPr anchor="ctr"/>
                </a:tc>
                <a:extLst>
                  <a:ext uri="{0D108BD9-81ED-4DB2-BD59-A6C34878D82A}">
                    <a16:rowId xmlns:a16="http://schemas.microsoft.com/office/drawing/2014/main" val="888000783"/>
                  </a:ext>
                </a:extLst>
              </a:tr>
              <a:tr h="370840">
                <a:tc>
                  <a:txBody>
                    <a:bodyPr/>
                    <a:lstStyle/>
                    <a:p>
                      <a:pPr algn="ctr"/>
                      <a:r>
                        <a:rPr lang="en-US" sz="2400" dirty="0"/>
                        <a:t>5</a:t>
                      </a:r>
                      <a:endParaRPr lang="en-ZA" sz="2400" dirty="0"/>
                    </a:p>
                  </a:txBody>
                  <a:tcPr anchor="ctr"/>
                </a:tc>
                <a:tc>
                  <a:txBody>
                    <a:bodyPr/>
                    <a:lstStyle/>
                    <a:p>
                      <a:pPr algn="ctr"/>
                      <a:r>
                        <a:rPr lang="en-US" sz="2400" dirty="0"/>
                        <a:t>R1 400</a:t>
                      </a:r>
                      <a:endParaRPr lang="en-ZA" sz="2400" dirty="0"/>
                    </a:p>
                  </a:txBody>
                  <a:tcPr anchor="ctr"/>
                </a:tc>
                <a:extLst>
                  <a:ext uri="{0D108BD9-81ED-4DB2-BD59-A6C34878D82A}">
                    <a16:rowId xmlns:a16="http://schemas.microsoft.com/office/drawing/2014/main" val="3645707496"/>
                  </a:ext>
                </a:extLst>
              </a:tr>
            </a:tbl>
          </a:graphicData>
        </a:graphic>
      </p:graphicFrame>
    </p:spTree>
    <p:custDataLst>
      <p:tags r:id="rId1"/>
    </p:custDataLst>
    <p:extLst>
      <p:ext uri="{BB962C8B-B14F-4D97-AF65-F5344CB8AC3E}">
        <p14:creationId xmlns:p14="http://schemas.microsoft.com/office/powerpoint/2010/main" val="3930386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DF3E-6899-C2C5-1B2E-354A3A53849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DA4E706-D199-FBFD-109B-5B91125267A3}"/>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7FAC09E3-82E7-D05E-D149-6DBD56F32D2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24</a:t>
            </a:fld>
            <a:endParaRPr lang="en-US">
              <a:solidFill>
                <a:schemeClr val="tx1"/>
              </a:solidFill>
            </a:endParaRPr>
          </a:p>
        </p:txBody>
      </p:sp>
      <p:sp>
        <p:nvSpPr>
          <p:cNvPr id="4" name="Rectangle 5">
            <a:extLst>
              <a:ext uri="{FF2B5EF4-FFF2-40B4-BE49-F238E27FC236}">
                <a16:creationId xmlns:a16="http://schemas.microsoft.com/office/drawing/2014/main" id="{D6E30392-FDA8-4518-B935-AF8DED7C32F1}"/>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mixed stream (cont.)</a:t>
            </a:r>
          </a:p>
        </p:txBody>
      </p:sp>
      <p:cxnSp>
        <p:nvCxnSpPr>
          <p:cNvPr id="13" name="Straight Connector 12">
            <a:extLst>
              <a:ext uri="{FF2B5EF4-FFF2-40B4-BE49-F238E27FC236}">
                <a16:creationId xmlns:a16="http://schemas.microsoft.com/office/drawing/2014/main" id="{1E8E0B18-841B-6BB4-385B-AB0F8922B9C0}"/>
              </a:ext>
            </a:extLst>
          </p:cNvPr>
          <p:cNvCxnSpPr>
            <a:cxnSpLocks/>
          </p:cNvCxnSpPr>
          <p:nvPr/>
        </p:nvCxnSpPr>
        <p:spPr bwMode="auto">
          <a:xfrm>
            <a:off x="2239492" y="2367425"/>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AF16EE6-42CB-65CC-199D-841E737A8C9C}"/>
              </a:ext>
            </a:extLst>
          </p:cNvPr>
          <p:cNvCxnSpPr>
            <a:cxnSpLocks/>
          </p:cNvCxnSpPr>
          <p:nvPr/>
        </p:nvCxnSpPr>
        <p:spPr bwMode="auto">
          <a:xfrm>
            <a:off x="2239493" y="2215025"/>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9E137E48-04AB-30D2-A464-E37AD3CA8649}"/>
              </a:ext>
            </a:extLst>
          </p:cNvPr>
          <p:cNvCxnSpPr>
            <a:cxnSpLocks/>
          </p:cNvCxnSpPr>
          <p:nvPr/>
        </p:nvCxnSpPr>
        <p:spPr bwMode="auto">
          <a:xfrm>
            <a:off x="4825018" y="222457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4947B7C9-552E-4EA6-48B4-B2D4FBE20498}"/>
              </a:ext>
            </a:extLst>
          </p:cNvPr>
          <p:cNvCxnSpPr>
            <a:cxnSpLocks/>
          </p:cNvCxnSpPr>
          <p:nvPr/>
        </p:nvCxnSpPr>
        <p:spPr bwMode="auto">
          <a:xfrm>
            <a:off x="3529618" y="2215025"/>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A788620A-E447-9B5C-8B18-2D7BCDCCBCE7}"/>
              </a:ext>
            </a:extLst>
          </p:cNvPr>
          <p:cNvCxnSpPr>
            <a:cxnSpLocks/>
          </p:cNvCxnSpPr>
          <p:nvPr/>
        </p:nvCxnSpPr>
        <p:spPr bwMode="auto">
          <a:xfrm>
            <a:off x="6120418" y="222457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0" name="Straight Arrow Connector 19">
            <a:extLst>
              <a:ext uri="{FF2B5EF4-FFF2-40B4-BE49-F238E27FC236}">
                <a16:creationId xmlns:a16="http://schemas.microsoft.com/office/drawing/2014/main" id="{15D872FE-D946-BFF5-C31B-34F7FF3F9067}"/>
              </a:ext>
            </a:extLst>
          </p:cNvPr>
          <p:cNvCxnSpPr>
            <a:cxnSpLocks/>
          </p:cNvCxnSpPr>
          <p:nvPr/>
        </p:nvCxnSpPr>
        <p:spPr bwMode="auto">
          <a:xfrm flipH="1">
            <a:off x="1828800" y="4267200"/>
            <a:ext cx="554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21" name="TextBox 20">
            <a:extLst>
              <a:ext uri="{FF2B5EF4-FFF2-40B4-BE49-F238E27FC236}">
                <a16:creationId xmlns:a16="http://schemas.microsoft.com/office/drawing/2014/main" id="{4B1CEEB3-0CEA-F7BF-E6DE-C3774103BAEC}"/>
              </a:ext>
            </a:extLst>
          </p:cNvPr>
          <p:cNvSpPr txBox="1"/>
          <p:nvPr/>
        </p:nvSpPr>
        <p:spPr>
          <a:xfrm>
            <a:off x="2057400" y="1809786"/>
            <a:ext cx="6705600" cy="307777"/>
          </a:xfrm>
          <a:prstGeom prst="rect">
            <a:avLst/>
          </a:prstGeom>
          <a:noFill/>
        </p:spPr>
        <p:txBody>
          <a:bodyPr wrap="square" rtlCol="0">
            <a:spAutoFit/>
          </a:bodyPr>
          <a:lstStyle/>
          <a:p>
            <a:r>
              <a:rPr lang="en-ZA" sz="1400" dirty="0">
                <a:latin typeface="+mj-lt"/>
              </a:rPr>
              <a:t> 0   r = 12%      1                      2                     3                    4                   5</a:t>
            </a:r>
          </a:p>
        </p:txBody>
      </p:sp>
      <p:sp>
        <p:nvSpPr>
          <p:cNvPr id="22" name="TextBox 21">
            <a:extLst>
              <a:ext uri="{FF2B5EF4-FFF2-40B4-BE49-F238E27FC236}">
                <a16:creationId xmlns:a16="http://schemas.microsoft.com/office/drawing/2014/main" id="{95844C99-822F-89E5-FDD7-A260DD7BFC09}"/>
              </a:ext>
            </a:extLst>
          </p:cNvPr>
          <p:cNvSpPr txBox="1"/>
          <p:nvPr/>
        </p:nvSpPr>
        <p:spPr>
          <a:xfrm>
            <a:off x="2048826" y="2571480"/>
            <a:ext cx="5692418" cy="307777"/>
          </a:xfrm>
          <a:prstGeom prst="rect">
            <a:avLst/>
          </a:prstGeom>
          <a:noFill/>
        </p:spPr>
        <p:txBody>
          <a:bodyPr wrap="square" rtlCol="0">
            <a:spAutoFit/>
          </a:bodyPr>
          <a:lstStyle/>
          <a:p>
            <a:r>
              <a:rPr lang="en-ZA" sz="1400" dirty="0">
                <a:latin typeface="+mj-lt"/>
              </a:rPr>
              <a:t>1 000	       1 200	              1 300	   1 100	        1 400</a:t>
            </a:r>
            <a:endParaRPr lang="en-ZA" sz="1400" baseline="-25000" dirty="0">
              <a:latin typeface="+mj-lt"/>
            </a:endParaRPr>
          </a:p>
        </p:txBody>
      </p:sp>
      <p:sp>
        <p:nvSpPr>
          <p:cNvPr id="23" name="Rectangle 22">
            <a:extLst>
              <a:ext uri="{FF2B5EF4-FFF2-40B4-BE49-F238E27FC236}">
                <a16:creationId xmlns:a16="http://schemas.microsoft.com/office/drawing/2014/main" id="{C59E3914-A40B-AE1A-8439-6B1ABB04AC16}"/>
              </a:ext>
            </a:extLst>
          </p:cNvPr>
          <p:cNvSpPr/>
          <p:nvPr/>
        </p:nvSpPr>
        <p:spPr bwMode="auto">
          <a:xfrm>
            <a:off x="82631" y="1699832"/>
            <a:ext cx="8991595" cy="3129557"/>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cxnSp>
        <p:nvCxnSpPr>
          <p:cNvPr id="24" name="Straight Connector 23">
            <a:extLst>
              <a:ext uri="{FF2B5EF4-FFF2-40B4-BE49-F238E27FC236}">
                <a16:creationId xmlns:a16="http://schemas.microsoft.com/office/drawing/2014/main" id="{D84107FF-17E1-C067-D2BF-FA9F5B1FCDCB}"/>
              </a:ext>
            </a:extLst>
          </p:cNvPr>
          <p:cNvCxnSpPr/>
          <p:nvPr/>
        </p:nvCxnSpPr>
        <p:spPr bwMode="auto">
          <a:xfrm flipV="1">
            <a:off x="7391400" y="2863200"/>
            <a:ext cx="0" cy="1404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5DCA8893-55FD-D527-2EFB-FAF81240D028}"/>
              </a:ext>
            </a:extLst>
          </p:cNvPr>
          <p:cNvCxnSpPr>
            <a:cxnSpLocks/>
          </p:cNvCxnSpPr>
          <p:nvPr/>
        </p:nvCxnSpPr>
        <p:spPr bwMode="auto">
          <a:xfrm flipV="1">
            <a:off x="6146121" y="2834755"/>
            <a:ext cx="0" cy="1152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E02C4837-A0A1-D59E-1765-F7CC9BCC5F50}"/>
              </a:ext>
            </a:extLst>
          </p:cNvPr>
          <p:cNvCxnSpPr>
            <a:cxnSpLocks/>
          </p:cNvCxnSpPr>
          <p:nvPr/>
        </p:nvCxnSpPr>
        <p:spPr bwMode="auto">
          <a:xfrm flipV="1">
            <a:off x="3551187" y="2813926"/>
            <a:ext cx="0" cy="576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9" name="TextBox 28">
            <a:extLst>
              <a:ext uri="{FF2B5EF4-FFF2-40B4-BE49-F238E27FC236}">
                <a16:creationId xmlns:a16="http://schemas.microsoft.com/office/drawing/2014/main" id="{CD8B0ECE-D13B-82F3-D5B0-D7D2B867C033}"/>
              </a:ext>
            </a:extLst>
          </p:cNvPr>
          <p:cNvSpPr txBox="1"/>
          <p:nvPr/>
        </p:nvSpPr>
        <p:spPr>
          <a:xfrm>
            <a:off x="75034" y="2971800"/>
            <a:ext cx="1828799" cy="1754326"/>
          </a:xfrm>
          <a:prstGeom prst="rect">
            <a:avLst/>
          </a:prstGeom>
          <a:noFill/>
        </p:spPr>
        <p:txBody>
          <a:bodyPr wrap="square" rtlCol="0">
            <a:spAutoFit/>
          </a:bodyPr>
          <a:lstStyle/>
          <a:p>
            <a:r>
              <a:rPr lang="en-ZA" sz="1800" dirty="0">
                <a:latin typeface="+mj-lt"/>
              </a:rPr>
              <a:t>          1 000.00</a:t>
            </a:r>
          </a:p>
          <a:p>
            <a:r>
              <a:rPr lang="en-ZA" sz="1800" dirty="0">
                <a:latin typeface="+mj-lt"/>
              </a:rPr>
              <a:t>          1 071.43</a:t>
            </a:r>
          </a:p>
          <a:p>
            <a:r>
              <a:rPr lang="en-ZA" sz="1800" dirty="0">
                <a:latin typeface="+mj-lt"/>
              </a:rPr>
              <a:t>          1 036.35</a:t>
            </a:r>
          </a:p>
          <a:p>
            <a:r>
              <a:rPr lang="en-ZA" sz="1800" dirty="0">
                <a:latin typeface="+mj-lt"/>
              </a:rPr>
              <a:t>            782.96</a:t>
            </a:r>
          </a:p>
          <a:p>
            <a:r>
              <a:rPr lang="en-ZA" sz="1800" dirty="0">
                <a:latin typeface="+mj-lt"/>
              </a:rPr>
              <a:t>         </a:t>
            </a:r>
            <a:r>
              <a:rPr lang="en-ZA" sz="1800" u="sng" dirty="0">
                <a:latin typeface="+mj-lt"/>
              </a:rPr>
              <a:t>   889.73</a:t>
            </a:r>
          </a:p>
          <a:p>
            <a:r>
              <a:rPr lang="en-ZA" sz="1800" dirty="0">
                <a:latin typeface="+mj-lt"/>
              </a:rPr>
              <a:t>PV =  </a:t>
            </a:r>
            <a:r>
              <a:rPr lang="en-ZA" sz="1800" u="dbl" dirty="0">
                <a:latin typeface="+mj-lt"/>
              </a:rPr>
              <a:t>4 780.47</a:t>
            </a:r>
          </a:p>
        </p:txBody>
      </p:sp>
      <p:sp>
        <p:nvSpPr>
          <p:cNvPr id="30" name="TextBox 29">
            <a:extLst>
              <a:ext uri="{FF2B5EF4-FFF2-40B4-BE49-F238E27FC236}">
                <a16:creationId xmlns:a16="http://schemas.microsoft.com/office/drawing/2014/main" id="{109243E6-E9EC-0475-4CE8-7119E194C45E}"/>
              </a:ext>
            </a:extLst>
          </p:cNvPr>
          <p:cNvSpPr txBox="1"/>
          <p:nvPr/>
        </p:nvSpPr>
        <p:spPr>
          <a:xfrm>
            <a:off x="24621" y="2156400"/>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beginning of year 1</a:t>
            </a:r>
            <a:endParaRPr lang="en-ZA" sz="1400" baseline="30000" dirty="0">
              <a:latin typeface="+mj-lt"/>
            </a:endParaRPr>
          </a:p>
        </p:txBody>
      </p:sp>
      <p:cxnSp>
        <p:nvCxnSpPr>
          <p:cNvPr id="31" name="Straight Connector 30">
            <a:extLst>
              <a:ext uri="{FF2B5EF4-FFF2-40B4-BE49-F238E27FC236}">
                <a16:creationId xmlns:a16="http://schemas.microsoft.com/office/drawing/2014/main" id="{D6AB8B7B-BF0A-5D6B-A3E6-13C3A64D10B9}"/>
              </a:ext>
            </a:extLst>
          </p:cNvPr>
          <p:cNvCxnSpPr>
            <a:cxnSpLocks/>
          </p:cNvCxnSpPr>
          <p:nvPr/>
        </p:nvCxnSpPr>
        <p:spPr bwMode="auto">
          <a:xfrm>
            <a:off x="8522720" y="2211833"/>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05B10CD7-8BD1-0EFE-F577-57FE5C70F609}"/>
              </a:ext>
            </a:extLst>
          </p:cNvPr>
          <p:cNvCxnSpPr>
            <a:cxnSpLocks/>
          </p:cNvCxnSpPr>
          <p:nvPr/>
        </p:nvCxnSpPr>
        <p:spPr bwMode="auto">
          <a:xfrm>
            <a:off x="7345888" y="2211833"/>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0A446BFE-7A1E-6D92-0288-FADA53BA2E4C}"/>
              </a:ext>
            </a:extLst>
          </p:cNvPr>
          <p:cNvCxnSpPr>
            <a:cxnSpLocks/>
          </p:cNvCxnSpPr>
          <p:nvPr/>
        </p:nvCxnSpPr>
        <p:spPr bwMode="auto">
          <a:xfrm flipV="1">
            <a:off x="4825018" y="2834755"/>
            <a:ext cx="0" cy="828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BC56E6CA-6B63-8984-915F-776A6B190B1E}"/>
              </a:ext>
            </a:extLst>
          </p:cNvPr>
          <p:cNvCxnSpPr>
            <a:cxnSpLocks/>
          </p:cNvCxnSpPr>
          <p:nvPr/>
        </p:nvCxnSpPr>
        <p:spPr bwMode="auto">
          <a:xfrm flipV="1">
            <a:off x="2234712" y="2819400"/>
            <a:ext cx="0" cy="3240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1" name="Straight Arrow Connector 40">
            <a:extLst>
              <a:ext uri="{FF2B5EF4-FFF2-40B4-BE49-F238E27FC236}">
                <a16:creationId xmlns:a16="http://schemas.microsoft.com/office/drawing/2014/main" id="{DB6117CC-63FC-D0A6-ECD0-C6C52475BD97}"/>
              </a:ext>
            </a:extLst>
          </p:cNvPr>
          <p:cNvCxnSpPr>
            <a:cxnSpLocks/>
          </p:cNvCxnSpPr>
          <p:nvPr/>
        </p:nvCxnSpPr>
        <p:spPr bwMode="auto">
          <a:xfrm flipH="1">
            <a:off x="1826400" y="3986755"/>
            <a:ext cx="4320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2" name="Straight Arrow Connector 41">
            <a:extLst>
              <a:ext uri="{FF2B5EF4-FFF2-40B4-BE49-F238E27FC236}">
                <a16:creationId xmlns:a16="http://schemas.microsoft.com/office/drawing/2014/main" id="{D01A39E8-C5D5-C154-4CF9-A61FA4D48D6E}"/>
              </a:ext>
            </a:extLst>
          </p:cNvPr>
          <p:cNvCxnSpPr>
            <a:cxnSpLocks/>
          </p:cNvCxnSpPr>
          <p:nvPr/>
        </p:nvCxnSpPr>
        <p:spPr bwMode="auto">
          <a:xfrm flipH="1">
            <a:off x="1815368" y="3663921"/>
            <a:ext cx="3024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3" name="Straight Arrow Connector 42">
            <a:extLst>
              <a:ext uri="{FF2B5EF4-FFF2-40B4-BE49-F238E27FC236}">
                <a16:creationId xmlns:a16="http://schemas.microsoft.com/office/drawing/2014/main" id="{FD35A4C5-B863-C6F9-771F-6D2BA9E2D40F}"/>
              </a:ext>
            </a:extLst>
          </p:cNvPr>
          <p:cNvCxnSpPr>
            <a:cxnSpLocks/>
          </p:cNvCxnSpPr>
          <p:nvPr/>
        </p:nvCxnSpPr>
        <p:spPr bwMode="auto">
          <a:xfrm flipH="1">
            <a:off x="1850826" y="3143400"/>
            <a:ext cx="396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4" name="Straight Arrow Connector 43">
            <a:extLst>
              <a:ext uri="{FF2B5EF4-FFF2-40B4-BE49-F238E27FC236}">
                <a16:creationId xmlns:a16="http://schemas.microsoft.com/office/drawing/2014/main" id="{BCA6B336-8F1A-8A43-DB0C-DE876B67819F}"/>
              </a:ext>
            </a:extLst>
          </p:cNvPr>
          <p:cNvCxnSpPr>
            <a:cxnSpLocks/>
          </p:cNvCxnSpPr>
          <p:nvPr/>
        </p:nvCxnSpPr>
        <p:spPr bwMode="auto">
          <a:xfrm flipH="1">
            <a:off x="1826400" y="3389926"/>
            <a:ext cx="17280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Tree>
    <p:custDataLst>
      <p:tags r:id="rId1"/>
    </p:custDataLst>
    <p:extLst>
      <p:ext uri="{BB962C8B-B14F-4D97-AF65-F5344CB8AC3E}">
        <p14:creationId xmlns:p14="http://schemas.microsoft.com/office/powerpoint/2010/main" val="3190175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DE85-5DE7-1E8A-BD5A-4385C6864DA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56488B9-CCB9-0D78-464F-42B20D8C90CE}"/>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C7E02F5C-8A7D-7BD0-1311-D1867DC6D82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25</a:t>
            </a:fld>
            <a:endParaRPr lang="en-US">
              <a:solidFill>
                <a:schemeClr val="tx1"/>
              </a:solidFill>
            </a:endParaRPr>
          </a:p>
        </p:txBody>
      </p:sp>
      <p:sp>
        <p:nvSpPr>
          <p:cNvPr id="4" name="Rectangle 5">
            <a:extLst>
              <a:ext uri="{FF2B5EF4-FFF2-40B4-BE49-F238E27FC236}">
                <a16:creationId xmlns:a16="http://schemas.microsoft.com/office/drawing/2014/main" id="{E65A3B5C-E98D-E4D6-2AF5-DBBF512E5D2B}"/>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mixed stream (cont.)</a:t>
            </a: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marL="0" indent="0">
              <a:lnSpc>
                <a:spcPct val="100000"/>
              </a:lnSpc>
              <a:spcBef>
                <a:spcPts val="0"/>
              </a:spcBef>
              <a:spcAft>
                <a:spcPts val="0"/>
              </a:spcAft>
              <a:buNone/>
            </a:pPr>
            <a:endParaRPr lang="en-US" sz="1100" dirty="0">
              <a:latin typeface="+mj-lt"/>
            </a:endParaRPr>
          </a:p>
          <a:p>
            <a:pPr marL="0" indent="0">
              <a:lnSpc>
                <a:spcPct val="100000"/>
              </a:lnSpc>
              <a:spcBef>
                <a:spcPts val="0"/>
              </a:spcBef>
              <a:spcAft>
                <a:spcPts val="0"/>
              </a:spcAft>
              <a:buNone/>
            </a:pPr>
            <a:r>
              <a:rPr lang="en-US" sz="2400" dirty="0">
                <a:latin typeface="+mj-lt"/>
              </a:rPr>
              <a:t>Input in “CF” register:	Steps</a:t>
            </a:r>
          </a:p>
          <a:p>
            <a:pPr marL="0" indent="0">
              <a:lnSpc>
                <a:spcPct val="100000"/>
              </a:lnSpc>
              <a:spcBef>
                <a:spcPts val="0"/>
              </a:spcBef>
              <a:spcAft>
                <a:spcPts val="0"/>
              </a:spcAft>
              <a:buNone/>
            </a:pPr>
            <a:r>
              <a:rPr lang="en-US" sz="2400" dirty="0">
                <a:latin typeface="+mj-lt"/>
              </a:rPr>
              <a:t>				</a:t>
            </a:r>
            <a:r>
              <a:rPr lang="en-US" sz="2400" b="1" dirty="0">
                <a:solidFill>
                  <a:srgbClr val="C00000"/>
                </a:solidFill>
                <a:latin typeface="+mj-lt"/>
              </a:rPr>
              <a:t>Clear memory of calculator</a:t>
            </a:r>
          </a:p>
          <a:p>
            <a:pPr marL="0" indent="0">
              <a:lnSpc>
                <a:spcPct val="100000"/>
              </a:lnSpc>
              <a:spcBef>
                <a:spcPts val="0"/>
              </a:spcBef>
              <a:spcAft>
                <a:spcPts val="0"/>
              </a:spcAft>
              <a:buNone/>
              <a:tabLst>
                <a:tab pos="358775" algn="l"/>
                <a:tab pos="1435100" algn="l"/>
              </a:tabLst>
            </a:pPr>
            <a:r>
              <a:rPr lang="en-US" sz="2400" dirty="0">
                <a:latin typeface="+mj-lt"/>
              </a:rPr>
              <a:t>	CF</a:t>
            </a:r>
            <a:r>
              <a:rPr lang="en-US" sz="2400" baseline="-25000" dirty="0">
                <a:latin typeface="+mj-lt"/>
              </a:rPr>
              <a:t>0</a:t>
            </a:r>
            <a:r>
              <a:rPr lang="en-US" sz="2400" dirty="0">
                <a:latin typeface="+mj-lt"/>
              </a:rPr>
              <a:t> 	=	1 000		1 000 ENT</a:t>
            </a:r>
          </a:p>
          <a:p>
            <a:pPr marL="0" indent="0">
              <a:lnSpc>
                <a:spcPct val="100000"/>
              </a:lnSpc>
              <a:spcBef>
                <a:spcPts val="0"/>
              </a:spcBef>
              <a:spcAft>
                <a:spcPts val="0"/>
              </a:spcAft>
              <a:buNone/>
              <a:tabLst>
                <a:tab pos="358775" algn="l"/>
                <a:tab pos="1435100" algn="l"/>
              </a:tabLst>
            </a:pPr>
            <a:r>
              <a:rPr lang="en-US" sz="2400" dirty="0">
                <a:latin typeface="+mj-lt"/>
              </a:rPr>
              <a:t>	CF</a:t>
            </a:r>
            <a:r>
              <a:rPr lang="en-US" sz="2400" baseline="-25000" dirty="0">
                <a:latin typeface="+mj-lt"/>
              </a:rPr>
              <a:t>1</a:t>
            </a:r>
            <a:r>
              <a:rPr lang="en-US" sz="2400" dirty="0">
                <a:latin typeface="+mj-lt"/>
              </a:rPr>
              <a:t> 	=	1 200		1 200 ENT</a:t>
            </a:r>
          </a:p>
          <a:p>
            <a:pPr marL="0" indent="0">
              <a:lnSpc>
                <a:spcPct val="100000"/>
              </a:lnSpc>
              <a:spcBef>
                <a:spcPts val="0"/>
              </a:spcBef>
              <a:spcAft>
                <a:spcPts val="0"/>
              </a:spcAft>
              <a:buNone/>
              <a:tabLst>
                <a:tab pos="358775" algn="l"/>
                <a:tab pos="1435100" algn="l"/>
              </a:tabLst>
            </a:pPr>
            <a:r>
              <a:rPr lang="en-US" sz="2400" dirty="0">
                <a:latin typeface="+mj-lt"/>
              </a:rPr>
              <a:t>	CF</a:t>
            </a:r>
            <a:r>
              <a:rPr lang="en-US" sz="2400" baseline="-25000" dirty="0">
                <a:latin typeface="+mj-lt"/>
              </a:rPr>
              <a:t>2</a:t>
            </a:r>
            <a:r>
              <a:rPr lang="en-US" sz="2400" dirty="0">
                <a:latin typeface="+mj-lt"/>
              </a:rPr>
              <a:t> 	=	1 300		1 300 ENT</a:t>
            </a:r>
          </a:p>
          <a:p>
            <a:pPr marL="0" indent="0">
              <a:lnSpc>
                <a:spcPct val="100000"/>
              </a:lnSpc>
              <a:spcBef>
                <a:spcPts val="0"/>
              </a:spcBef>
              <a:spcAft>
                <a:spcPts val="0"/>
              </a:spcAft>
              <a:buNone/>
              <a:tabLst>
                <a:tab pos="358775" algn="l"/>
                <a:tab pos="1435100" algn="l"/>
              </a:tabLst>
            </a:pPr>
            <a:r>
              <a:rPr lang="en-US" sz="2400" dirty="0">
                <a:latin typeface="+mj-lt"/>
              </a:rPr>
              <a:t>	CF</a:t>
            </a:r>
            <a:r>
              <a:rPr lang="en-US" sz="2400" baseline="-25000" dirty="0">
                <a:latin typeface="+mj-lt"/>
              </a:rPr>
              <a:t>3</a:t>
            </a:r>
            <a:r>
              <a:rPr lang="en-US" sz="2400" dirty="0">
                <a:latin typeface="+mj-lt"/>
              </a:rPr>
              <a:t> 	=	1 100		1 100 ENT</a:t>
            </a:r>
          </a:p>
          <a:p>
            <a:pPr marL="0" indent="0">
              <a:lnSpc>
                <a:spcPct val="100000"/>
              </a:lnSpc>
              <a:spcBef>
                <a:spcPts val="0"/>
              </a:spcBef>
              <a:spcAft>
                <a:spcPts val="0"/>
              </a:spcAft>
              <a:buNone/>
              <a:tabLst>
                <a:tab pos="358775" algn="l"/>
                <a:tab pos="1435100" algn="l"/>
              </a:tabLst>
            </a:pPr>
            <a:r>
              <a:rPr lang="en-US" sz="2400" dirty="0">
                <a:latin typeface="+mj-lt"/>
              </a:rPr>
              <a:t>	CF</a:t>
            </a:r>
            <a:r>
              <a:rPr lang="en-US" sz="2400" baseline="-25000" dirty="0">
                <a:latin typeface="+mj-lt"/>
              </a:rPr>
              <a:t>4</a:t>
            </a:r>
            <a:r>
              <a:rPr lang="en-US" sz="2400" dirty="0">
                <a:latin typeface="+mj-lt"/>
              </a:rPr>
              <a:t> 	=	1 400		1 400 ENT</a:t>
            </a:r>
          </a:p>
          <a:p>
            <a:pPr marL="0" indent="0">
              <a:lnSpc>
                <a:spcPct val="100000"/>
              </a:lnSpc>
              <a:spcBef>
                <a:spcPts val="0"/>
              </a:spcBef>
              <a:spcAft>
                <a:spcPts val="0"/>
              </a:spcAft>
              <a:buNone/>
              <a:tabLst>
                <a:tab pos="358775" algn="l"/>
                <a:tab pos="1435100" algn="l"/>
              </a:tabLst>
            </a:pPr>
            <a:r>
              <a:rPr lang="en-US" sz="2400" dirty="0">
                <a:latin typeface="+mj-lt"/>
              </a:rPr>
              <a:t>	Enter I 	= 	12		2</a:t>
            </a:r>
            <a:r>
              <a:rPr lang="en-US" sz="2400" baseline="30000" dirty="0">
                <a:latin typeface="+mj-lt"/>
              </a:rPr>
              <a:t>ND</a:t>
            </a:r>
            <a:r>
              <a:rPr lang="en-US" sz="2400" dirty="0">
                <a:latin typeface="+mj-lt"/>
              </a:rPr>
              <a:t>F </a:t>
            </a:r>
            <a:r>
              <a:rPr lang="en-US" sz="2400" dirty="0" err="1">
                <a:latin typeface="+mj-lt"/>
              </a:rPr>
              <a:t>CFi</a:t>
            </a:r>
            <a:r>
              <a:rPr lang="en-US" sz="2400" dirty="0">
                <a:latin typeface="+mj-lt"/>
              </a:rPr>
              <a:t> 12 ENT	 </a:t>
            </a:r>
          </a:p>
          <a:p>
            <a:pPr marL="0" indent="0">
              <a:lnSpc>
                <a:spcPct val="100000"/>
              </a:lnSpc>
              <a:spcBef>
                <a:spcPts val="0"/>
              </a:spcBef>
              <a:spcAft>
                <a:spcPts val="0"/>
              </a:spcAft>
              <a:buNone/>
              <a:tabLst>
                <a:tab pos="358775" algn="l"/>
                <a:tab pos="1435100" algn="l"/>
              </a:tabLst>
            </a:pPr>
            <a:r>
              <a:rPr lang="en-US" sz="2400" dirty="0">
                <a:latin typeface="+mj-lt"/>
              </a:rPr>
              <a:t>	NPV	= 	4 780.46	Arrow down COMP – NPV of </a:t>
            </a:r>
          </a:p>
          <a:p>
            <a:pPr marL="0" indent="0">
              <a:lnSpc>
                <a:spcPct val="100000"/>
              </a:lnSpc>
              <a:spcBef>
                <a:spcPts val="0"/>
              </a:spcBef>
              <a:spcAft>
                <a:spcPts val="0"/>
              </a:spcAft>
              <a:buNone/>
              <a:tabLst>
                <a:tab pos="358775" algn="l"/>
                <a:tab pos="1435100" algn="l"/>
              </a:tabLst>
            </a:pPr>
            <a:r>
              <a:rPr lang="en-US" sz="2400" dirty="0">
                <a:latin typeface="+mj-lt"/>
              </a:rPr>
              <a:t>					4 780.46 will show</a:t>
            </a:r>
          </a:p>
          <a:p>
            <a:pPr>
              <a:lnSpc>
                <a:spcPct val="105000"/>
              </a:lnSpc>
              <a:buSzPct val="100000"/>
              <a:buFont typeface="Arial" panose="020B0604020202020204" pitchFamily="34" charset="0"/>
              <a:buChar char="•"/>
            </a:pPr>
            <a:endParaRPr lang="en-US" sz="2400" dirty="0">
              <a:latin typeface="+mj-lt"/>
            </a:endParaRPr>
          </a:p>
        </p:txBody>
      </p:sp>
      <p:cxnSp>
        <p:nvCxnSpPr>
          <p:cNvPr id="2" name="Straight Connector 1">
            <a:extLst>
              <a:ext uri="{FF2B5EF4-FFF2-40B4-BE49-F238E27FC236}">
                <a16:creationId xmlns:a16="http://schemas.microsoft.com/office/drawing/2014/main" id="{BCFE5777-85B8-A828-4F96-E16EA411E215}"/>
              </a:ext>
            </a:extLst>
          </p:cNvPr>
          <p:cNvCxnSpPr>
            <a:cxnSpLocks/>
          </p:cNvCxnSpPr>
          <p:nvPr/>
        </p:nvCxnSpPr>
        <p:spPr bwMode="auto">
          <a:xfrm>
            <a:off x="2233066" y="2098926"/>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B88D01B0-AB0B-F47C-B9E2-23E738E0295B}"/>
              </a:ext>
            </a:extLst>
          </p:cNvPr>
          <p:cNvCxnSpPr>
            <a:cxnSpLocks/>
          </p:cNvCxnSpPr>
          <p:nvPr/>
        </p:nvCxnSpPr>
        <p:spPr bwMode="auto">
          <a:xfrm>
            <a:off x="2233067" y="194652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 name="Straight Connector 5">
            <a:extLst>
              <a:ext uri="{FF2B5EF4-FFF2-40B4-BE49-F238E27FC236}">
                <a16:creationId xmlns:a16="http://schemas.microsoft.com/office/drawing/2014/main" id="{3951205D-45E2-868E-630B-DFD388F40535}"/>
              </a:ext>
            </a:extLst>
          </p:cNvPr>
          <p:cNvCxnSpPr>
            <a:cxnSpLocks/>
          </p:cNvCxnSpPr>
          <p:nvPr/>
        </p:nvCxnSpPr>
        <p:spPr bwMode="auto">
          <a:xfrm>
            <a:off x="4818592" y="195608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82984544-65B6-2CBF-0DA3-744E231D18DD}"/>
              </a:ext>
            </a:extLst>
          </p:cNvPr>
          <p:cNvCxnSpPr>
            <a:cxnSpLocks/>
          </p:cNvCxnSpPr>
          <p:nvPr/>
        </p:nvCxnSpPr>
        <p:spPr bwMode="auto">
          <a:xfrm>
            <a:off x="3523192" y="194652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050A0B85-AA04-221B-99FF-54B7F3411E73}"/>
              </a:ext>
            </a:extLst>
          </p:cNvPr>
          <p:cNvCxnSpPr>
            <a:cxnSpLocks/>
          </p:cNvCxnSpPr>
          <p:nvPr/>
        </p:nvCxnSpPr>
        <p:spPr bwMode="auto">
          <a:xfrm>
            <a:off x="6113992" y="195608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9" name="TextBox 8">
            <a:extLst>
              <a:ext uri="{FF2B5EF4-FFF2-40B4-BE49-F238E27FC236}">
                <a16:creationId xmlns:a16="http://schemas.microsoft.com/office/drawing/2014/main" id="{7B1DD478-1348-3909-CCC7-BD2D9F3E3DB6}"/>
              </a:ext>
            </a:extLst>
          </p:cNvPr>
          <p:cNvSpPr txBox="1"/>
          <p:nvPr/>
        </p:nvSpPr>
        <p:spPr>
          <a:xfrm>
            <a:off x="2050974" y="1541287"/>
            <a:ext cx="6705600" cy="307777"/>
          </a:xfrm>
          <a:prstGeom prst="rect">
            <a:avLst/>
          </a:prstGeom>
          <a:noFill/>
        </p:spPr>
        <p:txBody>
          <a:bodyPr wrap="square" rtlCol="0">
            <a:spAutoFit/>
          </a:bodyPr>
          <a:lstStyle/>
          <a:p>
            <a:r>
              <a:rPr lang="en-ZA" sz="1400" dirty="0">
                <a:latin typeface="+mj-lt"/>
              </a:rPr>
              <a:t> 0   r = 12%      1                      2                     3                    4                   5</a:t>
            </a:r>
          </a:p>
        </p:txBody>
      </p:sp>
      <p:sp>
        <p:nvSpPr>
          <p:cNvPr id="10" name="TextBox 9">
            <a:extLst>
              <a:ext uri="{FF2B5EF4-FFF2-40B4-BE49-F238E27FC236}">
                <a16:creationId xmlns:a16="http://schemas.microsoft.com/office/drawing/2014/main" id="{EE34B3D6-0901-CD07-1968-94DB7835836D}"/>
              </a:ext>
            </a:extLst>
          </p:cNvPr>
          <p:cNvSpPr txBox="1"/>
          <p:nvPr/>
        </p:nvSpPr>
        <p:spPr>
          <a:xfrm>
            <a:off x="2050974" y="2276239"/>
            <a:ext cx="5692418" cy="307777"/>
          </a:xfrm>
          <a:prstGeom prst="rect">
            <a:avLst/>
          </a:prstGeom>
          <a:noFill/>
        </p:spPr>
        <p:txBody>
          <a:bodyPr wrap="square" rtlCol="0">
            <a:spAutoFit/>
          </a:bodyPr>
          <a:lstStyle/>
          <a:p>
            <a:r>
              <a:rPr lang="en-ZA" sz="1400" dirty="0">
                <a:latin typeface="+mj-lt"/>
              </a:rPr>
              <a:t>1 000	       1 200	              1 300	   1 100	        1 400</a:t>
            </a:r>
            <a:endParaRPr lang="en-ZA" sz="1400" baseline="-25000" dirty="0">
              <a:latin typeface="+mj-lt"/>
            </a:endParaRPr>
          </a:p>
        </p:txBody>
      </p:sp>
      <p:sp>
        <p:nvSpPr>
          <p:cNvPr id="11" name="Rectangle 10">
            <a:extLst>
              <a:ext uri="{FF2B5EF4-FFF2-40B4-BE49-F238E27FC236}">
                <a16:creationId xmlns:a16="http://schemas.microsoft.com/office/drawing/2014/main" id="{1459889A-BD52-1738-7635-D55CBF17719E}"/>
              </a:ext>
            </a:extLst>
          </p:cNvPr>
          <p:cNvSpPr/>
          <p:nvPr/>
        </p:nvSpPr>
        <p:spPr bwMode="auto">
          <a:xfrm>
            <a:off x="76205" y="1431333"/>
            <a:ext cx="8991595" cy="1311867"/>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sp>
        <p:nvSpPr>
          <p:cNvPr id="12" name="TextBox 11">
            <a:extLst>
              <a:ext uri="{FF2B5EF4-FFF2-40B4-BE49-F238E27FC236}">
                <a16:creationId xmlns:a16="http://schemas.microsoft.com/office/drawing/2014/main" id="{2506373A-B773-C6E7-DC75-5AE50F4C03AC}"/>
              </a:ext>
            </a:extLst>
          </p:cNvPr>
          <p:cNvSpPr txBox="1"/>
          <p:nvPr/>
        </p:nvSpPr>
        <p:spPr>
          <a:xfrm>
            <a:off x="18195" y="1887901"/>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beginning of year 1</a:t>
            </a:r>
            <a:endParaRPr lang="en-ZA" sz="1400" baseline="30000" dirty="0">
              <a:latin typeface="+mj-lt"/>
            </a:endParaRPr>
          </a:p>
        </p:txBody>
      </p:sp>
      <p:cxnSp>
        <p:nvCxnSpPr>
          <p:cNvPr id="18" name="Straight Connector 17">
            <a:extLst>
              <a:ext uri="{FF2B5EF4-FFF2-40B4-BE49-F238E27FC236}">
                <a16:creationId xmlns:a16="http://schemas.microsoft.com/office/drawing/2014/main" id="{E1917219-CA38-D612-504C-226197BB4246}"/>
              </a:ext>
            </a:extLst>
          </p:cNvPr>
          <p:cNvCxnSpPr>
            <a:cxnSpLocks/>
          </p:cNvCxnSpPr>
          <p:nvPr/>
        </p:nvCxnSpPr>
        <p:spPr bwMode="auto">
          <a:xfrm>
            <a:off x="8516294" y="19433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018B9395-E895-8E09-25D6-789427210300}"/>
              </a:ext>
            </a:extLst>
          </p:cNvPr>
          <p:cNvCxnSpPr>
            <a:cxnSpLocks/>
          </p:cNvCxnSpPr>
          <p:nvPr/>
        </p:nvCxnSpPr>
        <p:spPr bwMode="auto">
          <a:xfrm>
            <a:off x="7339462" y="194333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641514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11688D-D7DA-1EA0-B8D1-6E04D98C9CA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347B1D1-2935-E38D-A01D-6026D23A1C3B}"/>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0FD1FD9A-7E96-A416-E481-2DBC4A23941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26</a:t>
            </a:fld>
            <a:endParaRPr lang="en-US">
              <a:solidFill>
                <a:schemeClr val="tx1"/>
              </a:solidFill>
            </a:endParaRPr>
          </a:p>
        </p:txBody>
      </p:sp>
      <p:sp>
        <p:nvSpPr>
          <p:cNvPr id="4" name="Rectangle 5">
            <a:extLst>
              <a:ext uri="{FF2B5EF4-FFF2-40B4-BE49-F238E27FC236}">
                <a16:creationId xmlns:a16="http://schemas.microsoft.com/office/drawing/2014/main" id="{C27EFCBA-AD36-3555-BF3A-FE2BFFAEBC2E}"/>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perpetuity</a:t>
            </a:r>
          </a:p>
          <a:p>
            <a:pPr marL="717550" indent="-358775">
              <a:lnSpc>
                <a:spcPct val="105000"/>
              </a:lnSpc>
              <a:buSzPct val="100000"/>
              <a:buFont typeface="Wingdings" panose="05000000000000000000" pitchFamily="2" charset="2"/>
              <a:buChar char="§"/>
            </a:pPr>
            <a:r>
              <a:rPr lang="en-US" sz="2400" dirty="0">
                <a:latin typeface="+mj-lt"/>
              </a:rPr>
              <a:t>Same amount (payment or cash flow) forever</a:t>
            </a:r>
          </a:p>
          <a:p>
            <a:pPr>
              <a:lnSpc>
                <a:spcPct val="105000"/>
              </a:lnSpc>
              <a:buSzPct val="100000"/>
              <a:buFont typeface="Arial" panose="020B0604020202020204" pitchFamily="34" charset="0"/>
              <a:buChar char="•"/>
            </a:pPr>
            <a:r>
              <a:rPr lang="en-US" sz="2400" dirty="0">
                <a:latin typeface="+mj-lt"/>
              </a:rPr>
              <a:t>Example: You will receive R5 000 per annum forever. Required rate of return is 6%.</a:t>
            </a:r>
          </a:p>
          <a:p>
            <a:pPr>
              <a:lnSpc>
                <a:spcPct val="105000"/>
              </a:lnSpc>
              <a:buSzPct val="100000"/>
              <a:buFont typeface="Arial" panose="020B0604020202020204" pitchFamily="34" charset="0"/>
              <a:buChar char="•"/>
            </a:pPr>
            <a:endParaRPr lang="en-US" sz="2400" dirty="0">
              <a:latin typeface="+mj-lt"/>
            </a:endParaRPr>
          </a:p>
          <a:p>
            <a:pPr marL="0" indent="0">
              <a:lnSpc>
                <a:spcPct val="105000"/>
              </a:lnSpc>
              <a:buSzPct val="100000"/>
              <a:buNone/>
            </a:pPr>
            <a:r>
              <a:rPr lang="en-US" sz="2400" dirty="0">
                <a:latin typeface="+mj-lt"/>
              </a:rPr>
              <a:t>	PV	=	PMT* / k**</a:t>
            </a:r>
          </a:p>
          <a:p>
            <a:pPr marL="0" indent="0">
              <a:lnSpc>
                <a:spcPct val="105000"/>
              </a:lnSpc>
              <a:buSzPct val="100000"/>
              <a:buNone/>
            </a:pPr>
            <a:r>
              <a:rPr lang="en-US" sz="2400" dirty="0">
                <a:latin typeface="+mj-lt"/>
              </a:rPr>
              <a:t>		=	5 000 / 0.06</a:t>
            </a:r>
          </a:p>
          <a:p>
            <a:pPr marL="0" indent="0">
              <a:lnSpc>
                <a:spcPct val="105000"/>
              </a:lnSpc>
              <a:buSzPct val="100000"/>
              <a:buNone/>
            </a:pPr>
            <a:r>
              <a:rPr lang="en-US" sz="2400" dirty="0">
                <a:latin typeface="+mj-lt"/>
              </a:rPr>
              <a:t>		=	R83 333.33</a:t>
            </a:r>
          </a:p>
          <a:p>
            <a:pPr marL="0" indent="0">
              <a:lnSpc>
                <a:spcPct val="105000"/>
              </a:lnSpc>
              <a:buSzPct val="100000"/>
              <a:buNone/>
            </a:pPr>
            <a:endParaRPr lang="en-US" sz="2400" dirty="0">
              <a:latin typeface="+mj-lt"/>
            </a:endParaRPr>
          </a:p>
          <a:p>
            <a:pPr marL="0" indent="0">
              <a:lnSpc>
                <a:spcPct val="105000"/>
              </a:lnSpc>
              <a:buSzPct val="100000"/>
              <a:buNone/>
            </a:pPr>
            <a:endParaRPr lang="en-US" sz="2400" dirty="0">
              <a:latin typeface="+mj-lt"/>
            </a:endParaRPr>
          </a:p>
          <a:p>
            <a:pPr marL="0" indent="0">
              <a:lnSpc>
                <a:spcPct val="105000"/>
              </a:lnSpc>
              <a:buSzPct val="100000"/>
              <a:buNone/>
            </a:pPr>
            <a:r>
              <a:rPr lang="en-US" sz="2400" dirty="0">
                <a:latin typeface="+mj-lt"/>
              </a:rPr>
              <a:t>* PMT = cash flow (CF)</a:t>
            </a:r>
          </a:p>
          <a:p>
            <a:pPr marL="0" indent="0">
              <a:lnSpc>
                <a:spcPct val="105000"/>
              </a:lnSpc>
              <a:buSzPct val="100000"/>
              <a:buNone/>
            </a:pPr>
            <a:r>
              <a:rPr lang="en-US" sz="2400" dirty="0">
                <a:latin typeface="+mj-lt"/>
              </a:rPr>
              <a:t>**k = required rate of return, also </a:t>
            </a:r>
            <a:r>
              <a:rPr lang="en-US" sz="2400" i="1" dirty="0">
                <a:latin typeface="+mj-lt"/>
              </a:rPr>
              <a:t>r</a:t>
            </a:r>
          </a:p>
        </p:txBody>
      </p:sp>
    </p:spTree>
    <p:custDataLst>
      <p:tags r:id="rId1"/>
    </p:custDataLst>
    <p:extLst>
      <p:ext uri="{BB962C8B-B14F-4D97-AF65-F5344CB8AC3E}">
        <p14:creationId xmlns:p14="http://schemas.microsoft.com/office/powerpoint/2010/main" val="2424312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7D94E5-790A-B995-F600-1EEDA53E045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2D02AA7-3D4F-9F50-4642-700EE74DED71}"/>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Present values (cont.)</a:t>
            </a:r>
          </a:p>
        </p:txBody>
      </p:sp>
      <p:sp>
        <p:nvSpPr>
          <p:cNvPr id="3" name="Slide Number Placeholder 2">
            <a:extLst>
              <a:ext uri="{FF2B5EF4-FFF2-40B4-BE49-F238E27FC236}">
                <a16:creationId xmlns:a16="http://schemas.microsoft.com/office/drawing/2014/main" id="{4DB043CC-71BB-2F99-C46B-6C350F06E41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27</a:t>
            </a:fld>
            <a:endParaRPr lang="en-US">
              <a:solidFill>
                <a:schemeClr val="tx1"/>
              </a:solidFill>
            </a:endParaRPr>
          </a:p>
        </p:txBody>
      </p:sp>
      <p:sp>
        <p:nvSpPr>
          <p:cNvPr id="4" name="Rectangle 5">
            <a:extLst>
              <a:ext uri="{FF2B5EF4-FFF2-40B4-BE49-F238E27FC236}">
                <a16:creationId xmlns:a16="http://schemas.microsoft.com/office/drawing/2014/main" id="{91C6CDC4-A184-B747-640A-1134507B0793}"/>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PV of growing perpetuity</a:t>
            </a:r>
          </a:p>
          <a:p>
            <a:pPr marL="717550" indent="-358775">
              <a:lnSpc>
                <a:spcPct val="105000"/>
              </a:lnSpc>
              <a:buSzPct val="100000"/>
              <a:buFont typeface="Wingdings" panose="05000000000000000000" pitchFamily="2" charset="2"/>
              <a:buChar char="§"/>
            </a:pPr>
            <a:r>
              <a:rPr lang="en-US" sz="2400" dirty="0">
                <a:latin typeface="+mj-lt"/>
              </a:rPr>
              <a:t>Amount (payment or cash flow) increasing at constant rate forever</a:t>
            </a:r>
          </a:p>
          <a:p>
            <a:pPr>
              <a:lnSpc>
                <a:spcPct val="105000"/>
              </a:lnSpc>
              <a:buSzPct val="100000"/>
              <a:buFont typeface="Arial" panose="020B0604020202020204" pitchFamily="34" charset="0"/>
              <a:buChar char="•"/>
            </a:pPr>
            <a:r>
              <a:rPr lang="en-US" sz="2400" dirty="0">
                <a:latin typeface="+mj-lt"/>
              </a:rPr>
              <a:t>Example: You will receive R5 000 per annum forever. The constant growth rate in cash flow is 3%.  Required rate of return is 6%.</a:t>
            </a:r>
          </a:p>
          <a:p>
            <a:pPr>
              <a:lnSpc>
                <a:spcPct val="105000"/>
              </a:lnSpc>
              <a:buSzPct val="100000"/>
              <a:buFont typeface="Arial" panose="020B0604020202020204" pitchFamily="34" charset="0"/>
              <a:buChar char="•"/>
            </a:pPr>
            <a:endParaRPr lang="en-US" sz="2400" dirty="0">
              <a:latin typeface="+mj-lt"/>
            </a:endParaRPr>
          </a:p>
          <a:p>
            <a:pPr marL="0" indent="0">
              <a:lnSpc>
                <a:spcPct val="105000"/>
              </a:lnSpc>
              <a:buSzPct val="100000"/>
              <a:buNone/>
            </a:pPr>
            <a:r>
              <a:rPr lang="en-US" sz="2400" dirty="0">
                <a:latin typeface="+mj-lt"/>
              </a:rPr>
              <a:t>	PV	=	PMT* / (k** – g)</a:t>
            </a:r>
          </a:p>
          <a:p>
            <a:pPr marL="0" indent="0">
              <a:lnSpc>
                <a:spcPct val="105000"/>
              </a:lnSpc>
              <a:buSzPct val="100000"/>
              <a:buNone/>
            </a:pPr>
            <a:r>
              <a:rPr lang="en-US" sz="2400" dirty="0">
                <a:latin typeface="+mj-lt"/>
              </a:rPr>
              <a:t>		=	5 000 / (0.06 – 0.03)</a:t>
            </a:r>
          </a:p>
          <a:p>
            <a:pPr marL="0" indent="0">
              <a:lnSpc>
                <a:spcPct val="105000"/>
              </a:lnSpc>
              <a:buSzPct val="100000"/>
              <a:buNone/>
            </a:pPr>
            <a:r>
              <a:rPr lang="en-US" sz="2400" dirty="0">
                <a:latin typeface="+mj-lt"/>
              </a:rPr>
              <a:t>		=	R166 666.67</a:t>
            </a:r>
          </a:p>
          <a:p>
            <a:pPr marL="0" indent="0">
              <a:lnSpc>
                <a:spcPct val="105000"/>
              </a:lnSpc>
              <a:buSzPct val="100000"/>
              <a:buNone/>
            </a:pPr>
            <a:endParaRPr lang="en-US" sz="2400" dirty="0">
              <a:latin typeface="+mj-lt"/>
            </a:endParaRPr>
          </a:p>
          <a:p>
            <a:pPr marL="0" indent="0">
              <a:lnSpc>
                <a:spcPct val="105000"/>
              </a:lnSpc>
              <a:buSzPct val="100000"/>
              <a:buNone/>
            </a:pPr>
            <a:r>
              <a:rPr lang="en-US" sz="2400" dirty="0">
                <a:latin typeface="+mj-lt"/>
              </a:rPr>
              <a:t>* PMT = cash flow (CF)</a:t>
            </a:r>
          </a:p>
          <a:p>
            <a:pPr marL="0" indent="0">
              <a:lnSpc>
                <a:spcPct val="105000"/>
              </a:lnSpc>
              <a:buSzPct val="100000"/>
              <a:buNone/>
            </a:pPr>
            <a:r>
              <a:rPr lang="en-US" sz="2400" dirty="0">
                <a:latin typeface="+mj-lt"/>
              </a:rPr>
              <a:t>**k = required rate of return, also </a:t>
            </a:r>
            <a:r>
              <a:rPr lang="en-US" sz="2400" i="1" dirty="0">
                <a:latin typeface="+mj-lt"/>
              </a:rPr>
              <a:t>r</a:t>
            </a:r>
          </a:p>
        </p:txBody>
      </p:sp>
    </p:spTree>
    <p:custDataLst>
      <p:tags r:id="rId1"/>
    </p:custDataLst>
    <p:extLst>
      <p:ext uri="{BB962C8B-B14F-4D97-AF65-F5344CB8AC3E}">
        <p14:creationId xmlns:p14="http://schemas.microsoft.com/office/powerpoint/2010/main" val="1591945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728DF3-CC60-AF22-3CA1-DC37E979998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EEBC111-F62B-9613-1401-70030BAF52ED}"/>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a:t>
            </a:r>
          </a:p>
        </p:txBody>
      </p:sp>
      <p:sp>
        <p:nvSpPr>
          <p:cNvPr id="3" name="Slide Number Placeholder 2">
            <a:extLst>
              <a:ext uri="{FF2B5EF4-FFF2-40B4-BE49-F238E27FC236}">
                <a16:creationId xmlns:a16="http://schemas.microsoft.com/office/drawing/2014/main" id="{183090BC-FB8C-CB84-9A3C-2D8EF16F209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28</a:t>
            </a:fld>
            <a:endParaRPr lang="en-US">
              <a:solidFill>
                <a:schemeClr val="tx1"/>
              </a:solidFill>
            </a:endParaRPr>
          </a:p>
        </p:txBody>
      </p:sp>
      <p:sp>
        <p:nvSpPr>
          <p:cNvPr id="4" name="Rectangle 5">
            <a:extLst>
              <a:ext uri="{FF2B5EF4-FFF2-40B4-BE49-F238E27FC236}">
                <a16:creationId xmlns:a16="http://schemas.microsoft.com/office/drawing/2014/main" id="{87A5D536-347F-346A-DD0A-4412DE2A7C0E}"/>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Calculation of deposits required to accumulate future sum</a:t>
            </a:r>
          </a:p>
          <a:p>
            <a:pPr>
              <a:lnSpc>
                <a:spcPct val="105000"/>
              </a:lnSpc>
              <a:buSzPct val="100000"/>
              <a:buFont typeface="Arial" panose="020B0604020202020204" pitchFamily="34" charset="0"/>
              <a:buChar char="•"/>
            </a:pPr>
            <a:r>
              <a:rPr lang="en-US" sz="2400" dirty="0" err="1">
                <a:latin typeface="+mj-lt"/>
              </a:rPr>
              <a:t>Amortisation</a:t>
            </a:r>
            <a:r>
              <a:rPr lang="en-US" sz="2400" dirty="0">
                <a:latin typeface="+mj-lt"/>
              </a:rPr>
              <a:t> of loans</a:t>
            </a:r>
          </a:p>
          <a:p>
            <a:pPr>
              <a:lnSpc>
                <a:spcPct val="105000"/>
              </a:lnSpc>
              <a:buSzPct val="100000"/>
              <a:buFont typeface="Arial" panose="020B0604020202020204" pitchFamily="34" charset="0"/>
              <a:buChar char="•"/>
            </a:pPr>
            <a:r>
              <a:rPr lang="en-US" sz="2400" dirty="0">
                <a:latin typeface="+mj-lt"/>
              </a:rPr>
              <a:t>Determination of interest or growth rates</a:t>
            </a:r>
          </a:p>
          <a:p>
            <a:pPr>
              <a:lnSpc>
                <a:spcPct val="105000"/>
              </a:lnSpc>
              <a:buSzPct val="100000"/>
              <a:buFont typeface="Arial" panose="020B0604020202020204" pitchFamily="34" charset="0"/>
              <a:buChar char="•"/>
            </a:pPr>
            <a:r>
              <a:rPr lang="en-US" sz="2400" dirty="0">
                <a:latin typeface="+mj-lt"/>
              </a:rPr>
              <a:t>Calculation of effective interest rates</a:t>
            </a:r>
          </a:p>
        </p:txBody>
      </p:sp>
    </p:spTree>
    <p:custDataLst>
      <p:tags r:id="rId1"/>
    </p:custDataLst>
    <p:extLst>
      <p:ext uri="{BB962C8B-B14F-4D97-AF65-F5344CB8AC3E}">
        <p14:creationId xmlns:p14="http://schemas.microsoft.com/office/powerpoint/2010/main" val="62003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E04B89-570A-678A-326E-AB393EBF873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6BC5A2F-6766-E3CD-F922-86886E752729}"/>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BE969886-E7DB-72F0-80B0-619B87AF091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29</a:t>
            </a:fld>
            <a:endParaRPr lang="en-US">
              <a:solidFill>
                <a:schemeClr val="tx1"/>
              </a:solidFill>
            </a:endParaRPr>
          </a:p>
        </p:txBody>
      </p:sp>
      <p:sp>
        <p:nvSpPr>
          <p:cNvPr id="4" name="Rectangle 5">
            <a:extLst>
              <a:ext uri="{FF2B5EF4-FFF2-40B4-BE49-F238E27FC236}">
                <a16:creationId xmlns:a16="http://schemas.microsoft.com/office/drawing/2014/main" id="{77FC9E8D-0AB6-BEAD-C715-8CA16A895E72}"/>
              </a:ext>
            </a:extLst>
          </p:cNvPr>
          <p:cNvSpPr>
            <a:spLocks noGrp="1" noChangeArrowheads="1"/>
          </p:cNvSpPr>
          <p:nvPr>
            <p:ph idx="1"/>
          </p:nvPr>
        </p:nvSpPr>
        <p:spPr>
          <a:xfrm>
            <a:off x="244288" y="1229710"/>
            <a:ext cx="8655424" cy="5247290"/>
          </a:xfrm>
        </p:spPr>
        <p:txBody>
          <a:bodyPr/>
          <a:lstStyle/>
          <a:p>
            <a:pPr>
              <a:lnSpc>
                <a:spcPct val="105000"/>
              </a:lnSpc>
              <a:buSzPct val="100000"/>
              <a:buFont typeface="Arial" panose="020B0604020202020204" pitchFamily="34" charset="0"/>
              <a:buChar char="•"/>
            </a:pPr>
            <a:r>
              <a:rPr lang="en-US" sz="2200" dirty="0">
                <a:latin typeface="+mj-lt"/>
              </a:rPr>
              <a:t>Deposits required to accumulate future sum</a:t>
            </a:r>
          </a:p>
          <a:p>
            <a:pPr algn="just">
              <a:lnSpc>
                <a:spcPct val="105000"/>
              </a:lnSpc>
              <a:buSzPct val="100000"/>
              <a:buFont typeface="Arial" panose="020B0604020202020204" pitchFamily="34" charset="0"/>
              <a:buChar char="•"/>
            </a:pPr>
            <a:r>
              <a:rPr lang="en-US" sz="2200" dirty="0">
                <a:latin typeface="+mj-lt"/>
              </a:rPr>
              <a:t>Example: Suppose you wish to replace equipment 5 years from now and </a:t>
            </a:r>
            <a:r>
              <a:rPr lang="en-US" sz="2200" dirty="0" err="1">
                <a:latin typeface="+mj-lt"/>
              </a:rPr>
              <a:t>recognise</a:t>
            </a:r>
            <a:r>
              <a:rPr lang="en-US" sz="2200" dirty="0">
                <a:latin typeface="+mj-lt"/>
              </a:rPr>
              <a:t> that a payment of R100 000 will be required at that time. You wish to make equal annual end of year deposits in account paying annual interest of 12%. How much should you deposit end of each year to accumulate R100 000 at the end of 5 years?</a:t>
            </a:r>
          </a:p>
          <a:p>
            <a:pPr>
              <a:lnSpc>
                <a:spcPct val="105000"/>
              </a:lnSpc>
              <a:buSzPct val="100000"/>
              <a:buFont typeface="Arial" panose="020B0604020202020204" pitchFamily="34" charset="0"/>
              <a:buChar char="•"/>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p:txBody>
      </p:sp>
      <p:sp>
        <p:nvSpPr>
          <p:cNvPr id="11" name="Rectangle 10">
            <a:extLst>
              <a:ext uri="{FF2B5EF4-FFF2-40B4-BE49-F238E27FC236}">
                <a16:creationId xmlns:a16="http://schemas.microsoft.com/office/drawing/2014/main" id="{43BCD665-CE0E-E8D5-4D89-B25B3A751BE7}"/>
              </a:ext>
            </a:extLst>
          </p:cNvPr>
          <p:cNvSpPr/>
          <p:nvPr/>
        </p:nvSpPr>
        <p:spPr bwMode="auto">
          <a:xfrm>
            <a:off x="1680829" y="582578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12" name="Rectangle 11">
            <a:extLst>
              <a:ext uri="{FF2B5EF4-FFF2-40B4-BE49-F238E27FC236}">
                <a16:creationId xmlns:a16="http://schemas.microsoft.com/office/drawing/2014/main" id="{BBE54CDB-41B6-B09B-9471-A6F5E92B7BF8}"/>
              </a:ext>
            </a:extLst>
          </p:cNvPr>
          <p:cNvSpPr/>
          <p:nvPr/>
        </p:nvSpPr>
        <p:spPr bwMode="auto">
          <a:xfrm>
            <a:off x="3127413" y="582578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3" name="Rectangle 12">
            <a:extLst>
              <a:ext uri="{FF2B5EF4-FFF2-40B4-BE49-F238E27FC236}">
                <a16:creationId xmlns:a16="http://schemas.microsoft.com/office/drawing/2014/main" id="{9081B6E2-10AD-708B-82E9-42549E801F84}"/>
              </a:ext>
            </a:extLst>
          </p:cNvPr>
          <p:cNvSpPr/>
          <p:nvPr/>
        </p:nvSpPr>
        <p:spPr bwMode="auto">
          <a:xfrm>
            <a:off x="4499013" y="582578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4" name="Rectangle 13">
            <a:extLst>
              <a:ext uri="{FF2B5EF4-FFF2-40B4-BE49-F238E27FC236}">
                <a16:creationId xmlns:a16="http://schemas.microsoft.com/office/drawing/2014/main" id="{6E6A8D18-E422-26AC-6963-55DD70A63833}"/>
              </a:ext>
            </a:extLst>
          </p:cNvPr>
          <p:cNvSpPr/>
          <p:nvPr/>
        </p:nvSpPr>
        <p:spPr bwMode="auto">
          <a:xfrm>
            <a:off x="5870613" y="582578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15" name="Rectangle 14">
            <a:extLst>
              <a:ext uri="{FF2B5EF4-FFF2-40B4-BE49-F238E27FC236}">
                <a16:creationId xmlns:a16="http://schemas.microsoft.com/office/drawing/2014/main" id="{23239EA6-4C27-6E97-E314-7BA8323DFD0F}"/>
              </a:ext>
            </a:extLst>
          </p:cNvPr>
          <p:cNvSpPr/>
          <p:nvPr/>
        </p:nvSpPr>
        <p:spPr bwMode="auto">
          <a:xfrm>
            <a:off x="7242213" y="582578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6" name="TextBox 15">
            <a:extLst>
              <a:ext uri="{FF2B5EF4-FFF2-40B4-BE49-F238E27FC236}">
                <a16:creationId xmlns:a16="http://schemas.microsoft.com/office/drawing/2014/main" id="{42961299-356B-0B86-CC24-E0E57FB24605}"/>
              </a:ext>
            </a:extLst>
          </p:cNvPr>
          <p:cNvSpPr txBox="1"/>
          <p:nvPr/>
        </p:nvSpPr>
        <p:spPr>
          <a:xfrm>
            <a:off x="457200" y="5480446"/>
            <a:ext cx="8083626" cy="523220"/>
          </a:xfrm>
          <a:prstGeom prst="rect">
            <a:avLst/>
          </a:prstGeom>
          <a:noFill/>
        </p:spPr>
        <p:txBody>
          <a:bodyPr wrap="square" rtlCol="0">
            <a:spAutoFit/>
          </a:bodyPr>
          <a:lstStyle/>
          <a:p>
            <a:pPr defTabSz="1350963">
              <a:tabLst>
                <a:tab pos="1435100" algn="l"/>
                <a:tab pos="2786063" algn="l"/>
              </a:tabLst>
            </a:pPr>
            <a:r>
              <a:rPr lang="en-ZA" sz="1400" dirty="0">
                <a:latin typeface="+mj-lt"/>
              </a:rPr>
              <a:t>Inputs:	 5	    12	     0	      ?                 100 000                   0</a:t>
            </a:r>
          </a:p>
        </p:txBody>
      </p:sp>
      <p:sp>
        <p:nvSpPr>
          <p:cNvPr id="17" name="TextBox 16">
            <a:extLst>
              <a:ext uri="{FF2B5EF4-FFF2-40B4-BE49-F238E27FC236}">
                <a16:creationId xmlns:a16="http://schemas.microsoft.com/office/drawing/2014/main" id="{6FEF8A26-0480-2C79-20BA-C8B3ABAF1F7F}"/>
              </a:ext>
            </a:extLst>
          </p:cNvPr>
          <p:cNvSpPr txBox="1"/>
          <p:nvPr/>
        </p:nvSpPr>
        <p:spPr>
          <a:xfrm>
            <a:off x="431495" y="6397823"/>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 15 740.97	</a:t>
            </a:r>
          </a:p>
        </p:txBody>
      </p:sp>
      <p:cxnSp>
        <p:nvCxnSpPr>
          <p:cNvPr id="18" name="Straight Connector 17">
            <a:extLst>
              <a:ext uri="{FF2B5EF4-FFF2-40B4-BE49-F238E27FC236}">
                <a16:creationId xmlns:a16="http://schemas.microsoft.com/office/drawing/2014/main" id="{F7E647FC-D10A-A39B-DD6D-4657BB99BD78}"/>
              </a:ext>
            </a:extLst>
          </p:cNvPr>
          <p:cNvCxnSpPr>
            <a:cxnSpLocks/>
          </p:cNvCxnSpPr>
          <p:nvPr/>
        </p:nvCxnSpPr>
        <p:spPr bwMode="auto">
          <a:xfrm>
            <a:off x="310805" y="4669131"/>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55C3C60-E2C5-90E6-FE16-7F07343FCA60}"/>
              </a:ext>
            </a:extLst>
          </p:cNvPr>
          <p:cNvCxnSpPr>
            <a:cxnSpLocks/>
          </p:cNvCxnSpPr>
          <p:nvPr/>
        </p:nvCxnSpPr>
        <p:spPr bwMode="auto">
          <a:xfrm>
            <a:off x="310806" y="4516731"/>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7ED4179D-E667-8F29-10AD-E9C5EC10F742}"/>
              </a:ext>
            </a:extLst>
          </p:cNvPr>
          <p:cNvCxnSpPr>
            <a:cxnSpLocks/>
          </p:cNvCxnSpPr>
          <p:nvPr/>
        </p:nvCxnSpPr>
        <p:spPr bwMode="auto">
          <a:xfrm>
            <a:off x="2896331" y="4526285"/>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D4824FE9-CD83-A1CD-762B-AD4418D74A76}"/>
              </a:ext>
            </a:extLst>
          </p:cNvPr>
          <p:cNvCxnSpPr>
            <a:cxnSpLocks/>
          </p:cNvCxnSpPr>
          <p:nvPr/>
        </p:nvCxnSpPr>
        <p:spPr bwMode="auto">
          <a:xfrm>
            <a:off x="1600931" y="4516731"/>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3BE2186D-B534-FF26-F61C-FA72B33C04D2}"/>
              </a:ext>
            </a:extLst>
          </p:cNvPr>
          <p:cNvCxnSpPr>
            <a:cxnSpLocks/>
          </p:cNvCxnSpPr>
          <p:nvPr/>
        </p:nvCxnSpPr>
        <p:spPr bwMode="auto">
          <a:xfrm>
            <a:off x="4191731" y="4526285"/>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3" name="TextBox 22">
            <a:extLst>
              <a:ext uri="{FF2B5EF4-FFF2-40B4-BE49-F238E27FC236}">
                <a16:creationId xmlns:a16="http://schemas.microsoft.com/office/drawing/2014/main" id="{F941E2B9-5215-A4BD-40D5-6ABCB2593511}"/>
              </a:ext>
            </a:extLst>
          </p:cNvPr>
          <p:cNvSpPr txBox="1"/>
          <p:nvPr/>
        </p:nvSpPr>
        <p:spPr>
          <a:xfrm>
            <a:off x="342905" y="4126135"/>
            <a:ext cx="8534400" cy="307777"/>
          </a:xfrm>
          <a:prstGeom prst="rect">
            <a:avLst/>
          </a:prstGeom>
          <a:noFill/>
        </p:spPr>
        <p:txBody>
          <a:bodyPr wrap="square" rtlCol="0">
            <a:spAutoFit/>
          </a:bodyPr>
          <a:lstStyle/>
          <a:p>
            <a:r>
              <a:rPr lang="en-ZA" sz="1400" dirty="0">
                <a:latin typeface="+mj-lt"/>
              </a:rPr>
              <a:t> 0   r = 12%  1                      2                     3                     4                   5</a:t>
            </a:r>
          </a:p>
        </p:txBody>
      </p:sp>
      <p:sp>
        <p:nvSpPr>
          <p:cNvPr id="24" name="TextBox 23">
            <a:extLst>
              <a:ext uri="{FF2B5EF4-FFF2-40B4-BE49-F238E27FC236}">
                <a16:creationId xmlns:a16="http://schemas.microsoft.com/office/drawing/2014/main" id="{FA252B09-9BF2-E486-AD65-7575A1FE0AAB}"/>
              </a:ext>
            </a:extLst>
          </p:cNvPr>
          <p:cNvSpPr txBox="1"/>
          <p:nvPr/>
        </p:nvSpPr>
        <p:spPr>
          <a:xfrm>
            <a:off x="1447804" y="4809779"/>
            <a:ext cx="7046067" cy="307777"/>
          </a:xfrm>
          <a:prstGeom prst="rect">
            <a:avLst/>
          </a:prstGeom>
          <a:noFill/>
        </p:spPr>
        <p:txBody>
          <a:bodyPr wrap="square" rtlCol="0">
            <a:spAutoFit/>
          </a:bodyPr>
          <a:lstStyle/>
          <a:p>
            <a:r>
              <a:rPr lang="en-ZA" sz="1400" dirty="0">
                <a:latin typeface="+mj-lt"/>
              </a:rPr>
              <a:t>?	       ? 	              ? 	   ? 	        ?  = R100 000</a:t>
            </a:r>
            <a:endParaRPr lang="en-ZA" sz="1400" baseline="-25000" dirty="0">
              <a:latin typeface="+mj-lt"/>
            </a:endParaRPr>
          </a:p>
        </p:txBody>
      </p:sp>
      <p:sp>
        <p:nvSpPr>
          <p:cNvPr id="25" name="Rectangle 24">
            <a:extLst>
              <a:ext uri="{FF2B5EF4-FFF2-40B4-BE49-F238E27FC236}">
                <a16:creationId xmlns:a16="http://schemas.microsoft.com/office/drawing/2014/main" id="{68FC1294-8A76-AA0E-A339-6C1EB32BC7D8}"/>
              </a:ext>
            </a:extLst>
          </p:cNvPr>
          <p:cNvSpPr/>
          <p:nvPr/>
        </p:nvSpPr>
        <p:spPr bwMode="auto">
          <a:xfrm>
            <a:off x="76205" y="4036373"/>
            <a:ext cx="8991595" cy="1147833"/>
          </a:xfrm>
          <a:prstGeom prst="rect">
            <a:avLst/>
          </a:prstGeom>
          <a:noFill/>
          <a:ln w="38100" cap="flat" cmpd="sng" algn="ctr">
            <a:solidFill>
              <a:srgbClr val="00677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1000" b="0" i="0" u="none" strike="noStrike" cap="none" normalizeH="0" baseline="0">
              <a:ln>
                <a:noFill/>
              </a:ln>
              <a:solidFill>
                <a:schemeClr val="tx1"/>
              </a:solidFill>
              <a:effectLst/>
              <a:latin typeface="+mj-lt"/>
              <a:ea typeface="ＭＳ Ｐゴシック" pitchFamily="1" charset="-128"/>
            </a:endParaRPr>
          </a:p>
        </p:txBody>
      </p:sp>
      <p:sp>
        <p:nvSpPr>
          <p:cNvPr id="26" name="TextBox 25">
            <a:extLst>
              <a:ext uri="{FF2B5EF4-FFF2-40B4-BE49-F238E27FC236}">
                <a16:creationId xmlns:a16="http://schemas.microsoft.com/office/drawing/2014/main" id="{7D77D509-883C-FB68-585C-2F079599AADB}"/>
              </a:ext>
            </a:extLst>
          </p:cNvPr>
          <p:cNvSpPr txBox="1"/>
          <p:nvPr/>
        </p:nvSpPr>
        <p:spPr>
          <a:xfrm>
            <a:off x="6999731" y="4142719"/>
            <a:ext cx="2158336" cy="523220"/>
          </a:xfrm>
          <a:prstGeom prst="rect">
            <a:avLst/>
          </a:prstGeom>
          <a:noFill/>
        </p:spPr>
        <p:txBody>
          <a:bodyPr wrap="square" rtlCol="0">
            <a:spAutoFit/>
          </a:bodyPr>
          <a:lstStyle/>
          <a:p>
            <a:pPr algn="ctr"/>
            <a:r>
              <a:rPr lang="en-ZA" sz="1400" dirty="0">
                <a:latin typeface="+mj-lt"/>
              </a:rPr>
              <a:t>Value of each deposit</a:t>
            </a:r>
          </a:p>
          <a:p>
            <a:pPr algn="ctr"/>
            <a:r>
              <a:rPr lang="en-ZA" sz="1400" dirty="0">
                <a:latin typeface="+mj-lt"/>
              </a:rPr>
              <a:t>at end of year 5</a:t>
            </a:r>
            <a:endParaRPr lang="en-ZA" sz="1400" baseline="30000" dirty="0">
              <a:latin typeface="+mj-lt"/>
            </a:endParaRPr>
          </a:p>
        </p:txBody>
      </p:sp>
      <p:cxnSp>
        <p:nvCxnSpPr>
          <p:cNvPr id="27" name="Straight Connector 26">
            <a:extLst>
              <a:ext uri="{FF2B5EF4-FFF2-40B4-BE49-F238E27FC236}">
                <a16:creationId xmlns:a16="http://schemas.microsoft.com/office/drawing/2014/main" id="{E8126F9F-5A13-A1E6-A765-AA4C8FDD1119}"/>
              </a:ext>
            </a:extLst>
          </p:cNvPr>
          <p:cNvCxnSpPr>
            <a:cxnSpLocks/>
          </p:cNvCxnSpPr>
          <p:nvPr/>
        </p:nvCxnSpPr>
        <p:spPr bwMode="auto">
          <a:xfrm>
            <a:off x="6594033" y="451353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7454055D-293B-6C69-D512-FA4F2637C7F7}"/>
              </a:ext>
            </a:extLst>
          </p:cNvPr>
          <p:cNvCxnSpPr>
            <a:cxnSpLocks/>
          </p:cNvCxnSpPr>
          <p:nvPr/>
        </p:nvCxnSpPr>
        <p:spPr bwMode="auto">
          <a:xfrm>
            <a:off x="5417201" y="4513539"/>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3866344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9775165-1FC8-3E29-A7F5-4B93D4D6D45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B3381A0-C85F-FB4F-E8A9-1D05E9D88E16}"/>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FE104E8C-2F0D-BA45-EA5D-DC08C82AC71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30</a:t>
            </a:fld>
            <a:endParaRPr lang="en-US">
              <a:solidFill>
                <a:schemeClr val="tx1"/>
              </a:solidFill>
            </a:endParaRPr>
          </a:p>
        </p:txBody>
      </p:sp>
      <p:sp>
        <p:nvSpPr>
          <p:cNvPr id="4" name="Rectangle 5">
            <a:extLst>
              <a:ext uri="{FF2B5EF4-FFF2-40B4-BE49-F238E27FC236}">
                <a16:creationId xmlns:a16="http://schemas.microsoft.com/office/drawing/2014/main" id="{4A567317-EEF2-2B94-FD49-AC4237842931}"/>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200" dirty="0">
                <a:latin typeface="+mj-lt"/>
              </a:rPr>
              <a:t>Loan </a:t>
            </a:r>
            <a:r>
              <a:rPr lang="en-US" sz="2200" dirty="0" err="1">
                <a:latin typeface="+mj-lt"/>
              </a:rPr>
              <a:t>amortisation</a:t>
            </a:r>
            <a:endParaRPr lang="en-US" sz="2200" dirty="0">
              <a:latin typeface="+mj-lt"/>
            </a:endParaRPr>
          </a:p>
          <a:p>
            <a:pPr marL="717550">
              <a:lnSpc>
                <a:spcPct val="105000"/>
              </a:lnSpc>
              <a:buSzPct val="100000"/>
              <a:buFont typeface="Wingdings" panose="05000000000000000000" pitchFamily="2" charset="2"/>
              <a:buChar char="§"/>
            </a:pPr>
            <a:r>
              <a:rPr lang="en-US" sz="2200" dirty="0">
                <a:latin typeface="+mj-lt"/>
              </a:rPr>
              <a:t>Determining equal annual loan payments to provide lender with specified interest return and repay loan principal over specified period</a:t>
            </a:r>
          </a:p>
          <a:p>
            <a:pPr marL="358775">
              <a:lnSpc>
                <a:spcPct val="105000"/>
              </a:lnSpc>
              <a:buSzPct val="100000"/>
              <a:buFont typeface="Arial" panose="020B0604020202020204" pitchFamily="34" charset="0"/>
              <a:buChar char="•"/>
            </a:pPr>
            <a:r>
              <a:rPr lang="en-US" sz="2200" dirty="0">
                <a:latin typeface="+mj-lt"/>
              </a:rPr>
              <a:t>Example: The firm borrows R6 000 000 at 14% and agree to make equal annual payments over 10 years. Calculate the annual payment amount. How much is paid off each year in terms of principal and how much of payment is interest?</a:t>
            </a:r>
          </a:p>
          <a:p>
            <a:pPr marL="358775">
              <a:lnSpc>
                <a:spcPct val="105000"/>
              </a:lnSpc>
              <a:buSzPct val="100000"/>
              <a:buFont typeface="Arial" panose="020B0604020202020204" pitchFamily="34" charset="0"/>
              <a:buChar char="•"/>
            </a:pPr>
            <a:endParaRPr lang="en-US" sz="2200" dirty="0">
              <a:latin typeface="+mj-lt"/>
            </a:endParaRPr>
          </a:p>
          <a:p>
            <a:pPr marL="15875" indent="0">
              <a:lnSpc>
                <a:spcPct val="105000"/>
              </a:lnSpc>
              <a:buSzPct val="100000"/>
              <a:buNone/>
            </a:pPr>
            <a:endParaRPr lang="en-US" sz="2200" dirty="0">
              <a:latin typeface="+mj-lt"/>
            </a:endParaRPr>
          </a:p>
          <a:p>
            <a:pPr>
              <a:lnSpc>
                <a:spcPct val="105000"/>
              </a:lnSpc>
              <a:buSzPct val="100000"/>
              <a:buFont typeface="Arial" panose="020B0604020202020204" pitchFamily="34" charset="0"/>
              <a:buChar char="•"/>
            </a:pPr>
            <a:endParaRPr lang="en-US" sz="2200" dirty="0">
              <a:latin typeface="+mj-lt"/>
            </a:endParaRPr>
          </a:p>
        </p:txBody>
      </p:sp>
      <p:sp>
        <p:nvSpPr>
          <p:cNvPr id="38" name="Rectangle 37">
            <a:extLst>
              <a:ext uri="{FF2B5EF4-FFF2-40B4-BE49-F238E27FC236}">
                <a16:creationId xmlns:a16="http://schemas.microsoft.com/office/drawing/2014/main" id="{BBC0B4AA-0BCC-9AF4-20BF-4B065C58806E}"/>
              </a:ext>
            </a:extLst>
          </p:cNvPr>
          <p:cNvSpPr/>
          <p:nvPr/>
        </p:nvSpPr>
        <p:spPr bwMode="auto">
          <a:xfrm>
            <a:off x="1718924" y="58317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39" name="Rectangle 38">
            <a:extLst>
              <a:ext uri="{FF2B5EF4-FFF2-40B4-BE49-F238E27FC236}">
                <a16:creationId xmlns:a16="http://schemas.microsoft.com/office/drawing/2014/main" id="{742523A7-5FF9-D4B9-9A2E-7D56470C3D38}"/>
              </a:ext>
            </a:extLst>
          </p:cNvPr>
          <p:cNvSpPr/>
          <p:nvPr/>
        </p:nvSpPr>
        <p:spPr bwMode="auto">
          <a:xfrm>
            <a:off x="3165508" y="58317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40" name="Rectangle 39">
            <a:extLst>
              <a:ext uri="{FF2B5EF4-FFF2-40B4-BE49-F238E27FC236}">
                <a16:creationId xmlns:a16="http://schemas.microsoft.com/office/drawing/2014/main" id="{3992E7DF-329E-36D0-9151-27000105A82F}"/>
              </a:ext>
            </a:extLst>
          </p:cNvPr>
          <p:cNvSpPr/>
          <p:nvPr/>
        </p:nvSpPr>
        <p:spPr bwMode="auto">
          <a:xfrm>
            <a:off x="4537108" y="58317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41" name="Rectangle 40">
            <a:extLst>
              <a:ext uri="{FF2B5EF4-FFF2-40B4-BE49-F238E27FC236}">
                <a16:creationId xmlns:a16="http://schemas.microsoft.com/office/drawing/2014/main" id="{EF6E58D1-C6AB-246D-21DE-3BBEB8FBE58B}"/>
              </a:ext>
            </a:extLst>
          </p:cNvPr>
          <p:cNvSpPr/>
          <p:nvPr/>
        </p:nvSpPr>
        <p:spPr bwMode="auto">
          <a:xfrm>
            <a:off x="5908708" y="58317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42" name="Rectangle 41">
            <a:extLst>
              <a:ext uri="{FF2B5EF4-FFF2-40B4-BE49-F238E27FC236}">
                <a16:creationId xmlns:a16="http://schemas.microsoft.com/office/drawing/2014/main" id="{73E7FF34-22B7-273D-9B60-CA16AA5E73F9}"/>
              </a:ext>
            </a:extLst>
          </p:cNvPr>
          <p:cNvSpPr/>
          <p:nvPr/>
        </p:nvSpPr>
        <p:spPr bwMode="auto">
          <a:xfrm>
            <a:off x="7280308" y="5831736"/>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43" name="TextBox 42">
            <a:extLst>
              <a:ext uri="{FF2B5EF4-FFF2-40B4-BE49-F238E27FC236}">
                <a16:creationId xmlns:a16="http://schemas.microsoft.com/office/drawing/2014/main" id="{17C0E147-717B-017F-3E9C-2B8A656215E8}"/>
              </a:ext>
            </a:extLst>
          </p:cNvPr>
          <p:cNvSpPr txBox="1"/>
          <p:nvPr/>
        </p:nvSpPr>
        <p:spPr>
          <a:xfrm>
            <a:off x="495295" y="5486400"/>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Inputs:	 10	    14	±600 000	      ?                       0          </a:t>
            </a:r>
          </a:p>
        </p:txBody>
      </p:sp>
      <p:sp>
        <p:nvSpPr>
          <p:cNvPr id="44" name="TextBox 43">
            <a:extLst>
              <a:ext uri="{FF2B5EF4-FFF2-40B4-BE49-F238E27FC236}">
                <a16:creationId xmlns:a16="http://schemas.microsoft.com/office/drawing/2014/main" id="{EF203FB1-AD63-3742-A132-010A697663CC}"/>
              </a:ext>
            </a:extLst>
          </p:cNvPr>
          <p:cNvSpPr txBox="1"/>
          <p:nvPr/>
        </p:nvSpPr>
        <p:spPr>
          <a:xfrm>
            <a:off x="469590" y="6403777"/>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 1 150 281.25</a:t>
            </a:r>
          </a:p>
        </p:txBody>
      </p:sp>
      <p:cxnSp>
        <p:nvCxnSpPr>
          <p:cNvPr id="45" name="Straight Connector 44">
            <a:extLst>
              <a:ext uri="{FF2B5EF4-FFF2-40B4-BE49-F238E27FC236}">
                <a16:creationId xmlns:a16="http://schemas.microsoft.com/office/drawing/2014/main" id="{B8B39EA3-5AF7-EB26-6438-5863D6E6CEDC}"/>
              </a:ext>
            </a:extLst>
          </p:cNvPr>
          <p:cNvCxnSpPr>
            <a:cxnSpLocks/>
          </p:cNvCxnSpPr>
          <p:nvPr/>
        </p:nvCxnSpPr>
        <p:spPr bwMode="auto">
          <a:xfrm>
            <a:off x="348900" y="4810196"/>
            <a:ext cx="6264000"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352D299C-B191-E27E-D837-FC5BD6233A35}"/>
              </a:ext>
            </a:extLst>
          </p:cNvPr>
          <p:cNvCxnSpPr>
            <a:cxnSpLocks/>
          </p:cNvCxnSpPr>
          <p:nvPr/>
        </p:nvCxnSpPr>
        <p:spPr bwMode="auto">
          <a:xfrm>
            <a:off x="348901" y="465779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2874AFC7-3FB9-C5B9-1947-17B909DB2B8B}"/>
              </a:ext>
            </a:extLst>
          </p:cNvPr>
          <p:cNvCxnSpPr>
            <a:cxnSpLocks/>
          </p:cNvCxnSpPr>
          <p:nvPr/>
        </p:nvCxnSpPr>
        <p:spPr bwMode="auto">
          <a:xfrm>
            <a:off x="2934426" y="466735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FF1464D8-CCB8-6E71-1A26-43C865C32651}"/>
              </a:ext>
            </a:extLst>
          </p:cNvPr>
          <p:cNvCxnSpPr>
            <a:cxnSpLocks/>
          </p:cNvCxnSpPr>
          <p:nvPr/>
        </p:nvCxnSpPr>
        <p:spPr bwMode="auto">
          <a:xfrm>
            <a:off x="1639026" y="465779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B4C3C8E1-C888-7BA3-AEF1-7B172C42C06B}"/>
              </a:ext>
            </a:extLst>
          </p:cNvPr>
          <p:cNvCxnSpPr>
            <a:cxnSpLocks/>
          </p:cNvCxnSpPr>
          <p:nvPr/>
        </p:nvCxnSpPr>
        <p:spPr bwMode="auto">
          <a:xfrm>
            <a:off x="4229826" y="466735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50" name="TextBox 49">
            <a:extLst>
              <a:ext uri="{FF2B5EF4-FFF2-40B4-BE49-F238E27FC236}">
                <a16:creationId xmlns:a16="http://schemas.microsoft.com/office/drawing/2014/main" id="{A8BB55AC-03A8-0D87-91C6-B25BB2B939B3}"/>
              </a:ext>
            </a:extLst>
          </p:cNvPr>
          <p:cNvSpPr txBox="1"/>
          <p:nvPr/>
        </p:nvSpPr>
        <p:spPr>
          <a:xfrm>
            <a:off x="381000" y="4267200"/>
            <a:ext cx="8534400" cy="307777"/>
          </a:xfrm>
          <a:prstGeom prst="rect">
            <a:avLst/>
          </a:prstGeom>
          <a:noFill/>
        </p:spPr>
        <p:txBody>
          <a:bodyPr wrap="square" rtlCol="0">
            <a:spAutoFit/>
          </a:bodyPr>
          <a:lstStyle/>
          <a:p>
            <a:r>
              <a:rPr lang="en-ZA" sz="1400" dirty="0">
                <a:latin typeface="+mj-lt"/>
              </a:rPr>
              <a:t> 0       1         2         3          4          5          6          7         8        9        10</a:t>
            </a:r>
          </a:p>
        </p:txBody>
      </p:sp>
      <p:sp>
        <p:nvSpPr>
          <p:cNvPr id="51" name="TextBox 50">
            <a:extLst>
              <a:ext uri="{FF2B5EF4-FFF2-40B4-BE49-F238E27FC236}">
                <a16:creationId xmlns:a16="http://schemas.microsoft.com/office/drawing/2014/main" id="{E3606726-55CB-9DA7-B978-5903541D9530}"/>
              </a:ext>
            </a:extLst>
          </p:cNvPr>
          <p:cNvSpPr txBox="1"/>
          <p:nvPr/>
        </p:nvSpPr>
        <p:spPr>
          <a:xfrm>
            <a:off x="838200" y="5023428"/>
            <a:ext cx="8045823" cy="307777"/>
          </a:xfrm>
          <a:prstGeom prst="rect">
            <a:avLst/>
          </a:prstGeom>
          <a:noFill/>
        </p:spPr>
        <p:txBody>
          <a:bodyPr wrap="square" rtlCol="0">
            <a:spAutoFit/>
          </a:bodyPr>
          <a:lstStyle/>
          <a:p>
            <a:r>
              <a:rPr lang="en-ZA" sz="1400" dirty="0">
                <a:latin typeface="+mj-lt"/>
              </a:rPr>
              <a:t>?           ?	       ? 	   ?          ?          ? 	     ?         ?         ? 	    ?  = R6 000 000 + interest</a:t>
            </a:r>
            <a:endParaRPr lang="en-ZA" sz="1400" baseline="-25000" dirty="0">
              <a:latin typeface="+mj-lt"/>
            </a:endParaRPr>
          </a:p>
        </p:txBody>
      </p:sp>
      <p:cxnSp>
        <p:nvCxnSpPr>
          <p:cNvPr id="52" name="Straight Connector 51">
            <a:extLst>
              <a:ext uri="{FF2B5EF4-FFF2-40B4-BE49-F238E27FC236}">
                <a16:creationId xmlns:a16="http://schemas.microsoft.com/office/drawing/2014/main" id="{E377E5E5-4F90-5D18-B3BD-D06EC24434AD}"/>
              </a:ext>
            </a:extLst>
          </p:cNvPr>
          <p:cNvCxnSpPr>
            <a:cxnSpLocks/>
          </p:cNvCxnSpPr>
          <p:nvPr/>
        </p:nvCxnSpPr>
        <p:spPr bwMode="auto">
          <a:xfrm>
            <a:off x="6632128" y="465460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3" name="Straight Connector 52">
            <a:extLst>
              <a:ext uri="{FF2B5EF4-FFF2-40B4-BE49-F238E27FC236}">
                <a16:creationId xmlns:a16="http://schemas.microsoft.com/office/drawing/2014/main" id="{49CD2984-F6EE-BEB4-C298-4059BE4B6770}"/>
              </a:ext>
            </a:extLst>
          </p:cNvPr>
          <p:cNvCxnSpPr>
            <a:cxnSpLocks/>
          </p:cNvCxnSpPr>
          <p:nvPr/>
        </p:nvCxnSpPr>
        <p:spPr bwMode="auto">
          <a:xfrm>
            <a:off x="5455296" y="465460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4" name="Straight Connector 53">
            <a:extLst>
              <a:ext uri="{FF2B5EF4-FFF2-40B4-BE49-F238E27FC236}">
                <a16:creationId xmlns:a16="http://schemas.microsoft.com/office/drawing/2014/main" id="{1A40AE98-DF9E-C297-D517-A1D657FFFF93}"/>
              </a:ext>
            </a:extLst>
          </p:cNvPr>
          <p:cNvCxnSpPr>
            <a:cxnSpLocks/>
          </p:cNvCxnSpPr>
          <p:nvPr/>
        </p:nvCxnSpPr>
        <p:spPr bwMode="auto">
          <a:xfrm>
            <a:off x="990600" y="466735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5" name="Straight Connector 54">
            <a:extLst>
              <a:ext uri="{FF2B5EF4-FFF2-40B4-BE49-F238E27FC236}">
                <a16:creationId xmlns:a16="http://schemas.microsoft.com/office/drawing/2014/main" id="{31E9C639-9F2A-CF56-7DA6-D0B6F5A7A571}"/>
              </a:ext>
            </a:extLst>
          </p:cNvPr>
          <p:cNvCxnSpPr>
            <a:cxnSpLocks/>
          </p:cNvCxnSpPr>
          <p:nvPr/>
        </p:nvCxnSpPr>
        <p:spPr bwMode="auto">
          <a:xfrm>
            <a:off x="2286000" y="4667350"/>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7BD1778E-F07F-43DA-C6BF-0DE44CFAFD74}"/>
              </a:ext>
            </a:extLst>
          </p:cNvPr>
          <p:cNvCxnSpPr>
            <a:cxnSpLocks/>
          </p:cNvCxnSpPr>
          <p:nvPr/>
        </p:nvCxnSpPr>
        <p:spPr bwMode="auto">
          <a:xfrm>
            <a:off x="4876800" y="464604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E0E05CCB-F9DB-DC48-FBB0-87DD1AF87395}"/>
              </a:ext>
            </a:extLst>
          </p:cNvPr>
          <p:cNvCxnSpPr>
            <a:cxnSpLocks/>
          </p:cNvCxnSpPr>
          <p:nvPr/>
        </p:nvCxnSpPr>
        <p:spPr bwMode="auto">
          <a:xfrm>
            <a:off x="6019800" y="4646044"/>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8" name="Straight Connector 57">
            <a:extLst>
              <a:ext uri="{FF2B5EF4-FFF2-40B4-BE49-F238E27FC236}">
                <a16:creationId xmlns:a16="http://schemas.microsoft.com/office/drawing/2014/main" id="{6B5F9C50-9358-A9AC-3B2F-1148CCA5A247}"/>
              </a:ext>
            </a:extLst>
          </p:cNvPr>
          <p:cNvCxnSpPr>
            <a:cxnSpLocks/>
          </p:cNvCxnSpPr>
          <p:nvPr/>
        </p:nvCxnSpPr>
        <p:spPr bwMode="auto">
          <a:xfrm>
            <a:off x="3581400" y="4657796"/>
            <a:ext cx="0" cy="30480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3851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C4FF57-FFA0-35E5-4598-4BF56CCD6C7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08AD85C-C9C1-E2B5-2BA5-C49A451255F0}"/>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35E348C1-9880-4727-0018-D0E984D46CD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31</a:t>
            </a:fld>
            <a:endParaRPr lang="en-US">
              <a:solidFill>
                <a:schemeClr val="tx1"/>
              </a:solidFill>
            </a:endParaRPr>
          </a:p>
        </p:txBody>
      </p:sp>
      <p:sp>
        <p:nvSpPr>
          <p:cNvPr id="4" name="Rectangle 5">
            <a:extLst>
              <a:ext uri="{FF2B5EF4-FFF2-40B4-BE49-F238E27FC236}">
                <a16:creationId xmlns:a16="http://schemas.microsoft.com/office/drawing/2014/main" id="{0B1B4E32-A7D4-3421-FCCA-1DB6A286899E}"/>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BUT R1 150 281.25 includes part principal and part interest payment – what is split?</a:t>
            </a:r>
          </a:p>
        </p:txBody>
      </p:sp>
      <p:graphicFrame>
        <p:nvGraphicFramePr>
          <p:cNvPr id="2" name="Table 1">
            <a:extLst>
              <a:ext uri="{FF2B5EF4-FFF2-40B4-BE49-F238E27FC236}">
                <a16:creationId xmlns:a16="http://schemas.microsoft.com/office/drawing/2014/main" id="{EDFFF4B4-397D-7EB0-2426-0029EB2840C8}"/>
              </a:ext>
            </a:extLst>
          </p:cNvPr>
          <p:cNvGraphicFramePr>
            <a:graphicFrameLocks noGrp="1"/>
          </p:cNvGraphicFramePr>
          <p:nvPr>
            <p:extLst>
              <p:ext uri="{D42A27DB-BD31-4B8C-83A1-F6EECF244321}">
                <p14:modId xmlns:p14="http://schemas.microsoft.com/office/powerpoint/2010/main" val="2548785841"/>
              </p:ext>
            </p:extLst>
          </p:nvPr>
        </p:nvGraphicFramePr>
        <p:xfrm>
          <a:off x="152400" y="2133600"/>
          <a:ext cx="8856000" cy="464563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90807742"/>
                    </a:ext>
                  </a:extLst>
                </a:gridCol>
                <a:gridCol w="1600200">
                  <a:extLst>
                    <a:ext uri="{9D8B030D-6E8A-4147-A177-3AD203B41FA5}">
                      <a16:colId xmlns:a16="http://schemas.microsoft.com/office/drawing/2014/main" val="4082109062"/>
                    </a:ext>
                  </a:extLst>
                </a:gridCol>
                <a:gridCol w="1676400">
                  <a:extLst>
                    <a:ext uri="{9D8B030D-6E8A-4147-A177-3AD203B41FA5}">
                      <a16:colId xmlns:a16="http://schemas.microsoft.com/office/drawing/2014/main" val="1081391264"/>
                    </a:ext>
                  </a:extLst>
                </a:gridCol>
                <a:gridCol w="1676400">
                  <a:extLst>
                    <a:ext uri="{9D8B030D-6E8A-4147-A177-3AD203B41FA5}">
                      <a16:colId xmlns:a16="http://schemas.microsoft.com/office/drawing/2014/main" val="308858449"/>
                    </a:ext>
                  </a:extLst>
                </a:gridCol>
                <a:gridCol w="1665000">
                  <a:extLst>
                    <a:ext uri="{9D8B030D-6E8A-4147-A177-3AD203B41FA5}">
                      <a16:colId xmlns:a16="http://schemas.microsoft.com/office/drawing/2014/main" val="1999938256"/>
                    </a:ext>
                  </a:extLst>
                </a:gridCol>
                <a:gridCol w="1476000">
                  <a:extLst>
                    <a:ext uri="{9D8B030D-6E8A-4147-A177-3AD203B41FA5}">
                      <a16:colId xmlns:a16="http://schemas.microsoft.com/office/drawing/2014/main" val="3405863646"/>
                    </a:ext>
                  </a:extLst>
                </a:gridCol>
              </a:tblGrid>
              <a:tr h="907245">
                <a:tc>
                  <a:txBody>
                    <a:bodyPr/>
                    <a:lstStyle/>
                    <a:p>
                      <a:pPr algn="ctr"/>
                      <a:r>
                        <a:rPr lang="en-US" sz="1400" dirty="0">
                          <a:latin typeface="+mj-lt"/>
                        </a:rPr>
                        <a:t>End of year</a:t>
                      </a:r>
                    </a:p>
                    <a:p>
                      <a:pPr algn="ctr"/>
                      <a:endParaRPr lang="en-US" sz="1400" dirty="0">
                        <a:latin typeface="+mj-lt"/>
                      </a:endParaRPr>
                    </a:p>
                    <a:p>
                      <a:pPr algn="ctr"/>
                      <a:endParaRPr lang="en-ZA" sz="1400" dirty="0">
                        <a:latin typeface="+mj-lt"/>
                      </a:endParaRPr>
                    </a:p>
                  </a:txBody>
                  <a:tcPr anchor="ctr"/>
                </a:tc>
                <a:tc>
                  <a:txBody>
                    <a:bodyPr/>
                    <a:lstStyle/>
                    <a:p>
                      <a:pPr algn="ctr"/>
                      <a:r>
                        <a:rPr lang="en-US" sz="1400" dirty="0">
                          <a:latin typeface="+mj-lt"/>
                        </a:rPr>
                        <a:t>Loan payment (principal + interest)</a:t>
                      </a:r>
                    </a:p>
                    <a:p>
                      <a:pPr algn="ctr"/>
                      <a:r>
                        <a:rPr lang="en-US" sz="1400" dirty="0">
                          <a:latin typeface="+mj-lt"/>
                        </a:rPr>
                        <a:t>(</a:t>
                      </a:r>
                      <a:r>
                        <a:rPr lang="en-ZA" sz="1400" dirty="0">
                          <a:latin typeface="+mj-lt"/>
                        </a:rPr>
                        <a:t>1)</a:t>
                      </a:r>
                    </a:p>
                  </a:txBody>
                  <a:tcPr anchor="ctr"/>
                </a:tc>
                <a:tc>
                  <a:txBody>
                    <a:bodyPr/>
                    <a:lstStyle/>
                    <a:p>
                      <a:pPr algn="ctr"/>
                      <a:r>
                        <a:rPr lang="en-US" sz="1400" dirty="0">
                          <a:latin typeface="+mj-lt"/>
                        </a:rPr>
                        <a:t>Beginning of year principal</a:t>
                      </a:r>
                    </a:p>
                    <a:p>
                      <a:pPr algn="ctr"/>
                      <a:endParaRPr lang="en-US" sz="1400" dirty="0">
                        <a:latin typeface="+mj-lt"/>
                      </a:endParaRPr>
                    </a:p>
                    <a:p>
                      <a:pPr algn="ctr"/>
                      <a:r>
                        <a:rPr lang="en-US" sz="1400" dirty="0">
                          <a:latin typeface="+mj-lt"/>
                        </a:rPr>
                        <a:t>(2)</a:t>
                      </a:r>
                      <a:endParaRPr lang="en-ZA" sz="1400" dirty="0">
                        <a:latin typeface="+mj-lt"/>
                      </a:endParaRPr>
                    </a:p>
                  </a:txBody>
                  <a:tcPr anchor="ctr"/>
                </a:tc>
                <a:tc>
                  <a:txBody>
                    <a:bodyPr/>
                    <a:lstStyle/>
                    <a:p>
                      <a:pPr algn="ctr"/>
                      <a:r>
                        <a:rPr lang="en-US" sz="1400" dirty="0">
                          <a:latin typeface="+mj-lt"/>
                        </a:rPr>
                        <a:t>Interest payment</a:t>
                      </a:r>
                    </a:p>
                    <a:p>
                      <a:pPr algn="ctr"/>
                      <a:endParaRPr lang="en-US" sz="1400" dirty="0">
                        <a:latin typeface="+mj-lt"/>
                      </a:endParaRPr>
                    </a:p>
                    <a:p>
                      <a:pPr algn="ctr"/>
                      <a:r>
                        <a:rPr lang="en-US" sz="1400" dirty="0">
                          <a:latin typeface="+mj-lt"/>
                        </a:rPr>
                        <a:t>14% x (2) = (3)</a:t>
                      </a:r>
                      <a:endParaRPr lang="en-ZA" sz="1400" dirty="0">
                        <a:latin typeface="+mj-lt"/>
                      </a:endParaRPr>
                    </a:p>
                  </a:txBody>
                  <a:tcPr anchor="ctr"/>
                </a:tc>
                <a:tc>
                  <a:txBody>
                    <a:bodyPr/>
                    <a:lstStyle/>
                    <a:p>
                      <a:pPr algn="ctr"/>
                      <a:r>
                        <a:rPr lang="en-US" sz="1400" dirty="0">
                          <a:latin typeface="+mj-lt"/>
                        </a:rPr>
                        <a:t>Principal payment </a:t>
                      </a:r>
                    </a:p>
                    <a:p>
                      <a:pPr algn="ctr"/>
                      <a:endParaRPr lang="en-US" sz="1400" dirty="0">
                        <a:latin typeface="+mj-lt"/>
                      </a:endParaRPr>
                    </a:p>
                    <a:p>
                      <a:pPr algn="ctr"/>
                      <a:r>
                        <a:rPr lang="en-US" sz="1400" dirty="0">
                          <a:latin typeface="+mj-lt"/>
                        </a:rPr>
                        <a:t>(1) – (3) = (4)</a:t>
                      </a:r>
                      <a:endParaRPr lang="en-ZA" sz="1400" dirty="0">
                        <a:latin typeface="+mj-lt"/>
                      </a:endParaRPr>
                    </a:p>
                  </a:txBody>
                  <a:tcPr anchor="ctr"/>
                </a:tc>
                <a:tc>
                  <a:txBody>
                    <a:bodyPr/>
                    <a:lstStyle/>
                    <a:p>
                      <a:pPr algn="ctr"/>
                      <a:r>
                        <a:rPr lang="en-US" sz="1400" dirty="0">
                          <a:latin typeface="+mj-lt"/>
                        </a:rPr>
                        <a:t>End of year principal</a:t>
                      </a:r>
                    </a:p>
                    <a:p>
                      <a:pPr algn="ctr"/>
                      <a:endParaRPr lang="en-US" sz="1400" dirty="0">
                        <a:latin typeface="+mj-lt"/>
                      </a:endParaRPr>
                    </a:p>
                    <a:p>
                      <a:pPr algn="ctr"/>
                      <a:r>
                        <a:rPr lang="en-US" sz="1400" dirty="0">
                          <a:latin typeface="+mj-lt"/>
                        </a:rPr>
                        <a:t>(2) – (4)</a:t>
                      </a:r>
                      <a:endParaRPr lang="en-ZA" sz="1400" dirty="0">
                        <a:latin typeface="+mj-lt"/>
                      </a:endParaRPr>
                    </a:p>
                  </a:txBody>
                  <a:tcPr anchor="ctr"/>
                </a:tc>
                <a:extLst>
                  <a:ext uri="{0D108BD9-81ED-4DB2-BD59-A6C34878D82A}">
                    <a16:rowId xmlns:a16="http://schemas.microsoft.com/office/drawing/2014/main" val="3819984559"/>
                  </a:ext>
                </a:extLst>
              </a:tr>
              <a:tr h="370075">
                <a:tc>
                  <a:txBody>
                    <a:bodyPr/>
                    <a:lstStyle/>
                    <a:p>
                      <a:pPr algn="r"/>
                      <a:r>
                        <a:rPr lang="en-US" sz="1400" dirty="0">
                          <a:latin typeface="+mj-lt"/>
                        </a:rPr>
                        <a:t>1</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algn="r"/>
                      <a:r>
                        <a:rPr lang="en-US" sz="1400" dirty="0">
                          <a:latin typeface="+mj-lt"/>
                        </a:rPr>
                        <a:t>R6 000 000.00</a:t>
                      </a:r>
                      <a:endParaRPr lang="en-ZA" sz="1400" dirty="0">
                        <a:latin typeface="+mj-lt"/>
                      </a:endParaRPr>
                    </a:p>
                  </a:txBody>
                  <a:tcPr anchor="ctr"/>
                </a:tc>
                <a:tc>
                  <a:txBody>
                    <a:bodyPr/>
                    <a:lstStyle/>
                    <a:p>
                      <a:pPr algn="r"/>
                      <a:r>
                        <a:rPr lang="en-US" sz="1400" dirty="0">
                          <a:latin typeface="+mj-lt"/>
                        </a:rPr>
                        <a:t>R840 000.00</a:t>
                      </a:r>
                      <a:endParaRPr lang="en-ZA" sz="1400" dirty="0">
                        <a:latin typeface="+mj-lt"/>
                      </a:endParaRPr>
                    </a:p>
                  </a:txBody>
                  <a:tcPr anchor="ctr"/>
                </a:tc>
                <a:tc>
                  <a:txBody>
                    <a:bodyPr/>
                    <a:lstStyle/>
                    <a:p>
                      <a:pPr algn="r"/>
                      <a:r>
                        <a:rPr lang="en-US" sz="1400" dirty="0">
                          <a:latin typeface="+mj-lt"/>
                        </a:rPr>
                        <a:t>R310 281.25</a:t>
                      </a:r>
                      <a:endParaRPr lang="en-ZA" sz="1400" dirty="0">
                        <a:latin typeface="+mj-lt"/>
                      </a:endParaRPr>
                    </a:p>
                  </a:txBody>
                  <a:tcPr anchor="ctr"/>
                </a:tc>
                <a:tc>
                  <a:txBody>
                    <a:bodyPr/>
                    <a:lstStyle/>
                    <a:p>
                      <a:pPr algn="r"/>
                      <a:r>
                        <a:rPr lang="en-US" sz="1400" dirty="0">
                          <a:solidFill>
                            <a:srgbClr val="C00000"/>
                          </a:solidFill>
                          <a:latin typeface="+mj-lt"/>
                        </a:rPr>
                        <a:t>R5 689 718.75</a:t>
                      </a:r>
                      <a:endParaRPr lang="en-ZA" sz="1400" dirty="0">
                        <a:solidFill>
                          <a:srgbClr val="C00000"/>
                        </a:solidFill>
                        <a:latin typeface="+mj-lt"/>
                      </a:endParaRPr>
                    </a:p>
                  </a:txBody>
                  <a:tcPr anchor="ctr"/>
                </a:tc>
                <a:extLst>
                  <a:ext uri="{0D108BD9-81ED-4DB2-BD59-A6C34878D82A}">
                    <a16:rowId xmlns:a16="http://schemas.microsoft.com/office/drawing/2014/main" val="1224707789"/>
                  </a:ext>
                </a:extLst>
              </a:tr>
              <a:tr h="370075">
                <a:tc>
                  <a:txBody>
                    <a:bodyPr/>
                    <a:lstStyle/>
                    <a:p>
                      <a:pPr algn="r"/>
                      <a:r>
                        <a:rPr lang="en-US" sz="1400" dirty="0">
                          <a:latin typeface="+mj-lt"/>
                        </a:rPr>
                        <a:t>2</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kern="1200" dirty="0">
                          <a:solidFill>
                            <a:srgbClr val="C00000"/>
                          </a:solidFill>
                          <a:latin typeface="+mn-lt"/>
                          <a:ea typeface="+mn-ea"/>
                          <a:cs typeface="+mn-cs"/>
                        </a:rPr>
                        <a:t>R5 689 718.75</a:t>
                      </a:r>
                      <a:endParaRPr lang="en-ZA" sz="1400" kern="1200" dirty="0">
                        <a:solidFill>
                          <a:srgbClr val="C00000"/>
                        </a:solidFill>
                        <a:latin typeface="+mn-lt"/>
                        <a:ea typeface="+mn-ea"/>
                        <a:cs typeface="+mn-cs"/>
                      </a:endParaRPr>
                    </a:p>
                  </a:txBody>
                  <a:tcPr anchor="ctr"/>
                </a:tc>
                <a:tc>
                  <a:txBody>
                    <a:bodyPr/>
                    <a:lstStyle/>
                    <a:p>
                      <a:pPr algn="r"/>
                      <a:r>
                        <a:rPr lang="en-US" sz="1400" dirty="0">
                          <a:latin typeface="+mj-lt"/>
                        </a:rPr>
                        <a:t>R796 560.63</a:t>
                      </a:r>
                      <a:endParaRPr lang="en-ZA" sz="1400" dirty="0">
                        <a:latin typeface="+mj-lt"/>
                      </a:endParaRPr>
                    </a:p>
                  </a:txBody>
                  <a:tcPr anchor="ctr"/>
                </a:tc>
                <a:tc>
                  <a:txBody>
                    <a:bodyPr/>
                    <a:lstStyle/>
                    <a:p>
                      <a:pPr algn="r"/>
                      <a:r>
                        <a:rPr lang="en-US" sz="1400" dirty="0">
                          <a:latin typeface="+mj-lt"/>
                        </a:rPr>
                        <a:t>R353 720.63</a:t>
                      </a:r>
                      <a:endParaRPr lang="en-ZA" sz="1400" dirty="0">
                        <a:latin typeface="+mj-lt"/>
                      </a:endParaRPr>
                    </a:p>
                  </a:txBody>
                  <a:tcPr anchor="ctr"/>
                </a:tc>
                <a:tc>
                  <a:txBody>
                    <a:bodyPr/>
                    <a:lstStyle/>
                    <a:p>
                      <a:pPr algn="r"/>
                      <a:r>
                        <a:rPr lang="en-US" sz="1400" dirty="0">
                          <a:solidFill>
                            <a:srgbClr val="009900"/>
                          </a:solidFill>
                          <a:latin typeface="+mj-lt"/>
                        </a:rPr>
                        <a:t>R5 335 998.13</a:t>
                      </a:r>
                      <a:endParaRPr lang="en-ZA" sz="1400" dirty="0">
                        <a:solidFill>
                          <a:srgbClr val="009900"/>
                        </a:solidFill>
                        <a:latin typeface="+mj-lt"/>
                      </a:endParaRPr>
                    </a:p>
                  </a:txBody>
                  <a:tcPr anchor="ctr"/>
                </a:tc>
                <a:extLst>
                  <a:ext uri="{0D108BD9-81ED-4DB2-BD59-A6C34878D82A}">
                    <a16:rowId xmlns:a16="http://schemas.microsoft.com/office/drawing/2014/main" val="1064969599"/>
                  </a:ext>
                </a:extLst>
              </a:tr>
              <a:tr h="370075">
                <a:tc>
                  <a:txBody>
                    <a:bodyPr/>
                    <a:lstStyle/>
                    <a:p>
                      <a:pPr algn="r"/>
                      <a:r>
                        <a:rPr lang="en-US" sz="1400" dirty="0">
                          <a:latin typeface="+mj-lt"/>
                        </a:rPr>
                        <a:t>3</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marL="0" algn="r" defTabSz="914400" rtl="0" eaLnBrk="1" latinLnBrk="0" hangingPunct="1"/>
                      <a:r>
                        <a:rPr lang="en-US" sz="1400" kern="1200" dirty="0">
                          <a:solidFill>
                            <a:srgbClr val="009900"/>
                          </a:solidFill>
                          <a:latin typeface="+mj-lt"/>
                          <a:ea typeface="+mn-ea"/>
                          <a:cs typeface="+mn-cs"/>
                        </a:rPr>
                        <a:t>R5 335 998.13</a:t>
                      </a:r>
                      <a:endParaRPr lang="en-ZA" sz="1400" kern="1200" dirty="0">
                        <a:solidFill>
                          <a:srgbClr val="009900"/>
                        </a:solidFill>
                        <a:latin typeface="+mj-lt"/>
                        <a:ea typeface="+mn-ea"/>
                        <a:cs typeface="+mn-cs"/>
                      </a:endParaRPr>
                    </a:p>
                  </a:txBody>
                  <a:tcPr anchor="ctr"/>
                </a:tc>
                <a:tc>
                  <a:txBody>
                    <a:bodyPr/>
                    <a:lstStyle/>
                    <a:p>
                      <a:pPr algn="r"/>
                      <a:r>
                        <a:rPr lang="en-US" sz="1400" dirty="0">
                          <a:latin typeface="+mj-lt"/>
                        </a:rPr>
                        <a:t>R747 039.74</a:t>
                      </a:r>
                      <a:endParaRPr lang="en-ZA" sz="1400" dirty="0">
                        <a:latin typeface="+mj-lt"/>
                      </a:endParaRPr>
                    </a:p>
                  </a:txBody>
                  <a:tcPr anchor="ctr"/>
                </a:tc>
                <a:tc>
                  <a:txBody>
                    <a:bodyPr/>
                    <a:lstStyle/>
                    <a:p>
                      <a:pPr algn="r"/>
                      <a:r>
                        <a:rPr lang="en-US" sz="1400" dirty="0">
                          <a:latin typeface="+mj-lt"/>
                        </a:rPr>
                        <a:t>R403 241.51</a:t>
                      </a:r>
                      <a:endParaRPr lang="en-ZA" sz="1400" dirty="0">
                        <a:latin typeface="+mj-lt"/>
                      </a:endParaRPr>
                    </a:p>
                  </a:txBody>
                  <a:tcPr anchor="ctr"/>
                </a:tc>
                <a:tc>
                  <a:txBody>
                    <a:bodyPr/>
                    <a:lstStyle/>
                    <a:p>
                      <a:pPr marL="0" algn="r" defTabSz="914400" rtl="0" eaLnBrk="1" latinLnBrk="0" hangingPunct="1"/>
                      <a:r>
                        <a:rPr lang="en-US" sz="1400" kern="1200" dirty="0">
                          <a:solidFill>
                            <a:srgbClr val="7030A0"/>
                          </a:solidFill>
                          <a:latin typeface="+mj-lt"/>
                          <a:ea typeface="+mn-ea"/>
                          <a:cs typeface="+mn-cs"/>
                        </a:rPr>
                        <a:t>R4 932 756.62</a:t>
                      </a:r>
                      <a:endParaRPr lang="en-ZA" sz="1400" kern="1200" dirty="0">
                        <a:solidFill>
                          <a:srgbClr val="7030A0"/>
                        </a:solidFill>
                        <a:latin typeface="+mj-lt"/>
                        <a:ea typeface="+mn-ea"/>
                        <a:cs typeface="+mn-cs"/>
                      </a:endParaRPr>
                    </a:p>
                  </a:txBody>
                  <a:tcPr anchor="ctr"/>
                </a:tc>
                <a:extLst>
                  <a:ext uri="{0D108BD9-81ED-4DB2-BD59-A6C34878D82A}">
                    <a16:rowId xmlns:a16="http://schemas.microsoft.com/office/drawing/2014/main" val="3401318159"/>
                  </a:ext>
                </a:extLst>
              </a:tr>
              <a:tr h="370075">
                <a:tc>
                  <a:txBody>
                    <a:bodyPr/>
                    <a:lstStyle/>
                    <a:p>
                      <a:pPr algn="r"/>
                      <a:r>
                        <a:rPr lang="en-US" sz="1400" dirty="0">
                          <a:latin typeface="+mj-lt"/>
                        </a:rPr>
                        <a:t>4</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algn="r"/>
                      <a:r>
                        <a:rPr lang="en-US" sz="1400" dirty="0">
                          <a:solidFill>
                            <a:srgbClr val="7030A0"/>
                          </a:solidFill>
                          <a:latin typeface="+mj-lt"/>
                        </a:rPr>
                        <a:t>R</a:t>
                      </a:r>
                      <a:r>
                        <a:rPr lang="en-US" sz="1400" kern="1200" dirty="0">
                          <a:solidFill>
                            <a:srgbClr val="7030A0"/>
                          </a:solidFill>
                          <a:latin typeface="+mn-lt"/>
                          <a:ea typeface="+mn-ea"/>
                          <a:cs typeface="+mn-cs"/>
                        </a:rPr>
                        <a:t>4 932 756.62</a:t>
                      </a:r>
                      <a:endParaRPr lang="en-ZA" sz="1400" dirty="0">
                        <a:solidFill>
                          <a:srgbClr val="7030A0"/>
                        </a:solidFill>
                        <a:latin typeface="+mj-lt"/>
                      </a:endParaRPr>
                    </a:p>
                  </a:txBody>
                  <a:tcPr anchor="ctr"/>
                </a:tc>
                <a:tc>
                  <a:txBody>
                    <a:bodyPr/>
                    <a:lstStyle/>
                    <a:p>
                      <a:pPr algn="r"/>
                      <a:r>
                        <a:rPr lang="en-US" sz="1400" dirty="0">
                          <a:latin typeface="+mj-lt"/>
                        </a:rPr>
                        <a:t>R690 585.93</a:t>
                      </a:r>
                      <a:endParaRPr lang="en-ZA" sz="1400" dirty="0">
                        <a:latin typeface="+mj-lt"/>
                      </a:endParaRPr>
                    </a:p>
                  </a:txBody>
                  <a:tcPr anchor="ctr"/>
                </a:tc>
                <a:tc>
                  <a:txBody>
                    <a:bodyPr/>
                    <a:lstStyle/>
                    <a:p>
                      <a:pPr algn="r"/>
                      <a:r>
                        <a:rPr lang="en-US" sz="1400" dirty="0">
                          <a:latin typeface="+mj-lt"/>
                        </a:rPr>
                        <a:t>R459  695.32</a:t>
                      </a:r>
                      <a:endParaRPr lang="en-ZA" sz="1400" dirty="0">
                        <a:latin typeface="+mj-lt"/>
                      </a:endParaRPr>
                    </a:p>
                  </a:txBody>
                  <a:tcPr anchor="ctr"/>
                </a:tc>
                <a:tc>
                  <a:txBody>
                    <a:bodyPr/>
                    <a:lstStyle/>
                    <a:p>
                      <a:pPr algn="r"/>
                      <a:r>
                        <a:rPr lang="en-US" sz="1400" dirty="0">
                          <a:solidFill>
                            <a:schemeClr val="tx2">
                              <a:lumMod val="60000"/>
                              <a:lumOff val="40000"/>
                            </a:schemeClr>
                          </a:solidFill>
                          <a:latin typeface="+mj-lt"/>
                        </a:rPr>
                        <a:t>R4 473 061.30</a:t>
                      </a:r>
                      <a:endParaRPr lang="en-ZA" sz="1400" dirty="0">
                        <a:solidFill>
                          <a:schemeClr val="tx2">
                            <a:lumMod val="60000"/>
                            <a:lumOff val="40000"/>
                          </a:schemeClr>
                        </a:solidFill>
                        <a:latin typeface="+mj-lt"/>
                      </a:endParaRPr>
                    </a:p>
                  </a:txBody>
                  <a:tcPr anchor="ctr"/>
                </a:tc>
                <a:extLst>
                  <a:ext uri="{0D108BD9-81ED-4DB2-BD59-A6C34878D82A}">
                    <a16:rowId xmlns:a16="http://schemas.microsoft.com/office/drawing/2014/main" val="2021594605"/>
                  </a:ext>
                </a:extLst>
              </a:tr>
              <a:tr h="370075">
                <a:tc>
                  <a:txBody>
                    <a:bodyPr/>
                    <a:lstStyle/>
                    <a:p>
                      <a:pPr algn="r"/>
                      <a:r>
                        <a:rPr lang="en-US" sz="1400" dirty="0">
                          <a:latin typeface="+mj-lt"/>
                        </a:rPr>
                        <a:t>5</a:t>
                      </a:r>
                      <a:endParaRPr lang="en-ZA" sz="1400" dirty="0">
                        <a:latin typeface="+mj-lt"/>
                      </a:endParaRPr>
                    </a:p>
                  </a:txBody>
                  <a:tcPr anchor="ctr"/>
                </a:tc>
                <a:tc>
                  <a:txBody>
                    <a:bodyPr/>
                    <a:lstStyle/>
                    <a:p>
                      <a:pPr algn="r"/>
                      <a:r>
                        <a:rPr kumimoji="0" lang="en-US" sz="1400" b="0" i="0" u="none" strike="noStrike" kern="0" cap="none" spc="0" normalizeH="0" baseline="0" noProof="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marL="0" algn="r" defTabSz="914400" rtl="0" eaLnBrk="1" latinLnBrk="0" hangingPunct="1"/>
                      <a:r>
                        <a:rPr lang="en-US" sz="1400" kern="1200" dirty="0">
                          <a:solidFill>
                            <a:schemeClr val="tx2">
                              <a:lumMod val="60000"/>
                              <a:lumOff val="40000"/>
                            </a:schemeClr>
                          </a:solidFill>
                          <a:latin typeface="+mj-lt"/>
                          <a:ea typeface="+mn-ea"/>
                          <a:cs typeface="+mn-cs"/>
                        </a:rPr>
                        <a:t>R4 473 061.30</a:t>
                      </a:r>
                      <a:endParaRPr lang="en-ZA" sz="1400" kern="1200" dirty="0">
                        <a:solidFill>
                          <a:schemeClr val="tx2">
                            <a:lumMod val="60000"/>
                            <a:lumOff val="40000"/>
                          </a:schemeClr>
                        </a:solidFill>
                        <a:latin typeface="+mj-lt"/>
                        <a:ea typeface="+mn-ea"/>
                        <a:cs typeface="+mn-cs"/>
                      </a:endParaRPr>
                    </a:p>
                  </a:txBody>
                  <a:tcPr anchor="ctr"/>
                </a:tc>
                <a:tc>
                  <a:txBody>
                    <a:bodyPr/>
                    <a:lstStyle/>
                    <a:p>
                      <a:pPr algn="r"/>
                      <a:r>
                        <a:rPr lang="en-US" sz="1400" dirty="0">
                          <a:latin typeface="+mj-lt"/>
                        </a:rPr>
                        <a:t>R626 228.58</a:t>
                      </a:r>
                      <a:endParaRPr lang="en-ZA" sz="1400" dirty="0">
                        <a:latin typeface="+mj-lt"/>
                      </a:endParaRPr>
                    </a:p>
                  </a:txBody>
                  <a:tcPr anchor="ctr"/>
                </a:tc>
                <a:tc>
                  <a:txBody>
                    <a:bodyPr/>
                    <a:lstStyle/>
                    <a:p>
                      <a:pPr algn="r"/>
                      <a:r>
                        <a:rPr lang="en-US" sz="1400" dirty="0">
                          <a:latin typeface="+mj-lt"/>
                        </a:rPr>
                        <a:t>R524 052.69</a:t>
                      </a:r>
                      <a:endParaRPr lang="en-ZA" sz="1400" dirty="0">
                        <a:latin typeface="+mj-lt"/>
                      </a:endParaRPr>
                    </a:p>
                  </a:txBody>
                  <a:tcPr anchor="ctr"/>
                </a:tc>
                <a:tc>
                  <a:txBody>
                    <a:bodyPr/>
                    <a:lstStyle/>
                    <a:p>
                      <a:pPr marL="0" algn="r" defTabSz="914400" rtl="0" eaLnBrk="1" latinLnBrk="0" hangingPunct="1"/>
                      <a:r>
                        <a:rPr lang="en-US" sz="1400" kern="1200" dirty="0">
                          <a:solidFill>
                            <a:schemeClr val="accent6">
                              <a:lumMod val="75000"/>
                            </a:schemeClr>
                          </a:solidFill>
                          <a:latin typeface="+mj-lt"/>
                          <a:ea typeface="+mn-ea"/>
                          <a:cs typeface="+mn-cs"/>
                        </a:rPr>
                        <a:t>R3 949 008.63</a:t>
                      </a:r>
                      <a:endParaRPr lang="en-ZA" sz="1400" kern="1200" dirty="0">
                        <a:solidFill>
                          <a:schemeClr val="accent6">
                            <a:lumMod val="75000"/>
                          </a:schemeClr>
                        </a:solidFill>
                        <a:latin typeface="+mj-lt"/>
                        <a:ea typeface="+mn-ea"/>
                        <a:cs typeface="+mn-cs"/>
                      </a:endParaRPr>
                    </a:p>
                  </a:txBody>
                  <a:tcPr anchor="ctr"/>
                </a:tc>
                <a:extLst>
                  <a:ext uri="{0D108BD9-81ED-4DB2-BD59-A6C34878D82A}">
                    <a16:rowId xmlns:a16="http://schemas.microsoft.com/office/drawing/2014/main" val="3020619893"/>
                  </a:ext>
                </a:extLst>
              </a:tr>
              <a:tr h="370075">
                <a:tc>
                  <a:txBody>
                    <a:bodyPr/>
                    <a:lstStyle/>
                    <a:p>
                      <a:pPr algn="r"/>
                      <a:r>
                        <a:rPr lang="en-US" sz="1400" dirty="0">
                          <a:latin typeface="+mj-lt"/>
                        </a:rPr>
                        <a:t>6</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algn="r"/>
                      <a:r>
                        <a:rPr lang="en-US" sz="1400" dirty="0">
                          <a:solidFill>
                            <a:schemeClr val="accent6">
                              <a:lumMod val="75000"/>
                            </a:schemeClr>
                          </a:solidFill>
                          <a:latin typeface="+mj-lt"/>
                        </a:rPr>
                        <a:t>R</a:t>
                      </a:r>
                      <a:r>
                        <a:rPr lang="en-US" sz="1400" kern="1200" dirty="0">
                          <a:solidFill>
                            <a:schemeClr val="accent6">
                              <a:lumMod val="75000"/>
                            </a:schemeClr>
                          </a:solidFill>
                          <a:latin typeface="+mn-lt"/>
                          <a:ea typeface="+mn-ea"/>
                          <a:cs typeface="+mn-cs"/>
                        </a:rPr>
                        <a:t>3 949 008.63</a:t>
                      </a:r>
                      <a:endParaRPr lang="en-ZA" sz="1400" dirty="0">
                        <a:solidFill>
                          <a:schemeClr val="accent6">
                            <a:lumMod val="75000"/>
                          </a:schemeClr>
                        </a:solidFill>
                        <a:latin typeface="+mj-lt"/>
                      </a:endParaRPr>
                    </a:p>
                  </a:txBody>
                  <a:tcPr anchor="ctr"/>
                </a:tc>
                <a:tc>
                  <a:txBody>
                    <a:bodyPr/>
                    <a:lstStyle/>
                    <a:p>
                      <a:pPr algn="r"/>
                      <a:r>
                        <a:rPr lang="en-US" sz="1400" dirty="0">
                          <a:latin typeface="+mj-lt"/>
                        </a:rPr>
                        <a:t>R552 861.21</a:t>
                      </a:r>
                      <a:endParaRPr lang="en-ZA" sz="1400" dirty="0">
                        <a:latin typeface="+mj-lt"/>
                      </a:endParaRPr>
                    </a:p>
                  </a:txBody>
                  <a:tcPr anchor="ctr"/>
                </a:tc>
                <a:tc>
                  <a:txBody>
                    <a:bodyPr/>
                    <a:lstStyle/>
                    <a:p>
                      <a:pPr algn="r"/>
                      <a:r>
                        <a:rPr lang="en-US" sz="1400" dirty="0">
                          <a:latin typeface="+mj-lt"/>
                        </a:rPr>
                        <a:t>R597 420.04</a:t>
                      </a:r>
                      <a:endParaRPr lang="en-ZA" sz="1400" dirty="0">
                        <a:latin typeface="+mj-lt"/>
                      </a:endParaRPr>
                    </a:p>
                  </a:txBody>
                  <a:tcPr anchor="ctr"/>
                </a:tc>
                <a:tc>
                  <a:txBody>
                    <a:bodyPr/>
                    <a:lstStyle/>
                    <a:p>
                      <a:pPr algn="r"/>
                      <a:r>
                        <a:rPr lang="en-US" sz="1400" dirty="0">
                          <a:latin typeface="+mj-lt"/>
                        </a:rPr>
                        <a:t>R3 351 588.59</a:t>
                      </a:r>
                      <a:endParaRPr lang="en-ZA" sz="1400" dirty="0">
                        <a:latin typeface="+mj-lt"/>
                      </a:endParaRPr>
                    </a:p>
                  </a:txBody>
                  <a:tcPr anchor="ctr"/>
                </a:tc>
                <a:extLst>
                  <a:ext uri="{0D108BD9-81ED-4DB2-BD59-A6C34878D82A}">
                    <a16:rowId xmlns:a16="http://schemas.microsoft.com/office/drawing/2014/main" val="1736143866"/>
                  </a:ext>
                </a:extLst>
              </a:tr>
              <a:tr h="370075">
                <a:tc>
                  <a:txBody>
                    <a:bodyPr/>
                    <a:lstStyle/>
                    <a:p>
                      <a:pPr algn="r"/>
                      <a:r>
                        <a:rPr lang="en-US" sz="1400" dirty="0">
                          <a:latin typeface="+mj-lt"/>
                        </a:rPr>
                        <a:t>7</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algn="r"/>
                      <a:r>
                        <a:rPr lang="en-US" sz="1400" dirty="0">
                          <a:latin typeface="+mj-lt"/>
                        </a:rPr>
                        <a:t>R</a:t>
                      </a:r>
                      <a:r>
                        <a:rPr lang="en-US" sz="1400" kern="1200" dirty="0">
                          <a:solidFill>
                            <a:schemeClr val="dk1"/>
                          </a:solidFill>
                          <a:latin typeface="+mn-lt"/>
                          <a:ea typeface="+mn-ea"/>
                          <a:cs typeface="+mn-cs"/>
                        </a:rPr>
                        <a:t>3 351 588.59</a:t>
                      </a:r>
                      <a:endParaRPr lang="en-ZA" sz="1400" dirty="0">
                        <a:latin typeface="+mj-lt"/>
                      </a:endParaRPr>
                    </a:p>
                  </a:txBody>
                  <a:tcPr anchor="ctr"/>
                </a:tc>
                <a:tc>
                  <a:txBody>
                    <a:bodyPr/>
                    <a:lstStyle/>
                    <a:p>
                      <a:pPr algn="r"/>
                      <a:r>
                        <a:rPr lang="en-US" sz="1400" dirty="0">
                          <a:latin typeface="+mj-lt"/>
                        </a:rPr>
                        <a:t>R469 222.40</a:t>
                      </a:r>
                      <a:endParaRPr lang="en-ZA" sz="1400" dirty="0">
                        <a:latin typeface="+mj-lt"/>
                      </a:endParaRPr>
                    </a:p>
                  </a:txBody>
                  <a:tcPr anchor="ctr"/>
                </a:tc>
                <a:tc>
                  <a:txBody>
                    <a:bodyPr/>
                    <a:lstStyle/>
                    <a:p>
                      <a:pPr algn="r"/>
                      <a:r>
                        <a:rPr lang="en-US" sz="1400" dirty="0">
                          <a:latin typeface="+mj-lt"/>
                        </a:rPr>
                        <a:t>R681 058.85</a:t>
                      </a:r>
                      <a:endParaRPr lang="en-ZA" sz="1400" dirty="0">
                        <a:latin typeface="+mj-lt"/>
                      </a:endParaRPr>
                    </a:p>
                  </a:txBody>
                  <a:tcPr anchor="ctr"/>
                </a:tc>
                <a:tc>
                  <a:txBody>
                    <a:bodyPr/>
                    <a:lstStyle/>
                    <a:p>
                      <a:pPr algn="r"/>
                      <a:r>
                        <a:rPr lang="en-US" sz="1400" dirty="0">
                          <a:solidFill>
                            <a:schemeClr val="accent6">
                              <a:lumMod val="75000"/>
                            </a:schemeClr>
                          </a:solidFill>
                          <a:latin typeface="+mj-lt"/>
                        </a:rPr>
                        <a:t>R2 670 529.74</a:t>
                      </a:r>
                      <a:endParaRPr lang="en-ZA" sz="1400" dirty="0">
                        <a:solidFill>
                          <a:schemeClr val="accent6">
                            <a:lumMod val="75000"/>
                          </a:schemeClr>
                        </a:solidFill>
                        <a:latin typeface="+mj-lt"/>
                      </a:endParaRPr>
                    </a:p>
                  </a:txBody>
                  <a:tcPr anchor="ctr"/>
                </a:tc>
                <a:extLst>
                  <a:ext uri="{0D108BD9-81ED-4DB2-BD59-A6C34878D82A}">
                    <a16:rowId xmlns:a16="http://schemas.microsoft.com/office/drawing/2014/main" val="2989864769"/>
                  </a:ext>
                </a:extLst>
              </a:tr>
              <a:tr h="370075">
                <a:tc>
                  <a:txBody>
                    <a:bodyPr/>
                    <a:lstStyle/>
                    <a:p>
                      <a:pPr algn="r"/>
                      <a:r>
                        <a:rPr lang="en-US" sz="1400" dirty="0">
                          <a:latin typeface="+mj-lt"/>
                        </a:rPr>
                        <a:t>8</a:t>
                      </a:r>
                      <a:endParaRPr lang="en-ZA" sz="1400" dirty="0">
                        <a:latin typeface="+mj-lt"/>
                      </a:endParaRPr>
                    </a:p>
                  </a:txBody>
                  <a:tcPr anchor="ctr"/>
                </a:tc>
                <a:tc>
                  <a:txBody>
                    <a:bodyPr/>
                    <a:lstStyle/>
                    <a:p>
                      <a:pPr algn="r"/>
                      <a:r>
                        <a:rPr kumimoji="0" lang="en-US" sz="1400" b="0" i="0" u="none" strike="noStrike" kern="0" cap="none" spc="0" normalizeH="0" baseline="0" noProof="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algn="r"/>
                      <a:r>
                        <a:rPr lang="en-US" sz="1400" dirty="0">
                          <a:solidFill>
                            <a:schemeClr val="accent6">
                              <a:lumMod val="75000"/>
                            </a:schemeClr>
                          </a:solidFill>
                          <a:latin typeface="+mj-lt"/>
                        </a:rPr>
                        <a:t>R</a:t>
                      </a:r>
                      <a:r>
                        <a:rPr lang="en-US" sz="1400" kern="1200" dirty="0">
                          <a:solidFill>
                            <a:schemeClr val="accent6">
                              <a:lumMod val="75000"/>
                            </a:schemeClr>
                          </a:solidFill>
                          <a:latin typeface="+mn-lt"/>
                          <a:ea typeface="+mn-ea"/>
                          <a:cs typeface="+mn-cs"/>
                        </a:rPr>
                        <a:t>2 670 529.74</a:t>
                      </a:r>
                      <a:endParaRPr lang="en-ZA" sz="1400" dirty="0">
                        <a:solidFill>
                          <a:schemeClr val="accent6">
                            <a:lumMod val="75000"/>
                          </a:schemeClr>
                        </a:solidFill>
                        <a:latin typeface="+mj-lt"/>
                      </a:endParaRPr>
                    </a:p>
                  </a:txBody>
                  <a:tcPr anchor="ctr"/>
                </a:tc>
                <a:tc>
                  <a:txBody>
                    <a:bodyPr/>
                    <a:lstStyle/>
                    <a:p>
                      <a:pPr algn="r"/>
                      <a:r>
                        <a:rPr lang="en-US" sz="1400" dirty="0">
                          <a:latin typeface="+mj-lt"/>
                        </a:rPr>
                        <a:t>R373 874.16</a:t>
                      </a:r>
                      <a:endParaRPr lang="en-ZA" sz="1400" dirty="0">
                        <a:latin typeface="+mj-lt"/>
                      </a:endParaRPr>
                    </a:p>
                  </a:txBody>
                  <a:tcPr anchor="ctr"/>
                </a:tc>
                <a:tc>
                  <a:txBody>
                    <a:bodyPr/>
                    <a:lstStyle/>
                    <a:p>
                      <a:pPr algn="r"/>
                      <a:r>
                        <a:rPr lang="en-US" sz="1400" dirty="0">
                          <a:latin typeface="+mj-lt"/>
                        </a:rPr>
                        <a:t>R776 407.09</a:t>
                      </a:r>
                      <a:endParaRPr lang="en-ZA" sz="1400" dirty="0">
                        <a:latin typeface="+mj-lt"/>
                      </a:endParaRPr>
                    </a:p>
                  </a:txBody>
                  <a:tcPr anchor="ctr"/>
                </a:tc>
                <a:tc>
                  <a:txBody>
                    <a:bodyPr/>
                    <a:lstStyle/>
                    <a:p>
                      <a:pPr algn="r"/>
                      <a:r>
                        <a:rPr lang="en-US" sz="1400" dirty="0">
                          <a:solidFill>
                            <a:srgbClr val="FF00FF"/>
                          </a:solidFill>
                          <a:latin typeface="+mj-lt"/>
                        </a:rPr>
                        <a:t>R1 894 122.65</a:t>
                      </a:r>
                      <a:endParaRPr lang="en-ZA" sz="1400" dirty="0">
                        <a:solidFill>
                          <a:srgbClr val="FF00FF"/>
                        </a:solidFill>
                        <a:latin typeface="+mj-lt"/>
                      </a:endParaRPr>
                    </a:p>
                  </a:txBody>
                  <a:tcPr anchor="ctr"/>
                </a:tc>
                <a:extLst>
                  <a:ext uri="{0D108BD9-81ED-4DB2-BD59-A6C34878D82A}">
                    <a16:rowId xmlns:a16="http://schemas.microsoft.com/office/drawing/2014/main" val="2715772303"/>
                  </a:ext>
                </a:extLst>
              </a:tr>
              <a:tr h="370075">
                <a:tc>
                  <a:txBody>
                    <a:bodyPr/>
                    <a:lstStyle/>
                    <a:p>
                      <a:pPr algn="r"/>
                      <a:r>
                        <a:rPr lang="en-US" sz="1400" dirty="0">
                          <a:latin typeface="+mj-lt"/>
                        </a:rPr>
                        <a:t>9</a:t>
                      </a:r>
                      <a:endParaRPr lang="en-ZA" sz="1400" dirty="0">
                        <a:latin typeface="+mj-lt"/>
                      </a:endParaRPr>
                    </a:p>
                  </a:txBody>
                  <a:tcPr anchor="ctr"/>
                </a:tc>
                <a:tc>
                  <a:txBody>
                    <a:bodyPr/>
                    <a:lstStyle/>
                    <a:p>
                      <a:pPr algn="r"/>
                      <a:r>
                        <a:rPr kumimoji="0" lang="en-US" sz="1400" b="0" i="0" u="none" strike="noStrike" kern="0" cap="none" spc="0" normalizeH="0" baseline="0" noProof="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marL="0" algn="r" defTabSz="914400" rtl="0" eaLnBrk="1" latinLnBrk="0" hangingPunct="1"/>
                      <a:r>
                        <a:rPr lang="en-US" sz="1400" kern="1200" dirty="0">
                          <a:solidFill>
                            <a:srgbClr val="FF00FF"/>
                          </a:solidFill>
                          <a:latin typeface="+mj-lt"/>
                          <a:ea typeface="+mn-ea"/>
                          <a:cs typeface="+mn-cs"/>
                        </a:rPr>
                        <a:t>R1 894 122.65</a:t>
                      </a:r>
                      <a:endParaRPr lang="en-ZA" sz="1400" kern="1200" dirty="0">
                        <a:solidFill>
                          <a:srgbClr val="FF00FF"/>
                        </a:solidFill>
                        <a:latin typeface="+mj-lt"/>
                        <a:ea typeface="+mn-ea"/>
                        <a:cs typeface="+mn-cs"/>
                      </a:endParaRPr>
                    </a:p>
                  </a:txBody>
                  <a:tcPr anchor="ctr"/>
                </a:tc>
                <a:tc>
                  <a:txBody>
                    <a:bodyPr/>
                    <a:lstStyle/>
                    <a:p>
                      <a:pPr algn="r"/>
                      <a:r>
                        <a:rPr lang="en-US" sz="1400" dirty="0">
                          <a:latin typeface="+mj-lt"/>
                        </a:rPr>
                        <a:t>R265 177.17</a:t>
                      </a:r>
                      <a:endParaRPr lang="en-ZA" sz="1400" dirty="0">
                        <a:latin typeface="+mj-lt"/>
                      </a:endParaRPr>
                    </a:p>
                  </a:txBody>
                  <a:tcPr anchor="ctr"/>
                </a:tc>
                <a:tc>
                  <a:txBody>
                    <a:bodyPr/>
                    <a:lstStyle/>
                    <a:p>
                      <a:pPr algn="r"/>
                      <a:r>
                        <a:rPr lang="en-US" sz="1400" dirty="0">
                          <a:latin typeface="+mj-lt"/>
                        </a:rPr>
                        <a:t>R885 104.08</a:t>
                      </a:r>
                      <a:endParaRPr lang="en-ZA" sz="1400" dirty="0">
                        <a:latin typeface="+mj-lt"/>
                      </a:endParaRPr>
                    </a:p>
                  </a:txBody>
                  <a:tcPr anchor="ctr"/>
                </a:tc>
                <a:tc>
                  <a:txBody>
                    <a:bodyPr/>
                    <a:lstStyle/>
                    <a:p>
                      <a:pPr marL="0" algn="r" defTabSz="914400" rtl="0" eaLnBrk="1" latinLnBrk="0" hangingPunct="1"/>
                      <a:r>
                        <a:rPr lang="en-US" sz="1400" kern="1200" dirty="0">
                          <a:solidFill>
                            <a:srgbClr val="33CCCC"/>
                          </a:solidFill>
                          <a:latin typeface="+mj-lt"/>
                          <a:ea typeface="+mn-ea"/>
                          <a:cs typeface="+mn-cs"/>
                        </a:rPr>
                        <a:t>R1 009 018.57</a:t>
                      </a:r>
                      <a:endParaRPr lang="en-ZA" sz="1400" kern="1200" dirty="0">
                        <a:solidFill>
                          <a:srgbClr val="33CCCC"/>
                        </a:solidFill>
                        <a:latin typeface="+mj-lt"/>
                        <a:ea typeface="+mn-ea"/>
                        <a:cs typeface="+mn-cs"/>
                      </a:endParaRPr>
                    </a:p>
                  </a:txBody>
                  <a:tcPr anchor="ctr"/>
                </a:tc>
                <a:extLst>
                  <a:ext uri="{0D108BD9-81ED-4DB2-BD59-A6C34878D82A}">
                    <a16:rowId xmlns:a16="http://schemas.microsoft.com/office/drawing/2014/main" val="2762203383"/>
                  </a:ext>
                </a:extLst>
              </a:tr>
              <a:tr h="370075">
                <a:tc>
                  <a:txBody>
                    <a:bodyPr/>
                    <a:lstStyle/>
                    <a:p>
                      <a:pPr algn="r"/>
                      <a:r>
                        <a:rPr lang="en-US" sz="1400" dirty="0">
                          <a:latin typeface="+mj-lt"/>
                        </a:rPr>
                        <a:t>10</a:t>
                      </a:r>
                      <a:endParaRPr lang="en-ZA" sz="1400" dirty="0">
                        <a:latin typeface="+mj-lt"/>
                      </a:endParaRPr>
                    </a:p>
                  </a:txBody>
                  <a:tcPr anchor="ctr"/>
                </a:tc>
                <a:tc>
                  <a:txBody>
                    <a:bodyPr/>
                    <a:lstStyle/>
                    <a:p>
                      <a:pPr algn="r"/>
                      <a:r>
                        <a:rPr kumimoji="0" lang="en-US" sz="1400" b="0" i="0" u="none" strike="noStrike" kern="0" cap="none" spc="0" normalizeH="0" baseline="0" noProof="0" dirty="0">
                          <a:ln>
                            <a:noFill/>
                          </a:ln>
                          <a:solidFill>
                            <a:prstClr val="black"/>
                          </a:solidFill>
                          <a:effectLst/>
                          <a:uLnTx/>
                          <a:uFillTx/>
                          <a:latin typeface="+mj-lt"/>
                          <a:ea typeface="ＭＳ Ｐゴシック"/>
                        </a:rPr>
                        <a:t>R1 150 281.25 </a:t>
                      </a:r>
                      <a:endParaRPr lang="en-ZA" sz="1400" dirty="0">
                        <a:latin typeface="+mj-lt"/>
                      </a:endParaRPr>
                    </a:p>
                  </a:txBody>
                  <a:tcPr anchor="ctr"/>
                </a:tc>
                <a:tc>
                  <a:txBody>
                    <a:bodyPr/>
                    <a:lstStyle/>
                    <a:p>
                      <a:pPr algn="r"/>
                      <a:r>
                        <a:rPr lang="en-US" sz="1400" dirty="0">
                          <a:solidFill>
                            <a:srgbClr val="33CCCC"/>
                          </a:solidFill>
                          <a:latin typeface="+mj-lt"/>
                        </a:rPr>
                        <a:t>R</a:t>
                      </a:r>
                      <a:r>
                        <a:rPr lang="en-US" sz="1400" kern="1200" dirty="0">
                          <a:solidFill>
                            <a:srgbClr val="33CCCC"/>
                          </a:solidFill>
                          <a:latin typeface="+mn-lt"/>
                          <a:ea typeface="+mn-ea"/>
                          <a:cs typeface="+mn-cs"/>
                        </a:rPr>
                        <a:t>1 009 018.57</a:t>
                      </a:r>
                      <a:endParaRPr lang="en-ZA" sz="1400" dirty="0">
                        <a:solidFill>
                          <a:srgbClr val="33CCCC"/>
                        </a:solidFill>
                        <a:latin typeface="+mj-lt"/>
                      </a:endParaRPr>
                    </a:p>
                  </a:txBody>
                  <a:tcPr anchor="ctr"/>
                </a:tc>
                <a:tc>
                  <a:txBody>
                    <a:bodyPr/>
                    <a:lstStyle/>
                    <a:p>
                      <a:pPr algn="r"/>
                      <a:r>
                        <a:rPr lang="en-US" sz="1400" dirty="0">
                          <a:latin typeface="+mj-lt"/>
                        </a:rPr>
                        <a:t>R141 262.60</a:t>
                      </a:r>
                      <a:endParaRPr lang="en-ZA" sz="1400" dirty="0">
                        <a:latin typeface="+mj-lt"/>
                      </a:endParaRPr>
                    </a:p>
                  </a:txBody>
                  <a:tcPr anchor="ctr"/>
                </a:tc>
                <a:tc>
                  <a:txBody>
                    <a:bodyPr/>
                    <a:lstStyle/>
                    <a:p>
                      <a:pPr algn="r"/>
                      <a:r>
                        <a:rPr lang="en-US" sz="1400" dirty="0">
                          <a:latin typeface="+mj-lt"/>
                        </a:rPr>
                        <a:t>R1 009 018.57</a:t>
                      </a:r>
                      <a:endParaRPr lang="en-ZA" sz="1400" dirty="0">
                        <a:latin typeface="+mj-lt"/>
                      </a:endParaRPr>
                    </a:p>
                  </a:txBody>
                  <a:tcPr anchor="ctr"/>
                </a:tc>
                <a:tc>
                  <a:txBody>
                    <a:bodyPr/>
                    <a:lstStyle/>
                    <a:p>
                      <a:pPr algn="r"/>
                      <a:r>
                        <a:rPr lang="en-US" sz="1400" dirty="0">
                          <a:latin typeface="+mj-lt"/>
                        </a:rPr>
                        <a:t>R0</a:t>
                      </a:r>
                      <a:endParaRPr lang="en-ZA" sz="1400" dirty="0">
                        <a:latin typeface="+mj-lt"/>
                      </a:endParaRPr>
                    </a:p>
                  </a:txBody>
                  <a:tcPr anchor="ctr"/>
                </a:tc>
                <a:extLst>
                  <a:ext uri="{0D108BD9-81ED-4DB2-BD59-A6C34878D82A}">
                    <a16:rowId xmlns:a16="http://schemas.microsoft.com/office/drawing/2014/main" val="1433983626"/>
                  </a:ext>
                </a:extLst>
              </a:tr>
            </a:tbl>
          </a:graphicData>
        </a:graphic>
      </p:graphicFrame>
    </p:spTree>
    <p:custDataLst>
      <p:tags r:id="rId1"/>
    </p:custDataLst>
    <p:extLst>
      <p:ext uri="{BB962C8B-B14F-4D97-AF65-F5344CB8AC3E}">
        <p14:creationId xmlns:p14="http://schemas.microsoft.com/office/powerpoint/2010/main" val="4032476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E491ED-DBD3-C2E6-5C98-0223BD4E212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7BD7108-E148-A55D-A428-FF37FF384875}"/>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E28A2EBB-5E81-B6F9-32AF-0E51519B4EE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32</a:t>
            </a:fld>
            <a:endParaRPr lang="en-US">
              <a:solidFill>
                <a:schemeClr val="tx1"/>
              </a:solidFill>
            </a:endParaRPr>
          </a:p>
        </p:txBody>
      </p:sp>
      <p:sp>
        <p:nvSpPr>
          <p:cNvPr id="4" name="Rectangle 5">
            <a:extLst>
              <a:ext uri="{FF2B5EF4-FFF2-40B4-BE49-F238E27FC236}">
                <a16:creationId xmlns:a16="http://schemas.microsoft.com/office/drawing/2014/main" id="{86D5808C-12FC-2A10-AF22-9B0D41F984F7}"/>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200" dirty="0"/>
              <a:t>Determining interest or growth rates</a:t>
            </a:r>
          </a:p>
          <a:p>
            <a:pPr marL="717550" algn="just">
              <a:lnSpc>
                <a:spcPct val="105000"/>
              </a:lnSpc>
              <a:buSzPct val="100000"/>
              <a:buFont typeface="Wingdings" panose="05000000000000000000" pitchFamily="2" charset="2"/>
              <a:buChar char="§"/>
            </a:pPr>
            <a:r>
              <a:rPr lang="en-US" sz="2200" dirty="0"/>
              <a:t>Rate at which amount could be invested for a period in order to increase in value</a:t>
            </a:r>
          </a:p>
          <a:p>
            <a:pPr algn="just">
              <a:lnSpc>
                <a:spcPct val="105000"/>
              </a:lnSpc>
              <a:buSzPct val="100000"/>
              <a:buFont typeface="Arial" panose="020B0604020202020204" pitchFamily="34" charset="0"/>
              <a:buChar char="•"/>
            </a:pPr>
            <a:r>
              <a:rPr lang="en-US" sz="2200" dirty="0"/>
              <a:t>Example: </a:t>
            </a:r>
            <a:r>
              <a:rPr lang="en-US" altLang="en-US" sz="2200" dirty="0"/>
              <a:t>Assume that a firms </a:t>
            </a:r>
            <a:r>
              <a:rPr lang="en-GB" altLang="en-US" sz="2200" dirty="0"/>
              <a:t>has paid the following dividends in recent years. Calculate the overall growth rate of the dividends. </a:t>
            </a:r>
          </a:p>
          <a:p>
            <a:pPr marL="536575" lvl="1" indent="0" algn="just">
              <a:spcBef>
                <a:spcPts val="0"/>
              </a:spcBef>
              <a:buNone/>
            </a:pPr>
            <a:r>
              <a:rPr lang="en-US" altLang="en-US" sz="2200" dirty="0"/>
              <a:t>DPS in 2019 = 282.4c</a:t>
            </a:r>
          </a:p>
          <a:p>
            <a:pPr marL="536575" lvl="1" indent="0" algn="just">
              <a:spcBef>
                <a:spcPts val="0"/>
              </a:spcBef>
              <a:buNone/>
            </a:pPr>
            <a:r>
              <a:rPr lang="en-US" altLang="en-US" sz="2200" dirty="0"/>
              <a:t>DPS in 2020 = 312.5c</a:t>
            </a:r>
          </a:p>
          <a:p>
            <a:pPr marL="536575" lvl="1" indent="0" algn="just">
              <a:spcBef>
                <a:spcPts val="0"/>
              </a:spcBef>
              <a:buNone/>
            </a:pPr>
            <a:r>
              <a:rPr lang="en-US" altLang="en-US" sz="2200" dirty="0"/>
              <a:t>DPS in 2021 = 447.1c</a:t>
            </a:r>
          </a:p>
          <a:p>
            <a:pPr marL="536575" lvl="1" indent="0" algn="just">
              <a:spcBef>
                <a:spcPts val="0"/>
              </a:spcBef>
              <a:buNone/>
            </a:pPr>
            <a:r>
              <a:rPr lang="en-US" altLang="en-US" sz="2200" dirty="0"/>
              <a:t>DPS in 2022 = 462.7c</a:t>
            </a:r>
          </a:p>
          <a:p>
            <a:pPr marL="536575" lvl="1" indent="0" algn="just">
              <a:spcBef>
                <a:spcPts val="0"/>
              </a:spcBef>
              <a:buNone/>
            </a:pPr>
            <a:r>
              <a:rPr lang="en-US" altLang="en-US" sz="2200" dirty="0"/>
              <a:t>DPS in 2023 = 524.9c</a:t>
            </a:r>
          </a:p>
          <a:p>
            <a:pPr>
              <a:lnSpc>
                <a:spcPct val="105000"/>
              </a:lnSpc>
              <a:buSzPct val="100000"/>
              <a:buFont typeface="Arial" panose="020B0604020202020204" pitchFamily="34" charset="0"/>
              <a:buChar char="•"/>
            </a:pPr>
            <a:endParaRPr lang="en-US" sz="2200" dirty="0"/>
          </a:p>
        </p:txBody>
      </p:sp>
      <p:sp>
        <p:nvSpPr>
          <p:cNvPr id="10" name="Arrow: Curved Left 9">
            <a:extLst>
              <a:ext uri="{FF2B5EF4-FFF2-40B4-BE49-F238E27FC236}">
                <a16:creationId xmlns:a16="http://schemas.microsoft.com/office/drawing/2014/main" id="{6CD466FD-24C3-359F-A816-CDF98485FC70}"/>
              </a:ext>
            </a:extLst>
          </p:cNvPr>
          <p:cNvSpPr/>
          <p:nvPr/>
        </p:nvSpPr>
        <p:spPr bwMode="auto">
          <a:xfrm>
            <a:off x="3665078" y="3288346"/>
            <a:ext cx="396000" cy="468000"/>
          </a:xfrm>
          <a:prstGeom prst="curvedLef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ZA">
              <a:ea typeface="ＭＳ Ｐゴシック" pitchFamily="1" charset="-128"/>
            </a:endParaRPr>
          </a:p>
        </p:txBody>
      </p:sp>
      <p:sp>
        <p:nvSpPr>
          <p:cNvPr id="11" name="Rectangle 10">
            <a:extLst>
              <a:ext uri="{FF2B5EF4-FFF2-40B4-BE49-F238E27FC236}">
                <a16:creationId xmlns:a16="http://schemas.microsoft.com/office/drawing/2014/main" id="{7FD3AD87-4637-9700-A93C-1A035305E489}"/>
              </a:ext>
            </a:extLst>
          </p:cNvPr>
          <p:cNvSpPr/>
          <p:nvPr/>
        </p:nvSpPr>
        <p:spPr bwMode="auto">
          <a:xfrm>
            <a:off x="1671733" y="574110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N</a:t>
            </a:r>
          </a:p>
        </p:txBody>
      </p:sp>
      <p:sp>
        <p:nvSpPr>
          <p:cNvPr id="12" name="Rectangle 11">
            <a:extLst>
              <a:ext uri="{FF2B5EF4-FFF2-40B4-BE49-F238E27FC236}">
                <a16:creationId xmlns:a16="http://schemas.microsoft.com/office/drawing/2014/main" id="{26F5FBFA-8B71-B0DC-D427-AA336156BC0B}"/>
              </a:ext>
            </a:extLst>
          </p:cNvPr>
          <p:cNvSpPr/>
          <p:nvPr/>
        </p:nvSpPr>
        <p:spPr bwMode="auto">
          <a:xfrm>
            <a:off x="3118317" y="574110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I/Y</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3" name="Rectangle 12">
            <a:extLst>
              <a:ext uri="{FF2B5EF4-FFF2-40B4-BE49-F238E27FC236}">
                <a16:creationId xmlns:a16="http://schemas.microsoft.com/office/drawing/2014/main" id="{8F364D16-496D-0527-8176-81496CEB60B0}"/>
              </a:ext>
            </a:extLst>
          </p:cNvPr>
          <p:cNvSpPr/>
          <p:nvPr/>
        </p:nvSpPr>
        <p:spPr bwMode="auto">
          <a:xfrm>
            <a:off x="4489917" y="574110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PV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4" name="Rectangle 13">
            <a:extLst>
              <a:ext uri="{FF2B5EF4-FFF2-40B4-BE49-F238E27FC236}">
                <a16:creationId xmlns:a16="http://schemas.microsoft.com/office/drawing/2014/main" id="{2B9DD797-FF6B-B577-6D8E-0499E3800A36}"/>
              </a:ext>
            </a:extLst>
          </p:cNvPr>
          <p:cNvSpPr/>
          <p:nvPr/>
        </p:nvSpPr>
        <p:spPr bwMode="auto">
          <a:xfrm>
            <a:off x="5861517" y="574110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1400" b="1" i="0" u="none" strike="noStrike" cap="none" normalizeH="0" baseline="0" dirty="0">
                <a:ln>
                  <a:noFill/>
                </a:ln>
                <a:solidFill>
                  <a:schemeClr val="bg1"/>
                </a:solidFill>
                <a:effectLst/>
                <a:latin typeface="+mj-lt"/>
                <a:ea typeface="ＭＳ Ｐゴシック" pitchFamily="1" charset="-128"/>
              </a:rPr>
              <a:t>PMT</a:t>
            </a:r>
          </a:p>
        </p:txBody>
      </p:sp>
      <p:sp>
        <p:nvSpPr>
          <p:cNvPr id="15" name="Rectangle 14">
            <a:extLst>
              <a:ext uri="{FF2B5EF4-FFF2-40B4-BE49-F238E27FC236}">
                <a16:creationId xmlns:a16="http://schemas.microsoft.com/office/drawing/2014/main" id="{ABCE9C9B-121C-340A-511D-8680BB428EE2}"/>
              </a:ext>
            </a:extLst>
          </p:cNvPr>
          <p:cNvSpPr/>
          <p:nvPr/>
        </p:nvSpPr>
        <p:spPr bwMode="auto">
          <a:xfrm>
            <a:off x="7233117" y="5741102"/>
            <a:ext cx="989384" cy="557396"/>
          </a:xfrm>
          <a:prstGeom prst="rect">
            <a:avLst/>
          </a:prstGeom>
          <a:solidFill>
            <a:srgbClr val="002060"/>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sz="1400" b="1" dirty="0">
                <a:solidFill>
                  <a:schemeClr val="bg1"/>
                </a:solidFill>
                <a:latin typeface="+mj-lt"/>
                <a:ea typeface="ＭＳ Ｐゴシック" pitchFamily="1" charset="-128"/>
              </a:rPr>
              <a:t>FV</a:t>
            </a:r>
            <a:endParaRPr kumimoji="0" lang="en-ZA" sz="1400" b="1" i="0" u="none" strike="noStrike" cap="none" normalizeH="0" baseline="0" dirty="0">
              <a:ln>
                <a:noFill/>
              </a:ln>
              <a:solidFill>
                <a:schemeClr val="bg1"/>
              </a:solidFill>
              <a:effectLst/>
              <a:latin typeface="+mj-lt"/>
              <a:ea typeface="ＭＳ Ｐゴシック" pitchFamily="1" charset="-128"/>
            </a:endParaRPr>
          </a:p>
        </p:txBody>
      </p:sp>
      <p:sp>
        <p:nvSpPr>
          <p:cNvPr id="16" name="TextBox 15">
            <a:extLst>
              <a:ext uri="{FF2B5EF4-FFF2-40B4-BE49-F238E27FC236}">
                <a16:creationId xmlns:a16="http://schemas.microsoft.com/office/drawing/2014/main" id="{11C79920-2D48-F309-BCF3-9E41BAD0F3FC}"/>
              </a:ext>
            </a:extLst>
          </p:cNvPr>
          <p:cNvSpPr txBox="1"/>
          <p:nvPr/>
        </p:nvSpPr>
        <p:spPr>
          <a:xfrm>
            <a:off x="469590" y="6403777"/>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Output	                    = 16.76%</a:t>
            </a:r>
          </a:p>
        </p:txBody>
      </p:sp>
      <p:sp>
        <p:nvSpPr>
          <p:cNvPr id="17" name="Arrow: Curved Left 16">
            <a:extLst>
              <a:ext uri="{FF2B5EF4-FFF2-40B4-BE49-F238E27FC236}">
                <a16:creationId xmlns:a16="http://schemas.microsoft.com/office/drawing/2014/main" id="{0CA2E713-2D34-6861-862F-983383D9213A}"/>
              </a:ext>
            </a:extLst>
          </p:cNvPr>
          <p:cNvSpPr/>
          <p:nvPr/>
        </p:nvSpPr>
        <p:spPr bwMode="auto">
          <a:xfrm>
            <a:off x="3711701" y="4137346"/>
            <a:ext cx="396000" cy="468000"/>
          </a:xfrm>
          <a:prstGeom prst="curvedLef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ZA">
              <a:ea typeface="ＭＳ Ｐゴシック" pitchFamily="1" charset="-128"/>
            </a:endParaRPr>
          </a:p>
        </p:txBody>
      </p:sp>
      <p:sp>
        <p:nvSpPr>
          <p:cNvPr id="18" name="Arrow: Curved Left 17">
            <a:extLst>
              <a:ext uri="{FF2B5EF4-FFF2-40B4-BE49-F238E27FC236}">
                <a16:creationId xmlns:a16="http://schemas.microsoft.com/office/drawing/2014/main" id="{5B473057-2AF9-9F9D-5357-5EC3D9BFDDB4}"/>
              </a:ext>
            </a:extLst>
          </p:cNvPr>
          <p:cNvSpPr/>
          <p:nvPr/>
        </p:nvSpPr>
        <p:spPr bwMode="auto">
          <a:xfrm>
            <a:off x="3733421" y="4542538"/>
            <a:ext cx="396000" cy="468000"/>
          </a:xfrm>
          <a:prstGeom prst="curvedLef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ZA">
              <a:ea typeface="ＭＳ Ｐゴシック" pitchFamily="1" charset="-128"/>
            </a:endParaRPr>
          </a:p>
        </p:txBody>
      </p:sp>
      <p:sp>
        <p:nvSpPr>
          <p:cNvPr id="19" name="Arrow: Curved Left 18">
            <a:extLst>
              <a:ext uri="{FF2B5EF4-FFF2-40B4-BE49-F238E27FC236}">
                <a16:creationId xmlns:a16="http://schemas.microsoft.com/office/drawing/2014/main" id="{049DD753-B341-62BA-8771-A9FE2A406307}"/>
              </a:ext>
            </a:extLst>
          </p:cNvPr>
          <p:cNvSpPr/>
          <p:nvPr/>
        </p:nvSpPr>
        <p:spPr bwMode="auto">
          <a:xfrm>
            <a:off x="3697102" y="3714335"/>
            <a:ext cx="396000" cy="468000"/>
          </a:xfrm>
          <a:prstGeom prst="curvedLef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ZA">
              <a:ea typeface="ＭＳ Ｐゴシック" pitchFamily="1" charset="-128"/>
            </a:endParaRPr>
          </a:p>
        </p:txBody>
      </p:sp>
      <p:sp>
        <p:nvSpPr>
          <p:cNvPr id="20" name="TextBox 19">
            <a:extLst>
              <a:ext uri="{FF2B5EF4-FFF2-40B4-BE49-F238E27FC236}">
                <a16:creationId xmlns:a16="http://schemas.microsoft.com/office/drawing/2014/main" id="{FE9151D1-1DED-CB9A-23B4-68D4EDB82972}"/>
              </a:ext>
            </a:extLst>
          </p:cNvPr>
          <p:cNvSpPr txBox="1"/>
          <p:nvPr/>
        </p:nvSpPr>
        <p:spPr>
          <a:xfrm>
            <a:off x="469590" y="5370741"/>
            <a:ext cx="8083626" cy="307777"/>
          </a:xfrm>
          <a:prstGeom prst="rect">
            <a:avLst/>
          </a:prstGeom>
          <a:noFill/>
        </p:spPr>
        <p:txBody>
          <a:bodyPr wrap="square" rtlCol="0">
            <a:spAutoFit/>
          </a:bodyPr>
          <a:lstStyle/>
          <a:p>
            <a:pPr defTabSz="1350963">
              <a:tabLst>
                <a:tab pos="1435100" algn="l"/>
                <a:tab pos="2786063" algn="l"/>
              </a:tabLst>
            </a:pPr>
            <a:r>
              <a:rPr lang="en-ZA" sz="1400" dirty="0">
                <a:latin typeface="+mj-lt"/>
              </a:rPr>
              <a:t>Inputs:	 4	   ?	±282.4	     0	524.9</a:t>
            </a:r>
          </a:p>
        </p:txBody>
      </p:sp>
    </p:spTree>
    <p:custDataLst>
      <p:tags r:id="rId1"/>
    </p:custDataLst>
    <p:extLst>
      <p:ext uri="{BB962C8B-B14F-4D97-AF65-F5344CB8AC3E}">
        <p14:creationId xmlns:p14="http://schemas.microsoft.com/office/powerpoint/2010/main" val="1687603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A187F7E-AF2D-0418-4BC0-693A28AC627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1FAF249-12C7-0197-6145-DFD0116EF3F8}"/>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7AF025FF-7BE1-CA22-7B2B-E12D921D7FC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33</a:t>
            </a:fld>
            <a:endParaRPr lang="en-US">
              <a:solidFill>
                <a:schemeClr val="tx1"/>
              </a:solidFill>
            </a:endParaRPr>
          </a:p>
        </p:txBody>
      </p:sp>
      <p:sp>
        <p:nvSpPr>
          <p:cNvPr id="4" name="Rectangle 5">
            <a:extLst>
              <a:ext uri="{FF2B5EF4-FFF2-40B4-BE49-F238E27FC236}">
                <a16:creationId xmlns:a16="http://schemas.microsoft.com/office/drawing/2014/main" id="{A891F586-69F7-0B06-5ACC-930D414E6E82}"/>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Effective interest rates</a:t>
            </a:r>
          </a:p>
          <a:p>
            <a:pPr marL="717550">
              <a:lnSpc>
                <a:spcPct val="105000"/>
              </a:lnSpc>
              <a:buSzPct val="100000"/>
              <a:buFont typeface="Wingdings" panose="05000000000000000000" pitchFamily="2" charset="2"/>
              <a:buChar char="§"/>
            </a:pPr>
            <a:r>
              <a:rPr lang="en-US" sz="2400" dirty="0">
                <a:latin typeface="+mj-lt"/>
              </a:rPr>
              <a:t>Nominal or quoted interest rate</a:t>
            </a:r>
          </a:p>
          <a:p>
            <a:pPr marL="717550">
              <a:lnSpc>
                <a:spcPct val="105000"/>
              </a:lnSpc>
              <a:buSzPct val="100000"/>
              <a:buFont typeface="Wingdings" panose="05000000000000000000" pitchFamily="2" charset="2"/>
              <a:buChar char="§"/>
            </a:pPr>
            <a:r>
              <a:rPr lang="en-US" sz="2400" dirty="0">
                <a:latin typeface="+mj-lt"/>
              </a:rPr>
              <a:t>Effective interest rate – adjusted nominal rate based on frequency of compounding</a:t>
            </a:r>
          </a:p>
          <a:p>
            <a:pPr marL="374650" indent="0">
              <a:lnSpc>
                <a:spcPct val="105000"/>
              </a:lnSpc>
              <a:buSzPct val="100000"/>
              <a:buNone/>
            </a:pPr>
            <a:endParaRPr lang="en-US" sz="2400" dirty="0">
              <a:latin typeface="+mj-lt"/>
            </a:endParaRPr>
          </a:p>
          <a:p>
            <a:pPr marL="374650" indent="0">
              <a:lnSpc>
                <a:spcPct val="105000"/>
              </a:lnSpc>
              <a:buSzPct val="100000"/>
              <a:buNone/>
            </a:pPr>
            <a:r>
              <a:rPr lang="en-US" sz="2400" dirty="0">
                <a:latin typeface="+mj-lt"/>
              </a:rPr>
              <a:t>	</a:t>
            </a:r>
            <a:r>
              <a:rPr lang="en-ZA" sz="2400" dirty="0"/>
              <a:t>EAR 	= </a:t>
            </a:r>
            <a:r>
              <a:rPr lang="en-ZA" sz="2400" i="1" dirty="0" err="1"/>
              <a:t>i</a:t>
            </a:r>
            <a:r>
              <a:rPr lang="en-ZA" sz="2400" baseline="-25000" dirty="0" err="1"/>
              <a:t>eff</a:t>
            </a:r>
            <a:r>
              <a:rPr lang="en-ZA" sz="2400" dirty="0"/>
              <a:t> = [1 + (</a:t>
            </a:r>
            <a:r>
              <a:rPr lang="en-ZA" sz="2400" dirty="0" err="1"/>
              <a:t>i</a:t>
            </a:r>
            <a:r>
              <a:rPr lang="en-ZA" sz="2400" baseline="-25000" dirty="0" err="1"/>
              <a:t>nom</a:t>
            </a:r>
            <a:r>
              <a:rPr lang="en-ZA" sz="2400" dirty="0"/>
              <a:t> / m)]</a:t>
            </a:r>
            <a:r>
              <a:rPr lang="en-ZA" sz="2400" baseline="30000" dirty="0"/>
              <a:t>m</a:t>
            </a:r>
            <a:r>
              <a:rPr lang="en-ZA" sz="2400" dirty="0"/>
              <a:t> – 1</a:t>
            </a:r>
          </a:p>
          <a:p>
            <a:pPr marL="0" indent="0">
              <a:lnSpc>
                <a:spcPct val="105000"/>
              </a:lnSpc>
              <a:buSzPct val="100000"/>
              <a:buNone/>
            </a:pPr>
            <a:r>
              <a:rPr lang="en-US" sz="2400" dirty="0">
                <a:latin typeface="+mj-lt"/>
              </a:rPr>
              <a:t>	</a:t>
            </a:r>
            <a:r>
              <a:rPr lang="en-ZA" sz="2400" i="1" dirty="0" err="1"/>
              <a:t>i</a:t>
            </a:r>
            <a:r>
              <a:rPr lang="en-ZA" sz="2400" baseline="-25000" dirty="0" err="1"/>
              <a:t>eff</a:t>
            </a:r>
            <a:r>
              <a:rPr lang="en-ZA" sz="2400" dirty="0"/>
              <a:t> 	effective annual interest rate</a:t>
            </a:r>
          </a:p>
          <a:p>
            <a:pPr marL="0" indent="0">
              <a:lnSpc>
                <a:spcPct val="105000"/>
              </a:lnSpc>
              <a:buSzPct val="100000"/>
              <a:buNone/>
            </a:pPr>
            <a:r>
              <a:rPr lang="en-ZA" sz="2400" dirty="0"/>
              <a:t>	</a:t>
            </a:r>
            <a:r>
              <a:rPr lang="en-ZA" sz="2400" dirty="0" err="1"/>
              <a:t>i</a:t>
            </a:r>
            <a:r>
              <a:rPr lang="en-ZA" sz="2400" baseline="-25000" dirty="0" err="1"/>
              <a:t>nom</a:t>
            </a:r>
            <a:r>
              <a:rPr lang="en-ZA" sz="2400" dirty="0"/>
              <a:t> 	nominal annual interest rate</a:t>
            </a:r>
          </a:p>
          <a:p>
            <a:pPr marL="0" indent="0">
              <a:lnSpc>
                <a:spcPct val="105000"/>
              </a:lnSpc>
              <a:buSzPct val="100000"/>
              <a:buNone/>
            </a:pPr>
            <a:r>
              <a:rPr lang="en-ZA" sz="2400" dirty="0"/>
              <a:t>	m	number of compounding intervals per year</a:t>
            </a:r>
          </a:p>
          <a:p>
            <a:pPr marL="0" indent="0">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279454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E0A444-C0E5-483D-EE3A-2308D273284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6E434D8-79D4-875E-B489-333BB9BBD0FB}"/>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F1C915CE-F964-86CA-4E7D-C0D9D9F0291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34</a:t>
            </a:fld>
            <a:endParaRPr lang="en-US">
              <a:solidFill>
                <a:schemeClr val="tx1"/>
              </a:solidFill>
            </a:endParaRPr>
          </a:p>
        </p:txBody>
      </p:sp>
      <p:sp>
        <p:nvSpPr>
          <p:cNvPr id="4" name="Rectangle 5">
            <a:extLst>
              <a:ext uri="{FF2B5EF4-FFF2-40B4-BE49-F238E27FC236}">
                <a16:creationId xmlns:a16="http://schemas.microsoft.com/office/drawing/2014/main" id="{AC8722E9-FBA8-0C3A-CCE5-E8C5E91EC9E0}"/>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Effective interest rates (cont.)</a:t>
            </a:r>
          </a:p>
          <a:p>
            <a:pPr>
              <a:lnSpc>
                <a:spcPct val="105000"/>
              </a:lnSpc>
              <a:buSzPct val="100000"/>
              <a:buFont typeface="Arial" panose="020B0604020202020204" pitchFamily="34" charset="0"/>
              <a:buChar char="•"/>
            </a:pPr>
            <a:r>
              <a:rPr lang="en-US" sz="2400" dirty="0">
                <a:latin typeface="+mj-lt"/>
              </a:rPr>
              <a:t>Example: A financial manager is evaluating two loans. SNB quotes a nominal interest rate of 16.5% p.a. compounded semi-annually. TNB quotes a nominal interest of 16.4% p.a. compounded daily. Which is the better option?</a:t>
            </a:r>
          </a:p>
          <a:p>
            <a:pPr>
              <a:lnSpc>
                <a:spcPct val="105000"/>
              </a:lnSpc>
              <a:buSzPct val="100000"/>
              <a:buFont typeface="Arial" panose="020B0604020202020204" pitchFamily="34" charset="0"/>
              <a:buChar char="•"/>
            </a:pPr>
            <a:endParaRPr lang="en-US" sz="2400" dirty="0">
              <a:latin typeface="+mj-lt"/>
            </a:endParaRPr>
          </a:p>
          <a:p>
            <a:pPr marL="0" indent="0">
              <a:lnSpc>
                <a:spcPct val="105000"/>
              </a:lnSpc>
              <a:buSzPct val="100000"/>
              <a:buNone/>
            </a:pPr>
            <a:r>
              <a:rPr lang="en-US" sz="2400" dirty="0">
                <a:latin typeface="+mj-lt"/>
              </a:rPr>
              <a:t>	SNB	= </a:t>
            </a:r>
            <a:r>
              <a:rPr lang="en-ZA" sz="2400" dirty="0"/>
              <a:t>[1 + (</a:t>
            </a:r>
            <a:r>
              <a:rPr lang="en-ZA" sz="2400" dirty="0" err="1"/>
              <a:t>i</a:t>
            </a:r>
            <a:r>
              <a:rPr lang="en-ZA" sz="2400" baseline="-25000" dirty="0" err="1"/>
              <a:t>nom</a:t>
            </a:r>
            <a:r>
              <a:rPr lang="en-ZA" sz="2400" dirty="0"/>
              <a:t> / m)]</a:t>
            </a:r>
            <a:r>
              <a:rPr lang="en-ZA" sz="2400" baseline="30000" dirty="0"/>
              <a:t>m</a:t>
            </a:r>
            <a:r>
              <a:rPr lang="en-ZA" sz="2400" dirty="0"/>
              <a:t> – 1</a:t>
            </a:r>
          </a:p>
          <a:p>
            <a:pPr marL="0" indent="0">
              <a:lnSpc>
                <a:spcPct val="105000"/>
              </a:lnSpc>
              <a:buSzPct val="100000"/>
              <a:buNone/>
            </a:pPr>
            <a:r>
              <a:rPr lang="en-ZA" sz="2400" dirty="0"/>
              <a:t>		= [1 + (0.165 / 2)]</a:t>
            </a:r>
            <a:r>
              <a:rPr lang="en-ZA" sz="2400" baseline="30000" dirty="0"/>
              <a:t>2</a:t>
            </a:r>
            <a:r>
              <a:rPr lang="en-ZA" sz="2400" dirty="0"/>
              <a:t> – 1</a:t>
            </a:r>
          </a:p>
          <a:p>
            <a:pPr marL="0" indent="0">
              <a:lnSpc>
                <a:spcPct val="105000"/>
              </a:lnSpc>
              <a:buSzPct val="100000"/>
              <a:buNone/>
            </a:pPr>
            <a:r>
              <a:rPr lang="en-ZA" sz="2400" dirty="0"/>
              <a:t>		= </a:t>
            </a:r>
            <a:r>
              <a:rPr lang="en-ZA" sz="2400" b="1" dirty="0">
                <a:solidFill>
                  <a:srgbClr val="C00000"/>
                </a:solidFill>
              </a:rPr>
              <a:t>17.81%</a:t>
            </a:r>
          </a:p>
          <a:p>
            <a:pPr marL="0" indent="0">
              <a:lnSpc>
                <a:spcPct val="105000"/>
              </a:lnSpc>
              <a:buSzPct val="100000"/>
              <a:buNone/>
            </a:pPr>
            <a:endParaRPr lang="en-ZA" sz="2400" dirty="0"/>
          </a:p>
          <a:p>
            <a:pPr marL="0" indent="0">
              <a:lnSpc>
                <a:spcPct val="105000"/>
              </a:lnSpc>
              <a:buSzPct val="100000"/>
              <a:buNone/>
            </a:pPr>
            <a:r>
              <a:rPr lang="en-ZA" sz="2400" dirty="0"/>
              <a:t>	TNB	= [1 + (0.164 / 365)]</a:t>
            </a:r>
            <a:r>
              <a:rPr lang="en-ZA" sz="2400" baseline="30000" dirty="0"/>
              <a:t>365</a:t>
            </a:r>
            <a:r>
              <a:rPr lang="en-ZA" sz="2400" dirty="0"/>
              <a:t> – 1</a:t>
            </a:r>
          </a:p>
          <a:p>
            <a:pPr marL="0" indent="0">
              <a:lnSpc>
                <a:spcPct val="105000"/>
              </a:lnSpc>
              <a:buSzPct val="100000"/>
              <a:buNone/>
            </a:pPr>
            <a:r>
              <a:rPr lang="en-ZA" sz="2400" dirty="0"/>
              <a:t>		= </a:t>
            </a:r>
            <a:r>
              <a:rPr lang="en-ZA" sz="2400" b="1" dirty="0">
                <a:solidFill>
                  <a:srgbClr val="00B050"/>
                </a:solidFill>
              </a:rPr>
              <a:t>17.82%</a:t>
            </a:r>
          </a:p>
        </p:txBody>
      </p:sp>
    </p:spTree>
    <p:custDataLst>
      <p:tags r:id="rId1"/>
    </p:custDataLst>
    <p:extLst>
      <p:ext uri="{BB962C8B-B14F-4D97-AF65-F5344CB8AC3E}">
        <p14:creationId xmlns:p14="http://schemas.microsoft.com/office/powerpoint/2010/main" val="41329851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560AD6D-2821-08A2-0D29-CD8F9E560E7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8309017-B840-7A54-8D10-70CC41C84CF0}"/>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6D176459-86EA-FAD6-5B02-E7445AF905A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35</a:t>
            </a:fld>
            <a:endParaRPr lang="en-US">
              <a:solidFill>
                <a:schemeClr val="tx1"/>
              </a:solidFill>
            </a:endParaRPr>
          </a:p>
        </p:txBody>
      </p:sp>
      <p:sp>
        <p:nvSpPr>
          <p:cNvPr id="4" name="Rectangle 5">
            <a:extLst>
              <a:ext uri="{FF2B5EF4-FFF2-40B4-BE49-F238E27FC236}">
                <a16:creationId xmlns:a16="http://schemas.microsoft.com/office/drawing/2014/main" id="{EDFBD461-F11C-9BB1-FFA7-F4F596F35271}"/>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Example: A firm borrows R10 000 at 12% interest for one year. Interest is paid in advance. What is the effective interest rate?</a:t>
            </a:r>
          </a:p>
          <a:p>
            <a:pPr marL="0" indent="0">
              <a:lnSpc>
                <a:spcPct val="105000"/>
              </a:lnSpc>
              <a:buSzPct val="100000"/>
              <a:buNone/>
            </a:pPr>
            <a:endParaRPr lang="en-US" sz="2400" dirty="0">
              <a:latin typeface="+mj-lt"/>
            </a:endParaRPr>
          </a:p>
          <a:p>
            <a:pPr marL="0" indent="0">
              <a:lnSpc>
                <a:spcPct val="105000"/>
              </a:lnSpc>
              <a:buSzPct val="100000"/>
              <a:buNone/>
            </a:pPr>
            <a:r>
              <a:rPr lang="en-US" sz="2400" dirty="0">
                <a:latin typeface="+mj-lt"/>
              </a:rPr>
              <a:t>	</a:t>
            </a:r>
            <a:r>
              <a:rPr lang="en-US" sz="2400" i="1" dirty="0" err="1">
                <a:latin typeface="+mj-lt"/>
              </a:rPr>
              <a:t>i</a:t>
            </a:r>
            <a:r>
              <a:rPr lang="en-US" sz="2400" baseline="-25000" dirty="0" err="1">
                <a:latin typeface="+mj-lt"/>
              </a:rPr>
              <a:t>eff</a:t>
            </a:r>
            <a:r>
              <a:rPr lang="en-US" sz="2400" dirty="0">
                <a:latin typeface="+mj-lt"/>
              </a:rPr>
              <a:t>	= interest paid / net proceeds of loan</a:t>
            </a:r>
          </a:p>
          <a:p>
            <a:pPr marL="0" indent="0">
              <a:lnSpc>
                <a:spcPct val="105000"/>
              </a:lnSpc>
              <a:buSzPct val="100000"/>
              <a:buNone/>
            </a:pPr>
            <a:r>
              <a:rPr lang="en-US" sz="2400" dirty="0">
                <a:latin typeface="+mj-lt"/>
              </a:rPr>
              <a:t>		= R1 200 / (R10 000 – R1 200)</a:t>
            </a:r>
          </a:p>
          <a:p>
            <a:pPr marL="0" indent="0">
              <a:lnSpc>
                <a:spcPct val="105000"/>
              </a:lnSpc>
              <a:buSzPct val="100000"/>
              <a:buNone/>
            </a:pPr>
            <a:r>
              <a:rPr lang="en-US" sz="2400" dirty="0">
                <a:latin typeface="+mj-lt"/>
              </a:rPr>
              <a:t>		= 13.64%</a:t>
            </a:r>
          </a:p>
        </p:txBody>
      </p:sp>
    </p:spTree>
    <p:custDataLst>
      <p:tags r:id="rId1"/>
    </p:custDataLst>
    <p:extLst>
      <p:ext uri="{BB962C8B-B14F-4D97-AF65-F5344CB8AC3E}">
        <p14:creationId xmlns:p14="http://schemas.microsoft.com/office/powerpoint/2010/main" val="2239059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DE785C-712B-65EC-5343-0CD02D6CBB0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4FF9DAA-417F-0D5A-3239-0DE1C9229ED1}"/>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3FBB59ED-D737-8D91-98F9-0697EE870955}"/>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36</a:t>
            </a:fld>
            <a:endParaRPr lang="en-US">
              <a:solidFill>
                <a:schemeClr val="tx1"/>
              </a:solidFill>
            </a:endParaRPr>
          </a:p>
        </p:txBody>
      </p:sp>
      <p:sp>
        <p:nvSpPr>
          <p:cNvPr id="4" name="Rectangle 5">
            <a:extLst>
              <a:ext uri="{FF2B5EF4-FFF2-40B4-BE49-F238E27FC236}">
                <a16:creationId xmlns:a16="http://schemas.microsoft.com/office/drawing/2014/main" id="{2C419AFF-1A9C-FBDC-43EF-833F172C5F10}"/>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Example: An investor makes a deposit of </a:t>
            </a:r>
            <a:r>
              <a:rPr lang="en-US" sz="2400">
                <a:latin typeface="+mj-lt"/>
              </a:rPr>
              <a:t>R1 000 </a:t>
            </a:r>
            <a:r>
              <a:rPr lang="en-US" sz="2400" dirty="0">
                <a:latin typeface="+mj-lt"/>
              </a:rPr>
              <a:t>that will earn a nominal interest rate of 15% pa and intends keeping investment for one year. Using a 365-day year, investor has R1 150 after 365 days. Under a 360-day year, investor has R1 150 after 360 days. If investor reinvest original principal for extra 5 days at 15%, what is the additional interest earned?</a:t>
            </a:r>
          </a:p>
          <a:p>
            <a:pPr>
              <a:lnSpc>
                <a:spcPct val="105000"/>
              </a:lnSpc>
              <a:buSzPct val="100000"/>
              <a:buFont typeface="Arial" panose="020B0604020202020204" pitchFamily="34" charset="0"/>
              <a:buChar char="•"/>
            </a:pPr>
            <a:endParaRPr lang="en-US" sz="2400" dirty="0">
              <a:latin typeface="+mj-lt"/>
            </a:endParaRPr>
          </a:p>
          <a:p>
            <a:pPr marL="0" indent="0">
              <a:lnSpc>
                <a:spcPct val="105000"/>
              </a:lnSpc>
              <a:buSzPct val="100000"/>
              <a:buNone/>
            </a:pPr>
            <a:r>
              <a:rPr lang="en-US" sz="2400" dirty="0">
                <a:latin typeface="+mj-lt"/>
              </a:rPr>
              <a:t>	= R1 000 x 0.15 x (5 / 360)</a:t>
            </a:r>
          </a:p>
          <a:p>
            <a:pPr marL="0" indent="0">
              <a:lnSpc>
                <a:spcPct val="105000"/>
              </a:lnSpc>
              <a:buSzPct val="100000"/>
              <a:buNone/>
            </a:pPr>
            <a:r>
              <a:rPr lang="en-US" sz="2400" dirty="0">
                <a:latin typeface="+mj-lt"/>
              </a:rPr>
              <a:t>	= R2.08</a:t>
            </a:r>
          </a:p>
        </p:txBody>
      </p:sp>
    </p:spTree>
    <p:custDataLst>
      <p:tags r:id="rId1"/>
    </p:custDataLst>
    <p:extLst>
      <p:ext uri="{BB962C8B-B14F-4D97-AF65-F5344CB8AC3E}">
        <p14:creationId xmlns:p14="http://schemas.microsoft.com/office/powerpoint/2010/main" val="39380714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D7C36D5-B0FA-F903-F4E2-083FA0F14F9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4D5C740-ABBA-7234-B625-9E4159373B53}"/>
              </a:ext>
            </a:extLst>
          </p:cNvPr>
          <p:cNvSpPr>
            <a:spLocks noGrp="1" noChangeArrowheads="1"/>
          </p:cNvSpPr>
          <p:nvPr>
            <p:ph type="title"/>
          </p:nvPr>
        </p:nvSpPr>
        <p:spPr>
          <a:xfrm>
            <a:off x="228600" y="10510"/>
            <a:ext cx="8763000" cy="1143000"/>
          </a:xfrm>
        </p:spPr>
        <p:txBody>
          <a:bodyPr/>
          <a:lstStyle/>
          <a:p>
            <a:r>
              <a:rPr lang="en-US" dirty="0">
                <a:solidFill>
                  <a:schemeClr val="tx2"/>
                </a:solidFill>
              </a:rPr>
              <a:t>Variations of future- and present-value techniques (cont.)</a:t>
            </a:r>
          </a:p>
        </p:txBody>
      </p:sp>
      <p:sp>
        <p:nvSpPr>
          <p:cNvPr id="3" name="Slide Number Placeholder 2">
            <a:extLst>
              <a:ext uri="{FF2B5EF4-FFF2-40B4-BE49-F238E27FC236}">
                <a16:creationId xmlns:a16="http://schemas.microsoft.com/office/drawing/2014/main" id="{224B2A4A-111A-AADD-742D-779B2F8D91A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37</a:t>
            </a:fld>
            <a:endParaRPr lang="en-US">
              <a:solidFill>
                <a:schemeClr val="tx1"/>
              </a:solidFill>
            </a:endParaRPr>
          </a:p>
        </p:txBody>
      </p:sp>
      <p:sp>
        <p:nvSpPr>
          <p:cNvPr id="4" name="Rectangle 5">
            <a:extLst>
              <a:ext uri="{FF2B5EF4-FFF2-40B4-BE49-F238E27FC236}">
                <a16:creationId xmlns:a16="http://schemas.microsoft.com/office/drawing/2014/main" id="{31D21100-8882-DD47-BC75-A9A858258DB2}"/>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Calculating effective yield requires changing from a 365-day nominal interest rate to a 360-day nominal interest rate if 360-day year is applicable</a:t>
            </a:r>
          </a:p>
          <a:p>
            <a:pPr>
              <a:lnSpc>
                <a:spcPct val="105000"/>
              </a:lnSpc>
              <a:buSzPct val="100000"/>
              <a:buFont typeface="Arial" panose="020B0604020202020204" pitchFamily="34" charset="0"/>
              <a:buChar char="•"/>
            </a:pPr>
            <a:endParaRPr lang="en-US" sz="2400" dirty="0">
              <a:latin typeface="+mj-lt"/>
            </a:endParaRPr>
          </a:p>
          <a:p>
            <a:pPr marL="0" indent="0">
              <a:lnSpc>
                <a:spcPct val="105000"/>
              </a:lnSpc>
              <a:buSzPct val="100000"/>
              <a:buNone/>
            </a:pPr>
            <a:r>
              <a:rPr lang="en-US" sz="2400" i="1" dirty="0">
                <a:latin typeface="+mj-lt"/>
              </a:rPr>
              <a:t>	</a:t>
            </a:r>
            <a:r>
              <a:rPr lang="en-US" sz="2400" i="1" dirty="0" err="1">
                <a:latin typeface="+mj-lt"/>
              </a:rPr>
              <a:t>i</a:t>
            </a:r>
            <a:r>
              <a:rPr lang="en-US" sz="2400" baseline="-25000" dirty="0" err="1">
                <a:latin typeface="+mj-lt"/>
              </a:rPr>
              <a:t>nom</a:t>
            </a:r>
            <a:r>
              <a:rPr lang="en-US" sz="2400" dirty="0">
                <a:latin typeface="+mj-lt"/>
              </a:rPr>
              <a:t>	= </a:t>
            </a:r>
            <a:r>
              <a:rPr lang="en-US" sz="2400" i="1" dirty="0">
                <a:latin typeface="+mj-lt"/>
              </a:rPr>
              <a:t>i</a:t>
            </a:r>
            <a:r>
              <a:rPr lang="en-US" sz="2400" baseline="-25000" dirty="0">
                <a:latin typeface="+mj-lt"/>
              </a:rPr>
              <a:t>360</a:t>
            </a:r>
            <a:r>
              <a:rPr lang="en-US" sz="2400" dirty="0">
                <a:latin typeface="+mj-lt"/>
              </a:rPr>
              <a:t>(365 / 360) x 100</a:t>
            </a:r>
          </a:p>
          <a:p>
            <a:pPr marL="0" indent="0">
              <a:lnSpc>
                <a:spcPct val="105000"/>
              </a:lnSpc>
              <a:buSzPct val="100000"/>
              <a:buNone/>
            </a:pPr>
            <a:r>
              <a:rPr lang="en-US" sz="2400" dirty="0">
                <a:latin typeface="+mj-lt"/>
              </a:rPr>
              <a:t>		= 0.15 x (365 / 360) x 100</a:t>
            </a:r>
          </a:p>
          <a:p>
            <a:pPr marL="0" indent="0">
              <a:lnSpc>
                <a:spcPct val="105000"/>
              </a:lnSpc>
              <a:buSzPct val="100000"/>
              <a:buNone/>
            </a:pPr>
            <a:r>
              <a:rPr lang="en-US" sz="2400" dirty="0">
                <a:latin typeface="+mj-lt"/>
              </a:rPr>
              <a:t>		= 15.21%</a:t>
            </a:r>
          </a:p>
          <a:p>
            <a:pPr marL="0" indent="0">
              <a:lnSpc>
                <a:spcPct val="105000"/>
              </a:lnSpc>
              <a:buSzPct val="100000"/>
              <a:buNone/>
            </a:pPr>
            <a:endParaRPr lang="en-US" sz="2400" dirty="0">
              <a:latin typeface="+mj-lt"/>
            </a:endParaRPr>
          </a:p>
          <a:p>
            <a:pPr>
              <a:lnSpc>
                <a:spcPct val="105000"/>
              </a:lnSpc>
              <a:buSzPct val="100000"/>
              <a:buFont typeface="Arial" panose="020B0604020202020204" pitchFamily="34" charset="0"/>
              <a:buChar char="•"/>
            </a:pPr>
            <a:r>
              <a:rPr lang="en-US" sz="2400" dirty="0">
                <a:latin typeface="+mj-lt"/>
              </a:rPr>
              <a:t>Using 360-day with daily compounding</a:t>
            </a:r>
          </a:p>
          <a:p>
            <a:pPr marL="0" indent="0">
              <a:lnSpc>
                <a:spcPct val="105000"/>
              </a:lnSpc>
              <a:buSzPct val="100000"/>
              <a:buNone/>
            </a:pPr>
            <a:r>
              <a:rPr lang="en-US" sz="2400" dirty="0">
                <a:latin typeface="+mj-lt"/>
              </a:rPr>
              <a:t>	</a:t>
            </a:r>
            <a:r>
              <a:rPr lang="en-US" sz="2400" i="1" dirty="0">
                <a:latin typeface="+mj-lt"/>
              </a:rPr>
              <a:t> </a:t>
            </a:r>
            <a:r>
              <a:rPr lang="en-US" sz="2400" i="1" dirty="0" err="1">
                <a:latin typeface="+mj-lt"/>
              </a:rPr>
              <a:t>i</a:t>
            </a:r>
            <a:r>
              <a:rPr lang="en-US" sz="2400" baseline="-25000" dirty="0" err="1">
                <a:latin typeface="+mj-lt"/>
              </a:rPr>
              <a:t>eff</a:t>
            </a:r>
            <a:r>
              <a:rPr lang="en-US" sz="2400" dirty="0">
                <a:latin typeface="+mj-lt"/>
              </a:rPr>
              <a:t>	= </a:t>
            </a:r>
            <a:r>
              <a:rPr lang="en-ZA" sz="2400" dirty="0"/>
              <a:t>[1 + (0.1521 / 365)]</a:t>
            </a:r>
            <a:r>
              <a:rPr lang="en-ZA" sz="2400" baseline="30000" dirty="0"/>
              <a:t>365</a:t>
            </a:r>
            <a:r>
              <a:rPr lang="en-ZA" sz="2400" dirty="0"/>
              <a:t> – 1</a:t>
            </a:r>
          </a:p>
          <a:p>
            <a:pPr marL="0" indent="0">
              <a:lnSpc>
                <a:spcPct val="105000"/>
              </a:lnSpc>
              <a:buSzPct val="100000"/>
              <a:buNone/>
            </a:pPr>
            <a:r>
              <a:rPr lang="en-ZA" sz="2400" dirty="0"/>
              <a:t>		= 16.42%</a:t>
            </a:r>
          </a:p>
          <a:p>
            <a:pPr marL="0" indent="0">
              <a:lnSpc>
                <a:spcPct val="105000"/>
              </a:lnSpc>
              <a:buSzPct val="100000"/>
              <a:buNone/>
            </a:pPr>
            <a:endParaRPr lang="en-US" sz="2400" dirty="0">
              <a:latin typeface="+mj-lt"/>
            </a:endParaRPr>
          </a:p>
          <a:p>
            <a:pPr marL="0" indent="0">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3983244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F6B515-58EC-CED6-6BB5-71C2534DEA1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738037E-DF81-01B5-E412-E9A49514BDC7}"/>
              </a:ext>
            </a:extLst>
          </p:cNvPr>
          <p:cNvSpPr>
            <a:spLocks noGrp="1" noChangeArrowheads="1"/>
          </p:cNvSpPr>
          <p:nvPr>
            <p:ph type="title"/>
          </p:nvPr>
        </p:nvSpPr>
        <p:spPr>
          <a:xfrm>
            <a:off x="228600" y="10510"/>
            <a:ext cx="8763000" cy="1143000"/>
          </a:xfrm>
        </p:spPr>
        <p:txBody>
          <a:bodyPr/>
          <a:lstStyle/>
          <a:p>
            <a:r>
              <a:rPr lang="en-US" dirty="0">
                <a:solidFill>
                  <a:schemeClr val="tx2"/>
                </a:solidFill>
              </a:rPr>
              <a:t>Role of time value of money in financial management</a:t>
            </a:r>
          </a:p>
        </p:txBody>
      </p:sp>
      <p:sp>
        <p:nvSpPr>
          <p:cNvPr id="3" name="Slide Number Placeholder 2">
            <a:extLst>
              <a:ext uri="{FF2B5EF4-FFF2-40B4-BE49-F238E27FC236}">
                <a16:creationId xmlns:a16="http://schemas.microsoft.com/office/drawing/2014/main" id="{7B8BA508-5520-DE8A-261E-042AE3D4C97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38</a:t>
            </a:fld>
            <a:endParaRPr lang="en-US">
              <a:solidFill>
                <a:schemeClr val="tx1"/>
              </a:solidFill>
            </a:endParaRPr>
          </a:p>
        </p:txBody>
      </p:sp>
      <p:sp>
        <p:nvSpPr>
          <p:cNvPr id="4" name="Rectangle 5">
            <a:extLst>
              <a:ext uri="{FF2B5EF4-FFF2-40B4-BE49-F238E27FC236}">
                <a16:creationId xmlns:a16="http://schemas.microsoft.com/office/drawing/2014/main" id="{C37BC52B-8805-782C-277F-6D220B23AEFC}"/>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Investment decisions</a:t>
            </a:r>
          </a:p>
          <a:p>
            <a:pPr marL="715963">
              <a:lnSpc>
                <a:spcPct val="105000"/>
              </a:lnSpc>
              <a:buSzPct val="100000"/>
              <a:buFont typeface="Wingdings" panose="05000000000000000000" pitchFamily="2" charset="2"/>
              <a:buChar char="§"/>
            </a:pPr>
            <a:r>
              <a:rPr lang="en-US" sz="2400" dirty="0">
                <a:latin typeface="+mj-lt"/>
              </a:rPr>
              <a:t>Long-term investments – use various capital budgeting techniques </a:t>
            </a:r>
            <a:r>
              <a:rPr lang="en-US" sz="2400" dirty="0" err="1">
                <a:latin typeface="+mj-lt"/>
              </a:rPr>
              <a:t>eg</a:t>
            </a:r>
            <a:r>
              <a:rPr lang="en-US" sz="2400" dirty="0">
                <a:latin typeface="+mj-lt"/>
              </a:rPr>
              <a:t> NPV, payback, PI, IRR (Chapter 13)</a:t>
            </a:r>
          </a:p>
          <a:p>
            <a:pPr>
              <a:lnSpc>
                <a:spcPct val="105000"/>
              </a:lnSpc>
              <a:buSzPct val="100000"/>
              <a:buFont typeface="Arial" panose="020B0604020202020204" pitchFamily="34" charset="0"/>
              <a:buChar char="•"/>
            </a:pPr>
            <a:r>
              <a:rPr lang="en-US" sz="2400" dirty="0">
                <a:latin typeface="+mj-lt"/>
              </a:rPr>
              <a:t>Financing decisions</a:t>
            </a:r>
          </a:p>
          <a:p>
            <a:pPr marL="715963">
              <a:lnSpc>
                <a:spcPct val="105000"/>
              </a:lnSpc>
              <a:buSzPct val="100000"/>
              <a:buFont typeface="Wingdings" panose="05000000000000000000" pitchFamily="2" charset="2"/>
              <a:buChar char="§"/>
            </a:pPr>
            <a:r>
              <a:rPr lang="en-US" sz="2400" dirty="0">
                <a:latin typeface="+mj-lt"/>
              </a:rPr>
              <a:t>Capital structure decisions – debt ratio </a:t>
            </a:r>
            <a:r>
              <a:rPr lang="en-US" sz="2400" dirty="0" err="1">
                <a:latin typeface="+mj-lt"/>
              </a:rPr>
              <a:t>maximising</a:t>
            </a:r>
            <a:r>
              <a:rPr lang="en-US" sz="2400" dirty="0">
                <a:latin typeface="+mj-lt"/>
              </a:rPr>
              <a:t> share value applied (Chapter 16)</a:t>
            </a:r>
          </a:p>
          <a:p>
            <a:pPr marL="715963">
              <a:lnSpc>
                <a:spcPct val="105000"/>
              </a:lnSpc>
              <a:buSzPct val="100000"/>
              <a:buFont typeface="Wingdings" panose="05000000000000000000" pitchFamily="2" charset="2"/>
              <a:buChar char="§"/>
            </a:pPr>
            <a:r>
              <a:rPr lang="en-US" sz="2400" dirty="0">
                <a:latin typeface="+mj-lt"/>
              </a:rPr>
              <a:t>Lease vs buy – use net advantage of leasing and IRR (using discounted cash flows) (Chapter 12)</a:t>
            </a:r>
          </a:p>
        </p:txBody>
      </p:sp>
    </p:spTree>
    <p:custDataLst>
      <p:tags r:id="rId1"/>
    </p:custDataLst>
    <p:extLst>
      <p:ext uri="{BB962C8B-B14F-4D97-AF65-F5344CB8AC3E}">
        <p14:creationId xmlns:p14="http://schemas.microsoft.com/office/powerpoint/2010/main" val="1198275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57547A-9346-962E-5856-6C1DFD761AE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30F23C1-DD74-2BAA-05C1-8ACFCD2EFA70}"/>
              </a:ext>
            </a:extLst>
          </p:cNvPr>
          <p:cNvSpPr>
            <a:spLocks noGrp="1" noChangeArrowheads="1"/>
          </p:cNvSpPr>
          <p:nvPr>
            <p:ph type="title"/>
          </p:nvPr>
        </p:nvSpPr>
        <p:spPr>
          <a:xfrm>
            <a:off x="228600" y="10510"/>
            <a:ext cx="8763000" cy="1143000"/>
          </a:xfrm>
        </p:spPr>
        <p:txBody>
          <a:bodyPr/>
          <a:lstStyle/>
          <a:p>
            <a:r>
              <a:rPr lang="en-US" dirty="0">
                <a:solidFill>
                  <a:schemeClr val="tx2"/>
                </a:solidFill>
              </a:rPr>
              <a:t>Role of time value of money in financial management (cont.)</a:t>
            </a:r>
          </a:p>
        </p:txBody>
      </p:sp>
      <p:sp>
        <p:nvSpPr>
          <p:cNvPr id="3" name="Slide Number Placeholder 2">
            <a:extLst>
              <a:ext uri="{FF2B5EF4-FFF2-40B4-BE49-F238E27FC236}">
                <a16:creationId xmlns:a16="http://schemas.microsoft.com/office/drawing/2014/main" id="{74A17DCD-12A6-08EF-3F31-55972282C3D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39</a:t>
            </a:fld>
            <a:endParaRPr lang="en-US">
              <a:solidFill>
                <a:schemeClr val="tx1"/>
              </a:solidFill>
            </a:endParaRPr>
          </a:p>
        </p:txBody>
      </p:sp>
      <p:sp>
        <p:nvSpPr>
          <p:cNvPr id="4" name="Rectangle 5">
            <a:extLst>
              <a:ext uri="{FF2B5EF4-FFF2-40B4-BE49-F238E27FC236}">
                <a16:creationId xmlns:a16="http://schemas.microsoft.com/office/drawing/2014/main" id="{A2971CFB-F0D5-8FCF-F25F-6E4AE70EC67F}"/>
              </a:ext>
            </a:extLst>
          </p:cNvPr>
          <p:cNvSpPr>
            <a:spLocks noGrp="1" noChangeArrowheads="1"/>
          </p:cNvSpPr>
          <p:nvPr>
            <p:ph idx="1"/>
          </p:nvPr>
        </p:nvSpPr>
        <p:spPr>
          <a:xfrm>
            <a:off x="259976" y="1229710"/>
            <a:ext cx="8655424" cy="5247290"/>
          </a:xfrm>
        </p:spPr>
        <p:txBody>
          <a:bodyPr/>
          <a:lstStyle/>
          <a:p>
            <a:pPr>
              <a:lnSpc>
                <a:spcPct val="105000"/>
              </a:lnSpc>
              <a:buSzPct val="100000"/>
              <a:buFont typeface="Arial" panose="020B0604020202020204" pitchFamily="34" charset="0"/>
              <a:buChar char="•"/>
            </a:pPr>
            <a:r>
              <a:rPr lang="en-US" sz="2400" dirty="0">
                <a:latin typeface="+mj-lt"/>
              </a:rPr>
              <a:t>Working capital management</a:t>
            </a:r>
          </a:p>
          <a:p>
            <a:pPr marL="630238">
              <a:lnSpc>
                <a:spcPct val="105000"/>
              </a:lnSpc>
              <a:buSzPct val="100000"/>
              <a:buFont typeface="Wingdings" panose="05000000000000000000" pitchFamily="2" charset="2"/>
              <a:buChar char="§"/>
            </a:pPr>
            <a:r>
              <a:rPr lang="en-US" sz="2400" dirty="0">
                <a:latin typeface="+mj-lt"/>
              </a:rPr>
              <a:t>Receive cash inflows quickly and postpone cash outflows for as long as possible – </a:t>
            </a:r>
            <a:r>
              <a:rPr lang="en-US" sz="2400" dirty="0" err="1">
                <a:latin typeface="+mj-lt"/>
              </a:rPr>
              <a:t>maximise</a:t>
            </a:r>
            <a:r>
              <a:rPr lang="en-US" sz="2400" dirty="0">
                <a:latin typeface="+mj-lt"/>
              </a:rPr>
              <a:t> value of firm (Chapters 9 to 11)</a:t>
            </a:r>
          </a:p>
          <a:p>
            <a:pPr>
              <a:lnSpc>
                <a:spcPct val="105000"/>
              </a:lnSpc>
              <a:buSzPct val="100000"/>
              <a:buFont typeface="Arial" panose="020B0604020202020204" pitchFamily="34" charset="0"/>
              <a:buChar char="•"/>
            </a:pPr>
            <a:r>
              <a:rPr lang="en-US" sz="2400" dirty="0">
                <a:latin typeface="+mj-lt"/>
              </a:rPr>
              <a:t>Dividend policy</a:t>
            </a:r>
          </a:p>
          <a:p>
            <a:pPr marL="715963">
              <a:lnSpc>
                <a:spcPct val="105000"/>
              </a:lnSpc>
              <a:buSzPct val="100000"/>
              <a:buFont typeface="Wingdings" panose="05000000000000000000" pitchFamily="2" charset="2"/>
              <a:buChar char="§"/>
            </a:pPr>
            <a:r>
              <a:rPr lang="en-US" sz="2400" dirty="0">
                <a:latin typeface="+mj-lt"/>
              </a:rPr>
              <a:t>Pay vs postponement of dividends – cash dividends postponed to advantage of business (Chapter 18)</a:t>
            </a:r>
          </a:p>
          <a:p>
            <a:pPr marL="715963">
              <a:lnSpc>
                <a:spcPct val="105000"/>
              </a:lnSpc>
              <a:buSzPct val="100000"/>
              <a:buFont typeface="Wingdings" panose="05000000000000000000" pitchFamily="2" charset="2"/>
              <a:buChar char="§"/>
            </a:pPr>
            <a:r>
              <a:rPr lang="en-US" sz="2400" dirty="0">
                <a:latin typeface="+mj-lt"/>
              </a:rPr>
              <a:t>Cash dividends key factor when determining share price</a:t>
            </a:r>
          </a:p>
          <a:p>
            <a:pPr>
              <a:lnSpc>
                <a:spcPct val="105000"/>
              </a:lnSpc>
              <a:buSzPct val="100000"/>
              <a:buFont typeface="Arial" panose="020B0604020202020204" pitchFamily="34" charset="0"/>
              <a:buChar char="•"/>
            </a:pPr>
            <a:r>
              <a:rPr lang="en-US" sz="2400" dirty="0">
                <a:latin typeface="+mj-lt"/>
              </a:rPr>
              <a:t>Valuation</a:t>
            </a:r>
          </a:p>
          <a:p>
            <a:pPr marL="715963">
              <a:lnSpc>
                <a:spcPct val="105000"/>
              </a:lnSpc>
              <a:buSzPct val="100000"/>
              <a:buFont typeface="Wingdings" panose="05000000000000000000" pitchFamily="2" charset="2"/>
              <a:buChar char="§"/>
            </a:pPr>
            <a:r>
              <a:rPr lang="en-US" sz="2400" dirty="0">
                <a:latin typeface="+mj-lt"/>
              </a:rPr>
              <a:t>Present value of all expected future dividends (Chapter 8)</a:t>
            </a:r>
          </a:p>
        </p:txBody>
      </p:sp>
    </p:spTree>
    <p:custDataLst>
      <p:tags r:id="rId1"/>
    </p:custDataLst>
    <p:extLst>
      <p:ext uri="{BB962C8B-B14F-4D97-AF65-F5344CB8AC3E}">
        <p14:creationId xmlns:p14="http://schemas.microsoft.com/office/powerpoint/2010/main" val="3810594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solidFill>
                  <a:schemeClr val="tx2"/>
                </a:solidFill>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ahoma"/>
                <a:ea typeface="ＭＳ Ｐゴシック"/>
              </a:rPr>
              <a:t>Work through Chapter 7</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Tahoma"/>
                <a:ea typeface="ＭＳ Ｐゴシック"/>
              </a:rPr>
              <a:t>Problems at the end of the chapter relating to the content already covered</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Tahoma"/>
                <a:ea typeface="ＭＳ Ｐゴシック"/>
              </a:rPr>
              <a:t>Read through Chapter 8 part 1</a:t>
            </a:r>
            <a:r>
              <a:rPr lang="en-US" sz="24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lang="en-US" sz="2400" kern="0" dirty="0">
              <a:solidFill>
                <a:prstClr val="black"/>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lang="en-US" sz="2400" kern="0" dirty="0">
                <a:solidFill>
                  <a:prstClr val="black"/>
                </a:solidFill>
                <a:latin typeface="Tahoma"/>
                <a:ea typeface="ＭＳ Ｐゴシック"/>
              </a:rPr>
              <a:t>Individual tutorial A – closes at 20:00 on 11 March 2026 – NO LATE SUBMISSIONS WILL BE ACCEPTED</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lang="en-US" sz="2400" kern="0" dirty="0">
              <a:solidFill>
                <a:prstClr val="black"/>
              </a:solidFill>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None/>
              <a:tabLst/>
              <a:defRPr/>
            </a:pPr>
            <a:endParaRPr lang="en-US" sz="2400" kern="0" dirty="0">
              <a:solidFill>
                <a:prstClr val="black"/>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ags/tag27.xml><?xml version="1.0" encoding="utf-8"?>
<p:tagLst xmlns:a="http://schemas.openxmlformats.org/drawingml/2006/main" xmlns:r="http://schemas.openxmlformats.org/officeDocument/2006/relationships" xmlns:p="http://schemas.openxmlformats.org/presentationml/2006/main">
  <p:tag name="TIMING" val="|41.1|7.7|19|3.7"/>
</p:tagLst>
</file>

<file path=ppt/tags/tag28.xml><?xml version="1.0" encoding="utf-8"?>
<p:tagLst xmlns:a="http://schemas.openxmlformats.org/drawingml/2006/main" xmlns:r="http://schemas.openxmlformats.org/officeDocument/2006/relationships" xmlns:p="http://schemas.openxmlformats.org/presentationml/2006/main">
  <p:tag name="TIMING" val="|41.1|7.7|19|3.7"/>
</p:tagLst>
</file>

<file path=ppt/tags/tag29.xml><?xml version="1.0" encoding="utf-8"?>
<p:tagLst xmlns:a="http://schemas.openxmlformats.org/drawingml/2006/main" xmlns:r="http://schemas.openxmlformats.org/officeDocument/2006/relationships" xmlns:p="http://schemas.openxmlformats.org/presentationml/2006/main">
  <p:tag name="TIMING" val="|41.1|7.7|19|3.7"/>
</p:tagLst>
</file>

<file path=ppt/tags/tag30.xml><?xml version="1.0" encoding="utf-8"?>
<p:tagLst xmlns:a="http://schemas.openxmlformats.org/drawingml/2006/main" xmlns:r="http://schemas.openxmlformats.org/officeDocument/2006/relationships" xmlns:p="http://schemas.openxmlformats.org/presentationml/2006/main">
  <p:tag name="TIMING" val="|41.1|7.7|19|3.7"/>
</p:tagLst>
</file>

<file path=ppt/tags/tag31.xml><?xml version="1.0" encoding="utf-8"?>
<p:tagLst xmlns:a="http://schemas.openxmlformats.org/drawingml/2006/main" xmlns:r="http://schemas.openxmlformats.org/officeDocument/2006/relationships" xmlns:p="http://schemas.openxmlformats.org/presentationml/2006/main">
  <p:tag name="TIMING" val="|41.1|7.7|19|3.7"/>
</p:tagLst>
</file>

<file path=ppt/tags/tag32.xml><?xml version="1.0" encoding="utf-8"?>
<p:tagLst xmlns:a="http://schemas.openxmlformats.org/drawingml/2006/main" xmlns:r="http://schemas.openxmlformats.org/officeDocument/2006/relationships" xmlns:p="http://schemas.openxmlformats.org/presentationml/2006/main">
  <p:tag name="TIMING" val="|41.1|7.7|19|3.7"/>
</p:tagLst>
</file>

<file path=ppt/tags/tag33.xml><?xml version="1.0" encoding="utf-8"?>
<p:tagLst xmlns:a="http://schemas.openxmlformats.org/drawingml/2006/main" xmlns:r="http://schemas.openxmlformats.org/officeDocument/2006/relationships" xmlns:p="http://schemas.openxmlformats.org/presentationml/2006/main">
  <p:tag name="TIMING" val="|41.1|7.7|19|3.7"/>
</p:tagLst>
</file>

<file path=ppt/tags/tag34.xml><?xml version="1.0" encoding="utf-8"?>
<p:tagLst xmlns:a="http://schemas.openxmlformats.org/drawingml/2006/main" xmlns:r="http://schemas.openxmlformats.org/officeDocument/2006/relationships" xmlns:p="http://schemas.openxmlformats.org/presentationml/2006/main">
  <p:tag name="TIMING" val="|41.1|7.7|19|3.7"/>
</p:tagLst>
</file>

<file path=ppt/tags/tag35.xml><?xml version="1.0" encoding="utf-8"?>
<p:tagLst xmlns:a="http://schemas.openxmlformats.org/drawingml/2006/main" xmlns:r="http://schemas.openxmlformats.org/officeDocument/2006/relationships" xmlns:p="http://schemas.openxmlformats.org/presentationml/2006/main">
  <p:tag name="TIMING" val="|41.1|7.7|19|3.7"/>
</p:tagLst>
</file>

<file path=ppt/tags/tag36.xml><?xml version="1.0" encoding="utf-8"?>
<p:tagLst xmlns:a="http://schemas.openxmlformats.org/drawingml/2006/main" xmlns:r="http://schemas.openxmlformats.org/officeDocument/2006/relationships" xmlns:p="http://schemas.openxmlformats.org/presentationml/2006/main">
  <p:tag name="TIMING" val="|41.1|7.7|19|3.7"/>
</p:tagLst>
</file>

<file path=ppt/tags/tag37.xml><?xml version="1.0" encoding="utf-8"?>
<p:tagLst xmlns:a="http://schemas.openxmlformats.org/drawingml/2006/main" xmlns:r="http://schemas.openxmlformats.org/officeDocument/2006/relationships" xmlns:p="http://schemas.openxmlformats.org/presentationml/2006/main">
  <p:tag name="TIMING" val="|41.1|7.7|19|3.7"/>
</p:tagLst>
</file>

<file path=ppt/tags/tag38.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6820</TotalTime>
  <Words>3577</Words>
  <Application>Microsoft Office PowerPoint</Application>
  <PresentationFormat>On-screen Show (4:3)</PresentationFormat>
  <Paragraphs>591</Paragraphs>
  <Slides>40</Slides>
  <Notes>40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40</vt:i4>
      </vt:variant>
    </vt:vector>
  </HeadingPairs>
  <TitlesOfParts>
    <vt:vector size="49" baseType="lpstr">
      <vt:lpstr>ＭＳ Ｐゴシック</vt:lpstr>
      <vt:lpstr>Arial</vt:lpstr>
      <vt:lpstr>Symbol</vt:lpstr>
      <vt:lpstr>Tahoma</vt:lpstr>
      <vt:lpstr>Times</vt:lpstr>
      <vt:lpstr>Wingdings</vt:lpstr>
      <vt:lpstr>Wingdings 2</vt:lpstr>
      <vt:lpstr>Blank Presentation</vt:lpstr>
      <vt:lpstr>1_Blank Presentation</vt:lpstr>
      <vt:lpstr>PowerPoint Presentation</vt:lpstr>
      <vt:lpstr>Learning outcomes: Chapter 7</vt:lpstr>
      <vt:lpstr>Introduction</vt:lpstr>
      <vt:lpstr>Future values</vt:lpstr>
      <vt:lpstr>Future values (cont.)</vt:lpstr>
      <vt:lpstr>Future values (cont.)</vt:lpstr>
      <vt:lpstr>Future values (cont.)</vt:lpstr>
      <vt:lpstr>Future values (cont.)</vt:lpstr>
      <vt:lpstr>Future values (cont.)</vt:lpstr>
      <vt:lpstr>Future values (cont.)</vt:lpstr>
      <vt:lpstr>Future values (cont.)</vt:lpstr>
      <vt:lpstr>Future values (cont.)</vt:lpstr>
      <vt:lpstr>Future values (cont.)</vt:lpstr>
      <vt:lpstr>Future values (cont.)</vt:lpstr>
      <vt:lpstr>Comparing future value and present value</vt:lpstr>
      <vt:lpstr>Present values</vt:lpstr>
      <vt:lpstr>Present values (cont.)</vt:lpstr>
      <vt:lpstr>Present values (cont.)</vt:lpstr>
      <vt:lpstr>Present values (cont.)</vt:lpstr>
      <vt:lpstr>Present values (cont.)</vt:lpstr>
      <vt:lpstr>Present values (cont.)</vt:lpstr>
      <vt:lpstr>Present values (cont.)</vt:lpstr>
      <vt:lpstr>Present values (cont.)</vt:lpstr>
      <vt:lpstr>Present values (cont.)</vt:lpstr>
      <vt:lpstr>Present values (cont.)</vt:lpstr>
      <vt:lpstr>Present values (cont.)</vt:lpstr>
      <vt:lpstr>Present values (cont.)</vt:lpstr>
      <vt:lpstr>Variations of future- and present-value techniques</vt:lpstr>
      <vt:lpstr>Variations of future- and present-value techniques (cont.)</vt:lpstr>
      <vt:lpstr>Variations of future- and present-value techniques (cont.)</vt:lpstr>
      <vt:lpstr>Variations of future- and present-value techniques (cont.)</vt:lpstr>
      <vt:lpstr>Variations of future- and present-value techniques (cont.)</vt:lpstr>
      <vt:lpstr>Variations of future- and present-value techniques (cont.)</vt:lpstr>
      <vt:lpstr>Variations of future- and present-value techniques (cont.)</vt:lpstr>
      <vt:lpstr>Variations of future- and present-value techniques (cont.)</vt:lpstr>
      <vt:lpstr>Variations of future- and present-value techniques (cont.)</vt:lpstr>
      <vt:lpstr>Variations of future- and present-value techniques (cont.)</vt:lpstr>
      <vt:lpstr>Role of time value of money in financial management</vt:lpstr>
      <vt:lpstr>Role of time value of money in financial management (cont.)</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Reviewer</cp:lastModifiedBy>
  <cp:revision>734</cp:revision>
  <cp:lastPrinted>2024-03-12T06:20:07Z</cp:lastPrinted>
  <dcterms:created xsi:type="dcterms:W3CDTF">2010-03-21T13:43:06Z</dcterms:created>
  <dcterms:modified xsi:type="dcterms:W3CDTF">2026-03-06T10:54:31Z</dcterms:modified>
</cp:coreProperties>
</file>