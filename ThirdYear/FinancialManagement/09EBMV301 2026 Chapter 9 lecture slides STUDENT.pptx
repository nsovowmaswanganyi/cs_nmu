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tags/tag9.xml" ContentType="application/vnd.openxmlformats-officedocument.presentationml.tags+xml"/>
  <Override PartName="/ppt/notesSlides/notesSlide10.xml" ContentType="application/vnd.openxmlformats-officedocument.presentationml.notesSlide+xml"/>
  <Override PartName="/ppt/tags/tag10.xml" ContentType="application/vnd.openxmlformats-officedocument.presentationml.tags+xml"/>
  <Override PartName="/ppt/notesSlides/notesSlide11.xml" ContentType="application/vnd.openxmlformats-officedocument.presentationml.notesSlide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ppt/tags/tag12.xml" ContentType="application/vnd.openxmlformats-officedocument.presentationml.tags+xml"/>
  <Override PartName="/ppt/notesSlides/notesSlide13.xml" ContentType="application/vnd.openxmlformats-officedocument.presentationml.notesSlide+xml"/>
  <Override PartName="/ppt/tags/tag13.xml" ContentType="application/vnd.openxmlformats-officedocument.presentationml.tags+xml"/>
  <Override PartName="/ppt/notesSlides/notesSlide14.xml" ContentType="application/vnd.openxmlformats-officedocument.presentationml.notesSlide+xml"/>
  <Override PartName="/ppt/tags/tag14.xml" ContentType="application/vnd.openxmlformats-officedocument.presentationml.tags+xml"/>
  <Override PartName="/ppt/notesSlides/notesSlide15.xml" ContentType="application/vnd.openxmlformats-officedocument.presentationml.notesSlide+xml"/>
  <Override PartName="/ppt/tags/tag15.xml" ContentType="application/vnd.openxmlformats-officedocument.presentationml.tags+xml"/>
  <Override PartName="/ppt/notesSlides/notesSlide16.xml" ContentType="application/vnd.openxmlformats-officedocument.presentationml.notesSlide+xml"/>
  <Override PartName="/ppt/tags/tag16.xml" ContentType="application/vnd.openxmlformats-officedocument.presentationml.tags+xml"/>
  <Override PartName="/ppt/notesSlides/notesSlide17.xml" ContentType="application/vnd.openxmlformats-officedocument.presentationml.notesSlide+xml"/>
  <Override PartName="/ppt/tags/tag17.xml" ContentType="application/vnd.openxmlformats-officedocument.presentationml.tags+xml"/>
  <Override PartName="/ppt/notesSlides/notesSlide18.xml" ContentType="application/vnd.openxmlformats-officedocument.presentationml.notesSlide+xml"/>
  <Override PartName="/ppt/tags/tag18.xml" ContentType="application/vnd.openxmlformats-officedocument.presentationml.tags+xml"/>
  <Override PartName="/ppt/notesSlides/notesSlide19.xml" ContentType="application/vnd.openxmlformats-officedocument.presentationml.notesSlide+xml"/>
  <Override PartName="/ppt/tags/tag19.xml" ContentType="application/vnd.openxmlformats-officedocument.presentationml.tags+xml"/>
  <Override PartName="/ppt/notesSlides/notesSlide20.xml" ContentType="application/vnd.openxmlformats-officedocument.presentationml.notesSlide+xml"/>
  <Override PartName="/ppt/tags/tag20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tags/tag21.xml" ContentType="application/vnd.openxmlformats-officedocument.presentationml.tags+xml"/>
  <Override PartName="/ppt/notesSlides/notesSlide32.xml" ContentType="application/vnd.openxmlformats-officedocument.presentationml.notesSlide+xml"/>
  <Override PartName="/ppt/tags/tag22.xml" ContentType="application/vnd.openxmlformats-officedocument.presentationml.tags+xml"/>
  <Override PartName="/ppt/notesSlides/notesSlide33.xml" ContentType="application/vnd.openxmlformats-officedocument.presentationml.notesSlide+xml"/>
  <Override PartName="/ppt/tags/tag23.xml" ContentType="application/vnd.openxmlformats-officedocument.presentationml.tags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64" r:id="rId2"/>
    <p:sldMasterId id="2147483677" r:id="rId3"/>
  </p:sldMasterIdLst>
  <p:notesMasterIdLst>
    <p:notesMasterId r:id="rId39"/>
  </p:notesMasterIdLst>
  <p:handoutMasterIdLst>
    <p:handoutMasterId r:id="rId40"/>
  </p:handoutMasterIdLst>
  <p:sldIdLst>
    <p:sldId id="283" r:id="rId4"/>
    <p:sldId id="291" r:id="rId5"/>
    <p:sldId id="259" r:id="rId6"/>
    <p:sldId id="367" r:id="rId7"/>
    <p:sldId id="368" r:id="rId8"/>
    <p:sldId id="371" r:id="rId9"/>
    <p:sldId id="372" r:id="rId10"/>
    <p:sldId id="373" r:id="rId11"/>
    <p:sldId id="374" r:id="rId12"/>
    <p:sldId id="375" r:id="rId13"/>
    <p:sldId id="376" r:id="rId14"/>
    <p:sldId id="377" r:id="rId15"/>
    <p:sldId id="378" r:id="rId16"/>
    <p:sldId id="379" r:id="rId17"/>
    <p:sldId id="380" r:id="rId18"/>
    <p:sldId id="381" r:id="rId19"/>
    <p:sldId id="382" r:id="rId20"/>
    <p:sldId id="383" r:id="rId21"/>
    <p:sldId id="384" r:id="rId22"/>
    <p:sldId id="386" r:id="rId23"/>
    <p:sldId id="388" r:id="rId24"/>
    <p:sldId id="422" r:id="rId25"/>
    <p:sldId id="424" r:id="rId26"/>
    <p:sldId id="425" r:id="rId27"/>
    <p:sldId id="428" r:id="rId28"/>
    <p:sldId id="429" r:id="rId29"/>
    <p:sldId id="430" r:id="rId30"/>
    <p:sldId id="446" r:id="rId31"/>
    <p:sldId id="447" r:id="rId32"/>
    <p:sldId id="431" r:id="rId33"/>
    <p:sldId id="448" r:id="rId34"/>
    <p:sldId id="385" r:id="rId35"/>
    <p:sldId id="449" r:id="rId36"/>
    <p:sldId id="450" r:id="rId37"/>
    <p:sldId id="335" r:id="rId38"/>
  </p:sldIdLst>
  <p:sldSz cx="9144000" cy="6858000" type="screen4x3"/>
  <p:notesSz cx="6858000" cy="9945688"/>
  <p:custDataLst>
    <p:tags r:id="rId41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u Plessis, Darius" initials="dPD" lastIdx="2" clrIdx="0"/>
  <p:cmAuthor id="2" name="Wepener van der Walt" initials="WvdW" lastIdx="5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3A17"/>
    <a:srgbClr val="ADB3BF"/>
    <a:srgbClr val="D69249"/>
    <a:srgbClr val="FDF1BB"/>
    <a:srgbClr val="FDF4C9"/>
    <a:srgbClr val="A2A871"/>
    <a:srgbClr val="9DA900"/>
    <a:srgbClr val="00677B"/>
    <a:srgbClr val="94A41A"/>
    <a:srgbClr val="FCF1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howGuides="1">
      <p:cViewPr varScale="1">
        <p:scale>
          <a:sx n="92" d="100"/>
          <a:sy n="92" d="100"/>
        </p:scale>
        <p:origin x="108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commentAuthors" Target="commentAuthors.xml"/><Relationship Id="rId47" Type="http://schemas.microsoft.com/office/2016/11/relationships/changesInfo" Target="changesInfos/changesInfo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handoutMaster" Target="handoutMasters/handoutMaster1.xml"/><Relationship Id="rId45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presProps" Target="pres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otman, Chantal (Prof) (Summerstrand Campus South)" userId="b3444f73-21d4-4d22-b260-75b64de2b6d6" providerId="ADAL" clId="{CA337457-3A02-45C4-B125-12B77EE3F4B3}"/>
    <pc:docChg chg="custSel modSld">
      <pc:chgData name="Rootman, Chantal (Prof) (Summerstrand Campus South)" userId="b3444f73-21d4-4d22-b260-75b64de2b6d6" providerId="ADAL" clId="{CA337457-3A02-45C4-B125-12B77EE3F4B3}" dt="2026-02-03T09:56:59.445" v="11" actId="478"/>
      <pc:docMkLst>
        <pc:docMk/>
      </pc:docMkLst>
      <pc:sldChg chg="delSp mod">
        <pc:chgData name="Rootman, Chantal (Prof) (Summerstrand Campus South)" userId="b3444f73-21d4-4d22-b260-75b64de2b6d6" providerId="ADAL" clId="{CA337457-3A02-45C4-B125-12B77EE3F4B3}" dt="2026-02-03T09:56:08.250" v="0" actId="478"/>
        <pc:sldMkLst>
          <pc:docMk/>
          <pc:sldMk cId="1067134094" sldId="283"/>
        </pc:sldMkLst>
        <pc:picChg chg="del">
          <ac:chgData name="Rootman, Chantal (Prof) (Summerstrand Campus South)" userId="b3444f73-21d4-4d22-b260-75b64de2b6d6" providerId="ADAL" clId="{CA337457-3A02-45C4-B125-12B77EE3F4B3}" dt="2026-02-03T09:56:08.250" v="0" actId="478"/>
          <ac:picMkLst>
            <pc:docMk/>
            <pc:sldMk cId="1067134094" sldId="283"/>
            <ac:picMk id="4" creationId="{1022AE71-D7C8-51D0-8077-1B394481F51D}"/>
          </ac:picMkLst>
        </pc:picChg>
      </pc:sldChg>
      <pc:sldChg chg="delSp mod">
        <pc:chgData name="Rootman, Chantal (Prof) (Summerstrand Campus South)" userId="b3444f73-21d4-4d22-b260-75b64de2b6d6" providerId="ADAL" clId="{CA337457-3A02-45C4-B125-12B77EE3F4B3}" dt="2026-02-03T09:56:10.473" v="1" actId="478"/>
        <pc:sldMkLst>
          <pc:docMk/>
          <pc:sldMk cId="1180031484" sldId="368"/>
        </pc:sldMkLst>
        <pc:picChg chg="del">
          <ac:chgData name="Rootman, Chantal (Prof) (Summerstrand Campus South)" userId="b3444f73-21d4-4d22-b260-75b64de2b6d6" providerId="ADAL" clId="{CA337457-3A02-45C4-B125-12B77EE3F4B3}" dt="2026-02-03T09:56:10.473" v="1" actId="478"/>
          <ac:picMkLst>
            <pc:docMk/>
            <pc:sldMk cId="1180031484" sldId="368"/>
            <ac:picMk id="4" creationId="{411E9110-39E2-AA7A-B188-51E486ED4ED6}"/>
          </ac:picMkLst>
        </pc:picChg>
      </pc:sldChg>
      <pc:sldChg chg="delSp mod">
        <pc:chgData name="Rootman, Chantal (Prof) (Summerstrand Campus South)" userId="b3444f73-21d4-4d22-b260-75b64de2b6d6" providerId="ADAL" clId="{CA337457-3A02-45C4-B125-12B77EE3F4B3}" dt="2026-02-03T09:56:11.621" v="2" actId="478"/>
        <pc:sldMkLst>
          <pc:docMk/>
          <pc:sldMk cId="3607739278" sldId="371"/>
        </pc:sldMkLst>
        <pc:picChg chg="del">
          <ac:chgData name="Rootman, Chantal (Prof) (Summerstrand Campus South)" userId="b3444f73-21d4-4d22-b260-75b64de2b6d6" providerId="ADAL" clId="{CA337457-3A02-45C4-B125-12B77EE3F4B3}" dt="2026-02-03T09:56:11.621" v="2" actId="478"/>
          <ac:picMkLst>
            <pc:docMk/>
            <pc:sldMk cId="3607739278" sldId="371"/>
            <ac:picMk id="4" creationId="{9EEF6316-9306-A2DA-C717-FC03D482A2CA}"/>
          </ac:picMkLst>
        </pc:picChg>
      </pc:sldChg>
      <pc:sldChg chg="delSp mod">
        <pc:chgData name="Rootman, Chantal (Prof) (Summerstrand Campus South)" userId="b3444f73-21d4-4d22-b260-75b64de2b6d6" providerId="ADAL" clId="{CA337457-3A02-45C4-B125-12B77EE3F4B3}" dt="2026-02-03T09:56:12.861" v="3" actId="478"/>
        <pc:sldMkLst>
          <pc:docMk/>
          <pc:sldMk cId="2598389254" sldId="372"/>
        </pc:sldMkLst>
        <pc:picChg chg="del">
          <ac:chgData name="Rootman, Chantal (Prof) (Summerstrand Campus South)" userId="b3444f73-21d4-4d22-b260-75b64de2b6d6" providerId="ADAL" clId="{CA337457-3A02-45C4-B125-12B77EE3F4B3}" dt="2026-02-03T09:56:12.861" v="3" actId="478"/>
          <ac:picMkLst>
            <pc:docMk/>
            <pc:sldMk cId="2598389254" sldId="372"/>
            <ac:picMk id="4" creationId="{88050F4F-F225-D000-67CD-F18823BB5A21}"/>
          </ac:picMkLst>
        </pc:picChg>
      </pc:sldChg>
      <pc:sldChg chg="delSp mod">
        <pc:chgData name="Rootman, Chantal (Prof) (Summerstrand Campus South)" userId="b3444f73-21d4-4d22-b260-75b64de2b6d6" providerId="ADAL" clId="{CA337457-3A02-45C4-B125-12B77EE3F4B3}" dt="2026-02-03T09:56:44.096" v="8" actId="478"/>
        <pc:sldMkLst>
          <pc:docMk/>
          <pc:sldMk cId="580042339" sldId="375"/>
        </pc:sldMkLst>
        <pc:picChg chg="del">
          <ac:chgData name="Rootman, Chantal (Prof) (Summerstrand Campus South)" userId="b3444f73-21d4-4d22-b260-75b64de2b6d6" providerId="ADAL" clId="{CA337457-3A02-45C4-B125-12B77EE3F4B3}" dt="2026-02-03T09:56:44.096" v="8" actId="478"/>
          <ac:picMkLst>
            <pc:docMk/>
            <pc:sldMk cId="580042339" sldId="375"/>
            <ac:picMk id="4" creationId="{CCF632CB-7783-F1B0-245B-646488798A97}"/>
          </ac:picMkLst>
        </pc:picChg>
      </pc:sldChg>
      <pc:sldChg chg="delSp mod">
        <pc:chgData name="Rootman, Chantal (Prof) (Summerstrand Campus South)" userId="b3444f73-21d4-4d22-b260-75b64de2b6d6" providerId="ADAL" clId="{CA337457-3A02-45C4-B125-12B77EE3F4B3}" dt="2026-02-03T09:56:52.675" v="9" actId="478"/>
        <pc:sldMkLst>
          <pc:docMk/>
          <pc:sldMk cId="2635850143" sldId="377"/>
        </pc:sldMkLst>
        <pc:picChg chg="del">
          <ac:chgData name="Rootman, Chantal (Prof) (Summerstrand Campus South)" userId="b3444f73-21d4-4d22-b260-75b64de2b6d6" providerId="ADAL" clId="{CA337457-3A02-45C4-B125-12B77EE3F4B3}" dt="2026-02-03T09:56:52.675" v="9" actId="478"/>
          <ac:picMkLst>
            <pc:docMk/>
            <pc:sldMk cId="2635850143" sldId="377"/>
            <ac:picMk id="4" creationId="{F1EF96C3-222B-B936-CFBF-0994DE31662D}"/>
          </ac:picMkLst>
        </pc:picChg>
      </pc:sldChg>
      <pc:sldChg chg="addSp delSp modSp mod">
        <pc:chgData name="Rootman, Chantal (Prof) (Summerstrand Campus South)" userId="b3444f73-21d4-4d22-b260-75b64de2b6d6" providerId="ADAL" clId="{CA337457-3A02-45C4-B125-12B77EE3F4B3}" dt="2026-02-03T09:56:59.445" v="11" actId="478"/>
        <pc:sldMkLst>
          <pc:docMk/>
          <pc:sldMk cId="2586000203" sldId="378"/>
        </pc:sldMkLst>
        <pc:spChg chg="add del mod">
          <ac:chgData name="Rootman, Chantal (Prof) (Summerstrand Campus South)" userId="b3444f73-21d4-4d22-b260-75b64de2b6d6" providerId="ADAL" clId="{CA337457-3A02-45C4-B125-12B77EE3F4B3}" dt="2026-02-03T09:56:59.445" v="11" actId="478"/>
          <ac:spMkLst>
            <pc:docMk/>
            <pc:sldMk cId="2586000203" sldId="378"/>
            <ac:spMk id="5" creationId="{985B20F1-7B6A-8D91-A52B-37CC40A5245B}"/>
          </ac:spMkLst>
        </pc:spChg>
        <pc:picChg chg="del">
          <ac:chgData name="Rootman, Chantal (Prof) (Summerstrand Campus South)" userId="b3444f73-21d4-4d22-b260-75b64de2b6d6" providerId="ADAL" clId="{CA337457-3A02-45C4-B125-12B77EE3F4B3}" dt="2026-02-03T09:56:56.064" v="10" actId="478"/>
          <ac:picMkLst>
            <pc:docMk/>
            <pc:sldMk cId="2586000203" sldId="378"/>
            <ac:picMk id="4" creationId="{3E2B418D-EC1F-E8E6-589D-C3321EEA7B24}"/>
          </ac:picMkLst>
        </pc:picChg>
      </pc:sldChg>
      <pc:sldChg chg="addSp delSp modSp mod">
        <pc:chgData name="Rootman, Chantal (Prof) (Summerstrand Campus South)" userId="b3444f73-21d4-4d22-b260-75b64de2b6d6" providerId="ADAL" clId="{CA337457-3A02-45C4-B125-12B77EE3F4B3}" dt="2026-02-03T09:56:20.224" v="5" actId="478"/>
        <pc:sldMkLst>
          <pc:docMk/>
          <pc:sldMk cId="2982670412" sldId="380"/>
        </pc:sldMkLst>
        <pc:spChg chg="add del mod">
          <ac:chgData name="Rootman, Chantal (Prof) (Summerstrand Campus South)" userId="b3444f73-21d4-4d22-b260-75b64de2b6d6" providerId="ADAL" clId="{CA337457-3A02-45C4-B125-12B77EE3F4B3}" dt="2026-02-03T09:56:20.224" v="5" actId="478"/>
          <ac:spMkLst>
            <pc:docMk/>
            <pc:sldMk cId="2982670412" sldId="380"/>
            <ac:spMk id="6" creationId="{24B80CA0-22F7-CD9B-ED36-FAE2B8A77FCE}"/>
          </ac:spMkLst>
        </pc:spChg>
        <pc:picChg chg="del">
          <ac:chgData name="Rootman, Chantal (Prof) (Summerstrand Campus South)" userId="b3444f73-21d4-4d22-b260-75b64de2b6d6" providerId="ADAL" clId="{CA337457-3A02-45C4-B125-12B77EE3F4B3}" dt="2026-02-03T09:56:17.636" v="4" actId="478"/>
          <ac:picMkLst>
            <pc:docMk/>
            <pc:sldMk cId="2982670412" sldId="380"/>
            <ac:picMk id="4" creationId="{EEAC1491-F942-4FB5-7C6F-BD9C7433FC08}"/>
          </ac:picMkLst>
        </pc:picChg>
      </pc:sldChg>
      <pc:sldChg chg="delSp mod">
        <pc:chgData name="Rootman, Chantal (Prof) (Summerstrand Campus South)" userId="b3444f73-21d4-4d22-b260-75b64de2b6d6" providerId="ADAL" clId="{CA337457-3A02-45C4-B125-12B77EE3F4B3}" dt="2026-02-03T09:56:28.323" v="7" actId="478"/>
        <pc:sldMkLst>
          <pc:docMk/>
          <pc:sldMk cId="246515282" sldId="448"/>
        </pc:sldMkLst>
        <pc:picChg chg="del">
          <ac:chgData name="Rootman, Chantal (Prof) (Summerstrand Campus South)" userId="b3444f73-21d4-4d22-b260-75b64de2b6d6" providerId="ADAL" clId="{CA337457-3A02-45C4-B125-12B77EE3F4B3}" dt="2026-02-03T09:56:27.695" v="6" actId="478"/>
          <ac:picMkLst>
            <pc:docMk/>
            <pc:sldMk cId="246515282" sldId="448"/>
            <ac:picMk id="3" creationId="{0F549E0B-0880-20F9-794C-C39A895A7222}"/>
          </ac:picMkLst>
        </pc:picChg>
        <pc:picChg chg="del">
          <ac:chgData name="Rootman, Chantal (Prof) (Summerstrand Campus South)" userId="b3444f73-21d4-4d22-b260-75b64de2b6d6" providerId="ADAL" clId="{CA337457-3A02-45C4-B125-12B77EE3F4B3}" dt="2026-02-03T09:56:28.323" v="7" actId="478"/>
          <ac:picMkLst>
            <pc:docMk/>
            <pc:sldMk cId="246515282" sldId="448"/>
            <ac:picMk id="9" creationId="{9D441940-7DD0-E004-32BE-98F45BFE1F0A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1" y="0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8403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1" y="9448403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1903A18-4839-8D4F-8ABB-4D063655F5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40864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1" y="0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42975" y="746125"/>
            <a:ext cx="4972050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8403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1" y="9448403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00996E8-5341-8848-B47C-0F512A8E3D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3353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442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7824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1101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7397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4546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6267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1228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0875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8758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73966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1201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8452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6808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4692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5695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4816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2767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5309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4497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8278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7375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ZA" dirty="0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CD92D65-E0DB-4C86-B606-E542D855AE6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641125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ZA" dirty="0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CD92D65-E0DB-4C86-B606-E542D855AE6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126243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ZA" dirty="0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CD92D65-E0DB-4C86-B606-E542D855AE6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409159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ZA" dirty="0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CD92D65-E0DB-4C86-B606-E542D855AE6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140705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ZA" dirty="0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CD92D65-E0DB-4C86-B606-E542D855AE6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902568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ZA" dirty="0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CD92D65-E0DB-4C86-B606-E542D855AE6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751903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ZA" dirty="0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CD92D65-E0DB-4C86-B606-E542D855AE6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264237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ZA" dirty="0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CD92D65-E0DB-4C86-B606-E542D855AE6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7401887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ZA" dirty="0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CD92D65-E0DB-4C86-B606-E542D855AE6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7720777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ZA" dirty="0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CD92D65-E0DB-4C86-B606-E542D855AE6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3350652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08237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02724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5490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defTabSz="918698"/>
            <a:fld id="{73303AEE-F764-0E46-AFB6-085D8FECA2EE}" type="slidenum">
              <a:rPr lang="en-US">
                <a:solidFill>
                  <a:srgbClr val="000000"/>
                </a:solidFill>
              </a:rPr>
              <a:pPr defTabSz="918698"/>
              <a:t>35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83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397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itle templat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943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304800"/>
            <a:ext cx="7772400" cy="1470025"/>
          </a:xfrm>
        </p:spPr>
        <p:txBody>
          <a:bodyPr/>
          <a:lstStyle>
            <a:lvl1pPr>
              <a:defRPr b="0" cap="none" spc="0">
                <a:ln>
                  <a:noFill/>
                </a:ln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40C429-FEEA-7C46-811F-BB6B290A1B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7E0EE7-581C-F445-BDC6-E24C5F5F02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B6F7B1-1F54-DC45-AA19-AF96705266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3F0B62-EB7C-4C4C-9663-BBBCE65389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99D31C-B9FB-A342-BD45-9C454D0273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29A667-37E8-0F44-9A2C-CCFACA3E43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6AF9B5-D6E4-DD42-9360-8089314394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CCEB52-F4EC-F746-83D7-E3FE51B4A0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9EA789-1832-954F-943E-958C915F84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57250E-25D6-4747-832C-D993B00481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0850" y="304800"/>
            <a:ext cx="219075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304800"/>
            <a:ext cx="641985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2E7CE9-E929-6C4E-9651-8733B1382B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6C6F65-9470-3143-AA4D-A7FCF6DFB4B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9260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itle templat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943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28600"/>
            <a:ext cx="7772400" cy="1470025"/>
          </a:xfrm>
        </p:spPr>
        <p:txBody>
          <a:bodyPr/>
          <a:lstStyle>
            <a:lvl1pPr>
              <a:defR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DC5801-AA14-4D1A-A09C-9A7B708D243D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40C429-FEEA-7C46-811F-BB6B290A1B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1303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EE7E0EE7-581C-F445-BDC6-E24C5F5F02F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6944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65C6B5-DD21-4288-8561-AE356B15015C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B6F7B1-1F54-DC45-AA19-AF96705266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3631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559354-B95F-440D-8860-EF55DC073CE5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3F0B62-EB7C-4C4C-9663-BBBCE65389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934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E4B58B-DB37-4B77-A33E-10DE74417EED}" type="datetime1">
              <a:rPr lang="en-US" smtClean="0"/>
              <a:t>2/3/2026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99D31C-B9FB-A342-BD45-9C454D0273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3016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02792B-6D6E-426B-AC0C-C6FEF743363F}" type="datetime1">
              <a:rPr lang="en-US" smtClean="0"/>
              <a:t>2/3/2026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29A667-37E8-0F44-9A2C-CCFACA3E43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7821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EDE5F5-1C57-47D5-852C-555C0AFFE31C}" type="datetime1">
              <a:rPr lang="en-US" smtClean="0"/>
              <a:t>2/3/2026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6AF9B5-D6E4-DD42-9360-8089314394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3681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EA1D04-25F2-4213-979E-6BF08363A9FC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CCEB52-F4EC-F746-83D7-E3FE51B4A0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1553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6F2C86-7BFE-466F-80DB-F7397FFB5C35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9EA789-1832-954F-943E-958C915F84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0238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D52624-D27F-4068-A9A7-8BF922128060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57250E-25D6-4747-832C-D993B00481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2441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0850" y="304800"/>
            <a:ext cx="219075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304800"/>
            <a:ext cx="641985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293FD7-5D95-4EB5-9D95-C3616D7FED50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2E7CE9-E929-6C4E-9651-8733B1382B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602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D32DAC-1C69-402C-AC50-7D9759DFBFB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9810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itle templat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943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381000"/>
            <a:ext cx="7772400" cy="1470025"/>
          </a:xfrm>
        </p:spPr>
        <p:txBody>
          <a:bodyPr/>
          <a:lstStyle>
            <a:lvl1pPr>
              <a:defR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280F4C-D20F-4E42-B892-F50B035922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328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BF1490-F315-E146-BF40-8863287273B9}" type="datetime1">
              <a:rPr lang="en-US"/>
              <a:pPr>
                <a:defRPr/>
              </a:pPr>
              <a:t>2/3/2026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9388B48C-AF25-9349-ADFB-BD16EC0885F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41997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6BBECB-0074-FC49-9A48-26640A89A3ED}" type="datetime1">
              <a:rPr lang="en-US"/>
              <a:pPr>
                <a:defRPr/>
              </a:pPr>
              <a:t>2/3/2026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AB778E-DC55-6144-B0FD-F5749176D7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1955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66C88B-6580-E14A-B992-CE9915710923}" type="datetime1">
              <a:rPr lang="en-US"/>
              <a:pPr>
                <a:defRPr/>
              </a:pPr>
              <a:t>2/3/2026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EDA76C-2B4B-6545-A920-3D8F125715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8909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9A8116-1F18-1E42-91BA-2CBF8DE2A17E}" type="datetime1">
              <a:rPr lang="en-US"/>
              <a:pPr>
                <a:defRPr/>
              </a:pPr>
              <a:t>2/3/2026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089F4A-1641-3243-B0F2-B62025ED15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15613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F70A47-6485-A144-9590-E8D90DC6D983}" type="datetime1">
              <a:rPr lang="en-US"/>
              <a:pPr>
                <a:defRPr/>
              </a:pPr>
              <a:t>2/3/2026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DDC54625-CEE0-144D-A62C-0850D4B07FB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77938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7D436C-A1D4-6740-99C6-BAF1A1FDB226}" type="datetime1">
              <a:rPr lang="en-US"/>
              <a:pPr>
                <a:defRPr/>
              </a:pPr>
              <a:t>2/3/2026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188647-DB58-7949-A3C3-D22AAACDFB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16121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FAE36E-17CF-8E4C-AAD1-F144DA40D7B0}" type="datetime1">
              <a:rPr lang="en-US"/>
              <a:pPr>
                <a:defRPr/>
              </a:pPr>
              <a:t>2/3/2026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7CA742-6BD8-D644-9A08-4E2349E933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9099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F98664-083E-3545-8427-DCB4D14C53D8}" type="datetime1">
              <a:rPr lang="en-US"/>
              <a:pPr>
                <a:defRPr/>
              </a:pPr>
              <a:t>2/3/2026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7A657B-BED3-B74F-8FAA-DCAE9C1772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3395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B041C0-7E57-1749-A0B9-445380D9442E}" type="datetime1">
              <a:rPr lang="en-US"/>
              <a:pPr>
                <a:defRPr/>
              </a:pPr>
              <a:t>2/3/2026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6CACE6-98F4-6B42-A1BE-2672BD8DED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04756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0850" y="304800"/>
            <a:ext cx="219075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304800"/>
            <a:ext cx="641985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9C8AB2-8660-2E47-8715-945FD1C3E0A4}" type="datetime1">
              <a:rPr lang="en-US"/>
              <a:pPr>
                <a:defRPr/>
              </a:pPr>
              <a:t>2/3/2026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3D1517-D7A9-FF4E-9494-5F159047D0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5371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97D32DAC-1C69-402C-AC50-7D9759DFBFB6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417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FIN Blue.jpg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943" cy="6858000"/>
          </a:xfrm>
          <a:prstGeom prst="rect">
            <a:avLst/>
          </a:prstGeom>
        </p:spPr>
      </p:pic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304800"/>
            <a:ext cx="876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4770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46C6F65-9470-3143-AA4D-A7FCF6DFB4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3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+mj-lt"/>
          <a:ea typeface="+mj-ea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9pPr>
    </p:titleStyle>
    <p:bodyStyle>
      <a:lvl1pPr marL="342900" indent="-3429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charset="2"/>
        <a:buChar char="u"/>
        <a:defRPr sz="3200">
          <a:solidFill>
            <a:schemeClr val="tx1"/>
          </a:solidFill>
          <a:latin typeface="+mn-lt"/>
          <a:ea typeface="+mn-ea"/>
          <a:cs typeface="ＭＳ Ｐゴシック" charset="-128"/>
        </a:defRPr>
      </a:lvl1pPr>
      <a:lvl2pPr marL="742950" indent="-28575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Font typeface="Wingdings 2" charset="2"/>
        <a:buChar char="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Font typeface="Times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FIN Blue.jpg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943" cy="6858000"/>
          </a:xfrm>
          <a:prstGeom prst="rect">
            <a:avLst/>
          </a:prstGeom>
        </p:spPr>
      </p:pic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304800"/>
            <a:ext cx="876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fld id="{CA1720AD-FDE0-49DA-9374-2B2FC9527FE1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4770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46C6F65-9470-3143-AA4D-A7FCF6DFB4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813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+mj-lt"/>
          <a:ea typeface="+mj-ea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9pPr>
    </p:titleStyle>
    <p:bodyStyle>
      <a:lvl1pPr marL="342900" indent="-3429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charset="2"/>
        <a:buChar char="u"/>
        <a:defRPr sz="3200">
          <a:solidFill>
            <a:schemeClr val="tx1"/>
          </a:solidFill>
          <a:latin typeface="+mn-lt"/>
          <a:ea typeface="+mn-ea"/>
          <a:cs typeface="ＭＳ Ｐゴシック" charset="-128"/>
        </a:defRPr>
      </a:lvl1pPr>
      <a:lvl2pPr marL="742950" indent="-28575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Font typeface="Wingdings 2" charset="2"/>
        <a:buChar char="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Font typeface="Times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FIN Blue.jpg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943" cy="6858000"/>
          </a:xfrm>
          <a:prstGeom prst="rect">
            <a:avLst/>
          </a:prstGeom>
        </p:spPr>
      </p:pic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304800"/>
            <a:ext cx="876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4770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120CADE-E3FB-F44E-95E7-FBAA398224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01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+mj-lt"/>
          <a:ea typeface="+mj-ea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9pPr>
    </p:titleStyle>
    <p:bodyStyle>
      <a:lvl1pPr marL="342900" indent="-3429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charset="2"/>
        <a:buChar char="u"/>
        <a:defRPr sz="3200">
          <a:solidFill>
            <a:schemeClr val="tx1"/>
          </a:solidFill>
          <a:latin typeface="+mn-lt"/>
          <a:ea typeface="+mn-ea"/>
          <a:cs typeface="ＭＳ Ｐゴシック" charset="-128"/>
        </a:defRPr>
      </a:lvl1pPr>
      <a:lvl2pPr marL="742950" indent="-28575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Font typeface="Wingdings 2" charset="2"/>
        <a:buChar char="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Font typeface="Times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4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ChangeArrowheads="1"/>
          </p:cNvSpPr>
          <p:nvPr/>
        </p:nvSpPr>
        <p:spPr bwMode="auto">
          <a:xfrm>
            <a:off x="5466312" y="2176157"/>
            <a:ext cx="3124200" cy="2059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0" tIns="44446" rIns="90480" bIns="44446">
            <a:spAutoFit/>
          </a:bodyPr>
          <a:lstStyle/>
          <a:p>
            <a:pPr lvl="0" algn="ctr" defTabSz="912813" eaLnBrk="1" hangingPunct="1">
              <a:spcBef>
                <a:spcPct val="50000"/>
              </a:spcBef>
              <a:defRPr/>
            </a:pPr>
            <a:r>
              <a:rPr lang="en-ZA" sz="3200" b="1" dirty="0">
                <a:solidFill>
                  <a:srgbClr val="28287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Net working capital and cash flow management</a:t>
            </a:r>
            <a:endParaRPr lang="en-GB" sz="3200" b="1" dirty="0">
              <a:solidFill>
                <a:srgbClr val="28287A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4339457" y="101304"/>
            <a:ext cx="5113283" cy="11323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0" tIns="44446" rIns="90480" bIns="44446" anchor="ctr"/>
          <a:lstStyle/>
          <a:p>
            <a:pPr marL="0" marR="0" lvl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srgbClr val="28287A"/>
                </a:solidFill>
                <a:effectLst/>
                <a:uLnTx/>
                <a:uFillTx/>
                <a:latin typeface="+mn-lt"/>
                <a:ea typeface="+mn-ea"/>
                <a:cs typeface="Arial" charset="0"/>
              </a:rPr>
              <a:t>Chapter 9</a:t>
            </a:r>
          </a:p>
        </p:txBody>
      </p:sp>
      <p:sp>
        <p:nvSpPr>
          <p:cNvPr id="4101" name="Rectangle 6"/>
          <p:cNvSpPr>
            <a:spLocks noChangeArrowheads="1"/>
          </p:cNvSpPr>
          <p:nvPr/>
        </p:nvSpPr>
        <p:spPr bwMode="auto">
          <a:xfrm>
            <a:off x="4742050" y="5387788"/>
            <a:ext cx="4424362" cy="1013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0" tIns="44446" rIns="90480" bIns="44446">
            <a:spAutoFit/>
          </a:bodyPr>
          <a:lstStyle/>
          <a:p>
            <a:pPr lvl="0" algn="ctr" defTabSz="912813" eaLnBrk="1" hangingPunct="1"/>
            <a:r>
              <a:rPr lang="en-GB" sz="2000" b="1" dirty="0">
                <a:solidFill>
                  <a:srgbClr val="28287A"/>
                </a:solidFill>
                <a:latin typeface="+mn-lt"/>
                <a:ea typeface="+mn-ea"/>
                <a:cs typeface="Arial" charset="0"/>
              </a:rPr>
              <a:t>Slides by Prof C Rootman, </a:t>
            </a:r>
          </a:p>
          <a:p>
            <a:pPr lvl="0" algn="ctr" defTabSz="912813" eaLnBrk="1" hangingPunct="1"/>
            <a:r>
              <a:rPr lang="en-GB" sz="2000" b="1" dirty="0">
                <a:solidFill>
                  <a:srgbClr val="28287A"/>
                </a:solidFill>
                <a:latin typeface="+mn-lt"/>
                <a:ea typeface="+mn-ea"/>
                <a:cs typeface="Arial" charset="0"/>
              </a:rPr>
              <a:t>Dr S Watson, Ms E Kobese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28287A"/>
                </a:solidFill>
                <a:effectLst/>
                <a:uLnTx/>
                <a:uFillTx/>
                <a:latin typeface="+mn-lt"/>
                <a:ea typeface="+mn-ea"/>
                <a:cs typeface="Arial" charset="0"/>
              </a:rPr>
              <a:t> </a:t>
            </a:r>
          </a:p>
          <a:p>
            <a:pPr lvl="0" algn="ctr" defTabSz="912813" eaLnBrk="1" hangingPunct="1"/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28287A"/>
                </a:solidFill>
                <a:effectLst/>
                <a:uLnTx/>
                <a:uFillTx/>
                <a:latin typeface="+mn-lt"/>
                <a:ea typeface="+mn-ea"/>
                <a:cs typeface="Arial" charset="0"/>
              </a:rPr>
              <a:t>&amp; Ms N Maliwa</a:t>
            </a:r>
          </a:p>
        </p:txBody>
      </p:sp>
    </p:spTree>
    <p:extLst>
      <p:ext uri="{BB962C8B-B14F-4D97-AF65-F5344CB8AC3E}">
        <p14:creationId xmlns:p14="http://schemas.microsoft.com/office/powerpoint/2010/main" val="1067134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269"/>
    </mc:Choice>
    <mc:Fallback xmlns="">
      <p:transition spd="slow" advTm="7626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9" name="Rectangle 1031"/>
          <p:cNvSpPr>
            <a:spLocks noGrp="1" noChangeArrowheads="1"/>
          </p:cNvSpPr>
          <p:nvPr>
            <p:ph type="title"/>
          </p:nvPr>
        </p:nvSpPr>
        <p:spPr>
          <a:xfrm>
            <a:off x="190500" y="76200"/>
            <a:ext cx="8763000" cy="685800"/>
          </a:xfrm>
        </p:spPr>
        <p:txBody>
          <a:bodyPr/>
          <a:lstStyle/>
          <a:p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Learning outcomes: Chapter 9</a:t>
            </a:r>
            <a:endParaRPr lang="en-US" sz="28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9400" name="Rectangle 1032"/>
          <p:cNvSpPr>
            <a:spLocks noGrp="1" noChangeArrowheads="1"/>
          </p:cNvSpPr>
          <p:nvPr>
            <p:ph idx="1"/>
          </p:nvPr>
        </p:nvSpPr>
        <p:spPr>
          <a:xfrm>
            <a:off x="217394" y="914400"/>
            <a:ext cx="8762999" cy="5791200"/>
          </a:xfrm>
        </p:spPr>
        <p:txBody>
          <a:bodyPr/>
          <a:lstStyle/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431800" algn="l"/>
              </a:tabLst>
            </a:pPr>
            <a:r>
              <a:rPr lang="en-US" sz="2400" dirty="0">
                <a:effectLst/>
                <a:ea typeface="Times New Roman" panose="02020603050405020304" pitchFamily="18" charset="0"/>
              </a:rPr>
              <a:t>decide on a working capital financing policy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431800" algn="l"/>
              </a:tabLst>
            </a:pPr>
            <a:r>
              <a:rPr lang="en-US" sz="2400" dirty="0">
                <a:effectLst/>
                <a:ea typeface="Times New Roman" panose="02020603050405020304" pitchFamily="18" charset="0"/>
              </a:rPr>
              <a:t>identify sources of short-term financing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431800" algn="l"/>
              </a:tabLst>
            </a:pPr>
            <a:r>
              <a:rPr lang="en-US" sz="2400" dirty="0">
                <a:effectLst/>
                <a:ea typeface="Times New Roman" panose="02020603050405020304" pitchFamily="18" charset="0"/>
              </a:rPr>
              <a:t>distinguish between profitability and cash flow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431800" algn="l"/>
              </a:tabLst>
            </a:pPr>
            <a:r>
              <a:rPr lang="en-US" sz="2400" dirty="0">
                <a:effectLst/>
                <a:ea typeface="Times New Roman" panose="02020603050405020304" pitchFamily="18" charset="0"/>
              </a:rPr>
              <a:t>efficiently manage cash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431800" algn="l"/>
              </a:tabLst>
            </a:pPr>
            <a:r>
              <a:rPr lang="en-US" sz="2400" dirty="0">
                <a:effectLst/>
                <a:ea typeface="Times New Roman" panose="02020603050405020304" pitchFamily="18" charset="0"/>
              </a:rPr>
              <a:t>estimate optimal cash balances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431800" algn="l"/>
              </a:tabLst>
            </a:pPr>
            <a:r>
              <a:rPr lang="en-US" sz="2400" dirty="0">
                <a:effectLst/>
                <a:ea typeface="Times New Roman" panose="02020603050405020304" pitchFamily="18" charset="0"/>
              </a:rPr>
              <a:t>compile a cash budget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431800" algn="l"/>
              </a:tabLst>
            </a:pPr>
            <a:r>
              <a:rPr lang="en-US" sz="2400" dirty="0">
                <a:effectLst/>
                <a:ea typeface="Times New Roman" panose="02020603050405020304" pitchFamily="18" charset="0"/>
              </a:rPr>
              <a:t>prevent losses of cash by means of internal control</a:t>
            </a:r>
            <a:r>
              <a:rPr lang="en-ZA" sz="2400" dirty="0">
                <a:ea typeface="Times New Roman" panose="02020603050405020304" pitchFamily="18" charset="0"/>
              </a:rPr>
              <a:t>.</a:t>
            </a:r>
            <a:endParaRPr lang="en-US" sz="2400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236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523"/>
    </mc:Choice>
    <mc:Fallback xmlns="">
      <p:transition spd="slow" advTm="7352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Introduction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244288" y="881555"/>
            <a:ext cx="8655424" cy="5824045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700" dirty="0"/>
              <a:t>Can you remember the 3 main financial management decision-making areas…?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700" dirty="0">
                <a:highlight>
                  <a:srgbClr val="FFFF00"/>
                </a:highlight>
              </a:rPr>
              <a:t>capital budgeting</a:t>
            </a:r>
            <a:r>
              <a:rPr lang="en-US" sz="2700" dirty="0"/>
              <a:t>, </a:t>
            </a:r>
            <a:r>
              <a:rPr lang="en-US" sz="2700" dirty="0">
                <a:highlight>
                  <a:srgbClr val="00FF00"/>
                </a:highlight>
              </a:rPr>
              <a:t>capital structuring</a:t>
            </a:r>
            <a:r>
              <a:rPr lang="en-US" sz="2700" dirty="0"/>
              <a:t>, </a:t>
            </a:r>
            <a:r>
              <a:rPr lang="en-US" sz="2700" dirty="0">
                <a:highlight>
                  <a:srgbClr val="00FFFF"/>
                </a:highlight>
              </a:rPr>
              <a:t>working capital management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700" dirty="0"/>
              <a:t>One of the most NB </a:t>
            </a:r>
            <a:r>
              <a:rPr lang="en-US" sz="2700" dirty="0">
                <a:highlight>
                  <a:srgbClr val="00FFFF"/>
                </a:highlight>
              </a:rPr>
              <a:t>working capital management </a:t>
            </a:r>
            <a:r>
              <a:rPr lang="en-US" sz="2700" dirty="0"/>
              <a:t>decisions: To what extent will ST debt (CL) be used to finance CA? 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700" dirty="0"/>
              <a:t>NWC = CA – CL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700" dirty="0"/>
              <a:t>NWC generally part of CAs that is financed with LT funds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700" dirty="0"/>
              <a:t>Since CL include ST financing sources, as long as CA &gt; CL, LT funds are needed to finance the deficit…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3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Working capital financing policies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244288" y="881555"/>
            <a:ext cx="8655424" cy="5824045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700" dirty="0"/>
              <a:t>A firm’s financing requirements can be split into 2 types of needs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700" b="1" dirty="0">
                <a:solidFill>
                  <a:srgbClr val="FFC000"/>
                </a:solidFill>
              </a:rPr>
              <a:t>Permanent</a:t>
            </a:r>
            <a:r>
              <a:rPr lang="en-US" sz="2700" dirty="0"/>
              <a:t> needs: financing needed for NC assets, and a permanent portion for the firm’s CA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700" b="1" dirty="0">
                <a:solidFill>
                  <a:srgbClr val="0070C0"/>
                </a:solidFill>
              </a:rPr>
              <a:t>Seasonal</a:t>
            </a:r>
            <a:r>
              <a:rPr lang="en-US" sz="2700" dirty="0"/>
              <a:t> needs: financing needed for some temporary CAs during the year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700" dirty="0">
                <a:highlight>
                  <a:srgbClr val="00FFFF"/>
                </a:highlight>
              </a:rPr>
              <a:t>WC </a:t>
            </a:r>
            <a:r>
              <a:rPr lang="en-US" sz="2700" u="sng" dirty="0">
                <a:highlight>
                  <a:srgbClr val="00FFFF"/>
                </a:highlight>
              </a:rPr>
              <a:t>financing</a:t>
            </a:r>
            <a:r>
              <a:rPr lang="en-US" sz="2700" dirty="0">
                <a:highlight>
                  <a:srgbClr val="00FFFF"/>
                </a:highlight>
              </a:rPr>
              <a:t> </a:t>
            </a:r>
            <a:r>
              <a:rPr lang="en-US" sz="2700" dirty="0"/>
              <a:t>policy depends on how permanent and seasonal needs are financed  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700" dirty="0"/>
              <a:t>Moderate/maturity-matching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700" dirty="0"/>
              <a:t>Aggressive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700" dirty="0"/>
              <a:t>Conservative</a:t>
            </a:r>
          </a:p>
          <a:p>
            <a:pPr marL="457200" lvl="1" indent="0" algn="ctr">
              <a:lnSpc>
                <a:spcPct val="105000"/>
              </a:lnSpc>
              <a:buSzPct val="100000"/>
              <a:buNone/>
            </a:pPr>
            <a:r>
              <a:rPr lang="en-US" sz="2700" i="1" dirty="0"/>
              <a:t>NB to consider textbook sections on these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4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5806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Working capital financing policies (cont.)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0" y="881555"/>
            <a:ext cx="8899712" cy="5824045"/>
          </a:xfrm>
        </p:spPr>
        <p:txBody>
          <a:bodyPr/>
          <a:lstStyle/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sz="2700" dirty="0"/>
              <a:t>Moderate/maturity-matching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700" dirty="0"/>
              <a:t>Fig 9.1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5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80031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Working capital financing policies (cont.)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68356" y="881555"/>
            <a:ext cx="8831356" cy="5824045"/>
          </a:xfrm>
        </p:spPr>
        <p:txBody>
          <a:bodyPr/>
          <a:lstStyle/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sz="2700" dirty="0"/>
              <a:t>Aggressive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700" dirty="0"/>
              <a:t>Fig 9.2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6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07739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Working capital financing policies (cont.)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244288" y="881555"/>
            <a:ext cx="8655424" cy="5824045"/>
          </a:xfrm>
        </p:spPr>
        <p:txBody>
          <a:bodyPr/>
          <a:lstStyle/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sz="2700" dirty="0"/>
              <a:t>Conservative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700" dirty="0"/>
              <a:t>Fig 9.3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7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98389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Working capital financing policies (cont.)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244288" y="881555"/>
            <a:ext cx="8655424" cy="5824045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600" dirty="0"/>
              <a:t>Distinction between approaches based on relative </a:t>
            </a:r>
            <a:r>
              <a:rPr lang="en-US" sz="2600" u="sng" dirty="0"/>
              <a:t>amount of ST financing </a:t>
            </a:r>
            <a:r>
              <a:rPr lang="en-US" sz="2600" dirty="0"/>
              <a:t>used: conservative LOWEST whereas aggressive HIGHEST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FF0000"/>
                </a:solidFill>
              </a:rPr>
              <a:t>ST debt riskier than LT debt 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600" dirty="0"/>
              <a:t>Interest rates on LT debt relatively stable; ST debt interest rates fluctuate, could increase to high levels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600" dirty="0"/>
              <a:t>If rely too heavily on ST borrowing…may be unable to repay loans 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00B0F0"/>
                </a:solidFill>
              </a:rPr>
              <a:t>ST financing advantages  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600" dirty="0"/>
              <a:t>Easier/quicker to obtain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600" dirty="0"/>
              <a:t>Don’t want to commit to LT debt since flotation/issue cost higher; early re-payment with penalties…flexibility with ST debt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8422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Sources of ST financing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244288" y="881555"/>
            <a:ext cx="8655424" cy="5824045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600" dirty="0"/>
              <a:t>Sources to meet financing needs of less than 1 year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600" dirty="0"/>
              <a:t>Spontaneous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600" dirty="0"/>
              <a:t>Unsecured loans 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600" dirty="0"/>
              <a:t>Secured loans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endParaRPr lang="en-US" sz="2600" dirty="0"/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600" dirty="0"/>
              <a:t>Spontaneous ST financing arises from normal operating cycle 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600" b="1" dirty="0">
                <a:solidFill>
                  <a:srgbClr val="00B050"/>
                </a:solidFill>
              </a:rPr>
              <a:t>Accounts payable </a:t>
            </a:r>
            <a:r>
              <a:rPr lang="en-US" sz="2600" dirty="0"/>
              <a:t>(trade credit from creditors)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600" b="1" dirty="0">
                <a:solidFill>
                  <a:schemeClr val="accent4">
                    <a:lumMod val="75000"/>
                  </a:schemeClr>
                </a:solidFill>
              </a:rPr>
              <a:t>Accruals</a:t>
            </a:r>
            <a:r>
              <a:rPr lang="en-US" sz="2600" dirty="0"/>
              <a:t> 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600" dirty="0"/>
              <a:t>Both these spontaneous: increase and decrease with sales (remember Ch 5…?)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2587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2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2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52289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Sources of ST financing (cont.)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228600" y="516977"/>
            <a:ext cx="8655424" cy="6188623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00B050"/>
                </a:solidFill>
              </a:rPr>
              <a:t>AP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600" dirty="0"/>
              <a:t>Buying goods/services and paying the creditor later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600" dirty="0"/>
              <a:t>No explicit costs, only if discount is offered (part of the credit terms); see </a:t>
            </a:r>
            <a:r>
              <a:rPr lang="en-US" sz="2600" dirty="0" err="1"/>
              <a:t>eg</a:t>
            </a:r>
            <a:r>
              <a:rPr lang="en-US" sz="2600" dirty="0"/>
              <a:t> 9.2 on </a:t>
            </a:r>
            <a:r>
              <a:rPr lang="en-US" sz="2600" dirty="0" err="1"/>
              <a:t>pg</a:t>
            </a:r>
            <a:r>
              <a:rPr lang="en-US" sz="2600" dirty="0"/>
              <a:t> 190 in TB</a:t>
            </a:r>
          </a:p>
          <a:p>
            <a:pPr marL="457200" lvl="1" indent="0">
              <a:lnSpc>
                <a:spcPct val="105000"/>
              </a:lnSpc>
              <a:buSzPct val="100000"/>
              <a:buNone/>
            </a:pPr>
            <a:endParaRPr lang="en-US" sz="2600" dirty="0">
              <a:highlight>
                <a:srgbClr val="FF0000"/>
              </a:highlight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80042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Sources of ST financing (cont.)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244288" y="881555"/>
            <a:ext cx="8655424" cy="5824045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7030A0"/>
                </a:solidFill>
              </a:rPr>
              <a:t>Accruals</a:t>
            </a:r>
            <a:r>
              <a:rPr lang="en-US" sz="2600" dirty="0"/>
              <a:t> 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600" dirty="0"/>
              <a:t>E.g. salaries and taxes due for payment in the near future but temporarily serve as “finance” for the firm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600" dirty="0"/>
              <a:t>No interest costs is payable on funds “raised” through accruals</a:t>
            </a:r>
          </a:p>
          <a:p>
            <a:pPr marL="457200" lvl="1" indent="0">
              <a:lnSpc>
                <a:spcPct val="105000"/>
              </a:lnSpc>
              <a:buSzPct val="100000"/>
              <a:buNone/>
            </a:pPr>
            <a:endParaRPr lang="en-US" sz="2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01646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642445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Sources of ST financing (cont.)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244288" y="652955"/>
            <a:ext cx="8655424" cy="597644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600" dirty="0"/>
              <a:t>Unsecured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600" dirty="0"/>
              <a:t>Bank loans (bank credit)</a:t>
            </a:r>
          </a:p>
          <a:p>
            <a:pPr>
              <a:lnSpc>
                <a:spcPct val="1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600" dirty="0"/>
              <a:t>Interest rates based on prime rate, adding a premium</a:t>
            </a:r>
          </a:p>
          <a:p>
            <a:pPr>
              <a:lnSpc>
                <a:spcPct val="1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600" dirty="0"/>
              <a:t>Interest rates on fixed loans are set at date negotiated and remain unchanged for duration</a:t>
            </a:r>
          </a:p>
          <a:p>
            <a:pPr>
              <a:lnSpc>
                <a:spcPct val="1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600" dirty="0"/>
              <a:t>Interest: pay paid in advance or at maturity</a:t>
            </a:r>
          </a:p>
          <a:p>
            <a:pPr>
              <a:lnSpc>
                <a:spcPct val="1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600" dirty="0"/>
              <a:t>See </a:t>
            </a:r>
            <a:r>
              <a:rPr lang="en-US" sz="2600" dirty="0" err="1"/>
              <a:t>eg</a:t>
            </a:r>
            <a:r>
              <a:rPr lang="en-US" sz="2600" dirty="0"/>
              <a:t> 9.3 on </a:t>
            </a:r>
            <a:r>
              <a:rPr lang="en-US" sz="2600" dirty="0" err="1"/>
              <a:t>pg</a:t>
            </a:r>
            <a:r>
              <a:rPr lang="en-US" sz="2600" dirty="0"/>
              <a:t> 192 in TB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endParaRPr lang="en-US" sz="2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35850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642445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Sources of ST financing (cont.)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57510C-47DD-37DB-FE48-8D8C65DE63B0}"/>
              </a:ext>
            </a:extLst>
          </p:cNvPr>
          <p:cNvSpPr txBox="1"/>
          <p:nvPr/>
        </p:nvSpPr>
        <p:spPr>
          <a:xfrm>
            <a:off x="228600" y="701235"/>
            <a:ext cx="541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800" dirty="0"/>
              <a:t> See </a:t>
            </a:r>
            <a:r>
              <a:rPr lang="en-US" sz="2800" dirty="0" err="1"/>
              <a:t>eg</a:t>
            </a:r>
            <a:r>
              <a:rPr lang="en-US" sz="2800" dirty="0"/>
              <a:t> 9.4 on </a:t>
            </a:r>
            <a:r>
              <a:rPr lang="en-US" sz="2800" dirty="0" err="1"/>
              <a:t>pg</a:t>
            </a:r>
            <a:r>
              <a:rPr lang="en-US" sz="2800" dirty="0"/>
              <a:t> 192 in TB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86000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642445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Sources of ST financing (cont.)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244288" y="652955"/>
            <a:ext cx="8655424" cy="5976445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600" dirty="0"/>
              <a:t>Secured 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600" dirty="0"/>
              <a:t>Pledging specific assets as collateral 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600" dirty="0"/>
              <a:t>Accounts receivable (debtors) and inventory preferred sources of collateral due to liquidity 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600" dirty="0"/>
              <a:t>We will only look at some! </a:t>
            </a:r>
            <a:r>
              <a:rPr lang="en-US" sz="2000" dirty="0"/>
              <a:t>(AR, not at inv in 3</a:t>
            </a:r>
            <a:r>
              <a:rPr lang="en-US" sz="2000" baseline="30000" dirty="0"/>
              <a:t>rd</a:t>
            </a:r>
            <a:r>
              <a:rPr lang="en-US" sz="2000" dirty="0"/>
              <a:t> year)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endParaRPr lang="en-US" sz="2000" dirty="0"/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600" dirty="0"/>
              <a:t>E.g. </a:t>
            </a:r>
            <a:r>
              <a:rPr lang="en-US" sz="2600" b="1" dirty="0">
                <a:solidFill>
                  <a:schemeClr val="accent6">
                    <a:lumMod val="75000"/>
                  </a:schemeClr>
                </a:solidFill>
              </a:rPr>
              <a:t>factoring AR</a:t>
            </a:r>
            <a:r>
              <a:rPr lang="en-US" sz="2600" dirty="0"/>
              <a:t>: selling AR at a discount to a financial institution</a:t>
            </a:r>
          </a:p>
          <a:p>
            <a:pPr lvl="2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Cash is received for outstanding AR immediately</a:t>
            </a:r>
          </a:p>
          <a:p>
            <a:pPr lvl="2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Reduces amount of WC required</a:t>
            </a:r>
          </a:p>
          <a:p>
            <a:pPr lvl="2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Credit and collection actions and expenses now done by the factor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endParaRPr lang="en-US" sz="2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89166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642445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Sources of ST financing (cont.)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D04DCB-995D-6D35-FAD5-D8559551A9A3}"/>
              </a:ext>
            </a:extLst>
          </p:cNvPr>
          <p:cNvSpPr txBox="1"/>
          <p:nvPr/>
        </p:nvSpPr>
        <p:spPr>
          <a:xfrm>
            <a:off x="228600" y="701235"/>
            <a:ext cx="541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800" dirty="0"/>
              <a:t> See </a:t>
            </a:r>
            <a:r>
              <a:rPr lang="en-US" sz="2800" dirty="0" err="1"/>
              <a:t>eg</a:t>
            </a:r>
            <a:r>
              <a:rPr lang="en-US" sz="2800" dirty="0"/>
              <a:t> 9.8 on </a:t>
            </a:r>
            <a:r>
              <a:rPr lang="en-US" sz="2800" dirty="0" err="1"/>
              <a:t>pg</a:t>
            </a:r>
            <a:r>
              <a:rPr lang="en-US" sz="2800" dirty="0"/>
              <a:t> 197 in TB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82670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Management of cash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152400" y="881555"/>
            <a:ext cx="8747312" cy="5824045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600" dirty="0"/>
              <a:t>Aim for a positive margin between cash inflows and cash outflows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600" dirty="0"/>
              <a:t>Liquidity refers to adequacy of cash available to meet obligations of firm timeously and to continue operations 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600" dirty="0"/>
              <a:t>CF measures liquidity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600" dirty="0">
                <a:highlight>
                  <a:srgbClr val="FF0000"/>
                </a:highlight>
              </a:rPr>
              <a:t>NB: profitability ≠ CF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500" dirty="0"/>
              <a:t>Profitability measures performance, fin situation and use to determine taxes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500" dirty="0"/>
              <a:t>CF </a:t>
            </a:r>
            <a:r>
              <a:rPr lang="en-US" sz="2500" dirty="0" err="1"/>
              <a:t>recognises</a:t>
            </a:r>
            <a:r>
              <a:rPr lang="en-US" sz="2500" dirty="0"/>
              <a:t> income and expenses only </a:t>
            </a:r>
            <a:r>
              <a:rPr lang="en-US" sz="2500" dirty="0" err="1"/>
              <a:t>wrt</a:t>
            </a:r>
            <a:r>
              <a:rPr lang="en-US" sz="2500" dirty="0"/>
              <a:t> ACTUAL inflow and outflow of cash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500" dirty="0"/>
              <a:t>Look at E.g. 9.9 on </a:t>
            </a:r>
            <a:r>
              <a:rPr lang="en-US" sz="2500" dirty="0" err="1"/>
              <a:t>pg</a:t>
            </a:r>
            <a:r>
              <a:rPr lang="en-US" sz="2500" dirty="0"/>
              <a:t> 199 of TB to see a firm could be profitable but in financial failure due to poor actual CF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51991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Cash and near-cash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152400" y="881555"/>
            <a:ext cx="8747312" cy="5824045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600" dirty="0"/>
              <a:t>Cash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600" dirty="0"/>
              <a:t>“Ready” money in current account or petty cash available for immediate use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600" dirty="0"/>
              <a:t>Near cash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600" dirty="0"/>
              <a:t>E.g. AR, marketable securities (most liquid of these) and unit trust investments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endParaRPr lang="en-US" sz="2600" dirty="0"/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600" dirty="0"/>
              <a:t>Motives for holding cash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500" dirty="0"/>
              <a:t>Transactions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500" dirty="0"/>
              <a:t>Compensating balances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500" dirty="0"/>
              <a:t>Speculative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500" dirty="0"/>
              <a:t>Precautionary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79400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2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2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2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2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Cost of cash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152400" y="881555"/>
            <a:ext cx="8747312" cy="5824045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600" dirty="0"/>
              <a:t>Opportunity cost of foregoing other investment opportunities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600" dirty="0"/>
              <a:t>Excessive reliance on internally generated liquidity may make it difficult to obtain ST financing 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600" dirty="0"/>
              <a:t>Cash could have been used to offset cost and fin risk from ST debt 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endParaRPr lang="en-US" sz="2600" dirty="0"/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600" dirty="0"/>
              <a:t>Can’t have too much cash on hand BUT…can’t have too little cash on hand…</a:t>
            </a:r>
          </a:p>
          <a:p>
            <a:pPr marL="457200" lvl="1" indent="0">
              <a:lnSpc>
                <a:spcPct val="105000"/>
              </a:lnSpc>
              <a:buSzPct val="100000"/>
              <a:buNone/>
            </a:pPr>
            <a:endParaRPr lang="en-US" sz="25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26971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Cost of cash (cont.)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152400" y="881555"/>
            <a:ext cx="8747312" cy="5824045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600" dirty="0"/>
              <a:t>Consider the </a:t>
            </a:r>
            <a:r>
              <a:rPr lang="en-US" sz="2600" dirty="0">
                <a:highlight>
                  <a:srgbClr val="FFFF00"/>
                </a:highlight>
              </a:rPr>
              <a:t>cash conversion cycle </a:t>
            </a:r>
            <a:r>
              <a:rPr lang="en-US" sz="2600" dirty="0"/>
              <a:t>to ensure efficient management of cash (covers TB </a:t>
            </a:r>
            <a:r>
              <a:rPr lang="en-US" sz="2600" dirty="0" err="1"/>
              <a:t>pgs</a:t>
            </a:r>
            <a:r>
              <a:rPr lang="en-US" sz="2600" dirty="0"/>
              <a:t> 202 – 205)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sz="2600" dirty="0"/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sz="2600" dirty="0"/>
              <a:t>(Do NOT cover TB </a:t>
            </a:r>
            <a:r>
              <a:rPr lang="en-US" sz="2600" dirty="0" err="1"/>
              <a:t>pgs</a:t>
            </a:r>
            <a:r>
              <a:rPr lang="en-US" sz="2600" dirty="0"/>
              <a:t> 206 – 209)</a:t>
            </a:r>
          </a:p>
          <a:p>
            <a:pPr marL="457200" lvl="1" indent="0">
              <a:lnSpc>
                <a:spcPct val="105000"/>
              </a:lnSpc>
              <a:buSzPct val="100000"/>
              <a:buNone/>
            </a:pPr>
            <a:endParaRPr lang="en-US" sz="25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82022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Cost of cash (cont.) – efficient </a:t>
            </a:r>
            <a:r>
              <a:rPr lang="en-US" dirty="0" err="1">
                <a:solidFill>
                  <a:schemeClr val="tx2"/>
                </a:solidFill>
              </a:rPr>
              <a:t>mngt</a:t>
            </a:r>
            <a:r>
              <a:rPr lang="en-US" dirty="0">
                <a:solidFill>
                  <a:schemeClr val="tx2"/>
                </a:solidFill>
              </a:rPr>
              <a:t> of cash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152400" y="1153510"/>
            <a:ext cx="8747312" cy="5552090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600" dirty="0"/>
              <a:t>Operating activities create </a:t>
            </a:r>
            <a:r>
              <a:rPr lang="en-US" sz="2600" b="1" dirty="0" err="1">
                <a:solidFill>
                  <a:srgbClr val="C00000"/>
                </a:solidFill>
              </a:rPr>
              <a:t>unsynchronised</a:t>
            </a:r>
            <a:r>
              <a:rPr lang="en-US" sz="2600" dirty="0"/>
              <a:t> patterns of cash inflows and outflows (influencing firm’s WC management)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600" dirty="0"/>
              <a:t>Cash payment for raw materials does not happen at exactly the same time as receipt of cash from sale of the product 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600" dirty="0"/>
              <a:t>CFs furthermore </a:t>
            </a:r>
            <a:r>
              <a:rPr lang="en-US" sz="2600" b="1" dirty="0">
                <a:solidFill>
                  <a:srgbClr val="C00000"/>
                </a:solidFill>
              </a:rPr>
              <a:t>uncertain</a:t>
            </a:r>
            <a:r>
              <a:rPr lang="en-US" sz="2600" dirty="0"/>
              <a:t> (future sales and costs can’t be precisely predicted)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600" dirty="0"/>
              <a:t>Hence need to plan ahead </a:t>
            </a:r>
            <a:r>
              <a:rPr lang="en-US" sz="2600" dirty="0" err="1"/>
              <a:t>wrt</a:t>
            </a:r>
            <a:r>
              <a:rPr lang="en-US" sz="2600" dirty="0"/>
              <a:t> cash balances…since it influence all investment and financing decisions</a:t>
            </a:r>
          </a:p>
          <a:p>
            <a:pPr marL="457200" lvl="1" indent="0">
              <a:lnSpc>
                <a:spcPct val="105000"/>
              </a:lnSpc>
              <a:buSzPct val="100000"/>
              <a:buNone/>
            </a:pPr>
            <a:endParaRPr lang="en-US" sz="25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1300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Cost of cash (cont.) – efficient </a:t>
            </a:r>
            <a:r>
              <a:rPr lang="en-US" dirty="0" err="1">
                <a:solidFill>
                  <a:schemeClr val="tx2"/>
                </a:solidFill>
              </a:rPr>
              <a:t>mngt</a:t>
            </a:r>
            <a:r>
              <a:rPr lang="en-US" dirty="0">
                <a:solidFill>
                  <a:schemeClr val="tx2"/>
                </a:solidFill>
              </a:rPr>
              <a:t> of cash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152400" y="1153510"/>
            <a:ext cx="8747312" cy="5552090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600" dirty="0"/>
              <a:t>Operating activities create </a:t>
            </a:r>
            <a:r>
              <a:rPr lang="en-US" sz="2600" b="1" dirty="0" err="1">
                <a:solidFill>
                  <a:srgbClr val="C00000"/>
                </a:solidFill>
              </a:rPr>
              <a:t>unsynchronised</a:t>
            </a:r>
            <a:r>
              <a:rPr lang="en-US" sz="2600" dirty="0"/>
              <a:t> patterns of cash inflows and outflows (influencing firm’s WC management)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600" dirty="0"/>
              <a:t>Cash payment for raw materials does not happen at exactly the same time as receipt of cash from sale of the product 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600" dirty="0"/>
              <a:t>CFs furthermore </a:t>
            </a:r>
            <a:r>
              <a:rPr lang="en-US" sz="2600" b="1" dirty="0">
                <a:solidFill>
                  <a:srgbClr val="C00000"/>
                </a:solidFill>
              </a:rPr>
              <a:t>uncertain</a:t>
            </a:r>
            <a:r>
              <a:rPr lang="en-US" sz="2600" dirty="0"/>
              <a:t> (future sales and costs can’t be precisely predicted)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600" dirty="0"/>
              <a:t>Hence need to plan ahead </a:t>
            </a:r>
            <a:r>
              <a:rPr lang="en-US" sz="2600" dirty="0" err="1"/>
              <a:t>wrt</a:t>
            </a:r>
            <a:r>
              <a:rPr lang="en-US" sz="2600" dirty="0"/>
              <a:t> cash balances…since it influence all investment and financing decisions</a:t>
            </a:r>
          </a:p>
          <a:p>
            <a:pPr marL="457200" lvl="1" indent="0">
              <a:lnSpc>
                <a:spcPct val="105000"/>
              </a:lnSpc>
              <a:buSzPct val="100000"/>
              <a:buNone/>
            </a:pPr>
            <a:endParaRPr lang="en-US" sz="25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7976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7010400" y="6381750"/>
            <a:ext cx="2133600" cy="476250"/>
          </a:xfrm>
          <a:noFill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59F7F11-38DE-4848-9C10-F2E233F83E86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28600" y="190500"/>
            <a:ext cx="8915400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Cost of cash (cont.) – efficient </a:t>
            </a:r>
            <a:r>
              <a:rPr kumimoji="0" lang="en-US" sz="3600" b="0" i="0" u="none" strike="noStrike" kern="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mngt</a:t>
            </a: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 of cash</a:t>
            </a:r>
            <a:endParaRPr kumimoji="0" lang="en-GB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ahoma"/>
              <a:ea typeface="ＭＳ Ｐゴシック"/>
              <a:cs typeface="+mj-cs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228600" y="1143000"/>
            <a:ext cx="8534400" cy="48577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541338" marR="0" lvl="1" indent="-363538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ZA" altLang="en-US" sz="2400" dirty="0">
                <a:solidFill>
                  <a:prstClr val="black"/>
                </a:solidFill>
                <a:latin typeface="Tahoma"/>
              </a:rPr>
              <a:t>E</a:t>
            </a: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.g. Today (Day 0) you purchase </a:t>
            </a:r>
            <a:r>
              <a:rPr kumimoji="0" lang="en-ZA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R1</a:t>
            </a: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 000 worth of inventory on credit</a:t>
            </a:r>
          </a:p>
          <a:p>
            <a:pPr marL="541338" marR="0" lvl="1" indent="-363538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You only pay the account 30 days later</a:t>
            </a:r>
          </a:p>
          <a:p>
            <a:pPr marL="541338" marR="0" lvl="1" indent="-363538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After another 30 days (i.e. on Day 60) you sell inventory for </a:t>
            </a:r>
            <a:r>
              <a:rPr kumimoji="0" lang="en-ZA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R1</a:t>
            </a: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 400 on credit</a:t>
            </a:r>
          </a:p>
          <a:p>
            <a:pPr marL="541338" marR="0" lvl="1" indent="-363538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Your buyer (debtor) only pays after 45 days from date of sale</a:t>
            </a:r>
          </a:p>
        </p:txBody>
      </p:sp>
      <p:graphicFrame>
        <p:nvGraphicFramePr>
          <p:cNvPr id="6" name="Group 5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91137892"/>
              </p:ext>
            </p:extLst>
          </p:nvPr>
        </p:nvGraphicFramePr>
        <p:xfrm>
          <a:off x="800100" y="3955538"/>
          <a:ext cx="7543800" cy="2651760"/>
        </p:xfrm>
        <a:graphic>
          <a:graphicData uri="http://schemas.openxmlformats.org/drawingml/2006/table">
            <a:tbl>
              <a:tblPr/>
              <a:tblGrid>
                <a:gridCol w="881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5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66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Day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Activity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Cash effect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Acquire inventory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Pay inventory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R1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Sell inventory on credit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Collect payment on sale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+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R1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400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6868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2958"/>
    </mc:Choice>
    <mc:Fallback xmlns="">
      <p:transition spd="slow" advTm="132958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7010400" y="6381750"/>
            <a:ext cx="2133600" cy="476250"/>
          </a:xfrm>
          <a:noFill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59F7F11-38DE-4848-9C10-F2E233F83E86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28600" y="0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Cost of cash (cont.) – efficient </a:t>
            </a:r>
            <a:r>
              <a:rPr kumimoji="0" lang="en-US" sz="3600" b="0" i="0" u="none" strike="noStrike" kern="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mngt</a:t>
            </a: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 of cash</a:t>
            </a:r>
            <a:endParaRPr kumimoji="0" lang="en-GB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ahoma"/>
              <a:ea typeface="ＭＳ Ｐゴシック"/>
              <a:cs typeface="+mj-cs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228600" y="1143000"/>
            <a:ext cx="8686800" cy="497088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Let’s take a closer look …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Average </a:t>
            </a:r>
            <a:r>
              <a:rPr lang="en-ZA" altLang="en-US" sz="2200" dirty="0">
                <a:solidFill>
                  <a:prstClr val="black"/>
                </a:solidFill>
                <a:latin typeface="Tahoma"/>
                <a:ea typeface="ＭＳ Ｐゴシック"/>
              </a:rPr>
              <a:t>age of inventory (AAI) or </a:t>
            </a:r>
            <a:r>
              <a:rPr kumimoji="0" lang="en-ZA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Inventory conversion period (ICP)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Time period between acquisition of inventory and sale of inventory </a:t>
            </a:r>
            <a:r>
              <a:rPr kumimoji="0" lang="en-ZA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(60 days)</a:t>
            </a:r>
            <a:endParaRPr kumimoji="0" lang="en-ZA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ahoma"/>
              <a:ea typeface="ＭＳ Ｐゴシック" charset="-128"/>
            </a:endParaRP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ahoma"/>
              <a:ea typeface="ＭＳ Ｐゴシック" charset="-128"/>
            </a:endParaRPr>
          </a:p>
        </p:txBody>
      </p:sp>
      <p:grpSp>
        <p:nvGrpSpPr>
          <p:cNvPr id="6" name="Group 53"/>
          <p:cNvGrpSpPr>
            <a:grpSpLocks/>
          </p:cNvGrpSpPr>
          <p:nvPr/>
        </p:nvGrpSpPr>
        <p:grpSpPr bwMode="auto">
          <a:xfrm>
            <a:off x="533400" y="3048000"/>
            <a:ext cx="8309235" cy="3200400"/>
            <a:chOff x="336" y="1968"/>
            <a:chExt cx="5280" cy="1872"/>
          </a:xfrm>
        </p:grpSpPr>
        <p:sp>
          <p:nvSpPr>
            <p:cNvPr id="7" name="Line 30"/>
            <p:cNvSpPr>
              <a:spLocks noChangeShapeType="1"/>
            </p:cNvSpPr>
            <p:nvPr/>
          </p:nvSpPr>
          <p:spPr bwMode="auto">
            <a:xfrm>
              <a:off x="983" y="2544"/>
              <a:ext cx="204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8" name="Line 31"/>
            <p:cNvSpPr>
              <a:spLocks noChangeShapeType="1"/>
            </p:cNvSpPr>
            <p:nvPr/>
          </p:nvSpPr>
          <p:spPr bwMode="auto">
            <a:xfrm>
              <a:off x="3030" y="2544"/>
              <a:ext cx="204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9" name="Line 32"/>
            <p:cNvSpPr>
              <a:spLocks noChangeShapeType="1"/>
            </p:cNvSpPr>
            <p:nvPr/>
          </p:nvSpPr>
          <p:spPr bwMode="auto">
            <a:xfrm>
              <a:off x="767" y="2904"/>
              <a:ext cx="452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0" name="Line 33"/>
            <p:cNvSpPr>
              <a:spLocks noChangeShapeType="1"/>
            </p:cNvSpPr>
            <p:nvPr/>
          </p:nvSpPr>
          <p:spPr bwMode="auto">
            <a:xfrm>
              <a:off x="983" y="3264"/>
              <a:ext cx="172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2" name="Line 34"/>
            <p:cNvSpPr>
              <a:spLocks noChangeShapeType="1"/>
            </p:cNvSpPr>
            <p:nvPr/>
          </p:nvSpPr>
          <p:spPr bwMode="auto">
            <a:xfrm>
              <a:off x="2707" y="3264"/>
              <a:ext cx="237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3" name="Line 35"/>
            <p:cNvSpPr>
              <a:spLocks noChangeShapeType="1"/>
            </p:cNvSpPr>
            <p:nvPr/>
          </p:nvSpPr>
          <p:spPr bwMode="auto">
            <a:xfrm flipV="1">
              <a:off x="983" y="2256"/>
              <a:ext cx="0" cy="6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" name="Line 36"/>
            <p:cNvSpPr>
              <a:spLocks noChangeShapeType="1"/>
            </p:cNvSpPr>
            <p:nvPr/>
          </p:nvSpPr>
          <p:spPr bwMode="auto">
            <a:xfrm flipV="1">
              <a:off x="3030" y="2256"/>
              <a:ext cx="0" cy="6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" name="Line 37"/>
            <p:cNvSpPr>
              <a:spLocks noChangeShapeType="1"/>
            </p:cNvSpPr>
            <p:nvPr/>
          </p:nvSpPr>
          <p:spPr bwMode="auto">
            <a:xfrm>
              <a:off x="2707" y="2904"/>
              <a:ext cx="0" cy="6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6" name="Line 38"/>
            <p:cNvSpPr>
              <a:spLocks noChangeShapeType="1"/>
            </p:cNvSpPr>
            <p:nvPr/>
          </p:nvSpPr>
          <p:spPr bwMode="auto">
            <a:xfrm>
              <a:off x="5077" y="2904"/>
              <a:ext cx="0" cy="6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7" name="Text Box 39"/>
            <p:cNvSpPr txBox="1">
              <a:spLocks noChangeArrowheads="1"/>
            </p:cNvSpPr>
            <p:nvPr/>
          </p:nvSpPr>
          <p:spPr bwMode="auto">
            <a:xfrm>
              <a:off x="336" y="1968"/>
              <a:ext cx="1861" cy="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1600">
                  <a:solidFill>
                    <a:schemeClr val="tx1"/>
                  </a:solidFill>
                  <a:latin typeface="Tahoma" pitchFamily="34" charset="0"/>
                </a:defRPr>
              </a:lvl5pPr>
              <a:lvl6pPr>
                <a:defRPr sz="1600">
                  <a:solidFill>
                    <a:schemeClr val="tx1"/>
                  </a:solidFill>
                  <a:latin typeface="Tahoma" pitchFamily="34" charset="0"/>
                </a:defRPr>
              </a:lvl6pPr>
              <a:lvl7pPr>
                <a:defRPr sz="1600">
                  <a:solidFill>
                    <a:schemeClr val="tx1"/>
                  </a:solidFill>
                  <a:latin typeface="Tahoma" pitchFamily="34" charset="0"/>
                </a:defRPr>
              </a:lvl7pPr>
              <a:lvl8pPr>
                <a:defRPr sz="1600">
                  <a:solidFill>
                    <a:schemeClr val="tx1"/>
                  </a:solidFill>
                  <a:latin typeface="Tahoma" pitchFamily="34" charset="0"/>
                </a:defRPr>
              </a:lvl8pPr>
              <a:lvl9pPr>
                <a:defRPr sz="16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Inventory purchased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ＭＳ Ｐゴシック" charset="-128"/>
                </a:rPr>
                <a:t>	</a:t>
              </a:r>
            </a:p>
          </p:txBody>
        </p:sp>
        <p:sp>
          <p:nvSpPr>
            <p:cNvPr id="19" name="Text Box 41"/>
            <p:cNvSpPr txBox="1">
              <a:spLocks noChangeArrowheads="1"/>
            </p:cNvSpPr>
            <p:nvPr/>
          </p:nvSpPr>
          <p:spPr bwMode="auto">
            <a:xfrm>
              <a:off x="2599" y="1968"/>
              <a:ext cx="1401" cy="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1600">
                  <a:solidFill>
                    <a:schemeClr val="tx1"/>
                  </a:solidFill>
                  <a:latin typeface="Tahoma" pitchFamily="34" charset="0"/>
                </a:defRPr>
              </a:lvl5pPr>
              <a:lvl6pPr>
                <a:defRPr sz="1600">
                  <a:solidFill>
                    <a:schemeClr val="tx1"/>
                  </a:solidFill>
                  <a:latin typeface="Tahoma" pitchFamily="34" charset="0"/>
                </a:defRPr>
              </a:lvl6pPr>
              <a:lvl7pPr>
                <a:defRPr sz="1600">
                  <a:solidFill>
                    <a:schemeClr val="tx1"/>
                  </a:solidFill>
                  <a:latin typeface="Tahoma" pitchFamily="34" charset="0"/>
                </a:defRPr>
              </a:lvl7pPr>
              <a:lvl8pPr>
                <a:defRPr sz="1600">
                  <a:solidFill>
                    <a:schemeClr val="tx1"/>
                  </a:solidFill>
                  <a:latin typeface="Tahoma" pitchFamily="34" charset="0"/>
                </a:defRPr>
              </a:lvl8pPr>
              <a:lvl9pPr>
                <a:defRPr sz="16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Inventory</a:t>
              </a:r>
              <a:r>
                <a:rPr kumimoji="0" lang="en-US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itchFamily="18" charset="0"/>
                  <a:ea typeface="ＭＳ Ｐゴシック" charset="-128"/>
                </a:rPr>
                <a:t> </a:t>
              </a:r>
              <a:r>
                <a:rPr kumimoji="0" lang="en-US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sold</a:t>
              </a:r>
            </a:p>
          </p:txBody>
        </p:sp>
        <p:sp>
          <p:nvSpPr>
            <p:cNvPr id="20" name="Text Box 42"/>
            <p:cNvSpPr txBox="1">
              <a:spLocks noChangeArrowheads="1"/>
            </p:cNvSpPr>
            <p:nvPr/>
          </p:nvSpPr>
          <p:spPr bwMode="auto">
            <a:xfrm>
              <a:off x="1198" y="2256"/>
              <a:ext cx="1401" cy="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1600">
                  <a:solidFill>
                    <a:schemeClr val="tx1"/>
                  </a:solidFill>
                  <a:latin typeface="Tahoma" pitchFamily="34" charset="0"/>
                </a:defRPr>
              </a:lvl5pPr>
              <a:lvl6pPr>
                <a:defRPr sz="1600">
                  <a:solidFill>
                    <a:schemeClr val="tx1"/>
                  </a:solidFill>
                  <a:latin typeface="Tahoma" pitchFamily="34" charset="0"/>
                </a:defRPr>
              </a:lvl6pPr>
              <a:lvl7pPr>
                <a:defRPr sz="1600">
                  <a:solidFill>
                    <a:schemeClr val="tx1"/>
                  </a:solidFill>
                  <a:latin typeface="Tahoma" pitchFamily="34" charset="0"/>
                </a:defRPr>
              </a:lvl7pPr>
              <a:lvl8pPr>
                <a:defRPr sz="1600">
                  <a:solidFill>
                    <a:schemeClr val="tx1"/>
                  </a:solidFill>
                  <a:latin typeface="Tahoma" pitchFamily="34" charset="0"/>
                </a:defRPr>
              </a:lvl8pPr>
              <a:lvl9pPr>
                <a:defRPr sz="16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en-US" sz="1800" b="1" dirty="0">
                  <a:solidFill>
                    <a:srgbClr val="C00000"/>
                  </a:solidFill>
                  <a:latin typeface="Tahoma"/>
                </a:rPr>
                <a:t>AAI</a:t>
              </a:r>
              <a:endPara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 charset="-128"/>
              </a:endParaRPr>
            </a:p>
          </p:txBody>
        </p:sp>
        <p:sp>
          <p:nvSpPr>
            <p:cNvPr id="21" name="Text Box 43"/>
            <p:cNvSpPr txBox="1">
              <a:spLocks noChangeArrowheads="1"/>
            </p:cNvSpPr>
            <p:nvPr/>
          </p:nvSpPr>
          <p:spPr bwMode="auto">
            <a:xfrm>
              <a:off x="3138" y="2256"/>
              <a:ext cx="1831" cy="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1600">
                  <a:solidFill>
                    <a:schemeClr val="tx1"/>
                  </a:solidFill>
                  <a:latin typeface="Tahoma" pitchFamily="34" charset="0"/>
                </a:defRPr>
              </a:lvl5pPr>
              <a:lvl6pPr>
                <a:defRPr sz="1600">
                  <a:solidFill>
                    <a:schemeClr val="tx1"/>
                  </a:solidFill>
                  <a:latin typeface="Tahoma" pitchFamily="34" charset="0"/>
                </a:defRPr>
              </a:lvl6pPr>
              <a:lvl7pPr>
                <a:defRPr sz="1600">
                  <a:solidFill>
                    <a:schemeClr val="tx1"/>
                  </a:solidFill>
                  <a:latin typeface="Tahoma" pitchFamily="34" charset="0"/>
                </a:defRPr>
              </a:lvl7pPr>
              <a:lvl8pPr>
                <a:defRPr sz="1600">
                  <a:solidFill>
                    <a:schemeClr val="tx1"/>
                  </a:solidFill>
                  <a:latin typeface="Tahoma" pitchFamily="34" charset="0"/>
                </a:defRPr>
              </a:lvl8pPr>
              <a:lvl9pPr>
                <a:defRPr sz="16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DSO</a:t>
              </a:r>
            </a:p>
          </p:txBody>
        </p:sp>
        <p:sp>
          <p:nvSpPr>
            <p:cNvPr id="22" name="Text Box 44"/>
            <p:cNvSpPr txBox="1">
              <a:spLocks noChangeArrowheads="1"/>
            </p:cNvSpPr>
            <p:nvPr/>
          </p:nvSpPr>
          <p:spPr bwMode="auto">
            <a:xfrm>
              <a:off x="1198" y="2616"/>
              <a:ext cx="1401" cy="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1600">
                  <a:solidFill>
                    <a:schemeClr val="tx1"/>
                  </a:solidFill>
                  <a:latin typeface="Tahoma" pitchFamily="34" charset="0"/>
                </a:defRPr>
              </a:lvl5pPr>
              <a:lvl6pPr>
                <a:defRPr sz="1600">
                  <a:solidFill>
                    <a:schemeClr val="tx1"/>
                  </a:solidFill>
                  <a:latin typeface="Tahoma" pitchFamily="34" charset="0"/>
                </a:defRPr>
              </a:lvl6pPr>
              <a:lvl7pPr>
                <a:defRPr sz="1600">
                  <a:solidFill>
                    <a:schemeClr val="tx1"/>
                  </a:solidFill>
                  <a:latin typeface="Tahoma" pitchFamily="34" charset="0"/>
                </a:defRPr>
              </a:lvl7pPr>
              <a:lvl8pPr>
                <a:defRPr sz="1600">
                  <a:solidFill>
                    <a:schemeClr val="tx1"/>
                  </a:solidFill>
                  <a:latin typeface="Tahoma" pitchFamily="34" charset="0"/>
                </a:defRPr>
              </a:lvl8pPr>
              <a:lvl9pPr>
                <a:defRPr sz="16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60</a:t>
              </a:r>
              <a:r>
                <a:rPr kumimoji="0" lang="en-US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itchFamily="18" charset="0"/>
                  <a:ea typeface="ＭＳ Ｐゴシック" charset="-128"/>
                </a:rPr>
                <a:t> </a:t>
              </a:r>
              <a:r>
                <a:rPr kumimoji="0" lang="en-US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days</a:t>
              </a:r>
            </a:p>
          </p:txBody>
        </p:sp>
        <p:sp>
          <p:nvSpPr>
            <p:cNvPr id="23" name="Text Box 45"/>
            <p:cNvSpPr txBox="1">
              <a:spLocks noChangeArrowheads="1"/>
            </p:cNvSpPr>
            <p:nvPr/>
          </p:nvSpPr>
          <p:spPr bwMode="auto">
            <a:xfrm>
              <a:off x="3138" y="2616"/>
              <a:ext cx="1400" cy="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1600">
                  <a:solidFill>
                    <a:schemeClr val="tx1"/>
                  </a:solidFill>
                  <a:latin typeface="Tahoma" pitchFamily="34" charset="0"/>
                </a:defRPr>
              </a:lvl5pPr>
              <a:lvl6pPr>
                <a:defRPr sz="1600">
                  <a:solidFill>
                    <a:schemeClr val="tx1"/>
                  </a:solidFill>
                  <a:latin typeface="Tahoma" pitchFamily="34" charset="0"/>
                </a:defRPr>
              </a:lvl6pPr>
              <a:lvl7pPr>
                <a:defRPr sz="1600">
                  <a:solidFill>
                    <a:schemeClr val="tx1"/>
                  </a:solidFill>
                  <a:latin typeface="Tahoma" pitchFamily="34" charset="0"/>
                </a:defRPr>
              </a:lvl7pPr>
              <a:lvl8pPr>
                <a:defRPr sz="1600">
                  <a:solidFill>
                    <a:schemeClr val="tx1"/>
                  </a:solidFill>
                  <a:latin typeface="Tahoma" pitchFamily="34" charset="0"/>
                </a:defRPr>
              </a:lvl8pPr>
              <a:lvl9pPr>
                <a:defRPr sz="16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45 days</a:t>
              </a:r>
            </a:p>
          </p:txBody>
        </p:sp>
        <p:sp>
          <p:nvSpPr>
            <p:cNvPr id="24" name="Text Box 46"/>
            <p:cNvSpPr txBox="1">
              <a:spLocks noChangeArrowheads="1"/>
            </p:cNvSpPr>
            <p:nvPr/>
          </p:nvSpPr>
          <p:spPr bwMode="auto">
            <a:xfrm>
              <a:off x="1198" y="2976"/>
              <a:ext cx="1401" cy="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1600">
                  <a:solidFill>
                    <a:schemeClr val="tx1"/>
                  </a:solidFill>
                  <a:latin typeface="Tahoma" pitchFamily="34" charset="0"/>
                </a:defRPr>
              </a:lvl5pPr>
              <a:lvl6pPr>
                <a:defRPr sz="1600">
                  <a:solidFill>
                    <a:schemeClr val="tx1"/>
                  </a:solidFill>
                  <a:latin typeface="Tahoma" pitchFamily="34" charset="0"/>
                </a:defRPr>
              </a:lvl6pPr>
              <a:lvl7pPr>
                <a:defRPr sz="1600">
                  <a:solidFill>
                    <a:schemeClr val="tx1"/>
                  </a:solidFill>
                  <a:latin typeface="Tahoma" pitchFamily="34" charset="0"/>
                </a:defRPr>
              </a:lvl7pPr>
              <a:lvl8pPr>
                <a:defRPr sz="1600">
                  <a:solidFill>
                    <a:schemeClr val="tx1"/>
                  </a:solidFill>
                  <a:latin typeface="Tahoma" pitchFamily="34" charset="0"/>
                </a:defRPr>
              </a:lvl8pPr>
              <a:lvl9pPr>
                <a:defRPr sz="16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Accounts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ＭＳ Ｐゴシック" charset="-128"/>
                </a:rPr>
                <a:t> 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payable</a:t>
              </a:r>
            </a:p>
          </p:txBody>
        </p:sp>
        <p:sp>
          <p:nvSpPr>
            <p:cNvPr id="25" name="Text Box 47"/>
            <p:cNvSpPr txBox="1">
              <a:spLocks noChangeArrowheads="1"/>
            </p:cNvSpPr>
            <p:nvPr/>
          </p:nvSpPr>
          <p:spPr bwMode="auto">
            <a:xfrm>
              <a:off x="2922" y="2976"/>
              <a:ext cx="1401" cy="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1600">
                  <a:solidFill>
                    <a:schemeClr val="tx1"/>
                  </a:solidFill>
                  <a:latin typeface="Tahoma" pitchFamily="34" charset="0"/>
                </a:defRPr>
              </a:lvl5pPr>
              <a:lvl6pPr>
                <a:defRPr sz="1600">
                  <a:solidFill>
                    <a:schemeClr val="tx1"/>
                  </a:solidFill>
                  <a:latin typeface="Tahoma" pitchFamily="34" charset="0"/>
                </a:defRPr>
              </a:lvl6pPr>
              <a:lvl7pPr>
                <a:defRPr sz="1600">
                  <a:solidFill>
                    <a:schemeClr val="tx1"/>
                  </a:solidFill>
                  <a:latin typeface="Tahoma" pitchFamily="34" charset="0"/>
                </a:defRPr>
              </a:lvl7pPr>
              <a:lvl8pPr>
                <a:defRPr sz="1600">
                  <a:solidFill>
                    <a:schemeClr val="tx1"/>
                  </a:solidFill>
                  <a:latin typeface="Tahoma" pitchFamily="34" charset="0"/>
                </a:defRPr>
              </a:lvl8pPr>
              <a:lvl9pPr>
                <a:defRPr sz="16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Cash cycle</a:t>
              </a:r>
            </a:p>
          </p:txBody>
        </p:sp>
        <p:sp>
          <p:nvSpPr>
            <p:cNvPr id="26" name="Text Box 48"/>
            <p:cNvSpPr txBox="1">
              <a:spLocks noChangeArrowheads="1"/>
            </p:cNvSpPr>
            <p:nvPr/>
          </p:nvSpPr>
          <p:spPr bwMode="auto">
            <a:xfrm>
              <a:off x="1198" y="3336"/>
              <a:ext cx="1401" cy="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1600">
                  <a:solidFill>
                    <a:schemeClr val="tx1"/>
                  </a:solidFill>
                  <a:latin typeface="Tahoma" pitchFamily="34" charset="0"/>
                </a:defRPr>
              </a:lvl5pPr>
              <a:lvl6pPr>
                <a:defRPr sz="1600">
                  <a:solidFill>
                    <a:schemeClr val="tx1"/>
                  </a:solidFill>
                  <a:latin typeface="Tahoma" pitchFamily="34" charset="0"/>
                </a:defRPr>
              </a:lvl6pPr>
              <a:lvl7pPr>
                <a:defRPr sz="1600">
                  <a:solidFill>
                    <a:schemeClr val="tx1"/>
                  </a:solidFill>
                  <a:latin typeface="Tahoma" pitchFamily="34" charset="0"/>
                </a:defRPr>
              </a:lvl7pPr>
              <a:lvl8pPr>
                <a:defRPr sz="1600">
                  <a:solidFill>
                    <a:schemeClr val="tx1"/>
                  </a:solidFill>
                  <a:latin typeface="Tahoma" pitchFamily="34" charset="0"/>
                </a:defRPr>
              </a:lvl8pPr>
              <a:lvl9pPr>
                <a:defRPr sz="16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        30 days</a:t>
              </a:r>
            </a:p>
          </p:txBody>
        </p:sp>
        <p:sp>
          <p:nvSpPr>
            <p:cNvPr id="27" name="Text Box 49"/>
            <p:cNvSpPr txBox="1">
              <a:spLocks noChangeArrowheads="1"/>
            </p:cNvSpPr>
            <p:nvPr/>
          </p:nvSpPr>
          <p:spPr bwMode="auto">
            <a:xfrm>
              <a:off x="2922" y="3336"/>
              <a:ext cx="1940" cy="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1600">
                  <a:solidFill>
                    <a:schemeClr val="tx1"/>
                  </a:solidFill>
                  <a:latin typeface="Tahoma" pitchFamily="34" charset="0"/>
                </a:defRPr>
              </a:lvl5pPr>
              <a:lvl6pPr>
                <a:defRPr sz="1600">
                  <a:solidFill>
                    <a:schemeClr val="tx1"/>
                  </a:solidFill>
                  <a:latin typeface="Tahoma" pitchFamily="34" charset="0"/>
                </a:defRPr>
              </a:lvl6pPr>
              <a:lvl7pPr>
                <a:defRPr sz="1600">
                  <a:solidFill>
                    <a:schemeClr val="tx1"/>
                  </a:solidFill>
                  <a:latin typeface="Tahoma" pitchFamily="34" charset="0"/>
                </a:defRPr>
              </a:lvl7pPr>
              <a:lvl8pPr>
                <a:defRPr sz="1600">
                  <a:solidFill>
                    <a:schemeClr val="tx1"/>
                  </a:solidFill>
                  <a:latin typeface="Tahoma" pitchFamily="34" charset="0"/>
                </a:defRPr>
              </a:lvl8pPr>
              <a:lvl9pPr>
                <a:defRPr sz="16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60 + 45 – 30 = 75 days</a:t>
              </a:r>
            </a:p>
          </p:txBody>
        </p:sp>
        <p:sp>
          <p:nvSpPr>
            <p:cNvPr id="29" name="Text Box 51"/>
            <p:cNvSpPr txBox="1">
              <a:spLocks noChangeArrowheads="1"/>
            </p:cNvSpPr>
            <p:nvPr/>
          </p:nvSpPr>
          <p:spPr bwMode="auto">
            <a:xfrm>
              <a:off x="1952" y="3624"/>
              <a:ext cx="1832" cy="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1600">
                  <a:solidFill>
                    <a:schemeClr val="tx1"/>
                  </a:solidFill>
                  <a:latin typeface="Tahoma" pitchFamily="34" charset="0"/>
                </a:defRPr>
              </a:lvl5pPr>
              <a:lvl6pPr>
                <a:defRPr sz="1600">
                  <a:solidFill>
                    <a:schemeClr val="tx1"/>
                  </a:solidFill>
                  <a:latin typeface="Tahoma" pitchFamily="34" charset="0"/>
                </a:defRPr>
              </a:lvl6pPr>
              <a:lvl7pPr>
                <a:defRPr sz="1600">
                  <a:solidFill>
                    <a:schemeClr val="tx1"/>
                  </a:solidFill>
                  <a:latin typeface="Tahoma" pitchFamily="34" charset="0"/>
                </a:defRPr>
              </a:lvl7pPr>
              <a:lvl8pPr>
                <a:defRPr sz="1600">
                  <a:solidFill>
                    <a:schemeClr val="tx1"/>
                  </a:solidFill>
                  <a:latin typeface="Tahoma" pitchFamily="34" charset="0"/>
                </a:defRPr>
              </a:lvl8pPr>
              <a:lvl9pPr>
                <a:defRPr sz="16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Cash paid for inventory</a:t>
              </a:r>
            </a:p>
          </p:txBody>
        </p:sp>
        <p:sp>
          <p:nvSpPr>
            <p:cNvPr id="30" name="Text Box 52"/>
            <p:cNvSpPr txBox="1">
              <a:spLocks noChangeArrowheads="1"/>
            </p:cNvSpPr>
            <p:nvPr/>
          </p:nvSpPr>
          <p:spPr bwMode="auto">
            <a:xfrm>
              <a:off x="4323" y="3624"/>
              <a:ext cx="1293" cy="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1600">
                  <a:solidFill>
                    <a:schemeClr val="tx1"/>
                  </a:solidFill>
                  <a:latin typeface="Tahoma" pitchFamily="34" charset="0"/>
                </a:defRPr>
              </a:lvl5pPr>
              <a:lvl6pPr>
                <a:defRPr sz="1600">
                  <a:solidFill>
                    <a:schemeClr val="tx1"/>
                  </a:solidFill>
                  <a:latin typeface="Tahoma" pitchFamily="34" charset="0"/>
                </a:defRPr>
              </a:lvl6pPr>
              <a:lvl7pPr>
                <a:defRPr sz="1600">
                  <a:solidFill>
                    <a:schemeClr val="tx1"/>
                  </a:solidFill>
                  <a:latin typeface="Tahoma" pitchFamily="34" charset="0"/>
                </a:defRPr>
              </a:lvl7pPr>
              <a:lvl8pPr>
                <a:defRPr sz="1600">
                  <a:solidFill>
                    <a:schemeClr val="tx1"/>
                  </a:solidFill>
                  <a:latin typeface="Tahoma" pitchFamily="34" charset="0"/>
                </a:defRPr>
              </a:lvl8pPr>
              <a:lvl9pPr>
                <a:defRPr sz="16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itchFamily="18" charset="0"/>
                  <a:ea typeface="ＭＳ Ｐゴシック" charset="-128"/>
                </a:rPr>
                <a:t>  </a:t>
              </a:r>
              <a:r>
                <a:rPr kumimoji="0" lang="en-US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Cash received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76050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8389"/>
    </mc:Choice>
    <mc:Fallback xmlns="">
      <p:transition spd="slow" advTm="128389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7010400" y="6381750"/>
            <a:ext cx="2133600" cy="476250"/>
          </a:xfrm>
          <a:noFill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59F7F11-38DE-4848-9C10-F2E233F83E86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228600" y="141110"/>
            <a:ext cx="8915400" cy="85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Cost of cash (cont.) – efficient </a:t>
            </a:r>
            <a:r>
              <a:rPr kumimoji="0" lang="en-US" sz="3600" b="0" i="0" u="none" strike="noStrike" kern="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mngt</a:t>
            </a: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 of cash</a:t>
            </a:r>
            <a:endParaRPr kumimoji="0" lang="en-GB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ahoma"/>
              <a:ea typeface="ＭＳ Ｐゴシック"/>
              <a:cs typeface="+mj-cs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228600" y="1112660"/>
            <a:ext cx="8534400" cy="500005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ZA" altLang="en-US" sz="2200" dirty="0">
                <a:solidFill>
                  <a:prstClr val="black"/>
                </a:solidFill>
                <a:latin typeface="Tahoma"/>
                <a:ea typeface="ＭＳ Ｐゴシック"/>
              </a:rPr>
              <a:t>Average </a:t>
            </a:r>
            <a:r>
              <a:rPr kumimoji="0" lang="en-ZA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collection period (ACP)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Time period between sale of inventory and collection of receivables (cash form sale) </a:t>
            </a:r>
            <a:r>
              <a:rPr kumimoji="0" lang="en-ZA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(45 days) 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Also called accounts receivables period or Days sales outstanding (DSO)</a:t>
            </a:r>
          </a:p>
        </p:txBody>
      </p:sp>
      <p:grpSp>
        <p:nvGrpSpPr>
          <p:cNvPr id="12" name="Group 53"/>
          <p:cNvGrpSpPr>
            <a:grpSpLocks/>
          </p:cNvGrpSpPr>
          <p:nvPr/>
        </p:nvGrpSpPr>
        <p:grpSpPr bwMode="auto">
          <a:xfrm>
            <a:off x="381000" y="3200400"/>
            <a:ext cx="8423644" cy="2912318"/>
            <a:chOff x="336" y="1968"/>
            <a:chExt cx="5280" cy="1872"/>
          </a:xfrm>
        </p:grpSpPr>
        <p:sp>
          <p:nvSpPr>
            <p:cNvPr id="13" name="Line 30"/>
            <p:cNvSpPr>
              <a:spLocks noChangeShapeType="1"/>
            </p:cNvSpPr>
            <p:nvPr/>
          </p:nvSpPr>
          <p:spPr bwMode="auto">
            <a:xfrm>
              <a:off x="983" y="2544"/>
              <a:ext cx="204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" name="Line 31"/>
            <p:cNvSpPr>
              <a:spLocks noChangeShapeType="1"/>
            </p:cNvSpPr>
            <p:nvPr/>
          </p:nvSpPr>
          <p:spPr bwMode="auto">
            <a:xfrm>
              <a:off x="3030" y="2544"/>
              <a:ext cx="204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" name="Line 32"/>
            <p:cNvSpPr>
              <a:spLocks noChangeShapeType="1"/>
            </p:cNvSpPr>
            <p:nvPr/>
          </p:nvSpPr>
          <p:spPr bwMode="auto">
            <a:xfrm>
              <a:off x="767" y="2904"/>
              <a:ext cx="452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6" name="Line 33"/>
            <p:cNvSpPr>
              <a:spLocks noChangeShapeType="1"/>
            </p:cNvSpPr>
            <p:nvPr/>
          </p:nvSpPr>
          <p:spPr bwMode="auto">
            <a:xfrm>
              <a:off x="983" y="3264"/>
              <a:ext cx="172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7" name="Line 34"/>
            <p:cNvSpPr>
              <a:spLocks noChangeShapeType="1"/>
            </p:cNvSpPr>
            <p:nvPr/>
          </p:nvSpPr>
          <p:spPr bwMode="auto">
            <a:xfrm>
              <a:off x="2707" y="3264"/>
              <a:ext cx="237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8" name="Line 35"/>
            <p:cNvSpPr>
              <a:spLocks noChangeShapeType="1"/>
            </p:cNvSpPr>
            <p:nvPr/>
          </p:nvSpPr>
          <p:spPr bwMode="auto">
            <a:xfrm flipV="1">
              <a:off x="983" y="2256"/>
              <a:ext cx="0" cy="6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9" name="Line 36"/>
            <p:cNvSpPr>
              <a:spLocks noChangeShapeType="1"/>
            </p:cNvSpPr>
            <p:nvPr/>
          </p:nvSpPr>
          <p:spPr bwMode="auto">
            <a:xfrm flipV="1">
              <a:off x="3030" y="2256"/>
              <a:ext cx="0" cy="6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0" name="Line 37"/>
            <p:cNvSpPr>
              <a:spLocks noChangeShapeType="1"/>
            </p:cNvSpPr>
            <p:nvPr/>
          </p:nvSpPr>
          <p:spPr bwMode="auto">
            <a:xfrm>
              <a:off x="2707" y="2904"/>
              <a:ext cx="0" cy="6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1" name="Line 38"/>
            <p:cNvSpPr>
              <a:spLocks noChangeShapeType="1"/>
            </p:cNvSpPr>
            <p:nvPr/>
          </p:nvSpPr>
          <p:spPr bwMode="auto">
            <a:xfrm>
              <a:off x="5077" y="2904"/>
              <a:ext cx="0" cy="6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2" name="Text Box 39"/>
            <p:cNvSpPr txBox="1">
              <a:spLocks noChangeArrowheads="1"/>
            </p:cNvSpPr>
            <p:nvPr/>
          </p:nvSpPr>
          <p:spPr bwMode="auto">
            <a:xfrm>
              <a:off x="336" y="1968"/>
              <a:ext cx="1861" cy="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1600">
                  <a:solidFill>
                    <a:schemeClr val="tx1"/>
                  </a:solidFill>
                  <a:latin typeface="Tahoma" pitchFamily="34" charset="0"/>
                </a:defRPr>
              </a:lvl5pPr>
              <a:lvl6pPr>
                <a:defRPr sz="1600">
                  <a:solidFill>
                    <a:schemeClr val="tx1"/>
                  </a:solidFill>
                  <a:latin typeface="Tahoma" pitchFamily="34" charset="0"/>
                </a:defRPr>
              </a:lvl6pPr>
              <a:lvl7pPr>
                <a:defRPr sz="1600">
                  <a:solidFill>
                    <a:schemeClr val="tx1"/>
                  </a:solidFill>
                  <a:latin typeface="Tahoma" pitchFamily="34" charset="0"/>
                </a:defRPr>
              </a:lvl7pPr>
              <a:lvl8pPr>
                <a:defRPr sz="1600">
                  <a:solidFill>
                    <a:schemeClr val="tx1"/>
                  </a:solidFill>
                  <a:latin typeface="Tahoma" pitchFamily="34" charset="0"/>
                </a:defRPr>
              </a:lvl8pPr>
              <a:lvl9pPr>
                <a:defRPr sz="16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Inventory purchased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ＭＳ Ｐゴシック" charset="-128"/>
                </a:rPr>
                <a:t>	</a:t>
              </a:r>
            </a:p>
          </p:txBody>
        </p:sp>
        <p:sp>
          <p:nvSpPr>
            <p:cNvPr id="24" name="Text Box 41"/>
            <p:cNvSpPr txBox="1">
              <a:spLocks noChangeArrowheads="1"/>
            </p:cNvSpPr>
            <p:nvPr/>
          </p:nvSpPr>
          <p:spPr bwMode="auto">
            <a:xfrm>
              <a:off x="2599" y="1968"/>
              <a:ext cx="1401" cy="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1600">
                  <a:solidFill>
                    <a:schemeClr val="tx1"/>
                  </a:solidFill>
                  <a:latin typeface="Tahoma" pitchFamily="34" charset="0"/>
                </a:defRPr>
              </a:lvl5pPr>
              <a:lvl6pPr>
                <a:defRPr sz="1600">
                  <a:solidFill>
                    <a:schemeClr val="tx1"/>
                  </a:solidFill>
                  <a:latin typeface="Tahoma" pitchFamily="34" charset="0"/>
                </a:defRPr>
              </a:lvl6pPr>
              <a:lvl7pPr>
                <a:defRPr sz="1600">
                  <a:solidFill>
                    <a:schemeClr val="tx1"/>
                  </a:solidFill>
                  <a:latin typeface="Tahoma" pitchFamily="34" charset="0"/>
                </a:defRPr>
              </a:lvl7pPr>
              <a:lvl8pPr>
                <a:defRPr sz="1600">
                  <a:solidFill>
                    <a:schemeClr val="tx1"/>
                  </a:solidFill>
                  <a:latin typeface="Tahoma" pitchFamily="34" charset="0"/>
                </a:defRPr>
              </a:lvl8pPr>
              <a:lvl9pPr>
                <a:defRPr sz="16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Inventory</a:t>
              </a:r>
              <a:r>
                <a:rPr kumimoji="0" lang="en-US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itchFamily="18" charset="0"/>
                  <a:ea typeface="ＭＳ Ｐゴシック" charset="-128"/>
                </a:rPr>
                <a:t> </a:t>
              </a:r>
              <a:r>
                <a:rPr kumimoji="0" lang="en-US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sold</a:t>
              </a:r>
            </a:p>
          </p:txBody>
        </p:sp>
        <p:sp>
          <p:nvSpPr>
            <p:cNvPr id="25" name="Text Box 42"/>
            <p:cNvSpPr txBox="1">
              <a:spLocks noChangeArrowheads="1"/>
            </p:cNvSpPr>
            <p:nvPr/>
          </p:nvSpPr>
          <p:spPr bwMode="auto">
            <a:xfrm>
              <a:off x="1198" y="2256"/>
              <a:ext cx="1401" cy="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1600">
                  <a:solidFill>
                    <a:schemeClr val="tx1"/>
                  </a:solidFill>
                  <a:latin typeface="Tahoma" pitchFamily="34" charset="0"/>
                </a:defRPr>
              </a:lvl5pPr>
              <a:lvl6pPr>
                <a:defRPr sz="1600">
                  <a:solidFill>
                    <a:schemeClr val="tx1"/>
                  </a:solidFill>
                  <a:latin typeface="Tahoma" pitchFamily="34" charset="0"/>
                </a:defRPr>
              </a:lvl6pPr>
              <a:lvl7pPr>
                <a:defRPr sz="1600">
                  <a:solidFill>
                    <a:schemeClr val="tx1"/>
                  </a:solidFill>
                  <a:latin typeface="Tahoma" pitchFamily="34" charset="0"/>
                </a:defRPr>
              </a:lvl7pPr>
              <a:lvl8pPr>
                <a:defRPr sz="1600">
                  <a:solidFill>
                    <a:schemeClr val="tx1"/>
                  </a:solidFill>
                  <a:latin typeface="Tahoma" pitchFamily="34" charset="0"/>
                </a:defRPr>
              </a:lvl8pPr>
              <a:lvl9pPr>
                <a:defRPr sz="16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en-US" sz="1800" dirty="0">
                  <a:solidFill>
                    <a:prstClr val="black"/>
                  </a:solidFill>
                  <a:latin typeface="Tahoma"/>
                </a:rPr>
                <a:t>AAI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endParaRPr>
            </a:p>
          </p:txBody>
        </p:sp>
        <p:sp>
          <p:nvSpPr>
            <p:cNvPr id="26" name="Text Box 43"/>
            <p:cNvSpPr txBox="1">
              <a:spLocks noChangeArrowheads="1"/>
            </p:cNvSpPr>
            <p:nvPr/>
          </p:nvSpPr>
          <p:spPr bwMode="auto">
            <a:xfrm>
              <a:off x="3138" y="2256"/>
              <a:ext cx="2371" cy="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>
                <a:defRPr sz="1800" b="1">
                  <a:solidFill>
                    <a:srgbClr val="C00000"/>
                  </a:solidFill>
                  <a:latin typeface="+mn-lt"/>
                </a:defRPr>
              </a:lvl1pPr>
              <a:lvl2pPr>
                <a:defRPr sz="2400">
                  <a:latin typeface="Tahoma" pitchFamily="34" charset="0"/>
                </a:defRPr>
              </a:lvl2pPr>
              <a:lvl3pPr>
                <a:defRPr sz="2000">
                  <a:latin typeface="Tahoma" pitchFamily="34" charset="0"/>
                </a:defRPr>
              </a:lvl3pPr>
              <a:lvl4pPr>
                <a:defRPr sz="1600">
                  <a:latin typeface="Tahoma" pitchFamily="34" charset="0"/>
                </a:defRPr>
              </a:lvl4pPr>
              <a:lvl5pPr>
                <a:defRPr sz="1600">
                  <a:latin typeface="Tahoma" pitchFamily="34" charset="0"/>
                </a:defRPr>
              </a:lvl5pPr>
              <a:lvl6pPr>
                <a:defRPr sz="1600">
                  <a:latin typeface="Tahoma" pitchFamily="34" charset="0"/>
                </a:defRPr>
              </a:lvl6pPr>
              <a:lvl7pPr>
                <a:defRPr sz="1600">
                  <a:latin typeface="Tahoma" pitchFamily="34" charset="0"/>
                </a:defRPr>
              </a:lvl7pPr>
              <a:lvl8pPr>
                <a:defRPr sz="1600">
                  <a:latin typeface="Tahoma" pitchFamily="34" charset="0"/>
                </a:defRPr>
              </a:lvl8pPr>
              <a:lvl9pPr>
                <a:defRPr sz="1600">
                  <a:latin typeface="Tahoma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                        </a:t>
              </a:r>
              <a:r>
                <a:rPr lang="en-US" altLang="en-US" dirty="0">
                  <a:latin typeface="Tahoma"/>
                </a:rPr>
                <a:t>ACP</a:t>
              </a:r>
              <a:r>
                <a:rPr kumimoji="0" lang="en-US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 </a:t>
              </a:r>
            </a:p>
          </p:txBody>
        </p:sp>
        <p:sp>
          <p:nvSpPr>
            <p:cNvPr id="27" name="Text Box 44"/>
            <p:cNvSpPr txBox="1">
              <a:spLocks noChangeArrowheads="1"/>
            </p:cNvSpPr>
            <p:nvPr/>
          </p:nvSpPr>
          <p:spPr bwMode="auto">
            <a:xfrm>
              <a:off x="1198" y="2616"/>
              <a:ext cx="1401" cy="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1600">
                  <a:solidFill>
                    <a:schemeClr val="tx1"/>
                  </a:solidFill>
                  <a:latin typeface="Tahoma" pitchFamily="34" charset="0"/>
                </a:defRPr>
              </a:lvl5pPr>
              <a:lvl6pPr>
                <a:defRPr sz="1600">
                  <a:solidFill>
                    <a:schemeClr val="tx1"/>
                  </a:solidFill>
                  <a:latin typeface="Tahoma" pitchFamily="34" charset="0"/>
                </a:defRPr>
              </a:lvl6pPr>
              <a:lvl7pPr>
                <a:defRPr sz="1600">
                  <a:solidFill>
                    <a:schemeClr val="tx1"/>
                  </a:solidFill>
                  <a:latin typeface="Tahoma" pitchFamily="34" charset="0"/>
                </a:defRPr>
              </a:lvl7pPr>
              <a:lvl8pPr>
                <a:defRPr sz="1600">
                  <a:solidFill>
                    <a:schemeClr val="tx1"/>
                  </a:solidFill>
                  <a:latin typeface="Tahoma" pitchFamily="34" charset="0"/>
                </a:defRPr>
              </a:lvl8pPr>
              <a:lvl9pPr>
                <a:defRPr sz="16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60 days</a:t>
              </a:r>
            </a:p>
          </p:txBody>
        </p:sp>
        <p:sp>
          <p:nvSpPr>
            <p:cNvPr id="28" name="Text Box 45"/>
            <p:cNvSpPr txBox="1">
              <a:spLocks noChangeArrowheads="1"/>
            </p:cNvSpPr>
            <p:nvPr/>
          </p:nvSpPr>
          <p:spPr bwMode="auto">
            <a:xfrm>
              <a:off x="3138" y="2616"/>
              <a:ext cx="1400" cy="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1600">
                  <a:solidFill>
                    <a:schemeClr val="tx1"/>
                  </a:solidFill>
                  <a:latin typeface="Tahoma" pitchFamily="34" charset="0"/>
                </a:defRPr>
              </a:lvl5pPr>
              <a:lvl6pPr>
                <a:defRPr sz="1600">
                  <a:solidFill>
                    <a:schemeClr val="tx1"/>
                  </a:solidFill>
                  <a:latin typeface="Tahoma" pitchFamily="34" charset="0"/>
                </a:defRPr>
              </a:lvl6pPr>
              <a:lvl7pPr>
                <a:defRPr sz="1600">
                  <a:solidFill>
                    <a:schemeClr val="tx1"/>
                  </a:solidFill>
                  <a:latin typeface="Tahoma" pitchFamily="34" charset="0"/>
                </a:defRPr>
              </a:lvl7pPr>
              <a:lvl8pPr>
                <a:defRPr sz="1600">
                  <a:solidFill>
                    <a:schemeClr val="tx1"/>
                  </a:solidFill>
                  <a:latin typeface="Tahoma" pitchFamily="34" charset="0"/>
                </a:defRPr>
              </a:lvl8pPr>
              <a:lvl9pPr>
                <a:defRPr sz="16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45 days</a:t>
              </a:r>
            </a:p>
          </p:txBody>
        </p:sp>
        <p:sp>
          <p:nvSpPr>
            <p:cNvPr id="29" name="Text Box 46"/>
            <p:cNvSpPr txBox="1">
              <a:spLocks noChangeArrowheads="1"/>
            </p:cNvSpPr>
            <p:nvPr/>
          </p:nvSpPr>
          <p:spPr bwMode="auto">
            <a:xfrm>
              <a:off x="1198" y="2976"/>
              <a:ext cx="1401" cy="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1600">
                  <a:solidFill>
                    <a:schemeClr val="tx1"/>
                  </a:solidFill>
                  <a:latin typeface="Tahoma" pitchFamily="34" charset="0"/>
                </a:defRPr>
              </a:lvl5pPr>
              <a:lvl6pPr>
                <a:defRPr sz="1600">
                  <a:solidFill>
                    <a:schemeClr val="tx1"/>
                  </a:solidFill>
                  <a:latin typeface="Tahoma" pitchFamily="34" charset="0"/>
                </a:defRPr>
              </a:lvl6pPr>
              <a:lvl7pPr>
                <a:defRPr sz="1600">
                  <a:solidFill>
                    <a:schemeClr val="tx1"/>
                  </a:solidFill>
                  <a:latin typeface="Tahoma" pitchFamily="34" charset="0"/>
                </a:defRPr>
              </a:lvl7pPr>
              <a:lvl8pPr>
                <a:defRPr sz="1600">
                  <a:solidFill>
                    <a:schemeClr val="tx1"/>
                  </a:solidFill>
                  <a:latin typeface="Tahoma" pitchFamily="34" charset="0"/>
                </a:defRPr>
              </a:lvl8pPr>
              <a:lvl9pPr>
                <a:defRPr sz="16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Accounts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ＭＳ Ｐゴシック" charset="-128"/>
                </a:rPr>
                <a:t> 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payable</a:t>
              </a:r>
            </a:p>
          </p:txBody>
        </p:sp>
        <p:sp>
          <p:nvSpPr>
            <p:cNvPr id="30" name="Text Box 47"/>
            <p:cNvSpPr txBox="1">
              <a:spLocks noChangeArrowheads="1"/>
            </p:cNvSpPr>
            <p:nvPr/>
          </p:nvSpPr>
          <p:spPr bwMode="auto">
            <a:xfrm>
              <a:off x="2922" y="2976"/>
              <a:ext cx="1401" cy="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1600">
                  <a:solidFill>
                    <a:schemeClr val="tx1"/>
                  </a:solidFill>
                  <a:latin typeface="Tahoma" pitchFamily="34" charset="0"/>
                </a:defRPr>
              </a:lvl5pPr>
              <a:lvl6pPr>
                <a:defRPr sz="1600">
                  <a:solidFill>
                    <a:schemeClr val="tx1"/>
                  </a:solidFill>
                  <a:latin typeface="Tahoma" pitchFamily="34" charset="0"/>
                </a:defRPr>
              </a:lvl6pPr>
              <a:lvl7pPr>
                <a:defRPr sz="1600">
                  <a:solidFill>
                    <a:schemeClr val="tx1"/>
                  </a:solidFill>
                  <a:latin typeface="Tahoma" pitchFamily="34" charset="0"/>
                </a:defRPr>
              </a:lvl7pPr>
              <a:lvl8pPr>
                <a:defRPr sz="1600">
                  <a:solidFill>
                    <a:schemeClr val="tx1"/>
                  </a:solidFill>
                  <a:latin typeface="Tahoma" pitchFamily="34" charset="0"/>
                </a:defRPr>
              </a:lvl8pPr>
              <a:lvl9pPr>
                <a:defRPr sz="16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Cash cycle</a:t>
              </a:r>
            </a:p>
          </p:txBody>
        </p:sp>
        <p:sp>
          <p:nvSpPr>
            <p:cNvPr id="31" name="Text Box 48"/>
            <p:cNvSpPr txBox="1">
              <a:spLocks noChangeArrowheads="1"/>
            </p:cNvSpPr>
            <p:nvPr/>
          </p:nvSpPr>
          <p:spPr bwMode="auto">
            <a:xfrm>
              <a:off x="1198" y="3336"/>
              <a:ext cx="1401" cy="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1600">
                  <a:solidFill>
                    <a:schemeClr val="tx1"/>
                  </a:solidFill>
                  <a:latin typeface="Tahoma" pitchFamily="34" charset="0"/>
                </a:defRPr>
              </a:lvl5pPr>
              <a:lvl6pPr>
                <a:defRPr sz="1600">
                  <a:solidFill>
                    <a:schemeClr val="tx1"/>
                  </a:solidFill>
                  <a:latin typeface="Tahoma" pitchFamily="34" charset="0"/>
                </a:defRPr>
              </a:lvl6pPr>
              <a:lvl7pPr>
                <a:defRPr sz="1600">
                  <a:solidFill>
                    <a:schemeClr val="tx1"/>
                  </a:solidFill>
                  <a:latin typeface="Tahoma" pitchFamily="34" charset="0"/>
                </a:defRPr>
              </a:lvl7pPr>
              <a:lvl8pPr>
                <a:defRPr sz="1600">
                  <a:solidFill>
                    <a:schemeClr val="tx1"/>
                  </a:solidFill>
                  <a:latin typeface="Tahoma" pitchFamily="34" charset="0"/>
                </a:defRPr>
              </a:lvl8pPr>
              <a:lvl9pPr>
                <a:defRPr sz="16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        30 days</a:t>
              </a:r>
            </a:p>
          </p:txBody>
        </p:sp>
        <p:sp>
          <p:nvSpPr>
            <p:cNvPr id="32" name="Text Box 49"/>
            <p:cNvSpPr txBox="1">
              <a:spLocks noChangeArrowheads="1"/>
            </p:cNvSpPr>
            <p:nvPr/>
          </p:nvSpPr>
          <p:spPr bwMode="auto">
            <a:xfrm>
              <a:off x="2922" y="3336"/>
              <a:ext cx="1940" cy="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1600">
                  <a:solidFill>
                    <a:schemeClr val="tx1"/>
                  </a:solidFill>
                  <a:latin typeface="Tahoma" pitchFamily="34" charset="0"/>
                </a:defRPr>
              </a:lvl5pPr>
              <a:lvl6pPr>
                <a:defRPr sz="1600">
                  <a:solidFill>
                    <a:schemeClr val="tx1"/>
                  </a:solidFill>
                  <a:latin typeface="Tahoma" pitchFamily="34" charset="0"/>
                </a:defRPr>
              </a:lvl6pPr>
              <a:lvl7pPr>
                <a:defRPr sz="1600">
                  <a:solidFill>
                    <a:schemeClr val="tx1"/>
                  </a:solidFill>
                  <a:latin typeface="Tahoma" pitchFamily="34" charset="0"/>
                </a:defRPr>
              </a:lvl7pPr>
              <a:lvl8pPr>
                <a:defRPr sz="1600">
                  <a:solidFill>
                    <a:schemeClr val="tx1"/>
                  </a:solidFill>
                  <a:latin typeface="Tahoma" pitchFamily="34" charset="0"/>
                </a:defRPr>
              </a:lvl8pPr>
              <a:lvl9pPr>
                <a:defRPr sz="16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60 + 45 – 30 = 75 days</a:t>
              </a:r>
            </a:p>
          </p:txBody>
        </p:sp>
        <p:sp>
          <p:nvSpPr>
            <p:cNvPr id="34" name="Text Box 51"/>
            <p:cNvSpPr txBox="1">
              <a:spLocks noChangeArrowheads="1"/>
            </p:cNvSpPr>
            <p:nvPr/>
          </p:nvSpPr>
          <p:spPr bwMode="auto">
            <a:xfrm>
              <a:off x="1952" y="3624"/>
              <a:ext cx="1832" cy="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1600">
                  <a:solidFill>
                    <a:schemeClr val="tx1"/>
                  </a:solidFill>
                  <a:latin typeface="Tahoma" pitchFamily="34" charset="0"/>
                </a:defRPr>
              </a:lvl5pPr>
              <a:lvl6pPr>
                <a:defRPr sz="1600">
                  <a:solidFill>
                    <a:schemeClr val="tx1"/>
                  </a:solidFill>
                  <a:latin typeface="Tahoma" pitchFamily="34" charset="0"/>
                </a:defRPr>
              </a:lvl6pPr>
              <a:lvl7pPr>
                <a:defRPr sz="1600">
                  <a:solidFill>
                    <a:schemeClr val="tx1"/>
                  </a:solidFill>
                  <a:latin typeface="Tahoma" pitchFamily="34" charset="0"/>
                </a:defRPr>
              </a:lvl7pPr>
              <a:lvl8pPr>
                <a:defRPr sz="1600">
                  <a:solidFill>
                    <a:schemeClr val="tx1"/>
                  </a:solidFill>
                  <a:latin typeface="Tahoma" pitchFamily="34" charset="0"/>
                </a:defRPr>
              </a:lvl8pPr>
              <a:lvl9pPr>
                <a:defRPr sz="16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Cash paid for inventory</a:t>
              </a:r>
            </a:p>
          </p:txBody>
        </p:sp>
        <p:sp>
          <p:nvSpPr>
            <p:cNvPr id="35" name="Text Box 52"/>
            <p:cNvSpPr txBox="1">
              <a:spLocks noChangeArrowheads="1"/>
            </p:cNvSpPr>
            <p:nvPr/>
          </p:nvSpPr>
          <p:spPr bwMode="auto">
            <a:xfrm>
              <a:off x="4323" y="3624"/>
              <a:ext cx="1293" cy="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1600">
                  <a:solidFill>
                    <a:schemeClr val="tx1"/>
                  </a:solidFill>
                  <a:latin typeface="Tahoma" pitchFamily="34" charset="0"/>
                </a:defRPr>
              </a:lvl5pPr>
              <a:lvl6pPr>
                <a:defRPr sz="1600">
                  <a:solidFill>
                    <a:schemeClr val="tx1"/>
                  </a:solidFill>
                  <a:latin typeface="Tahoma" pitchFamily="34" charset="0"/>
                </a:defRPr>
              </a:lvl6pPr>
              <a:lvl7pPr>
                <a:defRPr sz="1600">
                  <a:solidFill>
                    <a:schemeClr val="tx1"/>
                  </a:solidFill>
                  <a:latin typeface="Tahoma" pitchFamily="34" charset="0"/>
                </a:defRPr>
              </a:lvl7pPr>
              <a:lvl8pPr>
                <a:defRPr sz="1600">
                  <a:solidFill>
                    <a:schemeClr val="tx1"/>
                  </a:solidFill>
                  <a:latin typeface="Tahoma" pitchFamily="34" charset="0"/>
                </a:defRPr>
              </a:lvl8pPr>
              <a:lvl9pPr>
                <a:defRPr sz="16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itchFamily="18" charset="0"/>
                  <a:ea typeface="ＭＳ Ｐゴシック" charset="-128"/>
                </a:rPr>
                <a:t>  </a:t>
              </a:r>
              <a:r>
                <a:rPr kumimoji="0" lang="en-US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Cash received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43406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3569"/>
    </mc:Choice>
    <mc:Fallback xmlns="">
      <p:transition spd="slow" advTm="93569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7010400" y="6381750"/>
            <a:ext cx="2133600" cy="476250"/>
          </a:xfrm>
          <a:noFill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59F7F11-38DE-4848-9C10-F2E233F83E86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228600" y="243780"/>
            <a:ext cx="8915400" cy="688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9pPr>
          </a:lstStyle>
          <a:p>
            <a:pPr algn="l" eaLnBrk="1" hangingPunct="1">
              <a:defRPr/>
            </a:pPr>
            <a:r>
              <a:rPr lang="en-US" altLang="en-US" sz="3600" kern="0" dirty="0">
                <a:solidFill>
                  <a:srgbClr val="1F497D"/>
                </a:solidFill>
                <a:latin typeface="Tahoma"/>
                <a:ea typeface="ＭＳ Ｐゴシック"/>
              </a:rPr>
              <a:t>Cost of cash (cont.) – efficient </a:t>
            </a:r>
            <a:r>
              <a:rPr lang="en-US" altLang="en-US" sz="3600" kern="0" dirty="0" err="1">
                <a:solidFill>
                  <a:srgbClr val="1F497D"/>
                </a:solidFill>
                <a:latin typeface="Tahoma"/>
                <a:ea typeface="ＭＳ Ｐゴシック"/>
              </a:rPr>
              <a:t>mngt</a:t>
            </a:r>
            <a:r>
              <a:rPr lang="en-US" altLang="en-US" sz="3600" kern="0" dirty="0">
                <a:solidFill>
                  <a:srgbClr val="1F497D"/>
                </a:solidFill>
                <a:latin typeface="Tahoma"/>
                <a:ea typeface="ＭＳ Ｐゴシック"/>
              </a:rPr>
              <a:t> of cash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28600" y="1113876"/>
            <a:ext cx="8534400" cy="488454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Average payment period (APP)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Time period between receipt of inventory and payment for it </a:t>
            </a:r>
            <a:r>
              <a:rPr kumimoji="0" lang="en-ZA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(30 days)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Also called accounts payables/deferral period or Days payables outstanding (DPO)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ahoma"/>
              <a:ea typeface="ＭＳ Ｐゴシック" charset="-128"/>
            </a:endParaRPr>
          </a:p>
        </p:txBody>
      </p:sp>
      <p:grpSp>
        <p:nvGrpSpPr>
          <p:cNvPr id="5" name="Group 53"/>
          <p:cNvGrpSpPr>
            <a:grpSpLocks/>
          </p:cNvGrpSpPr>
          <p:nvPr/>
        </p:nvGrpSpPr>
        <p:grpSpPr bwMode="auto">
          <a:xfrm>
            <a:off x="533400" y="3441404"/>
            <a:ext cx="8353647" cy="2806995"/>
            <a:chOff x="336" y="1968"/>
            <a:chExt cx="5280" cy="1872"/>
          </a:xfrm>
        </p:grpSpPr>
        <p:sp>
          <p:nvSpPr>
            <p:cNvPr id="6" name="Line 30"/>
            <p:cNvSpPr>
              <a:spLocks noChangeShapeType="1"/>
            </p:cNvSpPr>
            <p:nvPr/>
          </p:nvSpPr>
          <p:spPr bwMode="auto">
            <a:xfrm>
              <a:off x="983" y="2544"/>
              <a:ext cx="204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7" name="Line 31"/>
            <p:cNvSpPr>
              <a:spLocks noChangeShapeType="1"/>
            </p:cNvSpPr>
            <p:nvPr/>
          </p:nvSpPr>
          <p:spPr bwMode="auto">
            <a:xfrm>
              <a:off x="3030" y="2544"/>
              <a:ext cx="204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8" name="Line 32"/>
            <p:cNvSpPr>
              <a:spLocks noChangeShapeType="1"/>
            </p:cNvSpPr>
            <p:nvPr/>
          </p:nvSpPr>
          <p:spPr bwMode="auto">
            <a:xfrm>
              <a:off x="767" y="2904"/>
              <a:ext cx="452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9" name="Line 33"/>
            <p:cNvSpPr>
              <a:spLocks noChangeShapeType="1"/>
            </p:cNvSpPr>
            <p:nvPr/>
          </p:nvSpPr>
          <p:spPr bwMode="auto">
            <a:xfrm>
              <a:off x="983" y="3264"/>
              <a:ext cx="172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1" name="Line 34"/>
            <p:cNvSpPr>
              <a:spLocks noChangeShapeType="1"/>
            </p:cNvSpPr>
            <p:nvPr/>
          </p:nvSpPr>
          <p:spPr bwMode="auto">
            <a:xfrm>
              <a:off x="2707" y="3264"/>
              <a:ext cx="237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2" name="Line 35"/>
            <p:cNvSpPr>
              <a:spLocks noChangeShapeType="1"/>
            </p:cNvSpPr>
            <p:nvPr/>
          </p:nvSpPr>
          <p:spPr bwMode="auto">
            <a:xfrm flipV="1">
              <a:off x="983" y="2256"/>
              <a:ext cx="0" cy="6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3" name="Line 36"/>
            <p:cNvSpPr>
              <a:spLocks noChangeShapeType="1"/>
            </p:cNvSpPr>
            <p:nvPr/>
          </p:nvSpPr>
          <p:spPr bwMode="auto">
            <a:xfrm flipV="1">
              <a:off x="3030" y="2256"/>
              <a:ext cx="0" cy="6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" name="Line 37"/>
            <p:cNvSpPr>
              <a:spLocks noChangeShapeType="1"/>
            </p:cNvSpPr>
            <p:nvPr/>
          </p:nvSpPr>
          <p:spPr bwMode="auto">
            <a:xfrm>
              <a:off x="2707" y="2904"/>
              <a:ext cx="0" cy="6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" name="Line 38"/>
            <p:cNvSpPr>
              <a:spLocks noChangeShapeType="1"/>
            </p:cNvSpPr>
            <p:nvPr/>
          </p:nvSpPr>
          <p:spPr bwMode="auto">
            <a:xfrm>
              <a:off x="5077" y="2904"/>
              <a:ext cx="0" cy="6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6" name="Text Box 39"/>
            <p:cNvSpPr txBox="1">
              <a:spLocks noChangeArrowheads="1"/>
            </p:cNvSpPr>
            <p:nvPr/>
          </p:nvSpPr>
          <p:spPr bwMode="auto">
            <a:xfrm>
              <a:off x="336" y="1968"/>
              <a:ext cx="1861" cy="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1600">
                  <a:solidFill>
                    <a:schemeClr val="tx1"/>
                  </a:solidFill>
                  <a:latin typeface="Tahoma" pitchFamily="34" charset="0"/>
                </a:defRPr>
              </a:lvl5pPr>
              <a:lvl6pPr>
                <a:defRPr sz="1600">
                  <a:solidFill>
                    <a:schemeClr val="tx1"/>
                  </a:solidFill>
                  <a:latin typeface="Tahoma" pitchFamily="34" charset="0"/>
                </a:defRPr>
              </a:lvl6pPr>
              <a:lvl7pPr>
                <a:defRPr sz="1600">
                  <a:solidFill>
                    <a:schemeClr val="tx1"/>
                  </a:solidFill>
                  <a:latin typeface="Tahoma" pitchFamily="34" charset="0"/>
                </a:defRPr>
              </a:lvl7pPr>
              <a:lvl8pPr>
                <a:defRPr sz="1600">
                  <a:solidFill>
                    <a:schemeClr val="tx1"/>
                  </a:solidFill>
                  <a:latin typeface="Tahoma" pitchFamily="34" charset="0"/>
                </a:defRPr>
              </a:lvl8pPr>
              <a:lvl9pPr>
                <a:defRPr sz="16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Inventory purchased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ＭＳ Ｐゴシック" charset="-128"/>
                </a:rPr>
                <a:t>	</a:t>
              </a:r>
            </a:p>
          </p:txBody>
        </p:sp>
        <p:sp>
          <p:nvSpPr>
            <p:cNvPr id="18" name="Text Box 41"/>
            <p:cNvSpPr txBox="1">
              <a:spLocks noChangeArrowheads="1"/>
            </p:cNvSpPr>
            <p:nvPr/>
          </p:nvSpPr>
          <p:spPr bwMode="auto">
            <a:xfrm>
              <a:off x="2599" y="1968"/>
              <a:ext cx="1401" cy="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1600">
                  <a:solidFill>
                    <a:schemeClr val="tx1"/>
                  </a:solidFill>
                  <a:latin typeface="Tahoma" pitchFamily="34" charset="0"/>
                </a:defRPr>
              </a:lvl5pPr>
              <a:lvl6pPr>
                <a:defRPr sz="1600">
                  <a:solidFill>
                    <a:schemeClr val="tx1"/>
                  </a:solidFill>
                  <a:latin typeface="Tahoma" pitchFamily="34" charset="0"/>
                </a:defRPr>
              </a:lvl6pPr>
              <a:lvl7pPr>
                <a:defRPr sz="1600">
                  <a:solidFill>
                    <a:schemeClr val="tx1"/>
                  </a:solidFill>
                  <a:latin typeface="Tahoma" pitchFamily="34" charset="0"/>
                </a:defRPr>
              </a:lvl7pPr>
              <a:lvl8pPr>
                <a:defRPr sz="1600">
                  <a:solidFill>
                    <a:schemeClr val="tx1"/>
                  </a:solidFill>
                  <a:latin typeface="Tahoma" pitchFamily="34" charset="0"/>
                </a:defRPr>
              </a:lvl8pPr>
              <a:lvl9pPr>
                <a:defRPr sz="16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Inventory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ＭＳ Ｐゴシック" charset="-128"/>
                </a:rPr>
                <a:t> 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sold</a:t>
              </a:r>
            </a:p>
          </p:txBody>
        </p:sp>
        <p:sp>
          <p:nvSpPr>
            <p:cNvPr id="19" name="Text Box 42"/>
            <p:cNvSpPr txBox="1">
              <a:spLocks noChangeArrowheads="1"/>
            </p:cNvSpPr>
            <p:nvPr/>
          </p:nvSpPr>
          <p:spPr bwMode="auto">
            <a:xfrm>
              <a:off x="1198" y="2256"/>
              <a:ext cx="1401" cy="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1600">
                  <a:solidFill>
                    <a:schemeClr val="tx1"/>
                  </a:solidFill>
                  <a:latin typeface="Tahoma" pitchFamily="34" charset="0"/>
                </a:defRPr>
              </a:lvl5pPr>
              <a:lvl6pPr>
                <a:defRPr sz="1600">
                  <a:solidFill>
                    <a:schemeClr val="tx1"/>
                  </a:solidFill>
                  <a:latin typeface="Tahoma" pitchFamily="34" charset="0"/>
                </a:defRPr>
              </a:lvl6pPr>
              <a:lvl7pPr>
                <a:defRPr sz="1600">
                  <a:solidFill>
                    <a:schemeClr val="tx1"/>
                  </a:solidFill>
                  <a:latin typeface="Tahoma" pitchFamily="34" charset="0"/>
                </a:defRPr>
              </a:lvl7pPr>
              <a:lvl8pPr>
                <a:defRPr sz="1600">
                  <a:solidFill>
                    <a:schemeClr val="tx1"/>
                  </a:solidFill>
                  <a:latin typeface="Tahoma" pitchFamily="34" charset="0"/>
                </a:defRPr>
              </a:lvl8pPr>
              <a:lvl9pPr>
                <a:defRPr sz="16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en-US" sz="1800" dirty="0">
                  <a:solidFill>
                    <a:prstClr val="black"/>
                  </a:solidFill>
                  <a:latin typeface="Tahoma"/>
                </a:rPr>
                <a:t>AAI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endParaRPr>
            </a:p>
          </p:txBody>
        </p:sp>
        <p:sp>
          <p:nvSpPr>
            <p:cNvPr id="20" name="Text Box 43"/>
            <p:cNvSpPr txBox="1">
              <a:spLocks noChangeArrowheads="1"/>
            </p:cNvSpPr>
            <p:nvPr/>
          </p:nvSpPr>
          <p:spPr bwMode="auto">
            <a:xfrm>
              <a:off x="3138" y="2256"/>
              <a:ext cx="1831" cy="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1600">
                  <a:solidFill>
                    <a:schemeClr val="tx1"/>
                  </a:solidFill>
                  <a:latin typeface="Tahoma" pitchFamily="34" charset="0"/>
                </a:defRPr>
              </a:lvl5pPr>
              <a:lvl6pPr>
                <a:defRPr sz="1600">
                  <a:solidFill>
                    <a:schemeClr val="tx1"/>
                  </a:solidFill>
                  <a:latin typeface="Tahoma" pitchFamily="34" charset="0"/>
                </a:defRPr>
              </a:lvl6pPr>
              <a:lvl7pPr>
                <a:defRPr sz="1600">
                  <a:solidFill>
                    <a:schemeClr val="tx1"/>
                  </a:solidFill>
                  <a:latin typeface="Tahoma" pitchFamily="34" charset="0"/>
                </a:defRPr>
              </a:lvl7pPr>
              <a:lvl8pPr>
                <a:defRPr sz="1600">
                  <a:solidFill>
                    <a:schemeClr val="tx1"/>
                  </a:solidFill>
                  <a:latin typeface="Tahoma" pitchFamily="34" charset="0"/>
                </a:defRPr>
              </a:lvl8pPr>
              <a:lvl9pPr>
                <a:defRPr sz="16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en-US" sz="1800" dirty="0">
                  <a:solidFill>
                    <a:prstClr val="black"/>
                  </a:solidFill>
                  <a:latin typeface="Tahoma"/>
                </a:rPr>
                <a:t>ACP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endParaRPr>
            </a:p>
          </p:txBody>
        </p:sp>
        <p:sp>
          <p:nvSpPr>
            <p:cNvPr id="21" name="Text Box 44"/>
            <p:cNvSpPr txBox="1">
              <a:spLocks noChangeArrowheads="1"/>
            </p:cNvSpPr>
            <p:nvPr/>
          </p:nvSpPr>
          <p:spPr bwMode="auto">
            <a:xfrm>
              <a:off x="1198" y="2616"/>
              <a:ext cx="1401" cy="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1600">
                  <a:solidFill>
                    <a:schemeClr val="tx1"/>
                  </a:solidFill>
                  <a:latin typeface="Tahoma" pitchFamily="34" charset="0"/>
                </a:defRPr>
              </a:lvl5pPr>
              <a:lvl6pPr>
                <a:defRPr sz="1600">
                  <a:solidFill>
                    <a:schemeClr val="tx1"/>
                  </a:solidFill>
                  <a:latin typeface="Tahoma" pitchFamily="34" charset="0"/>
                </a:defRPr>
              </a:lvl6pPr>
              <a:lvl7pPr>
                <a:defRPr sz="1600">
                  <a:solidFill>
                    <a:schemeClr val="tx1"/>
                  </a:solidFill>
                  <a:latin typeface="Tahoma" pitchFamily="34" charset="0"/>
                </a:defRPr>
              </a:lvl7pPr>
              <a:lvl8pPr>
                <a:defRPr sz="1600">
                  <a:solidFill>
                    <a:schemeClr val="tx1"/>
                  </a:solidFill>
                  <a:latin typeface="Tahoma" pitchFamily="34" charset="0"/>
                </a:defRPr>
              </a:lvl8pPr>
              <a:lvl9pPr>
                <a:defRPr sz="16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60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ＭＳ Ｐゴシック" charset="-128"/>
                </a:rPr>
                <a:t> 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days</a:t>
              </a:r>
            </a:p>
          </p:txBody>
        </p:sp>
        <p:sp>
          <p:nvSpPr>
            <p:cNvPr id="22" name="Text Box 45"/>
            <p:cNvSpPr txBox="1">
              <a:spLocks noChangeArrowheads="1"/>
            </p:cNvSpPr>
            <p:nvPr/>
          </p:nvSpPr>
          <p:spPr bwMode="auto">
            <a:xfrm>
              <a:off x="3138" y="2616"/>
              <a:ext cx="1400" cy="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1600">
                  <a:solidFill>
                    <a:schemeClr val="tx1"/>
                  </a:solidFill>
                  <a:latin typeface="Tahoma" pitchFamily="34" charset="0"/>
                </a:defRPr>
              </a:lvl5pPr>
              <a:lvl6pPr>
                <a:defRPr sz="1600">
                  <a:solidFill>
                    <a:schemeClr val="tx1"/>
                  </a:solidFill>
                  <a:latin typeface="Tahoma" pitchFamily="34" charset="0"/>
                </a:defRPr>
              </a:lvl6pPr>
              <a:lvl7pPr>
                <a:defRPr sz="1600">
                  <a:solidFill>
                    <a:schemeClr val="tx1"/>
                  </a:solidFill>
                  <a:latin typeface="Tahoma" pitchFamily="34" charset="0"/>
                </a:defRPr>
              </a:lvl7pPr>
              <a:lvl8pPr>
                <a:defRPr sz="1600">
                  <a:solidFill>
                    <a:schemeClr val="tx1"/>
                  </a:solidFill>
                  <a:latin typeface="Tahoma" pitchFamily="34" charset="0"/>
                </a:defRPr>
              </a:lvl8pPr>
              <a:lvl9pPr>
                <a:defRPr sz="16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45 days</a:t>
              </a:r>
            </a:p>
          </p:txBody>
        </p:sp>
        <p:sp>
          <p:nvSpPr>
            <p:cNvPr id="23" name="Text Box 46"/>
            <p:cNvSpPr txBox="1">
              <a:spLocks noChangeArrowheads="1"/>
            </p:cNvSpPr>
            <p:nvPr/>
          </p:nvSpPr>
          <p:spPr bwMode="auto">
            <a:xfrm>
              <a:off x="1198" y="2976"/>
              <a:ext cx="1401" cy="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1600">
                  <a:solidFill>
                    <a:schemeClr val="tx1"/>
                  </a:solidFill>
                  <a:latin typeface="Tahoma" pitchFamily="34" charset="0"/>
                </a:defRPr>
              </a:lvl5pPr>
              <a:lvl6pPr>
                <a:defRPr sz="1600">
                  <a:solidFill>
                    <a:schemeClr val="tx1"/>
                  </a:solidFill>
                  <a:latin typeface="Tahoma" pitchFamily="34" charset="0"/>
                </a:defRPr>
              </a:lvl6pPr>
              <a:lvl7pPr>
                <a:defRPr sz="1600">
                  <a:solidFill>
                    <a:schemeClr val="tx1"/>
                  </a:solidFill>
                  <a:latin typeface="Tahoma" pitchFamily="34" charset="0"/>
                </a:defRPr>
              </a:lvl7pPr>
              <a:lvl8pPr>
                <a:defRPr sz="1600">
                  <a:solidFill>
                    <a:schemeClr val="tx1"/>
                  </a:solidFill>
                  <a:latin typeface="Tahoma" pitchFamily="34" charset="0"/>
                </a:defRPr>
              </a:lvl8pPr>
              <a:lvl9pPr>
                <a:defRPr sz="16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en-US" sz="1800" b="1" dirty="0">
                  <a:solidFill>
                    <a:srgbClr val="C00000"/>
                  </a:solidFill>
                  <a:latin typeface="Tahoma"/>
                </a:rPr>
                <a:t>APP</a:t>
              </a:r>
              <a:endPara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 charset="-128"/>
              </a:endParaRPr>
            </a:p>
          </p:txBody>
        </p:sp>
        <p:sp>
          <p:nvSpPr>
            <p:cNvPr id="24" name="Text Box 47"/>
            <p:cNvSpPr txBox="1">
              <a:spLocks noChangeArrowheads="1"/>
            </p:cNvSpPr>
            <p:nvPr/>
          </p:nvSpPr>
          <p:spPr bwMode="auto">
            <a:xfrm>
              <a:off x="2922" y="2976"/>
              <a:ext cx="1401" cy="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1600">
                  <a:solidFill>
                    <a:schemeClr val="tx1"/>
                  </a:solidFill>
                  <a:latin typeface="Tahoma" pitchFamily="34" charset="0"/>
                </a:defRPr>
              </a:lvl5pPr>
              <a:lvl6pPr>
                <a:defRPr sz="1600">
                  <a:solidFill>
                    <a:schemeClr val="tx1"/>
                  </a:solidFill>
                  <a:latin typeface="Tahoma" pitchFamily="34" charset="0"/>
                </a:defRPr>
              </a:lvl6pPr>
              <a:lvl7pPr>
                <a:defRPr sz="1600">
                  <a:solidFill>
                    <a:schemeClr val="tx1"/>
                  </a:solidFill>
                  <a:latin typeface="Tahoma" pitchFamily="34" charset="0"/>
                </a:defRPr>
              </a:lvl7pPr>
              <a:lvl8pPr>
                <a:defRPr sz="1600">
                  <a:solidFill>
                    <a:schemeClr val="tx1"/>
                  </a:solidFill>
                  <a:latin typeface="Tahoma" pitchFamily="34" charset="0"/>
                </a:defRPr>
              </a:lvl8pPr>
              <a:lvl9pPr>
                <a:defRPr sz="16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Cash cycle</a:t>
              </a:r>
            </a:p>
          </p:txBody>
        </p:sp>
        <p:sp>
          <p:nvSpPr>
            <p:cNvPr id="25" name="Text Box 48"/>
            <p:cNvSpPr txBox="1">
              <a:spLocks noChangeArrowheads="1"/>
            </p:cNvSpPr>
            <p:nvPr/>
          </p:nvSpPr>
          <p:spPr bwMode="auto">
            <a:xfrm>
              <a:off x="1198" y="3336"/>
              <a:ext cx="1401" cy="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>
                <a:defRPr sz="1800" b="1">
                  <a:solidFill>
                    <a:srgbClr val="C00000"/>
                  </a:solidFill>
                  <a:latin typeface="+mn-lt"/>
                </a:defRPr>
              </a:lvl1pPr>
              <a:lvl2pPr>
                <a:defRPr sz="2400">
                  <a:latin typeface="Tahoma" pitchFamily="34" charset="0"/>
                </a:defRPr>
              </a:lvl2pPr>
              <a:lvl3pPr>
                <a:defRPr sz="2000">
                  <a:latin typeface="Tahoma" pitchFamily="34" charset="0"/>
                </a:defRPr>
              </a:lvl3pPr>
              <a:lvl4pPr>
                <a:defRPr sz="1600">
                  <a:latin typeface="Tahoma" pitchFamily="34" charset="0"/>
                </a:defRPr>
              </a:lvl4pPr>
              <a:lvl5pPr>
                <a:defRPr sz="1600">
                  <a:latin typeface="Tahoma" pitchFamily="34" charset="0"/>
                </a:defRPr>
              </a:lvl5pPr>
              <a:lvl6pPr>
                <a:defRPr sz="1600">
                  <a:latin typeface="Tahoma" pitchFamily="34" charset="0"/>
                </a:defRPr>
              </a:lvl6pPr>
              <a:lvl7pPr>
                <a:defRPr sz="1600">
                  <a:latin typeface="Tahoma" pitchFamily="34" charset="0"/>
                </a:defRPr>
              </a:lvl7pPr>
              <a:lvl8pPr>
                <a:defRPr sz="1600">
                  <a:latin typeface="Tahoma" pitchFamily="34" charset="0"/>
                </a:defRPr>
              </a:lvl8pPr>
              <a:lvl9pPr>
                <a:defRPr sz="1600">
                  <a:latin typeface="Tahoma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        30 days</a:t>
              </a:r>
            </a:p>
          </p:txBody>
        </p:sp>
        <p:sp>
          <p:nvSpPr>
            <p:cNvPr id="26" name="Text Box 49"/>
            <p:cNvSpPr txBox="1">
              <a:spLocks noChangeArrowheads="1"/>
            </p:cNvSpPr>
            <p:nvPr/>
          </p:nvSpPr>
          <p:spPr bwMode="auto">
            <a:xfrm>
              <a:off x="2922" y="3336"/>
              <a:ext cx="1940" cy="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1600">
                  <a:solidFill>
                    <a:schemeClr val="tx1"/>
                  </a:solidFill>
                  <a:latin typeface="Tahoma" pitchFamily="34" charset="0"/>
                </a:defRPr>
              </a:lvl5pPr>
              <a:lvl6pPr>
                <a:defRPr sz="1600">
                  <a:solidFill>
                    <a:schemeClr val="tx1"/>
                  </a:solidFill>
                  <a:latin typeface="Tahoma" pitchFamily="34" charset="0"/>
                </a:defRPr>
              </a:lvl6pPr>
              <a:lvl7pPr>
                <a:defRPr sz="1600">
                  <a:solidFill>
                    <a:schemeClr val="tx1"/>
                  </a:solidFill>
                  <a:latin typeface="Tahoma" pitchFamily="34" charset="0"/>
                </a:defRPr>
              </a:lvl7pPr>
              <a:lvl8pPr>
                <a:defRPr sz="1600">
                  <a:solidFill>
                    <a:schemeClr val="tx1"/>
                  </a:solidFill>
                  <a:latin typeface="Tahoma" pitchFamily="34" charset="0"/>
                </a:defRPr>
              </a:lvl8pPr>
              <a:lvl9pPr>
                <a:defRPr sz="16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60 + 45 – 30 = 75 days</a:t>
              </a:r>
            </a:p>
          </p:txBody>
        </p:sp>
        <p:sp>
          <p:nvSpPr>
            <p:cNvPr id="28" name="Text Box 51"/>
            <p:cNvSpPr txBox="1">
              <a:spLocks noChangeArrowheads="1"/>
            </p:cNvSpPr>
            <p:nvPr/>
          </p:nvSpPr>
          <p:spPr bwMode="auto">
            <a:xfrm>
              <a:off x="1952" y="3624"/>
              <a:ext cx="1832" cy="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>
                <a:defRPr sz="1800" b="1">
                  <a:solidFill>
                    <a:srgbClr val="C00000"/>
                  </a:solidFill>
                  <a:latin typeface="+mn-lt"/>
                </a:defRPr>
              </a:lvl1pPr>
              <a:lvl2pPr>
                <a:defRPr sz="2400">
                  <a:latin typeface="Tahoma" pitchFamily="34" charset="0"/>
                </a:defRPr>
              </a:lvl2pPr>
              <a:lvl3pPr>
                <a:defRPr sz="2000">
                  <a:latin typeface="Tahoma" pitchFamily="34" charset="0"/>
                </a:defRPr>
              </a:lvl3pPr>
              <a:lvl4pPr>
                <a:defRPr sz="1600">
                  <a:latin typeface="Tahoma" pitchFamily="34" charset="0"/>
                </a:defRPr>
              </a:lvl4pPr>
              <a:lvl5pPr>
                <a:defRPr sz="1600">
                  <a:latin typeface="Tahoma" pitchFamily="34" charset="0"/>
                </a:defRPr>
              </a:lvl5pPr>
              <a:lvl6pPr>
                <a:defRPr sz="1600">
                  <a:latin typeface="Tahoma" pitchFamily="34" charset="0"/>
                </a:defRPr>
              </a:lvl6pPr>
              <a:lvl7pPr>
                <a:defRPr sz="1600">
                  <a:latin typeface="Tahoma" pitchFamily="34" charset="0"/>
                </a:defRPr>
              </a:lvl7pPr>
              <a:lvl8pPr>
                <a:defRPr sz="1600">
                  <a:latin typeface="Tahoma" pitchFamily="34" charset="0"/>
                </a:defRPr>
              </a:lvl8pPr>
              <a:lvl9pPr>
                <a:defRPr sz="1600">
                  <a:latin typeface="Tahoma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Cash paid for inventory</a:t>
              </a:r>
            </a:p>
          </p:txBody>
        </p:sp>
        <p:sp>
          <p:nvSpPr>
            <p:cNvPr id="29" name="Text Box 52"/>
            <p:cNvSpPr txBox="1">
              <a:spLocks noChangeArrowheads="1"/>
            </p:cNvSpPr>
            <p:nvPr/>
          </p:nvSpPr>
          <p:spPr bwMode="auto">
            <a:xfrm>
              <a:off x="4323" y="3624"/>
              <a:ext cx="1293" cy="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>
                <a:defRPr sz="1800">
                  <a:latin typeface="+mn-lt"/>
                </a:defRPr>
              </a:lvl1pPr>
              <a:lvl2pPr>
                <a:defRPr sz="2400">
                  <a:latin typeface="Tahoma" pitchFamily="34" charset="0"/>
                </a:defRPr>
              </a:lvl2pPr>
              <a:lvl3pPr>
                <a:defRPr sz="2000">
                  <a:latin typeface="Tahoma" pitchFamily="34" charset="0"/>
                </a:defRPr>
              </a:lvl3pPr>
              <a:lvl4pPr>
                <a:defRPr sz="1600">
                  <a:latin typeface="Tahoma" pitchFamily="34" charset="0"/>
                </a:defRPr>
              </a:lvl4pPr>
              <a:lvl5pPr>
                <a:defRPr sz="1600">
                  <a:latin typeface="Tahoma" pitchFamily="34" charset="0"/>
                </a:defRPr>
              </a:lvl5pPr>
              <a:lvl6pPr>
                <a:defRPr sz="1600">
                  <a:latin typeface="Tahoma" pitchFamily="34" charset="0"/>
                </a:defRPr>
              </a:lvl6pPr>
              <a:lvl7pPr>
                <a:defRPr sz="1600">
                  <a:latin typeface="Tahoma" pitchFamily="34" charset="0"/>
                </a:defRPr>
              </a:lvl7pPr>
              <a:lvl8pPr>
                <a:defRPr sz="1600">
                  <a:latin typeface="Tahoma" pitchFamily="34" charset="0"/>
                </a:defRPr>
              </a:lvl8pPr>
              <a:lvl9pPr>
                <a:defRPr sz="1600">
                  <a:latin typeface="Tahoma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  Cash received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3605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7995"/>
    </mc:Choice>
    <mc:Fallback xmlns="">
      <p:transition spd="slow" advTm="117995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7010400" y="6381750"/>
            <a:ext cx="2133600" cy="476250"/>
          </a:xfrm>
          <a:noFill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59F7F11-38DE-4848-9C10-F2E233F83E86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148736" y="152399"/>
            <a:ext cx="8995264" cy="807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Cost of cash (cont.) – efficient </a:t>
            </a:r>
            <a:r>
              <a:rPr kumimoji="0" lang="en-US" sz="3600" b="0" i="0" u="none" strike="noStrike" kern="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mngt</a:t>
            </a: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 of cash</a:t>
            </a:r>
            <a:endParaRPr kumimoji="0" lang="en-GB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ahoma"/>
              <a:ea typeface="ＭＳ Ｐゴシック"/>
              <a:cs typeface="+mj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AD041B1-C559-4586-8FA0-414721B7AF2B}"/>
              </a:ext>
            </a:extLst>
          </p:cNvPr>
          <p:cNvGrpSpPr/>
          <p:nvPr/>
        </p:nvGrpSpPr>
        <p:grpSpPr>
          <a:xfrm>
            <a:off x="157595" y="3048000"/>
            <a:ext cx="8839201" cy="2971800"/>
            <a:chOff x="49523" y="2066523"/>
            <a:chExt cx="8839201" cy="2971800"/>
          </a:xfrm>
        </p:grpSpPr>
        <p:sp>
          <p:nvSpPr>
            <p:cNvPr id="6" name="Line 31"/>
            <p:cNvSpPr>
              <a:spLocks noChangeShapeType="1"/>
            </p:cNvSpPr>
            <p:nvPr/>
          </p:nvSpPr>
          <p:spPr bwMode="auto">
            <a:xfrm>
              <a:off x="4559524" y="3002450"/>
              <a:ext cx="34268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5" name="Line 30"/>
            <p:cNvSpPr>
              <a:spLocks noChangeShapeType="1"/>
            </p:cNvSpPr>
            <p:nvPr/>
          </p:nvSpPr>
          <p:spPr bwMode="auto">
            <a:xfrm>
              <a:off x="1132660" y="2980923"/>
              <a:ext cx="34268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7" name="Line 32"/>
            <p:cNvSpPr>
              <a:spLocks noChangeShapeType="1"/>
            </p:cNvSpPr>
            <p:nvPr/>
          </p:nvSpPr>
          <p:spPr bwMode="auto">
            <a:xfrm>
              <a:off x="771056" y="3552423"/>
              <a:ext cx="75769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8" name="Line 33"/>
            <p:cNvSpPr>
              <a:spLocks noChangeShapeType="1"/>
            </p:cNvSpPr>
            <p:nvPr/>
          </p:nvSpPr>
          <p:spPr bwMode="auto">
            <a:xfrm>
              <a:off x="1132660" y="4123923"/>
              <a:ext cx="288613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9" name="Line 34"/>
            <p:cNvSpPr>
              <a:spLocks noChangeShapeType="1"/>
            </p:cNvSpPr>
            <p:nvPr/>
          </p:nvSpPr>
          <p:spPr bwMode="auto">
            <a:xfrm>
              <a:off x="4018793" y="4123923"/>
              <a:ext cx="396759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1" name="Line 35"/>
            <p:cNvSpPr>
              <a:spLocks noChangeShapeType="1"/>
            </p:cNvSpPr>
            <p:nvPr/>
          </p:nvSpPr>
          <p:spPr bwMode="auto">
            <a:xfrm flipV="1">
              <a:off x="1132660" y="2523723"/>
              <a:ext cx="0" cy="10287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2" name="Line 36"/>
            <p:cNvSpPr>
              <a:spLocks noChangeShapeType="1"/>
            </p:cNvSpPr>
            <p:nvPr/>
          </p:nvSpPr>
          <p:spPr bwMode="auto">
            <a:xfrm flipV="1">
              <a:off x="4559525" y="2523723"/>
              <a:ext cx="0" cy="10287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3" name="Line 37"/>
            <p:cNvSpPr>
              <a:spLocks noChangeShapeType="1"/>
            </p:cNvSpPr>
            <p:nvPr/>
          </p:nvSpPr>
          <p:spPr bwMode="auto">
            <a:xfrm>
              <a:off x="4018793" y="3552423"/>
              <a:ext cx="0" cy="10287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" name="Line 38"/>
            <p:cNvSpPr>
              <a:spLocks noChangeShapeType="1"/>
            </p:cNvSpPr>
            <p:nvPr/>
          </p:nvSpPr>
          <p:spPr bwMode="auto">
            <a:xfrm>
              <a:off x="7986389" y="3552423"/>
              <a:ext cx="0" cy="10287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" name="Text Box 39"/>
            <p:cNvSpPr txBox="1">
              <a:spLocks noChangeArrowheads="1"/>
            </p:cNvSpPr>
            <p:nvPr/>
          </p:nvSpPr>
          <p:spPr bwMode="auto">
            <a:xfrm>
              <a:off x="49523" y="2066523"/>
              <a:ext cx="3115483" cy="342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1600">
                  <a:solidFill>
                    <a:schemeClr val="tx1"/>
                  </a:solidFill>
                  <a:latin typeface="Tahoma" pitchFamily="34" charset="0"/>
                </a:defRPr>
              </a:lvl5pPr>
              <a:lvl6pPr>
                <a:defRPr sz="1600">
                  <a:solidFill>
                    <a:schemeClr val="tx1"/>
                  </a:solidFill>
                  <a:latin typeface="Tahoma" pitchFamily="34" charset="0"/>
                </a:defRPr>
              </a:lvl6pPr>
              <a:lvl7pPr>
                <a:defRPr sz="1600">
                  <a:solidFill>
                    <a:schemeClr val="tx1"/>
                  </a:solidFill>
                  <a:latin typeface="Tahoma" pitchFamily="34" charset="0"/>
                </a:defRPr>
              </a:lvl7pPr>
              <a:lvl8pPr>
                <a:defRPr sz="1600">
                  <a:solidFill>
                    <a:schemeClr val="tx1"/>
                  </a:solidFill>
                  <a:latin typeface="Tahoma" pitchFamily="34" charset="0"/>
                </a:defRPr>
              </a:lvl8pPr>
              <a:lvl9pPr>
                <a:defRPr sz="16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Inventory purchased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ＭＳ Ｐゴシック" charset="-128"/>
                </a:rPr>
                <a:t>	</a:t>
              </a:r>
            </a:p>
          </p:txBody>
        </p:sp>
        <p:sp>
          <p:nvSpPr>
            <p:cNvPr id="17" name="Text Box 41"/>
            <p:cNvSpPr txBox="1">
              <a:spLocks noChangeArrowheads="1"/>
            </p:cNvSpPr>
            <p:nvPr/>
          </p:nvSpPr>
          <p:spPr bwMode="auto">
            <a:xfrm>
              <a:off x="3837991" y="2066523"/>
              <a:ext cx="2345401" cy="342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1600">
                  <a:solidFill>
                    <a:schemeClr val="tx1"/>
                  </a:solidFill>
                  <a:latin typeface="Tahoma" pitchFamily="34" charset="0"/>
                </a:defRPr>
              </a:lvl5pPr>
              <a:lvl6pPr>
                <a:defRPr sz="1600">
                  <a:solidFill>
                    <a:schemeClr val="tx1"/>
                  </a:solidFill>
                  <a:latin typeface="Tahoma" pitchFamily="34" charset="0"/>
                </a:defRPr>
              </a:lvl6pPr>
              <a:lvl7pPr>
                <a:defRPr sz="1600">
                  <a:solidFill>
                    <a:schemeClr val="tx1"/>
                  </a:solidFill>
                  <a:latin typeface="Tahoma" pitchFamily="34" charset="0"/>
                </a:defRPr>
              </a:lvl7pPr>
              <a:lvl8pPr>
                <a:defRPr sz="1600">
                  <a:solidFill>
                    <a:schemeClr val="tx1"/>
                  </a:solidFill>
                  <a:latin typeface="Tahoma" pitchFamily="34" charset="0"/>
                </a:defRPr>
              </a:lvl8pPr>
              <a:lvl9pPr>
                <a:defRPr sz="16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Inventory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ＭＳ Ｐゴシック" charset="-128"/>
                </a:rPr>
                <a:t> 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sold</a:t>
              </a:r>
            </a:p>
          </p:txBody>
        </p:sp>
        <p:sp>
          <p:nvSpPr>
            <p:cNvPr id="18" name="Text Box 42"/>
            <p:cNvSpPr txBox="1">
              <a:spLocks noChangeArrowheads="1"/>
            </p:cNvSpPr>
            <p:nvPr/>
          </p:nvSpPr>
          <p:spPr bwMode="auto">
            <a:xfrm>
              <a:off x="1492589" y="2523723"/>
              <a:ext cx="2345401" cy="342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1600">
                  <a:solidFill>
                    <a:schemeClr val="tx1"/>
                  </a:solidFill>
                  <a:latin typeface="Tahoma" pitchFamily="34" charset="0"/>
                </a:defRPr>
              </a:lvl5pPr>
              <a:lvl6pPr>
                <a:defRPr sz="1600">
                  <a:solidFill>
                    <a:schemeClr val="tx1"/>
                  </a:solidFill>
                  <a:latin typeface="Tahoma" pitchFamily="34" charset="0"/>
                </a:defRPr>
              </a:lvl6pPr>
              <a:lvl7pPr>
                <a:defRPr sz="1600">
                  <a:solidFill>
                    <a:schemeClr val="tx1"/>
                  </a:solidFill>
                  <a:latin typeface="Tahoma" pitchFamily="34" charset="0"/>
                </a:defRPr>
              </a:lvl7pPr>
              <a:lvl8pPr>
                <a:defRPr sz="1600">
                  <a:solidFill>
                    <a:schemeClr val="tx1"/>
                  </a:solidFill>
                  <a:latin typeface="Tahoma" pitchFamily="34" charset="0"/>
                </a:defRPr>
              </a:lvl8pPr>
              <a:lvl9pPr>
                <a:defRPr sz="16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en-US" sz="1800" dirty="0">
                  <a:solidFill>
                    <a:prstClr val="black"/>
                  </a:solidFill>
                  <a:latin typeface="Tahoma"/>
                </a:rPr>
                <a:t>AAI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endParaRPr>
            </a:p>
          </p:txBody>
        </p:sp>
        <p:sp>
          <p:nvSpPr>
            <p:cNvPr id="19" name="Text Box 43"/>
            <p:cNvSpPr txBox="1">
              <a:spLocks noChangeArrowheads="1"/>
            </p:cNvSpPr>
            <p:nvPr/>
          </p:nvSpPr>
          <p:spPr bwMode="auto">
            <a:xfrm>
              <a:off x="4740327" y="2523723"/>
              <a:ext cx="3065260" cy="342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1600">
                  <a:solidFill>
                    <a:schemeClr val="tx1"/>
                  </a:solidFill>
                  <a:latin typeface="Tahoma" pitchFamily="34" charset="0"/>
                </a:defRPr>
              </a:lvl5pPr>
              <a:lvl6pPr>
                <a:defRPr sz="1600">
                  <a:solidFill>
                    <a:schemeClr val="tx1"/>
                  </a:solidFill>
                  <a:latin typeface="Tahoma" pitchFamily="34" charset="0"/>
                </a:defRPr>
              </a:lvl6pPr>
              <a:lvl7pPr>
                <a:defRPr sz="1600">
                  <a:solidFill>
                    <a:schemeClr val="tx1"/>
                  </a:solidFill>
                  <a:latin typeface="Tahoma" pitchFamily="34" charset="0"/>
                </a:defRPr>
              </a:lvl7pPr>
              <a:lvl8pPr>
                <a:defRPr sz="1600">
                  <a:solidFill>
                    <a:schemeClr val="tx1"/>
                  </a:solidFill>
                  <a:latin typeface="Tahoma" pitchFamily="34" charset="0"/>
                </a:defRPr>
              </a:lvl8pPr>
              <a:lvl9pPr>
                <a:defRPr sz="16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en-US" sz="1800" dirty="0">
                  <a:solidFill>
                    <a:prstClr val="black"/>
                  </a:solidFill>
                  <a:latin typeface="Tahoma"/>
                </a:rPr>
                <a:t>ACP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endParaRPr>
            </a:p>
          </p:txBody>
        </p:sp>
        <p:sp>
          <p:nvSpPr>
            <p:cNvPr id="20" name="Text Box 44"/>
            <p:cNvSpPr txBox="1">
              <a:spLocks noChangeArrowheads="1"/>
            </p:cNvSpPr>
            <p:nvPr/>
          </p:nvSpPr>
          <p:spPr bwMode="auto">
            <a:xfrm>
              <a:off x="1492589" y="3095223"/>
              <a:ext cx="2345401" cy="342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1600">
                  <a:solidFill>
                    <a:schemeClr val="tx1"/>
                  </a:solidFill>
                  <a:latin typeface="Tahoma" pitchFamily="34" charset="0"/>
                </a:defRPr>
              </a:lvl5pPr>
              <a:lvl6pPr>
                <a:defRPr sz="1600">
                  <a:solidFill>
                    <a:schemeClr val="tx1"/>
                  </a:solidFill>
                  <a:latin typeface="Tahoma" pitchFamily="34" charset="0"/>
                </a:defRPr>
              </a:lvl6pPr>
              <a:lvl7pPr>
                <a:defRPr sz="1600">
                  <a:solidFill>
                    <a:schemeClr val="tx1"/>
                  </a:solidFill>
                  <a:latin typeface="Tahoma" pitchFamily="34" charset="0"/>
                </a:defRPr>
              </a:lvl7pPr>
              <a:lvl8pPr>
                <a:defRPr sz="1600">
                  <a:solidFill>
                    <a:schemeClr val="tx1"/>
                  </a:solidFill>
                  <a:latin typeface="Tahoma" pitchFamily="34" charset="0"/>
                </a:defRPr>
              </a:lvl8pPr>
              <a:lvl9pPr>
                <a:defRPr sz="16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60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ＭＳ Ｐゴシック" charset="-128"/>
                </a:rPr>
                <a:t> 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days</a:t>
              </a:r>
            </a:p>
          </p:txBody>
        </p:sp>
        <p:sp>
          <p:nvSpPr>
            <p:cNvPr id="21" name="Text Box 45"/>
            <p:cNvSpPr txBox="1">
              <a:spLocks noChangeArrowheads="1"/>
            </p:cNvSpPr>
            <p:nvPr/>
          </p:nvSpPr>
          <p:spPr bwMode="auto">
            <a:xfrm>
              <a:off x="4830726" y="3116750"/>
              <a:ext cx="2343727" cy="342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1600">
                  <a:solidFill>
                    <a:schemeClr val="tx1"/>
                  </a:solidFill>
                  <a:latin typeface="Tahoma" pitchFamily="34" charset="0"/>
                </a:defRPr>
              </a:lvl5pPr>
              <a:lvl6pPr>
                <a:defRPr sz="1600">
                  <a:solidFill>
                    <a:schemeClr val="tx1"/>
                  </a:solidFill>
                  <a:latin typeface="Tahoma" pitchFamily="34" charset="0"/>
                </a:defRPr>
              </a:lvl6pPr>
              <a:lvl7pPr>
                <a:defRPr sz="1600">
                  <a:solidFill>
                    <a:schemeClr val="tx1"/>
                  </a:solidFill>
                  <a:latin typeface="Tahoma" pitchFamily="34" charset="0"/>
                </a:defRPr>
              </a:lvl7pPr>
              <a:lvl8pPr>
                <a:defRPr sz="1600">
                  <a:solidFill>
                    <a:schemeClr val="tx1"/>
                  </a:solidFill>
                  <a:latin typeface="Tahoma" pitchFamily="34" charset="0"/>
                </a:defRPr>
              </a:lvl8pPr>
              <a:lvl9pPr>
                <a:defRPr sz="16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45 days</a:t>
              </a:r>
            </a:p>
          </p:txBody>
        </p:sp>
        <p:sp>
          <p:nvSpPr>
            <p:cNvPr id="22" name="Text Box 46"/>
            <p:cNvSpPr txBox="1">
              <a:spLocks noChangeArrowheads="1"/>
            </p:cNvSpPr>
            <p:nvPr/>
          </p:nvSpPr>
          <p:spPr bwMode="auto">
            <a:xfrm>
              <a:off x="1492589" y="3666723"/>
              <a:ext cx="2345401" cy="342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1600">
                  <a:solidFill>
                    <a:schemeClr val="tx1"/>
                  </a:solidFill>
                  <a:latin typeface="Tahoma" pitchFamily="34" charset="0"/>
                </a:defRPr>
              </a:lvl5pPr>
              <a:lvl6pPr>
                <a:defRPr sz="1600">
                  <a:solidFill>
                    <a:schemeClr val="tx1"/>
                  </a:solidFill>
                  <a:latin typeface="Tahoma" pitchFamily="34" charset="0"/>
                </a:defRPr>
              </a:lvl6pPr>
              <a:lvl7pPr>
                <a:defRPr sz="1600">
                  <a:solidFill>
                    <a:schemeClr val="tx1"/>
                  </a:solidFill>
                  <a:latin typeface="Tahoma" pitchFamily="34" charset="0"/>
                </a:defRPr>
              </a:lvl7pPr>
              <a:lvl8pPr>
                <a:defRPr sz="1600">
                  <a:solidFill>
                    <a:schemeClr val="tx1"/>
                  </a:solidFill>
                  <a:latin typeface="Tahoma" pitchFamily="34" charset="0"/>
                </a:defRPr>
              </a:lvl8pPr>
              <a:lvl9pPr>
                <a:defRPr sz="16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APP</a:t>
              </a:r>
            </a:p>
          </p:txBody>
        </p:sp>
        <p:sp>
          <p:nvSpPr>
            <p:cNvPr id="23" name="Text Box 47"/>
            <p:cNvSpPr txBox="1">
              <a:spLocks noChangeArrowheads="1"/>
            </p:cNvSpPr>
            <p:nvPr/>
          </p:nvSpPr>
          <p:spPr bwMode="auto">
            <a:xfrm>
              <a:off x="4378722" y="3666723"/>
              <a:ext cx="2886131" cy="34289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>
                <a:defRPr sz="1800">
                  <a:solidFill>
                    <a:srgbClr val="C00000"/>
                  </a:solidFill>
                  <a:latin typeface="Times New Roman" pitchFamily="18" charset="0"/>
                </a:defRPr>
              </a:lvl1pPr>
              <a:lvl2pPr>
                <a:defRPr sz="2400">
                  <a:latin typeface="Tahoma" pitchFamily="34" charset="0"/>
                </a:defRPr>
              </a:lvl2pPr>
              <a:lvl3pPr>
                <a:defRPr sz="2000">
                  <a:latin typeface="Tahoma" pitchFamily="34" charset="0"/>
                </a:defRPr>
              </a:lvl3pPr>
              <a:lvl4pPr>
                <a:defRPr sz="1600">
                  <a:latin typeface="Tahoma" pitchFamily="34" charset="0"/>
                </a:defRPr>
              </a:lvl4pPr>
              <a:lvl5pPr>
                <a:defRPr sz="1600">
                  <a:latin typeface="Tahoma" pitchFamily="34" charset="0"/>
                </a:defRPr>
              </a:lvl5pPr>
              <a:lvl6pPr>
                <a:defRPr sz="1600">
                  <a:latin typeface="Tahoma" pitchFamily="34" charset="0"/>
                </a:defRPr>
              </a:lvl6pPr>
              <a:lvl7pPr>
                <a:defRPr sz="1600">
                  <a:latin typeface="Tahoma" pitchFamily="34" charset="0"/>
                </a:defRPr>
              </a:lvl7pPr>
              <a:lvl8pPr>
                <a:defRPr sz="1600">
                  <a:latin typeface="Tahoma" pitchFamily="34" charset="0"/>
                </a:defRPr>
              </a:lvl8pPr>
              <a:lvl9pPr>
                <a:defRPr sz="1600">
                  <a:latin typeface="Tahoma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Cash conversion cycle</a:t>
              </a:r>
            </a:p>
          </p:txBody>
        </p:sp>
        <p:sp>
          <p:nvSpPr>
            <p:cNvPr id="24" name="Text Box 48"/>
            <p:cNvSpPr txBox="1">
              <a:spLocks noChangeArrowheads="1"/>
            </p:cNvSpPr>
            <p:nvPr/>
          </p:nvSpPr>
          <p:spPr bwMode="auto">
            <a:xfrm>
              <a:off x="1492589" y="4238223"/>
              <a:ext cx="2345401" cy="342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1600">
                  <a:solidFill>
                    <a:schemeClr val="tx1"/>
                  </a:solidFill>
                  <a:latin typeface="Tahoma" pitchFamily="34" charset="0"/>
                </a:defRPr>
              </a:lvl5pPr>
              <a:lvl6pPr>
                <a:defRPr sz="1600">
                  <a:solidFill>
                    <a:schemeClr val="tx1"/>
                  </a:solidFill>
                  <a:latin typeface="Tahoma" pitchFamily="34" charset="0"/>
                </a:defRPr>
              </a:lvl6pPr>
              <a:lvl7pPr>
                <a:defRPr sz="1600">
                  <a:solidFill>
                    <a:schemeClr val="tx1"/>
                  </a:solidFill>
                  <a:latin typeface="Tahoma" pitchFamily="34" charset="0"/>
                </a:defRPr>
              </a:lvl7pPr>
              <a:lvl8pPr>
                <a:defRPr sz="1600">
                  <a:solidFill>
                    <a:schemeClr val="tx1"/>
                  </a:solidFill>
                  <a:latin typeface="Tahoma" pitchFamily="34" charset="0"/>
                </a:defRPr>
              </a:lvl8pPr>
              <a:lvl9pPr>
                <a:defRPr sz="16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period 30 days</a:t>
              </a:r>
            </a:p>
          </p:txBody>
        </p:sp>
        <p:sp>
          <p:nvSpPr>
            <p:cNvPr id="25" name="Text Box 49"/>
            <p:cNvSpPr txBox="1">
              <a:spLocks noChangeArrowheads="1"/>
            </p:cNvSpPr>
            <p:nvPr/>
          </p:nvSpPr>
          <p:spPr bwMode="auto">
            <a:xfrm>
              <a:off x="4378722" y="4238223"/>
              <a:ext cx="3247736" cy="342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>
                <a:defRPr sz="1800" b="1">
                  <a:solidFill>
                    <a:srgbClr val="C00000"/>
                  </a:solidFill>
                  <a:latin typeface="+mn-lt"/>
                </a:defRPr>
              </a:lvl1pPr>
              <a:lvl2pPr>
                <a:defRPr sz="2400">
                  <a:latin typeface="Tahoma" pitchFamily="34" charset="0"/>
                </a:defRPr>
              </a:lvl2pPr>
              <a:lvl3pPr>
                <a:defRPr sz="2000">
                  <a:latin typeface="Tahoma" pitchFamily="34" charset="0"/>
                </a:defRPr>
              </a:lvl3pPr>
              <a:lvl4pPr>
                <a:defRPr sz="1600">
                  <a:latin typeface="Tahoma" pitchFamily="34" charset="0"/>
                </a:defRPr>
              </a:lvl4pPr>
              <a:lvl5pPr>
                <a:defRPr sz="1600">
                  <a:latin typeface="Tahoma" pitchFamily="34" charset="0"/>
                </a:defRPr>
              </a:lvl5pPr>
              <a:lvl6pPr>
                <a:defRPr sz="1600">
                  <a:latin typeface="Tahoma" pitchFamily="34" charset="0"/>
                </a:defRPr>
              </a:lvl6pPr>
              <a:lvl7pPr>
                <a:defRPr sz="1600">
                  <a:latin typeface="Tahoma" pitchFamily="34" charset="0"/>
                </a:defRPr>
              </a:lvl7pPr>
              <a:lvl8pPr>
                <a:defRPr sz="1600">
                  <a:latin typeface="Tahoma" pitchFamily="34" charset="0"/>
                </a:defRPr>
              </a:lvl8pPr>
              <a:lvl9pPr>
                <a:defRPr sz="1600">
                  <a:latin typeface="Tahoma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60 + 45 – 30 = 75 days</a:t>
              </a:r>
            </a:p>
          </p:txBody>
        </p:sp>
        <p:sp>
          <p:nvSpPr>
            <p:cNvPr id="27" name="Text Box 51"/>
            <p:cNvSpPr txBox="1">
              <a:spLocks noChangeArrowheads="1"/>
            </p:cNvSpPr>
            <p:nvPr/>
          </p:nvSpPr>
          <p:spPr bwMode="auto">
            <a:xfrm>
              <a:off x="2754854" y="4695423"/>
              <a:ext cx="3066935" cy="342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>
                <a:defRPr sz="1800" b="1">
                  <a:solidFill>
                    <a:srgbClr val="C00000"/>
                  </a:solidFill>
                  <a:latin typeface="+mn-lt"/>
                </a:defRPr>
              </a:lvl1pPr>
              <a:lvl2pPr>
                <a:defRPr sz="2400">
                  <a:latin typeface="Tahoma" pitchFamily="34" charset="0"/>
                </a:defRPr>
              </a:lvl2pPr>
              <a:lvl3pPr>
                <a:defRPr sz="2000">
                  <a:latin typeface="Tahoma" pitchFamily="34" charset="0"/>
                </a:defRPr>
              </a:lvl3pPr>
              <a:lvl4pPr>
                <a:defRPr sz="1600">
                  <a:latin typeface="Tahoma" pitchFamily="34" charset="0"/>
                </a:defRPr>
              </a:lvl4pPr>
              <a:lvl5pPr>
                <a:defRPr sz="1600">
                  <a:latin typeface="Tahoma" pitchFamily="34" charset="0"/>
                </a:defRPr>
              </a:lvl5pPr>
              <a:lvl6pPr>
                <a:defRPr sz="1600">
                  <a:latin typeface="Tahoma" pitchFamily="34" charset="0"/>
                </a:defRPr>
              </a:lvl6pPr>
              <a:lvl7pPr>
                <a:defRPr sz="1600">
                  <a:latin typeface="Tahoma" pitchFamily="34" charset="0"/>
                </a:defRPr>
              </a:lvl7pPr>
              <a:lvl8pPr>
                <a:defRPr sz="1600">
                  <a:latin typeface="Tahoma" pitchFamily="34" charset="0"/>
                </a:defRPr>
              </a:lvl8pPr>
              <a:lvl9pPr>
                <a:defRPr sz="1600">
                  <a:latin typeface="Tahoma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Cash paid for inventory</a:t>
              </a:r>
            </a:p>
          </p:txBody>
        </p:sp>
        <p:sp>
          <p:nvSpPr>
            <p:cNvPr id="28" name="Text Box 52"/>
            <p:cNvSpPr txBox="1">
              <a:spLocks noChangeArrowheads="1"/>
            </p:cNvSpPr>
            <p:nvPr/>
          </p:nvSpPr>
          <p:spPr bwMode="auto">
            <a:xfrm>
              <a:off x="6724124" y="4695423"/>
              <a:ext cx="2164600" cy="342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1600">
                  <a:solidFill>
                    <a:schemeClr val="tx1"/>
                  </a:solidFill>
                  <a:latin typeface="Tahoma" pitchFamily="34" charset="0"/>
                </a:defRPr>
              </a:lvl5pPr>
              <a:lvl6pPr>
                <a:defRPr sz="1600">
                  <a:solidFill>
                    <a:schemeClr val="tx1"/>
                  </a:solidFill>
                  <a:latin typeface="Tahoma" pitchFamily="34" charset="0"/>
                </a:defRPr>
              </a:lvl6pPr>
              <a:lvl7pPr>
                <a:defRPr sz="1600">
                  <a:solidFill>
                    <a:schemeClr val="tx1"/>
                  </a:solidFill>
                  <a:latin typeface="Tahoma" pitchFamily="34" charset="0"/>
                </a:defRPr>
              </a:lvl7pPr>
              <a:lvl8pPr>
                <a:defRPr sz="1600">
                  <a:solidFill>
                    <a:schemeClr val="tx1"/>
                  </a:solidFill>
                  <a:latin typeface="Tahoma" pitchFamily="34" charset="0"/>
                </a:defRPr>
              </a:lvl8pPr>
              <a:lvl9pPr>
                <a:defRPr sz="16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itchFamily="18" charset="0"/>
                  <a:ea typeface="ＭＳ Ｐゴシック" charset="-128"/>
                </a:rPr>
                <a:t>  </a:t>
              </a:r>
              <a:r>
                <a:rPr kumimoji="0" lang="en-US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ＭＳ Ｐゴシック" charset="-128"/>
                </a:rPr>
                <a:t>Cash received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0A4DDBD-86E2-4668-9BE3-7D90A988C97A}"/>
              </a:ext>
            </a:extLst>
          </p:cNvPr>
          <p:cNvSpPr txBox="1"/>
          <p:nvPr/>
        </p:nvSpPr>
        <p:spPr>
          <a:xfrm>
            <a:off x="375804" y="1096012"/>
            <a:ext cx="876819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Spend cash on Day 30 … only receive cash on Day 105 …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  <a:sym typeface="Wingdings" panose="05000000000000000000" pitchFamily="2" charset="2"/>
              </a:rPr>
              <a:t>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Cash cycle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Time period between cash disbursement (payment/ outflow) and cash collection (inflow) (75 days)</a:t>
            </a:r>
          </a:p>
        </p:txBody>
      </p:sp>
    </p:spTree>
    <p:extLst>
      <p:ext uri="{BB962C8B-B14F-4D97-AF65-F5344CB8AC3E}">
        <p14:creationId xmlns:p14="http://schemas.microsoft.com/office/powerpoint/2010/main" val="574247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040"/>
    </mc:Choice>
    <mc:Fallback xmlns="">
      <p:transition spd="slow" advTm="6404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7010400" y="6381750"/>
            <a:ext cx="2133600" cy="476250"/>
          </a:xfrm>
          <a:noFill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59F7F11-38DE-4848-9C10-F2E233F83E86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228600" y="0"/>
            <a:ext cx="89154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600" kern="0" dirty="0">
                <a:solidFill>
                  <a:srgbClr val="1F497D"/>
                </a:solidFill>
                <a:latin typeface="Tahoma"/>
                <a:ea typeface="ＭＳ Ｐゴシック"/>
              </a:rPr>
              <a:t>Cost of cash (cont.) – efficient </a:t>
            </a:r>
            <a:r>
              <a:rPr lang="en-US" altLang="en-US" sz="3600" kern="0" dirty="0" err="1">
                <a:solidFill>
                  <a:srgbClr val="1F497D"/>
                </a:solidFill>
                <a:latin typeface="Tahoma"/>
                <a:ea typeface="ＭＳ Ｐゴシック"/>
              </a:rPr>
              <a:t>mngt</a:t>
            </a:r>
            <a:r>
              <a:rPr lang="en-US" altLang="en-US" sz="3600" kern="0" dirty="0">
                <a:solidFill>
                  <a:srgbClr val="1F497D"/>
                </a:solidFill>
                <a:latin typeface="Tahoma"/>
                <a:ea typeface="ＭＳ Ｐゴシック"/>
              </a:rPr>
              <a:t> of cash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381000" y="1219200"/>
            <a:ext cx="8458200" cy="5638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	</a:t>
            </a:r>
            <a:r>
              <a:rPr kumimoji="0" lang="en-ZA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Cash conversion cycle (CCC) = Average age of inventory + Average collection period – Average payment period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	=	AAI + ACP – APP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	= 	105 days – 30 days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	= 	</a:t>
            </a:r>
            <a:r>
              <a:rPr kumimoji="0" lang="en-ZA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75 days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ahoma"/>
              <a:ea typeface="ＭＳ Ｐゴシック"/>
              <a:cs typeface="+mn-cs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Tx/>
              <a:buChar char="•"/>
              <a:tabLst/>
              <a:defRPr/>
            </a:pP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Cash “gap” or shortage can be financed by means of ST borrowing or using liquidity reserves such as marketable securities (money market funds)</a:t>
            </a:r>
          </a:p>
        </p:txBody>
      </p:sp>
    </p:spTree>
    <p:extLst>
      <p:ext uri="{BB962C8B-B14F-4D97-AF65-F5344CB8AC3E}">
        <p14:creationId xmlns:p14="http://schemas.microsoft.com/office/powerpoint/2010/main" val="2609676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829"/>
    </mc:Choice>
    <mc:Fallback xmlns="">
      <p:transition spd="slow" advTm="64829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7010400" y="6381750"/>
            <a:ext cx="2133600" cy="476250"/>
          </a:xfrm>
          <a:noFill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59F7F11-38DE-4848-9C10-F2E233F83E86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228600" y="0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Cost of cash (cont.) – efficient </a:t>
            </a:r>
            <a:r>
              <a:rPr kumimoji="0" lang="en-US" altLang="en-US" sz="3600" b="0" i="0" u="none" strike="noStrike" kern="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mngt</a:t>
            </a:r>
            <a:r>
              <a:rPr kumimoji="0" lang="en-US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 of cash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381000" y="1219200"/>
            <a:ext cx="8458200" cy="5638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F497D"/>
              </a:buClr>
              <a:buSzTx/>
              <a:buFontTx/>
              <a:buChar char="•"/>
              <a:tabLst/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Times New Roman" panose="02020603050405020304" pitchFamily="18" charset="0"/>
                <a:cs typeface="+mn-cs"/>
              </a:rPr>
              <a:t>Average age of inventory (AAI)	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Times New Roman" panose="02020603050405020304" pitchFamily="18" charset="0"/>
                <a:cs typeface="+mn-cs"/>
              </a:rPr>
              <a:t>		= 360 / Inventory turnover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Times New Roman" panose="02020603050405020304" pitchFamily="18" charset="0"/>
                <a:cs typeface="+mn-cs"/>
              </a:rPr>
              <a:t>		= 360 / (Cost of goods sold / Inventory)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Times New Roman" panose="02020603050405020304" pitchFamily="18" charset="0"/>
              <a:cs typeface="+mn-cs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F497D"/>
              </a:buClr>
              <a:buSzTx/>
              <a:buFontTx/>
              <a:buChar char="•"/>
              <a:tabLst/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Times New Roman" panose="02020603050405020304" pitchFamily="18" charset="0"/>
                <a:cs typeface="+mn-cs"/>
              </a:rPr>
              <a:t>Average collection period (ACP)	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Times New Roman" panose="02020603050405020304" pitchFamily="18" charset="0"/>
              </a:rPr>
              <a:t>		= 360 / Receivables turnover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Times New Roman" panose="02020603050405020304" pitchFamily="18" charset="0"/>
                <a:cs typeface="+mn-cs"/>
              </a:rPr>
              <a:t>		= 360 / (Credit sales / Receivables)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Times New Roman" panose="020206030504050203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8047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884"/>
    </mc:Choice>
    <mc:Fallback xmlns="">
      <p:transition spd="slow" advTm="53884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7010400" y="6381750"/>
            <a:ext cx="2133600" cy="476250"/>
          </a:xfrm>
          <a:noFill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59F7F11-38DE-4848-9C10-F2E233F83E86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228600" y="0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Cost of cash (cont.) – efficient </a:t>
            </a:r>
            <a:r>
              <a:rPr kumimoji="0" lang="en-US" altLang="en-US" sz="3600" b="0" i="0" u="none" strike="noStrike" kern="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mngt</a:t>
            </a:r>
            <a:r>
              <a:rPr kumimoji="0" lang="en-US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 of cash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381000" y="1219200"/>
            <a:ext cx="8458200" cy="5638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F497D"/>
              </a:buClr>
              <a:buSzTx/>
              <a:buFontTx/>
              <a:buChar char="•"/>
              <a:tabLst/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Times New Roman" panose="02020603050405020304" pitchFamily="18" charset="0"/>
                <a:cs typeface="+mn-cs"/>
              </a:rPr>
              <a:t>Average payment period (</a:t>
            </a:r>
            <a:r>
              <a:rPr lang="en-ZA" sz="2400" dirty="0">
                <a:solidFill>
                  <a:prstClr val="black"/>
                </a:solidFill>
                <a:latin typeface="Tahoma"/>
                <a:ea typeface="Times New Roman" panose="02020603050405020304" pitchFamily="18" charset="0"/>
              </a:rPr>
              <a:t>APP</a:t>
            </a: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Times New Roman" panose="02020603050405020304" pitchFamily="18" charset="0"/>
                <a:cs typeface="+mn-cs"/>
              </a:rPr>
              <a:t>)     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Times New Roman" panose="02020603050405020304" pitchFamily="18" charset="0"/>
                <a:cs typeface="+mn-cs"/>
              </a:rPr>
              <a:t>		= 360 / Payables turnover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Times New Roman" panose="02020603050405020304" pitchFamily="18" charset="0"/>
                <a:cs typeface="+mn-cs"/>
              </a:rPr>
              <a:t>		= 360 / (Credit purchases / Accounts payable)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Times New Roman" panose="02020603050405020304" pitchFamily="18" charset="0"/>
                <a:cs typeface="+mn-cs"/>
              </a:rPr>
              <a:t> 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Times New Roman" panose="02020603050405020304" pitchFamily="18" charset="0"/>
                <a:cs typeface="+mn-cs"/>
              </a:rPr>
              <a:t>[if purchases not given: use cost of goods sold (COS)]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Times New Roman" panose="02020603050405020304" pitchFamily="18" charset="0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ZA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Times New Roman" panose="02020603050405020304" pitchFamily="18" charset="0"/>
                <a:cs typeface="+mn-cs"/>
              </a:rPr>
              <a:t>Cash conversion cycle (CCC)			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Times New Roman" panose="02020603050405020304" pitchFamily="18" charset="0"/>
              </a:rPr>
              <a:t>		= </a:t>
            </a:r>
            <a:r>
              <a:rPr lang="en-ZA" sz="2400" b="1" dirty="0">
                <a:solidFill>
                  <a:srgbClr val="C00000"/>
                </a:solidFill>
                <a:latin typeface="Tahoma"/>
                <a:ea typeface="Times New Roman" panose="02020603050405020304" pitchFamily="18" charset="0"/>
              </a:rPr>
              <a:t>AAI</a:t>
            </a:r>
            <a:r>
              <a:rPr kumimoji="0" lang="en-ZA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Times New Roman" panose="02020603050405020304" pitchFamily="18" charset="0"/>
              </a:rPr>
              <a:t> + ACP – APP </a:t>
            </a:r>
            <a:endParaRPr kumimoji="0" lang="en-Z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ahoma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28747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281"/>
    </mc:Choice>
    <mc:Fallback xmlns="">
      <p:transition spd="slow" advTm="6328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7010400" y="6381750"/>
            <a:ext cx="2133600" cy="476250"/>
          </a:xfrm>
          <a:noFill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59F7F11-38DE-4848-9C10-F2E233F83E86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228600" y="0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Cost of cash (cont.) – efficient </a:t>
            </a:r>
            <a:r>
              <a:rPr kumimoji="0" lang="en-US" altLang="en-US" sz="3600" b="0" i="0" u="none" strike="noStrike" kern="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mngt</a:t>
            </a:r>
            <a:r>
              <a:rPr kumimoji="0" lang="en-US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 of cash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381000" y="1219200"/>
            <a:ext cx="8458200" cy="5638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Gap can be shortened by: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Decreasing</a:t>
            </a: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 </a:t>
            </a:r>
            <a:r>
              <a:rPr lang="en-ZA" altLang="en-US" sz="2400" dirty="0">
                <a:solidFill>
                  <a:prstClr val="black"/>
                </a:solidFill>
                <a:latin typeface="Tahoma"/>
              </a:rPr>
              <a:t>AAI</a:t>
            </a: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 (transforming raw materials into final products quicker)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Decreasing</a:t>
            </a: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 ACP (collecting money from AR/debtors sooner…HOW?)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Increasing</a:t>
            </a: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 APP (taking longer to pay AP/creditors/suppliers…HOW?)</a:t>
            </a:r>
            <a:endParaRPr kumimoji="0" lang="en-Z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ahoma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98421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2010"/>
    </mc:Choice>
    <mc:Fallback xmlns="">
      <p:transition spd="slow" advTm="11201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7010400" y="6381750"/>
            <a:ext cx="2133600" cy="476250"/>
          </a:xfrm>
          <a:noFill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59F7F11-38DE-4848-9C10-F2E233F83E86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228600" y="0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7C0F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Cost of cash (cont.) – efficient </a:t>
            </a:r>
            <a:r>
              <a:rPr kumimoji="0" lang="en-US" altLang="en-US" sz="3600" b="0" i="0" u="none" strike="noStrike" kern="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mngt</a:t>
            </a:r>
            <a:r>
              <a:rPr kumimoji="0" lang="en-US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 of cash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319778" y="1219200"/>
            <a:ext cx="8519421" cy="5638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None/>
              <a:tabLst/>
              <a:defRPr/>
            </a:pP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Example: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None/>
              <a:tabLst/>
              <a:defRPr/>
            </a:pPr>
            <a:endParaRPr kumimoji="0" lang="en-ZA" altLang="en-US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+mn-cs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 </a:t>
            </a:r>
            <a:r>
              <a:rPr kumimoji="0" lang="en-ZA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Cash conversion cycle (CCC) 2025 = AAI + ACP – APP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	</a:t>
            </a: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= 	</a:t>
            </a:r>
            <a:r>
              <a:rPr lang="en-ZA" altLang="en-US" sz="2400" dirty="0">
                <a:solidFill>
                  <a:prstClr val="black"/>
                </a:solidFill>
                <a:latin typeface="Tahoma"/>
                <a:ea typeface="ＭＳ Ｐゴシック"/>
              </a:rPr>
              <a:t>91</a:t>
            </a: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 days + 28 days – </a:t>
            </a:r>
            <a:r>
              <a:rPr lang="en-ZA" altLang="en-US" sz="2400" dirty="0">
                <a:solidFill>
                  <a:prstClr val="black"/>
                </a:solidFill>
                <a:latin typeface="Tahoma"/>
                <a:ea typeface="ＭＳ Ｐゴシック"/>
              </a:rPr>
              <a:t>94</a:t>
            </a: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 days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	= 	</a:t>
            </a:r>
            <a:r>
              <a:rPr lang="en-ZA" altLang="en-US" sz="2400" b="1" dirty="0">
                <a:solidFill>
                  <a:srgbClr val="C00000"/>
                </a:solidFill>
                <a:latin typeface="Tahoma"/>
                <a:ea typeface="ＭＳ Ｐゴシック"/>
              </a:rPr>
              <a:t>25</a:t>
            </a:r>
            <a:r>
              <a:rPr kumimoji="0" lang="en-ZA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 days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ZA" altLang="en-US" sz="2400" b="1" dirty="0">
              <a:solidFill>
                <a:srgbClr val="C00000"/>
              </a:solidFill>
              <a:latin typeface="Tahoma"/>
              <a:ea typeface="ＭＳ Ｐゴシック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ahoma"/>
              <a:ea typeface="ＭＳ Ｐゴシック"/>
              <a:cs typeface="+mn-cs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ZA" altLang="en-US" sz="2400" b="1" dirty="0">
              <a:solidFill>
                <a:srgbClr val="C00000"/>
              </a:solidFill>
              <a:latin typeface="Tahoma"/>
              <a:ea typeface="ＭＳ Ｐゴシック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ahoma"/>
              <a:ea typeface="ＭＳ Ｐゴシック"/>
              <a:cs typeface="+mn-cs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ZA" altLang="en-US" sz="2400" b="1" dirty="0">
              <a:solidFill>
                <a:srgbClr val="C00000"/>
              </a:solidFill>
              <a:latin typeface="Tahoma"/>
              <a:ea typeface="ＭＳ Ｐゴシック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ahoma"/>
              <a:ea typeface="ＭＳ Ｐゴシック"/>
              <a:cs typeface="+mn-cs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ZA" altLang="en-US" sz="2400" b="1" dirty="0">
              <a:solidFill>
                <a:srgbClr val="C00000"/>
              </a:solidFill>
              <a:latin typeface="Tahoma"/>
              <a:ea typeface="ＭＳ Ｐゴシック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ZA" altLang="en-US" sz="2400" b="1" dirty="0">
              <a:solidFill>
                <a:srgbClr val="C00000"/>
              </a:solidFill>
              <a:latin typeface="Tahoma"/>
              <a:ea typeface="ＭＳ Ｐゴシック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ＭＳ Ｐゴシック"/>
                <a:cs typeface="+mn-cs"/>
              </a:rPr>
              <a:t>Source: https://thevault.exchange/?get_group_doc=6262/1751029031-FinalFY2025IAR.pdf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None/>
              <a:tabLst/>
              <a:defRPr/>
            </a:pPr>
            <a:endParaRPr kumimoji="0" lang="en-ZA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515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2010"/>
    </mc:Choice>
    <mc:Fallback xmlns="">
      <p:transition spd="slow" advTm="11201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67529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Cash planning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152400" y="685801"/>
            <a:ext cx="8747312" cy="6019800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600" dirty="0"/>
              <a:t>Rest of chapter: focus only on what the </a:t>
            </a:r>
            <a:r>
              <a:rPr lang="en-US" sz="2600" dirty="0">
                <a:highlight>
                  <a:srgbClr val="00FF00"/>
                </a:highlight>
              </a:rPr>
              <a:t>cash budget </a:t>
            </a:r>
            <a:r>
              <a:rPr lang="en-US" sz="2600" dirty="0"/>
              <a:t>entails and how to set it up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600" dirty="0"/>
              <a:t>Let’s look at it with an example</a:t>
            </a:r>
          </a:p>
          <a:p>
            <a:pPr marL="457200" lvl="1" indent="0">
              <a:lnSpc>
                <a:spcPct val="105000"/>
              </a:lnSpc>
              <a:buSzPct val="100000"/>
              <a:buNone/>
            </a:pPr>
            <a:endParaRPr lang="en-US" sz="25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E24EA7-AEBE-6F87-9C64-340048A29A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356" y="2110556"/>
            <a:ext cx="8153400" cy="459504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86261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Cash planning (cont.)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152400" y="1066800"/>
            <a:ext cx="8747312" cy="5638800"/>
          </a:xfrm>
        </p:spPr>
        <p:txBody>
          <a:bodyPr/>
          <a:lstStyle/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sz="2600" dirty="0"/>
              <a:t> Calculate cash receipts first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sz="2600" dirty="0"/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sz="2600" dirty="0"/>
          </a:p>
          <a:p>
            <a:pPr marL="457200" lvl="1" indent="0">
              <a:lnSpc>
                <a:spcPct val="105000"/>
              </a:lnSpc>
              <a:buSzPct val="100000"/>
              <a:buNone/>
            </a:pPr>
            <a:endParaRPr lang="en-US" sz="25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516801D-93AC-3A48-2F1F-01CD1AD6AA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499766"/>
              </p:ext>
            </p:extLst>
          </p:nvPr>
        </p:nvGraphicFramePr>
        <p:xfrm>
          <a:off x="411256" y="1752802"/>
          <a:ext cx="8229600" cy="43535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160852596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4341793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41444417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55974563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96907206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955877590"/>
                    </a:ext>
                  </a:extLst>
                </a:gridCol>
              </a:tblGrid>
              <a:tr h="787346">
                <a:tc>
                  <a:txBody>
                    <a:bodyPr/>
                    <a:lstStyle/>
                    <a:p>
                      <a:endParaRPr lang="en-Z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Sept</a:t>
                      </a:r>
                      <a:endParaRPr lang="en-Z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Z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Oct</a:t>
                      </a:r>
                      <a:endParaRPr lang="en-Z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Z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Nov</a:t>
                      </a:r>
                      <a:endParaRPr lang="en-ZA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5370750"/>
                  </a:ext>
                </a:extLst>
              </a:tr>
              <a:tr h="965254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10% Sept</a:t>
                      </a:r>
                      <a:endParaRPr lang="en-ZA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80 000 </a:t>
                      </a:r>
                      <a:endParaRPr lang="en-ZA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0070C0"/>
                          </a:solidFill>
                        </a:rPr>
                        <a:t>10% Oct</a:t>
                      </a:r>
                      <a:endParaRPr lang="en-ZA" sz="2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rgbClr val="0070C0"/>
                          </a:solidFill>
                        </a:rPr>
                        <a:t>88 000</a:t>
                      </a:r>
                      <a:endParaRPr lang="en-ZA" sz="2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00B050"/>
                          </a:solidFill>
                        </a:rPr>
                        <a:t>10% Nov</a:t>
                      </a:r>
                      <a:endParaRPr lang="en-ZA" sz="2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rgbClr val="00B050"/>
                          </a:solidFill>
                        </a:rPr>
                        <a:t>82 000</a:t>
                      </a:r>
                      <a:endParaRPr lang="en-ZA" sz="2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15324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80% Aug</a:t>
                      </a:r>
                      <a:endParaRPr lang="en-ZA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600 000</a:t>
                      </a:r>
                      <a:endParaRPr lang="en-ZA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0070C0"/>
                          </a:solidFill>
                        </a:rPr>
                        <a:t>80% Sept</a:t>
                      </a:r>
                      <a:endParaRPr lang="en-ZA" sz="2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rgbClr val="0070C0"/>
                          </a:solidFill>
                        </a:rPr>
                        <a:t>640 000</a:t>
                      </a:r>
                      <a:endParaRPr lang="en-ZA" sz="2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00B050"/>
                          </a:solidFill>
                        </a:rPr>
                        <a:t>80% Oct</a:t>
                      </a:r>
                      <a:endParaRPr lang="en-ZA" sz="2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rgbClr val="00B050"/>
                          </a:solidFill>
                        </a:rPr>
                        <a:t>704 000</a:t>
                      </a:r>
                      <a:endParaRPr lang="en-ZA" sz="2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278164"/>
                  </a:ext>
                </a:extLst>
              </a:tr>
              <a:tr h="787346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10% Jul</a:t>
                      </a:r>
                      <a:endParaRPr lang="en-ZA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70 000</a:t>
                      </a:r>
                      <a:endParaRPr lang="en-ZA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0070C0"/>
                          </a:solidFill>
                        </a:rPr>
                        <a:t>10% Aug</a:t>
                      </a:r>
                      <a:endParaRPr lang="en-ZA" sz="2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rgbClr val="0070C0"/>
                          </a:solidFill>
                        </a:rPr>
                        <a:t>75 000</a:t>
                      </a:r>
                      <a:endParaRPr lang="en-ZA" sz="2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00B050"/>
                          </a:solidFill>
                        </a:rPr>
                        <a:t>10% Sept</a:t>
                      </a:r>
                      <a:endParaRPr lang="en-ZA" sz="2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rgbClr val="00B050"/>
                          </a:solidFill>
                        </a:rPr>
                        <a:t>80 000</a:t>
                      </a:r>
                      <a:endParaRPr lang="en-ZA" sz="2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006396"/>
                  </a:ext>
                </a:extLst>
              </a:tr>
              <a:tr h="787346">
                <a:tc>
                  <a:txBody>
                    <a:bodyPr/>
                    <a:lstStyle/>
                    <a:p>
                      <a:r>
                        <a:rPr lang="en-US" sz="2000" b="0" dirty="0"/>
                        <a:t>TOTAL</a:t>
                      </a:r>
                      <a:endParaRPr lang="en-ZA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750 000</a:t>
                      </a:r>
                      <a:endParaRPr lang="en-ZA" sz="24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b="1" dirty="0">
                          <a:solidFill>
                            <a:srgbClr val="0070C0"/>
                          </a:solidFill>
                        </a:rPr>
                        <a:t>803 000</a:t>
                      </a:r>
                      <a:endParaRPr lang="en-ZA" sz="2400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b="1" dirty="0">
                          <a:solidFill>
                            <a:srgbClr val="00B050"/>
                          </a:solidFill>
                        </a:rPr>
                        <a:t>866 000</a:t>
                      </a:r>
                      <a:endParaRPr lang="en-ZA" sz="24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9296409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136864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67529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Cash planning (cont.)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3CEC6A-8C05-4EF8-B960-E70494B46B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235" y="615142"/>
            <a:ext cx="7396065" cy="6248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8000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CF821DC-48D2-104C-8B58-C959D857C485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7" name="Rectangle 4"/>
          <p:cNvSpPr txBox="1">
            <a:spLocks noChangeArrowheads="1"/>
          </p:cNvSpPr>
          <p:nvPr/>
        </p:nvSpPr>
        <p:spPr bwMode="auto">
          <a:xfrm>
            <a:off x="228600" y="0"/>
            <a:ext cx="8677701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ＭＳ Ｐゴシック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  <a:cs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  <a:cs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  <a:cs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  <a:cs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Preparation for next session</a:t>
            </a:r>
          </a:p>
        </p:txBody>
      </p:sp>
      <p:sp>
        <p:nvSpPr>
          <p:cNvPr id="19" name="Rectangle 7"/>
          <p:cNvSpPr txBox="1">
            <a:spLocks noChangeArrowheads="1"/>
          </p:cNvSpPr>
          <p:nvPr/>
        </p:nvSpPr>
        <p:spPr>
          <a:xfrm>
            <a:off x="304799" y="1066800"/>
            <a:ext cx="8601501" cy="5562600"/>
          </a:xfrm>
          <a:prstGeom prst="rect">
            <a:avLst/>
          </a:prstGeom>
          <a:noFill/>
        </p:spPr>
        <p:txBody>
          <a:bodyPr/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ＭＳ Ｐゴシック" charset="-128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 2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Work through Chapter 9</a:t>
            </a:r>
          </a:p>
          <a:p>
            <a:pPr marL="682625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Questions in study guide</a:t>
            </a:r>
          </a:p>
          <a:p>
            <a:pPr marL="682625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Problems at the end of the chapter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Wingdings" charset="2"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Read through Chapter 10</a:t>
            </a:r>
            <a:r>
              <a:rPr lang="en-US" sz="2800" kern="0" dirty="0">
                <a:solidFill>
                  <a:prstClr val="black"/>
                </a:solidFill>
                <a:latin typeface="Tahoma"/>
                <a:ea typeface="ＭＳ Ｐゴシック"/>
              </a:rPr>
              <a:t> and download/print the slides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Wingdings" charset="2"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Wingdings" charset="2"/>
              <a:buNone/>
              <a:tabLst/>
              <a:defRPr/>
            </a:pP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964624409"/>
      </p:ext>
    </p:extLst>
  </p:cSld>
  <p:clrMapOvr>
    <a:masterClrMapping/>
  </p:clrMapOvr>
  <p:transition advTm="56488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heme/theme1.xml><?xml version="1.0" encoding="utf-8"?>
<a:theme xmlns:a="http://schemas.openxmlformats.org/drawingml/2006/main" name="Blank Presentation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277CA4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lank Presentation">
      <a:majorFont>
        <a:latin typeface="Tahoma"/>
        <a:ea typeface="ＭＳ Ｐゴシック"/>
        <a:cs typeface=""/>
      </a:majorFont>
      <a:minorFont>
        <a:latin typeface="Tahom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Blank Presentation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277CA4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lank Presentation">
      <a:majorFont>
        <a:latin typeface="Tahoma"/>
        <a:ea typeface="ＭＳ Ｐゴシック"/>
        <a:cs typeface=""/>
      </a:majorFont>
      <a:minorFont>
        <a:latin typeface="Tahom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Blank Presentation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277CA4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lank Presentation">
      <a:majorFont>
        <a:latin typeface="Tahoma"/>
        <a:ea typeface="ＭＳ Ｐゴシック"/>
        <a:cs typeface=""/>
      </a:majorFont>
      <a:minorFont>
        <a:latin typeface="Tahom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3337</TotalTime>
  <Words>1957</Words>
  <Application>Microsoft Office PowerPoint</Application>
  <PresentationFormat>On-screen Show (4:3)</PresentationFormat>
  <Paragraphs>336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35</vt:i4>
      </vt:variant>
    </vt:vector>
  </HeadingPairs>
  <TitlesOfParts>
    <vt:vector size="45" baseType="lpstr">
      <vt:lpstr>Arial</vt:lpstr>
      <vt:lpstr>Symbol</vt:lpstr>
      <vt:lpstr>Tahoma</vt:lpstr>
      <vt:lpstr>Times</vt:lpstr>
      <vt:lpstr>Times New Roman</vt:lpstr>
      <vt:lpstr>Wingdings</vt:lpstr>
      <vt:lpstr>Wingdings 2</vt:lpstr>
      <vt:lpstr>Blank Presentation</vt:lpstr>
      <vt:lpstr>1_Blank Presentation</vt:lpstr>
      <vt:lpstr>2_Blank Presentation</vt:lpstr>
      <vt:lpstr>PowerPoint Presentation</vt:lpstr>
      <vt:lpstr>Learning outcomes: Chapter 9</vt:lpstr>
      <vt:lpstr>Introduction</vt:lpstr>
      <vt:lpstr>Working capital financing policies</vt:lpstr>
      <vt:lpstr>Working capital financing policies (cont.)</vt:lpstr>
      <vt:lpstr>Working capital financing policies (cont.)</vt:lpstr>
      <vt:lpstr>Working capital financing policies (cont.)</vt:lpstr>
      <vt:lpstr>Working capital financing policies (cont.)</vt:lpstr>
      <vt:lpstr>Sources of ST financing</vt:lpstr>
      <vt:lpstr>Sources of ST financing (cont.)</vt:lpstr>
      <vt:lpstr>Sources of ST financing (cont.)</vt:lpstr>
      <vt:lpstr>Sources of ST financing (cont.)</vt:lpstr>
      <vt:lpstr>Sources of ST financing (cont.)</vt:lpstr>
      <vt:lpstr>Sources of ST financing (cont.)</vt:lpstr>
      <vt:lpstr>Sources of ST financing (cont.)</vt:lpstr>
      <vt:lpstr>Management of cash</vt:lpstr>
      <vt:lpstr>Cash and near-cash</vt:lpstr>
      <vt:lpstr>Cost of cash</vt:lpstr>
      <vt:lpstr>Cost of cash (cont.)</vt:lpstr>
      <vt:lpstr>Cost of cash (cont.) – efficient mngt of cash</vt:lpstr>
      <vt:lpstr>Cost of cash (cont.) – efficient mngt of cash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Cash planning</vt:lpstr>
      <vt:lpstr>Cash planning (cont.)</vt:lpstr>
      <vt:lpstr>Cash planning (cont.)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Essentials of Finance</dc:title>
  <dc:creator>Susan Cook</dc:creator>
  <cp:lastModifiedBy>Rootman, Chantal (Prof) (Summerstrand Campus South)</cp:lastModifiedBy>
  <cp:revision>356</cp:revision>
  <cp:lastPrinted>2022-02-09T10:40:55Z</cp:lastPrinted>
  <dcterms:created xsi:type="dcterms:W3CDTF">2010-03-21T13:43:06Z</dcterms:created>
  <dcterms:modified xsi:type="dcterms:W3CDTF">2026-02-03T09:57:14Z</dcterms:modified>
</cp:coreProperties>
</file>