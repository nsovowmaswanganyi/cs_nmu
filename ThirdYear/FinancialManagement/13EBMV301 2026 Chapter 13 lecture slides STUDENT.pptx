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ink/ink1.xml" ContentType="application/inkml+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4" r:id="rId2"/>
  </p:sldMasterIdLst>
  <p:notesMasterIdLst>
    <p:notesMasterId r:id="rId34"/>
  </p:notesMasterIdLst>
  <p:handoutMasterIdLst>
    <p:handoutMasterId r:id="rId35"/>
  </p:handoutMasterIdLst>
  <p:sldIdLst>
    <p:sldId id="283" r:id="rId3"/>
    <p:sldId id="291" r:id="rId4"/>
    <p:sldId id="259" r:id="rId5"/>
    <p:sldId id="424" r:id="rId6"/>
    <p:sldId id="422" r:id="rId7"/>
    <p:sldId id="383" r:id="rId8"/>
    <p:sldId id="418" r:id="rId9"/>
    <p:sldId id="417" r:id="rId10"/>
    <p:sldId id="366" r:id="rId11"/>
    <p:sldId id="396" r:id="rId12"/>
    <p:sldId id="397" r:id="rId13"/>
    <p:sldId id="398" r:id="rId14"/>
    <p:sldId id="414" r:id="rId15"/>
    <p:sldId id="407" r:id="rId16"/>
    <p:sldId id="421" r:id="rId17"/>
    <p:sldId id="413" r:id="rId18"/>
    <p:sldId id="410" r:id="rId19"/>
    <p:sldId id="411" r:id="rId20"/>
    <p:sldId id="415" r:id="rId21"/>
    <p:sldId id="419" r:id="rId22"/>
    <p:sldId id="399" r:id="rId23"/>
    <p:sldId id="401" r:id="rId24"/>
    <p:sldId id="420" r:id="rId25"/>
    <p:sldId id="402" r:id="rId26"/>
    <p:sldId id="404" r:id="rId27"/>
    <p:sldId id="405" r:id="rId28"/>
    <p:sldId id="406" r:id="rId29"/>
    <p:sldId id="416" r:id="rId30"/>
    <p:sldId id="412" r:id="rId31"/>
    <p:sldId id="423" r:id="rId32"/>
    <p:sldId id="335" r:id="rId33"/>
  </p:sldIdLst>
  <p:sldSz cx="9144000" cy="6858000" type="screen4x3"/>
  <p:notesSz cx="6858000" cy="9945688"/>
  <p:custDataLst>
    <p:tags r:id="rId36"/>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7B"/>
    <a:srgbClr val="D69249"/>
    <a:srgbClr val="99CCFF"/>
    <a:srgbClr val="ADB3BF"/>
    <a:srgbClr val="D63A17"/>
    <a:srgbClr val="FDF1BB"/>
    <a:srgbClr val="FDF4C9"/>
    <a:srgbClr val="A2A871"/>
    <a:srgbClr val="9DA900"/>
    <a:srgbClr val="94A4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howGuides="1">
      <p:cViewPr varScale="1">
        <p:scale>
          <a:sx n="61" d="100"/>
          <a:sy n="61" d="100"/>
        </p:scale>
        <p:origin x="78" y="6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tman, Chantal (Prof) (Summerstrand Campus South)" userId="b3444f73-21d4-4d22-b260-75b64de2b6d6" providerId="ADAL" clId="{2CFA3EE8-8F49-4221-A221-9D4151608CF3}"/>
    <pc:docChg chg="custSel modSld">
      <pc:chgData name="Rootman, Chantal (Prof) (Summerstrand Campus South)" userId="b3444f73-21d4-4d22-b260-75b64de2b6d6" providerId="ADAL" clId="{2CFA3EE8-8F49-4221-A221-9D4151608CF3}" dt="2026-02-19T12:34:44.507" v="131" actId="6549"/>
      <pc:docMkLst>
        <pc:docMk/>
      </pc:docMkLst>
      <pc:sldChg chg="modSp mod">
        <pc:chgData name="Rootman, Chantal (Prof) (Summerstrand Campus South)" userId="b3444f73-21d4-4d22-b260-75b64de2b6d6" providerId="ADAL" clId="{2CFA3EE8-8F49-4221-A221-9D4151608CF3}" dt="2026-02-19T12:32:47.674" v="1" actId="6549"/>
        <pc:sldMkLst>
          <pc:docMk/>
          <pc:sldMk cId="0" sldId="259"/>
        </pc:sldMkLst>
        <pc:spChg chg="mod">
          <ac:chgData name="Rootman, Chantal (Prof) (Summerstrand Campus South)" userId="b3444f73-21d4-4d22-b260-75b64de2b6d6" providerId="ADAL" clId="{2CFA3EE8-8F49-4221-A221-9D4151608CF3}" dt="2026-02-19T12:32:47.674" v="1" actId="6549"/>
          <ac:spMkLst>
            <pc:docMk/>
            <pc:sldMk cId="0" sldId="259"/>
            <ac:spMk id="9221" creationId="{00000000-0000-0000-0000-000000000000}"/>
          </ac:spMkLst>
        </pc:spChg>
      </pc:sldChg>
      <pc:sldChg chg="delSp mod">
        <pc:chgData name="Rootman, Chantal (Prof) (Summerstrand Campus South)" userId="b3444f73-21d4-4d22-b260-75b64de2b6d6" providerId="ADAL" clId="{2CFA3EE8-8F49-4221-A221-9D4151608CF3}" dt="2026-02-19T12:32:42.576" v="0" actId="478"/>
        <pc:sldMkLst>
          <pc:docMk/>
          <pc:sldMk cId="1067134094" sldId="283"/>
        </pc:sldMkLst>
        <pc:picChg chg="del">
          <ac:chgData name="Rootman, Chantal (Prof) (Summerstrand Campus South)" userId="b3444f73-21d4-4d22-b260-75b64de2b6d6" providerId="ADAL" clId="{2CFA3EE8-8F49-4221-A221-9D4151608CF3}" dt="2026-02-19T12:32:42.576" v="0" actId="478"/>
          <ac:picMkLst>
            <pc:docMk/>
            <pc:sldMk cId="1067134094" sldId="283"/>
            <ac:picMk id="4" creationId="{1022AE71-D7C8-51D0-8077-1B394481F51D}"/>
          </ac:picMkLst>
        </pc:picChg>
      </pc:sldChg>
      <pc:sldChg chg="modSp mod">
        <pc:chgData name="Rootman, Chantal (Prof) (Summerstrand Campus South)" userId="b3444f73-21d4-4d22-b260-75b64de2b6d6" providerId="ADAL" clId="{2CFA3EE8-8F49-4221-A221-9D4151608CF3}" dt="2026-02-19T12:34:44.507" v="131" actId="6549"/>
        <pc:sldMkLst>
          <pc:docMk/>
          <pc:sldMk cId="3964624409" sldId="335"/>
        </pc:sldMkLst>
        <pc:spChg chg="mod">
          <ac:chgData name="Rootman, Chantal (Prof) (Summerstrand Campus South)" userId="b3444f73-21d4-4d22-b260-75b64de2b6d6" providerId="ADAL" clId="{2CFA3EE8-8F49-4221-A221-9D4151608CF3}" dt="2026-02-19T12:34:44.507" v="131" actId="6549"/>
          <ac:spMkLst>
            <pc:docMk/>
            <pc:sldMk cId="3964624409" sldId="335"/>
            <ac:spMk id="19" creationId="{00000000-0000-0000-0000-000000000000}"/>
          </ac:spMkLst>
        </pc:spChg>
      </pc:sldChg>
      <pc:sldChg chg="modSp">
        <pc:chgData name="Rootman, Chantal (Prof) (Summerstrand Campus South)" userId="b3444f73-21d4-4d22-b260-75b64de2b6d6" providerId="ADAL" clId="{2CFA3EE8-8F49-4221-A221-9D4151608CF3}" dt="2026-02-19T12:33:38.686" v="79" actId="20577"/>
        <pc:sldMkLst>
          <pc:docMk/>
          <pc:sldMk cId="2839067150" sldId="410"/>
        </pc:sldMkLst>
        <pc:spChg chg="mod">
          <ac:chgData name="Rootman, Chantal (Prof) (Summerstrand Campus South)" userId="b3444f73-21d4-4d22-b260-75b64de2b6d6" providerId="ADAL" clId="{2CFA3EE8-8F49-4221-A221-9D4151608CF3}" dt="2026-02-19T12:33:38.686" v="79" actId="20577"/>
          <ac:spMkLst>
            <pc:docMk/>
            <pc:sldMk cId="2839067150" sldId="410"/>
            <ac:spMk id="9221" creationId="{00000000-0000-0000-0000-000000000000}"/>
          </ac:spMkLst>
        </pc:spChg>
      </pc:sldChg>
      <pc:sldChg chg="modSp">
        <pc:chgData name="Rootman, Chantal (Prof) (Summerstrand Campus South)" userId="b3444f73-21d4-4d22-b260-75b64de2b6d6" providerId="ADAL" clId="{2CFA3EE8-8F49-4221-A221-9D4151608CF3}" dt="2026-02-19T12:33:17.649" v="52" actId="20577"/>
        <pc:sldMkLst>
          <pc:docMk/>
          <pc:sldMk cId="3127398920" sldId="414"/>
        </pc:sldMkLst>
        <pc:spChg chg="mod">
          <ac:chgData name="Rootman, Chantal (Prof) (Summerstrand Campus South)" userId="b3444f73-21d4-4d22-b260-75b64de2b6d6" providerId="ADAL" clId="{2CFA3EE8-8F49-4221-A221-9D4151608CF3}" dt="2026-02-19T12:33:17.649" v="52" actId="20577"/>
          <ac:spMkLst>
            <pc:docMk/>
            <pc:sldMk cId="3127398920" sldId="414"/>
            <ac:spMk id="9221" creationId="{00000000-0000-0000-0000-000000000000}"/>
          </ac:spMkLst>
        </pc:spChg>
      </pc:sldChg>
      <pc:sldChg chg="modSp">
        <pc:chgData name="Rootman, Chantal (Prof) (Summerstrand Campus South)" userId="b3444f73-21d4-4d22-b260-75b64de2b6d6" providerId="ADAL" clId="{2CFA3EE8-8F49-4221-A221-9D4151608CF3}" dt="2026-02-19T12:33:56.634" v="112" actId="5793"/>
        <pc:sldMkLst>
          <pc:docMk/>
          <pc:sldMk cId="1898727403" sldId="419"/>
        </pc:sldMkLst>
        <pc:spChg chg="mod">
          <ac:chgData name="Rootman, Chantal (Prof) (Summerstrand Campus South)" userId="b3444f73-21d4-4d22-b260-75b64de2b6d6" providerId="ADAL" clId="{2CFA3EE8-8F49-4221-A221-9D4151608CF3}" dt="2026-02-19T12:33:56.634" v="112" actId="5793"/>
          <ac:spMkLst>
            <pc:docMk/>
            <pc:sldMk cId="1898727403" sldId="419"/>
            <ac:spMk id="9221" creationId="{00000000-0000-0000-0000-000000000000}"/>
          </ac:spMkLst>
        </pc:spChg>
      </pc:sldChg>
      <pc:sldChg chg="modSp mod">
        <pc:chgData name="Rootman, Chantal (Prof) (Summerstrand Campus South)" userId="b3444f73-21d4-4d22-b260-75b64de2b6d6" providerId="ADAL" clId="{2CFA3EE8-8F49-4221-A221-9D4151608CF3}" dt="2026-02-19T12:34:12.157" v="129" actId="6549"/>
        <pc:sldMkLst>
          <pc:docMk/>
          <pc:sldMk cId="3151922107" sldId="420"/>
        </pc:sldMkLst>
        <pc:spChg chg="mod">
          <ac:chgData name="Rootman, Chantal (Prof) (Summerstrand Campus South)" userId="b3444f73-21d4-4d22-b260-75b64de2b6d6" providerId="ADAL" clId="{2CFA3EE8-8F49-4221-A221-9D4151608CF3}" dt="2026-02-19T12:34:12.157" v="129" actId="6549"/>
          <ac:spMkLst>
            <pc:docMk/>
            <pc:sldMk cId="3151922107" sldId="420"/>
            <ac:spMk id="9221" creationId="{00000000-0000-0000-0000-000000000000}"/>
          </ac:spMkLst>
        </pc:spChg>
      </pc:sldChg>
      <pc:sldChg chg="modSp mod">
        <pc:chgData name="Rootman, Chantal (Prof) (Summerstrand Campus South)" userId="b3444f73-21d4-4d22-b260-75b64de2b6d6" providerId="ADAL" clId="{2CFA3EE8-8F49-4221-A221-9D4151608CF3}" dt="2026-02-19T12:33:03.294" v="37" actId="20577"/>
        <pc:sldMkLst>
          <pc:docMk/>
          <pc:sldMk cId="764647730" sldId="422"/>
        </pc:sldMkLst>
        <pc:spChg chg="mod">
          <ac:chgData name="Rootman, Chantal (Prof) (Summerstrand Campus South)" userId="b3444f73-21d4-4d22-b260-75b64de2b6d6" providerId="ADAL" clId="{2CFA3EE8-8F49-4221-A221-9D4151608CF3}" dt="2026-02-19T12:33:03.294" v="37" actId="20577"/>
          <ac:spMkLst>
            <pc:docMk/>
            <pc:sldMk cId="764647730" sldId="422"/>
            <ac:spMk id="9221" creationId="{00000000-0000-0000-0000-000000000000}"/>
          </ac:spMkLst>
        </pc:spChg>
      </pc:sldChg>
      <pc:sldChg chg="modSp mod">
        <pc:chgData name="Rootman, Chantal (Prof) (Summerstrand Campus South)" userId="b3444f73-21d4-4d22-b260-75b64de2b6d6" providerId="ADAL" clId="{2CFA3EE8-8F49-4221-A221-9D4151608CF3}" dt="2026-02-19T12:32:54.836" v="19" actId="20577"/>
        <pc:sldMkLst>
          <pc:docMk/>
          <pc:sldMk cId="1190152960" sldId="424"/>
        </pc:sldMkLst>
        <pc:spChg chg="mod">
          <ac:chgData name="Rootman, Chantal (Prof) (Summerstrand Campus South)" userId="b3444f73-21d4-4d22-b260-75b64de2b6d6" providerId="ADAL" clId="{2CFA3EE8-8F49-4221-A221-9D4151608CF3}" dt="2026-02-19T12:32:54.836" v="19" actId="20577"/>
          <ac:spMkLst>
            <pc:docMk/>
            <pc:sldMk cId="1190152960" sldId="424"/>
            <ac:spMk id="9221" creationId="{4A576CEC-E013-AF6C-8769-392AB3E87FA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0T10:22:16.820"/>
    </inkml:context>
    <inkml:brush xml:id="br0">
      <inkml:brushProperty name="width" value="0.035" units="cm"/>
      <inkml:brushProperty name="height" value="0.035" units="cm"/>
    </inkml:brush>
  </inkml:definitions>
  <inkml:trace contextRef="#ctx0" brushRef="#br0">1 1 4220,'0'0'604,"283"94"109,-11 34-337,56 66-240,-126-48 48,27 14-56,-11 31-144,38-34-464,-42-10-737,-21-14 73,-45-32-20,-6-9 460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1" y="4724203"/>
            <a:ext cx="5029200" cy="4475559"/>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F9E86-68F6-C7EC-A190-92A4163F257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8795D35-5F4B-05DA-979B-ED87F1B2DB53}"/>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B441397-16C2-39AE-675D-5244D2757B36}"/>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08024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69732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5026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38035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88366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98721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588151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996371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528791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52805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27070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71090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313122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83957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97353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8366780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78614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37067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581422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0521573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79474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6972059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621911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743816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874952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6642611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838753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8698"/>
            <a:fld id="{73303AEE-F764-0E46-AFB6-085D8FECA2EE}" type="slidenum">
              <a:rPr lang="en-US">
                <a:solidFill>
                  <a:srgbClr val="000000"/>
                </a:solidFill>
              </a:rPr>
              <a:pPr defTabSz="918698"/>
              <a:t>31</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4/20/2026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4/20/2026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4/20/2026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4/20/2026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4/20/2026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4/20/2026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4/20/2026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4/20/2026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customXml" Target="../ink/ink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15.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466312" y="2286000"/>
            <a:ext cx="3124200" cy="15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Capital budgeting techniques</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13</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a:t>
            </a:r>
          </a:p>
          <a:p>
            <a:pPr lvl="0" algn="ctr" defTabSz="912813" eaLnBrk="1" hangingPunct="1"/>
            <a:r>
              <a:rPr lang="en-GB" sz="2000" b="1" dirty="0">
                <a:solidFill>
                  <a:srgbClr val="28287A"/>
                </a:solidFill>
                <a:latin typeface="+mn-lt"/>
                <a:ea typeface="+mn-ea"/>
                <a:cs typeface="Arial" charset="0"/>
              </a:rPr>
              <a:t>Dr S Watson, Ms E Kobese</a:t>
            </a:r>
          </a:p>
          <a:p>
            <a:pPr lvl="0" algn="ctr" defTabSz="912813" eaLnBrk="1" hangingPunct="1"/>
            <a:r>
              <a:rPr kumimoji="0" lang="en-GB" sz="2000" b="1" i="0" u="none" strike="noStrike" kern="1200" cap="none" spc="0" normalizeH="0" baseline="0" noProof="0" dirty="0">
                <a:ln>
                  <a:noFill/>
                </a:ln>
                <a:solidFill>
                  <a:srgbClr val="28287A"/>
                </a:solidFill>
                <a:effectLst/>
                <a:uLnTx/>
                <a:uFillTx/>
                <a:latin typeface="+mn-lt"/>
                <a:ea typeface="+mn-ea"/>
                <a:cs typeface="Arial" charset="0"/>
              </a:rPr>
              <a:t>&amp; Ms N Maliwa</a:t>
            </a:r>
          </a:p>
        </p:txBody>
      </p:sp>
    </p:spTree>
    <p:extLst>
      <p:ext uri="{BB962C8B-B14F-4D97-AF65-F5344CB8AC3E}">
        <p14:creationId xmlns:p14="http://schemas.microsoft.com/office/powerpoint/2010/main" val="1067134094"/>
      </p:ext>
    </p:extLst>
  </p:cSld>
  <p:clrMapOvr>
    <a:masterClrMapping/>
  </p:clrMapOvr>
  <mc:AlternateContent xmlns:mc="http://schemas.openxmlformats.org/markup-compatibility/2006" xmlns:p14="http://schemas.microsoft.com/office/powerpoint/2010/main">
    <mc:Choice Requires="p14">
      <p:transition spd="slow" p14:dur="2000" advTm="76269"/>
    </mc:Choice>
    <mc:Fallback xmlns="">
      <p:transition spd="slow" advTm="76269"/>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13</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apply an appropriate approach to the capital budget decisions</a:t>
            </a:r>
            <a:endParaRPr lang="en-ZA" sz="2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calculate the average rate of return and payback period of capital expenditure proposals</a:t>
            </a:r>
            <a:endParaRPr lang="en-ZA" sz="2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latin typeface="Arial" panose="020B0604020202020204" pitchFamily="34" charset="0"/>
                <a:ea typeface="Times New Roman" panose="02020603050405020304" pitchFamily="18" charset="0"/>
              </a:rPr>
              <a:t>calculate and interpret the net present value (NPV), profitability index (PI), and internal rate of return (IRR)</a:t>
            </a:r>
          </a:p>
          <a:p>
            <a:pPr marL="342900" lvl="0" indent="-342900" algn="just">
              <a:buFont typeface="Symbol" panose="05050102010706020507" pitchFamily="18" charset="2"/>
              <a:buChar char=""/>
              <a:tabLst>
                <a:tab pos="431800" algn="l"/>
              </a:tabLst>
            </a:pPr>
            <a:r>
              <a:rPr lang="en-ZA" sz="2400" dirty="0">
                <a:latin typeface="Arial" panose="020B0604020202020204" pitchFamily="34" charset="0"/>
                <a:ea typeface="Times New Roman" panose="02020603050405020304" pitchFamily="18" charset="0"/>
              </a:rPr>
              <a:t>evaluate</a:t>
            </a:r>
            <a:r>
              <a:rPr lang="en-ZA" sz="2400" dirty="0">
                <a:effectLst/>
                <a:latin typeface="Arial" panose="020B0604020202020204" pitchFamily="34" charset="0"/>
                <a:ea typeface="Times New Roman" panose="02020603050405020304" pitchFamily="18" charset="0"/>
              </a:rPr>
              <a:t> projects with conflicting NPV rankings</a:t>
            </a:r>
            <a:r>
              <a:rPr lang="en-ZA" sz="2400" dirty="0">
                <a:effectLst/>
                <a:ea typeface="Times New Roman" panose="02020603050405020304" pitchFamily="18" charset="0"/>
              </a:rPr>
              <a:t>.</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mc:AlternateContent xmlns:mc="http://schemas.openxmlformats.org/markup-compatibility/2006" xmlns:p14="http://schemas.microsoft.com/office/powerpoint/2010/main">
    <mc:Choice Requires="p14">
      <p:transition spd="slow" p14:dur="2000" advTm="73523"/>
    </mc:Choice>
    <mc:Fallback xmlns="">
      <p:transition spd="slow" advTm="73523"/>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Example of capital budgeting </a:t>
            </a:r>
          </a:p>
        </p:txBody>
      </p:sp>
      <p:sp>
        <p:nvSpPr>
          <p:cNvPr id="9221" name="Rectangle 5"/>
          <p:cNvSpPr>
            <a:spLocks noGrp="1" noChangeArrowheads="1"/>
          </p:cNvSpPr>
          <p:nvPr>
            <p:ph idx="1"/>
          </p:nvPr>
        </p:nvSpPr>
        <p:spPr>
          <a:xfrm>
            <a:off x="259976" y="914400"/>
            <a:ext cx="8655424" cy="5791200"/>
          </a:xfrm>
        </p:spPr>
        <p:txBody>
          <a:bodyPr/>
          <a:lstStyle/>
          <a:p>
            <a:pPr marL="0" marR="0" lvl="0" indent="0" algn="ctr" defTabSz="914400" rtl="0" eaLnBrk="0" fontAlgn="base" latinLnBrk="0" hangingPunct="0">
              <a:lnSpc>
                <a:spcPct val="100000"/>
              </a:lnSpc>
              <a:spcBef>
                <a:spcPts val="0"/>
              </a:spcBef>
              <a:spcAft>
                <a:spcPct val="0"/>
              </a:spcAft>
              <a:buClr>
                <a:srgbClr val="1F497D"/>
              </a:buClr>
              <a:buSzPct val="75000"/>
              <a:buFont typeface="Wingdings" charset="2"/>
              <a:buNone/>
              <a:tabLst/>
              <a:defRPr/>
            </a:pPr>
            <a:r>
              <a:rPr kumimoji="0" lang="en-US" sz="2400" b="1" i="0" u="none" strike="noStrike" kern="0" cap="none" spc="0" normalizeH="0" baseline="0" noProof="0" dirty="0">
                <a:ln>
                  <a:noFill/>
                </a:ln>
                <a:solidFill>
                  <a:srgbClr val="1F497D"/>
                </a:solidFill>
                <a:effectLst/>
                <a:uLnTx/>
                <a:uFillTx/>
                <a:latin typeface="Tahoma"/>
                <a:ea typeface="ＭＳ Ｐゴシック"/>
              </a:rPr>
              <a:t>CEREBOS: Salt producer expands, diversifies</a:t>
            </a: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1400" b="0" i="0" u="none" strike="noStrike" kern="0" cap="none" spc="0" normalizeH="0" baseline="0" noProof="0" dirty="0">
              <a:ln>
                <a:noFill/>
              </a:ln>
              <a:solidFill>
                <a:prstClr val="black"/>
              </a:solidFill>
              <a:effectLst/>
              <a:uLnTx/>
              <a:uFillTx/>
              <a:latin typeface="Tahoma"/>
              <a:ea typeface="ＭＳ Ｐゴシック"/>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6D7177-142D-4AFE-6226-D35E56F78ADE}"/>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C4F7428B-FDE4-1479-E6E8-273B8D8B90C3}"/>
              </a:ext>
            </a:extLst>
          </p:cNvPr>
          <p:cNvSpPr>
            <a:spLocks noGrp="1" noChangeArrowheads="1"/>
          </p:cNvSpPr>
          <p:nvPr>
            <p:ph type="title"/>
          </p:nvPr>
        </p:nvSpPr>
        <p:spPr>
          <a:xfrm>
            <a:off x="228600" y="10510"/>
            <a:ext cx="8763000" cy="1143000"/>
          </a:xfrm>
        </p:spPr>
        <p:txBody>
          <a:bodyPr/>
          <a:lstStyle/>
          <a:p>
            <a:r>
              <a:rPr lang="en-US" dirty="0">
                <a:solidFill>
                  <a:schemeClr val="tx2"/>
                </a:solidFill>
              </a:rPr>
              <a:t>Example of capital budgeting </a:t>
            </a:r>
          </a:p>
        </p:txBody>
      </p:sp>
      <p:sp>
        <p:nvSpPr>
          <p:cNvPr id="9221" name="Rectangle 5">
            <a:extLst>
              <a:ext uri="{FF2B5EF4-FFF2-40B4-BE49-F238E27FC236}">
                <a16:creationId xmlns:a16="http://schemas.microsoft.com/office/drawing/2014/main" id="{4A576CEC-E013-AF6C-8769-392AB3E87FA2}"/>
              </a:ext>
            </a:extLst>
          </p:cNvPr>
          <p:cNvSpPr>
            <a:spLocks noGrp="1" noChangeArrowheads="1"/>
          </p:cNvSpPr>
          <p:nvPr>
            <p:ph idx="1"/>
          </p:nvPr>
        </p:nvSpPr>
        <p:spPr>
          <a:xfrm>
            <a:off x="259976" y="946638"/>
            <a:ext cx="8655424" cy="5900852"/>
          </a:xfrm>
        </p:spPr>
        <p:txBody>
          <a:bodyPr/>
          <a:lstStyle/>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2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 </a:t>
            </a:r>
          </a:p>
          <a:p>
            <a:pPr marL="0" marR="0" lvl="0" indent="0" algn="just" defTabSz="914400" rtl="0" eaLnBrk="0" fontAlgn="base" latinLnBrk="0" hangingPunct="0">
              <a:lnSpc>
                <a:spcPct val="90000"/>
              </a:lnSpc>
              <a:spcBef>
                <a:spcPct val="20000"/>
              </a:spcBef>
              <a:spcAft>
                <a:spcPct val="0"/>
              </a:spcAft>
              <a:buClr>
                <a:srgbClr val="1F497D"/>
              </a:buClr>
              <a:buSzPct val="75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90000"/>
              </a:lnSpc>
              <a:spcBef>
                <a:spcPct val="20000"/>
              </a:spcBef>
              <a:spcAft>
                <a:spcPct val="0"/>
              </a:spcAft>
              <a:buClr>
                <a:srgbClr val="1F497D"/>
              </a:buClr>
              <a:buSzPct val="75000"/>
              <a:buFont typeface="Wingdings" charset="2"/>
              <a:buNone/>
              <a:tabLst/>
              <a:defRPr/>
            </a:pPr>
            <a:r>
              <a:rPr kumimoji="0" lang="en-US" sz="1000" b="0" i="0" u="none" strike="noStrike" kern="0" cap="none" spc="0" normalizeH="0" baseline="0" noProof="0" dirty="0">
                <a:ln>
                  <a:noFill/>
                </a:ln>
                <a:solidFill>
                  <a:prstClr val="black"/>
                </a:solidFill>
                <a:effectLst/>
                <a:uLnTx/>
                <a:uFillTx/>
                <a:latin typeface="Tahoma"/>
                <a:ea typeface="ＭＳ Ｐゴシック"/>
              </a:rPr>
              <a:t>Source: Adapted from</a:t>
            </a:r>
          </a:p>
          <a:p>
            <a:pPr marL="0" marR="0" lvl="0" indent="0" algn="just" defTabSz="914400" rtl="0" eaLnBrk="0" fontAlgn="base" latinLnBrk="0" hangingPunct="0">
              <a:lnSpc>
                <a:spcPct val="90000"/>
              </a:lnSpc>
              <a:spcBef>
                <a:spcPct val="20000"/>
              </a:spcBef>
              <a:spcAft>
                <a:spcPct val="0"/>
              </a:spcAft>
              <a:buClr>
                <a:srgbClr val="1F497D"/>
              </a:buClr>
              <a:buSzPct val="75000"/>
              <a:buFont typeface="Wingdings" charset="2"/>
              <a:buNone/>
              <a:tabLst/>
              <a:defRPr/>
            </a:pPr>
            <a:r>
              <a:rPr kumimoji="0" lang="en-US" sz="1000" b="0" i="0" u="none" strike="noStrike" kern="0" cap="none" spc="0" normalizeH="0" baseline="0" noProof="0" dirty="0">
                <a:ln>
                  <a:noFill/>
                </a:ln>
                <a:solidFill>
                  <a:prstClr val="black"/>
                </a:solidFill>
                <a:effectLst/>
                <a:uLnTx/>
                <a:uFillTx/>
                <a:latin typeface="Tahoma"/>
                <a:ea typeface="ＭＳ Ｐゴシック"/>
              </a:rPr>
              <a:t>https://easterncapeindustrialnews.co.za/salt-producer-expands-diversifies/</a:t>
            </a:r>
            <a:endParaRPr lang="en-US" dirty="0">
              <a:solidFill>
                <a:srgbClr val="FF0000"/>
              </a:solidFill>
            </a:endParaRPr>
          </a:p>
        </p:txBody>
      </p:sp>
      <p:sp>
        <p:nvSpPr>
          <p:cNvPr id="3" name="Slide Number Placeholder 2">
            <a:extLst>
              <a:ext uri="{FF2B5EF4-FFF2-40B4-BE49-F238E27FC236}">
                <a16:creationId xmlns:a16="http://schemas.microsoft.com/office/drawing/2014/main" id="{83504D81-913B-4529-882B-F9E47DB06E9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Tree>
    <p:custDataLst>
      <p:tags r:id="rId1"/>
    </p:custDataLst>
    <p:extLst>
      <p:ext uri="{BB962C8B-B14F-4D97-AF65-F5344CB8AC3E}">
        <p14:creationId xmlns:p14="http://schemas.microsoft.com/office/powerpoint/2010/main" val="119015296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Examples of capital budgeting (cont.) </a:t>
            </a:r>
          </a:p>
        </p:txBody>
      </p:sp>
      <p:sp>
        <p:nvSpPr>
          <p:cNvPr id="9221" name="Rectangle 5"/>
          <p:cNvSpPr>
            <a:spLocks noGrp="1" noChangeArrowheads="1"/>
          </p:cNvSpPr>
          <p:nvPr>
            <p:ph idx="1"/>
          </p:nvPr>
        </p:nvSpPr>
        <p:spPr>
          <a:xfrm>
            <a:off x="259976" y="1066800"/>
            <a:ext cx="8655424" cy="5791200"/>
          </a:xfrm>
        </p:spPr>
        <p:txBody>
          <a:bodyPr/>
          <a:lstStyle/>
          <a:p>
            <a:pPr marL="0" marR="0" lvl="0" indent="0" algn="ctr" defTabSz="914400" rtl="0" eaLnBrk="0" fontAlgn="base" latinLnBrk="0" hangingPunct="0">
              <a:lnSpc>
                <a:spcPct val="100000"/>
              </a:lnSpc>
              <a:spcBef>
                <a:spcPts val="0"/>
              </a:spcBef>
              <a:spcAft>
                <a:spcPct val="0"/>
              </a:spcAft>
              <a:buClr>
                <a:srgbClr val="1F497D"/>
              </a:buClr>
              <a:buSzPct val="75000"/>
              <a:buFont typeface="Wingdings" charset="2"/>
              <a:buNone/>
              <a:tabLst/>
              <a:defRPr/>
            </a:pPr>
            <a:r>
              <a:rPr kumimoji="0" lang="en-US" sz="2200" b="1" i="0" u="none" strike="noStrike" kern="0" cap="none" spc="0" normalizeH="0" baseline="0" noProof="0" dirty="0">
                <a:ln>
                  <a:noFill/>
                </a:ln>
                <a:solidFill>
                  <a:srgbClr val="1F497D"/>
                </a:solidFill>
                <a:effectLst/>
                <a:uLnTx/>
                <a:uFillTx/>
                <a:latin typeface="Tahoma"/>
                <a:ea typeface="ＭＳ Ｐゴシック"/>
              </a:rPr>
              <a:t>Chinese giant teams up with PPC in South Africa</a:t>
            </a: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12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0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0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0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0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0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lang="en-US" sz="2000" dirty="0">
              <a:solidFill>
                <a:prstClr val="black"/>
              </a:solidFill>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endParaRPr kumimoji="0" lang="en-US" sz="1000" b="0" i="0" u="none" strike="noStrike" kern="0" cap="none" spc="0" normalizeH="0" baseline="0" noProof="0" dirty="0">
              <a:ln>
                <a:noFill/>
              </a:ln>
              <a:solidFill>
                <a:prstClr val="black"/>
              </a:solidFill>
              <a:effectLst/>
              <a:uLnTx/>
              <a:uFillTx/>
              <a:latin typeface="Tahoma"/>
              <a:ea typeface="ＭＳ Ｐゴシック"/>
            </a:endParaRPr>
          </a:p>
          <a:p>
            <a:pPr marL="0" marR="0" lvl="0" indent="0" algn="just" defTabSz="914400" rtl="0" eaLnBrk="0" fontAlgn="base" latinLnBrk="0" hangingPunct="0">
              <a:lnSpc>
                <a:spcPct val="100000"/>
              </a:lnSpc>
              <a:spcBef>
                <a:spcPts val="0"/>
              </a:spcBef>
              <a:spcAft>
                <a:spcPct val="0"/>
              </a:spcAft>
              <a:buClr>
                <a:srgbClr val="1F497D"/>
              </a:buClr>
              <a:buSzPct val="75000"/>
              <a:buFont typeface="Wingdings" charset="2"/>
              <a:buNone/>
              <a:tabLst/>
              <a:defRPr/>
            </a:pPr>
            <a:r>
              <a:rPr kumimoji="0" lang="en-US" sz="1000" b="0" i="0" u="none" strike="noStrike" kern="0" cap="none" spc="0" normalizeH="0" baseline="0" noProof="0" dirty="0">
                <a:ln>
                  <a:noFill/>
                </a:ln>
                <a:solidFill>
                  <a:prstClr val="black"/>
                </a:solidFill>
                <a:effectLst/>
                <a:uLnTx/>
                <a:uFillTx/>
                <a:latin typeface="Tahoma"/>
                <a:ea typeface="ＭＳ Ｐゴシック"/>
              </a:rPr>
              <a:t>Source: Adapted from Fraser, L. https://businesstech.co.za/news/business/807100/chinese-giants-team-up-for-new-r3-billion-plant-in-south-africa/; https://www.engineeringnews.co.za/article/ppc-cement-plant-south-africa-update-2025-08-08</a:t>
            </a:r>
            <a:endParaRPr lang="en-US" dirty="0">
              <a:solidFill>
                <a:srgbClr val="FF0000"/>
              </a:solidFill>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Tree>
    <p:custDataLst>
      <p:tags r:id="rId1"/>
    </p:custDataLst>
    <p:extLst>
      <p:ext uri="{BB962C8B-B14F-4D97-AF65-F5344CB8AC3E}">
        <p14:creationId xmlns:p14="http://schemas.microsoft.com/office/powerpoint/2010/main" val="76464773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791200"/>
          </a:xfrm>
        </p:spPr>
        <p:txBody>
          <a:bodyPr/>
          <a:lstStyle/>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400" dirty="0">
                <a:latin typeface="+mj-lt"/>
              </a:rPr>
              <a:t>Ch 6 </a:t>
            </a:r>
            <a:r>
              <a:rPr kumimoji="0" lang="en-US" sz="2400" b="0" i="0" u="none" strike="noStrike" kern="0" cap="none" spc="0" normalizeH="0" baseline="0" noProof="0" dirty="0">
                <a:ln>
                  <a:noFill/>
                </a:ln>
                <a:solidFill>
                  <a:prstClr val="black"/>
                </a:solidFill>
                <a:effectLst/>
                <a:uLnTx/>
                <a:uFillTx/>
                <a:latin typeface="+mj-lt"/>
                <a:ea typeface="ＭＳ Ｐゴシック"/>
              </a:rPr>
              <a:t>we valued financial assets and determined required rates of return</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Now apply these concepts to investment decisions involving fixed (non-current) assets: </a:t>
            </a:r>
            <a:r>
              <a:rPr kumimoji="0" lang="en-US" sz="2400" b="1" i="0" u="none" strike="noStrike" kern="0" cap="none" spc="0" normalizeH="0" baseline="0" noProof="0" dirty="0">
                <a:ln>
                  <a:noFill/>
                </a:ln>
                <a:solidFill>
                  <a:srgbClr val="C00000"/>
                </a:solidFill>
                <a:effectLst/>
                <a:uLnTx/>
                <a:uFillTx/>
                <a:latin typeface="+mj-lt"/>
                <a:ea typeface="ＭＳ Ｐゴシック"/>
              </a:rPr>
              <a:t>capital budgeting </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altLang="en-US" sz="2400" b="1" i="0" u="none" strike="noStrike" kern="0" cap="none" spc="0" normalizeH="0" baseline="0" noProof="0" dirty="0">
                <a:ln>
                  <a:noFill/>
                </a:ln>
                <a:solidFill>
                  <a:prstClr val="black"/>
                </a:solidFill>
                <a:effectLst/>
                <a:uLnTx/>
                <a:uFillTx/>
                <a:latin typeface="+mj-lt"/>
                <a:ea typeface="Tahoma" panose="020B0604030504040204" pitchFamily="34" charset="0"/>
                <a:cs typeface="Tahoma" panose="020B0604030504040204" pitchFamily="34" charset="0"/>
                <a:sym typeface="Symbol" panose="05050102010706020507" pitchFamily="18" charset="2"/>
              </a:rPr>
              <a:t> </a:t>
            </a:r>
            <a:r>
              <a:rPr kumimoji="0" lang="en-US" sz="2400" b="0" i="0" u="none" strike="noStrike" kern="0" cap="none" spc="0" normalizeH="0" baseline="0" noProof="0" dirty="0">
                <a:ln>
                  <a:noFill/>
                </a:ln>
                <a:solidFill>
                  <a:prstClr val="black"/>
                </a:solidFill>
                <a:effectLst/>
                <a:uLnTx/>
                <a:uFillTx/>
                <a:latin typeface="+mj-lt"/>
                <a:ea typeface="ＭＳ Ｐゴシック"/>
              </a:rPr>
              <a:t>Capital budgeting refers to a </a:t>
            </a:r>
            <a:r>
              <a:rPr kumimoji="0" lang="en-US" sz="2400" b="1" i="0" u="none" strike="noStrike" kern="0" cap="none" spc="0" normalizeH="0" baseline="0" noProof="0" dirty="0">
                <a:ln>
                  <a:noFill/>
                </a:ln>
                <a:solidFill>
                  <a:srgbClr val="C00000"/>
                </a:solidFill>
                <a:effectLst/>
                <a:uLnTx/>
                <a:uFillTx/>
                <a:latin typeface="+mj-lt"/>
                <a:ea typeface="ＭＳ Ｐゴシック"/>
              </a:rPr>
              <a:t>firm’s investment in new LT assets</a:t>
            </a:r>
            <a:r>
              <a:rPr kumimoji="0" lang="en-US" sz="2400" b="0" i="0" u="none" strike="noStrike" kern="0" cap="none" spc="0" normalizeH="0" baseline="0" noProof="0" dirty="0">
                <a:ln>
                  <a:noFill/>
                </a:ln>
                <a:solidFill>
                  <a:prstClr val="black"/>
                </a:solidFill>
                <a:effectLst/>
                <a:uLnTx/>
                <a:uFillTx/>
                <a:latin typeface="+mj-lt"/>
                <a:ea typeface="ＭＳ Ｐゴシック"/>
              </a:rPr>
              <a:t> (remember Ch 1…)</a:t>
            </a:r>
          </a:p>
          <a:p>
            <a:pPr marL="342900" marR="0" lvl="0" indent="-342900" algn="just"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Process of </a:t>
            </a:r>
            <a:r>
              <a:rPr kumimoji="0" lang="en-US" sz="2400" b="0" i="0" u="none" strike="noStrike" kern="0" cap="none" spc="0" normalizeH="0" baseline="0" noProof="0" dirty="0" err="1">
                <a:ln>
                  <a:noFill/>
                </a:ln>
                <a:solidFill>
                  <a:prstClr val="black"/>
                </a:solidFill>
                <a:effectLst/>
                <a:uLnTx/>
                <a:uFillTx/>
                <a:latin typeface="+mj-lt"/>
                <a:ea typeface="ＭＳ Ｐゴシック"/>
              </a:rPr>
              <a:t>analysing</a:t>
            </a:r>
            <a:r>
              <a:rPr kumimoji="0" lang="en-US" sz="2400" b="0" i="0" u="none" strike="noStrike" kern="0" cap="none" spc="0" normalizeH="0" baseline="0" noProof="0" dirty="0">
                <a:ln>
                  <a:noFill/>
                </a:ln>
                <a:solidFill>
                  <a:prstClr val="black"/>
                </a:solidFill>
                <a:effectLst/>
                <a:uLnTx/>
                <a:uFillTx/>
                <a:latin typeface="+mj-lt"/>
                <a:ea typeface="ＭＳ Ｐゴシック"/>
              </a:rPr>
              <a:t> projects – which are acceptable and which should ultimately be selected</a:t>
            </a:r>
          </a:p>
          <a:p>
            <a:pPr marL="342900" marR="0" lvl="0" indent="-342900" algn="just" defTabSz="914400" rtl="0" eaLnBrk="0" fontAlgn="base" latinLnBrk="0" hangingPunct="0">
              <a:lnSpc>
                <a:spcPct val="100000"/>
              </a:lnSpc>
              <a:spcBef>
                <a:spcPts val="0"/>
              </a:spcBef>
              <a:spcAft>
                <a:spcPts val="0"/>
              </a:spcAft>
              <a:buClr>
                <a:srgbClr val="1F497D"/>
              </a:buClr>
              <a:buSzPct val="75000"/>
              <a:buFontTx/>
              <a:buChar char="•"/>
              <a:tabLst/>
              <a:defRPr/>
            </a:pPr>
            <a:r>
              <a:rPr kumimoji="0" lang="en-ZA" altLang="en-US" sz="2400" b="0" i="0" u="none" strike="noStrike" kern="0" cap="none" spc="0" normalizeH="0" baseline="0" noProof="0" dirty="0">
                <a:ln>
                  <a:noFill/>
                </a:ln>
                <a:solidFill>
                  <a:prstClr val="black"/>
                </a:solidFill>
                <a:effectLst/>
                <a:uLnTx/>
                <a:uFillTx/>
                <a:latin typeface="+mj-lt"/>
                <a:ea typeface="ＭＳ Ｐゴシック"/>
              </a:rPr>
              <a:t>Firms have various capital investment options available – some of these options are valuable and some are not… </a:t>
            </a:r>
          </a:p>
          <a:p>
            <a:pPr marL="342900" marR="0" lvl="0" indent="-342900" algn="just" defTabSz="914400" rtl="0" eaLnBrk="0" fontAlgn="base" latinLnBrk="0" hangingPunct="0">
              <a:lnSpc>
                <a:spcPct val="100000"/>
              </a:lnSpc>
              <a:spcBef>
                <a:spcPts val="0"/>
              </a:spcBef>
              <a:spcAft>
                <a:spcPts val="0"/>
              </a:spcAft>
              <a:buClr>
                <a:srgbClr val="1F497D"/>
              </a:buClr>
              <a:buSzPct val="75000"/>
              <a:buFontTx/>
              <a:buChar char="•"/>
              <a:tabLst/>
              <a:defRPr/>
            </a:pPr>
            <a:r>
              <a:rPr kumimoji="0" lang="en-ZA" altLang="en-US" sz="2400" b="0" i="0" u="none" strike="noStrike" kern="0" cap="none" spc="0" normalizeH="0" baseline="0" noProof="0" dirty="0">
                <a:ln>
                  <a:noFill/>
                </a:ln>
                <a:solidFill>
                  <a:prstClr val="black"/>
                </a:solidFill>
                <a:effectLst/>
                <a:uLnTx/>
                <a:uFillTx/>
                <a:latin typeface="+mj-lt"/>
                <a:ea typeface="ＭＳ Ｐゴシック"/>
              </a:rPr>
              <a:t>Which are valuable…? Which will contribute to the firm’s goal of shareholder wealth maximisation? </a:t>
            </a:r>
          </a:p>
          <a:p>
            <a:pPr marL="342900" marR="0" lvl="0" indent="-342900" algn="just" defTabSz="914400" rtl="0" eaLnBrk="0" fontAlgn="base" latinLnBrk="0" hangingPunct="0">
              <a:lnSpc>
                <a:spcPct val="100000"/>
              </a:lnSpc>
              <a:spcBef>
                <a:spcPts val="0"/>
              </a:spcBef>
              <a:spcAft>
                <a:spcPts val="0"/>
              </a:spcAft>
              <a:buClr>
                <a:srgbClr val="1F497D"/>
              </a:buClr>
              <a:buSzPct val="75000"/>
              <a:buFontTx/>
              <a:buChar char="•"/>
              <a:tabLst/>
              <a:defRPr/>
            </a:pPr>
            <a:r>
              <a:rPr kumimoji="0" lang="en-ZA" altLang="en-US" sz="2400" b="0" i="0" u="none" strike="noStrike" kern="0" cap="none" spc="0" normalizeH="0" baseline="0" noProof="0" dirty="0">
                <a:ln>
                  <a:noFill/>
                </a:ln>
                <a:solidFill>
                  <a:prstClr val="black"/>
                </a:solidFill>
                <a:effectLst/>
                <a:uLnTx/>
                <a:uFillTx/>
                <a:latin typeface="+mj-lt"/>
                <a:ea typeface="ＭＳ Ｐゴシック"/>
              </a:rPr>
              <a:t>Techniques available to analyse potential capital investments / business ventures to decide which are worth undertaking</a:t>
            </a: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Tree>
    <p:custDataLst>
      <p:tags r:id="rId1"/>
    </p:custDataLst>
    <p:extLst>
      <p:ext uri="{BB962C8B-B14F-4D97-AF65-F5344CB8AC3E}">
        <p14:creationId xmlns:p14="http://schemas.microsoft.com/office/powerpoint/2010/main" val="89563937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p:cNvSpPr>
            <a:spLocks noGrp="1" noChangeArrowheads="1"/>
          </p:cNvSpPr>
          <p:nvPr>
            <p:ph idx="1"/>
          </p:nvPr>
        </p:nvSpPr>
        <p:spPr>
          <a:xfrm>
            <a:off x="259976" y="990600"/>
            <a:ext cx="8655424" cy="5791200"/>
          </a:xfrm>
        </p:spPr>
        <p:txBody>
          <a:bodyPr/>
          <a:lstStyle/>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600" dirty="0">
                <a:latin typeface="+mj-lt"/>
              </a:rPr>
              <a:t>Must decide carefully…make informed decisions…</a:t>
            </a: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600" dirty="0">
                <a:latin typeface="+mj-lt"/>
              </a:rPr>
              <a:t>You already have 2 coffee shop outlets in GQ. Think about opening another coffee shop (outlet) somewhere in GQ…you are considering 1 of 3 possible areas… </a:t>
            </a: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endParaRPr lang="en-US" sz="2600" dirty="0">
              <a:latin typeface="+mj-lt"/>
            </a:endParaRP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lang="en-US" sz="2600" dirty="0">
                <a:latin typeface="+mj-lt"/>
              </a:rPr>
              <a:t>LT in nature, high costs, loose flexibility, timing NB (should have assets when needed, etc.) </a:t>
            </a:r>
            <a:endParaRPr kumimoji="0" lang="en-US" sz="2600" b="0" i="0" u="none" strike="noStrike" kern="0" cap="none" spc="0" normalizeH="0" baseline="0" noProof="0" dirty="0">
              <a:ln>
                <a:noFill/>
              </a:ln>
              <a:solidFill>
                <a:prstClr val="black"/>
              </a:solidFill>
              <a:effectLst/>
              <a:uLnTx/>
              <a:uFillTx/>
              <a:latin typeface="+mj-lt"/>
              <a:ea typeface="ＭＳ Ｐゴシック"/>
            </a:endParaRP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altLang="en-US" sz="2600" b="1" i="0" u="none" strike="noStrike" kern="0" cap="none" spc="0" normalizeH="0" baseline="0" noProof="0" dirty="0">
                <a:ln>
                  <a:noFill/>
                </a:ln>
                <a:solidFill>
                  <a:srgbClr val="C00000"/>
                </a:solidFill>
                <a:effectLst/>
                <a:uLnTx/>
                <a:uFillTx/>
                <a:latin typeface="+mj-lt"/>
                <a:ea typeface="ＭＳ Ｐゴシック"/>
              </a:rPr>
              <a:t>Poor capital budgeting </a:t>
            </a:r>
            <a:r>
              <a:rPr kumimoji="0" lang="en-US" altLang="en-US" sz="2600" b="0" i="0" u="none" strike="noStrike" kern="0" cap="none" spc="0" normalizeH="0" baseline="0" noProof="0" dirty="0">
                <a:ln>
                  <a:noFill/>
                </a:ln>
                <a:solidFill>
                  <a:prstClr val="black"/>
                </a:solidFill>
                <a:effectLst/>
                <a:uLnTx/>
                <a:uFillTx/>
                <a:latin typeface="+mj-lt"/>
                <a:ea typeface="ＭＳ Ｐゴシック"/>
              </a:rPr>
              <a:t>affects product mix and hence sales ⇒ lower NPAT or EAT ⇒ lower DPS ⇒ lower share price ⇒ </a:t>
            </a:r>
            <a:r>
              <a:rPr kumimoji="0" lang="en-US" altLang="en-US" sz="2600" b="1" i="0" u="none" strike="noStrike" kern="0" cap="none" spc="0" normalizeH="0" baseline="0" noProof="0" dirty="0">
                <a:ln>
                  <a:noFill/>
                </a:ln>
                <a:solidFill>
                  <a:srgbClr val="C00000"/>
                </a:solidFill>
                <a:effectLst/>
                <a:uLnTx/>
                <a:uFillTx/>
                <a:latin typeface="+mj-lt"/>
                <a:ea typeface="ＭＳ Ｐゴシック"/>
              </a:rPr>
              <a:t>a decline in SHW</a:t>
            </a:r>
            <a:endParaRPr kumimoji="0" lang="en-US" sz="2600" b="0" i="0" u="none" strike="noStrike" kern="0" cap="none" spc="0" normalizeH="0" baseline="0" noProof="0" dirty="0">
              <a:ln>
                <a:noFill/>
              </a:ln>
              <a:solidFill>
                <a:prstClr val="black"/>
              </a:solidFill>
              <a:effectLst/>
              <a:uLnTx/>
              <a:uFillTx/>
              <a:latin typeface="+mj-lt"/>
              <a:ea typeface="ＭＳ Ｐゴシック"/>
            </a:endParaRP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Tree>
    <p:custDataLst>
      <p:tags r:id="rId1"/>
    </p:custDataLst>
    <p:extLst>
      <p:ext uri="{BB962C8B-B14F-4D97-AF65-F5344CB8AC3E}">
        <p14:creationId xmlns:p14="http://schemas.microsoft.com/office/powerpoint/2010/main" val="3970035089"/>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791200"/>
          </a:xfrm>
        </p:spPr>
        <p:txBody>
          <a:bodyPr/>
          <a:lstStyle/>
          <a:p>
            <a:pPr>
              <a:lnSpc>
                <a:spcPct val="105000"/>
              </a:lnSpc>
              <a:buSzPct val="100000"/>
              <a:buFont typeface="Arial" panose="020B0604020202020204" pitchFamily="34" charset="0"/>
              <a:buChar char="•"/>
            </a:pPr>
            <a:r>
              <a:rPr lang="en-US" sz="2500" dirty="0"/>
              <a:t>Evident from Ch 12 that CFs associated with the implementation of a capital budgeting project (investment) transpire over several years</a:t>
            </a:r>
          </a:p>
          <a:p>
            <a:pPr lvl="1">
              <a:lnSpc>
                <a:spcPct val="105000"/>
              </a:lnSpc>
              <a:buSzPct val="100000"/>
              <a:buFont typeface="Wingdings" panose="05000000000000000000" pitchFamily="2" charset="2"/>
              <a:buChar char="§"/>
            </a:pPr>
            <a:r>
              <a:rPr lang="en-US" sz="2500" dirty="0"/>
              <a:t>CFs matter (inflows vs outflows)</a:t>
            </a:r>
          </a:p>
          <a:p>
            <a:pPr lvl="1">
              <a:lnSpc>
                <a:spcPct val="105000"/>
              </a:lnSpc>
              <a:buSzPct val="100000"/>
              <a:buFont typeface="Wingdings" panose="05000000000000000000" pitchFamily="2" charset="2"/>
              <a:buChar char="§"/>
            </a:pPr>
            <a:r>
              <a:rPr lang="en-US" sz="2500" dirty="0"/>
              <a:t>Timing of CFs matter</a:t>
            </a:r>
          </a:p>
          <a:p>
            <a:pPr lvl="1">
              <a:lnSpc>
                <a:spcPct val="105000"/>
              </a:lnSpc>
              <a:buSzPct val="100000"/>
              <a:buFont typeface="Wingdings" panose="05000000000000000000" pitchFamily="2" charset="2"/>
              <a:buChar char="§"/>
            </a:pPr>
            <a:r>
              <a:rPr lang="en-US" sz="2500" dirty="0"/>
              <a:t>Risk matter</a:t>
            </a:r>
          </a:p>
          <a:p>
            <a:pPr lvl="1">
              <a:lnSpc>
                <a:spcPct val="105000"/>
              </a:lnSpc>
              <a:buSzPct val="100000"/>
              <a:buFont typeface="Wingdings" panose="05000000000000000000" pitchFamily="2" charset="2"/>
              <a:buChar char="§"/>
            </a:pPr>
            <a:r>
              <a:rPr lang="en-US" sz="2500" dirty="0"/>
              <a:t>Therefore…TVM principles considered in calculations</a:t>
            </a:r>
          </a:p>
          <a:p>
            <a:pPr marL="457200" lvl="1" indent="0">
              <a:lnSpc>
                <a:spcPct val="105000"/>
              </a:lnSpc>
              <a:buSzPct val="100000"/>
              <a:buNone/>
            </a:pPr>
            <a:endParaRPr lang="en-US" sz="2400" dirty="0"/>
          </a:p>
          <a:p>
            <a:pPr>
              <a:lnSpc>
                <a:spcPct val="105000"/>
              </a:lnSpc>
              <a:buSzPct val="100000"/>
              <a:buFont typeface="Arial" panose="020B0604020202020204" pitchFamily="34" charset="0"/>
              <a:buChar char="•"/>
            </a:pPr>
            <a:r>
              <a:rPr lang="en-US" sz="2500" dirty="0"/>
              <a:t>An investment can only add value if its return &gt; the required rate of return (RRR) </a:t>
            </a:r>
            <a:r>
              <a:rPr lang="en-US" sz="2500" dirty="0">
                <a:highlight>
                  <a:srgbClr val="FFFF00"/>
                </a:highlight>
              </a:rPr>
              <a:t>(if IRR &gt; WACC go for project)</a:t>
            </a:r>
          </a:p>
          <a:p>
            <a:pPr lvl="1">
              <a:lnSpc>
                <a:spcPct val="105000"/>
              </a:lnSpc>
              <a:buSzPct val="100000"/>
              <a:buFont typeface="Wingdings" panose="05000000000000000000" pitchFamily="2" charset="2"/>
              <a:buChar char="§"/>
            </a:pPr>
            <a:r>
              <a:rPr lang="en-US" sz="2500" dirty="0"/>
              <a:t>Measure its return by using various investment criteria/techniques/methods</a:t>
            </a: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spTree>
    <p:custDataLst>
      <p:tags r:id="rId1"/>
    </p:custDataLst>
    <p:extLst>
      <p:ext uri="{BB962C8B-B14F-4D97-AF65-F5344CB8AC3E}">
        <p14:creationId xmlns:p14="http://schemas.microsoft.com/office/powerpoint/2010/main" val="128674992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1143000"/>
          </a:xfrm>
        </p:spPr>
        <p:txBody>
          <a:bodyPr/>
          <a:lstStyle/>
          <a:p>
            <a:r>
              <a:rPr lang="en-US" dirty="0">
                <a:solidFill>
                  <a:schemeClr val="tx2"/>
                </a:solidFill>
              </a:rPr>
              <a:t>Approaches to decision making</a:t>
            </a:r>
          </a:p>
        </p:txBody>
      </p:sp>
      <p:sp>
        <p:nvSpPr>
          <p:cNvPr id="9221" name="Rectangle 5"/>
          <p:cNvSpPr>
            <a:spLocks noGrp="1" noChangeArrowheads="1"/>
          </p:cNvSpPr>
          <p:nvPr>
            <p:ph idx="1"/>
          </p:nvPr>
        </p:nvSpPr>
        <p:spPr>
          <a:xfrm>
            <a:off x="259976" y="990600"/>
            <a:ext cx="8655424" cy="5791200"/>
          </a:xfrm>
        </p:spPr>
        <p:txBody>
          <a:bodyPr/>
          <a:lstStyle/>
          <a:p>
            <a:pPr>
              <a:lnSpc>
                <a:spcPct val="105000"/>
              </a:lnSpc>
              <a:buSzPct val="100000"/>
              <a:buFont typeface="Arial" panose="020B0604020202020204" pitchFamily="34" charset="0"/>
              <a:buChar char="•"/>
            </a:pPr>
            <a:r>
              <a:rPr lang="en-US" b="1" dirty="0">
                <a:solidFill>
                  <a:srgbClr val="00B050"/>
                </a:solidFill>
              </a:rPr>
              <a:t>Accept-reject approach </a:t>
            </a:r>
          </a:p>
          <a:p>
            <a:pPr lvl="1">
              <a:lnSpc>
                <a:spcPct val="105000"/>
              </a:lnSpc>
              <a:buSzPct val="100000"/>
              <a:buFont typeface="Wingdings" panose="05000000000000000000" pitchFamily="2" charset="2"/>
              <a:buChar char="§"/>
            </a:pPr>
            <a:r>
              <a:rPr lang="en-US" sz="2600" dirty="0"/>
              <a:t>Have predetermined criteria</a:t>
            </a:r>
          </a:p>
          <a:p>
            <a:pPr lvl="1">
              <a:lnSpc>
                <a:spcPct val="105000"/>
              </a:lnSpc>
              <a:buSzPct val="100000"/>
              <a:buFont typeface="Wingdings" panose="05000000000000000000" pitchFamily="2" charset="2"/>
              <a:buChar char="§"/>
            </a:pPr>
            <a:r>
              <a:rPr lang="en-US" sz="2600" dirty="0"/>
              <a:t>Apply technique(s)</a:t>
            </a:r>
          </a:p>
          <a:p>
            <a:pPr lvl="1">
              <a:lnSpc>
                <a:spcPct val="105000"/>
              </a:lnSpc>
              <a:buSzPct val="100000"/>
              <a:buFont typeface="Wingdings" panose="05000000000000000000" pitchFamily="2" charset="2"/>
              <a:buChar char="§"/>
            </a:pPr>
            <a:r>
              <a:rPr lang="en-US" sz="2600" dirty="0"/>
              <a:t>Compare return with minimum acceptable/required return </a:t>
            </a:r>
          </a:p>
          <a:p>
            <a:pPr lvl="1">
              <a:lnSpc>
                <a:spcPct val="105000"/>
              </a:lnSpc>
              <a:buSzPct val="100000"/>
              <a:buFont typeface="Wingdings" panose="05000000000000000000" pitchFamily="2" charset="2"/>
              <a:buChar char="§"/>
            </a:pPr>
            <a:r>
              <a:rPr lang="en-US" sz="2600" dirty="0"/>
              <a:t>Make accept or reject decision </a:t>
            </a:r>
          </a:p>
          <a:p>
            <a:pPr marL="342900" marR="0" lvl="0" indent="-342900" algn="l" defTabSz="914400" rtl="0" eaLnBrk="0" fontAlgn="base" latinLnBrk="0" hangingPunct="0">
              <a:lnSpc>
                <a:spcPct val="105000"/>
              </a:lnSpc>
              <a:spcBef>
                <a:spcPct val="20000"/>
              </a:spcBef>
              <a:spcAft>
                <a:spcPct val="0"/>
              </a:spcAft>
              <a:buClr>
                <a:srgbClr val="1F497D"/>
              </a:buClr>
              <a:buSzPct val="100000"/>
              <a:buFont typeface="Arial" panose="020B0604020202020204" pitchFamily="34" charset="0"/>
              <a:buChar char="•"/>
              <a:tabLst/>
              <a:defRPr/>
            </a:pPr>
            <a:r>
              <a:rPr lang="en-US" b="1" dirty="0">
                <a:solidFill>
                  <a:srgbClr val="C00000"/>
                </a:solidFill>
                <a:latin typeface="Tahoma"/>
                <a:ea typeface="ＭＳ Ｐゴシック"/>
              </a:rPr>
              <a:t>Ranking </a:t>
            </a:r>
            <a:r>
              <a:rPr kumimoji="0" lang="en-US" sz="2800" b="1" i="0" u="none" strike="noStrike" kern="0" cap="none" spc="0" normalizeH="0" baseline="0" noProof="0" dirty="0">
                <a:ln>
                  <a:noFill/>
                </a:ln>
                <a:solidFill>
                  <a:srgbClr val="C00000"/>
                </a:solidFill>
                <a:effectLst/>
                <a:uLnTx/>
                <a:uFillTx/>
                <a:latin typeface="Tahoma"/>
                <a:ea typeface="ＭＳ Ｐゴシック"/>
              </a:rPr>
              <a:t>approach </a:t>
            </a:r>
          </a:p>
          <a:p>
            <a:pPr marR="0" lvl="1" defTabSz="914400" latinLnBrk="0">
              <a:lnSpc>
                <a:spcPct val="105000"/>
              </a:lnSpc>
              <a:buSzPct val="100000"/>
              <a:buFont typeface="Wingdings" panose="05000000000000000000" pitchFamily="2" charset="2"/>
              <a:buChar char="§"/>
              <a:tabLst/>
              <a:defRPr/>
            </a:pPr>
            <a:r>
              <a:rPr lang="en-US" sz="2600" dirty="0"/>
              <a:t>Useful if </a:t>
            </a:r>
            <a:r>
              <a:rPr lang="en-US" sz="2600" u="sng" dirty="0"/>
              <a:t>mutually exclusive </a:t>
            </a:r>
            <a:r>
              <a:rPr lang="en-US" sz="2600" dirty="0"/>
              <a:t>(ME) projects</a:t>
            </a:r>
          </a:p>
          <a:p>
            <a:pPr marR="0" lvl="1" defTabSz="914400" latinLnBrk="0">
              <a:lnSpc>
                <a:spcPct val="105000"/>
              </a:lnSpc>
              <a:buSzPct val="100000"/>
              <a:buFont typeface="Wingdings" panose="05000000000000000000" pitchFamily="2" charset="2"/>
              <a:buChar char="§"/>
              <a:tabLst/>
              <a:defRPr/>
            </a:pPr>
            <a:r>
              <a:rPr lang="en-US" sz="2600" dirty="0"/>
              <a:t>ME? Have many options (</a:t>
            </a:r>
            <a:r>
              <a:rPr lang="en-US" sz="2600" dirty="0" err="1"/>
              <a:t>ito</a:t>
            </a:r>
            <a:r>
              <a:rPr lang="en-US" sz="2600" dirty="0"/>
              <a:t> a particular investment or @ a particular time), evaluate all, BUT…can only select one…the BEST </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spTree>
    <p:custDataLst>
      <p:tags r:id="rId1"/>
    </p:custDataLst>
    <p:extLst>
      <p:ext uri="{BB962C8B-B14F-4D97-AF65-F5344CB8AC3E}">
        <p14:creationId xmlns:p14="http://schemas.microsoft.com/office/powerpoint/2010/main" val="79554715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1143000"/>
          </a:xfrm>
        </p:spPr>
        <p:txBody>
          <a:bodyPr/>
          <a:lstStyle/>
          <a:p>
            <a:r>
              <a:rPr lang="en-US" dirty="0">
                <a:solidFill>
                  <a:schemeClr val="tx2"/>
                </a:solidFill>
              </a:rPr>
              <a:t>Capital budgeting techniques</a:t>
            </a:r>
          </a:p>
        </p:txBody>
      </p:sp>
      <p:sp>
        <p:nvSpPr>
          <p:cNvPr id="9221" name="Rectangle 5"/>
          <p:cNvSpPr>
            <a:spLocks noGrp="1" noChangeArrowheads="1"/>
          </p:cNvSpPr>
          <p:nvPr>
            <p:ph idx="1"/>
          </p:nvPr>
        </p:nvSpPr>
        <p:spPr>
          <a:xfrm>
            <a:off x="118094" y="990600"/>
            <a:ext cx="8797306" cy="5791200"/>
          </a:xfrm>
        </p:spPr>
        <p:txBody>
          <a:bodyPr/>
          <a:lstStyle/>
          <a:p>
            <a:pPr>
              <a:lnSpc>
                <a:spcPct val="105000"/>
              </a:lnSpc>
              <a:buSzPct val="100000"/>
              <a:buFont typeface="Arial" panose="020B0604020202020204" pitchFamily="34" charset="0"/>
              <a:buChar char="•"/>
            </a:pPr>
            <a:r>
              <a:rPr lang="en-US" b="1" dirty="0">
                <a:solidFill>
                  <a:schemeClr val="accent5">
                    <a:lumMod val="75000"/>
                  </a:schemeClr>
                </a:solidFill>
              </a:rPr>
              <a:t>Non-discounted CF methods </a:t>
            </a:r>
          </a:p>
          <a:p>
            <a:pPr lvl="1">
              <a:lnSpc>
                <a:spcPct val="105000"/>
              </a:lnSpc>
              <a:buSzPct val="100000"/>
              <a:buFont typeface="Wingdings" panose="05000000000000000000" pitchFamily="2" charset="2"/>
              <a:buChar char="§"/>
            </a:pPr>
            <a:r>
              <a:rPr lang="en-US" sz="2600" dirty="0"/>
              <a:t>We will cover 2</a:t>
            </a:r>
          </a:p>
          <a:p>
            <a:pPr lvl="1">
              <a:lnSpc>
                <a:spcPct val="105000"/>
              </a:lnSpc>
              <a:buSzPct val="100000"/>
              <a:buFont typeface="Wingdings" panose="05000000000000000000" pitchFamily="2" charset="2"/>
              <a:buChar char="§"/>
            </a:pPr>
            <a:r>
              <a:rPr lang="en-US" sz="2600" dirty="0"/>
              <a:t>Average rate of return</a:t>
            </a:r>
          </a:p>
          <a:p>
            <a:pPr lvl="1">
              <a:lnSpc>
                <a:spcPct val="105000"/>
              </a:lnSpc>
              <a:buSzPct val="100000"/>
              <a:buFont typeface="Wingdings" panose="05000000000000000000" pitchFamily="2" charset="2"/>
              <a:buChar char="§"/>
            </a:pPr>
            <a:r>
              <a:rPr lang="en-US" sz="2600" dirty="0"/>
              <a:t>Payback period </a:t>
            </a:r>
          </a:p>
          <a:p>
            <a:pPr marL="342900" marR="0" lvl="0" indent="-342900" algn="l" defTabSz="914400" rtl="0" eaLnBrk="0" fontAlgn="base" latinLnBrk="0" hangingPunct="0">
              <a:lnSpc>
                <a:spcPct val="105000"/>
              </a:lnSpc>
              <a:spcBef>
                <a:spcPct val="20000"/>
              </a:spcBef>
              <a:spcAft>
                <a:spcPct val="0"/>
              </a:spcAft>
              <a:buClr>
                <a:srgbClr val="1F497D"/>
              </a:buClr>
              <a:buSzPct val="100000"/>
              <a:buFont typeface="Arial" panose="020B0604020202020204" pitchFamily="34" charset="0"/>
              <a:buChar char="•"/>
              <a:tabLst/>
              <a:defRPr/>
            </a:pPr>
            <a:r>
              <a:rPr lang="en-US" b="1" dirty="0">
                <a:solidFill>
                  <a:srgbClr val="FFC000"/>
                </a:solidFill>
                <a:latin typeface="Tahoma"/>
                <a:ea typeface="ＭＳ Ｐゴシック"/>
              </a:rPr>
              <a:t>Discounted CF methods</a:t>
            </a:r>
            <a:r>
              <a:rPr kumimoji="0" lang="en-US" sz="2800" b="1" i="0" u="none" strike="noStrike" kern="0" cap="none" spc="0" normalizeH="0" baseline="0" noProof="0" dirty="0">
                <a:ln>
                  <a:noFill/>
                </a:ln>
                <a:solidFill>
                  <a:srgbClr val="FFC000"/>
                </a:solidFill>
                <a:effectLst/>
                <a:uLnTx/>
                <a:uFillTx/>
                <a:latin typeface="Tahoma"/>
                <a:ea typeface="ＭＳ Ｐゴシック"/>
              </a:rPr>
              <a:t> </a:t>
            </a:r>
          </a:p>
          <a:p>
            <a:pPr marR="0" lvl="1" defTabSz="914400" latinLnBrk="0">
              <a:lnSpc>
                <a:spcPct val="105000"/>
              </a:lnSpc>
              <a:buSzPct val="100000"/>
              <a:buFont typeface="Wingdings" panose="05000000000000000000" pitchFamily="2" charset="2"/>
              <a:buChar char="§"/>
              <a:tabLst/>
              <a:defRPr/>
            </a:pPr>
            <a:r>
              <a:rPr lang="en-US" sz="2600" dirty="0"/>
              <a:t>We will cover 4</a:t>
            </a:r>
          </a:p>
          <a:p>
            <a:pPr marR="0" lvl="1" defTabSz="914400" latinLnBrk="0">
              <a:lnSpc>
                <a:spcPct val="105000"/>
              </a:lnSpc>
              <a:buSzPct val="100000"/>
              <a:buFont typeface="Wingdings" panose="05000000000000000000" pitchFamily="2" charset="2"/>
              <a:buChar char="§"/>
              <a:tabLst/>
              <a:defRPr/>
            </a:pPr>
            <a:r>
              <a:rPr lang="en-US" sz="2600" dirty="0"/>
              <a:t>Discounted payback period</a:t>
            </a:r>
          </a:p>
          <a:p>
            <a:pPr marR="0" lvl="1" defTabSz="914400" latinLnBrk="0">
              <a:lnSpc>
                <a:spcPct val="105000"/>
              </a:lnSpc>
              <a:buSzPct val="100000"/>
              <a:buFont typeface="Wingdings" panose="05000000000000000000" pitchFamily="2" charset="2"/>
              <a:buChar char="§"/>
              <a:tabLst/>
              <a:defRPr/>
            </a:pPr>
            <a:r>
              <a:rPr lang="en-US" sz="2600" dirty="0"/>
              <a:t>Net present value (NPV)</a:t>
            </a:r>
          </a:p>
          <a:p>
            <a:pPr marR="0" lvl="1" defTabSz="914400" latinLnBrk="0">
              <a:lnSpc>
                <a:spcPct val="105000"/>
              </a:lnSpc>
              <a:buSzPct val="100000"/>
              <a:buFont typeface="Wingdings" panose="05000000000000000000" pitchFamily="2" charset="2"/>
              <a:buChar char="§"/>
              <a:tabLst/>
              <a:defRPr/>
            </a:pPr>
            <a:r>
              <a:rPr lang="en-US" sz="2600" dirty="0"/>
              <a:t>Profitability index (PI)</a:t>
            </a:r>
          </a:p>
          <a:p>
            <a:pPr marR="0" lvl="1" defTabSz="914400" latinLnBrk="0">
              <a:lnSpc>
                <a:spcPct val="105000"/>
              </a:lnSpc>
              <a:buSzPct val="100000"/>
              <a:buFont typeface="Wingdings" panose="05000000000000000000" pitchFamily="2" charset="2"/>
              <a:buChar char="§"/>
              <a:tabLst/>
              <a:defRPr/>
            </a:pPr>
            <a:r>
              <a:rPr lang="en-US" sz="2600" dirty="0"/>
              <a:t>Internal rate of return (IRR)</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sp>
        <p:nvSpPr>
          <p:cNvPr id="4" name="Oval 3">
            <a:extLst>
              <a:ext uri="{FF2B5EF4-FFF2-40B4-BE49-F238E27FC236}">
                <a16:creationId xmlns:a16="http://schemas.microsoft.com/office/drawing/2014/main" id="{104BC0AC-358D-0694-AEBE-4B6A1030C777}"/>
              </a:ext>
            </a:extLst>
          </p:cNvPr>
          <p:cNvSpPr/>
          <p:nvPr/>
        </p:nvSpPr>
        <p:spPr bwMode="auto">
          <a:xfrm>
            <a:off x="5090315" y="1610155"/>
            <a:ext cx="3935591" cy="2342291"/>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solidFill>
                  <a:srgbClr val="FF0000"/>
                </a:solidFill>
                <a:ea typeface="ＭＳ Ｐゴシック" pitchFamily="1" charset="-128"/>
              </a:rPr>
              <a:t>Based on </a:t>
            </a:r>
            <a:r>
              <a:rPr lang="en-US" sz="2400" dirty="0" err="1">
                <a:solidFill>
                  <a:srgbClr val="FF0000"/>
                </a:solidFill>
                <a:ea typeface="ＭＳ Ｐゴシック" pitchFamily="1" charset="-128"/>
              </a:rPr>
              <a:t>prev</a:t>
            </a:r>
            <a:r>
              <a:rPr lang="en-US" sz="2400" dirty="0">
                <a:solidFill>
                  <a:srgbClr val="FF0000"/>
                </a:solidFill>
                <a:ea typeface="ＭＳ Ｐゴシック" pitchFamily="1" charset="-128"/>
              </a:rPr>
              <a:t> </a:t>
            </a:r>
            <a:r>
              <a:rPr lang="en-US" sz="2400" dirty="0" err="1">
                <a:solidFill>
                  <a:srgbClr val="FF0000"/>
                </a:solidFill>
                <a:ea typeface="ＭＳ Ｐゴシック" pitchFamily="1" charset="-128"/>
              </a:rPr>
              <a:t>chpts</a:t>
            </a:r>
            <a:r>
              <a:rPr lang="en-US" sz="2400" dirty="0">
                <a:solidFill>
                  <a:srgbClr val="FF0000"/>
                </a:solidFill>
                <a:ea typeface="ＭＳ Ｐゴシック" pitchFamily="1" charset="-128"/>
              </a:rPr>
              <a:t>…do you know the difference? THINK ABOUT IT…</a:t>
            </a:r>
            <a:endParaRPr kumimoji="0" lang="en-ZA" sz="2400" b="0" i="0" u="none" strike="noStrike" cap="none" normalizeH="0" baseline="0" dirty="0">
              <a:ln>
                <a:noFill/>
              </a:ln>
              <a:solidFill>
                <a:srgbClr val="FF0000"/>
              </a:solidFill>
              <a:effectLst/>
              <a:latin typeface="Arial" charset="0"/>
              <a:ea typeface="ＭＳ Ｐゴシック" pitchFamily="1" charset="-128"/>
            </a:endParaRPr>
          </a:p>
        </p:txBody>
      </p:sp>
      <p:sp>
        <p:nvSpPr>
          <p:cNvPr id="2" name="Oval 1">
            <a:extLst>
              <a:ext uri="{FF2B5EF4-FFF2-40B4-BE49-F238E27FC236}">
                <a16:creationId xmlns:a16="http://schemas.microsoft.com/office/drawing/2014/main" id="{7E361F1D-B02E-1831-2558-F9113716A5B6}"/>
              </a:ext>
            </a:extLst>
          </p:cNvPr>
          <p:cNvSpPr/>
          <p:nvPr/>
        </p:nvSpPr>
        <p:spPr bwMode="auto">
          <a:xfrm>
            <a:off x="3200400" y="1447800"/>
            <a:ext cx="2286000"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b="1" dirty="0">
                <a:solidFill>
                  <a:schemeClr val="accent1">
                    <a:lumMod val="75000"/>
                  </a:schemeClr>
                </a:solidFill>
                <a:ea typeface="ＭＳ Ｐゴシック" pitchFamily="1" charset="-128"/>
              </a:rPr>
              <a:t>#1 and #2</a:t>
            </a:r>
            <a:endParaRPr kumimoji="0" lang="en-ZA" sz="2400" b="1" i="0" u="none" strike="noStrike" cap="none" normalizeH="0" baseline="0" dirty="0">
              <a:ln>
                <a:noFill/>
              </a:ln>
              <a:solidFill>
                <a:schemeClr val="accent1">
                  <a:lumMod val="75000"/>
                </a:schemeClr>
              </a:solidFill>
              <a:effectLst/>
              <a:latin typeface="Arial" charset="0"/>
              <a:ea typeface="ＭＳ Ｐゴシック" pitchFamily="1" charset="-128"/>
            </a:endParaRPr>
          </a:p>
        </p:txBody>
      </p:sp>
      <p:sp>
        <p:nvSpPr>
          <p:cNvPr id="5" name="Oval 4">
            <a:extLst>
              <a:ext uri="{FF2B5EF4-FFF2-40B4-BE49-F238E27FC236}">
                <a16:creationId xmlns:a16="http://schemas.microsoft.com/office/drawing/2014/main" id="{568EAEE7-6D54-15E1-179B-C326A658A208}"/>
              </a:ext>
            </a:extLst>
          </p:cNvPr>
          <p:cNvSpPr/>
          <p:nvPr/>
        </p:nvSpPr>
        <p:spPr bwMode="auto">
          <a:xfrm>
            <a:off x="3276600" y="3429000"/>
            <a:ext cx="2286000"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b="1" dirty="0">
                <a:solidFill>
                  <a:srgbClr val="FFC000"/>
                </a:solidFill>
                <a:ea typeface="ＭＳ Ｐゴシック" pitchFamily="1" charset="-128"/>
              </a:rPr>
              <a:t>#1 to #4</a:t>
            </a:r>
            <a:endParaRPr kumimoji="0" lang="en-ZA" sz="2400" b="1" i="0" u="none" strike="noStrike" cap="none" normalizeH="0" baseline="0" dirty="0">
              <a:ln>
                <a:noFill/>
              </a:ln>
              <a:solidFill>
                <a:srgbClr val="FFC000"/>
              </a:solidFill>
              <a:effectLst/>
              <a:latin typeface="Arial" charset="0"/>
              <a:ea typeface="ＭＳ Ｐゴシック" pitchFamily="1" charset="-128"/>
            </a:endParaRPr>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34C10F99-9069-88D6-A695-684614043E94}"/>
                  </a:ext>
                </a:extLst>
              </p14:cNvPr>
              <p14:cNvContentPartPr/>
              <p14:nvPr/>
            </p14:nvContentPartPr>
            <p14:xfrm>
              <a:off x="6038606" y="2190919"/>
              <a:ext cx="894960" cy="555840"/>
            </p14:xfrm>
          </p:contentPart>
        </mc:Choice>
        <mc:Fallback>
          <p:pic>
            <p:nvPicPr>
              <p:cNvPr id="6" name="Ink 5">
                <a:extLst>
                  <a:ext uri="{FF2B5EF4-FFF2-40B4-BE49-F238E27FC236}">
                    <a16:creationId xmlns:a16="http://schemas.microsoft.com/office/drawing/2014/main" id="{34C10F99-9069-88D6-A695-684614043E94}"/>
                  </a:ext>
                </a:extLst>
              </p:cNvPr>
              <p:cNvPicPr/>
              <p:nvPr/>
            </p:nvPicPr>
            <p:blipFill>
              <a:blip r:embed="rId5"/>
              <a:stretch>
                <a:fillRect/>
              </a:stretch>
            </p:blipFill>
            <p:spPr>
              <a:xfrm>
                <a:off x="6032486" y="2184799"/>
                <a:ext cx="907200" cy="568080"/>
              </a:xfrm>
              <a:prstGeom prst="rect">
                <a:avLst/>
              </a:prstGeom>
            </p:spPr>
          </p:pic>
        </mc:Fallback>
      </mc:AlternateContent>
    </p:spTree>
    <p:custDataLst>
      <p:tags r:id="rId1"/>
    </p:custDataLst>
    <p:extLst>
      <p:ext uri="{BB962C8B-B14F-4D97-AF65-F5344CB8AC3E}">
        <p14:creationId xmlns:p14="http://schemas.microsoft.com/office/powerpoint/2010/main" val="56506113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1143000"/>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118094" y="990600"/>
            <a:ext cx="8797306" cy="5791200"/>
          </a:xfrm>
        </p:spPr>
        <p:txBody>
          <a:bodyPr/>
          <a:lstStyle/>
          <a:p>
            <a:pPr>
              <a:lnSpc>
                <a:spcPct val="105000"/>
              </a:lnSpc>
              <a:buSzPct val="100000"/>
              <a:buFont typeface="Arial" panose="020B0604020202020204" pitchFamily="34" charset="0"/>
              <a:buChar char="•"/>
            </a:pPr>
            <a:r>
              <a:rPr lang="en-US" dirty="0"/>
              <a:t>To evaluate a project, we need its CF</a:t>
            </a:r>
            <a:r>
              <a:rPr lang="en-US" baseline="-25000" dirty="0"/>
              <a:t>0</a:t>
            </a:r>
            <a:r>
              <a:rPr lang="en-US" dirty="0"/>
              <a:t> (II), annual net cash flows (operating cash flows) and terminal CF as well as the discount rate </a:t>
            </a:r>
          </a:p>
          <a:p>
            <a:pPr lvl="1">
              <a:lnSpc>
                <a:spcPct val="105000"/>
              </a:lnSpc>
              <a:buSzPct val="100000"/>
              <a:buFont typeface="Wingdings" panose="05000000000000000000" pitchFamily="2" charset="2"/>
              <a:buChar char="§"/>
            </a:pPr>
            <a:r>
              <a:rPr lang="en-US" sz="2600" dirty="0"/>
              <a:t>Remember how to calculate the CFs? Chapter 12…</a:t>
            </a:r>
          </a:p>
          <a:p>
            <a:pPr lvl="1">
              <a:lnSpc>
                <a:spcPct val="105000"/>
              </a:lnSpc>
              <a:buSzPct val="100000"/>
              <a:buFont typeface="Wingdings" panose="05000000000000000000" pitchFamily="2" charset="2"/>
              <a:buChar char="§"/>
            </a:pPr>
            <a:r>
              <a:rPr lang="en-US" sz="2600" dirty="0"/>
              <a:t>A reminder, for the annual net cash flows: </a:t>
            </a:r>
          </a:p>
          <a:p>
            <a:pPr marL="457200" lvl="1" indent="0">
              <a:lnSpc>
                <a:spcPct val="105000"/>
              </a:lnSpc>
              <a:buSzPct val="100000"/>
              <a:buNone/>
            </a:pPr>
            <a:r>
              <a:rPr lang="en-US" sz="2600" dirty="0"/>
              <a:t>NOPAT + depreciation </a:t>
            </a:r>
          </a:p>
          <a:p>
            <a:pPr marL="457200" lvl="1" indent="0">
              <a:lnSpc>
                <a:spcPct val="105000"/>
              </a:lnSpc>
              <a:buSzPct val="100000"/>
              <a:buNone/>
            </a:pPr>
            <a:r>
              <a:rPr lang="en-US" sz="2600" dirty="0"/>
              <a:t>OR </a:t>
            </a:r>
          </a:p>
          <a:p>
            <a:pPr marL="457200" lvl="1" indent="0">
              <a:lnSpc>
                <a:spcPct val="105000"/>
              </a:lnSpc>
              <a:buSzPct val="100000"/>
              <a:buNone/>
            </a:pPr>
            <a:r>
              <a:rPr lang="en-US" sz="2600" dirty="0"/>
              <a:t>EBIT + depreciation – tax</a:t>
            </a:r>
          </a:p>
          <a:p>
            <a:pPr lvl="1">
              <a:lnSpc>
                <a:spcPct val="105000"/>
              </a:lnSpc>
              <a:buSzPct val="100000"/>
              <a:buFont typeface="Wingdings" panose="05000000000000000000" pitchFamily="2" charset="2"/>
              <a:buChar char="§"/>
            </a:pPr>
            <a:endParaRPr lang="en-US" sz="1800" dirty="0"/>
          </a:p>
          <a:p>
            <a:pPr marL="342900" marR="0" lvl="0" indent="-342900" algn="l" defTabSz="914400" rtl="0" eaLnBrk="0" fontAlgn="base" latinLnBrk="0" hangingPunct="0">
              <a:lnSpc>
                <a:spcPct val="105000"/>
              </a:lnSpc>
              <a:spcBef>
                <a:spcPct val="20000"/>
              </a:spcBef>
              <a:spcAft>
                <a:spcPct val="0"/>
              </a:spcAft>
              <a:buClr>
                <a:srgbClr val="1F497D"/>
              </a:buClr>
              <a:buSzPct val="100000"/>
              <a:buFont typeface="Arial" panose="020B0604020202020204" pitchFamily="34" charset="0"/>
              <a:buChar char="•"/>
              <a:tabLst/>
              <a:defRPr/>
            </a:pPr>
            <a:r>
              <a:rPr lang="en-US" dirty="0">
                <a:solidFill>
                  <a:srgbClr val="FF0000"/>
                </a:solidFill>
                <a:latin typeface="Tahoma"/>
                <a:ea typeface="ＭＳ Ｐゴシック"/>
              </a:rPr>
              <a:t>Let’s discuss/explain/work through all 6 investment criteria with an example…</a:t>
            </a:r>
          </a:p>
          <a:p>
            <a:pPr marL="857250" lvl="1" indent="-457200">
              <a:lnSpc>
                <a:spcPct val="105000"/>
              </a:lnSpc>
              <a:buClr>
                <a:srgbClr val="1F497D"/>
              </a:buClr>
              <a:buSzPct val="100000"/>
              <a:buFont typeface="Wingdings" panose="05000000000000000000" pitchFamily="2" charset="2"/>
              <a:buChar char="§"/>
              <a:defRPr/>
            </a:pPr>
            <a:r>
              <a:rPr kumimoji="0" lang="en-US" b="0" i="0" u="none" strike="noStrike" kern="0" cap="none" spc="0" normalizeH="0" baseline="0" noProof="0" dirty="0">
                <a:ln>
                  <a:noFill/>
                </a:ln>
                <a:solidFill>
                  <a:srgbClr val="FF0000"/>
                </a:solidFill>
                <a:effectLst/>
                <a:uLnTx/>
                <a:uFillTx/>
                <a:latin typeface="Tahoma"/>
                <a:ea typeface="ＭＳ Ｐゴシック"/>
              </a:rPr>
              <a:t>The CFs </a:t>
            </a:r>
            <a:r>
              <a:rPr lang="en-US" dirty="0">
                <a:solidFill>
                  <a:srgbClr val="FF0000"/>
                </a:solidFill>
                <a:latin typeface="Tahoma"/>
                <a:ea typeface="ＭＳ Ｐゴシック"/>
              </a:rPr>
              <a:t>have been calculated (as per Ch 12)</a:t>
            </a:r>
            <a:endParaRPr kumimoji="0" lang="en-US" b="0" i="0" u="none" strike="noStrike" kern="0" cap="none" spc="0" normalizeH="0" baseline="0" noProof="0" dirty="0">
              <a:ln>
                <a:noFill/>
              </a:ln>
              <a:solidFill>
                <a:srgbClr val="FF0000"/>
              </a:solidFill>
              <a:effectLst/>
              <a:uLnTx/>
              <a:uFillTx/>
              <a:latin typeface="Tahoma"/>
              <a:ea typeface="ＭＳ Ｐゴシック"/>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spTree>
    <p:custDataLst>
      <p:tags r:id="rId1"/>
    </p:custDataLst>
    <p:extLst>
      <p:ext uri="{BB962C8B-B14F-4D97-AF65-F5344CB8AC3E}">
        <p14:creationId xmlns:p14="http://schemas.microsoft.com/office/powerpoint/2010/main" val="426884390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1143000"/>
          </a:xfrm>
        </p:spPr>
        <p:txBody>
          <a:bodyPr/>
          <a:lstStyle/>
          <a:p>
            <a:r>
              <a:rPr lang="en-US" dirty="0">
                <a:solidFill>
                  <a:schemeClr val="tx2"/>
                </a:solidFill>
              </a:rPr>
              <a:t>Capital budgeting techniques (cont.)</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pic>
        <p:nvPicPr>
          <p:cNvPr id="8" name="Content Placeholder 7">
            <a:extLst>
              <a:ext uri="{FF2B5EF4-FFF2-40B4-BE49-F238E27FC236}">
                <a16:creationId xmlns:a16="http://schemas.microsoft.com/office/drawing/2014/main" id="{AE9ED925-DB26-BFA4-CBCC-F1D131664E8B}"/>
              </a:ext>
            </a:extLst>
          </p:cNvPr>
          <p:cNvPicPr>
            <a:picLocks noGrp="1" noChangeAspect="1"/>
          </p:cNvPicPr>
          <p:nvPr>
            <p:ph idx="1"/>
          </p:nvPr>
        </p:nvPicPr>
        <p:blipFill>
          <a:blip r:embed="rId4"/>
          <a:stretch>
            <a:fillRect/>
          </a:stretch>
        </p:blipFill>
        <p:spPr>
          <a:xfrm>
            <a:off x="266700" y="1219200"/>
            <a:ext cx="8610600" cy="3352800"/>
          </a:xfrm>
        </p:spPr>
      </p:pic>
      <p:sp>
        <p:nvSpPr>
          <p:cNvPr id="12" name="TextBox 11">
            <a:extLst>
              <a:ext uri="{FF2B5EF4-FFF2-40B4-BE49-F238E27FC236}">
                <a16:creationId xmlns:a16="http://schemas.microsoft.com/office/drawing/2014/main" id="{94C9192F-EAAA-EB8B-CACB-CBA5B3665F1A}"/>
              </a:ext>
            </a:extLst>
          </p:cNvPr>
          <p:cNvSpPr txBox="1"/>
          <p:nvPr/>
        </p:nvSpPr>
        <p:spPr>
          <a:xfrm>
            <a:off x="266700" y="4343400"/>
            <a:ext cx="8420100" cy="2123658"/>
          </a:xfrm>
          <a:prstGeom prst="rect">
            <a:avLst/>
          </a:prstGeom>
          <a:noFill/>
        </p:spPr>
        <p:txBody>
          <a:bodyPr wrap="square">
            <a:spAutoFit/>
          </a:bodyPr>
          <a:lstStyle/>
          <a:p>
            <a:pPr marL="342900" marR="0" lvl="0" indent="-342900" algn="just"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just"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Note: Firm desires projects to be paid back (costs covered) within a 3-year period </a:t>
            </a:r>
          </a:p>
          <a:p>
            <a:pPr marL="342900" marR="0" lvl="0" indent="-342900" algn="just"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endParaRPr lang="en-US" sz="2200" kern="0" dirty="0">
              <a:solidFill>
                <a:prstClr val="black"/>
              </a:solidFill>
              <a:latin typeface="Tahoma"/>
              <a:ea typeface="ＭＳ Ｐゴシック"/>
            </a:endParaRPr>
          </a:p>
          <a:p>
            <a:pPr marL="342900" marR="0" lvl="0" indent="-342900" algn="just"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endParaRPr kumimoji="0" lang="en-US" sz="22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just"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Reminder: RRR and discount rate are the same thing</a:t>
            </a:r>
          </a:p>
        </p:txBody>
      </p:sp>
    </p:spTree>
    <p:custDataLst>
      <p:tags r:id="rId1"/>
    </p:custDataLst>
    <p:extLst>
      <p:ext uri="{BB962C8B-B14F-4D97-AF65-F5344CB8AC3E}">
        <p14:creationId xmlns:p14="http://schemas.microsoft.com/office/powerpoint/2010/main" val="195219767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6187324"/>
          </a:xfrm>
        </p:spPr>
        <p:txBody>
          <a:bodyPr/>
          <a:lstStyle/>
          <a:p>
            <a:pPr>
              <a:lnSpc>
                <a:spcPct val="100000"/>
              </a:lnSpc>
              <a:spcBef>
                <a:spcPts val="0"/>
              </a:spcBef>
              <a:buSzPct val="100000"/>
              <a:buFont typeface="Arial" panose="020B0604020202020204" pitchFamily="34" charset="0"/>
              <a:buChar char="•"/>
            </a:pPr>
            <a:r>
              <a:rPr lang="en-US" sz="2400" dirty="0">
                <a:latin typeface="+mj-lt"/>
              </a:rPr>
              <a:t>Average rate of return</a:t>
            </a:r>
          </a:p>
          <a:p>
            <a:pPr lvl="1">
              <a:lnSpc>
                <a:spcPct val="100000"/>
              </a:lnSpc>
              <a:spcBef>
                <a:spcPts val="0"/>
              </a:spcBef>
              <a:buSzPct val="100000"/>
              <a:buFont typeface="Wingdings" panose="05000000000000000000" pitchFamily="2" charset="2"/>
              <a:buChar char="§"/>
            </a:pPr>
            <a:r>
              <a:rPr lang="en-US" sz="2400" dirty="0">
                <a:latin typeface="+mj-lt"/>
              </a:rPr>
              <a:t>Initial screening</a:t>
            </a:r>
          </a:p>
          <a:p>
            <a:pPr lvl="1">
              <a:lnSpc>
                <a:spcPct val="100000"/>
              </a:lnSpc>
              <a:spcBef>
                <a:spcPts val="0"/>
              </a:spcBef>
              <a:buSzPct val="100000"/>
              <a:buFont typeface="Wingdings" panose="05000000000000000000" pitchFamily="2" charset="2"/>
              <a:buChar char="§"/>
            </a:pPr>
            <a:r>
              <a:rPr lang="en-US" sz="2400" dirty="0">
                <a:latin typeface="+mj-lt"/>
              </a:rPr>
              <a:t>Average rate of return = Average earnings after taxes / Average investment</a:t>
            </a:r>
          </a:p>
          <a:p>
            <a:pPr>
              <a:lnSpc>
                <a:spcPct val="100000"/>
              </a:lnSpc>
              <a:spcBef>
                <a:spcPts val="0"/>
              </a:spcBef>
              <a:buSzPct val="100000"/>
              <a:buFont typeface="Arial" panose="020B0604020202020204" pitchFamily="34" charset="0"/>
              <a:buChar char="•"/>
            </a:pPr>
            <a:endParaRPr lang="en-US" sz="1200" dirty="0">
              <a:latin typeface="+mj-lt"/>
            </a:endParaRPr>
          </a:p>
          <a:p>
            <a:pPr>
              <a:lnSpc>
                <a:spcPct val="100000"/>
              </a:lnSpc>
              <a:spcBef>
                <a:spcPts val="0"/>
              </a:spcBef>
              <a:buSzPct val="100000"/>
              <a:buFont typeface="Arial" panose="020B0604020202020204" pitchFamily="34" charset="0"/>
              <a:buChar char="•"/>
            </a:pPr>
            <a:r>
              <a:rPr lang="en-US" sz="2400" dirty="0">
                <a:latin typeface="+mj-lt"/>
              </a:rPr>
              <a:t>Our example the average investment of both A and B is:    25 000 / 2 = 12 500</a:t>
            </a:r>
          </a:p>
          <a:p>
            <a:pPr>
              <a:lnSpc>
                <a:spcPct val="100000"/>
              </a:lnSpc>
              <a:spcBef>
                <a:spcPts val="0"/>
              </a:spcBef>
              <a:buSzPct val="100000"/>
              <a:buFont typeface="Arial" panose="020B0604020202020204" pitchFamily="34" charset="0"/>
              <a:buChar char="•"/>
            </a:pPr>
            <a:r>
              <a:rPr lang="en-US" sz="2400" dirty="0">
                <a:latin typeface="+mj-lt"/>
              </a:rPr>
              <a:t>Assume the average earnings after taxes for A = R4 800 and for B = R4 250</a:t>
            </a:r>
          </a:p>
          <a:p>
            <a:pPr>
              <a:lnSpc>
                <a:spcPct val="100000"/>
              </a:lnSpc>
              <a:spcBef>
                <a:spcPts val="0"/>
              </a:spcBef>
              <a:buSzPct val="100000"/>
              <a:buFont typeface="Arial" panose="020B0604020202020204" pitchFamily="34" charset="0"/>
              <a:buChar char="•"/>
            </a:pPr>
            <a:endParaRPr kumimoji="0" lang="en-US" sz="1200" b="0" i="0" u="none" strike="noStrike" kern="0" cap="none" spc="0" normalizeH="0" baseline="0" noProof="0" dirty="0">
              <a:ln>
                <a:noFill/>
              </a:ln>
              <a:solidFill>
                <a:prstClr val="black"/>
              </a:solidFill>
              <a:effectLst/>
              <a:uLnTx/>
              <a:uFillTx/>
              <a:latin typeface="+mj-lt"/>
              <a:ea typeface="ＭＳ Ｐゴシック"/>
            </a:endParaRPr>
          </a:p>
          <a:p>
            <a:pPr marL="0" marR="0" lvl="0" indent="0" algn="l" defTabSz="914400" rtl="0" eaLnBrk="0" fontAlgn="base" latinLnBrk="0" hangingPunct="0">
              <a:lnSpc>
                <a:spcPct val="100000"/>
              </a:lnSpc>
              <a:spcBef>
                <a:spcPts val="0"/>
              </a:spcBef>
              <a:spcAft>
                <a:spcPct val="0"/>
              </a:spcAft>
              <a:buClr>
                <a:srgbClr val="1F497D"/>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	Average rate of return </a:t>
            </a:r>
            <a:r>
              <a:rPr kumimoji="0" lang="en-US" sz="2400" b="0" i="0" u="none" strike="noStrike" kern="0" cap="none" spc="0" normalizeH="0" baseline="0" noProof="0" dirty="0">
                <a:ln>
                  <a:noFill/>
                </a:ln>
                <a:solidFill>
                  <a:prstClr val="black"/>
                </a:solidFill>
                <a:effectLst/>
                <a:highlight>
                  <a:srgbClr val="00FF00"/>
                </a:highlight>
                <a:uLnTx/>
                <a:uFillTx/>
                <a:latin typeface="+mj-lt"/>
                <a:ea typeface="ＭＳ Ｐゴシック"/>
              </a:rPr>
              <a:t>A</a:t>
            </a:r>
            <a:r>
              <a:rPr kumimoji="0" lang="en-US" sz="2400" b="0" i="0" u="none" strike="noStrike" kern="0" cap="none" spc="0" normalizeH="0" baseline="0" noProof="0" dirty="0">
                <a:ln>
                  <a:noFill/>
                </a:ln>
                <a:solidFill>
                  <a:prstClr val="black"/>
                </a:solidFill>
                <a:effectLst/>
                <a:uLnTx/>
                <a:uFillTx/>
                <a:latin typeface="+mj-lt"/>
                <a:ea typeface="ＭＳ Ｐゴシック"/>
              </a:rPr>
              <a:t> 	= 4 800/ 12 500</a:t>
            </a:r>
          </a:p>
          <a:p>
            <a:pPr marL="914400" marR="0" lvl="2" indent="0" algn="l" defTabSz="914400" rtl="0" eaLnBrk="0" fontAlgn="base" latinLnBrk="0" hangingPunct="0">
              <a:lnSpc>
                <a:spcPct val="100000"/>
              </a:lnSpc>
              <a:spcBef>
                <a:spcPts val="0"/>
              </a:spcBef>
              <a:spcAft>
                <a:spcPct val="0"/>
              </a:spcAft>
              <a:buClr>
                <a:srgbClr val="1F497D"/>
              </a:buClr>
              <a:buSzPct val="100000"/>
              <a:buFont typeface="Times" charset="0"/>
              <a:buNone/>
              <a:tabLst/>
              <a:defRPr/>
            </a:pPr>
            <a:r>
              <a:rPr kumimoji="0" lang="en-US" b="0" i="0" u="none" strike="noStrike" kern="0" cap="none" spc="0" normalizeH="0" baseline="0" noProof="0" dirty="0">
                <a:ln>
                  <a:noFill/>
                </a:ln>
                <a:solidFill>
                  <a:prstClr val="black"/>
                </a:solidFill>
                <a:effectLst/>
                <a:uLnTx/>
                <a:uFillTx/>
                <a:latin typeface="+mj-lt"/>
                <a:ea typeface="ＭＳ Ｐゴシック"/>
              </a:rPr>
              <a:t>				</a:t>
            </a:r>
            <a:r>
              <a:rPr kumimoji="0" lang="en-US" b="0" i="0" u="none" strike="noStrike" kern="0" cap="none" spc="0" normalizeH="0" baseline="0" noProof="0" dirty="0">
                <a:ln>
                  <a:noFill/>
                </a:ln>
                <a:solidFill>
                  <a:prstClr val="black"/>
                </a:solidFill>
                <a:effectLst/>
                <a:highlight>
                  <a:srgbClr val="00FF00"/>
                </a:highlight>
                <a:uLnTx/>
                <a:uFillTx/>
                <a:latin typeface="+mj-lt"/>
                <a:ea typeface="ＭＳ Ｐゴシック"/>
              </a:rPr>
              <a:t>= 38.40%</a:t>
            </a:r>
          </a:p>
          <a:p>
            <a:pPr marL="342900" marR="0" lvl="0" indent="-342900" algn="l"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a:p>
            <a:pPr marL="0" marR="0" lvl="0" indent="0" algn="l" defTabSz="914400" rtl="0" eaLnBrk="0" fontAlgn="base" latinLnBrk="0" hangingPunct="0">
              <a:lnSpc>
                <a:spcPct val="100000"/>
              </a:lnSpc>
              <a:spcBef>
                <a:spcPts val="0"/>
              </a:spcBef>
              <a:spcAft>
                <a:spcPct val="0"/>
              </a:spcAft>
              <a:buClr>
                <a:srgbClr val="1F497D"/>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	Average rate of return </a:t>
            </a:r>
            <a:r>
              <a:rPr kumimoji="0" lang="en-US" sz="2400" b="0" i="0" u="none" strike="noStrike" kern="0" cap="none" spc="0" normalizeH="0" baseline="0" noProof="0" dirty="0">
                <a:ln>
                  <a:noFill/>
                </a:ln>
                <a:solidFill>
                  <a:prstClr val="black"/>
                </a:solidFill>
                <a:effectLst/>
                <a:highlight>
                  <a:srgbClr val="00FFFF"/>
                </a:highlight>
                <a:uLnTx/>
                <a:uFillTx/>
                <a:latin typeface="+mj-lt"/>
                <a:ea typeface="ＭＳ Ｐゴシック"/>
              </a:rPr>
              <a:t>B</a:t>
            </a:r>
            <a:r>
              <a:rPr kumimoji="0" lang="en-US" sz="2400" b="0" i="0" u="none" strike="noStrike" kern="0" cap="none" spc="0" normalizeH="0" baseline="0" noProof="0" dirty="0">
                <a:ln>
                  <a:noFill/>
                </a:ln>
                <a:solidFill>
                  <a:prstClr val="black"/>
                </a:solidFill>
                <a:effectLst/>
                <a:uLnTx/>
                <a:uFillTx/>
                <a:latin typeface="+mj-lt"/>
                <a:ea typeface="ＭＳ Ｐゴシック"/>
              </a:rPr>
              <a:t> 	= 4 250/ 12 500</a:t>
            </a:r>
          </a:p>
          <a:p>
            <a:pPr marL="914400" marR="0" lvl="2" indent="0" algn="l" defTabSz="914400" rtl="0" eaLnBrk="0" fontAlgn="base" latinLnBrk="0" hangingPunct="0">
              <a:lnSpc>
                <a:spcPct val="100000"/>
              </a:lnSpc>
              <a:spcBef>
                <a:spcPts val="0"/>
              </a:spcBef>
              <a:spcAft>
                <a:spcPct val="0"/>
              </a:spcAft>
              <a:buClr>
                <a:srgbClr val="1F497D"/>
              </a:buClr>
              <a:buSzPct val="100000"/>
              <a:buFont typeface="Times" charset="0"/>
              <a:buNone/>
              <a:tabLst/>
              <a:defRPr/>
            </a:pPr>
            <a:r>
              <a:rPr kumimoji="0" lang="en-US" b="0" i="0" u="none" strike="noStrike" kern="0" cap="none" spc="0" normalizeH="0" baseline="0" noProof="0" dirty="0">
                <a:ln>
                  <a:noFill/>
                </a:ln>
                <a:solidFill>
                  <a:prstClr val="black"/>
                </a:solidFill>
                <a:effectLst/>
                <a:uLnTx/>
                <a:uFillTx/>
                <a:latin typeface="+mj-lt"/>
                <a:ea typeface="ＭＳ Ｐゴシック"/>
              </a:rPr>
              <a:t>				</a:t>
            </a:r>
            <a:r>
              <a:rPr kumimoji="0" lang="en-US" b="0" i="0" u="none" strike="noStrike" kern="0" cap="none" spc="0" normalizeH="0" baseline="0" noProof="0" dirty="0">
                <a:ln>
                  <a:noFill/>
                </a:ln>
                <a:solidFill>
                  <a:prstClr val="black"/>
                </a:solidFill>
                <a:effectLst/>
                <a:highlight>
                  <a:srgbClr val="00FFFF"/>
                </a:highlight>
                <a:uLnTx/>
                <a:uFillTx/>
                <a:latin typeface="+mj-lt"/>
                <a:ea typeface="ＭＳ Ｐゴシック"/>
              </a:rPr>
              <a:t>= ……..%</a:t>
            </a:r>
          </a:p>
          <a:p>
            <a:pPr marL="914400" marR="0" lvl="2" indent="0" algn="l" defTabSz="914400" rtl="0" eaLnBrk="0" fontAlgn="base" latinLnBrk="0" hangingPunct="0">
              <a:lnSpc>
                <a:spcPct val="100000"/>
              </a:lnSpc>
              <a:spcBef>
                <a:spcPts val="0"/>
              </a:spcBef>
              <a:spcAft>
                <a:spcPct val="0"/>
              </a:spcAft>
              <a:buClr>
                <a:srgbClr val="1F497D"/>
              </a:buClr>
              <a:buSzPct val="100000"/>
              <a:buFont typeface="Times" charset="0"/>
              <a:buNone/>
              <a:tabLst/>
              <a:defRPr/>
            </a:pPr>
            <a:endParaRPr kumimoji="0" lang="en-US" sz="1200" b="0" i="0" u="none" strike="noStrike" kern="0" cap="none" spc="0" normalizeH="0" baseline="0" noProof="0" dirty="0">
              <a:ln>
                <a:noFill/>
              </a:ln>
              <a:solidFill>
                <a:prstClr val="black"/>
              </a:solidFill>
              <a:effectLst/>
              <a:highlight>
                <a:srgbClr val="00FFFF"/>
              </a:highlight>
              <a:uLnTx/>
              <a:uFillTx/>
              <a:latin typeface="+mj-lt"/>
              <a:ea typeface="ＭＳ Ｐゴシック"/>
            </a:endParaRPr>
          </a:p>
          <a:p>
            <a:pPr>
              <a:lnSpc>
                <a:spcPct val="100000"/>
              </a:lnSpc>
              <a:spcBef>
                <a:spcPts val="0"/>
              </a:spcBef>
              <a:buSzPct val="100000"/>
              <a:buFont typeface="Arial" panose="020B0604020202020204" pitchFamily="34" charset="0"/>
              <a:buChar char="•"/>
            </a:pPr>
            <a:r>
              <a:rPr lang="en-US" sz="2400" dirty="0">
                <a:solidFill>
                  <a:prstClr val="black"/>
                </a:solidFill>
                <a:latin typeface="+mj-lt"/>
                <a:ea typeface="ＭＳ Ｐゴシック"/>
              </a:rPr>
              <a:t>Both A and B acceptable since ARR &gt; RRR</a:t>
            </a:r>
            <a:r>
              <a:rPr lang="en-US" sz="2400" dirty="0">
                <a:latin typeface="+mj-lt"/>
              </a:rPr>
              <a:t>; </a:t>
            </a:r>
            <a:r>
              <a:rPr kumimoji="0" lang="en-US" sz="2400" b="0" i="0" u="none" strike="noStrike" kern="0" cap="none" spc="0" normalizeH="0" baseline="0" noProof="0" dirty="0">
                <a:ln>
                  <a:noFill/>
                </a:ln>
                <a:solidFill>
                  <a:prstClr val="black"/>
                </a:solidFill>
                <a:effectLst/>
                <a:uLnTx/>
                <a:uFillTx/>
                <a:latin typeface="+mj-lt"/>
                <a:ea typeface="ＭＳ Ｐゴシック"/>
              </a:rPr>
              <a:t>Can only choose one? </a:t>
            </a:r>
            <a:r>
              <a:rPr kumimoji="0" lang="en-US" sz="2400" b="1" i="0" u="none" strike="noStrike" kern="0" cap="none" spc="0" normalizeH="0" baseline="0" noProof="0" dirty="0">
                <a:ln>
                  <a:noFill/>
                </a:ln>
                <a:solidFill>
                  <a:prstClr val="black"/>
                </a:solidFill>
                <a:effectLst/>
                <a:uLnTx/>
                <a:uFillTx/>
                <a:latin typeface="+mj-lt"/>
                <a:ea typeface="ＭＳ Ｐゴシック"/>
              </a:rPr>
              <a:t>Select A</a:t>
            </a:r>
            <a:r>
              <a:rPr lang="en-US" sz="2400" dirty="0">
                <a:latin typeface="+mj-lt"/>
              </a:rPr>
              <a:t> with highest ARR</a:t>
            </a:r>
          </a:p>
          <a:p>
            <a:pPr marL="914400" marR="0" lvl="2" indent="0" algn="l" defTabSz="914400" rtl="0" eaLnBrk="0" fontAlgn="base" latinLnBrk="0" hangingPunct="0">
              <a:lnSpc>
                <a:spcPct val="100000"/>
              </a:lnSpc>
              <a:spcBef>
                <a:spcPts val="0"/>
              </a:spcBef>
              <a:spcAft>
                <a:spcPct val="0"/>
              </a:spcAft>
              <a:buClr>
                <a:srgbClr val="1F497D"/>
              </a:buClr>
              <a:buSzPct val="100000"/>
              <a:buFont typeface="Times" charset="0"/>
              <a:buNone/>
              <a:tabLst/>
              <a:defRPr/>
            </a:pPr>
            <a:endParaRPr kumimoji="0" lang="en-US" sz="2200" b="0" i="0" u="none" strike="noStrike" kern="0" cap="none" spc="0" normalizeH="0" baseline="0" noProof="0" dirty="0">
              <a:ln>
                <a:noFill/>
              </a:ln>
              <a:solidFill>
                <a:prstClr val="black"/>
              </a:solidFill>
              <a:effectLst/>
              <a:highlight>
                <a:srgbClr val="00FFFF"/>
              </a:highlight>
              <a:uLnTx/>
              <a:uFillTx/>
              <a:latin typeface="Tahoma"/>
              <a:ea typeface="ＭＳ Ｐゴシック"/>
            </a:endParaRPr>
          </a:p>
          <a:p>
            <a:pPr>
              <a:lnSpc>
                <a:spcPct val="100000"/>
              </a:lnSpc>
              <a:spcBef>
                <a:spcPts val="0"/>
              </a:spcBef>
              <a:buSzPct val="100000"/>
              <a:buFont typeface="Arial" panose="020B0604020202020204" pitchFamily="34" charset="0"/>
              <a:buChar char="•"/>
            </a:pPr>
            <a:endParaRPr lang="en-US" dirty="0">
              <a:highlight>
                <a:srgbClr val="FFFF00"/>
              </a:highlight>
            </a:endParaRPr>
          </a:p>
          <a:p>
            <a:pPr>
              <a:lnSpc>
                <a:spcPct val="100000"/>
              </a:lnSpc>
              <a:spcBef>
                <a:spcPts val="0"/>
              </a:spcBef>
              <a:buSzPct val="100000"/>
              <a:buFont typeface="Arial" panose="020B0604020202020204" pitchFamily="34" charset="0"/>
              <a:buChar char="•"/>
            </a:pPr>
            <a:endParaRPr lang="en-US" dirty="0">
              <a:highlight>
                <a:srgbClr val="FFFF00"/>
              </a:highlight>
            </a:endParaRPr>
          </a:p>
          <a:p>
            <a:pPr>
              <a:lnSpc>
                <a:spcPct val="100000"/>
              </a:lnSpc>
              <a:spcBef>
                <a:spcPts val="0"/>
              </a:spcBef>
              <a:buSzPct val="100000"/>
              <a:buFont typeface="Arial" panose="020B0604020202020204" pitchFamily="34" charset="0"/>
              <a:buChar char="•"/>
            </a:pPr>
            <a:endParaRPr lang="en-US" dirty="0">
              <a:highlight>
                <a:srgbClr val="FFFF00"/>
              </a:highlight>
            </a:endParaRPr>
          </a:p>
          <a:p>
            <a:pPr>
              <a:lnSpc>
                <a:spcPct val="100000"/>
              </a:lnSpc>
              <a:spcBef>
                <a:spcPts val="0"/>
              </a:spcBef>
              <a:buSzPct val="100000"/>
              <a:buFont typeface="Arial" panose="020B0604020202020204" pitchFamily="34" charset="0"/>
              <a:buChar char="•"/>
            </a:pPr>
            <a:endParaRPr lang="en-US" dirty="0">
              <a:highlight>
                <a:srgbClr val="FFFF00"/>
              </a:highlight>
            </a:endParaRPr>
          </a:p>
          <a:p>
            <a:pPr marL="0" indent="0">
              <a:lnSpc>
                <a:spcPct val="100000"/>
              </a:lnSpc>
              <a:spcBef>
                <a:spcPts val="0"/>
              </a:spcBef>
              <a:buSzPct val="100000"/>
              <a:buNone/>
            </a:pPr>
            <a:endParaRPr lang="en-US" dirty="0">
              <a:highlight>
                <a:srgbClr val="FFFF00"/>
              </a:highlight>
            </a:endParaRPr>
          </a:p>
          <a:p>
            <a:pPr marL="457200" lvl="1" indent="0">
              <a:lnSpc>
                <a:spcPct val="100000"/>
              </a:lnSpc>
              <a:spcBef>
                <a:spcPts val="0"/>
              </a:spcBef>
              <a:buSzPct val="100000"/>
              <a:buNone/>
            </a:pPr>
            <a:r>
              <a:rPr lang="en-US" sz="2400" dirty="0">
                <a:latin typeface="+mj-lt"/>
              </a:rPr>
              <a:t> </a:t>
            </a: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E7491C1B-6FC7-A05E-E106-DBD873A3622F}"/>
              </a:ext>
            </a:extLst>
          </p:cNvPr>
          <p:cNvSpPr/>
          <p:nvPr/>
        </p:nvSpPr>
        <p:spPr bwMode="auto">
          <a:xfrm>
            <a:off x="3871546" y="615230"/>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chemeClr val="accent1">
                    <a:lumMod val="75000"/>
                  </a:schemeClr>
                </a:solidFill>
                <a:ea typeface="ＭＳ Ｐゴシック" pitchFamily="1" charset="-128"/>
              </a:rPr>
              <a:t>#1</a:t>
            </a:r>
            <a:endParaRPr kumimoji="0" lang="en-ZA" sz="2600" b="1" i="0" u="none" strike="noStrike" cap="none" normalizeH="0" baseline="0" dirty="0">
              <a:ln>
                <a:noFill/>
              </a:ln>
              <a:solidFill>
                <a:schemeClr val="accent1">
                  <a:lumMod val="75000"/>
                </a:schemeClr>
              </a:solidFill>
              <a:effectLst/>
              <a:latin typeface="Arial" charset="0"/>
              <a:ea typeface="ＭＳ Ｐゴシック" pitchFamily="1" charset="-128"/>
            </a:endParaRPr>
          </a:p>
        </p:txBody>
      </p:sp>
      <p:sp>
        <p:nvSpPr>
          <p:cNvPr id="4" name="Star: 5 Points 3">
            <a:extLst>
              <a:ext uri="{FF2B5EF4-FFF2-40B4-BE49-F238E27FC236}">
                <a16:creationId xmlns:a16="http://schemas.microsoft.com/office/drawing/2014/main" id="{30EF21E9-AE0A-A886-C157-1622D2E8B4BE}"/>
              </a:ext>
            </a:extLst>
          </p:cNvPr>
          <p:cNvSpPr/>
          <p:nvPr/>
        </p:nvSpPr>
        <p:spPr bwMode="auto">
          <a:xfrm>
            <a:off x="7086600" y="4038600"/>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12739892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7" end="7"/>
                                            </p:txEl>
                                          </p:spTgt>
                                        </p:tgtEl>
                                        <p:attrNameLst>
                                          <p:attrName>style.visibility</p:attrName>
                                        </p:attrNameLst>
                                      </p:cBhvr>
                                      <p:to>
                                        <p:strVal val="visible"/>
                                      </p:to>
                                    </p:set>
                                    <p:anim calcmode="lin" valueType="num">
                                      <p:cBhvr additive="base">
                                        <p:cTn id="7" dur="500" fill="hold"/>
                                        <p:tgtEl>
                                          <p:spTgt spid="9221">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xEl>
                                              <p:pRg st="8" end="8"/>
                                            </p:txEl>
                                          </p:spTgt>
                                        </p:tgtEl>
                                        <p:attrNameLst>
                                          <p:attrName>style.visibility</p:attrName>
                                        </p:attrNameLst>
                                      </p:cBhvr>
                                      <p:to>
                                        <p:strVal val="visible"/>
                                      </p:to>
                                    </p:set>
                                    <p:anim calcmode="lin" valueType="num">
                                      <p:cBhvr additive="base">
                                        <p:cTn id="11" dur="500" fill="hold"/>
                                        <p:tgtEl>
                                          <p:spTgt spid="9221">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221">
                                            <p:txEl>
                                              <p:pRg st="10" end="10"/>
                                            </p:txEl>
                                          </p:spTgt>
                                        </p:tgtEl>
                                        <p:attrNameLst>
                                          <p:attrName>style.visibility</p:attrName>
                                        </p:attrNameLst>
                                      </p:cBhvr>
                                      <p:to>
                                        <p:strVal val="visible"/>
                                      </p:to>
                                    </p:set>
                                    <p:anim calcmode="lin" valueType="num">
                                      <p:cBhvr additive="base">
                                        <p:cTn id="17" dur="500" fill="hold"/>
                                        <p:tgtEl>
                                          <p:spTgt spid="9221">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221">
                                            <p:txEl>
                                              <p:pRg st="10" end="1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221">
                                            <p:txEl>
                                              <p:pRg st="11" end="11"/>
                                            </p:txEl>
                                          </p:spTgt>
                                        </p:tgtEl>
                                        <p:attrNameLst>
                                          <p:attrName>style.visibility</p:attrName>
                                        </p:attrNameLst>
                                      </p:cBhvr>
                                      <p:to>
                                        <p:strVal val="visible"/>
                                      </p:to>
                                    </p:set>
                                    <p:anim calcmode="lin" valueType="num">
                                      <p:cBhvr additive="base">
                                        <p:cTn id="21" dur="500" fill="hold"/>
                                        <p:tgtEl>
                                          <p:spTgt spid="9221">
                                            <p:txEl>
                                              <p:pRg st="11" end="1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22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221">
                                            <p:txEl>
                                              <p:pRg st="13" end="13"/>
                                            </p:txEl>
                                          </p:spTgt>
                                        </p:tgtEl>
                                        <p:attrNameLst>
                                          <p:attrName>style.visibility</p:attrName>
                                        </p:attrNameLst>
                                      </p:cBhvr>
                                      <p:to>
                                        <p:strVal val="visible"/>
                                      </p:to>
                                    </p:set>
                                    <p:anim calcmode="lin" valueType="num">
                                      <p:cBhvr additive="base">
                                        <p:cTn id="27" dur="500" fill="hold"/>
                                        <p:tgtEl>
                                          <p:spTgt spid="9221">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2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762000"/>
            <a:ext cx="8797306" cy="6085490"/>
          </a:xfrm>
        </p:spPr>
        <p:txBody>
          <a:bodyPr/>
          <a:lstStyle/>
          <a:p>
            <a:pPr>
              <a:lnSpc>
                <a:spcPct val="100000"/>
              </a:lnSpc>
              <a:spcBef>
                <a:spcPts val="0"/>
              </a:spcBef>
              <a:buSzPct val="100000"/>
              <a:buFont typeface="Arial" panose="020B0604020202020204" pitchFamily="34" charset="0"/>
              <a:buChar char="•"/>
            </a:pPr>
            <a:r>
              <a:rPr lang="en-US" sz="2400" dirty="0">
                <a:latin typeface="+mj-lt"/>
              </a:rPr>
              <a:t>Payback period </a:t>
            </a:r>
          </a:p>
          <a:p>
            <a:pPr marL="0" indent="0">
              <a:lnSpc>
                <a:spcPct val="100000"/>
              </a:lnSpc>
              <a:spcBef>
                <a:spcPts val="0"/>
              </a:spcBef>
              <a:buSzPct val="100000"/>
              <a:buNone/>
            </a:pPr>
            <a:r>
              <a:rPr lang="en-US" sz="2400" dirty="0">
                <a:latin typeface="+mj-lt"/>
              </a:rPr>
              <a:t> </a:t>
            </a: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Payback on a proposed investment is the length of time it takes to recover the initial investment or cost</a:t>
            </a: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Stated differently: payback is the amount of time required for an investment to generate sufficient CFs to recover its initial cost</a:t>
            </a:r>
          </a:p>
          <a:p>
            <a:pPr marL="342900" marR="0" lvl="0" indent="-342900" algn="l" defTabSz="914400" rtl="0" eaLnBrk="0" fontAlgn="base" latinLnBrk="0" hangingPunct="0">
              <a:lnSpc>
                <a:spcPct val="100000"/>
              </a:lnSpc>
              <a:spcBef>
                <a:spcPts val="0"/>
              </a:spcBef>
              <a:spcAft>
                <a:spcPts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An investment is </a:t>
            </a:r>
            <a:r>
              <a:rPr kumimoji="0" lang="en-US" sz="2400" b="1" i="0" u="none" strike="noStrike" kern="0" cap="none" spc="0" normalizeH="0" baseline="0" noProof="0" dirty="0">
                <a:ln>
                  <a:noFill/>
                </a:ln>
                <a:solidFill>
                  <a:srgbClr val="C00000"/>
                </a:solidFill>
                <a:effectLst/>
                <a:uLnTx/>
                <a:uFillTx/>
                <a:latin typeface="+mj-lt"/>
                <a:ea typeface="ＭＳ Ｐゴシック"/>
              </a:rPr>
              <a:t>acceptable</a:t>
            </a:r>
            <a:r>
              <a:rPr kumimoji="0" lang="en-US" sz="2400" b="0" i="0" u="none" strike="noStrike" kern="0" cap="none" spc="0" normalizeH="0" baseline="0" noProof="0" dirty="0">
                <a:ln>
                  <a:noFill/>
                </a:ln>
                <a:solidFill>
                  <a:prstClr val="black"/>
                </a:solidFill>
                <a:effectLst/>
                <a:uLnTx/>
                <a:uFillTx/>
                <a:latin typeface="+mj-lt"/>
                <a:ea typeface="ＭＳ Ｐゴシック"/>
              </a:rPr>
              <a:t> if the payback period is less </a:t>
            </a:r>
            <a:r>
              <a:rPr kumimoji="0" lang="en-US" sz="2400" b="1" i="0" u="none" strike="noStrike" kern="0" cap="none" spc="0" normalizeH="0" baseline="0" noProof="0" dirty="0">
                <a:ln>
                  <a:noFill/>
                </a:ln>
                <a:solidFill>
                  <a:srgbClr val="C00000"/>
                </a:solidFill>
                <a:effectLst/>
                <a:uLnTx/>
                <a:uFillTx/>
                <a:latin typeface="+mj-lt"/>
                <a:ea typeface="ＭＳ Ｐゴシック"/>
              </a:rPr>
              <a:t>(&lt;) than pre-specified number of periods</a:t>
            </a:r>
            <a:r>
              <a:rPr kumimoji="0" lang="en-US" sz="2400" b="0" i="0" u="none" strike="noStrike" kern="0" cap="none" spc="0" normalizeH="0" baseline="0" noProof="0" dirty="0">
                <a:ln>
                  <a:noFill/>
                </a:ln>
                <a:solidFill>
                  <a:prstClr val="black"/>
                </a:solidFill>
                <a:effectLst/>
                <a:uLnTx/>
                <a:uFillTx/>
                <a:latin typeface="+mj-lt"/>
                <a:ea typeface="ＭＳ Ｐゴシック"/>
              </a:rPr>
              <a:t> (months, years etc.)</a:t>
            </a:r>
          </a:p>
          <a:p>
            <a:pPr marL="0" indent="0">
              <a:lnSpc>
                <a:spcPct val="100000"/>
              </a:lnSpc>
              <a:spcBef>
                <a:spcPts val="0"/>
              </a:spcBef>
              <a:buSzPct val="100000"/>
              <a:buNone/>
            </a:pPr>
            <a:endParaRPr lang="en-US" sz="3200" dirty="0">
              <a:latin typeface="+mj-lt"/>
            </a:endParaRPr>
          </a:p>
          <a:p>
            <a:pPr>
              <a:lnSpc>
                <a:spcPct val="100000"/>
              </a:lnSpc>
              <a:spcBef>
                <a:spcPts val="0"/>
              </a:spcBef>
              <a:buSzPct val="100000"/>
              <a:buFont typeface="Arial" panose="020B0604020202020204" pitchFamily="34" charset="0"/>
              <a:buChar char="•"/>
            </a:pPr>
            <a:r>
              <a:rPr lang="en-US" sz="2400" dirty="0">
                <a:latin typeface="+mj-lt"/>
              </a:rPr>
              <a:t>Discounted payback period</a:t>
            </a:r>
          </a:p>
          <a:p>
            <a:pPr marL="0" indent="0">
              <a:lnSpc>
                <a:spcPct val="100000"/>
              </a:lnSpc>
              <a:spcBef>
                <a:spcPts val="0"/>
              </a:spcBef>
              <a:buSzPct val="100000"/>
              <a:buNone/>
            </a:pPr>
            <a:endParaRPr lang="en-US" sz="2000" dirty="0">
              <a:latin typeface="+mj-lt"/>
            </a:endParaRPr>
          </a:p>
          <a:p>
            <a:pPr lvl="1">
              <a:lnSpc>
                <a:spcPct val="100000"/>
              </a:lnSpc>
              <a:spcBef>
                <a:spcPts val="0"/>
              </a:spcBef>
              <a:buSzPct val="100000"/>
              <a:buFont typeface="Arial" panose="020B0604020202020204" pitchFamily="34" charset="0"/>
              <a:buChar char="•"/>
            </a:pPr>
            <a:r>
              <a:rPr lang="en-US" sz="2400" dirty="0">
                <a:latin typeface="+mj-lt"/>
              </a:rPr>
              <a:t>Same as above, just work with discounted CFs (PVs)</a:t>
            </a:r>
          </a:p>
          <a:p>
            <a:pPr marL="457200" lvl="1" indent="0">
              <a:lnSpc>
                <a:spcPct val="100000"/>
              </a:lnSpc>
              <a:spcBef>
                <a:spcPts val="0"/>
              </a:spcBef>
              <a:buSzPct val="100000"/>
              <a:buNone/>
            </a:pPr>
            <a:r>
              <a:rPr lang="en-US" sz="2400" dirty="0">
                <a:latin typeface="+mj-lt"/>
              </a:rPr>
              <a:t> </a:t>
            </a: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0B0D7C16-7B40-511D-B90A-A22E729FB4CA}"/>
              </a:ext>
            </a:extLst>
          </p:cNvPr>
          <p:cNvSpPr/>
          <p:nvPr/>
        </p:nvSpPr>
        <p:spPr bwMode="auto">
          <a:xfrm>
            <a:off x="2667000" y="744415"/>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chemeClr val="accent1">
                    <a:lumMod val="75000"/>
                  </a:schemeClr>
                </a:solidFill>
                <a:ea typeface="ＭＳ Ｐゴシック" pitchFamily="1" charset="-128"/>
              </a:rPr>
              <a:t>#2</a:t>
            </a:r>
            <a:endParaRPr kumimoji="0" lang="en-ZA" sz="2600" b="1" i="0" u="none" strike="noStrike" cap="none" normalizeH="0" baseline="0" dirty="0">
              <a:ln>
                <a:noFill/>
              </a:ln>
              <a:solidFill>
                <a:schemeClr val="accent1">
                  <a:lumMod val="75000"/>
                </a:schemeClr>
              </a:solidFill>
              <a:effectLst/>
              <a:latin typeface="Arial" charset="0"/>
              <a:ea typeface="ＭＳ Ｐゴシック" pitchFamily="1" charset="-128"/>
            </a:endParaRPr>
          </a:p>
        </p:txBody>
      </p:sp>
      <p:sp>
        <p:nvSpPr>
          <p:cNvPr id="4" name="Oval 3">
            <a:extLst>
              <a:ext uri="{FF2B5EF4-FFF2-40B4-BE49-F238E27FC236}">
                <a16:creationId xmlns:a16="http://schemas.microsoft.com/office/drawing/2014/main" id="{53BB5CBE-069D-A3AF-0FC6-4A18DA2FEE27}"/>
              </a:ext>
            </a:extLst>
          </p:cNvPr>
          <p:cNvSpPr/>
          <p:nvPr/>
        </p:nvSpPr>
        <p:spPr bwMode="auto">
          <a:xfrm>
            <a:off x="4278923" y="4800600"/>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#1</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71876750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6187324"/>
          </a:xfrm>
        </p:spPr>
        <p:txBody>
          <a:bodyPr/>
          <a:lstStyle/>
          <a:p>
            <a:pPr>
              <a:lnSpc>
                <a:spcPct val="100000"/>
              </a:lnSpc>
              <a:spcBef>
                <a:spcPts val="0"/>
              </a:spcBef>
              <a:buSzPct val="100000"/>
              <a:buFont typeface="Arial" panose="020B0604020202020204" pitchFamily="34" charset="0"/>
              <a:buChar char="•"/>
            </a:pPr>
            <a:r>
              <a:rPr lang="en-US" sz="2400" b="1" dirty="0">
                <a:solidFill>
                  <a:srgbClr val="C00000"/>
                </a:solidFill>
                <a:latin typeface="+mj-lt"/>
              </a:rPr>
              <a:t>DPB better; Why? </a:t>
            </a:r>
          </a:p>
          <a:p>
            <a:pPr>
              <a:lnSpc>
                <a:spcPct val="100000"/>
              </a:lnSpc>
              <a:spcBef>
                <a:spcPts val="0"/>
              </a:spcBef>
              <a:buSzPct val="100000"/>
              <a:buFont typeface="Arial" panose="020B0604020202020204" pitchFamily="34" charset="0"/>
              <a:buChar char="•"/>
            </a:pPr>
            <a:r>
              <a:rPr lang="en-US" sz="2400" dirty="0">
                <a:latin typeface="+mj-lt"/>
              </a:rPr>
              <a:t>TVM…CFs that occur in the future are worth less today because there is risk involved – and we factor risk into our TVM calculations by means of a discount rate (use discounted CFs in the DPB technique)</a:t>
            </a:r>
          </a:p>
          <a:p>
            <a:pPr>
              <a:lnSpc>
                <a:spcPct val="100000"/>
              </a:lnSpc>
              <a:spcBef>
                <a:spcPts val="0"/>
              </a:spcBef>
              <a:buSzPct val="100000"/>
              <a:buFont typeface="Arial" panose="020B0604020202020204" pitchFamily="34" charset="0"/>
              <a:buChar char="•"/>
            </a:pPr>
            <a:r>
              <a:rPr lang="en-US" sz="2400" dirty="0">
                <a:latin typeface="+mj-lt"/>
              </a:rPr>
              <a:t>What are the risks associated with capital projects? E.g.?</a:t>
            </a:r>
          </a:p>
          <a:p>
            <a:pPr lvl="1">
              <a:lnSpc>
                <a:spcPct val="100000"/>
              </a:lnSpc>
              <a:spcBef>
                <a:spcPts val="0"/>
              </a:spcBef>
              <a:buSzPct val="100000"/>
              <a:buFont typeface="Wingdings" panose="05000000000000000000" pitchFamily="2" charset="2"/>
              <a:buChar char="§"/>
            </a:pPr>
            <a:r>
              <a:rPr lang="en-US" sz="2400" dirty="0">
                <a:latin typeface="+mj-lt"/>
              </a:rPr>
              <a:t>Competitors might move faster with the implementation of a capital project which messes up the firm’s projections of future inflows (to stay competitive the firm might have to reduce the price of their products; costs might increase due to inflation; etc.) </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6" name="Picture 5">
            <a:extLst>
              <a:ext uri="{FF2B5EF4-FFF2-40B4-BE49-F238E27FC236}">
                <a16:creationId xmlns:a16="http://schemas.microsoft.com/office/drawing/2014/main" id="{C9E7ECD3-8CE2-A528-850A-7C0DA948FF6C}"/>
              </a:ext>
            </a:extLst>
          </p:cNvPr>
          <p:cNvPicPr>
            <a:picLocks noChangeAspect="1"/>
          </p:cNvPicPr>
          <p:nvPr/>
        </p:nvPicPr>
        <p:blipFill>
          <a:blip r:embed="rId4"/>
          <a:stretch>
            <a:fillRect/>
          </a:stretch>
        </p:blipFill>
        <p:spPr>
          <a:xfrm>
            <a:off x="815362" y="4724400"/>
            <a:ext cx="7741876" cy="1836540"/>
          </a:xfrm>
          <a:prstGeom prst="rect">
            <a:avLst/>
          </a:prstGeom>
        </p:spPr>
      </p:pic>
    </p:spTree>
    <p:custDataLst>
      <p:tags r:id="rId1"/>
    </p:custDataLst>
    <p:extLst>
      <p:ext uri="{BB962C8B-B14F-4D97-AF65-F5344CB8AC3E}">
        <p14:creationId xmlns:p14="http://schemas.microsoft.com/office/powerpoint/2010/main" val="149751223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6187324"/>
          </a:xfrm>
        </p:spPr>
        <p:txBody>
          <a:bodyPr/>
          <a:lstStyle/>
          <a:p>
            <a:pPr>
              <a:lnSpc>
                <a:spcPct val="100000"/>
              </a:lnSpc>
              <a:spcBef>
                <a:spcPts val="0"/>
              </a:spcBef>
              <a:buSzPct val="100000"/>
              <a:buFont typeface="Arial" panose="020B0604020202020204" pitchFamily="34" charset="0"/>
              <a:buChar char="•"/>
            </a:pPr>
            <a:r>
              <a:rPr lang="en-US" dirty="0"/>
              <a:t>Payback period  </a:t>
            </a:r>
          </a:p>
          <a:p>
            <a:pPr marL="457200" lvl="1" indent="0">
              <a:lnSpc>
                <a:spcPct val="100000"/>
              </a:lnSpc>
              <a:spcBef>
                <a:spcPts val="0"/>
              </a:spcBef>
              <a:buSzPct val="100000"/>
              <a:buNone/>
            </a:pPr>
            <a:r>
              <a:rPr lang="en-US" sz="2400" dirty="0">
                <a:highlight>
                  <a:srgbClr val="00FF00"/>
                </a:highlight>
                <a:latin typeface="+mj-lt"/>
              </a:rPr>
              <a:t>Project A</a:t>
            </a:r>
            <a:r>
              <a:rPr lang="en-US" sz="2400" dirty="0">
                <a:latin typeface="+mj-lt"/>
              </a:rPr>
              <a:t>		</a:t>
            </a:r>
          </a:p>
          <a:p>
            <a:pPr marL="457200" lvl="1" indent="0">
              <a:lnSpc>
                <a:spcPct val="100000"/>
              </a:lnSpc>
              <a:spcBef>
                <a:spcPts val="0"/>
              </a:spcBef>
              <a:buSzPct val="100000"/>
              <a:buNone/>
            </a:pPr>
            <a:r>
              <a:rPr lang="en-US" sz="2400" dirty="0">
                <a:latin typeface="+mj-lt"/>
              </a:rPr>
              <a:t>		</a:t>
            </a: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kumimoji="0" lang="en-US" sz="18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r>
              <a:rPr kumimoji="0" lang="en-US" sz="2400" b="0" i="0" u="none" strike="noStrike" kern="0" cap="none" spc="0" normalizeH="0" baseline="0" noProof="0" dirty="0">
                <a:ln>
                  <a:noFill/>
                </a:ln>
                <a:solidFill>
                  <a:prstClr val="black"/>
                </a:solidFill>
                <a:effectLst/>
                <a:uLnTx/>
                <a:uFillTx/>
                <a:latin typeface="+mj-lt"/>
                <a:ea typeface="ＭＳ Ｐゴシック"/>
              </a:rPr>
              <a:t>= 1 + (5 000 / 10 500) </a:t>
            </a:r>
            <a:r>
              <a:rPr kumimoji="0" lang="en-US" sz="2400" b="0" i="0" u="none" strike="noStrike" kern="0" cap="none" spc="0" normalizeH="0" baseline="0" noProof="0" dirty="0">
                <a:ln>
                  <a:noFill/>
                </a:ln>
                <a:solidFill>
                  <a:prstClr val="black"/>
                </a:solidFill>
                <a:effectLst/>
                <a:highlight>
                  <a:srgbClr val="00FF00"/>
                </a:highlight>
                <a:uLnTx/>
                <a:uFillTx/>
                <a:latin typeface="+mj-lt"/>
                <a:ea typeface="ＭＳ Ｐゴシック"/>
              </a:rPr>
              <a:t>= 1.48 years</a:t>
            </a:r>
            <a:r>
              <a:rPr kumimoji="0" lang="en-US" sz="2400" b="0" i="0" u="none" strike="noStrike" kern="0" cap="none" spc="0" normalizeH="0" baseline="0" noProof="0" dirty="0">
                <a:ln>
                  <a:noFill/>
                </a:ln>
                <a:solidFill>
                  <a:prstClr val="black"/>
                </a:solidFill>
                <a:effectLst/>
                <a:uLnTx/>
                <a:uFillTx/>
                <a:latin typeface="+mj-lt"/>
                <a:ea typeface="ＭＳ Ｐゴシック"/>
              </a:rPr>
              <a:t>	</a:t>
            </a:r>
          </a:p>
          <a:p>
            <a:pPr marL="457200" lvl="1" indent="0">
              <a:lnSpc>
                <a:spcPct val="100000"/>
              </a:lnSpc>
              <a:spcBef>
                <a:spcPts val="0"/>
              </a:spcBef>
              <a:buSzPct val="100000"/>
              <a:buNone/>
            </a:pPr>
            <a:endParaRPr kumimoji="0" lang="en-US" sz="12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r>
              <a:rPr lang="en-US" sz="2400" dirty="0">
                <a:highlight>
                  <a:srgbClr val="00FFFF"/>
                </a:highlight>
                <a:latin typeface="+mj-lt"/>
              </a:rPr>
              <a:t>Project B</a:t>
            </a:r>
          </a:p>
          <a:p>
            <a:pPr marL="457200" lvl="1" indent="0">
              <a:lnSpc>
                <a:spcPct val="100000"/>
              </a:lnSpc>
              <a:spcBef>
                <a:spcPts val="0"/>
              </a:spcBef>
              <a:buSzPct val="100000"/>
              <a:buNone/>
            </a:pPr>
            <a:endParaRPr lang="en-US" sz="2400" dirty="0">
              <a:highlight>
                <a:srgbClr val="00FFFF"/>
              </a:highlight>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r>
              <a:rPr lang="en-US" sz="2400" dirty="0">
                <a:latin typeface="+mj-lt"/>
              </a:rPr>
              <a:t>= 2 + (7 500 / 9 500) </a:t>
            </a:r>
            <a:r>
              <a:rPr lang="en-US" sz="2400" dirty="0">
                <a:highlight>
                  <a:srgbClr val="00FFFF"/>
                </a:highlight>
                <a:latin typeface="+mj-lt"/>
              </a:rPr>
              <a:t>= 2.79 years</a:t>
            </a:r>
          </a:p>
          <a:p>
            <a:pPr marL="0" lvl="1" indent="0">
              <a:lnSpc>
                <a:spcPct val="100000"/>
              </a:lnSpc>
              <a:spcBef>
                <a:spcPts val="0"/>
              </a:spcBef>
              <a:buSzPct val="100000"/>
              <a:buNone/>
            </a:pPr>
            <a:endParaRPr lang="en-US" sz="400" dirty="0">
              <a:latin typeface="+mj-lt"/>
            </a:endParaRPr>
          </a:p>
          <a:p>
            <a:pPr marL="0" lvl="1" indent="0">
              <a:lnSpc>
                <a:spcPct val="100000"/>
              </a:lnSpc>
              <a:spcBef>
                <a:spcPts val="0"/>
              </a:spcBef>
              <a:buSzPct val="100000"/>
              <a:buNone/>
            </a:pPr>
            <a:r>
              <a:rPr lang="en-US" sz="2400" dirty="0">
                <a:latin typeface="+mj-lt"/>
              </a:rPr>
              <a:t>Both A and B acceptable since Payback period for the projects less &lt; than the specified cut-off (“maximum”) period of 3 years</a:t>
            </a:r>
          </a:p>
          <a:p>
            <a:pPr marL="457200" lvl="1" indent="-457200">
              <a:lnSpc>
                <a:spcPct val="100000"/>
              </a:lnSpc>
              <a:spcBef>
                <a:spcPts val="0"/>
              </a:spcBef>
              <a:buSzPct val="100000"/>
              <a:buNone/>
            </a:pPr>
            <a:r>
              <a:rPr lang="en-US" sz="2400" dirty="0">
                <a:latin typeface="+mj-lt"/>
              </a:rPr>
              <a:t>Can only choose one? </a:t>
            </a:r>
            <a:r>
              <a:rPr lang="en-US" sz="2400" b="1" dirty="0">
                <a:latin typeface="+mj-lt"/>
              </a:rPr>
              <a:t>Select A</a:t>
            </a:r>
            <a:r>
              <a:rPr lang="en-US" sz="2400" dirty="0">
                <a:latin typeface="+mj-lt"/>
              </a:rPr>
              <a:t> with </a:t>
            </a:r>
            <a:r>
              <a:rPr lang="en-US" sz="2400" u="sng" dirty="0">
                <a:latin typeface="+mj-lt"/>
              </a:rPr>
              <a:t>shortest</a:t>
            </a:r>
            <a:r>
              <a:rPr lang="en-US" sz="2400" dirty="0">
                <a:latin typeface="+mj-lt"/>
              </a:rPr>
              <a:t> Payback</a:t>
            </a:r>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4" name="Picture 3">
            <a:extLst>
              <a:ext uri="{FF2B5EF4-FFF2-40B4-BE49-F238E27FC236}">
                <a16:creationId xmlns:a16="http://schemas.microsoft.com/office/drawing/2014/main" id="{3220B4FC-C434-7082-F1A1-82C83EF87598}"/>
              </a:ext>
            </a:extLst>
          </p:cNvPr>
          <p:cNvPicPr>
            <a:picLocks noChangeAspect="1"/>
          </p:cNvPicPr>
          <p:nvPr/>
        </p:nvPicPr>
        <p:blipFill>
          <a:blip r:embed="rId4"/>
          <a:stretch>
            <a:fillRect/>
          </a:stretch>
        </p:blipFill>
        <p:spPr>
          <a:xfrm>
            <a:off x="533400" y="1511183"/>
            <a:ext cx="8077200" cy="1371600"/>
          </a:xfrm>
          <a:prstGeom prst="rect">
            <a:avLst/>
          </a:prstGeom>
        </p:spPr>
      </p:pic>
      <p:pic>
        <p:nvPicPr>
          <p:cNvPr id="11" name="Picture 10">
            <a:extLst>
              <a:ext uri="{FF2B5EF4-FFF2-40B4-BE49-F238E27FC236}">
                <a16:creationId xmlns:a16="http://schemas.microsoft.com/office/drawing/2014/main" id="{0D953C6A-D74F-F28E-96DE-87EF3908906F}"/>
              </a:ext>
            </a:extLst>
          </p:cNvPr>
          <p:cNvPicPr>
            <a:picLocks noChangeAspect="1"/>
          </p:cNvPicPr>
          <p:nvPr/>
        </p:nvPicPr>
        <p:blipFill>
          <a:blip r:embed="rId5"/>
          <a:stretch>
            <a:fillRect/>
          </a:stretch>
        </p:blipFill>
        <p:spPr>
          <a:xfrm>
            <a:off x="533400" y="3810000"/>
            <a:ext cx="8001000" cy="1295400"/>
          </a:xfrm>
          <a:prstGeom prst="rect">
            <a:avLst/>
          </a:prstGeom>
        </p:spPr>
      </p:pic>
      <p:sp>
        <p:nvSpPr>
          <p:cNvPr id="2" name="Star: 5 Points 1">
            <a:extLst>
              <a:ext uri="{FF2B5EF4-FFF2-40B4-BE49-F238E27FC236}">
                <a16:creationId xmlns:a16="http://schemas.microsoft.com/office/drawing/2014/main" id="{18F7325A-8BFA-46CC-A045-C4E3853FD82C}"/>
              </a:ext>
            </a:extLst>
          </p:cNvPr>
          <p:cNvSpPr/>
          <p:nvPr/>
        </p:nvSpPr>
        <p:spPr bwMode="auto">
          <a:xfrm>
            <a:off x="5867400" y="2864865"/>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5" name="Oval 4">
            <a:extLst>
              <a:ext uri="{FF2B5EF4-FFF2-40B4-BE49-F238E27FC236}">
                <a16:creationId xmlns:a16="http://schemas.microsoft.com/office/drawing/2014/main" id="{1D382D19-E8BA-F46C-CCC1-67B2796F5D4C}"/>
              </a:ext>
            </a:extLst>
          </p:cNvPr>
          <p:cNvSpPr/>
          <p:nvPr/>
        </p:nvSpPr>
        <p:spPr bwMode="auto">
          <a:xfrm>
            <a:off x="2971800" y="626953"/>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chemeClr val="accent1">
                    <a:lumMod val="75000"/>
                  </a:schemeClr>
                </a:solidFill>
                <a:ea typeface="ＭＳ Ｐゴシック" pitchFamily="1" charset="-128"/>
              </a:rPr>
              <a:t>#2</a:t>
            </a:r>
            <a:endParaRPr kumimoji="0" lang="en-ZA" sz="2600" b="1" i="0" u="none" strike="noStrike" cap="none" normalizeH="0" baseline="0" dirty="0">
              <a:ln>
                <a:noFill/>
              </a:ln>
              <a:solidFill>
                <a:schemeClr val="accent1">
                  <a:lumMod val="75000"/>
                </a:schemeClr>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76346281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15" end="15"/>
                                            </p:txEl>
                                          </p:spTgt>
                                        </p:tgtEl>
                                        <p:attrNameLst>
                                          <p:attrName>style.visibility</p:attrName>
                                        </p:attrNameLst>
                                      </p:cBhvr>
                                      <p:to>
                                        <p:strVal val="visible"/>
                                      </p:to>
                                    </p:set>
                                    <p:anim calcmode="lin" valueType="num">
                                      <p:cBhvr additive="base">
                                        <p:cTn id="7" dur="500" fill="hold"/>
                                        <p:tgtEl>
                                          <p:spTgt spid="9221">
                                            <p:txEl>
                                              <p:pRg st="15" end="1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15" end="1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xEl>
                                              <p:pRg st="16" end="16"/>
                                            </p:txEl>
                                          </p:spTgt>
                                        </p:tgtEl>
                                        <p:attrNameLst>
                                          <p:attrName>style.visibility</p:attrName>
                                        </p:attrNameLst>
                                      </p:cBhvr>
                                      <p:to>
                                        <p:strVal val="visible"/>
                                      </p:to>
                                    </p:set>
                                    <p:anim calcmode="lin" valueType="num">
                                      <p:cBhvr additive="base">
                                        <p:cTn id="11" dur="500" fill="hold"/>
                                        <p:tgtEl>
                                          <p:spTgt spid="9221">
                                            <p:txEl>
                                              <p:pRg st="16" end="1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1">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6187324"/>
          </a:xfrm>
        </p:spPr>
        <p:txBody>
          <a:bodyPr/>
          <a:lstStyle/>
          <a:p>
            <a:pPr>
              <a:lnSpc>
                <a:spcPct val="100000"/>
              </a:lnSpc>
              <a:spcBef>
                <a:spcPts val="0"/>
              </a:spcBef>
              <a:buSzPct val="100000"/>
              <a:buFont typeface="Arial" panose="020B0604020202020204" pitchFamily="34" charset="0"/>
              <a:buChar char="•"/>
            </a:pPr>
            <a:r>
              <a:rPr lang="en-US" dirty="0"/>
              <a:t>Discounted payback period  </a:t>
            </a:r>
          </a:p>
          <a:p>
            <a:pPr marL="0" indent="0">
              <a:lnSpc>
                <a:spcPct val="100000"/>
              </a:lnSpc>
              <a:spcBef>
                <a:spcPts val="0"/>
              </a:spcBef>
              <a:buSzPct val="100000"/>
              <a:buNone/>
            </a:pPr>
            <a:r>
              <a:rPr lang="en-US" sz="2400" dirty="0">
                <a:latin typeface="+mj-lt"/>
              </a:rPr>
              <a:t>    </a:t>
            </a:r>
            <a:r>
              <a:rPr lang="en-US" sz="2400" dirty="0">
                <a:highlight>
                  <a:srgbClr val="00FF00"/>
                </a:highlight>
                <a:latin typeface="+mj-lt"/>
              </a:rPr>
              <a:t>Project A</a:t>
            </a:r>
            <a:r>
              <a:rPr lang="en-US" sz="2400" dirty="0">
                <a:latin typeface="+mj-lt"/>
              </a:rPr>
              <a:t>		</a:t>
            </a:r>
          </a:p>
          <a:p>
            <a:pPr marL="457200" lvl="1" indent="0">
              <a:lnSpc>
                <a:spcPct val="100000"/>
              </a:lnSpc>
              <a:spcBef>
                <a:spcPts val="0"/>
              </a:spcBef>
              <a:buSzPct val="100000"/>
              <a:buNone/>
            </a:pPr>
            <a:r>
              <a:rPr lang="en-US" sz="2400" dirty="0">
                <a:latin typeface="+mj-lt"/>
              </a:rPr>
              <a:t>		</a:t>
            </a: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kumimoji="0" lang="en-US" sz="18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endParaRPr kumimoji="0" lang="en-US" sz="18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r>
              <a:rPr kumimoji="0" lang="en-US" sz="2400" b="0" i="0" u="none" strike="noStrike" kern="0" cap="none" spc="0" normalizeH="0" baseline="0" noProof="0" dirty="0">
                <a:ln>
                  <a:noFill/>
                </a:ln>
                <a:solidFill>
                  <a:prstClr val="black"/>
                </a:solidFill>
                <a:effectLst/>
                <a:uLnTx/>
                <a:uFillTx/>
                <a:latin typeface="+mj-lt"/>
                <a:ea typeface="ＭＳ Ｐゴシック"/>
              </a:rPr>
              <a:t>= 1 + (6 651.38 / 8 837.64) </a:t>
            </a:r>
            <a:r>
              <a:rPr kumimoji="0" lang="en-US" sz="2400" b="0" i="0" u="none" strike="noStrike" kern="0" cap="none" spc="0" normalizeH="0" baseline="0" noProof="0" dirty="0">
                <a:ln>
                  <a:noFill/>
                </a:ln>
                <a:solidFill>
                  <a:prstClr val="black"/>
                </a:solidFill>
                <a:effectLst/>
                <a:highlight>
                  <a:srgbClr val="00FF00"/>
                </a:highlight>
                <a:uLnTx/>
                <a:uFillTx/>
                <a:latin typeface="+mj-lt"/>
                <a:ea typeface="ＭＳ Ｐゴシック"/>
              </a:rPr>
              <a:t>= ………years</a:t>
            </a:r>
            <a:r>
              <a:rPr kumimoji="0" lang="en-US" sz="2400" b="0" i="0" u="none" strike="noStrike" kern="0" cap="none" spc="0" normalizeH="0" baseline="0" noProof="0" dirty="0">
                <a:ln>
                  <a:noFill/>
                </a:ln>
                <a:solidFill>
                  <a:prstClr val="black"/>
                </a:solidFill>
                <a:effectLst/>
                <a:uLnTx/>
                <a:uFillTx/>
                <a:latin typeface="+mj-lt"/>
                <a:ea typeface="ＭＳ Ｐゴシック"/>
              </a:rPr>
              <a:t>	</a:t>
            </a:r>
          </a:p>
          <a:p>
            <a:pPr marL="457200" lvl="1" indent="0">
              <a:lnSpc>
                <a:spcPct val="100000"/>
              </a:lnSpc>
              <a:spcBef>
                <a:spcPts val="0"/>
              </a:spcBef>
              <a:buSzPct val="100000"/>
              <a:buNone/>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endParaRPr lang="en-US" sz="2400" dirty="0">
              <a:solidFill>
                <a:prstClr val="black"/>
              </a:solidFill>
              <a:latin typeface="+mj-lt"/>
              <a:ea typeface="ＭＳ Ｐゴシック"/>
            </a:endParaRPr>
          </a:p>
          <a:p>
            <a:pPr marL="457200" lvl="1" indent="0">
              <a:lnSpc>
                <a:spcPct val="100000"/>
              </a:lnSpc>
              <a:spcBef>
                <a:spcPts val="0"/>
              </a:spcBef>
              <a:buSzPct val="100000"/>
              <a:buNone/>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a:p>
            <a:pPr marL="457200" lvl="1" indent="0">
              <a:lnSpc>
                <a:spcPct val="100000"/>
              </a:lnSpc>
              <a:spcBef>
                <a:spcPts val="0"/>
              </a:spcBef>
              <a:buSzPct val="100000"/>
              <a:buNone/>
            </a:pPr>
            <a:endParaRPr kumimoji="0" lang="en-US" sz="2400" b="0" i="0" u="none" strike="noStrike" kern="0" cap="none" spc="0" normalizeH="0" baseline="0" noProof="0" dirty="0">
              <a:ln>
                <a:noFill/>
              </a:ln>
              <a:solidFill>
                <a:prstClr val="black"/>
              </a:solidFill>
              <a:effectLst/>
              <a:uLnTx/>
              <a:uFillTx/>
              <a:latin typeface="+mj-lt"/>
              <a:ea typeface="ＭＳ Ｐゴシック"/>
            </a:endParaRPr>
          </a:p>
          <a:p>
            <a:pPr marL="0" lvl="1" indent="0">
              <a:lnSpc>
                <a:spcPct val="100000"/>
              </a:lnSpc>
              <a:spcBef>
                <a:spcPts val="0"/>
              </a:spcBef>
              <a:buSzPct val="100000"/>
              <a:buNone/>
            </a:pPr>
            <a:endParaRPr lang="en-US" sz="400" dirty="0">
              <a:latin typeface="+mj-lt"/>
            </a:endParaRPr>
          </a:p>
          <a:p>
            <a:pPr marL="0" lvl="1" indent="0">
              <a:lnSpc>
                <a:spcPct val="100000"/>
              </a:lnSpc>
              <a:spcBef>
                <a:spcPts val="0"/>
              </a:spcBef>
              <a:buSzPct val="100000"/>
              <a:buNone/>
            </a:pPr>
            <a:r>
              <a:rPr lang="en-US" sz="2400" dirty="0">
                <a:latin typeface="+mj-lt"/>
              </a:rPr>
              <a:t>Project A is acceptable since Discounted </a:t>
            </a:r>
          </a:p>
          <a:p>
            <a:pPr marL="0" lvl="1" indent="0">
              <a:lnSpc>
                <a:spcPct val="100000"/>
              </a:lnSpc>
              <a:spcBef>
                <a:spcPts val="0"/>
              </a:spcBef>
              <a:buSzPct val="100000"/>
              <a:buNone/>
            </a:pPr>
            <a:r>
              <a:rPr lang="en-US" sz="2400" dirty="0">
                <a:latin typeface="+mj-lt"/>
              </a:rPr>
              <a:t>payback period for the project less &lt; than the </a:t>
            </a:r>
          </a:p>
          <a:p>
            <a:pPr marL="0" lvl="1" indent="0">
              <a:lnSpc>
                <a:spcPct val="100000"/>
              </a:lnSpc>
              <a:spcBef>
                <a:spcPts val="0"/>
              </a:spcBef>
              <a:buSzPct val="100000"/>
              <a:buNone/>
            </a:pPr>
            <a:r>
              <a:rPr lang="en-US" sz="2400" dirty="0">
                <a:latin typeface="+mj-lt"/>
              </a:rPr>
              <a:t>specified cut-off (“maximum”) period of 3 years</a:t>
            </a:r>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9" name="Picture 8">
            <a:extLst>
              <a:ext uri="{FF2B5EF4-FFF2-40B4-BE49-F238E27FC236}">
                <a16:creationId xmlns:a16="http://schemas.microsoft.com/office/drawing/2014/main" id="{EB387E9E-0783-934E-2AB4-F657726A3C11}"/>
              </a:ext>
            </a:extLst>
          </p:cNvPr>
          <p:cNvPicPr>
            <a:picLocks noChangeAspect="1"/>
          </p:cNvPicPr>
          <p:nvPr/>
        </p:nvPicPr>
        <p:blipFill>
          <a:blip r:embed="rId4"/>
          <a:stretch>
            <a:fillRect/>
          </a:stretch>
        </p:blipFill>
        <p:spPr>
          <a:xfrm>
            <a:off x="304800" y="1600200"/>
            <a:ext cx="8584223" cy="1691414"/>
          </a:xfrm>
          <a:prstGeom prst="rect">
            <a:avLst/>
          </a:prstGeom>
        </p:spPr>
      </p:pic>
      <p:sp>
        <p:nvSpPr>
          <p:cNvPr id="10" name="Star: 5 Points 9">
            <a:extLst>
              <a:ext uri="{FF2B5EF4-FFF2-40B4-BE49-F238E27FC236}">
                <a16:creationId xmlns:a16="http://schemas.microsoft.com/office/drawing/2014/main" id="{828168DF-B1BD-EC8C-D09F-A441BAD9D7C4}"/>
              </a:ext>
            </a:extLst>
          </p:cNvPr>
          <p:cNvSpPr/>
          <p:nvPr/>
        </p:nvSpPr>
        <p:spPr bwMode="auto">
          <a:xfrm>
            <a:off x="6324600" y="3178752"/>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2" name="Oval 1">
            <a:extLst>
              <a:ext uri="{FF2B5EF4-FFF2-40B4-BE49-F238E27FC236}">
                <a16:creationId xmlns:a16="http://schemas.microsoft.com/office/drawing/2014/main" id="{3AB3DCE2-08B8-32F8-EFC8-307478D3ABF3}"/>
              </a:ext>
            </a:extLst>
          </p:cNvPr>
          <p:cNvSpPr/>
          <p:nvPr/>
        </p:nvSpPr>
        <p:spPr bwMode="auto">
          <a:xfrm>
            <a:off x="4800600" y="787283"/>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#1</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sp>
        <p:nvSpPr>
          <p:cNvPr id="4" name="Oval 3">
            <a:extLst>
              <a:ext uri="{FF2B5EF4-FFF2-40B4-BE49-F238E27FC236}">
                <a16:creationId xmlns:a16="http://schemas.microsoft.com/office/drawing/2014/main" id="{7CBA0D4F-61E2-2D24-07BC-75F5757D6B58}"/>
              </a:ext>
            </a:extLst>
          </p:cNvPr>
          <p:cNvSpPr/>
          <p:nvPr/>
        </p:nvSpPr>
        <p:spPr bwMode="auto">
          <a:xfrm>
            <a:off x="5334000" y="3845552"/>
            <a:ext cx="3733800" cy="2025776"/>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FF0000"/>
                </a:solidFill>
                <a:ea typeface="ＭＳ Ｐゴシック" pitchFamily="1" charset="-128"/>
              </a:rPr>
              <a:t>Y1: FV -20 000, </a:t>
            </a:r>
          </a:p>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FF0000"/>
                </a:solidFill>
                <a:ea typeface="ＭＳ Ｐゴシック" pitchFamily="1" charset="-128"/>
              </a:rPr>
              <a:t>n 1, I 9, COMP PV;</a:t>
            </a:r>
          </a:p>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00677B"/>
                </a:solidFill>
                <a:ea typeface="ＭＳ Ｐゴシック" pitchFamily="1" charset="-128"/>
              </a:rPr>
              <a:t>Y2: FV -10 500, n 2, I 9, COMP PV;</a:t>
            </a:r>
          </a:p>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00677B"/>
                </a:solidFill>
                <a:ea typeface="ＭＳ Ｐゴシック" pitchFamily="1" charset="-128"/>
              </a:rPr>
              <a:t>Etc. </a:t>
            </a:r>
            <a:endParaRPr kumimoji="0" lang="en-ZA" sz="2200" b="0" i="0" u="none" strike="noStrike" cap="none" normalizeH="0" baseline="0" dirty="0">
              <a:ln>
                <a:noFill/>
              </a:ln>
              <a:solidFill>
                <a:srgbClr val="00677B"/>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83906715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1">
                                            <p:txEl>
                                              <p:pRg st="8" end="8"/>
                                            </p:txEl>
                                          </p:spTgt>
                                        </p:tgtEl>
                                        <p:attrNameLst>
                                          <p:attrName>style.visibility</p:attrName>
                                        </p:attrNameLst>
                                      </p:cBhvr>
                                      <p:to>
                                        <p:strVal val="visible"/>
                                      </p:to>
                                    </p:set>
                                    <p:anim calcmode="lin" valueType="num">
                                      <p:cBhvr additive="base">
                                        <p:cTn id="13" dur="500" fill="hold"/>
                                        <p:tgtEl>
                                          <p:spTgt spid="9221">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1">
                                            <p:txEl>
                                              <p:pRg st="14" end="14"/>
                                            </p:txEl>
                                          </p:spTgt>
                                        </p:tgtEl>
                                        <p:attrNameLst>
                                          <p:attrName>style.visibility</p:attrName>
                                        </p:attrNameLst>
                                      </p:cBhvr>
                                      <p:to>
                                        <p:strVal val="visible"/>
                                      </p:to>
                                    </p:set>
                                    <p:anim calcmode="lin" valueType="num">
                                      <p:cBhvr additive="base">
                                        <p:cTn id="19" dur="500" fill="hold"/>
                                        <p:tgtEl>
                                          <p:spTgt spid="9221">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21">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221">
                                            <p:txEl>
                                              <p:pRg st="15" end="15"/>
                                            </p:txEl>
                                          </p:spTgt>
                                        </p:tgtEl>
                                        <p:attrNameLst>
                                          <p:attrName>style.visibility</p:attrName>
                                        </p:attrNameLst>
                                      </p:cBhvr>
                                      <p:to>
                                        <p:strVal val="visible"/>
                                      </p:to>
                                    </p:set>
                                    <p:anim calcmode="lin" valueType="num">
                                      <p:cBhvr additive="base">
                                        <p:cTn id="23" dur="500" fill="hold"/>
                                        <p:tgtEl>
                                          <p:spTgt spid="9221">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21">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221">
                                            <p:txEl>
                                              <p:pRg st="16" end="16"/>
                                            </p:txEl>
                                          </p:spTgt>
                                        </p:tgtEl>
                                        <p:attrNameLst>
                                          <p:attrName>style.visibility</p:attrName>
                                        </p:attrNameLst>
                                      </p:cBhvr>
                                      <p:to>
                                        <p:strVal val="visible"/>
                                      </p:to>
                                    </p:set>
                                    <p:anim calcmode="lin" valueType="num">
                                      <p:cBhvr additive="base">
                                        <p:cTn id="27" dur="500" fill="hold"/>
                                        <p:tgtEl>
                                          <p:spTgt spid="9221">
                                            <p:txEl>
                                              <p:pRg st="16" end="1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21">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6187324"/>
          </a:xfrm>
        </p:spPr>
        <p:txBody>
          <a:bodyPr/>
          <a:lstStyle/>
          <a:p>
            <a:pPr>
              <a:lnSpc>
                <a:spcPct val="100000"/>
              </a:lnSpc>
              <a:spcBef>
                <a:spcPts val="0"/>
              </a:spcBef>
              <a:buSzPct val="100000"/>
              <a:buFont typeface="Arial" panose="020B0604020202020204" pitchFamily="34" charset="0"/>
              <a:buChar char="•"/>
            </a:pPr>
            <a:r>
              <a:rPr lang="en-US" dirty="0"/>
              <a:t>Discounted payback period  </a:t>
            </a:r>
          </a:p>
          <a:p>
            <a:pPr marL="0" indent="0">
              <a:lnSpc>
                <a:spcPct val="100000"/>
              </a:lnSpc>
              <a:spcBef>
                <a:spcPts val="0"/>
              </a:spcBef>
              <a:buSzPct val="100000"/>
              <a:buNone/>
            </a:pPr>
            <a:r>
              <a:rPr lang="en-US" sz="2400" dirty="0">
                <a:latin typeface="+mj-lt"/>
              </a:rPr>
              <a:t>    </a:t>
            </a:r>
            <a:r>
              <a:rPr lang="en-US" sz="2400" dirty="0">
                <a:highlight>
                  <a:srgbClr val="00FFFF"/>
                </a:highlight>
                <a:latin typeface="+mj-lt"/>
              </a:rPr>
              <a:t>Project B</a:t>
            </a:r>
          </a:p>
          <a:p>
            <a:pPr marL="457200" lvl="1" indent="0">
              <a:lnSpc>
                <a:spcPct val="100000"/>
              </a:lnSpc>
              <a:spcBef>
                <a:spcPts val="0"/>
              </a:spcBef>
              <a:buSzPct val="100000"/>
              <a:buNone/>
            </a:pPr>
            <a:endParaRPr lang="en-US" sz="2400" dirty="0">
              <a:highlight>
                <a:srgbClr val="00FFFF"/>
              </a:highlight>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endParaRPr lang="en-US" sz="2400" dirty="0">
              <a:latin typeface="+mj-lt"/>
            </a:endParaRPr>
          </a:p>
          <a:p>
            <a:pPr marL="457200" lvl="1" indent="0">
              <a:lnSpc>
                <a:spcPct val="100000"/>
              </a:lnSpc>
              <a:spcBef>
                <a:spcPts val="0"/>
              </a:spcBef>
              <a:buSzPct val="100000"/>
              <a:buNone/>
            </a:pPr>
            <a:r>
              <a:rPr lang="en-US" sz="2400" dirty="0">
                <a:latin typeface="+mj-lt"/>
              </a:rPr>
              <a:t>= 3 + (2 101.60 / 14 168.50) </a:t>
            </a:r>
            <a:r>
              <a:rPr lang="en-US" sz="2400" dirty="0">
                <a:highlight>
                  <a:srgbClr val="00FFFF"/>
                </a:highlight>
                <a:latin typeface="+mj-lt"/>
              </a:rPr>
              <a:t>= 3.15 years</a:t>
            </a:r>
          </a:p>
          <a:p>
            <a:pPr marL="457200" lvl="1" indent="0">
              <a:lnSpc>
                <a:spcPct val="100000"/>
              </a:lnSpc>
              <a:spcBef>
                <a:spcPts val="0"/>
              </a:spcBef>
              <a:buSzPct val="100000"/>
              <a:buNone/>
            </a:pPr>
            <a:endParaRPr lang="en-US" sz="1800" dirty="0">
              <a:highlight>
                <a:srgbClr val="00FFFF"/>
              </a:highlight>
              <a:latin typeface="+mj-lt"/>
            </a:endParaRPr>
          </a:p>
          <a:p>
            <a:pPr marL="0" lvl="1" indent="0">
              <a:lnSpc>
                <a:spcPct val="100000"/>
              </a:lnSpc>
              <a:spcBef>
                <a:spcPts val="0"/>
              </a:spcBef>
              <a:buSzPct val="100000"/>
              <a:buNone/>
            </a:pPr>
            <a:endParaRPr lang="en-US" sz="400" dirty="0">
              <a:latin typeface="+mj-lt"/>
            </a:endParaRPr>
          </a:p>
          <a:p>
            <a:pPr marL="0" lvl="1" indent="0">
              <a:lnSpc>
                <a:spcPct val="100000"/>
              </a:lnSpc>
              <a:spcBef>
                <a:spcPts val="0"/>
              </a:spcBef>
              <a:buSzPct val="100000"/>
              <a:buNone/>
            </a:pPr>
            <a:r>
              <a:rPr lang="en-US" sz="2400" dirty="0">
                <a:latin typeface="+mj-lt"/>
              </a:rPr>
              <a:t>Project B should be rejected since </a:t>
            </a:r>
          </a:p>
          <a:p>
            <a:pPr marL="0" lvl="1" indent="0">
              <a:lnSpc>
                <a:spcPct val="100000"/>
              </a:lnSpc>
              <a:spcBef>
                <a:spcPts val="0"/>
              </a:spcBef>
              <a:buSzPct val="100000"/>
              <a:buNone/>
            </a:pPr>
            <a:r>
              <a:rPr lang="en-US" sz="2400" dirty="0">
                <a:latin typeface="+mj-lt"/>
              </a:rPr>
              <a:t>Discounted payback period for the </a:t>
            </a:r>
          </a:p>
          <a:p>
            <a:pPr marL="0" lvl="1" indent="0">
              <a:lnSpc>
                <a:spcPct val="100000"/>
              </a:lnSpc>
              <a:spcBef>
                <a:spcPts val="0"/>
              </a:spcBef>
              <a:buSzPct val="100000"/>
              <a:buNone/>
            </a:pPr>
            <a:r>
              <a:rPr lang="en-US" sz="2400" dirty="0">
                <a:latin typeface="+mj-lt"/>
              </a:rPr>
              <a:t>projects longer &gt; than the specified </a:t>
            </a:r>
          </a:p>
          <a:p>
            <a:pPr marL="0" lvl="1" indent="0">
              <a:lnSpc>
                <a:spcPct val="100000"/>
              </a:lnSpc>
              <a:spcBef>
                <a:spcPts val="0"/>
              </a:spcBef>
              <a:buSzPct val="100000"/>
              <a:buNone/>
            </a:pPr>
            <a:r>
              <a:rPr lang="en-US" sz="2400" dirty="0">
                <a:latin typeface="+mj-lt"/>
              </a:rPr>
              <a:t>cut-off (“maximum”) period of 3 years; </a:t>
            </a:r>
          </a:p>
          <a:p>
            <a:pPr marL="0" lvl="1" indent="0">
              <a:lnSpc>
                <a:spcPct val="100000"/>
              </a:lnSpc>
              <a:spcBef>
                <a:spcPts val="0"/>
              </a:spcBef>
              <a:buSzPct val="100000"/>
              <a:buNone/>
            </a:pPr>
            <a:r>
              <a:rPr lang="en-US" sz="2400" dirty="0">
                <a:latin typeface="+mj-lt"/>
              </a:rPr>
              <a:t>thus </a:t>
            </a:r>
            <a:r>
              <a:rPr lang="en-US" sz="2400" b="1" dirty="0">
                <a:latin typeface="+mj-lt"/>
              </a:rPr>
              <a:t>Select A</a:t>
            </a:r>
          </a:p>
          <a:p>
            <a:pPr marL="457200" lvl="1" indent="-457200">
              <a:lnSpc>
                <a:spcPct val="100000"/>
              </a:lnSpc>
              <a:spcBef>
                <a:spcPts val="0"/>
              </a:spcBef>
              <a:buSzPct val="100000"/>
              <a:buNone/>
            </a:pPr>
            <a:endParaRPr lang="en-US" sz="1100" dirty="0">
              <a:latin typeface="+mj-lt"/>
            </a:endParaRPr>
          </a:p>
          <a:p>
            <a:pPr marL="0" lvl="1" indent="0">
              <a:lnSpc>
                <a:spcPct val="100000"/>
              </a:lnSpc>
              <a:spcBef>
                <a:spcPts val="0"/>
              </a:spcBef>
              <a:buSzPct val="100000"/>
              <a:buNone/>
            </a:pPr>
            <a:r>
              <a:rPr lang="en-US" sz="2200" dirty="0">
                <a:latin typeface="+mj-lt"/>
              </a:rPr>
              <a:t>IF both were acceptable and you can only choose one? Select A with shortest Discounted payback (costs to be recovered sooner)</a:t>
            </a:r>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5" name="Picture 4">
            <a:extLst>
              <a:ext uri="{FF2B5EF4-FFF2-40B4-BE49-F238E27FC236}">
                <a16:creationId xmlns:a16="http://schemas.microsoft.com/office/drawing/2014/main" id="{29FC6688-1F87-5C82-FF91-733305A6AA47}"/>
              </a:ext>
            </a:extLst>
          </p:cNvPr>
          <p:cNvPicPr>
            <a:picLocks noChangeAspect="1"/>
          </p:cNvPicPr>
          <p:nvPr/>
        </p:nvPicPr>
        <p:blipFill>
          <a:blip r:embed="rId4"/>
          <a:stretch>
            <a:fillRect/>
          </a:stretch>
        </p:blipFill>
        <p:spPr>
          <a:xfrm>
            <a:off x="257908" y="1524000"/>
            <a:ext cx="8581292" cy="1752600"/>
          </a:xfrm>
          <a:prstGeom prst="rect">
            <a:avLst/>
          </a:prstGeom>
        </p:spPr>
      </p:pic>
      <p:sp>
        <p:nvSpPr>
          <p:cNvPr id="2" name="Oval 1">
            <a:extLst>
              <a:ext uri="{FF2B5EF4-FFF2-40B4-BE49-F238E27FC236}">
                <a16:creationId xmlns:a16="http://schemas.microsoft.com/office/drawing/2014/main" id="{64D849D6-970C-55C6-9728-C504BB648BCD}"/>
              </a:ext>
            </a:extLst>
          </p:cNvPr>
          <p:cNvSpPr/>
          <p:nvPr/>
        </p:nvSpPr>
        <p:spPr bwMode="auto">
          <a:xfrm>
            <a:off x="4800600" y="751490"/>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#1</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sp>
        <p:nvSpPr>
          <p:cNvPr id="4" name="Oval 3">
            <a:extLst>
              <a:ext uri="{FF2B5EF4-FFF2-40B4-BE49-F238E27FC236}">
                <a16:creationId xmlns:a16="http://schemas.microsoft.com/office/drawing/2014/main" id="{82D96B44-A247-18D8-B764-1C4F036E401D}"/>
              </a:ext>
            </a:extLst>
          </p:cNvPr>
          <p:cNvSpPr/>
          <p:nvPr/>
        </p:nvSpPr>
        <p:spPr bwMode="auto">
          <a:xfrm>
            <a:off x="5615354" y="3733800"/>
            <a:ext cx="3452446" cy="2162669"/>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200" dirty="0">
                <a:solidFill>
                  <a:srgbClr val="FF0000"/>
                </a:solidFill>
                <a:ea typeface="ＭＳ Ｐゴシック" pitchFamily="1" charset="-128"/>
              </a:rPr>
              <a:t>Can you get these DCFs? Surely! You know how to get PVs by now…</a:t>
            </a:r>
            <a:endParaRPr kumimoji="0" lang="en-ZA" sz="2200" b="0" i="0" u="none" strike="noStrike" cap="none" normalizeH="0" baseline="0" dirty="0">
              <a:ln>
                <a:noFill/>
              </a:ln>
              <a:solidFill>
                <a:srgbClr val="FF000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685999163"/>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1">
                                            <p:txEl>
                                              <p:pRg st="7" end="7"/>
                                            </p:txEl>
                                          </p:spTgt>
                                        </p:tgtEl>
                                        <p:attrNameLst>
                                          <p:attrName>style.visibility</p:attrName>
                                        </p:attrNameLst>
                                      </p:cBhvr>
                                      <p:to>
                                        <p:strVal val="visible"/>
                                      </p:to>
                                    </p:set>
                                    <p:anim calcmode="lin" valueType="num">
                                      <p:cBhvr additive="base">
                                        <p:cTn id="13" dur="500" fill="hold"/>
                                        <p:tgtEl>
                                          <p:spTgt spid="9221">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1">
                                            <p:txEl>
                                              <p:pRg st="10" end="10"/>
                                            </p:txEl>
                                          </p:spTgt>
                                        </p:tgtEl>
                                        <p:attrNameLst>
                                          <p:attrName>style.visibility</p:attrName>
                                        </p:attrNameLst>
                                      </p:cBhvr>
                                      <p:to>
                                        <p:strVal val="visible"/>
                                      </p:to>
                                    </p:set>
                                    <p:anim calcmode="lin" valueType="num">
                                      <p:cBhvr additive="base">
                                        <p:cTn id="19" dur="500" fill="hold"/>
                                        <p:tgtEl>
                                          <p:spTgt spid="9221">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21">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221">
                                            <p:txEl>
                                              <p:pRg st="11" end="11"/>
                                            </p:txEl>
                                          </p:spTgt>
                                        </p:tgtEl>
                                        <p:attrNameLst>
                                          <p:attrName>style.visibility</p:attrName>
                                        </p:attrNameLst>
                                      </p:cBhvr>
                                      <p:to>
                                        <p:strVal val="visible"/>
                                      </p:to>
                                    </p:set>
                                    <p:anim calcmode="lin" valueType="num">
                                      <p:cBhvr additive="base">
                                        <p:cTn id="23" dur="500" fill="hold"/>
                                        <p:tgtEl>
                                          <p:spTgt spid="9221">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21">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221">
                                            <p:txEl>
                                              <p:pRg st="12" end="12"/>
                                            </p:txEl>
                                          </p:spTgt>
                                        </p:tgtEl>
                                        <p:attrNameLst>
                                          <p:attrName>style.visibility</p:attrName>
                                        </p:attrNameLst>
                                      </p:cBhvr>
                                      <p:to>
                                        <p:strVal val="visible"/>
                                      </p:to>
                                    </p:set>
                                    <p:anim calcmode="lin" valueType="num">
                                      <p:cBhvr additive="base">
                                        <p:cTn id="27" dur="500" fill="hold"/>
                                        <p:tgtEl>
                                          <p:spTgt spid="9221">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21">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221">
                                            <p:txEl>
                                              <p:pRg st="13" end="13"/>
                                            </p:txEl>
                                          </p:spTgt>
                                        </p:tgtEl>
                                        <p:attrNameLst>
                                          <p:attrName>style.visibility</p:attrName>
                                        </p:attrNameLst>
                                      </p:cBhvr>
                                      <p:to>
                                        <p:strVal val="visible"/>
                                      </p:to>
                                    </p:set>
                                    <p:anim calcmode="lin" valueType="num">
                                      <p:cBhvr additive="base">
                                        <p:cTn id="31" dur="500" fill="hold"/>
                                        <p:tgtEl>
                                          <p:spTgt spid="9221">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21">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221">
                                            <p:txEl>
                                              <p:pRg st="14" end="14"/>
                                            </p:txEl>
                                          </p:spTgt>
                                        </p:tgtEl>
                                        <p:attrNameLst>
                                          <p:attrName>style.visibility</p:attrName>
                                        </p:attrNameLst>
                                      </p:cBhvr>
                                      <p:to>
                                        <p:strVal val="visible"/>
                                      </p:to>
                                    </p:set>
                                    <p:anim calcmode="lin" valueType="num">
                                      <p:cBhvr additive="base">
                                        <p:cTn id="35" dur="500" fill="hold"/>
                                        <p:tgtEl>
                                          <p:spTgt spid="9221">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221">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9221">
                                            <p:txEl>
                                              <p:pRg st="16" end="16"/>
                                            </p:txEl>
                                          </p:spTgt>
                                        </p:tgtEl>
                                        <p:attrNameLst>
                                          <p:attrName>style.visibility</p:attrName>
                                        </p:attrNameLst>
                                      </p:cBhvr>
                                      <p:to>
                                        <p:strVal val="visible"/>
                                      </p:to>
                                    </p:set>
                                    <p:anim calcmode="lin" valueType="num">
                                      <p:cBhvr additive="base">
                                        <p:cTn id="41" dur="500" fill="hold"/>
                                        <p:tgtEl>
                                          <p:spTgt spid="9221">
                                            <p:txEl>
                                              <p:pRg st="16" end="1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221">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6" y="762000"/>
            <a:ext cx="8915399" cy="5943600"/>
          </a:xfrm>
        </p:spPr>
        <p:txBody>
          <a:bodyPr/>
          <a:lstStyle/>
          <a:p>
            <a:pPr>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Net present value (NPV)</a:t>
            </a:r>
          </a:p>
          <a:p>
            <a:pPr>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Shows how much value (in monetary terms) a project creates for firm’s shareholders</a:t>
            </a:r>
          </a:p>
          <a:p>
            <a:pPr>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NPV = difference between an investment’s market value (i.e. PV of all future CFs) and its initial cost (or outlay)</a:t>
            </a: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a:lnSpc>
                <a:spcPct val="100000"/>
              </a:lnSpc>
              <a:spcBef>
                <a:spcPts val="0"/>
              </a:spcBef>
              <a:buSzPct val="100000"/>
              <a:buFont typeface="Arial" panose="020B0604020202020204" pitchFamily="34" charset="0"/>
              <a:buChar char="•"/>
            </a:pPr>
            <a:endParaRPr lang="en-US" sz="4400" dirty="0">
              <a:latin typeface="+mj-lt"/>
              <a:cs typeface="Arial" panose="020B0604020202020204" pitchFamily="34" charset="0"/>
            </a:endParaRPr>
          </a:p>
          <a:p>
            <a:pPr>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Stated differently NPV = PV of all future CFs:</a:t>
            </a: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marL="457200" lvl="1" indent="0">
              <a:lnSpc>
                <a:spcPct val="100000"/>
              </a:lnSpc>
              <a:spcBef>
                <a:spcPts val="0"/>
              </a:spcBef>
              <a:buSzPct val="100000"/>
              <a:buNone/>
            </a:pPr>
            <a:r>
              <a:rPr lang="en-US" sz="2400" dirty="0">
                <a:latin typeface="+mj-lt"/>
                <a:cs typeface="Arial" panose="020B0604020202020204" pitchFamily="34" charset="0"/>
              </a:rPr>
              <a:t> </a:t>
            </a:r>
          </a:p>
          <a:p>
            <a:pPr marL="457200" lvl="1" indent="0">
              <a:lnSpc>
                <a:spcPct val="100000"/>
              </a:lnSpc>
              <a:spcBef>
                <a:spcPts val="0"/>
              </a:spcBef>
              <a:buSzPct val="100000"/>
              <a:buNone/>
            </a:pPr>
            <a:endParaRPr lang="en-US" dirty="0">
              <a:latin typeface="+mj-lt"/>
              <a:cs typeface="Arial" panose="020B0604020202020204" pitchFamily="34" charset="0"/>
            </a:endParaRPr>
          </a:p>
          <a:p>
            <a:pPr marL="342900" marR="0" lvl="0" indent="-342900" algn="just" defTabSz="914400" rtl="0" eaLnBrk="0" fontAlgn="base" latinLnBrk="0" hangingPunct="0">
              <a:lnSpc>
                <a:spcPct val="100000"/>
              </a:lnSpc>
              <a:spcBef>
                <a:spcPts val="0"/>
              </a:spcBef>
              <a:spcAft>
                <a:spcPct val="0"/>
              </a:spcAft>
              <a:buClr>
                <a:srgbClr val="1F497D"/>
              </a:buClr>
              <a:buSzPct val="75000"/>
              <a:buFontTx/>
              <a:buChar char="•"/>
              <a:tabLst/>
              <a:defRPr/>
            </a:pPr>
            <a:r>
              <a:rPr kumimoji="0" lang="en-US" altLang="en-US" sz="24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Decision rule: </a:t>
            </a:r>
            <a:r>
              <a:rPr kumimoji="0" lang="en-US" altLang="en-US" sz="2400" b="1" i="0" u="none" strike="noStrike" kern="0" cap="none" spc="0" normalizeH="0" baseline="0" noProof="0" dirty="0">
                <a:ln>
                  <a:noFill/>
                </a:ln>
                <a:solidFill>
                  <a:srgbClr val="C00000"/>
                </a:solidFill>
                <a:effectLst/>
                <a:uLnTx/>
                <a:uFillTx/>
                <a:latin typeface="+mj-lt"/>
                <a:ea typeface="ＭＳ Ｐゴシック"/>
                <a:cs typeface="Arial" panose="020B0604020202020204" pitchFamily="34" charset="0"/>
              </a:rPr>
              <a:t>A project is acceptable if its NPV is positive </a:t>
            </a:r>
            <a:r>
              <a:rPr kumimoji="0" lang="en-US" altLang="en-US" sz="24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(i.e. if the PV of all future CFs &gt; the initial cost of the project; what you receive as a result of implementing a project should exceed the cost of the project)</a:t>
            </a:r>
          </a:p>
          <a:p>
            <a:pPr>
              <a:lnSpc>
                <a:spcPct val="105000"/>
              </a:lnSpc>
              <a:buSzPct val="100000"/>
              <a:buFont typeface="Arial" panose="020B0604020202020204" pitchFamily="34" charset="0"/>
              <a:buChar char="•"/>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0F1B73CB-3086-5F3F-28F5-C3A1D7DB72F8}"/>
              </a:ext>
            </a:extLst>
          </p:cNvPr>
          <p:cNvSpPr/>
          <p:nvPr/>
        </p:nvSpPr>
        <p:spPr bwMode="auto">
          <a:xfrm>
            <a:off x="3871546" y="549884"/>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#2</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pic>
        <p:nvPicPr>
          <p:cNvPr id="10" name="Picture 9">
            <a:extLst>
              <a:ext uri="{FF2B5EF4-FFF2-40B4-BE49-F238E27FC236}">
                <a16:creationId xmlns:a16="http://schemas.microsoft.com/office/drawing/2014/main" id="{FBBC5241-FFA1-F75C-E41C-AFC3647292EF}"/>
              </a:ext>
            </a:extLst>
          </p:cNvPr>
          <p:cNvPicPr>
            <a:picLocks noChangeAspect="1"/>
          </p:cNvPicPr>
          <p:nvPr/>
        </p:nvPicPr>
        <p:blipFill>
          <a:blip r:embed="rId4"/>
          <a:stretch>
            <a:fillRect/>
          </a:stretch>
        </p:blipFill>
        <p:spPr>
          <a:xfrm>
            <a:off x="2590800" y="2625475"/>
            <a:ext cx="3162741" cy="943107"/>
          </a:xfrm>
          <a:prstGeom prst="rect">
            <a:avLst/>
          </a:prstGeom>
        </p:spPr>
      </p:pic>
      <p:pic>
        <p:nvPicPr>
          <p:cNvPr id="12" name="Picture 11">
            <a:extLst>
              <a:ext uri="{FF2B5EF4-FFF2-40B4-BE49-F238E27FC236}">
                <a16:creationId xmlns:a16="http://schemas.microsoft.com/office/drawing/2014/main" id="{A4317669-DC31-344F-513F-73E63AE5F787}"/>
              </a:ext>
            </a:extLst>
          </p:cNvPr>
          <p:cNvPicPr>
            <a:picLocks noChangeAspect="1"/>
          </p:cNvPicPr>
          <p:nvPr/>
        </p:nvPicPr>
        <p:blipFill>
          <a:blip r:embed="rId5"/>
          <a:stretch>
            <a:fillRect/>
          </a:stretch>
        </p:blipFill>
        <p:spPr>
          <a:xfrm>
            <a:off x="2971800" y="4033817"/>
            <a:ext cx="2651905" cy="1103274"/>
          </a:xfrm>
          <a:prstGeom prst="rect">
            <a:avLst/>
          </a:prstGeom>
        </p:spPr>
      </p:pic>
    </p:spTree>
    <p:custDataLst>
      <p:tags r:id="rId1"/>
    </p:custDataLst>
    <p:extLst>
      <p:ext uri="{BB962C8B-B14F-4D97-AF65-F5344CB8AC3E}">
        <p14:creationId xmlns:p14="http://schemas.microsoft.com/office/powerpoint/2010/main" val="164477976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5791200"/>
          </a:xfrm>
        </p:spPr>
        <p:txBody>
          <a:bodyPr/>
          <a:lstStyle/>
          <a:p>
            <a:pPr>
              <a:lnSpc>
                <a:spcPct val="105000"/>
              </a:lnSpc>
              <a:buSzPct val="100000"/>
              <a:buFont typeface="Arial" panose="020B0604020202020204" pitchFamily="34" charset="0"/>
              <a:buChar char="•"/>
            </a:pPr>
            <a:r>
              <a:rPr lang="en-US" dirty="0"/>
              <a:t>Net present value (NPV)  </a:t>
            </a:r>
          </a:p>
          <a:p>
            <a:pPr marL="457200" lvl="1" indent="0">
              <a:lnSpc>
                <a:spcPct val="105000"/>
              </a:lnSpc>
              <a:buSzPct val="100000"/>
              <a:buNone/>
            </a:pPr>
            <a:r>
              <a:rPr lang="en-US" sz="2600" dirty="0"/>
              <a:t> Project A				Project B</a:t>
            </a:r>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r>
              <a:rPr lang="en-US" sz="2600" dirty="0">
                <a:highlight>
                  <a:srgbClr val="00FF00"/>
                </a:highlight>
              </a:rPr>
              <a:t>NPV A = R11 842.10</a:t>
            </a:r>
            <a:r>
              <a:rPr lang="en-US" sz="2600" dirty="0"/>
              <a:t>		    </a:t>
            </a:r>
            <a:r>
              <a:rPr lang="en-US" sz="2600" dirty="0">
                <a:highlight>
                  <a:srgbClr val="00FFFF"/>
                </a:highlight>
              </a:rPr>
              <a:t>NPV B = R………………</a:t>
            </a:r>
          </a:p>
          <a:p>
            <a:pPr marL="457200" lvl="1" indent="-457200">
              <a:lnSpc>
                <a:spcPct val="105000"/>
              </a:lnSpc>
              <a:buSzPct val="100000"/>
              <a:buNone/>
            </a:pPr>
            <a:r>
              <a:rPr lang="en-US" sz="2600" dirty="0"/>
              <a:t>Both A and B acceptable since NPV &gt; 0 </a:t>
            </a:r>
          </a:p>
          <a:p>
            <a:pPr marL="457200" lvl="1" indent="-457200">
              <a:lnSpc>
                <a:spcPct val="105000"/>
              </a:lnSpc>
              <a:buSzPct val="100000"/>
              <a:buNone/>
            </a:pPr>
            <a:r>
              <a:rPr lang="en-US" sz="2600" dirty="0"/>
              <a:t>Can only choose one? </a:t>
            </a:r>
            <a:r>
              <a:rPr lang="en-US" sz="2600" b="1" dirty="0"/>
              <a:t>Select B</a:t>
            </a:r>
            <a:r>
              <a:rPr lang="en-US" sz="2600" dirty="0"/>
              <a:t> with </a:t>
            </a:r>
            <a:r>
              <a:rPr lang="en-US" sz="2600" u="sng" dirty="0"/>
              <a:t>highest</a:t>
            </a:r>
            <a:r>
              <a:rPr lang="en-US" sz="2600" dirty="0"/>
              <a:t> NPV</a:t>
            </a:r>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6" name="Picture 5">
            <a:extLst>
              <a:ext uri="{FF2B5EF4-FFF2-40B4-BE49-F238E27FC236}">
                <a16:creationId xmlns:a16="http://schemas.microsoft.com/office/drawing/2014/main" id="{8867A525-43FB-2CB7-DF28-96B634781990}"/>
              </a:ext>
            </a:extLst>
          </p:cNvPr>
          <p:cNvPicPr>
            <a:picLocks noChangeAspect="1"/>
          </p:cNvPicPr>
          <p:nvPr/>
        </p:nvPicPr>
        <p:blipFill>
          <a:blip r:embed="rId4"/>
          <a:stretch>
            <a:fillRect/>
          </a:stretch>
        </p:blipFill>
        <p:spPr>
          <a:xfrm>
            <a:off x="40764" y="1676400"/>
            <a:ext cx="4465389" cy="3505200"/>
          </a:xfrm>
          <a:prstGeom prst="rect">
            <a:avLst/>
          </a:prstGeom>
        </p:spPr>
      </p:pic>
      <p:pic>
        <p:nvPicPr>
          <p:cNvPr id="8" name="Picture 7">
            <a:extLst>
              <a:ext uri="{FF2B5EF4-FFF2-40B4-BE49-F238E27FC236}">
                <a16:creationId xmlns:a16="http://schemas.microsoft.com/office/drawing/2014/main" id="{0F8FF1C7-A1A0-0D54-825E-961A55410E92}"/>
              </a:ext>
            </a:extLst>
          </p:cNvPr>
          <p:cNvPicPr>
            <a:picLocks noChangeAspect="1"/>
          </p:cNvPicPr>
          <p:nvPr/>
        </p:nvPicPr>
        <p:blipFill>
          <a:blip r:embed="rId5"/>
          <a:stretch>
            <a:fillRect/>
          </a:stretch>
        </p:blipFill>
        <p:spPr>
          <a:xfrm>
            <a:off x="4457607" y="1756816"/>
            <a:ext cx="4677601" cy="3417641"/>
          </a:xfrm>
          <a:prstGeom prst="rect">
            <a:avLst/>
          </a:prstGeom>
        </p:spPr>
      </p:pic>
      <p:sp>
        <p:nvSpPr>
          <p:cNvPr id="9" name="Star: 5 Points 8">
            <a:extLst>
              <a:ext uri="{FF2B5EF4-FFF2-40B4-BE49-F238E27FC236}">
                <a16:creationId xmlns:a16="http://schemas.microsoft.com/office/drawing/2014/main" id="{E0819537-FADA-04A3-847C-25595146B8D1}"/>
              </a:ext>
            </a:extLst>
          </p:cNvPr>
          <p:cNvSpPr/>
          <p:nvPr/>
        </p:nvSpPr>
        <p:spPr bwMode="auto">
          <a:xfrm>
            <a:off x="8478716" y="4921086"/>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sz="2800" b="0" i="0" u="none" strike="noStrike" kern="1200" cap="none" spc="0" normalizeH="0" baseline="0" noProof="0">
              <a:ln>
                <a:noFill/>
              </a:ln>
              <a:solidFill>
                <a:prstClr val="black"/>
              </a:solidFill>
              <a:effectLst/>
              <a:uLnTx/>
              <a:uFillTx/>
              <a:latin typeface="Arial" charset="0"/>
              <a:ea typeface="ＭＳ Ｐゴシック" pitchFamily="1" charset="-128"/>
            </a:endParaRPr>
          </a:p>
        </p:txBody>
      </p:sp>
      <p:sp>
        <p:nvSpPr>
          <p:cNvPr id="2" name="Oval 1">
            <a:extLst>
              <a:ext uri="{FF2B5EF4-FFF2-40B4-BE49-F238E27FC236}">
                <a16:creationId xmlns:a16="http://schemas.microsoft.com/office/drawing/2014/main" id="{0F1B73CB-3086-5F3F-28F5-C3A1D7DB72F8}"/>
              </a:ext>
            </a:extLst>
          </p:cNvPr>
          <p:cNvSpPr/>
          <p:nvPr/>
        </p:nvSpPr>
        <p:spPr bwMode="auto">
          <a:xfrm>
            <a:off x="4407192" y="607492"/>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#2</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1898727403"/>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762000"/>
            <a:ext cx="8797306" cy="5689366"/>
          </a:xfrm>
        </p:spPr>
        <p:txBody>
          <a:bodyPr/>
          <a:lstStyle/>
          <a:p>
            <a:pPr>
              <a:lnSpc>
                <a:spcPct val="100000"/>
              </a:lnSpc>
              <a:spcBef>
                <a:spcPts val="0"/>
              </a:spcBef>
              <a:buSzPct val="100000"/>
              <a:buFont typeface="Arial" panose="020B0604020202020204" pitchFamily="34" charset="0"/>
              <a:buChar char="•"/>
            </a:pPr>
            <a:r>
              <a:rPr lang="en-US" sz="2400" dirty="0">
                <a:latin typeface="+mj-lt"/>
              </a:rPr>
              <a:t>Profitability index (PI)</a:t>
            </a:r>
          </a:p>
          <a:p>
            <a:pPr lvl="1">
              <a:lnSpc>
                <a:spcPct val="100000"/>
              </a:lnSpc>
              <a:spcBef>
                <a:spcPts val="0"/>
              </a:spcBef>
              <a:buSzPct val="100000"/>
              <a:buFont typeface="Wingdings" panose="05000000000000000000" pitchFamily="2" charset="2"/>
              <a:buChar char="§"/>
            </a:pPr>
            <a:endParaRPr lang="en-US" sz="1100" dirty="0">
              <a:latin typeface="+mj-lt"/>
            </a:endParaRPr>
          </a:p>
          <a:p>
            <a:pPr lvl="1">
              <a:lnSpc>
                <a:spcPct val="100000"/>
              </a:lnSpc>
              <a:spcBef>
                <a:spcPts val="0"/>
              </a:spcBef>
              <a:buSzPct val="100000"/>
              <a:buFont typeface="Wingdings" panose="05000000000000000000" pitchFamily="2" charset="2"/>
              <a:buChar char="§"/>
            </a:pPr>
            <a:r>
              <a:rPr lang="en-US" sz="2400" dirty="0">
                <a:latin typeface="+mj-lt"/>
              </a:rPr>
              <a:t>Linked to NPV criterion; measures PV return per Rand invested </a:t>
            </a:r>
          </a:p>
          <a:p>
            <a:pPr lvl="1">
              <a:lnSpc>
                <a:spcPct val="100000"/>
              </a:lnSpc>
              <a:spcBef>
                <a:spcPts val="0"/>
              </a:spcBef>
              <a:buSzPct val="100000"/>
              <a:buFont typeface="Wingdings" panose="05000000000000000000" pitchFamily="2" charset="2"/>
              <a:buChar char="§"/>
            </a:pPr>
            <a:r>
              <a:rPr lang="en-US" sz="2400" dirty="0">
                <a:latin typeface="+mj-lt"/>
              </a:rPr>
              <a:t>PI = total PV of CFs / initial investment</a:t>
            </a:r>
          </a:p>
          <a:p>
            <a:pPr lvl="1">
              <a:lnSpc>
                <a:spcPct val="100000"/>
              </a:lnSpc>
              <a:spcBef>
                <a:spcPts val="0"/>
              </a:spcBef>
              <a:buSzPct val="100000"/>
              <a:buFont typeface="Wingdings" panose="05000000000000000000" pitchFamily="2" charset="2"/>
              <a:buChar char="§"/>
            </a:pPr>
            <a:r>
              <a:rPr lang="en-US" sz="2400" dirty="0">
                <a:latin typeface="+mj-lt"/>
              </a:rPr>
              <a:t>Acceptable if &gt; 1</a:t>
            </a:r>
          </a:p>
          <a:p>
            <a:pPr lvl="1">
              <a:lnSpc>
                <a:spcPct val="100000"/>
              </a:lnSpc>
              <a:spcBef>
                <a:spcPts val="0"/>
              </a:spcBef>
              <a:buSzPct val="100000"/>
              <a:buFont typeface="Wingdings" panose="05000000000000000000" pitchFamily="2" charset="2"/>
              <a:buChar char="§"/>
            </a:pPr>
            <a:endParaRPr lang="en-US" sz="2400" dirty="0">
              <a:latin typeface="+mj-lt"/>
            </a:endParaRPr>
          </a:p>
          <a:p>
            <a:pPr marL="342900" marR="0" lvl="0" indent="-342900" algn="l"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mj-lt"/>
                <a:ea typeface="ＭＳ Ｐゴシック"/>
              </a:rPr>
              <a:t>Our example: assume total PVs given OR can calculate it as NPV + </a:t>
            </a:r>
            <a:r>
              <a:rPr lang="en-US" sz="2400" dirty="0">
                <a:solidFill>
                  <a:prstClr val="black"/>
                </a:solidFill>
                <a:latin typeface="+mj-lt"/>
                <a:ea typeface="ＭＳ Ｐゴシック"/>
              </a:rPr>
              <a:t>II </a:t>
            </a:r>
          </a:p>
          <a:p>
            <a:pPr marL="342900" marR="0" lvl="0" indent="-342900" algn="l" defTabSz="914400" rtl="0" eaLnBrk="0" fontAlgn="base" latinLnBrk="0" hangingPunct="0">
              <a:lnSpc>
                <a:spcPct val="100000"/>
              </a:lnSpc>
              <a:spcBef>
                <a:spcPts val="0"/>
              </a:spcBef>
              <a:spcAft>
                <a:spcPct val="0"/>
              </a:spcAft>
              <a:buClr>
                <a:srgbClr val="1F497D"/>
              </a:buClr>
              <a:buSzPct val="100000"/>
              <a:buFont typeface="Arial" panose="020B0604020202020204" pitchFamily="34" charset="0"/>
              <a:buChar char="•"/>
              <a:tabLst/>
              <a:defRPr/>
            </a:pPr>
            <a:endParaRPr lang="en-US" sz="2400" dirty="0">
              <a:latin typeface="+mj-lt"/>
            </a:endParaRPr>
          </a:p>
          <a:p>
            <a:pPr marL="457200" lvl="1" indent="0">
              <a:lnSpc>
                <a:spcPct val="100000"/>
              </a:lnSpc>
              <a:spcBef>
                <a:spcPts val="0"/>
              </a:spcBef>
              <a:buSzPct val="100000"/>
              <a:buNone/>
            </a:pPr>
            <a:r>
              <a:rPr lang="en-US" sz="2400" dirty="0">
                <a:latin typeface="+mj-lt"/>
              </a:rPr>
              <a:t>Project A				Project B</a:t>
            </a:r>
          </a:p>
          <a:p>
            <a:pPr marL="457200" lvl="1" indent="0">
              <a:lnSpc>
                <a:spcPct val="100000"/>
              </a:lnSpc>
              <a:spcBef>
                <a:spcPts val="0"/>
              </a:spcBef>
              <a:buSzPct val="100000"/>
              <a:buNone/>
            </a:pPr>
            <a:r>
              <a:rPr lang="en-US" sz="2400" dirty="0">
                <a:latin typeface="+mj-lt"/>
              </a:rPr>
              <a:t>	= 36 842.10 / 25 000	       = 37 066.91 / 25 000</a:t>
            </a:r>
          </a:p>
          <a:p>
            <a:pPr marL="457200" lvl="1" indent="-369888">
              <a:lnSpc>
                <a:spcPct val="100000"/>
              </a:lnSpc>
              <a:spcBef>
                <a:spcPts val="0"/>
              </a:spcBef>
              <a:buSzPct val="100000"/>
              <a:buNone/>
            </a:pPr>
            <a:r>
              <a:rPr lang="en-US" sz="2400" dirty="0">
                <a:highlight>
                  <a:srgbClr val="00FF00"/>
                </a:highlight>
                <a:latin typeface="+mj-lt"/>
              </a:rPr>
              <a:t>PI A	= 1.47</a:t>
            </a:r>
            <a:r>
              <a:rPr lang="en-US" sz="2400" dirty="0">
                <a:latin typeface="+mj-lt"/>
              </a:rPr>
              <a:t>			      </a:t>
            </a:r>
            <a:r>
              <a:rPr lang="en-US" sz="2400" dirty="0">
                <a:highlight>
                  <a:srgbClr val="00FFFF"/>
                </a:highlight>
                <a:latin typeface="+mj-lt"/>
              </a:rPr>
              <a:t>PI B     = 1.48</a:t>
            </a:r>
          </a:p>
          <a:p>
            <a:pPr marL="457200" lvl="1" indent="-457200">
              <a:lnSpc>
                <a:spcPct val="100000"/>
              </a:lnSpc>
              <a:spcBef>
                <a:spcPts val="0"/>
              </a:spcBef>
              <a:buSzPct val="100000"/>
              <a:buNone/>
            </a:pPr>
            <a:endParaRPr lang="en-US" sz="2400" dirty="0">
              <a:latin typeface="+mj-lt"/>
            </a:endParaRPr>
          </a:p>
          <a:p>
            <a:pPr marL="457200" lvl="1" indent="-457200">
              <a:lnSpc>
                <a:spcPct val="100000"/>
              </a:lnSpc>
              <a:spcBef>
                <a:spcPts val="0"/>
              </a:spcBef>
              <a:buSzPct val="100000"/>
              <a:buNone/>
            </a:pPr>
            <a:r>
              <a:rPr lang="en-US" sz="2400" dirty="0">
                <a:latin typeface="+mj-lt"/>
              </a:rPr>
              <a:t>Both A and B acceptable since PI &gt; 1; </a:t>
            </a:r>
          </a:p>
          <a:p>
            <a:pPr marL="457200" lvl="1" indent="-457200">
              <a:lnSpc>
                <a:spcPct val="100000"/>
              </a:lnSpc>
              <a:spcBef>
                <a:spcPts val="0"/>
              </a:spcBef>
              <a:buSzPct val="100000"/>
              <a:buNone/>
            </a:pPr>
            <a:r>
              <a:rPr lang="en-US" sz="2400" dirty="0">
                <a:latin typeface="+mj-lt"/>
              </a:rPr>
              <a:t>Can only choose one? </a:t>
            </a:r>
            <a:r>
              <a:rPr lang="en-US" sz="2400" b="1" dirty="0">
                <a:latin typeface="+mj-lt"/>
              </a:rPr>
              <a:t>Select B</a:t>
            </a:r>
            <a:r>
              <a:rPr lang="en-US" sz="2400" dirty="0">
                <a:latin typeface="+mj-lt"/>
              </a:rPr>
              <a:t> with </a:t>
            </a:r>
            <a:r>
              <a:rPr lang="en-US" sz="2400" u="sng" dirty="0">
                <a:latin typeface="+mj-lt"/>
              </a:rPr>
              <a:t>highest</a:t>
            </a:r>
            <a:r>
              <a:rPr lang="en-US" sz="2400" dirty="0">
                <a:latin typeface="+mj-lt"/>
              </a:rPr>
              <a:t> PI</a:t>
            </a:r>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6608ECAC-3414-A922-70AF-9F4FBC52866E}"/>
              </a:ext>
            </a:extLst>
          </p:cNvPr>
          <p:cNvSpPr/>
          <p:nvPr/>
        </p:nvSpPr>
        <p:spPr bwMode="auto">
          <a:xfrm>
            <a:off x="3581400" y="642581"/>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#3</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pic>
        <p:nvPicPr>
          <p:cNvPr id="4" name="Picture 3">
            <a:extLst>
              <a:ext uri="{FF2B5EF4-FFF2-40B4-BE49-F238E27FC236}">
                <a16:creationId xmlns:a16="http://schemas.microsoft.com/office/drawing/2014/main" id="{78ECD1CA-30B2-AE9F-9F9B-FCCA4ED35A59}"/>
              </a:ext>
            </a:extLst>
          </p:cNvPr>
          <p:cNvPicPr>
            <a:picLocks noChangeAspect="1"/>
          </p:cNvPicPr>
          <p:nvPr/>
        </p:nvPicPr>
        <p:blipFill>
          <a:blip r:embed="rId4"/>
          <a:stretch>
            <a:fillRect/>
          </a:stretch>
        </p:blipFill>
        <p:spPr>
          <a:xfrm>
            <a:off x="6477000" y="5029200"/>
            <a:ext cx="566977" cy="725487"/>
          </a:xfrm>
          <a:prstGeom prst="rect">
            <a:avLst/>
          </a:prstGeom>
        </p:spPr>
      </p:pic>
    </p:spTree>
    <p:custDataLst>
      <p:tags r:id="rId1"/>
    </p:custDataLst>
    <p:extLst>
      <p:ext uri="{BB962C8B-B14F-4D97-AF65-F5344CB8AC3E}">
        <p14:creationId xmlns:p14="http://schemas.microsoft.com/office/powerpoint/2010/main" val="368312736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762000"/>
            <a:ext cx="8797306" cy="5689366"/>
          </a:xfrm>
        </p:spPr>
        <p:txBody>
          <a:bodyPr/>
          <a:lstStyle/>
          <a:p>
            <a:pPr>
              <a:lnSpc>
                <a:spcPct val="105000"/>
              </a:lnSpc>
              <a:buSzPct val="100000"/>
              <a:buFont typeface="Arial" panose="020B0604020202020204" pitchFamily="34" charset="0"/>
              <a:buChar char="•"/>
            </a:pPr>
            <a:r>
              <a:rPr lang="en-US" sz="2600" dirty="0">
                <a:latin typeface="+mj-lt"/>
                <a:cs typeface="Arial" panose="020B0604020202020204" pitchFamily="34" charset="0"/>
              </a:rPr>
              <a:t>Internal rate of return (IRR)</a:t>
            </a: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r>
              <a:rPr kumimoji="0" lang="en-ZA"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With the IRR we try to find a single rate of return that summarises the merits of a project – what is the return that a specific project generates? </a:t>
            </a: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endParaRPr kumimoji="0" lang="en-ZA"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endParaRP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endParaRPr kumimoji="0" lang="en-ZA"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endParaRP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endParaRPr kumimoji="0" lang="en-ZA"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endParaRP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r>
              <a:rPr kumimoji="0" lang="en-ZA"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Average return project is expected to generate each year of its life</a:t>
            </a: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r>
              <a:rPr kumimoji="0" lang="en-ZA"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IRR = required return that results in a zero NPV when it is used as the discount rate</a:t>
            </a:r>
          </a:p>
          <a:p>
            <a:pPr marL="342900" marR="0" lvl="0" indent="-342900" algn="just" defTabSz="914400" rtl="0" eaLnBrk="0" fontAlgn="base" latinLnBrk="0" hangingPunct="0">
              <a:lnSpc>
                <a:spcPct val="115000"/>
              </a:lnSpc>
              <a:spcBef>
                <a:spcPts val="0"/>
              </a:spcBef>
              <a:spcAft>
                <a:spcPct val="0"/>
              </a:spcAft>
              <a:buClr>
                <a:srgbClr val="1F497D"/>
              </a:buClr>
              <a:buSzPct val="75000"/>
              <a:buFontTx/>
              <a:buChar char="•"/>
              <a:tabLst/>
              <a:defRPr/>
            </a:pPr>
            <a:r>
              <a:rPr kumimoji="0" lang="en-US" altLang="en-US" sz="26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IRR rule: </a:t>
            </a:r>
            <a:r>
              <a:rPr kumimoji="0" lang="en-US" altLang="en-US" sz="2600" b="1" i="0" u="none" strike="noStrike" kern="0" cap="none" spc="0" normalizeH="0" baseline="0" noProof="0" dirty="0">
                <a:ln>
                  <a:noFill/>
                </a:ln>
                <a:solidFill>
                  <a:srgbClr val="C00000"/>
                </a:solidFill>
                <a:effectLst/>
                <a:uLnTx/>
                <a:uFillTx/>
                <a:latin typeface="+mj-lt"/>
                <a:ea typeface="ＭＳ Ｐゴシック"/>
                <a:cs typeface="Arial" panose="020B0604020202020204" pitchFamily="34" charset="0"/>
              </a:rPr>
              <a:t>project acceptable if the IRR exceeds the required rate of return (R)</a:t>
            </a:r>
          </a:p>
          <a:p>
            <a:pPr>
              <a:lnSpc>
                <a:spcPct val="105000"/>
              </a:lnSpc>
              <a:buSzPct val="100000"/>
              <a:buFont typeface="Arial" panose="020B0604020202020204" pitchFamily="34" charset="0"/>
              <a:buChar char="•"/>
            </a:pPr>
            <a:endParaRPr lang="en-US" dirty="0"/>
          </a:p>
          <a:p>
            <a:pPr marL="457200" lvl="1" indent="0">
              <a:lnSpc>
                <a:spcPct val="105000"/>
              </a:lnSpc>
              <a:buSzPct val="100000"/>
              <a:buNone/>
            </a:pPr>
            <a:r>
              <a:rPr lang="en-US" sz="2600" dirty="0"/>
              <a:t> </a:t>
            </a:r>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37FAB000-971E-723D-A5EA-37414F52F273}"/>
              </a:ext>
            </a:extLst>
          </p:cNvPr>
          <p:cNvSpPr/>
          <p:nvPr/>
        </p:nvSpPr>
        <p:spPr bwMode="auto">
          <a:xfrm>
            <a:off x="4607169" y="609600"/>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#4</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pic>
        <p:nvPicPr>
          <p:cNvPr id="5" name="Picture 4">
            <a:extLst>
              <a:ext uri="{FF2B5EF4-FFF2-40B4-BE49-F238E27FC236}">
                <a16:creationId xmlns:a16="http://schemas.microsoft.com/office/drawing/2014/main" id="{197524F7-A233-3B0D-5AF3-4C5A9656CFB9}"/>
              </a:ext>
            </a:extLst>
          </p:cNvPr>
          <p:cNvPicPr>
            <a:picLocks noChangeAspect="1"/>
          </p:cNvPicPr>
          <p:nvPr/>
        </p:nvPicPr>
        <p:blipFill>
          <a:blip r:embed="rId4"/>
          <a:stretch>
            <a:fillRect/>
          </a:stretch>
        </p:blipFill>
        <p:spPr>
          <a:xfrm>
            <a:off x="2590800" y="2737783"/>
            <a:ext cx="3437428" cy="1135600"/>
          </a:xfrm>
          <a:prstGeom prst="rect">
            <a:avLst/>
          </a:prstGeom>
        </p:spPr>
      </p:pic>
    </p:spTree>
    <p:custDataLst>
      <p:tags r:id="rId1"/>
    </p:custDataLst>
    <p:extLst>
      <p:ext uri="{BB962C8B-B14F-4D97-AF65-F5344CB8AC3E}">
        <p14:creationId xmlns:p14="http://schemas.microsoft.com/office/powerpoint/2010/main" val="29613911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Capital budgeting techniques (cont.)</a:t>
            </a:r>
          </a:p>
        </p:txBody>
      </p:sp>
      <p:sp>
        <p:nvSpPr>
          <p:cNvPr id="9221" name="Rectangle 5"/>
          <p:cNvSpPr>
            <a:spLocks noGrp="1" noChangeArrowheads="1"/>
          </p:cNvSpPr>
          <p:nvPr>
            <p:ph idx="1"/>
          </p:nvPr>
        </p:nvSpPr>
        <p:spPr>
          <a:xfrm>
            <a:off x="91717" y="660166"/>
            <a:ext cx="8797306" cy="6045434"/>
          </a:xfrm>
        </p:spPr>
        <p:txBody>
          <a:bodyPr/>
          <a:lstStyle/>
          <a:p>
            <a:pPr>
              <a:lnSpc>
                <a:spcPct val="105000"/>
              </a:lnSpc>
              <a:buSzPct val="100000"/>
              <a:buFont typeface="Arial" panose="020B0604020202020204" pitchFamily="34" charset="0"/>
              <a:buChar char="•"/>
            </a:pPr>
            <a:r>
              <a:rPr lang="en-US" dirty="0"/>
              <a:t>Internal rate of return (IRR)  </a:t>
            </a:r>
          </a:p>
          <a:p>
            <a:pPr marL="457200" lvl="1" indent="0">
              <a:lnSpc>
                <a:spcPct val="105000"/>
              </a:lnSpc>
              <a:buSzPct val="100000"/>
              <a:buNone/>
            </a:pPr>
            <a:r>
              <a:rPr lang="en-US" sz="2600" dirty="0"/>
              <a:t> Project A				Project B</a:t>
            </a:r>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endParaRPr lang="en-US" sz="2600" dirty="0"/>
          </a:p>
          <a:p>
            <a:pPr marL="457200" lvl="1" indent="0">
              <a:lnSpc>
                <a:spcPct val="105000"/>
              </a:lnSpc>
              <a:buSzPct val="100000"/>
              <a:buNone/>
            </a:pPr>
            <a:r>
              <a:rPr lang="en-US" sz="2600" dirty="0">
                <a:highlight>
                  <a:srgbClr val="00FF00"/>
                </a:highlight>
              </a:rPr>
              <a:t>IRR A = 35.74%</a:t>
            </a:r>
            <a:r>
              <a:rPr lang="en-US" sz="2600" dirty="0"/>
              <a:t>		    </a:t>
            </a:r>
            <a:r>
              <a:rPr lang="en-US" sz="2600" dirty="0">
                <a:highlight>
                  <a:srgbClr val="00FFFF"/>
                </a:highlight>
              </a:rPr>
              <a:t>IRR B = ………%</a:t>
            </a:r>
          </a:p>
          <a:p>
            <a:pPr marL="0" lvl="1" indent="0">
              <a:lnSpc>
                <a:spcPct val="100000"/>
              </a:lnSpc>
              <a:spcBef>
                <a:spcPts val="0"/>
              </a:spcBef>
              <a:buSzPct val="100000"/>
              <a:buNone/>
            </a:pPr>
            <a:endParaRPr lang="en-US" sz="1200" dirty="0"/>
          </a:p>
          <a:p>
            <a:pPr marL="0" lvl="1" indent="0">
              <a:lnSpc>
                <a:spcPct val="100000"/>
              </a:lnSpc>
              <a:spcBef>
                <a:spcPts val="0"/>
              </a:spcBef>
              <a:buSzPct val="100000"/>
              <a:buNone/>
            </a:pPr>
            <a:r>
              <a:rPr lang="en-US" sz="2600" dirty="0"/>
              <a:t>Both A and B acceptable since IRR &gt; RRR of 9%</a:t>
            </a:r>
          </a:p>
          <a:p>
            <a:pPr marL="457200" lvl="1" indent="-457200">
              <a:lnSpc>
                <a:spcPct val="100000"/>
              </a:lnSpc>
              <a:spcBef>
                <a:spcPts val="0"/>
              </a:spcBef>
              <a:buSzPct val="100000"/>
              <a:buNone/>
            </a:pPr>
            <a:r>
              <a:rPr lang="en-US" sz="2600" dirty="0"/>
              <a:t>Can only choose one? </a:t>
            </a:r>
            <a:r>
              <a:rPr lang="en-US" sz="2600" b="1" dirty="0"/>
              <a:t>Select A</a:t>
            </a:r>
            <a:r>
              <a:rPr lang="en-US" sz="2600" dirty="0"/>
              <a:t> with </a:t>
            </a:r>
            <a:r>
              <a:rPr lang="en-US" sz="2600" u="sng" dirty="0"/>
              <a:t>highest</a:t>
            </a:r>
            <a:r>
              <a:rPr lang="en-US" sz="2600" dirty="0"/>
              <a:t> IRR</a:t>
            </a:r>
          </a:p>
          <a:p>
            <a:pPr marL="457200" lvl="1" indent="0">
              <a:lnSpc>
                <a:spcPct val="105000"/>
              </a:lnSpc>
              <a:buSzPct val="100000"/>
              <a:buNone/>
            </a:pPr>
            <a:endParaRPr lang="en-US" sz="26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9" name="Star: 5 Points 8">
            <a:extLst>
              <a:ext uri="{FF2B5EF4-FFF2-40B4-BE49-F238E27FC236}">
                <a16:creationId xmlns:a16="http://schemas.microsoft.com/office/drawing/2014/main" id="{E0819537-FADA-04A3-847C-25595146B8D1}"/>
              </a:ext>
            </a:extLst>
          </p:cNvPr>
          <p:cNvSpPr/>
          <p:nvPr/>
        </p:nvSpPr>
        <p:spPr bwMode="auto">
          <a:xfrm>
            <a:off x="3200400" y="5009391"/>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pic>
        <p:nvPicPr>
          <p:cNvPr id="4" name="Picture 3">
            <a:extLst>
              <a:ext uri="{FF2B5EF4-FFF2-40B4-BE49-F238E27FC236}">
                <a16:creationId xmlns:a16="http://schemas.microsoft.com/office/drawing/2014/main" id="{9BA7FDFB-665D-7943-1919-C16C93B6B024}"/>
              </a:ext>
            </a:extLst>
          </p:cNvPr>
          <p:cNvPicPr>
            <a:picLocks noChangeAspect="1"/>
          </p:cNvPicPr>
          <p:nvPr/>
        </p:nvPicPr>
        <p:blipFill>
          <a:blip r:embed="rId4"/>
          <a:stretch>
            <a:fillRect/>
          </a:stretch>
        </p:blipFill>
        <p:spPr>
          <a:xfrm>
            <a:off x="4539000" y="1752600"/>
            <a:ext cx="4477512" cy="3352800"/>
          </a:xfrm>
          <a:prstGeom prst="rect">
            <a:avLst/>
          </a:prstGeom>
        </p:spPr>
      </p:pic>
      <p:pic>
        <p:nvPicPr>
          <p:cNvPr id="7" name="Picture 6">
            <a:extLst>
              <a:ext uri="{FF2B5EF4-FFF2-40B4-BE49-F238E27FC236}">
                <a16:creationId xmlns:a16="http://schemas.microsoft.com/office/drawing/2014/main" id="{D09196DC-BDA2-D304-5202-742481F6EDA8}"/>
              </a:ext>
            </a:extLst>
          </p:cNvPr>
          <p:cNvPicPr>
            <a:picLocks noChangeAspect="1"/>
          </p:cNvPicPr>
          <p:nvPr/>
        </p:nvPicPr>
        <p:blipFill>
          <a:blip r:embed="rId5"/>
          <a:stretch>
            <a:fillRect/>
          </a:stretch>
        </p:blipFill>
        <p:spPr>
          <a:xfrm>
            <a:off x="149139" y="1804313"/>
            <a:ext cx="4332439" cy="3249373"/>
          </a:xfrm>
          <a:prstGeom prst="rect">
            <a:avLst/>
          </a:prstGeom>
        </p:spPr>
      </p:pic>
      <p:sp>
        <p:nvSpPr>
          <p:cNvPr id="2" name="Oval 1">
            <a:extLst>
              <a:ext uri="{FF2B5EF4-FFF2-40B4-BE49-F238E27FC236}">
                <a16:creationId xmlns:a16="http://schemas.microsoft.com/office/drawing/2014/main" id="{37FAB000-971E-723D-A5EA-37414F52F273}"/>
              </a:ext>
            </a:extLst>
          </p:cNvPr>
          <p:cNvSpPr/>
          <p:nvPr/>
        </p:nvSpPr>
        <p:spPr bwMode="auto">
          <a:xfrm>
            <a:off x="5029200" y="647349"/>
            <a:ext cx="814754" cy="6858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b="1" dirty="0">
                <a:solidFill>
                  <a:srgbClr val="FFC000"/>
                </a:solidFill>
                <a:ea typeface="ＭＳ Ｐゴシック" pitchFamily="1" charset="-128"/>
              </a:rPr>
              <a:t>#4</a:t>
            </a:r>
            <a:endParaRPr kumimoji="0" lang="en-ZA" sz="2600" b="1" i="0" u="none" strike="noStrike" cap="none" normalizeH="0" baseline="0" dirty="0">
              <a:ln>
                <a:noFill/>
              </a:ln>
              <a:solidFill>
                <a:srgbClr val="FFC00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15192210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Comparing techniques</a:t>
            </a:r>
          </a:p>
        </p:txBody>
      </p:sp>
      <p:sp>
        <p:nvSpPr>
          <p:cNvPr id="9221" name="Rectangle 5"/>
          <p:cNvSpPr>
            <a:spLocks noGrp="1" noChangeArrowheads="1"/>
          </p:cNvSpPr>
          <p:nvPr>
            <p:ph idx="1"/>
          </p:nvPr>
        </p:nvSpPr>
        <p:spPr>
          <a:xfrm>
            <a:off x="91717" y="838200"/>
            <a:ext cx="8797306" cy="5613166"/>
          </a:xfrm>
        </p:spPr>
        <p:txBody>
          <a:bodyPr/>
          <a:lstStyle/>
          <a:p>
            <a:pPr>
              <a:lnSpc>
                <a:spcPct val="105000"/>
              </a:lnSpc>
              <a:buSzPct val="100000"/>
              <a:buFont typeface="Arial" panose="020B0604020202020204" pitchFamily="34" charset="0"/>
              <a:buChar char="•"/>
            </a:pPr>
            <a:r>
              <a:rPr lang="en-US" dirty="0"/>
              <a:t>Can you remember our 2 printer projects/options?</a:t>
            </a:r>
          </a:p>
          <a:p>
            <a:pPr>
              <a:lnSpc>
                <a:spcPct val="105000"/>
              </a:lnSpc>
              <a:buSzPct val="100000"/>
              <a:buFont typeface="Arial" panose="020B0604020202020204" pitchFamily="34" charset="0"/>
              <a:buChar char="•"/>
            </a:pPr>
            <a:endParaRPr lang="en-US" sz="1100" dirty="0"/>
          </a:p>
          <a:p>
            <a:pPr lvl="1">
              <a:lnSpc>
                <a:spcPct val="105000"/>
              </a:lnSpc>
              <a:buSzPct val="100000"/>
              <a:buFont typeface="Wingdings" panose="05000000000000000000" pitchFamily="2" charset="2"/>
              <a:buChar char="§"/>
            </a:pPr>
            <a:r>
              <a:rPr lang="en-US" dirty="0"/>
              <a:t>These were the results at a discount rate of 9%:</a:t>
            </a:r>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r>
              <a:rPr lang="en-US" dirty="0"/>
              <a:t>Conflicting rankings…</a:t>
            </a:r>
          </a:p>
          <a:p>
            <a:pPr lvl="1">
              <a:lnSpc>
                <a:spcPct val="105000"/>
              </a:lnSpc>
              <a:buSzPct val="100000"/>
              <a:buFont typeface="Wingdings" panose="05000000000000000000" pitchFamily="2" charset="2"/>
              <a:buChar char="§"/>
            </a:pPr>
            <a:r>
              <a:rPr lang="en-US" dirty="0"/>
              <a:t>Using NPV and IRR but you get conflicting results</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5" name="Picture 4">
            <a:extLst>
              <a:ext uri="{FF2B5EF4-FFF2-40B4-BE49-F238E27FC236}">
                <a16:creationId xmlns:a16="http://schemas.microsoft.com/office/drawing/2014/main" id="{02D61533-A9DE-A950-5D5E-4F1297DA222A}"/>
              </a:ext>
            </a:extLst>
          </p:cNvPr>
          <p:cNvPicPr>
            <a:picLocks noChangeAspect="1"/>
          </p:cNvPicPr>
          <p:nvPr/>
        </p:nvPicPr>
        <p:blipFill>
          <a:blip r:embed="rId4"/>
          <a:stretch>
            <a:fillRect/>
          </a:stretch>
        </p:blipFill>
        <p:spPr>
          <a:xfrm>
            <a:off x="225669" y="2429054"/>
            <a:ext cx="8406184" cy="926472"/>
          </a:xfrm>
          <a:prstGeom prst="rect">
            <a:avLst/>
          </a:prstGeom>
        </p:spPr>
      </p:pic>
      <p:pic>
        <p:nvPicPr>
          <p:cNvPr id="8" name="Picture 7">
            <a:extLst>
              <a:ext uri="{FF2B5EF4-FFF2-40B4-BE49-F238E27FC236}">
                <a16:creationId xmlns:a16="http://schemas.microsoft.com/office/drawing/2014/main" id="{6AEDE4B9-6E1E-18D0-63A5-7A93B1A3E750}"/>
              </a:ext>
            </a:extLst>
          </p:cNvPr>
          <p:cNvPicPr>
            <a:picLocks noChangeAspect="1"/>
          </p:cNvPicPr>
          <p:nvPr/>
        </p:nvPicPr>
        <p:blipFill>
          <a:blip r:embed="rId5"/>
          <a:stretch>
            <a:fillRect/>
          </a:stretch>
        </p:blipFill>
        <p:spPr>
          <a:xfrm>
            <a:off x="205154" y="3502474"/>
            <a:ext cx="8394754" cy="1029094"/>
          </a:xfrm>
          <a:prstGeom prst="rect">
            <a:avLst/>
          </a:prstGeom>
        </p:spPr>
      </p:pic>
      <p:sp>
        <p:nvSpPr>
          <p:cNvPr id="10" name="Star: 5 Points 9">
            <a:extLst>
              <a:ext uri="{FF2B5EF4-FFF2-40B4-BE49-F238E27FC236}">
                <a16:creationId xmlns:a16="http://schemas.microsoft.com/office/drawing/2014/main" id="{1F2155B0-B2FC-F533-50F2-B0AF44537A8D}"/>
              </a:ext>
            </a:extLst>
          </p:cNvPr>
          <p:cNvSpPr/>
          <p:nvPr/>
        </p:nvSpPr>
        <p:spPr bwMode="auto">
          <a:xfrm>
            <a:off x="7543800" y="2547480"/>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1" name="Star: 5 Points 10">
            <a:extLst>
              <a:ext uri="{FF2B5EF4-FFF2-40B4-BE49-F238E27FC236}">
                <a16:creationId xmlns:a16="http://schemas.microsoft.com/office/drawing/2014/main" id="{A898BE24-46A6-A8A2-F134-CADC19A10C69}"/>
              </a:ext>
            </a:extLst>
          </p:cNvPr>
          <p:cNvSpPr/>
          <p:nvPr/>
        </p:nvSpPr>
        <p:spPr bwMode="auto">
          <a:xfrm>
            <a:off x="4305300" y="3683234"/>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3994479053"/>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Comparing techniques (cont.)</a:t>
            </a:r>
          </a:p>
        </p:txBody>
      </p:sp>
      <p:sp>
        <p:nvSpPr>
          <p:cNvPr id="9221" name="Rectangle 5"/>
          <p:cNvSpPr>
            <a:spLocks noGrp="1" noChangeArrowheads="1"/>
          </p:cNvSpPr>
          <p:nvPr>
            <p:ph idx="1"/>
          </p:nvPr>
        </p:nvSpPr>
        <p:spPr>
          <a:xfrm>
            <a:off x="91717" y="838200"/>
            <a:ext cx="8797306" cy="5613166"/>
          </a:xfrm>
        </p:spPr>
        <p:txBody>
          <a:bodyPr/>
          <a:lstStyle/>
          <a:p>
            <a:pPr>
              <a:lnSpc>
                <a:spcPct val="105000"/>
              </a:lnSpc>
              <a:buSzPct val="100000"/>
              <a:buFont typeface="Arial" panose="020B0604020202020204" pitchFamily="34" charset="0"/>
              <a:buChar char="•"/>
            </a:pPr>
            <a:r>
              <a:rPr lang="en-US" dirty="0"/>
              <a:t>Calculate cross-over rate</a:t>
            </a:r>
          </a:p>
          <a:p>
            <a:pPr>
              <a:lnSpc>
                <a:spcPct val="105000"/>
              </a:lnSpc>
              <a:buSzPct val="100000"/>
              <a:buFont typeface="Arial" panose="020B0604020202020204" pitchFamily="34" charset="0"/>
              <a:buChar char="•"/>
            </a:pPr>
            <a:r>
              <a:rPr lang="en-US" dirty="0"/>
              <a:t>To know what to expect at </a:t>
            </a:r>
          </a:p>
          <a:p>
            <a:pPr marL="360363" indent="0">
              <a:lnSpc>
                <a:spcPct val="105000"/>
              </a:lnSpc>
              <a:buSzPct val="100000"/>
              <a:buNone/>
            </a:pPr>
            <a:r>
              <a:rPr lang="en-US" dirty="0"/>
              <a:t>different discount rates</a:t>
            </a:r>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r>
              <a:rPr lang="en-US" dirty="0"/>
              <a:t>You can CHECK it…</a:t>
            </a:r>
            <a:r>
              <a:rPr lang="en-US" b="1" dirty="0"/>
              <a:t>calculate</a:t>
            </a:r>
            <a:r>
              <a:rPr lang="en-US" dirty="0"/>
              <a:t> both NPVs at a discount rate of 9.82%...</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4" name="Picture 3">
            <a:extLst>
              <a:ext uri="{FF2B5EF4-FFF2-40B4-BE49-F238E27FC236}">
                <a16:creationId xmlns:a16="http://schemas.microsoft.com/office/drawing/2014/main" id="{ECFFA59F-A2EA-C08A-EC4A-9BED5F87D4DD}"/>
              </a:ext>
            </a:extLst>
          </p:cNvPr>
          <p:cNvPicPr>
            <a:picLocks noChangeAspect="1"/>
          </p:cNvPicPr>
          <p:nvPr/>
        </p:nvPicPr>
        <p:blipFill>
          <a:blip r:embed="rId4"/>
          <a:stretch>
            <a:fillRect/>
          </a:stretch>
        </p:blipFill>
        <p:spPr>
          <a:xfrm>
            <a:off x="126886" y="2362200"/>
            <a:ext cx="8458200" cy="2971800"/>
          </a:xfrm>
          <a:prstGeom prst="rect">
            <a:avLst/>
          </a:prstGeom>
        </p:spPr>
      </p:pic>
      <p:sp>
        <p:nvSpPr>
          <p:cNvPr id="2" name="Oval 1">
            <a:extLst>
              <a:ext uri="{FF2B5EF4-FFF2-40B4-BE49-F238E27FC236}">
                <a16:creationId xmlns:a16="http://schemas.microsoft.com/office/drawing/2014/main" id="{EC04F1CC-0EF4-BC23-A077-02D4F401EC55}"/>
              </a:ext>
            </a:extLst>
          </p:cNvPr>
          <p:cNvSpPr/>
          <p:nvPr/>
        </p:nvSpPr>
        <p:spPr bwMode="auto">
          <a:xfrm>
            <a:off x="5521569" y="639651"/>
            <a:ext cx="3530714" cy="2333635"/>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400" dirty="0">
                <a:solidFill>
                  <a:srgbClr val="FF0000"/>
                </a:solidFill>
                <a:ea typeface="ＭＳ Ｐゴシック" pitchFamily="1" charset="-128"/>
              </a:rPr>
              <a:t>Same as when doing IRR calculation; just use “difference” CFs now</a:t>
            </a:r>
            <a:endParaRPr kumimoji="0" lang="en-ZA" sz="2400" b="0" i="0" u="none" strike="noStrike" cap="none" normalizeH="0" baseline="0" dirty="0">
              <a:ln>
                <a:noFill/>
              </a:ln>
              <a:solidFill>
                <a:srgbClr val="FF000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08915334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Comparing techniques (cont.)</a:t>
            </a:r>
          </a:p>
        </p:txBody>
      </p:sp>
      <p:sp>
        <p:nvSpPr>
          <p:cNvPr id="9221" name="Rectangle 5"/>
          <p:cNvSpPr>
            <a:spLocks noGrp="1" noChangeArrowheads="1"/>
          </p:cNvSpPr>
          <p:nvPr>
            <p:ph idx="1"/>
          </p:nvPr>
        </p:nvSpPr>
        <p:spPr>
          <a:xfrm>
            <a:off x="91717" y="838200"/>
            <a:ext cx="8797306" cy="5613166"/>
          </a:xfrm>
        </p:spPr>
        <p:txBody>
          <a:bodyPr/>
          <a:lstStyle/>
          <a:p>
            <a:pPr>
              <a:lnSpc>
                <a:spcPct val="105000"/>
              </a:lnSpc>
              <a:buSzPct val="100000"/>
              <a:buFont typeface="Arial" panose="020B0604020202020204" pitchFamily="34" charset="0"/>
              <a:buChar char="•"/>
            </a:pPr>
            <a:r>
              <a:rPr lang="en-US" dirty="0"/>
              <a:t>With cross-over rate we will know</a:t>
            </a:r>
          </a:p>
          <a:p>
            <a:pPr lvl="1">
              <a:lnSpc>
                <a:spcPct val="105000"/>
              </a:lnSpc>
              <a:buSzPct val="100000"/>
              <a:buFont typeface="Wingdings" panose="05000000000000000000" pitchFamily="2" charset="2"/>
              <a:buChar char="§"/>
            </a:pPr>
            <a:r>
              <a:rPr lang="en-US" dirty="0"/>
              <a:t>At discount rates </a:t>
            </a:r>
            <a:r>
              <a:rPr lang="en-US" b="1" dirty="0">
                <a:solidFill>
                  <a:srgbClr val="00B0F0"/>
                </a:solidFill>
              </a:rPr>
              <a:t>BELOW</a:t>
            </a:r>
            <a:r>
              <a:rPr lang="en-US" dirty="0"/>
              <a:t> 9.82%, there will be conflicting rankings </a:t>
            </a:r>
            <a:r>
              <a:rPr lang="en-US" dirty="0">
                <a:sym typeface="Wingdings" panose="05000000000000000000" pitchFamily="2" charset="2"/>
              </a:rPr>
              <a:t>       </a:t>
            </a:r>
          </a:p>
          <a:p>
            <a:pPr marL="720725" lvl="1" indent="0">
              <a:lnSpc>
                <a:spcPct val="105000"/>
              </a:lnSpc>
              <a:buSzPct val="100000"/>
              <a:buNone/>
            </a:pPr>
            <a:r>
              <a:rPr lang="en-US" dirty="0">
                <a:sym typeface="Wingdings" panose="05000000000000000000" pitchFamily="2" charset="2"/>
              </a:rPr>
              <a:t>Warning sign! Be careful with these projects…maybe </a:t>
            </a:r>
            <a:r>
              <a:rPr lang="en-US" dirty="0">
                <a:solidFill>
                  <a:srgbClr val="C00000"/>
                </a:solidFill>
                <a:sym typeface="Wingdings" panose="05000000000000000000" pitchFamily="2" charset="2"/>
              </a:rPr>
              <a:t>think twice before selecting</a:t>
            </a:r>
            <a:r>
              <a:rPr lang="en-US" dirty="0">
                <a:sym typeface="Wingdings" panose="05000000000000000000" pitchFamily="2" charset="2"/>
              </a:rPr>
              <a:t>…Do you really want to select one of these…?</a:t>
            </a:r>
          </a:p>
          <a:p>
            <a:pPr marL="720725" lvl="1" indent="-263525">
              <a:lnSpc>
                <a:spcPct val="105000"/>
              </a:lnSpc>
              <a:buSzPct val="100000"/>
              <a:buNone/>
            </a:pPr>
            <a:r>
              <a:rPr lang="en-US" dirty="0">
                <a:sym typeface="Wingdings" panose="05000000000000000000" pitchFamily="2" charset="2"/>
              </a:rPr>
              <a:t>  (Earlier we saw this at a 9% discount rate, when NPV showed B and IRR showed A; in fact, in our example, it was ONLY NPV that showed B…)</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170572183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Comparing techniques (cont.)</a:t>
            </a:r>
          </a:p>
        </p:txBody>
      </p:sp>
      <p:sp>
        <p:nvSpPr>
          <p:cNvPr id="9221" name="Rectangle 5"/>
          <p:cNvSpPr>
            <a:spLocks noGrp="1" noChangeArrowheads="1"/>
          </p:cNvSpPr>
          <p:nvPr>
            <p:ph idx="1"/>
          </p:nvPr>
        </p:nvSpPr>
        <p:spPr>
          <a:xfrm>
            <a:off x="91717" y="762000"/>
            <a:ext cx="8797306" cy="5867400"/>
          </a:xfrm>
        </p:spPr>
        <p:txBody>
          <a:bodyPr/>
          <a:lstStyle/>
          <a:p>
            <a:pPr>
              <a:lnSpc>
                <a:spcPct val="105000"/>
              </a:lnSpc>
              <a:buSzPct val="100000"/>
              <a:buFont typeface="Arial" panose="020B0604020202020204" pitchFamily="34" charset="0"/>
              <a:buChar char="•"/>
            </a:pPr>
            <a:r>
              <a:rPr lang="en-US" dirty="0"/>
              <a:t>With cross-over rate we will know</a:t>
            </a:r>
          </a:p>
          <a:p>
            <a:pPr lvl="1">
              <a:lnSpc>
                <a:spcPct val="100000"/>
              </a:lnSpc>
              <a:spcBef>
                <a:spcPts val="0"/>
              </a:spcBef>
              <a:buSzPct val="100000"/>
              <a:buFont typeface="Wingdings" panose="05000000000000000000" pitchFamily="2" charset="2"/>
              <a:buChar char="§"/>
            </a:pPr>
            <a:r>
              <a:rPr lang="en-US" dirty="0">
                <a:sym typeface="Wingdings" panose="05000000000000000000" pitchFamily="2" charset="2"/>
              </a:rPr>
              <a:t>At discount rate </a:t>
            </a:r>
            <a:r>
              <a:rPr lang="en-US" b="1" dirty="0">
                <a:solidFill>
                  <a:srgbClr val="FFC000"/>
                </a:solidFill>
                <a:sym typeface="Wingdings" panose="05000000000000000000" pitchFamily="2" charset="2"/>
              </a:rPr>
              <a:t>ABOVE</a:t>
            </a:r>
            <a:r>
              <a:rPr lang="en-US" dirty="0">
                <a:sym typeface="Wingdings" panose="05000000000000000000" pitchFamily="2" charset="2"/>
              </a:rPr>
              <a:t> 9.82%: there will be no conflicting rankings  </a:t>
            </a:r>
          </a:p>
          <a:p>
            <a:pPr marL="720725" lvl="1" indent="0">
              <a:lnSpc>
                <a:spcPct val="100000"/>
              </a:lnSpc>
              <a:spcBef>
                <a:spcPts val="0"/>
              </a:spcBef>
              <a:buSzPct val="100000"/>
              <a:buNone/>
              <a:tabLst>
                <a:tab pos="809625" algn="l"/>
              </a:tabLst>
            </a:pPr>
            <a:r>
              <a:rPr lang="en-US" dirty="0">
                <a:sym typeface="Wingdings" panose="05000000000000000000" pitchFamily="2" charset="2"/>
              </a:rPr>
              <a:t>We will know, without a doubt, which project to choose… </a:t>
            </a:r>
          </a:p>
          <a:p>
            <a:pPr marL="720725" lvl="1" indent="-263525">
              <a:lnSpc>
                <a:spcPct val="100000"/>
              </a:lnSpc>
              <a:spcBef>
                <a:spcPts val="0"/>
              </a:spcBef>
              <a:buSzPct val="100000"/>
              <a:buNone/>
            </a:pPr>
            <a:r>
              <a:rPr lang="en-US" dirty="0">
                <a:sym typeface="Wingdings" panose="05000000000000000000" pitchFamily="2" charset="2"/>
              </a:rPr>
              <a:t>  </a:t>
            </a:r>
            <a:r>
              <a:rPr lang="en-US" u="sng" dirty="0">
                <a:sym typeface="Wingdings" panose="05000000000000000000" pitchFamily="2" charset="2"/>
              </a:rPr>
              <a:t>CHECK THIS</a:t>
            </a:r>
            <a:r>
              <a:rPr lang="en-US" dirty="0">
                <a:sym typeface="Wingdings" panose="05000000000000000000" pitchFamily="2" charset="2"/>
              </a:rPr>
              <a:t>: </a:t>
            </a:r>
            <a:r>
              <a:rPr lang="en-US" b="1" dirty="0">
                <a:sym typeface="Wingdings" panose="05000000000000000000" pitchFamily="2" charset="2"/>
              </a:rPr>
              <a:t>calculate</a:t>
            </a:r>
            <a:r>
              <a:rPr lang="en-US" dirty="0">
                <a:sym typeface="Wingdings" panose="05000000000000000000" pitchFamily="2" charset="2"/>
              </a:rPr>
              <a:t> both NPVs with a 12% discount rate…</a:t>
            </a:r>
          </a:p>
          <a:p>
            <a:pPr marL="720725" lvl="1" indent="-263525">
              <a:lnSpc>
                <a:spcPct val="100000"/>
              </a:lnSpc>
              <a:spcBef>
                <a:spcPts val="0"/>
              </a:spcBef>
              <a:buSzPct val="100000"/>
              <a:buNone/>
            </a:pPr>
            <a:r>
              <a:rPr lang="en-US" dirty="0">
                <a:sym typeface="Wingdings" panose="05000000000000000000" pitchFamily="2" charset="2"/>
              </a:rPr>
              <a:t>  (using our example, both criteria will show: </a:t>
            </a:r>
          </a:p>
          <a:p>
            <a:pPr marL="720725" lvl="1" indent="-263525">
              <a:lnSpc>
                <a:spcPct val="100000"/>
              </a:lnSpc>
              <a:spcBef>
                <a:spcPts val="0"/>
              </a:spcBef>
              <a:buSzPct val="100000"/>
              <a:buNone/>
            </a:pPr>
            <a:r>
              <a:rPr lang="en-US" dirty="0">
                <a:sym typeface="Wingdings" panose="05000000000000000000" pitchFamily="2" charset="2"/>
              </a:rPr>
              <a:t>  Select A)</a:t>
            </a:r>
          </a:p>
          <a:p>
            <a:pPr marL="720725" lvl="1" indent="-263525">
              <a:lnSpc>
                <a:spcPct val="100000"/>
              </a:lnSpc>
              <a:spcBef>
                <a:spcPts val="0"/>
              </a:spcBef>
              <a:buSzPct val="100000"/>
              <a:buNone/>
            </a:pPr>
            <a:endParaRPr lang="en-US" sz="4000" dirty="0">
              <a:sym typeface="Wingdings" panose="05000000000000000000" pitchFamily="2" charset="2"/>
            </a:endParaRPr>
          </a:p>
          <a:p>
            <a:pPr marL="360363" lvl="1" indent="-360363">
              <a:lnSpc>
                <a:spcPct val="100000"/>
              </a:lnSpc>
              <a:spcBef>
                <a:spcPts val="0"/>
              </a:spcBef>
              <a:buSzPct val="100000"/>
              <a:buFont typeface="Arial" panose="020B0604020202020204" pitchFamily="34" charset="0"/>
              <a:buChar char="•"/>
            </a:pPr>
            <a:r>
              <a:rPr lang="en-US" dirty="0">
                <a:sym typeface="Wingdings" panose="05000000000000000000" pitchFamily="2" charset="2"/>
              </a:rPr>
              <a:t>Cross-over rate NB to use when we have mutually exclusive projects</a:t>
            </a:r>
          </a:p>
          <a:p>
            <a:pPr marL="360363" lvl="1" indent="-360363">
              <a:lnSpc>
                <a:spcPct val="100000"/>
              </a:lnSpc>
              <a:spcBef>
                <a:spcPts val="0"/>
              </a:spcBef>
              <a:buSzPct val="100000"/>
              <a:buFont typeface="Arial" panose="020B0604020202020204" pitchFamily="34" charset="0"/>
              <a:buChar char="•"/>
            </a:pPr>
            <a:r>
              <a:rPr lang="en-US" dirty="0">
                <a:sym typeface="Wingdings" panose="05000000000000000000" pitchFamily="2" charset="2"/>
              </a:rPr>
              <a:t>Helpful in decision making!</a:t>
            </a: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marL="0" indent="0">
              <a:lnSpc>
                <a:spcPct val="105000"/>
              </a:lnSpc>
              <a:buSzPct val="100000"/>
              <a:buNone/>
            </a:pPr>
            <a:endParaRPr lang="en-US"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3429424835"/>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Checking slide for YOU…</a:t>
            </a:r>
          </a:p>
        </p:txBody>
      </p:sp>
      <p:sp>
        <p:nvSpPr>
          <p:cNvPr id="9221" name="Rectangle 5"/>
          <p:cNvSpPr>
            <a:spLocks noGrp="1" noChangeArrowheads="1"/>
          </p:cNvSpPr>
          <p:nvPr>
            <p:ph idx="1"/>
          </p:nvPr>
        </p:nvSpPr>
        <p:spPr>
          <a:xfrm>
            <a:off x="91717" y="762000"/>
            <a:ext cx="8797306" cy="5867400"/>
          </a:xfrm>
        </p:spPr>
        <p:txBody>
          <a:bodyPr/>
          <a:lstStyle/>
          <a:p>
            <a:pPr>
              <a:lnSpc>
                <a:spcPct val="105000"/>
              </a:lnSpc>
              <a:buSzPct val="100000"/>
              <a:buFont typeface="Arial" panose="020B0604020202020204" pitchFamily="34" charset="0"/>
              <a:buChar char="•"/>
            </a:pPr>
            <a:r>
              <a:rPr lang="en-US" dirty="0"/>
              <a:t>Did you calculate NPVs and IRRs of the 2 projects by using a discount rate of 12%?</a:t>
            </a:r>
          </a:p>
          <a:p>
            <a:pPr>
              <a:lnSpc>
                <a:spcPct val="105000"/>
              </a:lnSpc>
              <a:buSzPct val="100000"/>
              <a:buFont typeface="Arial" panose="020B0604020202020204" pitchFamily="34" charset="0"/>
              <a:buChar char="•"/>
            </a:pPr>
            <a:r>
              <a:rPr lang="en-US" dirty="0"/>
              <a:t>With discount rate ABOVE cross-over rate of 9.82%:</a:t>
            </a:r>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marL="0" indent="0">
              <a:lnSpc>
                <a:spcPct val="105000"/>
              </a:lnSpc>
              <a:buSzPct val="100000"/>
              <a:buNone/>
            </a:pPr>
            <a:endParaRPr lang="en-US" dirty="0"/>
          </a:p>
          <a:p>
            <a:pPr marL="0" indent="0">
              <a:lnSpc>
                <a:spcPct val="105000"/>
              </a:lnSpc>
              <a:buSzPct val="100000"/>
              <a:buNone/>
            </a:pPr>
            <a:endParaRPr lang="en-US" sz="1200" dirty="0"/>
          </a:p>
          <a:p>
            <a:pPr>
              <a:lnSpc>
                <a:spcPct val="105000"/>
              </a:lnSpc>
              <a:buSzPct val="100000"/>
              <a:buFont typeface="Arial" panose="020B0604020202020204" pitchFamily="34" charset="0"/>
              <a:buChar char="•"/>
            </a:pPr>
            <a:r>
              <a:rPr lang="en-US" dirty="0"/>
              <a:t>Yes, both criteria give the </a:t>
            </a:r>
            <a:r>
              <a:rPr lang="en-US" u="sng" dirty="0"/>
              <a:t>same results </a:t>
            </a:r>
            <a:r>
              <a:rPr lang="en-US" dirty="0"/>
              <a:t>(in this example both indicates Select A)</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4" name="Picture 3">
            <a:extLst>
              <a:ext uri="{FF2B5EF4-FFF2-40B4-BE49-F238E27FC236}">
                <a16:creationId xmlns:a16="http://schemas.microsoft.com/office/drawing/2014/main" id="{1BFA901E-45B6-146D-4D0C-03EC598EBD33}"/>
              </a:ext>
            </a:extLst>
          </p:cNvPr>
          <p:cNvPicPr>
            <a:picLocks noChangeAspect="1"/>
          </p:cNvPicPr>
          <p:nvPr/>
        </p:nvPicPr>
        <p:blipFill>
          <a:blip r:embed="rId4"/>
          <a:stretch>
            <a:fillRect/>
          </a:stretch>
        </p:blipFill>
        <p:spPr>
          <a:xfrm>
            <a:off x="127495" y="2514600"/>
            <a:ext cx="8743943" cy="1333500"/>
          </a:xfrm>
          <a:prstGeom prst="rect">
            <a:avLst/>
          </a:prstGeom>
        </p:spPr>
      </p:pic>
      <p:sp>
        <p:nvSpPr>
          <p:cNvPr id="5" name="Star: 5 Points 4">
            <a:extLst>
              <a:ext uri="{FF2B5EF4-FFF2-40B4-BE49-F238E27FC236}">
                <a16:creationId xmlns:a16="http://schemas.microsoft.com/office/drawing/2014/main" id="{A3165D8B-6212-5FA9-BD4B-36D4EB704EE2}"/>
              </a:ext>
            </a:extLst>
          </p:cNvPr>
          <p:cNvSpPr/>
          <p:nvPr/>
        </p:nvSpPr>
        <p:spPr bwMode="auto">
          <a:xfrm>
            <a:off x="5105400" y="2514600"/>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6" name="Star: 5 Points 5">
            <a:extLst>
              <a:ext uri="{FF2B5EF4-FFF2-40B4-BE49-F238E27FC236}">
                <a16:creationId xmlns:a16="http://schemas.microsoft.com/office/drawing/2014/main" id="{ECD82F07-7C00-8B74-6399-79033D09F279}"/>
              </a:ext>
            </a:extLst>
          </p:cNvPr>
          <p:cNvSpPr/>
          <p:nvPr/>
        </p:nvSpPr>
        <p:spPr bwMode="auto">
          <a:xfrm>
            <a:off x="4953000" y="3282360"/>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2916854565"/>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1" end="1"/>
                                            </p:txEl>
                                          </p:spTgt>
                                        </p:tgtEl>
                                        <p:attrNameLst>
                                          <p:attrName>style.visibility</p:attrName>
                                        </p:attrNameLst>
                                      </p:cBhvr>
                                      <p:to>
                                        <p:strVal val="visible"/>
                                      </p:to>
                                    </p:set>
                                    <p:anim calcmode="lin" valueType="num">
                                      <p:cBhvr additive="base">
                                        <p:cTn id="7" dur="500" fill="hold"/>
                                        <p:tgtEl>
                                          <p:spTgt spid="922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xEl>
                                              <p:pRg st="6" end="6"/>
                                            </p:txEl>
                                          </p:spTgt>
                                        </p:tgtEl>
                                        <p:attrNameLst>
                                          <p:attrName>style.visibility</p:attrName>
                                        </p:attrNameLst>
                                      </p:cBhvr>
                                      <p:to>
                                        <p:strVal val="visible"/>
                                      </p:to>
                                    </p:set>
                                    <p:anim calcmode="lin" valueType="num">
                                      <p:cBhvr additive="base">
                                        <p:cTn id="11" dur="500" fill="hold"/>
                                        <p:tgtEl>
                                          <p:spTgt spid="922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Extra notes</a:t>
            </a:r>
          </a:p>
        </p:txBody>
      </p:sp>
      <p:sp>
        <p:nvSpPr>
          <p:cNvPr id="9221" name="Rectangle 5"/>
          <p:cNvSpPr>
            <a:spLocks noGrp="1" noChangeArrowheads="1"/>
          </p:cNvSpPr>
          <p:nvPr>
            <p:ph idx="1"/>
          </p:nvPr>
        </p:nvSpPr>
        <p:spPr>
          <a:xfrm>
            <a:off x="91717" y="762000"/>
            <a:ext cx="8797306" cy="5689366"/>
          </a:xfrm>
        </p:spPr>
        <p:txBody>
          <a:bodyPr/>
          <a:lstStyle/>
          <a:p>
            <a:pPr>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NPV takes precedence…it is the best technique </a:t>
            </a:r>
          </a:p>
          <a:p>
            <a:pPr marL="342900" marR="0" lvl="0" indent="-342900" algn="just" defTabSz="914400" rtl="0" eaLnBrk="0" fontAlgn="base" latinLnBrk="0" hangingPunct="0">
              <a:lnSpc>
                <a:spcPct val="100000"/>
              </a:lnSpc>
              <a:spcBef>
                <a:spcPts val="0"/>
              </a:spcBef>
              <a:spcAft>
                <a:spcPct val="0"/>
              </a:spcAft>
              <a:buClr>
                <a:srgbClr val="1F497D"/>
              </a:buClr>
              <a:buSzPct val="75000"/>
              <a:buFontTx/>
              <a:buChar char="•"/>
              <a:tabLst/>
              <a:defRPr/>
            </a:pPr>
            <a:r>
              <a:rPr kumimoji="0" lang="en-US" altLang="en-US" sz="2400" b="0" i="0" u="none" strike="noStrike" kern="0" cap="none" spc="0" normalizeH="0" baseline="0" noProof="0" dirty="0">
                <a:ln>
                  <a:noFill/>
                </a:ln>
                <a:solidFill>
                  <a:prstClr val="black"/>
                </a:solidFill>
                <a:effectLst/>
                <a:uLnTx/>
                <a:uFillTx/>
                <a:latin typeface="+mj-lt"/>
                <a:ea typeface="ＭＳ Ｐゴシック"/>
                <a:cs typeface="Arial" panose="020B0604020202020204" pitchFamily="34" charset="0"/>
              </a:rPr>
              <a:t>Other investment criteria are flawed in some ways, so the NPV, with no serious flaws, is the preferred decision rule. Specifically, the NPV technique explicitly considers TVM and risk (evident in the NPV equation)</a:t>
            </a: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a:lnSpc>
                <a:spcPct val="100000"/>
              </a:lnSpc>
              <a:spcBef>
                <a:spcPts val="0"/>
              </a:spcBef>
              <a:buSzPct val="100000"/>
              <a:buFont typeface="Arial" panose="020B0604020202020204" pitchFamily="34" charset="0"/>
              <a:buChar char="•"/>
            </a:pPr>
            <a:endParaRPr lang="en-US" sz="2400" dirty="0">
              <a:latin typeface="+mj-lt"/>
              <a:cs typeface="Arial" panose="020B0604020202020204" pitchFamily="34" charset="0"/>
            </a:endParaRPr>
          </a:p>
          <a:p>
            <a:pPr algn="just">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NPV profile: graphical representation of the relationship between an investment’s NPVs and various discount rates</a:t>
            </a:r>
          </a:p>
          <a:p>
            <a:pPr algn="just">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Thus, the NPV profile shows how the NPV of a project vary as the discount rate applied to its future cash flows changes</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2" name="Picture 1">
            <a:extLst>
              <a:ext uri="{FF2B5EF4-FFF2-40B4-BE49-F238E27FC236}">
                <a16:creationId xmlns:a16="http://schemas.microsoft.com/office/drawing/2014/main" id="{EA6E1C13-62EE-0784-DE3D-DBE78279CF15}"/>
              </a:ext>
            </a:extLst>
          </p:cNvPr>
          <p:cNvPicPr>
            <a:picLocks noChangeAspect="1"/>
          </p:cNvPicPr>
          <p:nvPr/>
        </p:nvPicPr>
        <p:blipFill>
          <a:blip r:embed="rId4"/>
          <a:stretch>
            <a:fillRect/>
          </a:stretch>
        </p:blipFill>
        <p:spPr>
          <a:xfrm>
            <a:off x="1295400" y="2819400"/>
            <a:ext cx="2930553" cy="1219200"/>
          </a:xfrm>
          <a:prstGeom prst="rect">
            <a:avLst/>
          </a:prstGeom>
        </p:spPr>
      </p:pic>
    </p:spTree>
    <p:custDataLst>
      <p:tags r:id="rId1"/>
    </p:custDataLst>
    <p:extLst>
      <p:ext uri="{BB962C8B-B14F-4D97-AF65-F5344CB8AC3E}">
        <p14:creationId xmlns:p14="http://schemas.microsoft.com/office/powerpoint/2010/main" val="184494277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915400" cy="649656"/>
          </a:xfrm>
        </p:spPr>
        <p:txBody>
          <a:bodyPr/>
          <a:lstStyle/>
          <a:p>
            <a:r>
              <a:rPr lang="en-US" dirty="0">
                <a:solidFill>
                  <a:schemeClr val="tx2"/>
                </a:solidFill>
              </a:rPr>
              <a:t>Extra notes (cont.)</a:t>
            </a:r>
          </a:p>
        </p:txBody>
      </p:sp>
      <p:sp>
        <p:nvSpPr>
          <p:cNvPr id="9221" name="Rectangle 5"/>
          <p:cNvSpPr>
            <a:spLocks noGrp="1" noChangeArrowheads="1"/>
          </p:cNvSpPr>
          <p:nvPr>
            <p:ph idx="1"/>
          </p:nvPr>
        </p:nvSpPr>
        <p:spPr>
          <a:xfrm>
            <a:off x="91717" y="762000"/>
            <a:ext cx="8797306" cy="5689366"/>
          </a:xfrm>
        </p:spPr>
        <p:txBody>
          <a:bodyPr/>
          <a:lstStyle/>
          <a:p>
            <a:pPr>
              <a:lnSpc>
                <a:spcPct val="100000"/>
              </a:lnSpc>
              <a:spcBef>
                <a:spcPts val="0"/>
              </a:spcBef>
              <a:buSzPct val="100000"/>
              <a:buFont typeface="Arial" panose="020B0604020202020204" pitchFamily="34" charset="0"/>
              <a:buChar char="•"/>
            </a:pPr>
            <a:r>
              <a:rPr lang="en-US" sz="2400" dirty="0">
                <a:latin typeface="+mj-lt"/>
                <a:cs typeface="Arial" panose="020B0604020202020204" pitchFamily="34" charset="0"/>
              </a:rPr>
              <a:t>NPV profile example: Figure 13.3</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5" name="Picture 4">
            <a:extLst>
              <a:ext uri="{FF2B5EF4-FFF2-40B4-BE49-F238E27FC236}">
                <a16:creationId xmlns:a16="http://schemas.microsoft.com/office/drawing/2014/main" id="{2ED0961B-3E69-E773-4814-BF1D0489D14F}"/>
              </a:ext>
            </a:extLst>
          </p:cNvPr>
          <p:cNvPicPr>
            <a:picLocks noChangeAspect="1"/>
          </p:cNvPicPr>
          <p:nvPr/>
        </p:nvPicPr>
        <p:blipFill>
          <a:blip r:embed="rId4"/>
          <a:stretch>
            <a:fillRect/>
          </a:stretch>
        </p:blipFill>
        <p:spPr>
          <a:xfrm>
            <a:off x="1219200" y="1295400"/>
            <a:ext cx="6705600" cy="5356455"/>
          </a:xfrm>
          <a:prstGeom prst="rect">
            <a:avLst/>
          </a:prstGeom>
        </p:spPr>
      </p:pic>
    </p:spTree>
    <p:custDataLst>
      <p:tags r:id="rId1"/>
    </p:custDataLst>
    <p:extLst>
      <p:ext uri="{BB962C8B-B14F-4D97-AF65-F5344CB8AC3E}">
        <p14:creationId xmlns:p14="http://schemas.microsoft.com/office/powerpoint/2010/main" val="90801387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13</a:t>
            </a: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796925" marR="0" lvl="0" indent="-457200" algn="l" defTabSz="914400" rtl="0" eaLnBrk="0" fontAlgn="base" latinLnBrk="0" hangingPunct="0">
              <a:lnSpc>
                <a:spcPct val="100000"/>
              </a:lnSpc>
              <a:spcBef>
                <a:spcPts val="0"/>
              </a:spcBef>
              <a:spcAft>
                <a:spcPts val="600"/>
              </a:spcAft>
              <a:buClr>
                <a:srgbClr val="1F497D"/>
              </a:buClr>
              <a:buSzPct val="100000"/>
              <a:buFont typeface="Wingdings" panose="05000000000000000000" pitchFamily="2" charset="2"/>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14</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lang="en-US" sz="2800" kern="0" dirty="0">
                <a:solidFill>
                  <a:srgbClr val="FF0000"/>
                </a:solidFill>
                <a:latin typeface="Tahoma"/>
                <a:ea typeface="ＭＳ Ｐゴシック"/>
              </a:rPr>
              <a:t> </a:t>
            </a:r>
            <a:endParaRPr kumimoji="0" lang="en-US" sz="2800" b="0" i="0" u="none" strike="noStrike" kern="0" cap="none" spc="0" normalizeH="0" baseline="0" noProof="0" dirty="0">
              <a:ln>
                <a:noFill/>
              </a:ln>
              <a:solidFill>
                <a:srgbClr val="FF0000"/>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transition advTm="56488"/>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ags/tag27.xml><?xml version="1.0" encoding="utf-8"?>
<p:tagLst xmlns:a="http://schemas.openxmlformats.org/drawingml/2006/main" xmlns:r="http://schemas.openxmlformats.org/officeDocument/2006/relationships" xmlns:p="http://schemas.openxmlformats.org/presentationml/2006/main">
  <p:tag name="TIMING" val="|41.1|7.7|19|3.7"/>
</p:tagLst>
</file>

<file path=ppt/tags/tag28.xml><?xml version="1.0" encoding="utf-8"?>
<p:tagLst xmlns:a="http://schemas.openxmlformats.org/drawingml/2006/main" xmlns:r="http://schemas.openxmlformats.org/officeDocument/2006/relationships" xmlns:p="http://schemas.openxmlformats.org/presentationml/2006/main">
  <p:tag name="TIMING" val="|41.1|7.7|19|3.7"/>
</p:tagLst>
</file>

<file path=ppt/tags/tag29.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4028</TotalTime>
  <Words>2186</Words>
  <Application>Microsoft Office PowerPoint</Application>
  <PresentationFormat>On-screen Show (4:3)</PresentationFormat>
  <Paragraphs>389</Paragraphs>
  <Slides>31</Slides>
  <Notes>31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ＭＳ Ｐゴシック</vt:lpstr>
      <vt:lpstr>Arial</vt:lpstr>
      <vt:lpstr>Symbol</vt:lpstr>
      <vt:lpstr>Tahoma</vt:lpstr>
      <vt:lpstr>Times</vt:lpstr>
      <vt:lpstr>Times New Roman</vt:lpstr>
      <vt:lpstr>Wingdings</vt:lpstr>
      <vt:lpstr>Wingdings 2</vt:lpstr>
      <vt:lpstr>Blank Presentation</vt:lpstr>
      <vt:lpstr>1_Blank Presentation</vt:lpstr>
      <vt:lpstr>PowerPoint Presentation</vt:lpstr>
      <vt:lpstr>Learning outcomes: Chapter 13</vt:lpstr>
      <vt:lpstr>Example of capital budgeting </vt:lpstr>
      <vt:lpstr>Example of capital budgeting </vt:lpstr>
      <vt:lpstr>Examples of capital budgeting (cont.) </vt:lpstr>
      <vt:lpstr>Introduction</vt:lpstr>
      <vt:lpstr>Introduction (cont.)</vt:lpstr>
      <vt:lpstr>Introduction</vt:lpstr>
      <vt:lpstr>Approaches to decision making</vt:lpstr>
      <vt:lpstr>Capital budgeting techniques</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Capital budgeting techniques (cont.)</vt:lpstr>
      <vt:lpstr>Comparing techniques</vt:lpstr>
      <vt:lpstr>Comparing techniques (cont.)</vt:lpstr>
      <vt:lpstr>Comparing techniques (cont.)</vt:lpstr>
      <vt:lpstr>Comparing techniques (cont.)</vt:lpstr>
      <vt:lpstr>Checking slide for YOU…</vt:lpstr>
      <vt:lpstr>Extra notes</vt:lpstr>
      <vt:lpstr>Extra notes (cont.)</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Nsovo W. Maswanganyi</cp:lastModifiedBy>
  <cp:revision>357</cp:revision>
  <cp:lastPrinted>2022-02-09T10:40:55Z</cp:lastPrinted>
  <dcterms:created xsi:type="dcterms:W3CDTF">2010-03-21T13:43:06Z</dcterms:created>
  <dcterms:modified xsi:type="dcterms:W3CDTF">2026-04-20T10:51:30Z</dcterms:modified>
</cp:coreProperties>
</file>