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ppt/tags/tag15.xml" ContentType="application/vnd.openxmlformats-officedocument.presentationml.tags+xml"/>
  <Override PartName="/ppt/notesSlides/notesSlide16.xml" ContentType="application/vnd.openxmlformats-officedocument.presentationml.notesSlide+xml"/>
  <Override PartName="/ppt/tags/tag16.xml" ContentType="application/vnd.openxmlformats-officedocument.presentationml.tags+xml"/>
  <Override PartName="/ppt/notesSlides/notesSlide17.xml" ContentType="application/vnd.openxmlformats-officedocument.presentationml.notesSlide+xml"/>
  <Override PartName="/ppt/tags/tag17.xml" ContentType="application/vnd.openxmlformats-officedocument.presentationml.tags+xml"/>
  <Override PartName="/ppt/notesSlides/notesSlide18.xml" ContentType="application/vnd.openxmlformats-officedocument.presentationml.notesSlide+xml"/>
  <Override PartName="/ppt/tags/tag18.xml" ContentType="application/vnd.openxmlformats-officedocument.presentationml.tags+xml"/>
  <Override PartName="/ppt/notesSlides/notesSlide19.xml" ContentType="application/vnd.openxmlformats-officedocument.presentationml.notesSlide+xml"/>
  <Override PartName="/ppt/tags/tag19.xml" ContentType="application/vnd.openxmlformats-officedocument.presentationml.tags+xml"/>
  <Override PartName="/ppt/notesSlides/notesSlide20.xml" ContentType="application/vnd.openxmlformats-officedocument.presentationml.notesSlide+xml"/>
  <Override PartName="/ppt/tags/tag20.xml" ContentType="application/vnd.openxmlformats-officedocument.presentationml.tags+xml"/>
  <Override PartName="/ppt/notesSlides/notesSlide21.xml" ContentType="application/vnd.openxmlformats-officedocument.presentationml.notesSlide+xml"/>
  <Override PartName="/ppt/tags/tag21.xml" ContentType="application/vnd.openxmlformats-officedocument.presentationml.tags+xml"/>
  <Override PartName="/ppt/notesSlides/notesSlide22.xml" ContentType="application/vnd.openxmlformats-officedocument.presentationml.notesSlide+xml"/>
  <Override PartName="/ppt/tags/tag22.xml" ContentType="application/vnd.openxmlformats-officedocument.presentationml.tags+xml"/>
  <Override PartName="/ppt/notesSlides/notesSlide23.xml" ContentType="application/vnd.openxmlformats-officedocument.presentationml.notesSlide+xml"/>
  <Override PartName="/ppt/tags/tag23.xml" ContentType="application/vnd.openxmlformats-officedocument.presentationml.tags+xml"/>
  <Override PartName="/ppt/notesSlides/notesSlide24.xml" ContentType="application/vnd.openxmlformats-officedocument.presentationml.notesSlide+xml"/>
  <Override PartName="/ppt/tags/tag24.xml" ContentType="application/vnd.openxmlformats-officedocument.presentationml.tags+xml"/>
  <Override PartName="/ppt/notesSlides/notesSlide25.xml" ContentType="application/vnd.openxmlformats-officedocument.presentationml.notesSlide+xml"/>
  <Override PartName="/ppt/tags/tag25.xml" ContentType="application/vnd.openxmlformats-officedocument.presentationml.tags+xml"/>
  <Override PartName="/ppt/notesSlides/notesSlide26.xml" ContentType="application/vnd.openxmlformats-officedocument.presentationml.notesSlide+xml"/>
  <Override PartName="/ppt/tags/tag26.xml" ContentType="application/vnd.openxmlformats-officedocument.presentationml.tags+xml"/>
  <Override PartName="/ppt/notesSlides/notesSlide27.xml" ContentType="application/vnd.openxmlformats-officedocument.presentationml.notesSlide+xml"/>
  <Override PartName="/ppt/tags/tag27.xml" ContentType="application/vnd.openxmlformats-officedocument.presentationml.tags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bookmarkIdSeed="3">
  <p:sldMasterIdLst>
    <p:sldMasterId id="2147483648" r:id="rId1"/>
    <p:sldMasterId id="2147483664" r:id="rId2"/>
  </p:sldMasterIdLst>
  <p:notesMasterIdLst>
    <p:notesMasterId r:id="rId32"/>
  </p:notesMasterIdLst>
  <p:handoutMasterIdLst>
    <p:handoutMasterId r:id="rId33"/>
  </p:handoutMasterIdLst>
  <p:sldIdLst>
    <p:sldId id="283" r:id="rId3"/>
    <p:sldId id="291" r:id="rId4"/>
    <p:sldId id="259" r:id="rId5"/>
    <p:sldId id="367" r:id="rId6"/>
    <p:sldId id="591" r:id="rId7"/>
    <p:sldId id="556" r:id="rId8"/>
    <p:sldId id="498" r:id="rId9"/>
    <p:sldId id="557" r:id="rId10"/>
    <p:sldId id="558" r:id="rId11"/>
    <p:sldId id="569" r:id="rId12"/>
    <p:sldId id="570" r:id="rId13"/>
    <p:sldId id="522" r:id="rId14"/>
    <p:sldId id="571" r:id="rId15"/>
    <p:sldId id="572" r:id="rId16"/>
    <p:sldId id="523" r:id="rId17"/>
    <p:sldId id="525" r:id="rId18"/>
    <p:sldId id="559" r:id="rId19"/>
    <p:sldId id="573" r:id="rId20"/>
    <p:sldId id="574" r:id="rId21"/>
    <p:sldId id="575" r:id="rId22"/>
    <p:sldId id="583" r:id="rId23"/>
    <p:sldId id="576" r:id="rId24"/>
    <p:sldId id="577" r:id="rId25"/>
    <p:sldId id="578" r:id="rId26"/>
    <p:sldId id="590" r:id="rId27"/>
    <p:sldId id="589" r:id="rId28"/>
    <p:sldId id="588" r:id="rId29"/>
    <p:sldId id="580" r:id="rId30"/>
    <p:sldId id="335" r:id="rId31"/>
  </p:sldIdLst>
  <p:sldSz cx="9144000" cy="6858000" type="screen4x3"/>
  <p:notesSz cx="6794500" cy="9931400"/>
  <p:custDataLst>
    <p:tags r:id="rId34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u Plessis, Darius" initials="dPD" lastIdx="2" clrIdx="0"/>
  <p:cmAuthor id="2" name="Wepener van der Walt" initials="WvdW" lastIdx="5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99CCFF"/>
    <a:srgbClr val="FF9933"/>
    <a:srgbClr val="6600FF"/>
    <a:srgbClr val="FF00FF"/>
    <a:srgbClr val="33CCCC"/>
    <a:srgbClr val="990000"/>
    <a:srgbClr val="3BFF9D"/>
    <a:srgbClr val="FFFFCC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15C0B2-35A5-4B42-8E6A-80F71A900763}" v="2" dt="2026-03-27T08:54:46.651"/>
    <p1510:client id="{7446E709-5B4D-4568-AACB-9F51D01D8A17}" v="1" dt="2026-03-27T08:59:00.2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5" d="100"/>
          <a:sy n="75" d="100"/>
        </p:scale>
        <p:origin x="159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tags" Target="tags/tag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commentAuthors" Target="commentAuthor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handoutMaster" Target="handoutMasters/handoutMaster1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tson, Storm (Dr) (Summerstrand Campus South)" userId="cdfaa8e9-29c2-42c0-844a-5081fd85b327" providerId="ADAL" clId="{6615C0B2-35A5-4B42-8E6A-80F71A900763}"/>
    <pc:docChg chg="custSel modSld">
      <pc:chgData name="Watson, Storm (Dr) (Summerstrand Campus South)" userId="cdfaa8e9-29c2-42c0-844a-5081fd85b327" providerId="ADAL" clId="{6615C0B2-35A5-4B42-8E6A-80F71A900763}" dt="2026-03-27T08:57:57.208" v="17" actId="20577"/>
      <pc:docMkLst>
        <pc:docMk/>
      </pc:docMkLst>
      <pc:sldChg chg="addSp delSp modSp mod">
        <pc:chgData name="Watson, Storm (Dr) (Summerstrand Campus South)" userId="cdfaa8e9-29c2-42c0-844a-5081fd85b327" providerId="ADAL" clId="{6615C0B2-35A5-4B42-8E6A-80F71A900763}" dt="2026-03-27T08:57:04.831" v="7" actId="1076"/>
        <pc:sldMkLst>
          <pc:docMk/>
          <pc:sldMk cId="1067134094" sldId="283"/>
        </pc:sldMkLst>
        <pc:spChg chg="mod">
          <ac:chgData name="Watson, Storm (Dr) (Summerstrand Campus South)" userId="cdfaa8e9-29c2-42c0-844a-5081fd85b327" providerId="ADAL" clId="{6615C0B2-35A5-4B42-8E6A-80F71A900763}" dt="2026-03-27T08:54:57.831" v="1"/>
          <ac:spMkLst>
            <pc:docMk/>
            <pc:sldMk cId="1067134094" sldId="283"/>
            <ac:spMk id="4101" creationId="{00000000-0000-0000-0000-000000000000}"/>
          </ac:spMkLst>
        </pc:spChg>
        <pc:graphicFrameChg chg="mod">
          <ac:chgData name="Watson, Storm (Dr) (Summerstrand Campus South)" userId="cdfaa8e9-29c2-42c0-844a-5081fd85b327" providerId="ADAL" clId="{6615C0B2-35A5-4B42-8E6A-80F71A900763}" dt="2026-03-27T08:54:46.651" v="0"/>
          <ac:graphicFrameMkLst>
            <pc:docMk/>
            <pc:sldMk cId="1067134094" sldId="283"/>
            <ac:graphicFrameMk id="2" creationId="{B4FFAA7E-A7EC-7980-E030-8BF3D0DECA29}"/>
          </ac:graphicFrameMkLst>
        </pc:graphicFrameChg>
        <pc:picChg chg="del">
          <ac:chgData name="Watson, Storm (Dr) (Summerstrand Campus South)" userId="cdfaa8e9-29c2-42c0-844a-5081fd85b327" providerId="ADAL" clId="{6615C0B2-35A5-4B42-8E6A-80F71A900763}" dt="2026-03-27T08:56:24.208" v="2" actId="478"/>
          <ac:picMkLst>
            <pc:docMk/>
            <pc:sldMk cId="1067134094" sldId="283"/>
            <ac:picMk id="3" creationId="{DF9D0A96-C994-D4A9-B6E9-A34F3CCB6475}"/>
          </ac:picMkLst>
        </pc:picChg>
        <pc:picChg chg="add mod">
          <ac:chgData name="Watson, Storm (Dr) (Summerstrand Campus South)" userId="cdfaa8e9-29c2-42c0-844a-5081fd85b327" providerId="ADAL" clId="{6615C0B2-35A5-4B42-8E6A-80F71A900763}" dt="2026-03-27T08:57:04.831" v="7" actId="1076"/>
          <ac:picMkLst>
            <pc:docMk/>
            <pc:sldMk cId="1067134094" sldId="283"/>
            <ac:picMk id="6" creationId="{72CE5E49-0D9A-5BE6-73B0-D311F8866688}"/>
          </ac:picMkLst>
        </pc:picChg>
      </pc:sldChg>
      <pc:sldChg chg="modSp mod">
        <pc:chgData name="Watson, Storm (Dr) (Summerstrand Campus South)" userId="cdfaa8e9-29c2-42c0-844a-5081fd85b327" providerId="ADAL" clId="{6615C0B2-35A5-4B42-8E6A-80F71A900763}" dt="2026-03-27T08:57:57.208" v="17" actId="20577"/>
        <pc:sldMkLst>
          <pc:docMk/>
          <pc:sldMk cId="3964624409" sldId="335"/>
        </pc:sldMkLst>
        <pc:spChg chg="mod">
          <ac:chgData name="Watson, Storm (Dr) (Summerstrand Campus South)" userId="cdfaa8e9-29c2-42c0-844a-5081fd85b327" providerId="ADAL" clId="{6615C0B2-35A5-4B42-8E6A-80F71A900763}" dt="2026-03-27T08:57:57.208" v="17" actId="20577"/>
          <ac:spMkLst>
            <pc:docMk/>
            <pc:sldMk cId="3964624409" sldId="335"/>
            <ac:spMk id="19" creationId="{00000000-0000-0000-0000-000000000000}"/>
          </ac:spMkLst>
        </pc:spChg>
      </pc:sldChg>
    </pc:docChg>
  </pc:docChgLst>
  <pc:docChgLst>
    <pc:chgData name="Watson, Storm (Dr) (Summerstrand Campus South)" userId="cdfaa8e9-29c2-42c0-844a-5081fd85b327" providerId="ADAL" clId="{7446E709-5B4D-4568-AACB-9F51D01D8A17}"/>
    <pc:docChg chg="custSel modSld">
      <pc:chgData name="Watson, Storm (Dr) (Summerstrand Campus South)" userId="cdfaa8e9-29c2-42c0-844a-5081fd85b327" providerId="ADAL" clId="{7446E709-5B4D-4568-AACB-9F51D01D8A17}" dt="2026-03-27T08:59:25.963" v="17" actId="478"/>
      <pc:docMkLst>
        <pc:docMk/>
      </pc:docMkLst>
      <pc:sldChg chg="delSp">
        <pc:chgData name="Watson, Storm (Dr) (Summerstrand Campus South)" userId="cdfaa8e9-29c2-42c0-844a-5081fd85b327" providerId="ADAL" clId="{7446E709-5B4D-4568-AACB-9F51D01D8A17}" dt="2026-03-27T08:59:00.258" v="1" actId="478"/>
        <pc:sldMkLst>
          <pc:docMk/>
          <pc:sldMk cId="0" sldId="259"/>
        </pc:sldMkLst>
        <pc:picChg chg="del">
          <ac:chgData name="Watson, Storm (Dr) (Summerstrand Campus South)" userId="cdfaa8e9-29c2-42c0-844a-5081fd85b327" providerId="ADAL" clId="{7446E709-5B4D-4568-AACB-9F51D01D8A17}" dt="2026-03-27T08:59:00.258" v="1" actId="478"/>
          <ac:picMkLst>
            <pc:docMk/>
            <pc:sldMk cId="0" sldId="259"/>
            <ac:picMk id="1026" creationId="{CFC7AA48-9D6A-1E3E-ED94-3B1D0A240EBA}"/>
          </ac:picMkLst>
        </pc:picChg>
      </pc:sldChg>
      <pc:sldChg chg="delSp mod">
        <pc:chgData name="Watson, Storm (Dr) (Summerstrand Campus South)" userId="cdfaa8e9-29c2-42c0-844a-5081fd85b327" providerId="ADAL" clId="{7446E709-5B4D-4568-AACB-9F51D01D8A17}" dt="2026-03-27T08:58:56.813" v="0" actId="478"/>
        <pc:sldMkLst>
          <pc:docMk/>
          <pc:sldMk cId="1067134094" sldId="283"/>
        </pc:sldMkLst>
        <pc:picChg chg="del">
          <ac:chgData name="Watson, Storm (Dr) (Summerstrand Campus South)" userId="cdfaa8e9-29c2-42c0-844a-5081fd85b327" providerId="ADAL" clId="{7446E709-5B4D-4568-AACB-9F51D01D8A17}" dt="2026-03-27T08:58:56.813" v="0" actId="478"/>
          <ac:picMkLst>
            <pc:docMk/>
            <pc:sldMk cId="1067134094" sldId="283"/>
            <ac:picMk id="4" creationId="{1022AE71-D7C8-51D0-8077-1B394481F51D}"/>
          </ac:picMkLst>
        </pc:picChg>
      </pc:sldChg>
      <pc:sldChg chg="delSp mod">
        <pc:chgData name="Watson, Storm (Dr) (Summerstrand Campus South)" userId="cdfaa8e9-29c2-42c0-844a-5081fd85b327" providerId="ADAL" clId="{7446E709-5B4D-4568-AACB-9F51D01D8A17}" dt="2026-03-27T08:59:25.963" v="17" actId="478"/>
        <pc:sldMkLst>
          <pc:docMk/>
          <pc:sldMk cId="199080974" sldId="557"/>
        </pc:sldMkLst>
        <pc:spChg chg="del">
          <ac:chgData name="Watson, Storm (Dr) (Summerstrand Campus South)" userId="cdfaa8e9-29c2-42c0-844a-5081fd85b327" providerId="ADAL" clId="{7446E709-5B4D-4568-AACB-9F51D01D8A17}" dt="2026-03-27T08:59:25.963" v="17" actId="478"/>
          <ac:spMkLst>
            <pc:docMk/>
            <pc:sldMk cId="199080974" sldId="557"/>
            <ac:spMk id="10" creationId="{77F59202-7787-F4EE-B8B1-543C41A25C2A}"/>
          </ac:spMkLst>
        </pc:spChg>
        <pc:spChg chg="del">
          <ac:chgData name="Watson, Storm (Dr) (Summerstrand Campus South)" userId="cdfaa8e9-29c2-42c0-844a-5081fd85b327" providerId="ADAL" clId="{7446E709-5B4D-4568-AACB-9F51D01D8A17}" dt="2026-03-27T08:59:25.080" v="16" actId="478"/>
          <ac:spMkLst>
            <pc:docMk/>
            <pc:sldMk cId="199080974" sldId="557"/>
            <ac:spMk id="11" creationId="{4BD99FDF-5198-9311-9ADF-CE5CBC00BB55}"/>
          </ac:spMkLst>
        </pc:spChg>
        <pc:picChg chg="del">
          <ac:chgData name="Watson, Storm (Dr) (Summerstrand Campus South)" userId="cdfaa8e9-29c2-42c0-844a-5081fd85b327" providerId="ADAL" clId="{7446E709-5B4D-4568-AACB-9F51D01D8A17}" dt="2026-03-27T08:59:22.602" v="15" actId="478"/>
          <ac:picMkLst>
            <pc:docMk/>
            <pc:sldMk cId="199080974" sldId="557"/>
            <ac:picMk id="5" creationId="{82E52C80-9961-6008-04CF-980F2B498FBB}"/>
          </ac:picMkLst>
        </pc:picChg>
        <pc:picChg chg="del">
          <ac:chgData name="Watson, Storm (Dr) (Summerstrand Campus South)" userId="cdfaa8e9-29c2-42c0-844a-5081fd85b327" providerId="ADAL" clId="{7446E709-5B4D-4568-AACB-9F51D01D8A17}" dt="2026-03-27T08:59:21.901" v="14" actId="478"/>
          <ac:picMkLst>
            <pc:docMk/>
            <pc:sldMk cId="199080974" sldId="557"/>
            <ac:picMk id="9" creationId="{482DCF6B-7BAC-062C-BA5B-AA5EC320E75B}"/>
          </ac:picMkLst>
        </pc:picChg>
      </pc:sldChg>
      <pc:sldChg chg="delSp mod">
        <pc:chgData name="Watson, Storm (Dr) (Summerstrand Campus South)" userId="cdfaa8e9-29c2-42c0-844a-5081fd85b327" providerId="ADAL" clId="{7446E709-5B4D-4568-AACB-9F51D01D8A17}" dt="2026-03-27T08:59:14.611" v="13" actId="478"/>
        <pc:sldMkLst>
          <pc:docMk/>
          <pc:sldMk cId="3474746803" sldId="591"/>
        </pc:sldMkLst>
        <pc:picChg chg="del">
          <ac:chgData name="Watson, Storm (Dr) (Summerstrand Campus South)" userId="cdfaa8e9-29c2-42c0-844a-5081fd85b327" providerId="ADAL" clId="{7446E709-5B4D-4568-AACB-9F51D01D8A17}" dt="2026-03-27T08:59:07.599" v="5" actId="478"/>
          <ac:picMkLst>
            <pc:docMk/>
            <pc:sldMk cId="3474746803" sldId="591"/>
            <ac:picMk id="4" creationId="{DDAF4DBF-3D06-2085-874A-6C22000A7B88}"/>
          </ac:picMkLst>
        </pc:picChg>
        <pc:picChg chg="del">
          <ac:chgData name="Watson, Storm (Dr) (Summerstrand Campus South)" userId="cdfaa8e9-29c2-42c0-844a-5081fd85b327" providerId="ADAL" clId="{7446E709-5B4D-4568-AACB-9F51D01D8A17}" dt="2026-03-27T08:59:08.326" v="6" actId="478"/>
          <ac:picMkLst>
            <pc:docMk/>
            <pc:sldMk cId="3474746803" sldId="591"/>
            <ac:picMk id="6" creationId="{2367A6B3-7DCD-24D0-2358-C24398B6C411}"/>
          </ac:picMkLst>
        </pc:picChg>
        <pc:picChg chg="del">
          <ac:chgData name="Watson, Storm (Dr) (Summerstrand Campus South)" userId="cdfaa8e9-29c2-42c0-844a-5081fd85b327" providerId="ADAL" clId="{7446E709-5B4D-4568-AACB-9F51D01D8A17}" dt="2026-03-27T08:59:06.512" v="4" actId="478"/>
          <ac:picMkLst>
            <pc:docMk/>
            <pc:sldMk cId="3474746803" sldId="591"/>
            <ac:picMk id="7" creationId="{F9C53CF3-3FE0-B4C0-002D-1DE88D2E13B9}"/>
          </ac:picMkLst>
        </pc:picChg>
        <pc:picChg chg="del">
          <ac:chgData name="Watson, Storm (Dr) (Summerstrand Campus South)" userId="cdfaa8e9-29c2-42c0-844a-5081fd85b327" providerId="ADAL" clId="{7446E709-5B4D-4568-AACB-9F51D01D8A17}" dt="2026-03-27T08:59:05.858" v="3" actId="478"/>
          <ac:picMkLst>
            <pc:docMk/>
            <pc:sldMk cId="3474746803" sldId="591"/>
            <ac:picMk id="9" creationId="{B73D4EFC-831D-8909-11AF-BC06D1C9D039}"/>
          </ac:picMkLst>
        </pc:picChg>
        <pc:picChg chg="del">
          <ac:chgData name="Watson, Storm (Dr) (Summerstrand Campus South)" userId="cdfaa8e9-29c2-42c0-844a-5081fd85b327" providerId="ADAL" clId="{7446E709-5B4D-4568-AACB-9F51D01D8A17}" dt="2026-03-27T08:59:09.266" v="7" actId="478"/>
          <ac:picMkLst>
            <pc:docMk/>
            <pc:sldMk cId="3474746803" sldId="591"/>
            <ac:picMk id="13" creationId="{F40719A6-AC49-13A9-1E15-E2B01EB30527}"/>
          </ac:picMkLst>
        </pc:picChg>
        <pc:picChg chg="del">
          <ac:chgData name="Watson, Storm (Dr) (Summerstrand Campus South)" userId="cdfaa8e9-29c2-42c0-844a-5081fd85b327" providerId="ADAL" clId="{7446E709-5B4D-4568-AACB-9F51D01D8A17}" dt="2026-03-27T08:59:04.448" v="2" actId="478"/>
          <ac:picMkLst>
            <pc:docMk/>
            <pc:sldMk cId="3474746803" sldId="591"/>
            <ac:picMk id="17" creationId="{01C3D7ED-6D0C-5C79-CC2C-D2376E9AC604}"/>
          </ac:picMkLst>
        </pc:picChg>
        <pc:cxnChg chg="del">
          <ac:chgData name="Watson, Storm (Dr) (Summerstrand Campus South)" userId="cdfaa8e9-29c2-42c0-844a-5081fd85b327" providerId="ADAL" clId="{7446E709-5B4D-4568-AACB-9F51D01D8A17}" dt="2026-03-27T08:59:14.611" v="13" actId="478"/>
          <ac:cxnSpMkLst>
            <pc:docMk/>
            <pc:sldMk cId="3474746803" sldId="591"/>
            <ac:cxnSpMk id="14" creationId="{CC3E173B-573D-542C-32CB-E19A2D7A44F2}"/>
          </ac:cxnSpMkLst>
        </pc:cxnChg>
        <pc:cxnChg chg="del">
          <ac:chgData name="Watson, Storm (Dr) (Summerstrand Campus South)" userId="cdfaa8e9-29c2-42c0-844a-5081fd85b327" providerId="ADAL" clId="{7446E709-5B4D-4568-AACB-9F51D01D8A17}" dt="2026-03-27T08:59:12.989" v="11" actId="478"/>
          <ac:cxnSpMkLst>
            <pc:docMk/>
            <pc:sldMk cId="3474746803" sldId="591"/>
            <ac:cxnSpMk id="18" creationId="{6C75B937-6DDC-6CB1-79B7-B86C9B33187F}"/>
          </ac:cxnSpMkLst>
        </pc:cxnChg>
        <pc:cxnChg chg="del">
          <ac:chgData name="Watson, Storm (Dr) (Summerstrand Campus South)" userId="cdfaa8e9-29c2-42c0-844a-5081fd85b327" providerId="ADAL" clId="{7446E709-5B4D-4568-AACB-9F51D01D8A17}" dt="2026-03-27T08:59:13.675" v="12" actId="478"/>
          <ac:cxnSpMkLst>
            <pc:docMk/>
            <pc:sldMk cId="3474746803" sldId="591"/>
            <ac:cxnSpMk id="19" creationId="{522C43AC-452A-EE99-385C-70CAB2B486C0}"/>
          </ac:cxnSpMkLst>
        </pc:cxnChg>
        <pc:cxnChg chg="del">
          <ac:chgData name="Watson, Storm (Dr) (Summerstrand Campus South)" userId="cdfaa8e9-29c2-42c0-844a-5081fd85b327" providerId="ADAL" clId="{7446E709-5B4D-4568-AACB-9F51D01D8A17}" dt="2026-03-27T08:59:11.958" v="10" actId="478"/>
          <ac:cxnSpMkLst>
            <pc:docMk/>
            <pc:sldMk cId="3474746803" sldId="591"/>
            <ac:cxnSpMk id="20" creationId="{760C2453-A8B1-BC94-692D-D74F942E10DF}"/>
          </ac:cxnSpMkLst>
        </pc:cxnChg>
        <pc:cxnChg chg="del">
          <ac:chgData name="Watson, Storm (Dr) (Summerstrand Campus South)" userId="cdfaa8e9-29c2-42c0-844a-5081fd85b327" providerId="ADAL" clId="{7446E709-5B4D-4568-AACB-9F51D01D8A17}" dt="2026-03-27T08:59:10.943" v="9" actId="478"/>
          <ac:cxnSpMkLst>
            <pc:docMk/>
            <pc:sldMk cId="3474746803" sldId="591"/>
            <ac:cxnSpMk id="21" creationId="{B5D60CE1-5031-71A5-DFC4-D9916197E5FB}"/>
          </ac:cxnSpMkLst>
        </pc:cxnChg>
        <pc:cxnChg chg="del">
          <ac:chgData name="Watson, Storm (Dr) (Summerstrand Campus South)" userId="cdfaa8e9-29c2-42c0-844a-5081fd85b327" providerId="ADAL" clId="{7446E709-5B4D-4568-AACB-9F51D01D8A17}" dt="2026-03-27T08:59:10.250" v="8" actId="478"/>
          <ac:cxnSpMkLst>
            <pc:docMk/>
            <pc:sldMk cId="3474746803" sldId="591"/>
            <ac:cxnSpMk id="22" creationId="{15899F4A-E59B-3BAF-49A8-6215696CE3EC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225A0C-05AC-48D7-961A-DB8B1E44CBA9}" type="doc">
      <dgm:prSet loTypeId="urn:microsoft.com/office/officeart/2005/8/layout/cycle5" loCatId="cycle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endParaRPr lang="en-ZA"/>
        </a:p>
      </dgm:t>
    </dgm:pt>
    <dgm:pt modelId="{429906E0-E908-40FB-9F15-CF1175B990B0}">
      <dgm:prSet phldrT="[Text]" custT="1"/>
      <dgm:spPr/>
      <dgm:t>
        <a:bodyPr/>
        <a:lstStyle/>
        <a:p>
          <a:r>
            <a:rPr lang="en-US" sz="2000" dirty="0"/>
            <a:t>Proposal generation</a:t>
          </a:r>
          <a:endParaRPr lang="en-ZA" sz="2000" dirty="0"/>
        </a:p>
      </dgm:t>
    </dgm:pt>
    <dgm:pt modelId="{843557B9-2861-40B6-BA2C-0DB03EC4B3F5}" type="parTrans" cxnId="{CFE70B6D-7770-45A4-B19C-F95456B1239F}">
      <dgm:prSet/>
      <dgm:spPr/>
      <dgm:t>
        <a:bodyPr/>
        <a:lstStyle/>
        <a:p>
          <a:endParaRPr lang="en-ZA" sz="2000"/>
        </a:p>
      </dgm:t>
    </dgm:pt>
    <dgm:pt modelId="{3801D32A-A6D3-46BD-93AC-C7FD92D1D359}" type="sibTrans" cxnId="{CFE70B6D-7770-45A4-B19C-F95456B1239F}">
      <dgm:prSet/>
      <dgm:spPr/>
      <dgm:t>
        <a:bodyPr/>
        <a:lstStyle/>
        <a:p>
          <a:endParaRPr lang="en-ZA" sz="2000"/>
        </a:p>
      </dgm:t>
    </dgm:pt>
    <dgm:pt modelId="{3F5B55E8-9FA5-445E-BB03-63CC9C9DFF8D}">
      <dgm:prSet phldrT="[Text]" custT="1"/>
      <dgm:spPr/>
      <dgm:t>
        <a:bodyPr/>
        <a:lstStyle/>
        <a:p>
          <a:r>
            <a:rPr lang="en-US" sz="2000" dirty="0"/>
            <a:t>Review and analysis</a:t>
          </a:r>
          <a:endParaRPr lang="en-ZA" sz="2000" dirty="0"/>
        </a:p>
      </dgm:t>
    </dgm:pt>
    <dgm:pt modelId="{A8C7823C-80DC-4962-A3B3-90FEF5A0D78B}" type="parTrans" cxnId="{7DFF420C-3585-44A4-B85E-810E5C6A1F86}">
      <dgm:prSet/>
      <dgm:spPr/>
      <dgm:t>
        <a:bodyPr/>
        <a:lstStyle/>
        <a:p>
          <a:endParaRPr lang="en-ZA" sz="2000"/>
        </a:p>
      </dgm:t>
    </dgm:pt>
    <dgm:pt modelId="{BE97B4D4-EDC6-40C1-AFF5-F0D68A49162C}" type="sibTrans" cxnId="{7DFF420C-3585-44A4-B85E-810E5C6A1F86}">
      <dgm:prSet/>
      <dgm:spPr/>
      <dgm:t>
        <a:bodyPr/>
        <a:lstStyle/>
        <a:p>
          <a:endParaRPr lang="en-ZA" sz="2000"/>
        </a:p>
      </dgm:t>
    </dgm:pt>
    <dgm:pt modelId="{2B3D40F0-608C-4480-A280-413F1E94BBDC}">
      <dgm:prSet phldrT="[Text]" custT="1"/>
      <dgm:spPr/>
      <dgm:t>
        <a:bodyPr/>
        <a:lstStyle/>
        <a:p>
          <a:r>
            <a:rPr lang="en-US" sz="2000" dirty="0"/>
            <a:t>Decision making</a:t>
          </a:r>
          <a:endParaRPr lang="en-ZA" sz="2000" dirty="0"/>
        </a:p>
      </dgm:t>
    </dgm:pt>
    <dgm:pt modelId="{5CB4B180-EE97-4A6D-AC67-27D37E7B3279}" type="parTrans" cxnId="{2BC13022-0253-45A3-BC06-4E903FB5B7A0}">
      <dgm:prSet/>
      <dgm:spPr/>
      <dgm:t>
        <a:bodyPr/>
        <a:lstStyle/>
        <a:p>
          <a:endParaRPr lang="en-ZA" sz="2000"/>
        </a:p>
      </dgm:t>
    </dgm:pt>
    <dgm:pt modelId="{8CAE5262-1D92-4F1F-A03C-045B601E6EAC}" type="sibTrans" cxnId="{2BC13022-0253-45A3-BC06-4E903FB5B7A0}">
      <dgm:prSet/>
      <dgm:spPr/>
      <dgm:t>
        <a:bodyPr/>
        <a:lstStyle/>
        <a:p>
          <a:endParaRPr lang="en-ZA" sz="2000"/>
        </a:p>
      </dgm:t>
    </dgm:pt>
    <dgm:pt modelId="{9E37992B-2CB6-4100-863A-CA84F123F95E}">
      <dgm:prSet phldrT="[Text]" custT="1"/>
      <dgm:spPr/>
      <dgm:t>
        <a:bodyPr/>
        <a:lstStyle/>
        <a:p>
          <a:r>
            <a:rPr lang="en-US" sz="2000" dirty="0"/>
            <a:t>Implementation</a:t>
          </a:r>
          <a:endParaRPr lang="en-ZA" sz="2000" dirty="0"/>
        </a:p>
      </dgm:t>
    </dgm:pt>
    <dgm:pt modelId="{BE4B9DF5-C9F7-4FBB-BAC5-1AB650C84844}" type="parTrans" cxnId="{912734AE-78C3-43E0-A9A9-CF06410608E0}">
      <dgm:prSet/>
      <dgm:spPr/>
      <dgm:t>
        <a:bodyPr/>
        <a:lstStyle/>
        <a:p>
          <a:endParaRPr lang="en-ZA" sz="2000"/>
        </a:p>
      </dgm:t>
    </dgm:pt>
    <dgm:pt modelId="{427A0484-5C79-4913-A096-3B0B225042E1}" type="sibTrans" cxnId="{912734AE-78C3-43E0-A9A9-CF06410608E0}">
      <dgm:prSet/>
      <dgm:spPr/>
      <dgm:t>
        <a:bodyPr/>
        <a:lstStyle/>
        <a:p>
          <a:endParaRPr lang="en-ZA" sz="2000"/>
        </a:p>
      </dgm:t>
    </dgm:pt>
    <dgm:pt modelId="{18A9AA11-A277-4AF7-82BB-F74947BC997D}">
      <dgm:prSet phldrT="[Text]" custT="1"/>
      <dgm:spPr/>
      <dgm:t>
        <a:bodyPr/>
        <a:lstStyle/>
        <a:p>
          <a:r>
            <a:rPr lang="en-US" sz="2000" dirty="0"/>
            <a:t>Control</a:t>
          </a:r>
          <a:endParaRPr lang="en-ZA" sz="2000" dirty="0"/>
        </a:p>
      </dgm:t>
    </dgm:pt>
    <dgm:pt modelId="{A8F1E42D-83E6-4BB0-B0B2-3CE7120E98C0}" type="parTrans" cxnId="{8ED9E85C-8292-46C0-9387-6303EA4E9B6A}">
      <dgm:prSet/>
      <dgm:spPr/>
      <dgm:t>
        <a:bodyPr/>
        <a:lstStyle/>
        <a:p>
          <a:endParaRPr lang="en-ZA" sz="2000"/>
        </a:p>
      </dgm:t>
    </dgm:pt>
    <dgm:pt modelId="{F150C407-9949-4A10-8A18-37D97DD91B51}" type="sibTrans" cxnId="{8ED9E85C-8292-46C0-9387-6303EA4E9B6A}">
      <dgm:prSet/>
      <dgm:spPr/>
      <dgm:t>
        <a:bodyPr/>
        <a:lstStyle/>
        <a:p>
          <a:endParaRPr lang="en-ZA" sz="2000"/>
        </a:p>
      </dgm:t>
    </dgm:pt>
    <dgm:pt modelId="{8F65BEF3-B14E-45CA-B8B7-673AE47E53EE}" type="pres">
      <dgm:prSet presAssocID="{03225A0C-05AC-48D7-961A-DB8B1E44CBA9}" presName="cycle" presStyleCnt="0">
        <dgm:presLayoutVars>
          <dgm:dir/>
          <dgm:resizeHandles val="exact"/>
        </dgm:presLayoutVars>
      </dgm:prSet>
      <dgm:spPr/>
    </dgm:pt>
    <dgm:pt modelId="{BDE996C1-CB9C-4E78-8BBD-F94EB2A63B12}" type="pres">
      <dgm:prSet presAssocID="{429906E0-E908-40FB-9F15-CF1175B990B0}" presName="node" presStyleLbl="node1" presStyleIdx="0" presStyleCnt="5" custScaleX="119898">
        <dgm:presLayoutVars>
          <dgm:bulletEnabled val="1"/>
        </dgm:presLayoutVars>
      </dgm:prSet>
      <dgm:spPr/>
    </dgm:pt>
    <dgm:pt modelId="{D0F360D0-03D0-43F1-A564-684140C08DDD}" type="pres">
      <dgm:prSet presAssocID="{429906E0-E908-40FB-9F15-CF1175B990B0}" presName="spNode" presStyleCnt="0"/>
      <dgm:spPr/>
    </dgm:pt>
    <dgm:pt modelId="{F0BF078F-5E9F-425F-99B6-805AD79B340F}" type="pres">
      <dgm:prSet presAssocID="{3801D32A-A6D3-46BD-93AC-C7FD92D1D359}" presName="sibTrans" presStyleLbl="sibTrans1D1" presStyleIdx="0" presStyleCnt="5"/>
      <dgm:spPr/>
    </dgm:pt>
    <dgm:pt modelId="{F7F4E8AC-0CF7-4635-B505-B74F9D63EF1C}" type="pres">
      <dgm:prSet presAssocID="{3F5B55E8-9FA5-445E-BB03-63CC9C9DFF8D}" presName="node" presStyleLbl="node1" presStyleIdx="1" presStyleCnt="5" custScaleX="119898">
        <dgm:presLayoutVars>
          <dgm:bulletEnabled val="1"/>
        </dgm:presLayoutVars>
      </dgm:prSet>
      <dgm:spPr/>
    </dgm:pt>
    <dgm:pt modelId="{B508BE89-C7F7-41CF-ACDE-C3D5F74ECD7E}" type="pres">
      <dgm:prSet presAssocID="{3F5B55E8-9FA5-445E-BB03-63CC9C9DFF8D}" presName="spNode" presStyleCnt="0"/>
      <dgm:spPr/>
    </dgm:pt>
    <dgm:pt modelId="{C399A882-6CCA-424E-961A-B867CF5A3385}" type="pres">
      <dgm:prSet presAssocID="{BE97B4D4-EDC6-40C1-AFF5-F0D68A49162C}" presName="sibTrans" presStyleLbl="sibTrans1D1" presStyleIdx="1" presStyleCnt="5"/>
      <dgm:spPr/>
    </dgm:pt>
    <dgm:pt modelId="{CDDAFF41-010E-4DC9-A006-79D7AC9F3134}" type="pres">
      <dgm:prSet presAssocID="{2B3D40F0-608C-4480-A280-413F1E94BBDC}" presName="node" presStyleLbl="node1" presStyleIdx="2" presStyleCnt="5" custScaleX="119898" custRadScaleRad="103405" custRadScaleInc="-24094">
        <dgm:presLayoutVars>
          <dgm:bulletEnabled val="1"/>
        </dgm:presLayoutVars>
      </dgm:prSet>
      <dgm:spPr/>
    </dgm:pt>
    <dgm:pt modelId="{8A73CFE5-954B-49E4-B5D4-5B4CDF5D19F1}" type="pres">
      <dgm:prSet presAssocID="{2B3D40F0-608C-4480-A280-413F1E94BBDC}" presName="spNode" presStyleCnt="0"/>
      <dgm:spPr/>
    </dgm:pt>
    <dgm:pt modelId="{8C0FB39E-5A34-4DC3-A02D-1F481EFA05F5}" type="pres">
      <dgm:prSet presAssocID="{8CAE5262-1D92-4F1F-A03C-045B601E6EAC}" presName="sibTrans" presStyleLbl="sibTrans1D1" presStyleIdx="2" presStyleCnt="5"/>
      <dgm:spPr/>
    </dgm:pt>
    <dgm:pt modelId="{E0953605-F4ED-4396-8EE2-AC34DD84E061}" type="pres">
      <dgm:prSet presAssocID="{9E37992B-2CB6-4100-863A-CA84F123F95E}" presName="node" presStyleLbl="node1" presStyleIdx="3" presStyleCnt="5" custScaleX="119898" custRadScaleRad="103700" custRadScaleInc="36162">
        <dgm:presLayoutVars>
          <dgm:bulletEnabled val="1"/>
        </dgm:presLayoutVars>
      </dgm:prSet>
      <dgm:spPr/>
    </dgm:pt>
    <dgm:pt modelId="{F68F4056-28B5-44F3-8072-D82FEED10DF2}" type="pres">
      <dgm:prSet presAssocID="{9E37992B-2CB6-4100-863A-CA84F123F95E}" presName="spNode" presStyleCnt="0"/>
      <dgm:spPr/>
    </dgm:pt>
    <dgm:pt modelId="{5D2314C0-AFD6-404A-8246-239A0E4C341D}" type="pres">
      <dgm:prSet presAssocID="{427A0484-5C79-4913-A096-3B0B225042E1}" presName="sibTrans" presStyleLbl="sibTrans1D1" presStyleIdx="3" presStyleCnt="5"/>
      <dgm:spPr/>
    </dgm:pt>
    <dgm:pt modelId="{A14755C3-3DEE-43F1-BA69-693A29D7D1BA}" type="pres">
      <dgm:prSet presAssocID="{18A9AA11-A277-4AF7-82BB-F74947BC997D}" presName="node" presStyleLbl="node1" presStyleIdx="4" presStyleCnt="5" custScaleX="119898">
        <dgm:presLayoutVars>
          <dgm:bulletEnabled val="1"/>
        </dgm:presLayoutVars>
      </dgm:prSet>
      <dgm:spPr/>
    </dgm:pt>
    <dgm:pt modelId="{B8857C7F-8111-4C88-8186-2A26A665AB7C}" type="pres">
      <dgm:prSet presAssocID="{18A9AA11-A277-4AF7-82BB-F74947BC997D}" presName="spNode" presStyleCnt="0"/>
      <dgm:spPr/>
    </dgm:pt>
    <dgm:pt modelId="{F60BD2D5-6BD0-41D7-BE4F-9F67F0D951BA}" type="pres">
      <dgm:prSet presAssocID="{F150C407-9949-4A10-8A18-37D97DD91B51}" presName="sibTrans" presStyleLbl="sibTrans1D1" presStyleIdx="4" presStyleCnt="5"/>
      <dgm:spPr/>
    </dgm:pt>
  </dgm:ptLst>
  <dgm:cxnLst>
    <dgm:cxn modelId="{7DFF420C-3585-44A4-B85E-810E5C6A1F86}" srcId="{03225A0C-05AC-48D7-961A-DB8B1E44CBA9}" destId="{3F5B55E8-9FA5-445E-BB03-63CC9C9DFF8D}" srcOrd="1" destOrd="0" parTransId="{A8C7823C-80DC-4962-A3B3-90FEF5A0D78B}" sibTransId="{BE97B4D4-EDC6-40C1-AFF5-F0D68A49162C}"/>
    <dgm:cxn modelId="{2BC13022-0253-45A3-BC06-4E903FB5B7A0}" srcId="{03225A0C-05AC-48D7-961A-DB8B1E44CBA9}" destId="{2B3D40F0-608C-4480-A280-413F1E94BBDC}" srcOrd="2" destOrd="0" parTransId="{5CB4B180-EE97-4A6D-AC67-27D37E7B3279}" sibTransId="{8CAE5262-1D92-4F1F-A03C-045B601E6EAC}"/>
    <dgm:cxn modelId="{B951DA34-9DE5-4B51-8F49-8028CF6578CC}" type="presOf" srcId="{3801D32A-A6D3-46BD-93AC-C7FD92D1D359}" destId="{F0BF078F-5E9F-425F-99B6-805AD79B340F}" srcOrd="0" destOrd="0" presId="urn:microsoft.com/office/officeart/2005/8/layout/cycle5"/>
    <dgm:cxn modelId="{09866936-5241-4CA5-811A-84DCC07DAF62}" type="presOf" srcId="{18A9AA11-A277-4AF7-82BB-F74947BC997D}" destId="{A14755C3-3DEE-43F1-BA69-693A29D7D1BA}" srcOrd="0" destOrd="0" presId="urn:microsoft.com/office/officeart/2005/8/layout/cycle5"/>
    <dgm:cxn modelId="{AD8B363A-24CC-437A-BA87-A7A017EED673}" type="presOf" srcId="{3F5B55E8-9FA5-445E-BB03-63CC9C9DFF8D}" destId="{F7F4E8AC-0CF7-4635-B505-B74F9D63EF1C}" srcOrd="0" destOrd="0" presId="urn:microsoft.com/office/officeart/2005/8/layout/cycle5"/>
    <dgm:cxn modelId="{4296113D-39A0-4BFD-8B74-E27D0D493454}" type="presOf" srcId="{8CAE5262-1D92-4F1F-A03C-045B601E6EAC}" destId="{8C0FB39E-5A34-4DC3-A02D-1F481EFA05F5}" srcOrd="0" destOrd="0" presId="urn:microsoft.com/office/officeart/2005/8/layout/cycle5"/>
    <dgm:cxn modelId="{8ED9E85C-8292-46C0-9387-6303EA4E9B6A}" srcId="{03225A0C-05AC-48D7-961A-DB8B1E44CBA9}" destId="{18A9AA11-A277-4AF7-82BB-F74947BC997D}" srcOrd="4" destOrd="0" parTransId="{A8F1E42D-83E6-4BB0-B0B2-3CE7120E98C0}" sibTransId="{F150C407-9949-4A10-8A18-37D97DD91B51}"/>
    <dgm:cxn modelId="{AE499043-4816-4F27-A2FC-6BFE9EF05248}" type="presOf" srcId="{F150C407-9949-4A10-8A18-37D97DD91B51}" destId="{F60BD2D5-6BD0-41D7-BE4F-9F67F0D951BA}" srcOrd="0" destOrd="0" presId="urn:microsoft.com/office/officeart/2005/8/layout/cycle5"/>
    <dgm:cxn modelId="{B711F446-70EE-423C-9990-AE04D9C66AC9}" type="presOf" srcId="{427A0484-5C79-4913-A096-3B0B225042E1}" destId="{5D2314C0-AFD6-404A-8246-239A0E4C341D}" srcOrd="0" destOrd="0" presId="urn:microsoft.com/office/officeart/2005/8/layout/cycle5"/>
    <dgm:cxn modelId="{F42C7969-6FFA-4E64-8E2E-60F80E0BDF9B}" type="presOf" srcId="{429906E0-E908-40FB-9F15-CF1175B990B0}" destId="{BDE996C1-CB9C-4E78-8BBD-F94EB2A63B12}" srcOrd="0" destOrd="0" presId="urn:microsoft.com/office/officeart/2005/8/layout/cycle5"/>
    <dgm:cxn modelId="{CFE70B6D-7770-45A4-B19C-F95456B1239F}" srcId="{03225A0C-05AC-48D7-961A-DB8B1E44CBA9}" destId="{429906E0-E908-40FB-9F15-CF1175B990B0}" srcOrd="0" destOrd="0" parTransId="{843557B9-2861-40B6-BA2C-0DB03EC4B3F5}" sibTransId="{3801D32A-A6D3-46BD-93AC-C7FD92D1D359}"/>
    <dgm:cxn modelId="{56B3F458-A77B-408A-85BF-89E449540002}" type="presOf" srcId="{9E37992B-2CB6-4100-863A-CA84F123F95E}" destId="{E0953605-F4ED-4396-8EE2-AC34DD84E061}" srcOrd="0" destOrd="0" presId="urn:microsoft.com/office/officeart/2005/8/layout/cycle5"/>
    <dgm:cxn modelId="{FE55FA8C-8744-436A-9DD2-A86215766CB8}" type="presOf" srcId="{2B3D40F0-608C-4480-A280-413F1E94BBDC}" destId="{CDDAFF41-010E-4DC9-A006-79D7AC9F3134}" srcOrd="0" destOrd="0" presId="urn:microsoft.com/office/officeart/2005/8/layout/cycle5"/>
    <dgm:cxn modelId="{021D5698-451E-4A3D-9AB4-55F07961757E}" type="presOf" srcId="{BE97B4D4-EDC6-40C1-AFF5-F0D68A49162C}" destId="{C399A882-6CCA-424E-961A-B867CF5A3385}" srcOrd="0" destOrd="0" presId="urn:microsoft.com/office/officeart/2005/8/layout/cycle5"/>
    <dgm:cxn modelId="{912734AE-78C3-43E0-A9A9-CF06410608E0}" srcId="{03225A0C-05AC-48D7-961A-DB8B1E44CBA9}" destId="{9E37992B-2CB6-4100-863A-CA84F123F95E}" srcOrd="3" destOrd="0" parTransId="{BE4B9DF5-C9F7-4FBB-BAC5-1AB650C84844}" sibTransId="{427A0484-5C79-4913-A096-3B0B225042E1}"/>
    <dgm:cxn modelId="{E46FCCD5-7A81-4DAC-99E9-C1D3BC32B6C6}" type="presOf" srcId="{03225A0C-05AC-48D7-961A-DB8B1E44CBA9}" destId="{8F65BEF3-B14E-45CA-B8B7-673AE47E53EE}" srcOrd="0" destOrd="0" presId="urn:microsoft.com/office/officeart/2005/8/layout/cycle5"/>
    <dgm:cxn modelId="{6049C3ED-16FE-4848-B907-94EF2F1D28AA}" type="presParOf" srcId="{8F65BEF3-B14E-45CA-B8B7-673AE47E53EE}" destId="{BDE996C1-CB9C-4E78-8BBD-F94EB2A63B12}" srcOrd="0" destOrd="0" presId="urn:microsoft.com/office/officeart/2005/8/layout/cycle5"/>
    <dgm:cxn modelId="{C50A1329-5241-477D-A2C0-6044F4419CD3}" type="presParOf" srcId="{8F65BEF3-B14E-45CA-B8B7-673AE47E53EE}" destId="{D0F360D0-03D0-43F1-A564-684140C08DDD}" srcOrd="1" destOrd="0" presId="urn:microsoft.com/office/officeart/2005/8/layout/cycle5"/>
    <dgm:cxn modelId="{3D037ED1-3CEC-414E-986C-4F6317E19553}" type="presParOf" srcId="{8F65BEF3-B14E-45CA-B8B7-673AE47E53EE}" destId="{F0BF078F-5E9F-425F-99B6-805AD79B340F}" srcOrd="2" destOrd="0" presId="urn:microsoft.com/office/officeart/2005/8/layout/cycle5"/>
    <dgm:cxn modelId="{2229D3D6-78DE-4430-BEC8-7DE44B9C8C33}" type="presParOf" srcId="{8F65BEF3-B14E-45CA-B8B7-673AE47E53EE}" destId="{F7F4E8AC-0CF7-4635-B505-B74F9D63EF1C}" srcOrd="3" destOrd="0" presId="urn:microsoft.com/office/officeart/2005/8/layout/cycle5"/>
    <dgm:cxn modelId="{ABEC147D-9E49-46E4-AC83-D55C29E740E7}" type="presParOf" srcId="{8F65BEF3-B14E-45CA-B8B7-673AE47E53EE}" destId="{B508BE89-C7F7-41CF-ACDE-C3D5F74ECD7E}" srcOrd="4" destOrd="0" presId="urn:microsoft.com/office/officeart/2005/8/layout/cycle5"/>
    <dgm:cxn modelId="{A3ABD810-7D2B-4943-8336-50236C03AACF}" type="presParOf" srcId="{8F65BEF3-B14E-45CA-B8B7-673AE47E53EE}" destId="{C399A882-6CCA-424E-961A-B867CF5A3385}" srcOrd="5" destOrd="0" presId="urn:microsoft.com/office/officeart/2005/8/layout/cycle5"/>
    <dgm:cxn modelId="{DF629137-832F-460A-9E96-E24860C0A51B}" type="presParOf" srcId="{8F65BEF3-B14E-45CA-B8B7-673AE47E53EE}" destId="{CDDAFF41-010E-4DC9-A006-79D7AC9F3134}" srcOrd="6" destOrd="0" presId="urn:microsoft.com/office/officeart/2005/8/layout/cycle5"/>
    <dgm:cxn modelId="{3F957FC2-D9C7-4880-8969-4A24404CED6F}" type="presParOf" srcId="{8F65BEF3-B14E-45CA-B8B7-673AE47E53EE}" destId="{8A73CFE5-954B-49E4-B5D4-5B4CDF5D19F1}" srcOrd="7" destOrd="0" presId="urn:microsoft.com/office/officeart/2005/8/layout/cycle5"/>
    <dgm:cxn modelId="{99DDF11E-6252-471F-9917-02597338E3B2}" type="presParOf" srcId="{8F65BEF3-B14E-45CA-B8B7-673AE47E53EE}" destId="{8C0FB39E-5A34-4DC3-A02D-1F481EFA05F5}" srcOrd="8" destOrd="0" presId="urn:microsoft.com/office/officeart/2005/8/layout/cycle5"/>
    <dgm:cxn modelId="{E21E0FF5-8DF5-4FED-9838-583CD6A62DD1}" type="presParOf" srcId="{8F65BEF3-B14E-45CA-B8B7-673AE47E53EE}" destId="{E0953605-F4ED-4396-8EE2-AC34DD84E061}" srcOrd="9" destOrd="0" presId="urn:microsoft.com/office/officeart/2005/8/layout/cycle5"/>
    <dgm:cxn modelId="{623B343D-98D8-4C85-BE1C-C86FCD91F79F}" type="presParOf" srcId="{8F65BEF3-B14E-45CA-B8B7-673AE47E53EE}" destId="{F68F4056-28B5-44F3-8072-D82FEED10DF2}" srcOrd="10" destOrd="0" presId="urn:microsoft.com/office/officeart/2005/8/layout/cycle5"/>
    <dgm:cxn modelId="{1DB8248F-A752-471F-A521-70D5E5869626}" type="presParOf" srcId="{8F65BEF3-B14E-45CA-B8B7-673AE47E53EE}" destId="{5D2314C0-AFD6-404A-8246-239A0E4C341D}" srcOrd="11" destOrd="0" presId="urn:microsoft.com/office/officeart/2005/8/layout/cycle5"/>
    <dgm:cxn modelId="{9933EF65-FE2B-4147-B3AC-7ADE6E7DB379}" type="presParOf" srcId="{8F65BEF3-B14E-45CA-B8B7-673AE47E53EE}" destId="{A14755C3-3DEE-43F1-BA69-693A29D7D1BA}" srcOrd="12" destOrd="0" presId="urn:microsoft.com/office/officeart/2005/8/layout/cycle5"/>
    <dgm:cxn modelId="{42694DA6-469F-411B-8B84-88F18D6DC73B}" type="presParOf" srcId="{8F65BEF3-B14E-45CA-B8B7-673AE47E53EE}" destId="{B8857C7F-8111-4C88-8186-2A26A665AB7C}" srcOrd="13" destOrd="0" presId="urn:microsoft.com/office/officeart/2005/8/layout/cycle5"/>
    <dgm:cxn modelId="{E09DD926-A5A4-4D7E-AD60-5C2587D35AB5}" type="presParOf" srcId="{8F65BEF3-B14E-45CA-B8B7-673AE47E53EE}" destId="{F60BD2D5-6BD0-41D7-BE4F-9F67F0D951BA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E996C1-CB9C-4E78-8BBD-F94EB2A63B12}">
      <dsp:nvSpPr>
        <dsp:cNvPr id="0" name=""/>
        <dsp:cNvSpPr/>
      </dsp:nvSpPr>
      <dsp:spPr>
        <a:xfrm>
          <a:off x="3337502" y="2790"/>
          <a:ext cx="2087993" cy="113195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Proposal generation</a:t>
          </a:r>
          <a:endParaRPr lang="en-ZA" sz="2000" kern="1200" dirty="0"/>
        </a:p>
      </dsp:txBody>
      <dsp:txXfrm>
        <a:off x="3392760" y="58048"/>
        <a:ext cx="1977477" cy="1021442"/>
      </dsp:txXfrm>
    </dsp:sp>
    <dsp:sp modelId="{F0BF078F-5E9F-425F-99B6-805AD79B340F}">
      <dsp:nvSpPr>
        <dsp:cNvPr id="0" name=""/>
        <dsp:cNvSpPr/>
      </dsp:nvSpPr>
      <dsp:spPr>
        <a:xfrm>
          <a:off x="2120320" y="568769"/>
          <a:ext cx="4522358" cy="4522358"/>
        </a:xfrm>
        <a:custGeom>
          <a:avLst/>
          <a:gdLst/>
          <a:ahLst/>
          <a:cxnLst/>
          <a:rect l="0" t="0" r="0" b="0"/>
          <a:pathLst>
            <a:path>
              <a:moveTo>
                <a:pt x="3497250" y="367754"/>
              </a:moveTo>
              <a:arcTo wR="2261179" hR="2261179" stAng="18188246" swAng="1032812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F4E8AC-0CF7-4635-B505-B74F9D63EF1C}">
      <dsp:nvSpPr>
        <dsp:cNvPr id="0" name=""/>
        <dsp:cNvSpPr/>
      </dsp:nvSpPr>
      <dsp:spPr>
        <a:xfrm>
          <a:off x="5488011" y="1565226"/>
          <a:ext cx="2087993" cy="113195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Review and analysis</a:t>
          </a:r>
          <a:endParaRPr lang="en-ZA" sz="2000" kern="1200" dirty="0"/>
        </a:p>
      </dsp:txBody>
      <dsp:txXfrm>
        <a:off x="5543269" y="1620484"/>
        <a:ext cx="1977477" cy="1021442"/>
      </dsp:txXfrm>
    </dsp:sp>
    <dsp:sp modelId="{C399A882-6CCA-424E-961A-B867CF5A3385}">
      <dsp:nvSpPr>
        <dsp:cNvPr id="0" name=""/>
        <dsp:cNvSpPr/>
      </dsp:nvSpPr>
      <dsp:spPr>
        <a:xfrm>
          <a:off x="2132611" y="706123"/>
          <a:ext cx="4522358" cy="4522358"/>
        </a:xfrm>
        <a:custGeom>
          <a:avLst/>
          <a:gdLst/>
          <a:ahLst/>
          <a:cxnLst/>
          <a:rect l="0" t="0" r="0" b="0"/>
          <a:pathLst>
            <a:path>
              <a:moveTo>
                <a:pt x="4522353" y="2256739"/>
              </a:moveTo>
              <a:arcTo wR="2261179" hR="2261179" stAng="21593250" swAng="1245162"/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DAFF41-010E-4DC9-A006-79D7AC9F3134}">
      <dsp:nvSpPr>
        <dsp:cNvPr id="0" name=""/>
        <dsp:cNvSpPr/>
      </dsp:nvSpPr>
      <dsp:spPr>
        <a:xfrm>
          <a:off x="4895439" y="4007494"/>
          <a:ext cx="2087993" cy="113195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Decision making</a:t>
          </a:r>
          <a:endParaRPr lang="en-ZA" sz="2000" kern="1200" dirty="0"/>
        </a:p>
      </dsp:txBody>
      <dsp:txXfrm>
        <a:off x="4950697" y="4062752"/>
        <a:ext cx="1977477" cy="1021442"/>
      </dsp:txXfrm>
    </dsp:sp>
    <dsp:sp modelId="{8C0FB39E-5A34-4DC3-A02D-1F481EFA05F5}">
      <dsp:nvSpPr>
        <dsp:cNvPr id="0" name=""/>
        <dsp:cNvSpPr/>
      </dsp:nvSpPr>
      <dsp:spPr>
        <a:xfrm>
          <a:off x="2104394" y="651539"/>
          <a:ext cx="4522358" cy="4522358"/>
        </a:xfrm>
        <a:custGeom>
          <a:avLst/>
          <a:gdLst/>
          <a:ahLst/>
          <a:cxnLst/>
          <a:rect l="0" t="0" r="0" b="0"/>
          <a:pathLst>
            <a:path>
              <a:moveTo>
                <a:pt x="2549339" y="4503921"/>
              </a:moveTo>
              <a:arcTo wR="2261179" hR="2261179" stAng="4960705" swAng="1145349"/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953605-F4ED-4396-8EE2-AC34DD84E061}">
      <dsp:nvSpPr>
        <dsp:cNvPr id="0" name=""/>
        <dsp:cNvSpPr/>
      </dsp:nvSpPr>
      <dsp:spPr>
        <a:xfrm>
          <a:off x="1688767" y="3931290"/>
          <a:ext cx="2087993" cy="113195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Implementation</a:t>
          </a:r>
          <a:endParaRPr lang="en-ZA" sz="2000" kern="1200" dirty="0"/>
        </a:p>
      </dsp:txBody>
      <dsp:txXfrm>
        <a:off x="1744025" y="3986548"/>
        <a:ext cx="1977477" cy="1021442"/>
      </dsp:txXfrm>
    </dsp:sp>
    <dsp:sp modelId="{5D2314C0-AFD6-404A-8246-239A0E4C341D}">
      <dsp:nvSpPr>
        <dsp:cNvPr id="0" name=""/>
        <dsp:cNvSpPr/>
      </dsp:nvSpPr>
      <dsp:spPr>
        <a:xfrm>
          <a:off x="2105398" y="727160"/>
          <a:ext cx="4522358" cy="4522358"/>
        </a:xfrm>
        <a:custGeom>
          <a:avLst/>
          <a:gdLst/>
          <a:ahLst/>
          <a:cxnLst/>
          <a:rect l="0" t="0" r="0" b="0"/>
          <a:pathLst>
            <a:path>
              <a:moveTo>
                <a:pt x="114614" y="2971948"/>
              </a:moveTo>
              <a:arcTo wR="2261179" hR="2261179" stAng="9700757" swAng="1163586"/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4755C3-3DEE-43F1-BA69-693A29D7D1BA}">
      <dsp:nvSpPr>
        <dsp:cNvPr id="0" name=""/>
        <dsp:cNvSpPr/>
      </dsp:nvSpPr>
      <dsp:spPr>
        <a:xfrm>
          <a:off x="1186993" y="1565226"/>
          <a:ext cx="2087993" cy="1131958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Control</a:t>
          </a:r>
          <a:endParaRPr lang="en-ZA" sz="2000" kern="1200" dirty="0"/>
        </a:p>
      </dsp:txBody>
      <dsp:txXfrm>
        <a:off x="1242251" y="1620484"/>
        <a:ext cx="1977477" cy="1021442"/>
      </dsp:txXfrm>
    </dsp:sp>
    <dsp:sp modelId="{F60BD2D5-6BD0-41D7-BE4F-9F67F0D951BA}">
      <dsp:nvSpPr>
        <dsp:cNvPr id="0" name=""/>
        <dsp:cNvSpPr/>
      </dsp:nvSpPr>
      <dsp:spPr>
        <a:xfrm>
          <a:off x="2120320" y="568769"/>
          <a:ext cx="4522358" cy="4522358"/>
        </a:xfrm>
        <a:custGeom>
          <a:avLst/>
          <a:gdLst/>
          <a:ahLst/>
          <a:cxnLst/>
          <a:rect l="0" t="0" r="0" b="0"/>
          <a:pathLst>
            <a:path>
              <a:moveTo>
                <a:pt x="520144" y="818358"/>
              </a:moveTo>
              <a:arcTo wR="2261179" hR="2261179" stAng="13178942" swAng="1032812"/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283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218" y="0"/>
            <a:ext cx="2944283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4830"/>
            <a:ext cx="2944283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8" tIns="45719" rIns="91438" bIns="45719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218" y="9434830"/>
            <a:ext cx="2944283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8" tIns="45719" rIns="91438" bIns="4571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1903A18-4839-8D4F-8ABB-4D063655F5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40864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283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218" y="0"/>
            <a:ext cx="2944283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44538"/>
            <a:ext cx="4964112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5934" y="4717417"/>
            <a:ext cx="4982633" cy="4469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4830"/>
            <a:ext cx="2944283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8" tIns="45719" rIns="91438" bIns="45719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218" y="9434830"/>
            <a:ext cx="2944283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8" tIns="45719" rIns="91438" bIns="4571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00996E8-5341-8848-B47C-0F512A8E3D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3353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442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7824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23925" y="750888"/>
            <a:ext cx="4946650" cy="3711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5934" y="4717417"/>
            <a:ext cx="4982633" cy="446912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1101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70919-F969-CE19-38EC-E6ED7C0EE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BB06B9F-E188-7B41-1132-4FD8001181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23925" y="750888"/>
            <a:ext cx="4946650" cy="3711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D010E94-FD98-C886-7975-2366C46275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5934" y="4717417"/>
            <a:ext cx="4982633" cy="446912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2745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096B8-2A12-AC40-6261-6FCF52738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E236E5E0-468C-7D3B-9CA4-C99E6B79F0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23925" y="750888"/>
            <a:ext cx="4946650" cy="3711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35B41E88-C33E-734C-2093-E7DEE64265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5934" y="4717417"/>
            <a:ext cx="4982633" cy="446912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9917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23371-1157-C613-E745-7C59657EE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B823CEE-81EF-A71F-D873-E490CEE1E0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23925" y="750888"/>
            <a:ext cx="4946650" cy="3711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2B8C35E3-A9F6-FAC7-DC09-DD4302558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5934" y="4717417"/>
            <a:ext cx="4982633" cy="446912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8387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1983D-4851-3ABE-989A-248A5D95B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089972C-4144-7C0D-CB87-A8545832E7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23925" y="750888"/>
            <a:ext cx="4946650" cy="3711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659AC7E9-B5CB-DFED-9CD1-A33ACBAE47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5934" y="4717417"/>
            <a:ext cx="4982633" cy="446912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4362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DEF1E-6319-0BD6-37F3-E996173F0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37757C1C-9C60-3EB6-B2C6-6A4CC7253A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23925" y="750888"/>
            <a:ext cx="4946650" cy="3711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11BA16A2-AB97-64F3-4B98-C70240C5C1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5934" y="4717417"/>
            <a:ext cx="4982633" cy="446912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7863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02026-DFAB-40A0-919F-93BFEE379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FD66763-5CAB-68E2-3677-BBCEC9E0F9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23925" y="750888"/>
            <a:ext cx="4946650" cy="3711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1F0340A1-E6B6-A66F-C199-6E93CDE30B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5934" y="4717417"/>
            <a:ext cx="4982633" cy="446912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7350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0B24A-C0F6-1BD0-E33F-0548279FF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3446BFA-CF93-0BED-1996-B601D3ECB8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23925" y="750888"/>
            <a:ext cx="4946650" cy="3711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A650988-D933-C549-031F-C4CF435074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5934" y="4717417"/>
            <a:ext cx="4982633" cy="446912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9273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5CF79-4215-8D73-AA83-D3532E286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A01A26B-FD41-3766-B69F-621DE94571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23925" y="750888"/>
            <a:ext cx="4946650" cy="3711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3B7E85D-98DF-A746-FECC-246F7B0869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5934" y="4717417"/>
            <a:ext cx="4982633" cy="446912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8069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24169-4166-83C3-D763-598DA9B7E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D6EF9DA-E1ED-8C4E-B4D9-C418BFDC16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23925" y="750888"/>
            <a:ext cx="4946650" cy="3711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6B7963B8-B623-7DFD-F997-A918758645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5934" y="4717417"/>
            <a:ext cx="4982633" cy="446912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5268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3537A-63F6-2390-DFBD-A3B6ACB5C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9686C20-8349-BC0E-61A4-506C5C0212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23925" y="750888"/>
            <a:ext cx="4946650" cy="3711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FF521BC6-6126-329D-B6E8-315CE1B399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5934" y="4717417"/>
            <a:ext cx="4982633" cy="446912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9748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0F517-66C3-669F-AF35-416E2A2AF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14A6E33-973E-5F09-B0D3-9C04C1F58A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23925" y="750888"/>
            <a:ext cx="4946650" cy="3711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2DFDBD47-DC58-607A-896C-C81B1E8FAA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5934" y="4717417"/>
            <a:ext cx="4982633" cy="446912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353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50C1B-6450-492B-BA40-340052D04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CD8D539-373A-626F-75C2-5FA5F5E0BF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23925" y="750888"/>
            <a:ext cx="4946650" cy="3711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E313CD4D-5421-25E4-9E02-6840DC4C9C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5934" y="4717417"/>
            <a:ext cx="4982633" cy="446912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7893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4A156-146F-DF18-1629-458FEC906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7AA3DE9-8AA0-00C3-F061-98A3077ED4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23925" y="750888"/>
            <a:ext cx="4946650" cy="3711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DC503589-0F9E-7E9E-8FAA-868D0878ED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5934" y="4717417"/>
            <a:ext cx="4982633" cy="446912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1402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A47D2-BA08-CC8D-425A-5DC6C6F57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A8C7F8C-1678-1BED-D3D2-5CA732AC6D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23925" y="750888"/>
            <a:ext cx="4946650" cy="3711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3573932F-CCC7-7AFE-7CBF-F189A83419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5934" y="4717417"/>
            <a:ext cx="4982633" cy="446912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9733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5D8D5-BF0D-2F0B-A7BE-D7C5A2710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3791EE77-194E-DE27-DABE-3C02CD3040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23925" y="750888"/>
            <a:ext cx="4946650" cy="3711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15449825-BB51-EAFB-79DB-226B302602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5934" y="4717417"/>
            <a:ext cx="4982633" cy="446912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760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B29E1-3462-E023-6AC4-56E29BEB3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F3119BC-ADE4-2D5B-4F75-8E80F0A77C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23925" y="750888"/>
            <a:ext cx="4946650" cy="3711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43C3BC6-6410-6A5C-C52B-3E0B761DFB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5934" y="4717417"/>
            <a:ext cx="4982633" cy="446912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6237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09AA1-7273-E24B-AA2B-FA614BA87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E226545-A8A5-302D-B5A0-67E3CDBAE4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23925" y="750888"/>
            <a:ext cx="4946650" cy="3711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1A293A00-CDAE-0CB8-2F00-6EB5202E3A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5934" y="4717417"/>
            <a:ext cx="4982633" cy="446912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6203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AC89A-8218-A8AF-57AF-545B86959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F0D878F-1456-2E87-231A-0DD4DBCEEE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23925" y="750888"/>
            <a:ext cx="4946650" cy="3711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25ABC8BF-12C0-05FD-B741-5FFEE9F064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5934" y="4717417"/>
            <a:ext cx="4982633" cy="446912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3011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C8C1A-712A-F301-FFAA-E89D5007B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AD46130-273E-09D9-AE8C-2B96976606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23925" y="750888"/>
            <a:ext cx="4946650" cy="3711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58E387B-0230-8311-84C9-6D36A34BA2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5934" y="4717417"/>
            <a:ext cx="4982633" cy="446912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4679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AB2FC-33D6-E7C4-4E6F-0B999CED3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5CFED0B1-2476-04FB-6598-4D451B31AE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23925" y="750888"/>
            <a:ext cx="4946650" cy="3711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4E3DE34-FD9F-23B9-8323-FCB5CEF679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5934" y="4717417"/>
            <a:ext cx="4982633" cy="446912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9999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0A277-E2D7-811E-25C7-C4BBAB2F9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2085856-CFFE-ABF0-7C50-8EB1407ECC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23925" y="750888"/>
            <a:ext cx="4946650" cy="3711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277E77EF-E80B-CAD8-596A-5973FBAAEA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5934" y="4717417"/>
            <a:ext cx="4982633" cy="446912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4982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9075B-7AFC-2A91-A195-36F06075D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4F93DD7-9311-01E1-6F04-051403F3AE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23925" y="750888"/>
            <a:ext cx="4946650" cy="3711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622E271E-7E4A-F89C-BD39-0547DC7D60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5934" y="4717417"/>
            <a:ext cx="4982633" cy="446912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5142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4A319-20D0-B8E0-BEFE-1660E4560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D3D2299-9956-B191-633E-CD1AD9246B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23925" y="750888"/>
            <a:ext cx="4946650" cy="3711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1C8228A5-FC1C-37B8-1DDC-7D6F0ECBB1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5934" y="4717417"/>
            <a:ext cx="4982633" cy="446912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7629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69D4A-564F-905F-9AE9-312F99920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45E8F8F-3F92-1F03-E58C-0A840E2E20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23925" y="750888"/>
            <a:ext cx="4946650" cy="3711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1EE20650-10A6-2528-72D6-C90E955C1C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5934" y="4717417"/>
            <a:ext cx="4982633" cy="446912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0831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2B2F4-E0DF-EFF3-A726-A06221574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452A4CB-1B52-5E2A-829B-F1D37855C7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23925" y="750888"/>
            <a:ext cx="4946650" cy="3711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5BDF4E62-8006-9444-F6FF-15ED94A82F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5934" y="4717417"/>
            <a:ext cx="4982633" cy="446912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65391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defTabSz="914380"/>
            <a:fld id="{73303AEE-F764-0E46-AFB6-085D8FECA2EE}" type="slidenum">
              <a:rPr lang="en-US">
                <a:solidFill>
                  <a:srgbClr val="000000"/>
                </a:solidFill>
              </a:rPr>
              <a:pPr defTabSz="914380"/>
              <a:t>29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83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397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itle templat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304800"/>
            <a:ext cx="7772400" cy="1470025"/>
          </a:xfrm>
        </p:spPr>
        <p:txBody>
          <a:bodyPr/>
          <a:lstStyle>
            <a:lvl1pPr>
              <a:defRPr b="0" cap="none" spc="0">
                <a:ln>
                  <a:noFill/>
                </a:ln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40C429-FEEA-7C46-811F-BB6B290A1B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7E0EE7-581C-F445-BDC6-E24C5F5F02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B6F7B1-1F54-DC45-AA19-AF96705266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3F0B62-EB7C-4C4C-9663-BBBCE65389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99D31C-B9FB-A342-BD45-9C454D0273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29A667-37E8-0F44-9A2C-CCFACA3E43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6AF9B5-D6E4-DD42-9360-8089314394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CEB52-F4EC-F746-83D7-E3FE51B4A0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9EA789-1832-954F-943E-958C915F84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57250E-25D6-4747-832C-D993B00481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304800"/>
            <a:ext cx="219075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304800"/>
            <a:ext cx="641985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2E7CE9-E929-6C4E-9651-8733B1382B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6C6F65-9470-3143-AA4D-A7FCF6DFB4B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260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itle templat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7772400" cy="1470025"/>
          </a:xfrm>
        </p:spPr>
        <p:txBody>
          <a:bodyPr/>
          <a:lstStyle>
            <a:lvl1pPr>
              <a:defR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DC5801-AA14-4D1A-A09C-9A7B708D243D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40C429-FEEA-7C46-811F-BB6B290A1B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1303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EE7E0EE7-581C-F445-BDC6-E24C5F5F02F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6944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65C6B5-DD21-4288-8561-AE356B15015C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B6F7B1-1F54-DC45-AA19-AF96705266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3631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559354-B95F-440D-8860-EF55DC073CE5}" type="datetime1">
              <a:rPr lang="en-US" smtClean="0"/>
              <a:t>3/27/2026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3F0B62-EB7C-4C4C-9663-BBBCE65389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934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E4B58B-DB37-4B77-A33E-10DE74417EED}" type="datetime1">
              <a:rPr lang="en-US" smtClean="0"/>
              <a:t>3/27/2026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99D31C-B9FB-A342-BD45-9C454D0273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3016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2792B-6D6E-426B-AC0C-C6FEF743363F}" type="datetime1">
              <a:rPr lang="en-US" smtClean="0"/>
              <a:t>3/27/2026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29A667-37E8-0F44-9A2C-CCFACA3E43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7821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EDE5F5-1C57-47D5-852C-555C0AFFE31C}" type="datetime1">
              <a:rPr lang="en-US" smtClean="0"/>
              <a:t>3/27/2026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6AF9B5-D6E4-DD42-9360-8089314394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3681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EA1D04-25F2-4213-979E-6BF08363A9FC}" type="datetime1">
              <a:rPr lang="en-US" smtClean="0"/>
              <a:t>3/27/2026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CEB52-F4EC-F746-83D7-E3FE51B4A0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553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6F2C86-7BFE-466F-80DB-F7397FFB5C35}" type="datetime1">
              <a:rPr lang="en-US" smtClean="0"/>
              <a:t>3/27/2026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9EA789-1832-954F-943E-958C915F84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0238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D52624-D27F-4068-A9A7-8BF922128060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57250E-25D6-4747-832C-D993B00481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2441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304800"/>
            <a:ext cx="219075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304800"/>
            <a:ext cx="641985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293FD7-5D95-4EB5-9D95-C3616D7FED50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2E7CE9-E929-6C4E-9651-8733B1382B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602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D32DAC-1C69-402C-AC50-7D9759DFBFB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981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FIN Blue.jpg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04800"/>
            <a:ext cx="876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4770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46C6F65-9470-3143-AA4D-A7FCF6DFB4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3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+mj-lt"/>
          <a:ea typeface="+mj-ea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9pPr>
    </p:titleStyle>
    <p:bodyStyle>
      <a:lvl1pPr marL="342900" indent="-3429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charset="2"/>
        <a:buChar char="u"/>
        <a:defRPr sz="3200">
          <a:solidFill>
            <a:schemeClr val="tx1"/>
          </a:solidFill>
          <a:latin typeface="+mn-lt"/>
          <a:ea typeface="+mn-ea"/>
          <a:cs typeface="ＭＳ Ｐゴシック" charset="-128"/>
        </a:defRPr>
      </a:lvl1pPr>
      <a:lvl2pPr marL="742950" indent="-28575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Wingdings 2" charset="2"/>
        <a:buChar char="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FIN Blue.jpg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04800"/>
            <a:ext cx="876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CA1720AD-FDE0-49DA-9374-2B2FC9527FE1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4770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46C6F65-9470-3143-AA4D-A7FCF6DFB4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813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+mj-lt"/>
          <a:ea typeface="+mj-ea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9pPr>
    </p:titleStyle>
    <p:bodyStyle>
      <a:lvl1pPr marL="342900" indent="-3429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charset="2"/>
        <a:buChar char="u"/>
        <a:defRPr sz="3200">
          <a:solidFill>
            <a:schemeClr val="tx1"/>
          </a:solidFill>
          <a:latin typeface="+mn-lt"/>
          <a:ea typeface="+mn-ea"/>
          <a:cs typeface="ＭＳ Ｐゴシック" charset="-128"/>
        </a:defRPr>
      </a:lvl1pPr>
      <a:lvl2pPr marL="742950" indent="-28575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Wingdings 2" charset="2"/>
        <a:buChar char="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notesSlide" Target="../notesSlides/notesSlide6.xml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ChangeArrowheads="1"/>
          </p:cNvSpPr>
          <p:nvPr/>
        </p:nvSpPr>
        <p:spPr bwMode="auto">
          <a:xfrm>
            <a:off x="5334000" y="2514600"/>
            <a:ext cx="3238583" cy="2059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0" tIns="44446" rIns="90480" bIns="44446">
            <a:spAutoFit/>
          </a:bodyPr>
          <a:lstStyle/>
          <a:p>
            <a:pPr lvl="0" algn="ctr" defTabSz="912813" eaLnBrk="1" hangingPunct="1">
              <a:spcBef>
                <a:spcPct val="50000"/>
              </a:spcBef>
              <a:defRPr/>
            </a:pPr>
            <a:r>
              <a:rPr lang="en-ZA" sz="3200" b="1" dirty="0">
                <a:solidFill>
                  <a:srgbClr val="28287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Capital budgeting and cash flow principles</a:t>
            </a:r>
            <a:endParaRPr lang="en-GB" sz="3200" b="1" dirty="0">
              <a:solidFill>
                <a:srgbClr val="28287A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4339457" y="101304"/>
            <a:ext cx="5113283" cy="11323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0" tIns="44446" rIns="90480" bIns="44446" anchor="ctr"/>
          <a:lstStyle/>
          <a:p>
            <a:pPr marL="0" marR="0" lvl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srgbClr val="28287A"/>
                </a:solidFill>
                <a:effectLst/>
                <a:uLnTx/>
                <a:uFillTx/>
                <a:latin typeface="+mn-lt"/>
                <a:ea typeface="+mn-ea"/>
                <a:cs typeface="Arial" charset="0"/>
              </a:rPr>
              <a:t>Chapter 12</a:t>
            </a:r>
          </a:p>
        </p:txBody>
      </p:sp>
      <p:sp>
        <p:nvSpPr>
          <p:cNvPr id="4101" name="Rectangle 6"/>
          <p:cNvSpPr>
            <a:spLocks noChangeArrowheads="1"/>
          </p:cNvSpPr>
          <p:nvPr/>
        </p:nvSpPr>
        <p:spPr bwMode="auto">
          <a:xfrm>
            <a:off x="4742050" y="5387788"/>
            <a:ext cx="4424362" cy="1013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0" tIns="44446" rIns="90480" bIns="44446">
            <a:spAutoFit/>
          </a:bodyPr>
          <a:lstStyle/>
          <a:p>
            <a:pPr lvl="0" algn="ctr" defTabSz="912813" eaLnBrk="1" hangingPunct="1"/>
            <a:r>
              <a:rPr lang="en-GB" sz="2000" b="1" dirty="0">
                <a:solidFill>
                  <a:srgbClr val="28287A"/>
                </a:solidFill>
                <a:latin typeface="+mn-lt"/>
                <a:ea typeface="+mn-ea"/>
                <a:cs typeface="Arial" charset="0"/>
              </a:rPr>
              <a:t>Slides by Prof C Rootman, Dr S Watson, Ms E Kobese </a:t>
            </a:r>
          </a:p>
          <a:p>
            <a:pPr lvl="0" algn="ctr" defTabSz="912813" eaLnBrk="1" hangingPunct="1"/>
            <a:r>
              <a:rPr lang="en-GB" sz="2000" b="1" dirty="0">
                <a:solidFill>
                  <a:srgbClr val="28287A"/>
                </a:solidFill>
                <a:latin typeface="+mn-lt"/>
                <a:ea typeface="+mn-ea"/>
                <a:cs typeface="Arial" charset="0"/>
              </a:rPr>
              <a:t>&amp; Ms N Maliwa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srgbClr val="28287A"/>
              </a:solidFill>
              <a:effectLst/>
              <a:uLnTx/>
              <a:uFillTx/>
              <a:latin typeface="+mn-lt"/>
              <a:ea typeface="+mn-ea"/>
              <a:cs typeface="Arial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CE5E49-0D9A-5BE6-73B0-D311F8866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217" y="4327896"/>
            <a:ext cx="2119784" cy="211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134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9" name="Rectangle 1031"/>
          <p:cNvSpPr>
            <a:spLocks noGrp="1" noChangeArrowheads="1"/>
          </p:cNvSpPr>
          <p:nvPr>
            <p:ph type="title"/>
          </p:nvPr>
        </p:nvSpPr>
        <p:spPr>
          <a:xfrm>
            <a:off x="190500" y="76200"/>
            <a:ext cx="8763000" cy="685800"/>
          </a:xfrm>
        </p:spPr>
        <p:txBody>
          <a:bodyPr/>
          <a:lstStyle/>
          <a:p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Learning outcomes: Chapter 12</a:t>
            </a:r>
            <a:endParaRPr lang="en-US" sz="28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9400" name="Rectangle 1032"/>
          <p:cNvSpPr>
            <a:spLocks noGrp="1" noChangeArrowheads="1"/>
          </p:cNvSpPr>
          <p:nvPr>
            <p:ph idx="1"/>
          </p:nvPr>
        </p:nvSpPr>
        <p:spPr>
          <a:xfrm>
            <a:off x="217394" y="914400"/>
            <a:ext cx="8762999" cy="5791200"/>
          </a:xfrm>
        </p:spPr>
        <p:txBody>
          <a:bodyPr/>
          <a:lstStyle/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450215" algn="l"/>
              </a:tabLst>
            </a:pPr>
            <a:r>
              <a:rPr lang="en-ZA" sz="2400" dirty="0"/>
              <a:t>distinguish between the motives for capital expenditure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450215" algn="l"/>
              </a:tabLst>
            </a:pPr>
            <a:r>
              <a:rPr lang="en-ZA" sz="2400" dirty="0"/>
              <a:t>apply the capital budgeting process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450215" algn="l"/>
              </a:tabLst>
            </a:pPr>
            <a:r>
              <a:rPr lang="en-ZA" sz="2400" dirty="0"/>
              <a:t>distinguish between independent and mutually exclusive projects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450215" algn="l"/>
              </a:tabLst>
            </a:pPr>
            <a:r>
              <a:rPr lang="en-ZA" sz="2400" dirty="0"/>
              <a:t>calculate the initial investment, and operating and terminal cash flows of a proposed capital expenditure projects. 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431800" algn="l"/>
              </a:tabLst>
            </a:pPr>
            <a:endParaRPr lang="en-ZA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36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Introduction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ea typeface="ＭＳ Ｐゴシック"/>
              </a:rPr>
              <a:t>Capital budgeting? </a:t>
            </a:r>
          </a:p>
          <a:p>
            <a:pPr marL="715963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prstClr val="black"/>
                </a:solidFill>
                <a:ea typeface="ＭＳ Ｐゴシック"/>
              </a:rPr>
              <a:t>What is it? </a:t>
            </a:r>
          </a:p>
          <a:p>
            <a:pPr marL="1074738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prstClr val="black"/>
                </a:solidFill>
                <a:ea typeface="ＭＳ Ｐゴシック"/>
              </a:rPr>
              <a:t>Identifying possible opportunities</a:t>
            </a:r>
          </a:p>
          <a:p>
            <a:pPr marL="1074738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prstClr val="black"/>
                </a:solidFill>
                <a:ea typeface="ＭＳ Ｐゴシック"/>
              </a:rPr>
              <a:t>Identifying cost and cash flow from possible opportunities</a:t>
            </a:r>
          </a:p>
          <a:p>
            <a:pPr marL="715963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prstClr val="black"/>
                </a:solidFill>
                <a:ea typeface="ＭＳ Ｐゴシック"/>
              </a:rPr>
              <a:t>Why need to engage in capital budgeting?</a:t>
            </a:r>
          </a:p>
          <a:p>
            <a:pPr marL="1074738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prstClr val="black"/>
                </a:solidFill>
                <a:ea typeface="ＭＳ Ｐゴシック"/>
              </a:rPr>
              <a:t>Limited resources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3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7E40687-BFE8-54E7-DDDC-ACCA77E91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A9DA4652-4A70-C93B-A2FA-4EEBF6FE59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Capital expenditure motives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259366-BAA3-1640-6A19-C6498098F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4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0255557-EFE5-5ADF-882C-341C487842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Expansion</a:t>
            </a:r>
          </a:p>
          <a:p>
            <a:pPr marL="715963" algn="just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Acquire non-current assets to increase level of operations</a:t>
            </a:r>
          </a:p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Replacement</a:t>
            </a:r>
          </a:p>
          <a:p>
            <a:pPr marL="715963" algn="just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Replace obsolete, technology outdated or inefficient non-current assets </a:t>
            </a:r>
          </a:p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Renewal</a:t>
            </a:r>
          </a:p>
          <a:p>
            <a:pPr marL="715963" algn="just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Upgrade non-current assets by rebuilding or overhauling to improve efficiency and productivity</a:t>
            </a:r>
          </a:p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Other purposes</a:t>
            </a:r>
          </a:p>
          <a:p>
            <a:pPr marL="715963" algn="just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L-T commitment of funds due to expected future return</a:t>
            </a:r>
          </a:p>
          <a:p>
            <a:pPr marL="715963" algn="just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Examples include R&amp;D, management consulting services, advertising campaigns, outlay changes to improve safety measures and or to prevent </a:t>
            </a:r>
            <a:r>
              <a:rPr lang="en-US" sz="2400" dirty="0" err="1">
                <a:latin typeface="+mj-lt"/>
              </a:rPr>
              <a:t>polution</a:t>
            </a:r>
            <a:endParaRPr lang="en-US" sz="2400" dirty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83348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F5F4772-9B1C-6BFC-14D7-0AC109A52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CF888E2C-8497-0C10-54E4-A345DC3895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Capital expenditure motives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173FBA-00F3-6DC4-127E-FA059B9C5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5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BAB543-12D5-89A7-B24B-2FFD05514920}"/>
              </a:ext>
            </a:extLst>
          </p:cNvPr>
          <p:cNvSpPr txBox="1"/>
          <p:nvPr/>
        </p:nvSpPr>
        <p:spPr>
          <a:xfrm>
            <a:off x="187206" y="2250298"/>
            <a:ext cx="3397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200" dirty="0"/>
              <a:t>https://www.engineeringnews.co.za/article/sasol-cuts-emissions-reduction-capex-as-it-confirms-rejigged-plan-2025-02-24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27E28E-75A1-ECE3-0C40-34B9AEBFA3E7}"/>
              </a:ext>
            </a:extLst>
          </p:cNvPr>
          <p:cNvSpPr txBox="1"/>
          <p:nvPr/>
        </p:nvSpPr>
        <p:spPr>
          <a:xfrm>
            <a:off x="187206" y="5861307"/>
            <a:ext cx="26955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200" dirty="0"/>
              <a:t>https://www.itweb.co.za/article/is-it-time-to-upgrade-why-sa-businesses-are-replacing-their-printers-in-2025/wbrpO7g2oJWvDLZn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807B51-8712-672A-1EB7-4AFA33B2D67E}"/>
              </a:ext>
            </a:extLst>
          </p:cNvPr>
          <p:cNvSpPr txBox="1"/>
          <p:nvPr/>
        </p:nvSpPr>
        <p:spPr>
          <a:xfrm>
            <a:off x="896290" y="3359828"/>
            <a:ext cx="37528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200" dirty="0"/>
              <a:t>https://www.cbn.co.za/industry-news/building-construction-infrastructure-news/ppc-to-build-a-new-r3-billion-integrated-cement-plant-in-the-western-cape/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74746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32CAD0D-9B31-1C2E-8C1E-64BE59A26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923A50F0-3CE2-CD3F-9DBA-916E1C63F5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The capital budgeting process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4454CE-E052-BDA1-1A8E-011E71FD9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6</a:t>
            </a:fld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0FD8412-39B8-A15A-D98A-8BA9A9760F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4770516"/>
              </p:ext>
            </p:extLst>
          </p:nvPr>
        </p:nvGraphicFramePr>
        <p:xfrm>
          <a:off x="216242" y="1174104"/>
          <a:ext cx="8762999" cy="53028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224854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A3247F0-18FD-4883-F1E7-8C528C0F0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5DEB5020-3BE6-000C-EE4E-3AF07E4A97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Project types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8B4B42-E2AC-5F7A-B2D3-5111D80FF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7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66046DCD-47CC-C8DE-2725-7343A626EC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Independent vs Mutually exclusive</a:t>
            </a:r>
          </a:p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Independent projects</a:t>
            </a:r>
          </a:p>
          <a:p>
            <a:pPr marL="715963" algn="just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Accept either project A (1) or project B (2) – only if NPV, IRR acceptable</a:t>
            </a:r>
          </a:p>
          <a:p>
            <a:pPr marL="715963" algn="just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Accept both projects – NPV, IRR acceptable</a:t>
            </a:r>
          </a:p>
          <a:p>
            <a:pPr marL="715963" algn="just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Reject both projects – NPV, IRR not acceptable</a:t>
            </a:r>
          </a:p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Mutually exclusive projects</a:t>
            </a:r>
          </a:p>
          <a:p>
            <a:pPr marL="715963" algn="just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Accept either project A (1) or project B (2) – one with highest positive NPV</a:t>
            </a:r>
          </a:p>
          <a:p>
            <a:pPr marL="715963" algn="just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Reject both projects – NPV, IRR not acceptable</a:t>
            </a:r>
          </a:p>
          <a:p>
            <a:pPr marL="715963" algn="just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Cannot accept both projects – not enough funds available to do so</a:t>
            </a:r>
          </a:p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sz="2400" dirty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5164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BFA362E-B240-4B1E-DF9E-31CEEA865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D50C2C6D-0EEC-A8A4-6C7E-39DAFF301D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Cash flow types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34C1BE-30E8-A206-276C-15BE48023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8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190F3F5-CBF8-3744-6F71-4F99CE5953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Conventional vs unconventional</a:t>
            </a:r>
          </a:p>
          <a:p>
            <a:pPr marL="715963" algn="just">
              <a:lnSpc>
                <a:spcPct val="10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Conventional – stream of CFs</a:t>
            </a:r>
          </a:p>
          <a:p>
            <a:pPr marL="373063" indent="0" algn="just" defTabSz="715963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sz="2400" dirty="0">
                <a:latin typeface="+mj-lt"/>
              </a:rPr>
              <a:t>	associated with investment, initial </a:t>
            </a:r>
          </a:p>
          <a:p>
            <a:pPr marL="373063" indent="0" algn="just" defTabSz="715963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sz="2400" dirty="0">
                <a:latin typeface="+mj-lt"/>
              </a:rPr>
              <a:t>	cash outflow followed by stream of</a:t>
            </a:r>
          </a:p>
          <a:p>
            <a:pPr marL="373063" indent="0" algn="just" defTabSz="715963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sz="2400" dirty="0">
                <a:latin typeface="+mj-lt"/>
              </a:rPr>
              <a:t>	cash inflows over project life</a:t>
            </a:r>
          </a:p>
          <a:p>
            <a:pPr marL="715963" algn="just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Unconventional – initial cash outflow NOT followed by series of cash inflows</a:t>
            </a:r>
          </a:p>
          <a:p>
            <a:pPr marL="1074738" algn="just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May receive error message when calculating IRR</a:t>
            </a:r>
          </a:p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Annuity vs mixed stream (see Chapter 7)</a:t>
            </a:r>
          </a:p>
          <a:p>
            <a:pPr marL="715963" algn="just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Annuity – stream of equal CFs</a:t>
            </a:r>
          </a:p>
          <a:p>
            <a:pPr marL="715963" algn="just">
              <a:lnSpc>
                <a:spcPct val="10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Mixed stream – stream of irregular </a:t>
            </a:r>
          </a:p>
          <a:p>
            <a:pPr marL="373063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  <a:tabLst>
                <a:tab pos="715963" algn="l"/>
              </a:tabLst>
            </a:pPr>
            <a:r>
              <a:rPr lang="en-US" sz="2400" dirty="0">
                <a:latin typeface="+mj-lt"/>
              </a:rPr>
              <a:t>	CFs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080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C4FE452-FD21-9414-68F9-9C43B19BF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7CCCEA28-0506-7FF8-8BFD-4EA593443F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Relevant cash flows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34EA11-0DE1-CE45-08B6-C5DDD70C0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9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9FE2EB7B-4787-549B-1731-500D2B5139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7233" y="992362"/>
            <a:ext cx="8655424" cy="5247290"/>
          </a:xfrm>
        </p:spPr>
        <p:txBody>
          <a:bodyPr/>
          <a:lstStyle/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Are all CFs relevant?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3600" b="1" dirty="0">
                <a:solidFill>
                  <a:srgbClr val="C00000"/>
                </a:solidFill>
                <a:latin typeface="+mj-lt"/>
              </a:rPr>
              <a:t>				NO!</a:t>
            </a:r>
          </a:p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Relevant CFs – expected to occur during lifespan of investment or project</a:t>
            </a:r>
          </a:p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Three major components</a:t>
            </a:r>
          </a:p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sz="24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E746AA-7F72-AA5E-0DB4-CD9FA7ADC0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6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2280" y="4189333"/>
            <a:ext cx="8014519" cy="241574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55E9315-9688-4083-9D03-6BFC17D1C971}"/>
              </a:ext>
            </a:extLst>
          </p:cNvPr>
          <p:cNvSpPr/>
          <p:nvPr/>
        </p:nvSpPr>
        <p:spPr bwMode="auto">
          <a:xfrm>
            <a:off x="647700" y="4081955"/>
            <a:ext cx="1288676" cy="2623645"/>
          </a:xfrm>
          <a:prstGeom prst="rect">
            <a:avLst/>
          </a:prstGeom>
          <a:noFill/>
          <a:ln w="57150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8D2757-FA5A-E160-27D2-82F68154139C}"/>
              </a:ext>
            </a:extLst>
          </p:cNvPr>
          <p:cNvSpPr/>
          <p:nvPr/>
        </p:nvSpPr>
        <p:spPr bwMode="auto">
          <a:xfrm>
            <a:off x="2012575" y="4081955"/>
            <a:ext cx="5091591" cy="2623645"/>
          </a:xfrm>
          <a:prstGeom prst="rect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435876-AC40-BB38-135B-FAD0DC9CCB0F}"/>
              </a:ext>
            </a:extLst>
          </p:cNvPr>
          <p:cNvSpPr/>
          <p:nvPr/>
        </p:nvSpPr>
        <p:spPr bwMode="auto">
          <a:xfrm>
            <a:off x="6019800" y="4189333"/>
            <a:ext cx="1408373" cy="2415749"/>
          </a:xfrm>
          <a:prstGeom prst="rect">
            <a:avLst/>
          </a:prstGeom>
          <a:noFill/>
          <a:ln w="5715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10" name="Speech Bubble: Oval 9">
            <a:extLst>
              <a:ext uri="{FF2B5EF4-FFF2-40B4-BE49-F238E27FC236}">
                <a16:creationId xmlns:a16="http://schemas.microsoft.com/office/drawing/2014/main" id="{6C28BFCA-4489-E70B-C292-C428287E838E}"/>
              </a:ext>
            </a:extLst>
          </p:cNvPr>
          <p:cNvSpPr/>
          <p:nvPr/>
        </p:nvSpPr>
        <p:spPr bwMode="auto">
          <a:xfrm rot="919862">
            <a:off x="6603393" y="3031969"/>
            <a:ext cx="2084868" cy="1106612"/>
          </a:xfrm>
          <a:prstGeom prst="wedgeEllipseCallout">
            <a:avLst>
              <a:gd name="adj1" fmla="val -14944"/>
              <a:gd name="adj2" fmla="val 157874"/>
            </a:avLst>
          </a:prstGeom>
          <a:noFill/>
          <a:ln w="5715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1" charset="-128"/>
              </a:rPr>
              <a:t>Terminal CF</a:t>
            </a:r>
            <a:endParaRPr kumimoji="0" lang="en-Z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11" name="Speech Bubble: Oval 10">
            <a:extLst>
              <a:ext uri="{FF2B5EF4-FFF2-40B4-BE49-F238E27FC236}">
                <a16:creationId xmlns:a16="http://schemas.microsoft.com/office/drawing/2014/main" id="{E82A9E6E-0722-08A2-C11B-106A49E13128}"/>
              </a:ext>
            </a:extLst>
          </p:cNvPr>
          <p:cNvSpPr/>
          <p:nvPr/>
        </p:nvSpPr>
        <p:spPr bwMode="auto">
          <a:xfrm rot="19810842">
            <a:off x="37122" y="3694684"/>
            <a:ext cx="2440764" cy="1105656"/>
          </a:xfrm>
          <a:prstGeom prst="wedgeEllipseCallout">
            <a:avLst>
              <a:gd name="adj1" fmla="val -17782"/>
              <a:gd name="adj2" fmla="val 85250"/>
            </a:avLst>
          </a:prstGeom>
          <a:noFill/>
          <a:ln w="57150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1" charset="-128"/>
              </a:rPr>
              <a:t>Initial investment</a:t>
            </a:r>
            <a:endParaRPr kumimoji="0" lang="en-Z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12" name="Speech Bubble: Oval 11">
            <a:extLst>
              <a:ext uri="{FF2B5EF4-FFF2-40B4-BE49-F238E27FC236}">
                <a16:creationId xmlns:a16="http://schemas.microsoft.com/office/drawing/2014/main" id="{5974D272-A07C-770E-AD92-67961433B378}"/>
              </a:ext>
            </a:extLst>
          </p:cNvPr>
          <p:cNvSpPr/>
          <p:nvPr/>
        </p:nvSpPr>
        <p:spPr bwMode="auto">
          <a:xfrm rot="919862">
            <a:off x="3795452" y="3490115"/>
            <a:ext cx="1707138" cy="683709"/>
          </a:xfrm>
          <a:prstGeom prst="wedgeEllipseCallout">
            <a:avLst>
              <a:gd name="adj1" fmla="val -19663"/>
              <a:gd name="adj2" fmla="val 114171"/>
            </a:avLst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1" charset="-128"/>
              </a:rPr>
              <a:t>OCFs</a:t>
            </a:r>
            <a:endParaRPr kumimoji="0" lang="en-Z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99724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7A97D6A-A022-3083-AD29-87DB34F6B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D531E69C-E7F1-ED45-DEA0-3E4AE82464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Relevant cash flows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102885-316C-D382-39A2-0B3B51363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10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1F278035-C1A0-48F8-13BE-C5AFB9B8B4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Expansion vs replacement CFs</a:t>
            </a:r>
          </a:p>
          <a:p>
            <a:pPr marL="715963" algn="just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Expansion</a:t>
            </a:r>
          </a:p>
          <a:p>
            <a:pPr marL="1074738" algn="just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Initial investment, operating cash inflows and terminal CF all after-tax CFs</a:t>
            </a:r>
          </a:p>
          <a:p>
            <a:pPr marL="715963" algn="just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Replacement</a:t>
            </a:r>
          </a:p>
          <a:p>
            <a:pPr marL="1074738" algn="just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Initial investment and sale of old asset, operating cash inflows (difference between OCF of new and old assets) and terminal CFs</a:t>
            </a:r>
          </a:p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sz="2400" dirty="0">
              <a:latin typeface="+mj-lt"/>
            </a:endParaRPr>
          </a:p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sz="2400" dirty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2473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727453-5829-DD33-9F78-334C598D4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FC236886-968D-2E66-1C95-322F4C9B27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Relevant cash flows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52ED3E-6360-2A84-9433-5F1C4CBE6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11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8CC66AA-A7B9-894C-C72C-4AD4690DF0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Initial investment</a:t>
            </a:r>
          </a:p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How do we calculate our initial investment? (</a:t>
            </a:r>
            <a:r>
              <a:rPr lang="en-US" sz="2400" dirty="0">
                <a:solidFill>
                  <a:srgbClr val="C00000"/>
                </a:solidFill>
                <a:latin typeface="+mj-lt"/>
              </a:rPr>
              <a:t>Outflows shown as negative </a:t>
            </a:r>
            <a:r>
              <a:rPr lang="en-US" sz="2400" dirty="0">
                <a:latin typeface="+mj-lt"/>
              </a:rPr>
              <a:t>and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inflows as positive values</a:t>
            </a:r>
            <a:r>
              <a:rPr lang="en-US" sz="2400" dirty="0">
                <a:latin typeface="+mj-lt"/>
              </a:rPr>
              <a:t>)</a:t>
            </a:r>
          </a:p>
          <a:p>
            <a:pPr marL="0" indent="0" algn="just" defTabSz="715963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</a:t>
            </a:r>
            <a:r>
              <a:rPr lang="en-US" sz="2400" dirty="0">
                <a:solidFill>
                  <a:srgbClr val="C00000"/>
                </a:solidFill>
                <a:latin typeface="+mj-lt"/>
              </a:rPr>
              <a:t>– Cost of new asset</a:t>
            </a:r>
          </a:p>
          <a:p>
            <a:pPr marL="0" indent="0" algn="just" defTabSz="715963">
              <a:lnSpc>
                <a:spcPct val="105000"/>
              </a:lnSpc>
              <a:buSzPct val="100000"/>
              <a:buNone/>
            </a:pPr>
            <a:r>
              <a:rPr lang="en-US" sz="2400" dirty="0">
                <a:solidFill>
                  <a:srgbClr val="C00000"/>
                </a:solidFill>
                <a:latin typeface="+mj-lt"/>
              </a:rPr>
              <a:t>	– Installation cost (if not included in cost of new asset)</a:t>
            </a:r>
          </a:p>
          <a:p>
            <a:pPr marL="0" indent="0" algn="just" defTabSz="715963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+ Proceeds from sale of old asset (if replacement)*</a:t>
            </a:r>
          </a:p>
          <a:p>
            <a:pPr marL="0" indent="0" algn="just" defTabSz="538163">
              <a:lnSpc>
                <a:spcPct val="105000"/>
              </a:lnSpc>
              <a:buSzPct val="100000"/>
              <a:buNone/>
              <a:tabLst>
                <a:tab pos="715963" algn="l"/>
              </a:tabLst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	</a:t>
            </a:r>
            <a:r>
              <a:rPr lang="en-US" sz="2400" dirty="0">
                <a:solidFill>
                  <a:srgbClr val="C00000"/>
                </a:solidFill>
                <a:latin typeface="+mj-lt"/>
              </a:rPr>
              <a:t>– Tax liability resulting from sale of old asset (if 				replacement)*</a:t>
            </a:r>
          </a:p>
          <a:p>
            <a:pPr marL="0" indent="0" algn="just" defTabSz="715963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± Change in net working capital</a:t>
            </a:r>
          </a:p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sz="2400" dirty="0">
              <a:latin typeface="+mj-lt"/>
            </a:endParaRPr>
          </a:p>
          <a:p>
            <a:pPr marL="0" indent="0" algn="just" defTabSz="715963">
              <a:lnSpc>
                <a:spcPct val="105000"/>
              </a:lnSpc>
              <a:buSzPct val="100000"/>
              <a:buNone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*After-tax proceeds of old asset = Proceeds from sale of old asset </a:t>
            </a:r>
            <a:r>
              <a:rPr lang="en-US" sz="2400" dirty="0">
                <a:solidFill>
                  <a:srgbClr val="C00000"/>
                </a:solidFill>
                <a:latin typeface="+mj-lt"/>
              </a:rPr>
              <a:t>– Tax liability resulting from sale of old asset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(or + Loss for tax purposes)</a:t>
            </a:r>
          </a:p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sz="2400" dirty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32828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8A20C9B-FBCF-B4E6-65DA-C2E09CD8F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11F35399-41EF-349B-CEAF-EA761F0E83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Calculating the initial investment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0080E7-5392-26B8-D402-E3DE06666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12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4804F0F-73BE-81D9-BB68-480BD67218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Initial investment (cont.)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What is difference between book value and market value?</a:t>
            </a:r>
          </a:p>
          <a:p>
            <a:pPr marL="715963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Book value = Installed cost of asset – accumulated depreciation</a:t>
            </a:r>
          </a:p>
          <a:p>
            <a:pPr marL="715963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Depreciation usually straight-line method over lifespan of asset (</a:t>
            </a:r>
            <a:r>
              <a:rPr lang="en-US" sz="2400" dirty="0" err="1">
                <a:latin typeface="+mj-lt"/>
              </a:rPr>
              <a:t>eg</a:t>
            </a:r>
            <a:r>
              <a:rPr lang="en-US" sz="2400" dirty="0">
                <a:latin typeface="+mj-lt"/>
              </a:rPr>
              <a:t> cost R1 000 000, lifespan 5 years, depreciation R1 000 000 / 5 = R200 000 per year)</a:t>
            </a:r>
          </a:p>
          <a:p>
            <a:pPr marL="715963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Market value – current value of asset if bought today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28590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8F791EE-CF3E-2505-D4F1-54BDA6859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A376F1D9-2EBE-0EF5-99FE-8441B2C115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Calculating the initial investment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0A5E8A-3B13-7426-3BD2-3B26820AD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13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E870229-8CE4-2DDF-EDC4-C9DABBEE9D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Initial investment (cont.)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Selling &gt; book value</a:t>
            </a:r>
          </a:p>
          <a:p>
            <a:pPr marL="715963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Pay tax on proceeds as profit made</a:t>
            </a:r>
          </a:p>
          <a:p>
            <a:pPr marL="715963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After-tax proceeds included in initial investment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Selling = book value</a:t>
            </a:r>
          </a:p>
          <a:p>
            <a:pPr marL="715963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No tax liability as no profit nor loss made</a:t>
            </a:r>
          </a:p>
          <a:p>
            <a:pPr marL="715963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No influence on initial investment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Selling &lt; book value</a:t>
            </a:r>
          </a:p>
          <a:p>
            <a:pPr marL="715963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No tax paid as loss made</a:t>
            </a:r>
          </a:p>
          <a:p>
            <a:pPr marL="715963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Loss for tax purposes included in initial investment</a:t>
            </a:r>
          </a:p>
          <a:p>
            <a:pPr marL="715963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endParaRPr lang="en-US" sz="2400" dirty="0">
              <a:latin typeface="+mj-lt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5037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6618043-1F01-E9E9-3805-56C40E74A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6FCB9563-C015-23E7-A52D-B20FCF1C09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Calculating the initial investment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5D09D4-D216-BE04-411C-FC766020F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14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458D476-C1F3-52CA-3B41-04A8B81D8D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Change in net working capital</a:t>
            </a:r>
          </a:p>
          <a:p>
            <a:pPr marL="715963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Change in difference between CA and CL</a:t>
            </a:r>
          </a:p>
          <a:p>
            <a:pPr marL="715963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Increase in net working capital added to initial investment</a:t>
            </a:r>
          </a:p>
          <a:p>
            <a:pPr marL="1074738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Required to operate new asset</a:t>
            </a:r>
          </a:p>
          <a:p>
            <a:pPr marL="715963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Saving in net working capital subtracted from initial investment</a:t>
            </a:r>
          </a:p>
          <a:p>
            <a:pPr marL="1074738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Not required to operate new asset</a:t>
            </a:r>
          </a:p>
          <a:p>
            <a:pPr marL="715963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Usually once off in beginning of lifespan of asset</a:t>
            </a:r>
          </a:p>
          <a:p>
            <a:pPr marL="715963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NWC usually reverts back to original state at end of lifespan of asset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endParaRPr lang="en-US" sz="2400" dirty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93218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BADC43A-06CE-6BAA-6E08-7AFD2EBBD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5319EED7-6BAE-2194-24C7-391A021B04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Operating cash flow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A37AE3-4264-EC08-127B-5602C7F57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15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E738542-40CD-1221-2E2D-F0403AE79B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334000"/>
          </a:xfrm>
          <a:ln>
            <a:solidFill>
              <a:srgbClr val="0070C0"/>
            </a:solidFill>
          </a:ln>
        </p:spPr>
        <p:txBody>
          <a:bodyPr/>
          <a:lstStyle/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Only relevant cash flows included</a:t>
            </a:r>
          </a:p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Incremental after-tax cash inflows</a:t>
            </a:r>
          </a:p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Draft pro forma statement of financial performance to calculate OCF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endParaRPr lang="en-US" sz="2400" dirty="0">
              <a:latin typeface="+mj-lt"/>
            </a:endParaRP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OCF	= EBIT + </a:t>
            </a:r>
            <a:r>
              <a:rPr lang="en-US" sz="2400" dirty="0">
                <a:solidFill>
                  <a:srgbClr val="C00000"/>
                </a:solidFill>
                <a:latin typeface="+mj-lt"/>
              </a:rPr>
              <a:t>Depreciation</a:t>
            </a:r>
            <a:r>
              <a:rPr lang="en-US" sz="2400" dirty="0">
                <a:latin typeface="+mj-lt"/>
              </a:rPr>
              <a:t> – </a:t>
            </a:r>
            <a:r>
              <a:rPr lang="en-US" sz="2400" dirty="0">
                <a:solidFill>
                  <a:srgbClr val="009900"/>
                </a:solidFill>
                <a:latin typeface="+mj-lt"/>
              </a:rPr>
              <a:t>Taxes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OR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endParaRPr lang="en-US" sz="2400" dirty="0">
              <a:latin typeface="+mj-lt"/>
            </a:endParaRP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endParaRPr lang="en-US" sz="2400" dirty="0">
              <a:latin typeface="+mj-lt"/>
            </a:endParaRP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</a:t>
            </a:r>
            <a:r>
              <a:rPr lang="en-US" sz="2400" dirty="0" err="1">
                <a:latin typeface="+mj-lt"/>
              </a:rPr>
              <a:t>ICF</a:t>
            </a:r>
            <a:r>
              <a:rPr lang="en-US" sz="2400" baseline="-25000" dirty="0" err="1">
                <a:latin typeface="+mj-lt"/>
              </a:rPr>
              <a:t>t</a:t>
            </a:r>
            <a:r>
              <a:rPr lang="en-US" sz="2400" dirty="0">
                <a:latin typeface="+mj-lt"/>
              </a:rPr>
              <a:t>	= [</a:t>
            </a:r>
            <a:r>
              <a:rPr lang="en-US" sz="2400" dirty="0">
                <a:solidFill>
                  <a:srgbClr val="7030A0"/>
                </a:solidFill>
                <a:latin typeface="+mj-lt"/>
              </a:rPr>
              <a:t>∆</a:t>
            </a:r>
            <a:r>
              <a:rPr lang="en-US" sz="2400" dirty="0" err="1">
                <a:solidFill>
                  <a:srgbClr val="7030A0"/>
                </a:solidFill>
                <a:latin typeface="+mj-lt"/>
              </a:rPr>
              <a:t>EBDT</a:t>
            </a:r>
            <a:r>
              <a:rPr lang="en-US" sz="2400" baseline="-25000" dirty="0" err="1">
                <a:solidFill>
                  <a:srgbClr val="7030A0"/>
                </a:solidFill>
                <a:latin typeface="+mj-lt"/>
              </a:rPr>
              <a:t>t</a:t>
            </a:r>
            <a:r>
              <a:rPr lang="en-US" sz="2400" dirty="0">
                <a:solidFill>
                  <a:srgbClr val="7030A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x (</a:t>
            </a:r>
            <a:r>
              <a:rPr lang="en-US" sz="2400" dirty="0">
                <a:solidFill>
                  <a:srgbClr val="FF9933"/>
                </a:solidFill>
                <a:latin typeface="+mj-lt"/>
              </a:rPr>
              <a:t>1 – T</a:t>
            </a:r>
            <a:r>
              <a:rPr lang="en-US" sz="2400" dirty="0">
                <a:latin typeface="+mj-lt"/>
              </a:rPr>
              <a:t>)] + [</a:t>
            </a:r>
            <a:r>
              <a:rPr lang="en-US" sz="2400" dirty="0">
                <a:solidFill>
                  <a:srgbClr val="FF00FF"/>
                </a:solidFill>
                <a:latin typeface="+mj-lt"/>
              </a:rPr>
              <a:t>∆D</a:t>
            </a:r>
            <a:r>
              <a:rPr lang="en-US" sz="2400" baseline="-25000" dirty="0">
                <a:solidFill>
                  <a:srgbClr val="FF00FF"/>
                </a:solidFill>
                <a:latin typeface="+mj-lt"/>
              </a:rPr>
              <a:t>t</a:t>
            </a:r>
            <a:r>
              <a:rPr lang="en-US" sz="2400" dirty="0">
                <a:solidFill>
                  <a:srgbClr val="FF00FF"/>
                </a:solidFill>
                <a:latin typeface="+mj-lt"/>
              </a:rPr>
              <a:t> x T</a:t>
            </a:r>
            <a:r>
              <a:rPr lang="en-US" sz="2400" dirty="0">
                <a:latin typeface="+mj-lt"/>
              </a:rPr>
              <a:t>]</a:t>
            </a:r>
          </a:p>
        </p:txBody>
      </p:sp>
      <p:sp>
        <p:nvSpPr>
          <p:cNvPr id="5" name="Speech Bubble: Oval 4">
            <a:extLst>
              <a:ext uri="{FF2B5EF4-FFF2-40B4-BE49-F238E27FC236}">
                <a16:creationId xmlns:a16="http://schemas.microsoft.com/office/drawing/2014/main" id="{2F25A0E5-FC58-2FD8-7160-07E37B4946A2}"/>
              </a:ext>
            </a:extLst>
          </p:cNvPr>
          <p:cNvSpPr/>
          <p:nvPr/>
        </p:nvSpPr>
        <p:spPr bwMode="auto">
          <a:xfrm rot="435909">
            <a:off x="3272781" y="2629822"/>
            <a:ext cx="2460794" cy="967542"/>
          </a:xfrm>
          <a:prstGeom prst="wedgeEllipseCallout">
            <a:avLst>
              <a:gd name="adj1" fmla="val -21756"/>
              <a:gd name="adj2" fmla="val 74387"/>
            </a:avLst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rgbClr val="C00000"/>
                </a:solidFill>
                <a:ea typeface="ＭＳ Ｐゴシック" pitchFamily="1" charset="-128"/>
              </a:rPr>
              <a:t>Add all non-cash items</a:t>
            </a:r>
            <a:endParaRPr lang="en-ZA" sz="2000" dirty="0">
              <a:solidFill>
                <a:srgbClr val="C00000"/>
              </a:solidFill>
              <a:ea typeface="ＭＳ Ｐゴシック" pitchFamily="1" charset="-128"/>
            </a:endParaRPr>
          </a:p>
        </p:txBody>
      </p:sp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75655D08-F853-59F9-2FE0-7CFF51237ED8}"/>
              </a:ext>
            </a:extLst>
          </p:cNvPr>
          <p:cNvSpPr/>
          <p:nvPr/>
        </p:nvSpPr>
        <p:spPr bwMode="auto">
          <a:xfrm rot="1558249">
            <a:off x="5888060" y="2875532"/>
            <a:ext cx="2157361" cy="968739"/>
          </a:xfrm>
          <a:prstGeom prst="wedgeEllipseCallout">
            <a:avLst>
              <a:gd name="adj1" fmla="val -33746"/>
              <a:gd name="adj2" fmla="val 85021"/>
            </a:avLst>
          </a:prstGeom>
          <a:noFill/>
          <a:ln w="38100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Arial" charset="0"/>
                <a:ea typeface="ＭＳ Ｐゴシック" pitchFamily="1" charset="-128"/>
              </a:rPr>
              <a:t>Need to pay taxes</a:t>
            </a:r>
            <a:endParaRPr kumimoji="0" lang="en-ZA" sz="2000" b="0" i="0" u="none" strike="noStrike" cap="none" normalizeH="0" baseline="0" dirty="0">
              <a:ln>
                <a:noFill/>
              </a:ln>
              <a:solidFill>
                <a:srgbClr val="009900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7" name="Speech Bubble: Oval 6">
            <a:extLst>
              <a:ext uri="{FF2B5EF4-FFF2-40B4-BE49-F238E27FC236}">
                <a16:creationId xmlns:a16="http://schemas.microsoft.com/office/drawing/2014/main" id="{80C4E838-890C-4DEE-FCC6-AFAE5A2FBB7A}"/>
              </a:ext>
            </a:extLst>
          </p:cNvPr>
          <p:cNvSpPr/>
          <p:nvPr/>
        </p:nvSpPr>
        <p:spPr bwMode="auto">
          <a:xfrm>
            <a:off x="1946335" y="4142780"/>
            <a:ext cx="3434810" cy="1172776"/>
          </a:xfrm>
          <a:prstGeom prst="wedgeEllipseCallout">
            <a:avLst>
              <a:gd name="adj1" fmla="val -27668"/>
              <a:gd name="adj2" fmla="val 71983"/>
            </a:avLst>
          </a:prstGeom>
          <a:noFill/>
          <a:ln w="381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chemeClr val="accent4">
                    <a:lumMod val="75000"/>
                  </a:schemeClr>
                </a:solidFill>
                <a:ea typeface="ＭＳ Ｐゴシック" pitchFamily="1" charset="-128"/>
              </a:rPr>
              <a:t>Change in Earnings before depreciation and tax</a:t>
            </a:r>
            <a:endParaRPr lang="en-ZA" sz="2000" dirty="0">
              <a:solidFill>
                <a:schemeClr val="accent4">
                  <a:lumMod val="75000"/>
                </a:schemeClr>
              </a:solidFill>
              <a:ea typeface="ＭＳ Ｐゴシック" pitchFamily="1" charset="-128"/>
            </a:endParaRPr>
          </a:p>
        </p:txBody>
      </p:sp>
      <p:sp>
        <p:nvSpPr>
          <p:cNvPr id="8" name="Speech Bubble: Oval 7">
            <a:extLst>
              <a:ext uri="{FF2B5EF4-FFF2-40B4-BE49-F238E27FC236}">
                <a16:creationId xmlns:a16="http://schemas.microsoft.com/office/drawing/2014/main" id="{0D5CB037-FDC7-4CFF-C5AB-C59E9AFD5243}"/>
              </a:ext>
            </a:extLst>
          </p:cNvPr>
          <p:cNvSpPr/>
          <p:nvPr/>
        </p:nvSpPr>
        <p:spPr bwMode="auto">
          <a:xfrm rot="813722">
            <a:off x="5488796" y="4195072"/>
            <a:ext cx="2782356" cy="1248976"/>
          </a:xfrm>
          <a:prstGeom prst="wedgeEllipseCallout">
            <a:avLst>
              <a:gd name="adj1" fmla="val -27979"/>
              <a:gd name="adj2" fmla="val 72447"/>
            </a:avLst>
          </a:prstGeom>
          <a:noFill/>
          <a:ln w="38100" cap="flat" cmpd="sng" algn="ctr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rgbClr val="FF00FF"/>
                </a:solidFill>
                <a:ea typeface="ＭＳ Ｐゴシック" pitchFamily="1" charset="-128"/>
              </a:rPr>
              <a:t>Add Tax back on change in depreciation</a:t>
            </a:r>
            <a:endParaRPr lang="en-ZA" sz="2000" dirty="0">
              <a:solidFill>
                <a:srgbClr val="FF00FF"/>
              </a:solidFill>
              <a:ea typeface="ＭＳ Ｐゴシック" pitchFamily="1" charset="-128"/>
            </a:endParaRPr>
          </a:p>
        </p:txBody>
      </p:sp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6E3DF445-057B-F7A5-2CED-B602AB8A6A55}"/>
              </a:ext>
            </a:extLst>
          </p:cNvPr>
          <p:cNvSpPr/>
          <p:nvPr/>
        </p:nvSpPr>
        <p:spPr bwMode="auto">
          <a:xfrm rot="177774">
            <a:off x="3672083" y="6071333"/>
            <a:ext cx="3188146" cy="642788"/>
          </a:xfrm>
          <a:prstGeom prst="wedgeEllipseCallout">
            <a:avLst>
              <a:gd name="adj1" fmla="val -26920"/>
              <a:gd name="adj2" fmla="val -76020"/>
            </a:avLst>
          </a:prstGeom>
          <a:noFill/>
          <a:ln w="38100" cap="flat" cmpd="sng" algn="ctr">
            <a:solidFill>
              <a:srgbClr val="FF993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FF9933"/>
                </a:solidFill>
                <a:effectLst/>
                <a:latin typeface="Arial" charset="0"/>
                <a:ea typeface="ＭＳ Ｐゴシック" pitchFamily="1" charset="-128"/>
              </a:rPr>
              <a:t>Need to pay taxes</a:t>
            </a:r>
            <a:endParaRPr kumimoji="0" lang="en-ZA" sz="2000" b="0" i="0" u="none" strike="noStrike" cap="none" normalizeH="0" baseline="0" dirty="0">
              <a:ln>
                <a:noFill/>
              </a:ln>
              <a:solidFill>
                <a:srgbClr val="FF9933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10" name="Speech Bubble: Oval 9">
            <a:extLst>
              <a:ext uri="{FF2B5EF4-FFF2-40B4-BE49-F238E27FC236}">
                <a16:creationId xmlns:a16="http://schemas.microsoft.com/office/drawing/2014/main" id="{5A0696B1-7D29-1B11-C515-C35E91C13089}"/>
              </a:ext>
            </a:extLst>
          </p:cNvPr>
          <p:cNvSpPr/>
          <p:nvPr/>
        </p:nvSpPr>
        <p:spPr bwMode="auto">
          <a:xfrm rot="20071064">
            <a:off x="14232" y="2985412"/>
            <a:ext cx="2460794" cy="689595"/>
          </a:xfrm>
          <a:prstGeom prst="wedgeEllipseCallout">
            <a:avLst>
              <a:gd name="adj1" fmla="val 5721"/>
              <a:gd name="adj2" fmla="val 69221"/>
            </a:avLst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000" dirty="0">
                <a:ea typeface="ＭＳ Ｐゴシック" pitchFamily="1" charset="-128"/>
              </a:rPr>
              <a:t>Expansion</a:t>
            </a:r>
            <a:endParaRPr lang="en-ZA" sz="2000" dirty="0">
              <a:ea typeface="ＭＳ Ｐゴシック" pitchFamily="1" charset="-128"/>
            </a:endParaRPr>
          </a:p>
        </p:txBody>
      </p:sp>
      <p:sp>
        <p:nvSpPr>
          <p:cNvPr id="11" name="Speech Bubble: Oval 10">
            <a:extLst>
              <a:ext uri="{FF2B5EF4-FFF2-40B4-BE49-F238E27FC236}">
                <a16:creationId xmlns:a16="http://schemas.microsoft.com/office/drawing/2014/main" id="{F574BBA9-9C17-F9FC-D8EE-C3619390A379}"/>
              </a:ext>
            </a:extLst>
          </p:cNvPr>
          <p:cNvSpPr/>
          <p:nvPr/>
        </p:nvSpPr>
        <p:spPr bwMode="auto">
          <a:xfrm rot="19339893">
            <a:off x="-168773" y="4583732"/>
            <a:ext cx="2434558" cy="647187"/>
          </a:xfrm>
          <a:prstGeom prst="wedgeEllipseCallout">
            <a:avLst>
              <a:gd name="adj1" fmla="val -3961"/>
              <a:gd name="adj2" fmla="val 104232"/>
            </a:avLst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ea typeface="ＭＳ Ｐゴシック" pitchFamily="1" charset="-128"/>
              </a:rPr>
              <a:t>Replacement</a:t>
            </a:r>
            <a:endParaRPr lang="en-ZA" sz="2000" dirty="0">
              <a:ea typeface="ＭＳ Ｐゴシック" pitchFamily="1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2740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CC1C205-9A29-28A3-3076-45F296399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F0F88938-4591-9822-F4E1-4F86761A20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Terminal cash flow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9AF1E6-B961-4BA7-BC52-35D392085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16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6C77F6B-10D4-1CA0-AEBA-5D8C8F90CF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334000"/>
          </a:xfrm>
        </p:spPr>
        <p:txBody>
          <a:bodyPr/>
          <a:lstStyle/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All CFs occurring in final year of asset</a:t>
            </a:r>
          </a:p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How do we calculate our terminal cash flow (value)?</a:t>
            </a:r>
          </a:p>
          <a:p>
            <a:pPr marL="0" indent="0" algn="just" defTabSz="715963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+ Proceeds for sale of asset*</a:t>
            </a:r>
          </a:p>
          <a:p>
            <a:pPr marL="0" indent="0" algn="just" defTabSz="538163">
              <a:lnSpc>
                <a:spcPct val="105000"/>
              </a:lnSpc>
              <a:buSzPct val="100000"/>
              <a:buNone/>
              <a:tabLst>
                <a:tab pos="715963" algn="l"/>
              </a:tabLst>
            </a:pPr>
            <a:r>
              <a:rPr lang="en-US" sz="2400" dirty="0">
                <a:latin typeface="+mj-lt"/>
              </a:rPr>
              <a:t>	</a:t>
            </a:r>
            <a:r>
              <a:rPr lang="en-US" sz="2400" dirty="0">
                <a:solidFill>
                  <a:srgbClr val="C00000"/>
                </a:solidFill>
                <a:latin typeface="+mj-lt"/>
              </a:rPr>
              <a:t>– Tax liability resulting from sale of asset </a:t>
            </a:r>
            <a:r>
              <a:rPr lang="en-US" sz="2400" dirty="0">
                <a:latin typeface="+mj-lt"/>
              </a:rPr>
              <a:t>(or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+ loss for 		tax purposes</a:t>
            </a:r>
            <a:r>
              <a:rPr lang="en-US" sz="2400" dirty="0">
                <a:latin typeface="+mj-lt"/>
              </a:rPr>
              <a:t>)</a:t>
            </a:r>
          </a:p>
          <a:p>
            <a:pPr marL="0" indent="0" algn="just" defTabSz="538163">
              <a:lnSpc>
                <a:spcPct val="105000"/>
              </a:lnSpc>
              <a:buSzPct val="100000"/>
              <a:buNone/>
              <a:tabLst>
                <a:tab pos="715963" algn="l"/>
              </a:tabLst>
            </a:pPr>
            <a:r>
              <a:rPr lang="en-US" sz="2400" dirty="0">
                <a:latin typeface="+mj-lt"/>
              </a:rPr>
              <a:t>	± Change in net working capital (reversing NWC 				included in initial investment)</a:t>
            </a:r>
          </a:p>
          <a:p>
            <a:pPr marL="0" indent="0" algn="just" defTabSz="538163">
              <a:lnSpc>
                <a:spcPct val="105000"/>
              </a:lnSpc>
              <a:buSzPct val="100000"/>
              <a:buNone/>
              <a:tabLst>
                <a:tab pos="715963" algn="l"/>
              </a:tabLst>
            </a:pPr>
            <a:endParaRPr lang="en-US" sz="2400" dirty="0">
              <a:latin typeface="+mj-lt"/>
            </a:endParaRPr>
          </a:p>
          <a:p>
            <a:pPr marL="0" indent="0" algn="just" defTabSz="538163">
              <a:lnSpc>
                <a:spcPct val="105000"/>
              </a:lnSpc>
              <a:buSzPct val="100000"/>
              <a:buNone/>
              <a:tabLst>
                <a:tab pos="715963" algn="l"/>
              </a:tabLst>
            </a:pPr>
            <a:endParaRPr lang="en-US" sz="2400" dirty="0">
              <a:latin typeface="+mj-lt"/>
            </a:endParaRPr>
          </a:p>
          <a:p>
            <a:pPr marL="0" indent="0" algn="just" defTabSz="538163">
              <a:lnSpc>
                <a:spcPct val="105000"/>
              </a:lnSpc>
              <a:buSzPct val="100000"/>
              <a:buNone/>
              <a:tabLst>
                <a:tab pos="715963" algn="l"/>
              </a:tabLst>
            </a:pPr>
            <a:endParaRPr lang="en-US" sz="2400" dirty="0">
              <a:latin typeface="+mj-lt"/>
            </a:endParaRPr>
          </a:p>
          <a:p>
            <a:pPr marL="0" indent="0" algn="just" defTabSz="538163">
              <a:lnSpc>
                <a:spcPct val="105000"/>
              </a:lnSpc>
              <a:buSzPct val="100000"/>
              <a:buNone/>
              <a:tabLst>
                <a:tab pos="715963" algn="l"/>
              </a:tabLst>
            </a:pPr>
            <a:endParaRPr lang="en-US" sz="2400" dirty="0">
              <a:latin typeface="+mj-lt"/>
            </a:endParaRPr>
          </a:p>
          <a:p>
            <a:pPr marL="0" indent="0" algn="just" defTabSz="538163">
              <a:lnSpc>
                <a:spcPct val="105000"/>
              </a:lnSpc>
              <a:buSzPct val="100000"/>
              <a:buNone/>
              <a:tabLst>
                <a:tab pos="715963" algn="l"/>
              </a:tabLst>
            </a:pPr>
            <a:r>
              <a:rPr lang="en-US" sz="1800" dirty="0">
                <a:solidFill>
                  <a:srgbClr val="00B050"/>
                </a:solidFill>
                <a:latin typeface="+mj-lt"/>
              </a:rPr>
              <a:t>*Mistake in textbook on p 287 – should be positive)</a:t>
            </a:r>
            <a:endParaRPr lang="en-US" sz="2400" dirty="0">
              <a:solidFill>
                <a:srgbClr val="00B050"/>
              </a:solidFill>
              <a:latin typeface="+mj-lt"/>
            </a:endParaRPr>
          </a:p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sz="2400" dirty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034750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47706FC-F011-61C8-0E95-8F36C87E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DF7A64D5-1512-ED7C-3FBD-280EBC7618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Expansion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35689E-3879-0033-484E-FC255021E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17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CA22AC7-E7D2-52E7-1536-493F172B97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Example: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1200" dirty="0"/>
              <a:t>Project cost = R9 500 000</a:t>
            </a:r>
            <a:endParaRPr lang="en-US" sz="2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Shipping and installation = R500 000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1200" dirty="0"/>
              <a:t>Expected sales = 1 500 units x R2 000 = R30 000 000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Variable cost = 60% of sales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1200" dirty="0"/>
              <a:t>Fixed overhead costs = R5 000 000 per year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1200" dirty="0"/>
              <a:t>Depreciation = straight-line over 4-year lifespan of project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Initial net working capital (NWC) required = R4 000 000 (at end of project initial NWC not required anymore)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1200" dirty="0"/>
              <a:t>Market value of equipment at end of project = R2 000 000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Book value of equipment at end of project = None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Marginal tax rate = 27%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1200" dirty="0"/>
              <a:t>Required rate of return = 15%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34422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9102047-7AC3-A2B4-9A34-96275FCD1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414CB22B-A07A-A41F-A80B-641227AADA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Expansion example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3A73C4-A897-946F-3F3B-E0764B440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18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5F3D3D5-87A0-E815-6A18-D943C256E5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Initial investment</a:t>
            </a:r>
          </a:p>
          <a:p>
            <a:pPr marL="0" indent="0" algn="just" defTabSz="715963">
              <a:lnSpc>
                <a:spcPct val="105000"/>
              </a:lnSpc>
              <a:buSzPct val="100000"/>
              <a:buNone/>
            </a:pPr>
            <a:r>
              <a:rPr lang="en-US" sz="2400" dirty="0">
                <a:solidFill>
                  <a:srgbClr val="C00000"/>
                </a:solidFill>
                <a:latin typeface="+mj-lt"/>
              </a:rPr>
              <a:t>– Cost of new asset						R  9 500 000</a:t>
            </a:r>
          </a:p>
          <a:p>
            <a:pPr marL="0" indent="0" algn="just" defTabSz="715963">
              <a:lnSpc>
                <a:spcPct val="105000"/>
              </a:lnSpc>
              <a:buSzPct val="100000"/>
              <a:buNone/>
            </a:pPr>
            <a:r>
              <a:rPr lang="en-US" sz="2400" dirty="0">
                <a:solidFill>
                  <a:srgbClr val="C00000"/>
                </a:solidFill>
                <a:latin typeface="+mj-lt"/>
              </a:rPr>
              <a:t>– Installation cost						R     500 000</a:t>
            </a:r>
          </a:p>
          <a:p>
            <a:pPr marL="0" indent="0" algn="just" defTabSz="715963">
              <a:lnSpc>
                <a:spcPct val="105000"/>
              </a:lnSpc>
              <a:buSzPct val="100000"/>
              <a:buNone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+ Proceeds for sale of old asset				</a:t>
            </a:r>
          </a:p>
          <a:p>
            <a:pPr marL="0" indent="0" algn="just" defTabSz="538163">
              <a:lnSpc>
                <a:spcPct val="105000"/>
              </a:lnSpc>
              <a:buSzPct val="100000"/>
              <a:buNone/>
              <a:tabLst>
                <a:tab pos="715963" algn="l"/>
              </a:tabLst>
            </a:pPr>
            <a:r>
              <a:rPr lang="en-US" sz="2400" dirty="0">
                <a:solidFill>
                  <a:srgbClr val="C00000"/>
                </a:solidFill>
                <a:latin typeface="+mj-lt"/>
              </a:rPr>
              <a:t>– Tax liability resulting from sale of old asset</a:t>
            </a:r>
          </a:p>
          <a:p>
            <a:pPr marL="0" indent="0" algn="just" defTabSz="715963">
              <a:lnSpc>
                <a:spcPct val="105000"/>
              </a:lnSpc>
              <a:buSzPct val="100000"/>
              <a:buNone/>
            </a:pPr>
            <a:r>
              <a:rPr lang="en-US" sz="2400" dirty="0">
                <a:solidFill>
                  <a:srgbClr val="C00000"/>
                </a:solidFill>
                <a:latin typeface="+mj-lt"/>
              </a:rPr>
              <a:t>± Change in net working capital			</a:t>
            </a:r>
            <a:r>
              <a:rPr lang="en-US" sz="2400" u="sng" dirty="0">
                <a:solidFill>
                  <a:srgbClr val="C00000"/>
                </a:solidFill>
                <a:latin typeface="+mj-lt"/>
              </a:rPr>
              <a:t>R  4 000 000</a:t>
            </a:r>
            <a:endParaRPr lang="en-US" sz="2400" dirty="0">
              <a:solidFill>
                <a:srgbClr val="C00000"/>
              </a:solidFill>
              <a:latin typeface="+mj-lt"/>
            </a:endParaRPr>
          </a:p>
          <a:p>
            <a:pPr marL="0" indent="0" algn="just" defTabSz="715963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Initial investment						</a:t>
            </a:r>
            <a:r>
              <a:rPr lang="en-US" sz="2400" u="dbl" dirty="0">
                <a:solidFill>
                  <a:srgbClr val="C00000"/>
                </a:solidFill>
                <a:latin typeface="+mj-lt"/>
              </a:rPr>
              <a:t>R14 000 000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endParaRPr lang="en-US" sz="2400" kern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/>
              <a:t>Remember initial investment will be a CASH OUTFLOW, therefore –R14 000 000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77228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5A7D59F-A400-2BD8-DB65-CCDECDCBD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D917E491-12C1-13A9-236F-82967F8A48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Expansion example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33FC57-CE4A-FA60-F54E-FECE776A5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19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818B68D-45CC-6943-E3E3-3480C26485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OCF					R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Sales				30 000 000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Variable cost			18 000 000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Fixed cost			  5 000 000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Depreciation			</a:t>
            </a:r>
            <a:r>
              <a:rPr lang="en-US" sz="2400" u="sng" kern="1200" dirty="0">
                <a:latin typeface="+mj-lt"/>
              </a:rPr>
              <a:t>  2 500 000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EBIT				  4 500 000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Interest			</a:t>
            </a:r>
            <a:r>
              <a:rPr lang="en-US" sz="2400" u="sng" kern="1200" dirty="0">
                <a:latin typeface="+mj-lt"/>
              </a:rPr>
              <a:t>               0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EBT				  4 500 000				Tax (27%)			</a:t>
            </a:r>
            <a:r>
              <a:rPr lang="en-US" sz="2400" u="sng" kern="1200" dirty="0">
                <a:latin typeface="+mj-lt"/>
              </a:rPr>
              <a:t>  1 215 000</a:t>
            </a:r>
            <a:r>
              <a:rPr lang="en-US" sz="2400" kern="1200" dirty="0">
                <a:latin typeface="+mj-lt"/>
              </a:rPr>
              <a:t>			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EAT				</a:t>
            </a:r>
            <a:r>
              <a:rPr lang="en-US" sz="2400" u="dbl" kern="1200" dirty="0">
                <a:latin typeface="+mj-lt"/>
              </a:rPr>
              <a:t>  3 285 000</a:t>
            </a:r>
            <a:endParaRPr lang="en-US" sz="2400" kern="1200" dirty="0">
              <a:latin typeface="+mj-lt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endParaRPr lang="en-US" sz="2400" kern="1200" dirty="0">
              <a:latin typeface="+mj-lt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OCF	= EBIT + Depreciation – Taxes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= R4 500 000 + R2 500 000 – R1 215 000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= </a:t>
            </a:r>
            <a:r>
              <a:rPr lang="en-US" sz="2400" kern="1200" dirty="0">
                <a:solidFill>
                  <a:srgbClr val="00B050"/>
                </a:solidFill>
                <a:latin typeface="+mj-lt"/>
              </a:rPr>
              <a:t>R5 785 000 </a:t>
            </a:r>
            <a:r>
              <a:rPr lang="en-US" sz="2400" kern="1200" dirty="0">
                <a:latin typeface="+mj-lt"/>
              </a:rPr>
              <a:t>(same for year 1 to 4)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229720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003D9F1-6A6A-40F6-B10F-D995E3C31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4C7D442B-4753-B47B-874C-19504738AD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Expansion example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2EFEA3-37EB-CEB1-CB13-2C648E67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20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B15D8C4-BC6A-E656-B939-B76D20055C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Terminal CF (value)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1200" dirty="0">
                <a:latin typeface="+mj-lt"/>
              </a:rPr>
              <a:t>Book value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Full cost of asset			R10 000 000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Depreciation				</a:t>
            </a:r>
            <a:r>
              <a:rPr lang="en-US" sz="2400" u="sng" kern="1200" dirty="0">
                <a:latin typeface="+mj-lt"/>
              </a:rPr>
              <a:t>R10 000 000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Book value				</a:t>
            </a:r>
            <a:r>
              <a:rPr lang="en-US" sz="2400" u="dbl" kern="1200" dirty="0">
                <a:latin typeface="+mj-lt"/>
              </a:rPr>
              <a:t>R              0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1200" dirty="0">
                <a:latin typeface="+mj-lt"/>
              </a:rPr>
              <a:t>Tax effect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Selling price				R 2 000 000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Book value				</a:t>
            </a:r>
            <a:r>
              <a:rPr lang="en-US" sz="2400" u="sng" kern="1200" dirty="0">
                <a:latin typeface="+mj-lt"/>
              </a:rPr>
              <a:t>               0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Gain/Loss on sale			</a:t>
            </a:r>
            <a:r>
              <a:rPr lang="en-US" sz="2400" u="dbl" kern="1200" dirty="0">
                <a:latin typeface="+mj-lt"/>
              </a:rPr>
              <a:t>R 2 000 000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Tax (27%)				R    540 000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1200" dirty="0">
                <a:latin typeface="+mj-lt"/>
              </a:rPr>
              <a:t>Net salvage value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Cash flow from sale			R 2 000 000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Tax effect				</a:t>
            </a:r>
            <a:r>
              <a:rPr lang="en-US" sz="2400" u="sng" kern="1200" dirty="0">
                <a:latin typeface="+mj-lt"/>
              </a:rPr>
              <a:t>R    540 000</a:t>
            </a:r>
            <a:endParaRPr lang="en-US" sz="2400" kern="1200" dirty="0">
              <a:latin typeface="+mj-lt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Net cash flow from salvage		</a:t>
            </a:r>
            <a:r>
              <a:rPr lang="en-US" sz="2400" u="dbl" kern="1200" dirty="0">
                <a:latin typeface="+mj-lt"/>
              </a:rPr>
              <a:t>R 1 460 000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endParaRPr lang="en-US" sz="2400" kern="1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13572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7741E42-4FE2-7AAE-B314-B83390194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3D118743-699A-E89A-7E96-6A2F076DA2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Expansion example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CAFBBD-D9E2-8ABC-7AA8-5B1BB8EBF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21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357E14E-03ED-85C2-F2E4-0BED59D564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Terminal CF (value) (cont.)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  <a:tabLst>
                <a:tab pos="361950" algn="l"/>
              </a:tabLst>
            </a:pPr>
            <a:r>
              <a:rPr lang="en-US" sz="2400" kern="1200" dirty="0">
                <a:solidFill>
                  <a:srgbClr val="00B050"/>
                </a:solidFill>
                <a:latin typeface="+mj-lt"/>
              </a:rPr>
              <a:t>+ Net cash flow from salvage		R  1 460 000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  <a:tabLst>
                <a:tab pos="361950" algn="l"/>
              </a:tabLst>
            </a:pPr>
            <a:r>
              <a:rPr lang="en-US" sz="2400" kern="1200" dirty="0">
                <a:solidFill>
                  <a:srgbClr val="00B050"/>
                </a:solidFill>
                <a:latin typeface="+mj-lt"/>
              </a:rPr>
              <a:t>+ Change in NWC (outflow in Y</a:t>
            </a:r>
            <a:r>
              <a:rPr lang="en-US" sz="2400" kern="1200" baseline="-25000" dirty="0">
                <a:solidFill>
                  <a:srgbClr val="00B050"/>
                </a:solidFill>
                <a:latin typeface="+mj-lt"/>
              </a:rPr>
              <a:t>0</a:t>
            </a:r>
            <a:r>
              <a:rPr lang="en-US" sz="2400" kern="1200" dirty="0">
                <a:solidFill>
                  <a:srgbClr val="00B050"/>
                </a:solidFill>
                <a:latin typeface="+mj-lt"/>
              </a:rPr>
              <a:t>)		</a:t>
            </a:r>
            <a:r>
              <a:rPr lang="en-US" sz="2400" u="sng" kern="1200" dirty="0">
                <a:solidFill>
                  <a:srgbClr val="00B050"/>
                </a:solidFill>
                <a:latin typeface="+mj-lt"/>
              </a:rPr>
              <a:t>R  4 000 000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  <a:tabLst>
                <a:tab pos="361950" algn="l"/>
              </a:tabLst>
            </a:pPr>
            <a:r>
              <a:rPr lang="en-US" sz="2400" kern="1200" dirty="0">
                <a:latin typeface="+mj-lt"/>
              </a:rPr>
              <a:t>Terminal CF					</a:t>
            </a:r>
            <a:r>
              <a:rPr lang="en-US" sz="2400" u="dbl" kern="1200" dirty="0">
                <a:solidFill>
                  <a:srgbClr val="00B050"/>
                </a:solidFill>
                <a:latin typeface="+mj-lt"/>
              </a:rPr>
              <a:t>R  5 460 000</a:t>
            </a:r>
            <a:endParaRPr lang="en-US" sz="2400" kern="1200" dirty="0">
              <a:solidFill>
                <a:srgbClr val="00B050"/>
              </a:solidFill>
              <a:latin typeface="+mj-lt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endParaRPr lang="en-US" sz="2400" kern="1200" dirty="0">
              <a:latin typeface="+mj-lt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1200" dirty="0">
                <a:latin typeface="+mj-lt"/>
              </a:rPr>
              <a:t>Now we put all the CFs from Year 1 to Year 4 together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endParaRPr lang="en-US" sz="2400" kern="1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376895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2C5223C-1C81-3382-655F-8E3262966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CC242373-9F95-C9A0-D578-A3EAA3FEEE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Expansion example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0424DE-40F2-B0FF-65AA-5B149F6DE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22</a:t>
            </a:fld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1A14E0E-5E1C-6C20-E350-11F25E50D3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234065"/>
              </p:ext>
            </p:extLst>
          </p:nvPr>
        </p:nvGraphicFramePr>
        <p:xfrm>
          <a:off x="152400" y="1128796"/>
          <a:ext cx="8856000" cy="30343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357203915"/>
                    </a:ext>
                  </a:extLst>
                </a:gridCol>
                <a:gridCol w="1580400">
                  <a:extLst>
                    <a:ext uri="{9D8B030D-6E8A-4147-A177-3AD203B41FA5}">
                      <a16:colId xmlns:a16="http://schemas.microsoft.com/office/drawing/2014/main" val="4160137536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2582543509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525116273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1676312287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3241661407"/>
                    </a:ext>
                  </a:extLst>
                </a:gridCol>
              </a:tblGrid>
              <a:tr h="424726">
                <a:tc>
                  <a:txBody>
                    <a:bodyPr/>
                    <a:lstStyle/>
                    <a:p>
                      <a:endParaRPr lang="en-ZA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Year 0</a:t>
                      </a:r>
                      <a:endParaRPr lang="en-ZA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Year 1</a:t>
                      </a:r>
                      <a:endParaRPr lang="en-ZA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Year 2</a:t>
                      </a:r>
                      <a:endParaRPr lang="en-ZA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Year 3</a:t>
                      </a:r>
                      <a:endParaRPr lang="en-ZA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Year 4</a:t>
                      </a:r>
                      <a:endParaRPr lang="en-ZA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0730994"/>
                  </a:ext>
                </a:extLst>
              </a:tr>
              <a:tr h="942547">
                <a:tc>
                  <a:txBody>
                    <a:bodyPr/>
                    <a:lstStyle/>
                    <a:p>
                      <a:r>
                        <a:rPr lang="en-US" sz="1600" b="1" dirty="0"/>
                        <a:t>Initial investment outlay</a:t>
                      </a:r>
                      <a:endParaRPr lang="en-ZA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-R14 000 000</a:t>
                      </a:r>
                      <a:endParaRPr lang="en-ZA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ZA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ZA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 </a:t>
                      </a:r>
                      <a:endParaRPr lang="en-ZA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ZA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2134856"/>
                  </a:ext>
                </a:extLst>
              </a:tr>
              <a:tr h="424726">
                <a:tc>
                  <a:txBody>
                    <a:bodyPr/>
                    <a:lstStyle/>
                    <a:p>
                      <a:r>
                        <a:rPr lang="en-US" sz="1600" b="1" dirty="0"/>
                        <a:t>OCF</a:t>
                      </a:r>
                      <a:endParaRPr lang="en-ZA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ZA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R5 785 000</a:t>
                      </a:r>
                      <a:endParaRPr lang="en-ZA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R5 785 000</a:t>
                      </a:r>
                      <a:endParaRPr lang="en-ZA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R5 785 000</a:t>
                      </a:r>
                      <a:endParaRPr lang="en-ZA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R5 785 000</a:t>
                      </a:r>
                      <a:endParaRPr lang="en-ZA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8382564"/>
                  </a:ext>
                </a:extLst>
              </a:tr>
              <a:tr h="424726">
                <a:tc>
                  <a:txBody>
                    <a:bodyPr/>
                    <a:lstStyle/>
                    <a:p>
                      <a:r>
                        <a:rPr lang="en-US" sz="1600" b="1" dirty="0"/>
                        <a:t>Terminal CF</a:t>
                      </a:r>
                      <a:endParaRPr lang="en-ZA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ZA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ZA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ZA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ZA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R5 460 000</a:t>
                      </a:r>
                      <a:endParaRPr lang="en-ZA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681207"/>
                  </a:ext>
                </a:extLst>
              </a:tr>
              <a:tr h="663274">
                <a:tc>
                  <a:txBody>
                    <a:bodyPr/>
                    <a:lstStyle/>
                    <a:p>
                      <a:r>
                        <a:rPr lang="en-US" sz="1600" b="1" dirty="0"/>
                        <a:t>Total net CFs</a:t>
                      </a:r>
                      <a:endParaRPr lang="en-ZA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-R14 000 000</a:t>
                      </a:r>
                      <a:endParaRPr lang="en-ZA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R5 785 000</a:t>
                      </a:r>
                      <a:endParaRPr lang="en-ZA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R5 785 000</a:t>
                      </a:r>
                      <a:endParaRPr lang="en-ZA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R5 785 000</a:t>
                      </a:r>
                      <a:endParaRPr lang="en-ZA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R11 245 000</a:t>
                      </a:r>
                      <a:endParaRPr lang="en-ZA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9511821"/>
                  </a:ext>
                </a:extLst>
              </a:tr>
            </a:tbl>
          </a:graphicData>
        </a:graphic>
      </p:graphicFrame>
      <p:sp>
        <p:nvSpPr>
          <p:cNvPr id="7" name="Rectangle 5">
            <a:extLst>
              <a:ext uri="{FF2B5EF4-FFF2-40B4-BE49-F238E27FC236}">
                <a16:creationId xmlns:a16="http://schemas.microsoft.com/office/drawing/2014/main" id="{E5480991-7693-1E9F-5CD0-A9F537838A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4267200"/>
            <a:ext cx="8655424" cy="1970690"/>
          </a:xfrm>
        </p:spPr>
        <p:txBody>
          <a:bodyPr/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Calculate NPV and IRR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CF</a:t>
            </a:r>
            <a:r>
              <a:rPr lang="en-US" sz="2400" kern="1200" baseline="-25000" dirty="0">
                <a:latin typeface="+mj-lt"/>
              </a:rPr>
              <a:t>0</a:t>
            </a:r>
            <a:r>
              <a:rPr lang="en-US" sz="2400" kern="1200" dirty="0">
                <a:latin typeface="+mj-lt"/>
              </a:rPr>
              <a:t>	-R14 000 000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CF</a:t>
            </a:r>
            <a:r>
              <a:rPr lang="en-US" sz="2400" kern="1200" baseline="-25000" dirty="0">
                <a:latin typeface="+mj-lt"/>
              </a:rPr>
              <a:t>1-3</a:t>
            </a:r>
            <a:r>
              <a:rPr lang="en-US" sz="2400" kern="1200" dirty="0">
                <a:latin typeface="+mj-lt"/>
              </a:rPr>
              <a:t>	R5 785 000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CF</a:t>
            </a:r>
            <a:r>
              <a:rPr lang="en-US" sz="2400" kern="1200" baseline="-25000" dirty="0">
                <a:latin typeface="+mj-lt"/>
              </a:rPr>
              <a:t>4</a:t>
            </a:r>
            <a:r>
              <a:rPr lang="en-US" sz="2400" kern="1200" dirty="0">
                <a:latin typeface="+mj-lt"/>
              </a:rPr>
              <a:t>	R11 245 000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</a:t>
            </a:r>
            <a:r>
              <a:rPr lang="en-US" sz="2400" kern="1200" dirty="0" err="1">
                <a:latin typeface="+mj-lt"/>
              </a:rPr>
              <a:t>i</a:t>
            </a:r>
            <a:r>
              <a:rPr lang="en-US" sz="2400" kern="1200" dirty="0">
                <a:latin typeface="+mj-lt"/>
              </a:rPr>
              <a:t>	15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</a:t>
            </a:r>
            <a:r>
              <a:rPr lang="en-US" sz="2400" b="1" kern="1200" dirty="0">
                <a:solidFill>
                  <a:srgbClr val="009900"/>
                </a:solidFill>
                <a:latin typeface="+mj-lt"/>
              </a:rPr>
              <a:t>NPV	R5 637 822.55	IRR	31.69% (&gt; 15%)</a:t>
            </a:r>
            <a:r>
              <a:rPr lang="en-US" sz="2400" kern="1200" dirty="0">
                <a:solidFill>
                  <a:srgbClr val="009900"/>
                </a:solidFill>
                <a:latin typeface="+mj-lt"/>
              </a:rPr>
              <a:t>	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endParaRPr lang="en-US" sz="2400" kern="1200" dirty="0">
              <a:latin typeface="+mj-lt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endParaRPr lang="en-US" sz="2400" kern="1200" dirty="0"/>
          </a:p>
        </p:txBody>
      </p:sp>
      <p:sp>
        <p:nvSpPr>
          <p:cNvPr id="8" name="Explosion: 8 Points 7">
            <a:extLst>
              <a:ext uri="{FF2B5EF4-FFF2-40B4-BE49-F238E27FC236}">
                <a16:creationId xmlns:a16="http://schemas.microsoft.com/office/drawing/2014/main" id="{D2B10373-F46E-8297-8D6B-8F5A98325E35}"/>
              </a:ext>
            </a:extLst>
          </p:cNvPr>
          <p:cNvSpPr/>
          <p:nvPr/>
        </p:nvSpPr>
        <p:spPr bwMode="auto">
          <a:xfrm>
            <a:off x="5562600" y="4114800"/>
            <a:ext cx="2667000" cy="2224216"/>
          </a:xfrm>
          <a:prstGeom prst="irregularSeal1">
            <a:avLst/>
          </a:prstGeom>
          <a:solidFill>
            <a:srgbClr val="009900"/>
          </a:solidFill>
          <a:ln w="9525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800" i="0" u="none" strike="noStrike" normalizeH="0" baseline="0" dirty="0">
                <a:ln w="0"/>
                <a:solidFill>
                  <a:schemeClr val="bg1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charset="0"/>
                <a:ea typeface="ＭＳ Ｐゴシック" pitchFamily="1" charset="-128"/>
              </a:rPr>
              <a:t>YES</a:t>
            </a:r>
            <a:endParaRPr kumimoji="0" lang="en-ZA" sz="4800" i="0" u="none" strike="noStrike" normalizeH="0" baseline="0" dirty="0">
              <a:ln w="0"/>
              <a:solidFill>
                <a:schemeClr val="bg1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charset="0"/>
              <a:ea typeface="ＭＳ Ｐゴシック" pitchFamily="1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67856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7BCCCEC-F1F1-8B89-4178-D6D9352F6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778F66F1-8723-B636-9702-EE127947B8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Replacement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4AA0D5-3B00-C18C-BD93-50BA93760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23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3880A51-7CF0-CDD4-A195-D583429C3A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1200" dirty="0"/>
              <a:t>Existing equipment</a:t>
            </a:r>
          </a:p>
          <a:p>
            <a:pPr marL="6937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1200" dirty="0"/>
              <a:t>Equipment purchased 10 years ago = R7 900</a:t>
            </a:r>
          </a:p>
          <a:p>
            <a:pPr marL="6937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Expected life = 15 years</a:t>
            </a:r>
          </a:p>
          <a:p>
            <a:pPr marL="6937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1200" dirty="0"/>
              <a:t>Salvage value = R400 (in 5 years’ time)</a:t>
            </a:r>
          </a:p>
          <a:p>
            <a:pPr marL="6937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Depreciation = annual R500 charge</a:t>
            </a:r>
          </a:p>
          <a:p>
            <a:pPr marL="6937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1200" dirty="0"/>
              <a:t>Present book value = R 2 900</a:t>
            </a:r>
          </a:p>
          <a:p>
            <a:pPr marL="6937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Market value = R1 400</a:t>
            </a:r>
            <a:endParaRPr lang="en-US" sz="2400" kern="12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endParaRPr lang="en-US" sz="2400" kern="1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059864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B752727-CDCD-85FD-966E-4CA796BA6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10A0B0FF-FA38-3CE5-7933-F27EB91C90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Replacement example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F10304-015F-6123-905A-A6E9F6331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24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1D40849-6FF9-F99C-DE71-143755D5E1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New equipment</a:t>
            </a:r>
          </a:p>
          <a:p>
            <a:pPr marL="6937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1200" dirty="0"/>
              <a:t>Purchase price = R12 000 (including shipping and installation)</a:t>
            </a:r>
          </a:p>
          <a:p>
            <a:pPr marL="6937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Operating costs reduce from R8 000 to R4 500</a:t>
            </a:r>
          </a:p>
          <a:p>
            <a:pPr marL="6937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Expected life = 5 years</a:t>
            </a:r>
          </a:p>
          <a:p>
            <a:pPr marL="6937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Salvage value = R2 000</a:t>
            </a:r>
          </a:p>
          <a:p>
            <a:pPr marL="6937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Initial NWC increase = R1 400</a:t>
            </a:r>
          </a:p>
          <a:p>
            <a:pPr marL="6937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Depreciation = straight-line over lifespan</a:t>
            </a:r>
          </a:p>
          <a:p>
            <a:pPr marL="6937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Required rate of return = 15%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endParaRPr lang="en-US" sz="2400" kern="1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44174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F4E43-B03B-490E-52FA-7237A0813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954FC11B-0134-D040-ED4B-C650D9586A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>
                <a:solidFill>
                  <a:schemeClr val="tx2"/>
                </a:solidFill>
              </a:rPr>
              <a:t>Replacement example (cont.)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71BAE5-32C5-C169-91F8-0571E50F3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25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9C0BED-8A26-7AF4-9A73-E2103941B8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486400"/>
          </a:xfrm>
        </p:spPr>
        <p:txBody>
          <a:bodyPr/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Initial investment</a:t>
            </a:r>
          </a:p>
          <a:p>
            <a:pPr marL="0" indent="0" algn="just" defTabSz="715963">
              <a:lnSpc>
                <a:spcPct val="105000"/>
              </a:lnSpc>
              <a:buSzPct val="100000"/>
              <a:buNone/>
            </a:pPr>
            <a:r>
              <a:rPr lang="en-US" sz="2400" dirty="0">
                <a:solidFill>
                  <a:srgbClr val="C00000"/>
                </a:solidFill>
                <a:latin typeface="+mj-lt"/>
              </a:rPr>
              <a:t>– Cost of new asset						R12 000</a:t>
            </a:r>
          </a:p>
          <a:p>
            <a:pPr marL="0" indent="0" algn="just" defTabSz="715963">
              <a:lnSpc>
                <a:spcPct val="105000"/>
              </a:lnSpc>
              <a:buSzPct val="100000"/>
              <a:buNone/>
            </a:pPr>
            <a:r>
              <a:rPr lang="en-US" sz="2400" dirty="0">
                <a:solidFill>
                  <a:srgbClr val="C00000"/>
                </a:solidFill>
                <a:latin typeface="+mj-lt"/>
              </a:rPr>
              <a:t>– Installation cost	</a:t>
            </a:r>
            <a:r>
              <a:rPr lang="en-US" sz="2400" dirty="0">
                <a:latin typeface="+mj-lt"/>
              </a:rPr>
              <a:t>					</a:t>
            </a:r>
          </a:p>
          <a:p>
            <a:pPr marL="0" indent="0" algn="just" defTabSz="715963">
              <a:lnSpc>
                <a:spcPct val="105000"/>
              </a:lnSpc>
              <a:buSzPct val="100000"/>
              <a:buNone/>
              <a:tabLst>
                <a:tab pos="6400800" algn="l"/>
              </a:tabLst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+ *Proceeds for sale of old asset		R  1 400</a:t>
            </a:r>
          </a:p>
          <a:p>
            <a:pPr marL="0" indent="0" algn="just" defTabSz="538163">
              <a:lnSpc>
                <a:spcPct val="105000"/>
              </a:lnSpc>
              <a:buSzPct val="100000"/>
              <a:buNone/>
              <a:tabLst>
                <a:tab pos="715963" algn="l"/>
              </a:tabLst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+ *Tax liability resulting from sale of old asset         405</a:t>
            </a:r>
          </a:p>
          <a:p>
            <a:pPr marL="0" indent="0" algn="just" defTabSz="715963">
              <a:lnSpc>
                <a:spcPct val="105000"/>
              </a:lnSpc>
              <a:buSzPct val="100000"/>
              <a:buNone/>
            </a:pPr>
            <a:r>
              <a:rPr lang="en-US" sz="2400" dirty="0">
                <a:solidFill>
                  <a:srgbClr val="C00000"/>
                </a:solidFill>
                <a:latin typeface="+mj-lt"/>
              </a:rPr>
              <a:t>± Change in net working capital			</a:t>
            </a:r>
            <a:r>
              <a:rPr lang="en-US" sz="2400" u="sng" dirty="0">
                <a:solidFill>
                  <a:srgbClr val="C00000"/>
                </a:solidFill>
                <a:latin typeface="+mj-lt"/>
              </a:rPr>
              <a:t>R  1 400</a:t>
            </a:r>
            <a:endParaRPr lang="en-US" sz="2400" dirty="0">
              <a:solidFill>
                <a:srgbClr val="C00000"/>
              </a:solidFill>
              <a:latin typeface="+mj-lt"/>
            </a:endParaRPr>
          </a:p>
          <a:p>
            <a:pPr marL="0" indent="0" algn="just" defTabSz="715963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Initial investment						</a:t>
            </a:r>
            <a:r>
              <a:rPr lang="en-US" sz="2400" u="dbl" dirty="0">
                <a:solidFill>
                  <a:srgbClr val="C00000"/>
                </a:solidFill>
                <a:latin typeface="+mj-lt"/>
              </a:rPr>
              <a:t>R11 595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endParaRPr lang="en-US" sz="1000" kern="12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/>
              <a:t>Remember initial investment will be a cash OUTFLOW, therefore –R11 595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endParaRPr lang="en-US" sz="1000" kern="1200" dirty="0"/>
          </a:p>
          <a:p>
            <a:pPr marL="0" indent="0" algn="just" defTabSz="8366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/>
              <a:t>* </a:t>
            </a:r>
            <a:r>
              <a:rPr lang="en-US" sz="2400" kern="1200" dirty="0">
                <a:solidFill>
                  <a:srgbClr val="00B050"/>
                </a:solidFill>
              </a:rPr>
              <a:t>Selling price	R1 400</a:t>
            </a:r>
          </a:p>
          <a:p>
            <a:pPr marL="0" indent="0" algn="just" defTabSz="8366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solidFill>
                  <a:srgbClr val="00B050"/>
                </a:solidFill>
              </a:rPr>
              <a:t>– Book value	</a:t>
            </a:r>
            <a:r>
              <a:rPr lang="en-US" sz="2400" u="sng" kern="1200" dirty="0">
                <a:solidFill>
                  <a:srgbClr val="00B050"/>
                </a:solidFill>
              </a:rPr>
              <a:t>R2 900</a:t>
            </a:r>
            <a:endParaRPr lang="en-US" sz="2400" kern="1200" dirty="0">
              <a:solidFill>
                <a:srgbClr val="00B050"/>
              </a:solidFill>
            </a:endParaRPr>
          </a:p>
          <a:p>
            <a:pPr marL="0" indent="0" algn="just" defTabSz="8366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solidFill>
                  <a:srgbClr val="00B050"/>
                </a:solidFill>
              </a:rPr>
              <a:t>   </a:t>
            </a:r>
            <a:r>
              <a:rPr lang="en-US" sz="2400" kern="1200" dirty="0">
                <a:solidFill>
                  <a:srgbClr val="C00000"/>
                </a:solidFill>
              </a:rPr>
              <a:t>Loss		R1 500</a:t>
            </a:r>
            <a:r>
              <a:rPr lang="en-US" sz="2400" kern="1200" dirty="0"/>
              <a:t>	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Tax	R405 (27% of R1 500) 							tax refund on loss</a:t>
            </a:r>
          </a:p>
        </p:txBody>
      </p:sp>
      <p:sp>
        <p:nvSpPr>
          <p:cNvPr id="2" name="Speech Bubble: Oval 1">
            <a:extLst>
              <a:ext uri="{FF2B5EF4-FFF2-40B4-BE49-F238E27FC236}">
                <a16:creationId xmlns:a16="http://schemas.microsoft.com/office/drawing/2014/main" id="{602F40AB-63EE-D1D3-4831-17BBC97F6E6D}"/>
              </a:ext>
            </a:extLst>
          </p:cNvPr>
          <p:cNvSpPr/>
          <p:nvPr/>
        </p:nvSpPr>
        <p:spPr bwMode="auto">
          <a:xfrm>
            <a:off x="4114800" y="990600"/>
            <a:ext cx="1905000" cy="1447800"/>
          </a:xfrm>
          <a:prstGeom prst="wedgeEllipseCallout">
            <a:avLst>
              <a:gd name="adj1" fmla="val 117663"/>
              <a:gd name="adj2" fmla="val 93355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1" charset="-128"/>
              </a:rPr>
              <a:t>Tax benefit as loss is made when selling asset; thus add Tax benefit</a:t>
            </a:r>
            <a:endParaRPr kumimoji="0" lang="en-ZA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43467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D218DFD-39E3-D962-FC07-D68270A0C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4DBEA30E-033A-90D4-EB02-46FD693DC9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Expansion example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1241AB-7B12-3F3F-3C38-FAD0546A0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26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0901D62-135C-D87A-60A7-3B103C05CA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36176" y="990600"/>
            <a:ext cx="8655424" cy="5247290"/>
          </a:xfrm>
        </p:spPr>
        <p:txBody>
          <a:bodyPr/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OCF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∆ Operating cost		R3 500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∆ Depreciation*		</a:t>
            </a:r>
            <a:r>
              <a:rPr lang="en-US" sz="2400" u="sng" kern="1200" dirty="0">
                <a:latin typeface="+mj-lt"/>
              </a:rPr>
              <a:t>R1 500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∆ EBIT			R2 000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∆ Interest			</a:t>
            </a:r>
            <a:r>
              <a:rPr lang="en-US" sz="2400" u="sng" kern="1200" dirty="0">
                <a:latin typeface="+mj-lt"/>
              </a:rPr>
              <a:t>        0</a:t>
            </a:r>
            <a:endParaRPr lang="en-US" sz="2400" kern="1200" dirty="0">
              <a:latin typeface="+mj-lt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∆ EBT				R2 000</a:t>
            </a:r>
            <a:endParaRPr lang="en-US" sz="2400" u="sng" kern="1200" dirty="0">
              <a:latin typeface="+mj-lt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∆ Tax				</a:t>
            </a:r>
            <a:r>
              <a:rPr lang="en-US" sz="2400" u="sng" kern="1200" dirty="0">
                <a:latin typeface="+mj-lt"/>
              </a:rPr>
              <a:t>R   540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Net operating income	</a:t>
            </a:r>
            <a:r>
              <a:rPr lang="en-US" sz="2400" u="dbl" kern="1200" dirty="0">
                <a:latin typeface="+mj-lt"/>
              </a:rPr>
              <a:t>R1 460</a:t>
            </a:r>
            <a:endParaRPr lang="en-US" sz="2400" kern="1200" dirty="0">
              <a:latin typeface="+mj-lt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endParaRPr lang="en-US" sz="300" kern="1200" dirty="0">
              <a:latin typeface="+mj-lt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OCF	= EBIT + Depreciation – Taxes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	= 2 000 + 1 500 – 540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	= </a:t>
            </a:r>
            <a:r>
              <a:rPr lang="en-US" sz="2400" kern="1200" dirty="0">
                <a:solidFill>
                  <a:srgbClr val="00B050"/>
                </a:solidFill>
                <a:latin typeface="+mj-lt"/>
              </a:rPr>
              <a:t>R2 960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endParaRPr lang="en-US" sz="300" kern="1200" dirty="0">
              <a:latin typeface="+mj-lt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*∆ Depreciation 	= New depreciation – old depreciation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		= R2 000 – R500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		= R1 500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939898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12CF55F-4690-CDCF-166C-7BFFA792D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D2C13F8F-9753-45B5-4416-86E198F22B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Expansion example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C3A14B-9C10-689D-C0F9-EC1D1EA94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27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127447D-5892-7A33-D03A-5715635832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Terminal value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solidFill>
                  <a:srgbClr val="00B050"/>
                </a:solidFill>
                <a:latin typeface="+mj-lt"/>
              </a:rPr>
              <a:t>+ Return of NWC				R1 400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solidFill>
                  <a:srgbClr val="00B050"/>
                </a:solidFill>
                <a:latin typeface="+mj-lt"/>
              </a:rPr>
              <a:t>+ </a:t>
            </a:r>
            <a:r>
              <a:rPr lang="en-US" sz="2400" kern="1200" baseline="30000" dirty="0">
                <a:solidFill>
                  <a:srgbClr val="00B050"/>
                </a:solidFill>
                <a:latin typeface="+mj-lt"/>
              </a:rPr>
              <a:t>1</a:t>
            </a:r>
            <a:r>
              <a:rPr lang="en-US" sz="2400" kern="1200" dirty="0">
                <a:solidFill>
                  <a:srgbClr val="00B050"/>
                </a:solidFill>
                <a:latin typeface="+mj-lt"/>
              </a:rPr>
              <a:t>Net salvage value – New asset		R1 460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dirty="0">
                <a:solidFill>
                  <a:srgbClr val="C00000"/>
                </a:solidFill>
                <a:latin typeface="+mj-lt"/>
              </a:rPr>
              <a:t>– </a:t>
            </a:r>
            <a:r>
              <a:rPr lang="en-US" sz="2400" kern="1200" baseline="30000" dirty="0">
                <a:solidFill>
                  <a:srgbClr val="C00000"/>
                </a:solidFill>
                <a:latin typeface="+mj-lt"/>
              </a:rPr>
              <a:t>2</a:t>
            </a:r>
            <a:r>
              <a:rPr lang="en-US" sz="2400" kern="1200" dirty="0">
                <a:solidFill>
                  <a:srgbClr val="C00000"/>
                </a:solidFill>
                <a:latin typeface="+mj-lt"/>
              </a:rPr>
              <a:t>Net salvage value – Old asset		</a:t>
            </a:r>
            <a:r>
              <a:rPr lang="en-US" sz="2400" u="sng" kern="1200" dirty="0">
                <a:solidFill>
                  <a:srgbClr val="C00000"/>
                </a:solidFill>
                <a:latin typeface="+mj-lt"/>
              </a:rPr>
              <a:t>R   400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Terminal cash flow				</a:t>
            </a:r>
            <a:r>
              <a:rPr lang="en-US" sz="2400" u="dbl" kern="1200" dirty="0">
                <a:latin typeface="+mj-lt"/>
              </a:rPr>
              <a:t>R2 460 </a:t>
            </a:r>
            <a:endParaRPr lang="en-US" sz="2400" kern="1200" dirty="0">
              <a:latin typeface="+mj-lt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endParaRPr lang="en-US" sz="2400" kern="1200" dirty="0">
              <a:latin typeface="+mj-lt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Net salvage value 		</a:t>
            </a:r>
            <a:r>
              <a:rPr lang="en-US" sz="2400" kern="1200" baseline="30000" dirty="0">
                <a:latin typeface="+mj-lt"/>
              </a:rPr>
              <a:t>1</a:t>
            </a:r>
            <a:r>
              <a:rPr lang="en-US" sz="2400" kern="1200" dirty="0">
                <a:latin typeface="+mj-lt"/>
              </a:rPr>
              <a:t>New asset	</a:t>
            </a:r>
            <a:r>
              <a:rPr lang="en-US" sz="2400" kern="1200" baseline="30000" dirty="0">
                <a:latin typeface="+mj-lt"/>
              </a:rPr>
              <a:t>2</a:t>
            </a:r>
            <a:r>
              <a:rPr lang="en-US" sz="2400" kern="1200" dirty="0">
                <a:latin typeface="+mj-lt"/>
              </a:rPr>
              <a:t>Old asset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</a:t>
            </a:r>
            <a:r>
              <a:rPr lang="en-US" sz="2400" kern="1200" dirty="0">
                <a:solidFill>
                  <a:srgbClr val="00B050"/>
                </a:solidFill>
                <a:latin typeface="+mj-lt"/>
              </a:rPr>
              <a:t>Selling price		R2 000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solidFill>
                  <a:srgbClr val="00B050"/>
                </a:solidFill>
                <a:latin typeface="+mj-lt"/>
              </a:rPr>
              <a:t>	Book value		</a:t>
            </a:r>
            <a:r>
              <a:rPr lang="en-US" sz="2400" u="sng" kern="1200" dirty="0">
                <a:solidFill>
                  <a:srgbClr val="00B050"/>
                </a:solidFill>
                <a:latin typeface="+mj-lt"/>
              </a:rPr>
              <a:t>R      0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solidFill>
                  <a:srgbClr val="00B050"/>
                </a:solidFill>
                <a:latin typeface="+mj-lt"/>
              </a:rPr>
              <a:t>	Gain			R2 000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solidFill>
                  <a:srgbClr val="00B050"/>
                </a:solidFill>
                <a:latin typeface="+mj-lt"/>
              </a:rPr>
              <a:t>	Tax (27%)		</a:t>
            </a:r>
            <a:r>
              <a:rPr lang="en-US" sz="2400" u="sng" kern="1200" dirty="0">
                <a:solidFill>
                  <a:srgbClr val="00B050"/>
                </a:solidFill>
                <a:latin typeface="+mj-lt"/>
              </a:rPr>
              <a:t>R   540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solidFill>
                  <a:srgbClr val="00B050"/>
                </a:solidFill>
                <a:latin typeface="+mj-lt"/>
              </a:rPr>
              <a:t>	Net salvage value	</a:t>
            </a:r>
            <a:r>
              <a:rPr lang="en-US" sz="2400" u="dbl" kern="1200" dirty="0">
                <a:solidFill>
                  <a:srgbClr val="00B050"/>
                </a:solidFill>
                <a:latin typeface="+mj-lt"/>
              </a:rPr>
              <a:t>R1 460</a:t>
            </a:r>
            <a:r>
              <a:rPr lang="en-US" sz="2400" kern="1200" dirty="0">
                <a:latin typeface="+mj-lt"/>
              </a:rPr>
              <a:t>	</a:t>
            </a:r>
            <a:r>
              <a:rPr lang="en-US" sz="2400" kern="1200" dirty="0">
                <a:solidFill>
                  <a:srgbClr val="C00000"/>
                </a:solidFill>
                <a:latin typeface="+mj-lt"/>
              </a:rPr>
              <a:t>R  400 (given)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88661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A864576-B426-D8BE-B76E-FE9CB758B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E01FE261-603F-FC48-C6FB-A53CBDD927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Expansion example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948108-E34A-8DC8-47E1-296881EA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28</a:t>
            </a:fld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1747450-8540-FA60-FBCB-9B4A25A97E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359355"/>
              </p:ext>
            </p:extLst>
          </p:nvPr>
        </p:nvGraphicFramePr>
        <p:xfrm>
          <a:off x="135600" y="1153510"/>
          <a:ext cx="8856000" cy="2974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1800">
                  <a:extLst>
                    <a:ext uri="{9D8B030D-6E8A-4147-A177-3AD203B41FA5}">
                      <a16:colId xmlns:a16="http://schemas.microsoft.com/office/drawing/2014/main" val="2357203915"/>
                    </a:ext>
                  </a:extLst>
                </a:gridCol>
                <a:gridCol w="1386840">
                  <a:extLst>
                    <a:ext uri="{9D8B030D-6E8A-4147-A177-3AD203B41FA5}">
                      <a16:colId xmlns:a16="http://schemas.microsoft.com/office/drawing/2014/main" val="4160137536"/>
                    </a:ext>
                  </a:extLst>
                </a:gridCol>
                <a:gridCol w="1386840">
                  <a:extLst>
                    <a:ext uri="{9D8B030D-6E8A-4147-A177-3AD203B41FA5}">
                      <a16:colId xmlns:a16="http://schemas.microsoft.com/office/drawing/2014/main" val="2582543509"/>
                    </a:ext>
                  </a:extLst>
                </a:gridCol>
                <a:gridCol w="1386840">
                  <a:extLst>
                    <a:ext uri="{9D8B030D-6E8A-4147-A177-3AD203B41FA5}">
                      <a16:colId xmlns:a16="http://schemas.microsoft.com/office/drawing/2014/main" val="525116273"/>
                    </a:ext>
                  </a:extLst>
                </a:gridCol>
                <a:gridCol w="1386840">
                  <a:extLst>
                    <a:ext uri="{9D8B030D-6E8A-4147-A177-3AD203B41FA5}">
                      <a16:colId xmlns:a16="http://schemas.microsoft.com/office/drawing/2014/main" val="1676312287"/>
                    </a:ext>
                  </a:extLst>
                </a:gridCol>
                <a:gridCol w="1386840">
                  <a:extLst>
                    <a:ext uri="{9D8B030D-6E8A-4147-A177-3AD203B41FA5}">
                      <a16:colId xmlns:a16="http://schemas.microsoft.com/office/drawing/2014/main" val="3241661407"/>
                    </a:ext>
                  </a:extLst>
                </a:gridCol>
              </a:tblGrid>
              <a:tr h="522890">
                <a:tc>
                  <a:txBody>
                    <a:bodyPr/>
                    <a:lstStyle/>
                    <a:p>
                      <a:endParaRPr lang="en-ZA" sz="20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Year 0</a:t>
                      </a:r>
                      <a:endParaRPr lang="en-ZA" sz="2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Year 1</a:t>
                      </a:r>
                      <a:endParaRPr lang="en-ZA" sz="2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Year 2</a:t>
                      </a:r>
                      <a:endParaRPr lang="en-ZA" sz="2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Year 3</a:t>
                      </a:r>
                      <a:endParaRPr lang="en-ZA" sz="2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Year 4</a:t>
                      </a:r>
                      <a:endParaRPr lang="en-ZA" sz="20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0730994"/>
                  </a:ext>
                </a:extLst>
              </a:tr>
              <a:tr h="992732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+mn-lt"/>
                        </a:rPr>
                        <a:t>Initial investment outlay</a:t>
                      </a:r>
                      <a:endParaRPr lang="en-ZA" sz="200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+mn-lt"/>
                        </a:rPr>
                        <a:t>-R11 400</a:t>
                      </a:r>
                      <a:endParaRPr lang="en-ZA" sz="2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ZA" sz="2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ZA" sz="20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ZA" sz="2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ZA" sz="20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2134856"/>
                  </a:ext>
                </a:extLst>
              </a:tr>
              <a:tr h="481812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+mn-lt"/>
                        </a:rPr>
                        <a:t>OCF</a:t>
                      </a:r>
                      <a:endParaRPr lang="en-ZA" sz="200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ZA" sz="2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+mn-lt"/>
                        </a:rPr>
                        <a:t>R2 960</a:t>
                      </a:r>
                      <a:endParaRPr lang="en-ZA" sz="2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ＭＳ Ｐゴシック"/>
                          <a:cs typeface="+mn-cs"/>
                        </a:rPr>
                        <a:t>R2 960</a:t>
                      </a:r>
                      <a:endParaRPr kumimoji="0" lang="en-ZA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ＭＳ Ｐゴシック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ＭＳ Ｐゴシック"/>
                          <a:cs typeface="+mn-cs"/>
                        </a:rPr>
                        <a:t>R2 960</a:t>
                      </a:r>
                      <a:endParaRPr kumimoji="0" lang="en-ZA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ＭＳ Ｐゴシック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ＭＳ Ｐゴシック"/>
                          <a:cs typeface="+mn-cs"/>
                        </a:rPr>
                        <a:t>R2 960</a:t>
                      </a:r>
                      <a:endParaRPr kumimoji="0" lang="en-ZA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ＭＳ Ｐゴシック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8382564"/>
                  </a:ext>
                </a:extLst>
              </a:tr>
              <a:tr h="481812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+mn-lt"/>
                        </a:rPr>
                        <a:t>Terminal CF</a:t>
                      </a:r>
                      <a:endParaRPr lang="en-ZA" sz="200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ZA" sz="2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ZA" sz="2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ZA" sz="2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ZA" sz="2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+mn-lt"/>
                        </a:rPr>
                        <a:t>R2 460</a:t>
                      </a:r>
                      <a:endParaRPr lang="en-ZA" sz="20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681207"/>
                  </a:ext>
                </a:extLst>
              </a:tr>
              <a:tr h="481812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+mn-lt"/>
                        </a:rPr>
                        <a:t>Total net CFs</a:t>
                      </a:r>
                      <a:endParaRPr lang="en-ZA" sz="200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+mn-lt"/>
                        </a:rPr>
                        <a:t>-R11 400</a:t>
                      </a:r>
                      <a:endParaRPr lang="en-ZA" sz="2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ＭＳ Ｐゴシック"/>
                          <a:cs typeface="+mn-cs"/>
                        </a:rPr>
                        <a:t>R2 960</a:t>
                      </a:r>
                      <a:endParaRPr kumimoji="0" lang="en-ZA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ＭＳ Ｐゴシック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ＭＳ Ｐゴシック"/>
                          <a:cs typeface="+mn-cs"/>
                        </a:rPr>
                        <a:t>R2 960</a:t>
                      </a:r>
                      <a:endParaRPr kumimoji="0" lang="en-ZA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ＭＳ Ｐゴシック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ＭＳ Ｐゴシック"/>
                          <a:cs typeface="+mn-cs"/>
                        </a:rPr>
                        <a:t>R2 960 </a:t>
                      </a:r>
                      <a:endParaRPr kumimoji="0" lang="en-ZA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ＭＳ Ｐゴシック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+mn-lt"/>
                        </a:rPr>
                        <a:t>R5 420</a:t>
                      </a:r>
                      <a:endParaRPr lang="en-ZA" sz="20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9511821"/>
                  </a:ext>
                </a:extLst>
              </a:tr>
            </a:tbl>
          </a:graphicData>
        </a:graphic>
      </p:graphicFrame>
      <p:sp>
        <p:nvSpPr>
          <p:cNvPr id="9" name="Rectangle 5">
            <a:extLst>
              <a:ext uri="{FF2B5EF4-FFF2-40B4-BE49-F238E27FC236}">
                <a16:creationId xmlns:a16="http://schemas.microsoft.com/office/drawing/2014/main" id="{73F4CA02-4685-3B7D-93C0-01AE9D78D1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4267200"/>
            <a:ext cx="8655424" cy="1970690"/>
          </a:xfrm>
        </p:spPr>
        <p:txBody>
          <a:bodyPr/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Calculate NPV and IRR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CF</a:t>
            </a:r>
            <a:r>
              <a:rPr lang="en-US" sz="2400" kern="1200" baseline="-25000" dirty="0">
                <a:latin typeface="+mj-lt"/>
              </a:rPr>
              <a:t>0</a:t>
            </a:r>
            <a:r>
              <a:rPr lang="en-US" sz="2400" kern="1200" dirty="0">
                <a:latin typeface="+mj-lt"/>
              </a:rPr>
              <a:t>	-R11 400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CF</a:t>
            </a:r>
            <a:r>
              <a:rPr lang="en-US" sz="2400" kern="1200" baseline="-25000" dirty="0">
                <a:latin typeface="+mj-lt"/>
              </a:rPr>
              <a:t>1-3</a:t>
            </a:r>
            <a:r>
              <a:rPr lang="en-US" sz="2400" kern="1200" dirty="0">
                <a:latin typeface="+mj-lt"/>
              </a:rPr>
              <a:t>	R2 960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CF</a:t>
            </a:r>
            <a:r>
              <a:rPr lang="en-US" sz="2400" kern="1200" baseline="-25000" dirty="0">
                <a:latin typeface="+mj-lt"/>
              </a:rPr>
              <a:t>4</a:t>
            </a:r>
            <a:r>
              <a:rPr lang="en-US" sz="2400" kern="1200" dirty="0">
                <a:latin typeface="+mj-lt"/>
              </a:rPr>
              <a:t>	R5 420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</a:t>
            </a:r>
            <a:r>
              <a:rPr lang="en-US" sz="2400" kern="1200" dirty="0" err="1">
                <a:latin typeface="+mj-lt"/>
              </a:rPr>
              <a:t>i</a:t>
            </a:r>
            <a:r>
              <a:rPr lang="en-US" sz="2400" kern="1200" dirty="0">
                <a:latin typeface="+mj-lt"/>
              </a:rPr>
              <a:t>	15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1200" dirty="0">
                <a:latin typeface="+mj-lt"/>
              </a:rPr>
              <a:t>	</a:t>
            </a:r>
            <a:r>
              <a:rPr lang="en-US" sz="2400" b="1" kern="1200" dirty="0">
                <a:solidFill>
                  <a:srgbClr val="C00000"/>
                </a:solidFill>
                <a:latin typeface="+mj-lt"/>
              </a:rPr>
              <a:t>NPV	-R1 542.75		IRR	8.75% (&lt;15%)</a:t>
            </a:r>
            <a:r>
              <a:rPr lang="en-US" sz="2400" kern="1200" dirty="0">
                <a:latin typeface="+mj-lt"/>
              </a:rPr>
              <a:t>	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endParaRPr lang="en-US" sz="2400" kern="1200" dirty="0">
              <a:latin typeface="+mj-lt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endParaRPr lang="en-US" sz="2400" kern="1200" dirty="0"/>
          </a:p>
        </p:txBody>
      </p:sp>
      <p:sp>
        <p:nvSpPr>
          <p:cNvPr id="10" name="Explosion: 8 Points 9">
            <a:extLst>
              <a:ext uri="{FF2B5EF4-FFF2-40B4-BE49-F238E27FC236}">
                <a16:creationId xmlns:a16="http://schemas.microsoft.com/office/drawing/2014/main" id="{10A6C1A7-8147-7F49-9599-D3C91ED87025}"/>
              </a:ext>
            </a:extLst>
          </p:cNvPr>
          <p:cNvSpPr/>
          <p:nvPr/>
        </p:nvSpPr>
        <p:spPr bwMode="auto">
          <a:xfrm>
            <a:off x="5410200" y="4267200"/>
            <a:ext cx="2362200" cy="1970690"/>
          </a:xfrm>
          <a:prstGeom prst="irregularSeal1">
            <a:avLst/>
          </a:prstGeom>
          <a:solidFill>
            <a:srgbClr val="C000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4800" dirty="0">
                <a:ln w="0"/>
                <a:solidFill>
                  <a:schemeClr val="bg1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ＭＳ Ｐゴシック" pitchFamily="1" charset="-128"/>
              </a:rPr>
              <a:t>NO</a:t>
            </a:r>
            <a:endParaRPr kumimoji="0" lang="en-ZA" sz="4800" i="0" u="none" strike="noStrike" normalizeH="0" baseline="0" dirty="0">
              <a:ln w="0"/>
              <a:solidFill>
                <a:schemeClr val="bg1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charset="0"/>
              <a:ea typeface="ＭＳ Ｐゴシック" pitchFamily="1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05931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F821DC-48D2-104C-8B58-C959D857C485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7" name="Rectangle 4"/>
          <p:cNvSpPr txBox="1">
            <a:spLocks noChangeArrowheads="1"/>
          </p:cNvSpPr>
          <p:nvPr/>
        </p:nvSpPr>
        <p:spPr bwMode="auto">
          <a:xfrm>
            <a:off x="228600" y="0"/>
            <a:ext cx="8677701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2"/>
                </a:solidFill>
              </a:rPr>
              <a:t>Preparation for next session</a:t>
            </a:r>
          </a:p>
        </p:txBody>
      </p:sp>
      <p:sp>
        <p:nvSpPr>
          <p:cNvPr id="19" name="Rectangle 7"/>
          <p:cNvSpPr txBox="1">
            <a:spLocks noChangeArrowheads="1"/>
          </p:cNvSpPr>
          <p:nvPr/>
        </p:nvSpPr>
        <p:spPr>
          <a:xfrm>
            <a:off x="304799" y="1066800"/>
            <a:ext cx="8601501" cy="5562600"/>
          </a:xfrm>
          <a:prstGeom prst="rect">
            <a:avLst/>
          </a:prstGeom>
          <a:noFill/>
        </p:spPr>
        <p:txBody>
          <a:bodyPr/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ＭＳ Ｐゴシック" charset="-128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 2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Work through Chapter 12</a:t>
            </a:r>
          </a:p>
          <a:p>
            <a:pPr marL="682625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Questions in study guide</a:t>
            </a:r>
          </a:p>
          <a:p>
            <a:pPr marL="682625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Problems at the end of the chapter relating to the content already covered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Wingdings" charset="2"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Read through Chapter 13</a:t>
            </a:r>
            <a:r>
              <a:rPr lang="en-US" sz="2800" kern="0" dirty="0">
                <a:solidFill>
                  <a:prstClr val="black"/>
                </a:solidFill>
                <a:latin typeface="Tahoma"/>
                <a:ea typeface="ＭＳ Ｐゴシック"/>
              </a:rPr>
              <a:t> and download/print the slides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lang="en-US" sz="28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sz="2800" kern="0" dirty="0">
                <a:solidFill>
                  <a:srgbClr val="C00000"/>
                </a:solidFill>
                <a:latin typeface="Tahoma"/>
                <a:ea typeface="ＭＳ Ｐゴシック"/>
              </a:rPr>
              <a:t>Individual tutorial B opened 13 April and closes 20 April @ 20:00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Wingdings" charset="2"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Wingdings" charset="2"/>
              <a:buNone/>
              <a:tabLst/>
              <a:defRPr/>
            </a:pP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9646244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heme/theme1.xml><?xml version="1.0" encoding="utf-8"?>
<a:theme xmlns:a="http://schemas.openxmlformats.org/drawingml/2006/main" name="Blank Presentation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277CA4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lank Presentation">
      <a:majorFont>
        <a:latin typeface="Tahoma"/>
        <a:ea typeface="ＭＳ Ｐゴシック"/>
        <a:cs typeface=""/>
      </a:majorFont>
      <a:minorFont>
        <a:latin typeface="Tahom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Blank Presentation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277CA4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lank Presentation">
      <a:majorFont>
        <a:latin typeface="Tahoma"/>
        <a:ea typeface="ＭＳ Ｐゴシック"/>
        <a:cs typeface=""/>
      </a:majorFont>
      <a:minorFont>
        <a:latin typeface="Tahom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9821</TotalTime>
  <Words>2195</Words>
  <Application>Microsoft Office PowerPoint</Application>
  <PresentationFormat>On-screen Show (4:3)</PresentationFormat>
  <Paragraphs>355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ＭＳ Ｐゴシック</vt:lpstr>
      <vt:lpstr>Arial</vt:lpstr>
      <vt:lpstr>Symbol</vt:lpstr>
      <vt:lpstr>Tahoma</vt:lpstr>
      <vt:lpstr>Times</vt:lpstr>
      <vt:lpstr>Wingdings</vt:lpstr>
      <vt:lpstr>Wingdings 2</vt:lpstr>
      <vt:lpstr>Blank Presentation</vt:lpstr>
      <vt:lpstr>1_Blank Presentation</vt:lpstr>
      <vt:lpstr>PowerPoint Presentation</vt:lpstr>
      <vt:lpstr>Learning outcomes: Chapter 12</vt:lpstr>
      <vt:lpstr>Introduction</vt:lpstr>
      <vt:lpstr>Capital expenditure motives</vt:lpstr>
      <vt:lpstr>Capital expenditure motives</vt:lpstr>
      <vt:lpstr>The capital budgeting process</vt:lpstr>
      <vt:lpstr>Project types</vt:lpstr>
      <vt:lpstr>Cash flow types</vt:lpstr>
      <vt:lpstr>Relevant cash flows</vt:lpstr>
      <vt:lpstr>Relevant cash flows (cont.)</vt:lpstr>
      <vt:lpstr>Relevant cash flows (cont.)</vt:lpstr>
      <vt:lpstr>Calculating the initial investment</vt:lpstr>
      <vt:lpstr>Calculating the initial investment</vt:lpstr>
      <vt:lpstr>Calculating the initial investment</vt:lpstr>
      <vt:lpstr>Operating cash flow</vt:lpstr>
      <vt:lpstr>Terminal cash flow</vt:lpstr>
      <vt:lpstr>Expansion example</vt:lpstr>
      <vt:lpstr>Expansion example (cont.)</vt:lpstr>
      <vt:lpstr>Expansion example (cont.)</vt:lpstr>
      <vt:lpstr>Expansion example (cont.)</vt:lpstr>
      <vt:lpstr>Expansion example (cont.)</vt:lpstr>
      <vt:lpstr>Expansion example (cont.)</vt:lpstr>
      <vt:lpstr>Replacement example</vt:lpstr>
      <vt:lpstr>Replacement example (cont.)</vt:lpstr>
      <vt:lpstr>Replacement example (cont.)</vt:lpstr>
      <vt:lpstr>Expansion example (cont.)</vt:lpstr>
      <vt:lpstr>Expansion example (cont.)</vt:lpstr>
      <vt:lpstr>Expansion example (cont.)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Essentials of Finance</dc:title>
  <dc:creator>Susan Cook</dc:creator>
  <cp:lastModifiedBy>Reviewer</cp:lastModifiedBy>
  <cp:revision>1078</cp:revision>
  <cp:lastPrinted>2024-03-18T10:00:35Z</cp:lastPrinted>
  <dcterms:created xsi:type="dcterms:W3CDTF">2010-03-21T13:43:06Z</dcterms:created>
  <dcterms:modified xsi:type="dcterms:W3CDTF">2026-03-27T08:59:31Z</dcterms:modified>
</cp:coreProperties>
</file>