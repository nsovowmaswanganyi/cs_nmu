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tags/tag11.xml" ContentType="application/vnd.openxmlformats-officedocument.presentationml.tags+xml"/>
  <Override PartName="/ppt/notesSlides/notesSlide13.xml" ContentType="application/vnd.openxmlformats-officedocument.presentationml.notesSlide+xml"/>
  <Override PartName="/ppt/tags/tag12.xml" ContentType="application/vnd.openxmlformats-officedocument.presentationml.tags+xml"/>
  <Override PartName="/ppt/notesSlides/notesSlide14.xml" ContentType="application/vnd.openxmlformats-officedocument.presentationml.notesSlide+xml"/>
  <Override PartName="/ppt/tags/tag13.xml" ContentType="application/vnd.openxmlformats-officedocument.presentationml.tags+xml"/>
  <Override PartName="/ppt/notesSlides/notesSlide15.xml" ContentType="application/vnd.openxmlformats-officedocument.presentationml.notesSlide+xml"/>
  <Override PartName="/ppt/tags/tag14.xml" ContentType="application/vnd.openxmlformats-officedocument.presentationml.tags+xml"/>
  <Override PartName="/ppt/notesSlides/notesSlide16.xml" ContentType="application/vnd.openxmlformats-officedocument.presentationml.notesSlide+xml"/>
  <Override PartName="/ppt/tags/tag15.xml" ContentType="application/vnd.openxmlformats-officedocument.presentationml.tags+xml"/>
  <Override PartName="/ppt/notesSlides/notesSlide17.xml" ContentType="application/vnd.openxmlformats-officedocument.presentationml.notesSlide+xml"/>
  <Override PartName="/ppt/tags/tag16.xml" ContentType="application/vnd.openxmlformats-officedocument.presentationml.tags+xml"/>
  <Override PartName="/ppt/notesSlides/notesSlide18.xml" ContentType="application/vnd.openxmlformats-officedocument.presentationml.notesSlide+xml"/>
  <Override PartName="/ppt/tags/tag17.xml" ContentType="application/vnd.openxmlformats-officedocument.presentationml.tags+xml"/>
  <Override PartName="/ppt/notesSlides/notesSlide19.xml" ContentType="application/vnd.openxmlformats-officedocument.presentationml.notesSlide+xml"/>
  <Override PartName="/ppt/tags/tag18.xml" ContentType="application/vnd.openxmlformats-officedocument.presentationml.tags+xml"/>
  <Override PartName="/ppt/notesSlides/notesSlide20.xml" ContentType="application/vnd.openxmlformats-officedocument.presentationml.notesSlide+xml"/>
  <Override PartName="/ppt/tags/tag19.xml" ContentType="application/vnd.openxmlformats-officedocument.presentationml.tags+xml"/>
  <Override PartName="/ppt/notesSlides/notesSlide21.xml" ContentType="application/vnd.openxmlformats-officedocument.presentationml.notesSlide+xml"/>
  <Override PartName="/ppt/tags/tag20.xml" ContentType="application/vnd.openxmlformats-officedocument.presentationml.tags+xml"/>
  <Override PartName="/ppt/notesSlides/notesSlide22.xml" ContentType="application/vnd.openxmlformats-officedocument.presentationml.notesSlide+xml"/>
  <Override PartName="/ppt/tags/tag21.xml" ContentType="application/vnd.openxmlformats-officedocument.presentationml.tags+xml"/>
  <Override PartName="/ppt/notesSlides/notesSlide23.xml" ContentType="application/vnd.openxmlformats-officedocument.presentationml.notesSlide+xml"/>
  <Override PartName="/ppt/tags/tag22.xml" ContentType="application/vnd.openxmlformats-officedocument.presentationml.tags+xml"/>
  <Override PartName="/ppt/notesSlides/notesSlide24.xml" ContentType="application/vnd.openxmlformats-officedocument.presentationml.notesSlide+xml"/>
  <Override PartName="/ppt/tags/tag23.xml" ContentType="application/vnd.openxmlformats-officedocument.presentationml.tags+xml"/>
  <Override PartName="/ppt/notesSlides/notesSlide25.xml" ContentType="application/vnd.openxmlformats-officedocument.presentationml.notesSlide+xml"/>
  <Override PartName="/ppt/tags/tag24.xml" ContentType="application/vnd.openxmlformats-officedocument.presentationml.tags+xml"/>
  <Override PartName="/ppt/notesSlides/notesSlide26.xml" ContentType="application/vnd.openxmlformats-officedocument.presentationml.notesSlide+xml"/>
  <Override PartName="/ppt/tags/tag25.xml" ContentType="application/vnd.openxmlformats-officedocument.presentationml.tags+xml"/>
  <Override PartName="/ppt/notesSlides/notesSlide27.xml" ContentType="application/vnd.openxmlformats-officedocument.presentationml.notesSlide+xml"/>
  <Override PartName="/ppt/tags/tag26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3">
  <p:sldMasterIdLst>
    <p:sldMasterId id="2147483648" r:id="rId1"/>
    <p:sldMasterId id="2147483664" r:id="rId2"/>
  </p:sldMasterIdLst>
  <p:notesMasterIdLst>
    <p:notesMasterId r:id="rId32"/>
  </p:notesMasterIdLst>
  <p:handoutMasterIdLst>
    <p:handoutMasterId r:id="rId33"/>
  </p:handoutMasterIdLst>
  <p:sldIdLst>
    <p:sldId id="283" r:id="rId3"/>
    <p:sldId id="329" r:id="rId4"/>
    <p:sldId id="291" r:id="rId5"/>
    <p:sldId id="564" r:id="rId6"/>
    <p:sldId id="259" r:id="rId7"/>
    <p:sldId id="576" r:id="rId8"/>
    <p:sldId id="565" r:id="rId9"/>
    <p:sldId id="566" r:id="rId10"/>
    <p:sldId id="567" r:id="rId11"/>
    <p:sldId id="367" r:id="rId12"/>
    <p:sldId id="542" r:id="rId13"/>
    <p:sldId id="568" r:id="rId14"/>
    <p:sldId id="498" r:id="rId15"/>
    <p:sldId id="544" r:id="rId16"/>
    <p:sldId id="569" r:id="rId17"/>
    <p:sldId id="570" r:id="rId18"/>
    <p:sldId id="545" r:id="rId19"/>
    <p:sldId id="546" r:id="rId20"/>
    <p:sldId id="571" r:id="rId21"/>
    <p:sldId id="572" r:id="rId22"/>
    <p:sldId id="499" r:id="rId23"/>
    <p:sldId id="520" r:id="rId24"/>
    <p:sldId id="573" r:id="rId25"/>
    <p:sldId id="550" r:id="rId26"/>
    <p:sldId id="552" r:id="rId27"/>
    <p:sldId id="574" r:id="rId28"/>
    <p:sldId id="575" r:id="rId29"/>
    <p:sldId id="551" r:id="rId30"/>
    <p:sldId id="335" r:id="rId31"/>
  </p:sldIdLst>
  <p:sldSz cx="9144000" cy="6858000" type="screen4x3"/>
  <p:notesSz cx="6858000" cy="9945688"/>
  <p:custDataLst>
    <p:tags r:id="rId3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 Plessis, Darius" initials="dPD" lastIdx="2" clrIdx="0"/>
  <p:cmAuthor id="2" name="Wepener van der Walt" initials="WvdW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33CCCC"/>
    <a:srgbClr val="FF00FF"/>
    <a:srgbClr val="990000"/>
    <a:srgbClr val="3BFF9D"/>
    <a:srgbClr val="FFFFCC"/>
    <a:srgbClr val="FFFF66"/>
    <a:srgbClr val="D63A17"/>
    <a:srgbClr val="ADB3BF"/>
    <a:srgbClr val="D692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18" autoAdjust="0"/>
  </p:normalViewPr>
  <p:slideViewPr>
    <p:cSldViewPr showGuides="1">
      <p:cViewPr varScale="1">
        <p:scale>
          <a:sx n="77" d="100"/>
          <a:sy n="77" d="100"/>
        </p:scale>
        <p:origin x="161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commentAuthors" Target="comment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69FCCD-A5A9-405F-A37F-E0817D96BE54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ZA"/>
        </a:p>
      </dgm:t>
    </dgm:pt>
    <dgm:pt modelId="{9343939D-B314-4586-97A0-A25D4965DEE1}">
      <dgm:prSet phldrT="[Text]" custT="1"/>
      <dgm:spPr/>
      <dgm:t>
        <a:bodyPr/>
        <a:lstStyle/>
        <a:p>
          <a:r>
            <a:rPr lang="en-ZA" sz="1700" dirty="0">
              <a:latin typeface="+mn-lt"/>
            </a:rPr>
            <a:t>The essence of Financial Management</a:t>
          </a:r>
        </a:p>
      </dgm:t>
    </dgm:pt>
    <dgm:pt modelId="{A09FA15D-74AE-4AEF-AF70-CA8E5646156B}" type="parTrans" cxnId="{ABB6010D-2EBF-44F3-8023-C836ADDC4831}">
      <dgm:prSet/>
      <dgm:spPr/>
      <dgm:t>
        <a:bodyPr/>
        <a:lstStyle/>
        <a:p>
          <a:endParaRPr lang="en-ZA"/>
        </a:p>
      </dgm:t>
    </dgm:pt>
    <dgm:pt modelId="{A291BF83-16A6-4C72-92D3-342EBD62A194}" type="sibTrans" cxnId="{ABB6010D-2EBF-44F3-8023-C836ADDC4831}">
      <dgm:prSet/>
      <dgm:spPr/>
      <dgm:t>
        <a:bodyPr/>
        <a:lstStyle/>
        <a:p>
          <a:endParaRPr lang="en-ZA"/>
        </a:p>
      </dgm:t>
    </dgm:pt>
    <dgm:pt modelId="{21129AC8-B95D-4BFF-9702-6BD9592C8CF9}">
      <dgm:prSet phldrT="[Text]" custT="1"/>
      <dgm:spPr>
        <a:ln>
          <a:solidFill>
            <a:srgbClr val="C00000"/>
          </a:solidFill>
        </a:ln>
      </dgm:spPr>
      <dgm:t>
        <a:bodyPr/>
        <a:lstStyle/>
        <a:p>
          <a:r>
            <a:rPr lang="en-ZA" sz="1700" dirty="0"/>
            <a:t>Financing</a:t>
          </a:r>
          <a:r>
            <a:rPr lang="en-ZA" sz="1600" dirty="0"/>
            <a:t> </a:t>
          </a:r>
          <a:r>
            <a:rPr lang="en-ZA" sz="1700" dirty="0"/>
            <a:t>decisions</a:t>
          </a:r>
        </a:p>
      </dgm:t>
    </dgm:pt>
    <dgm:pt modelId="{70546C4B-EBEF-4E34-85BB-A72FA077EB90}" type="parTrans" cxnId="{D761F278-4C38-48ED-BDBE-EBDFA9389C3E}">
      <dgm:prSet/>
      <dgm:spPr/>
      <dgm:t>
        <a:bodyPr/>
        <a:lstStyle/>
        <a:p>
          <a:endParaRPr lang="en-ZA"/>
        </a:p>
      </dgm:t>
    </dgm:pt>
    <dgm:pt modelId="{83887F0A-C6FE-4A65-80A4-84A12F14AD0A}" type="sibTrans" cxnId="{D761F278-4C38-48ED-BDBE-EBDFA9389C3E}">
      <dgm:prSet/>
      <dgm:spPr/>
      <dgm:t>
        <a:bodyPr/>
        <a:lstStyle/>
        <a:p>
          <a:endParaRPr lang="en-ZA"/>
        </a:p>
      </dgm:t>
    </dgm:pt>
    <dgm:pt modelId="{E45E8000-FD03-498D-B215-89227AB0D8AF}">
      <dgm:prSet phldrT="[Text]" custT="1"/>
      <dgm:spPr/>
      <dgm:t>
        <a:bodyPr/>
        <a:lstStyle/>
        <a:p>
          <a:r>
            <a:rPr lang="en-ZA" sz="1700" dirty="0"/>
            <a:t>Cost of capital decisions (</a:t>
          </a:r>
          <a:r>
            <a:rPr lang="en-ZA" sz="1700" dirty="0" err="1"/>
            <a:t>WACC</a:t>
          </a:r>
          <a:r>
            <a:rPr lang="en-ZA" sz="1700" dirty="0"/>
            <a:t>)</a:t>
          </a:r>
        </a:p>
      </dgm:t>
    </dgm:pt>
    <dgm:pt modelId="{68170E72-9AF0-405B-BC0C-DCC1B48A4204}" type="parTrans" cxnId="{89D4BAC5-CCBF-43A3-A3BF-855BE27E2E67}">
      <dgm:prSet/>
      <dgm:spPr/>
      <dgm:t>
        <a:bodyPr/>
        <a:lstStyle/>
        <a:p>
          <a:endParaRPr lang="en-ZA"/>
        </a:p>
      </dgm:t>
    </dgm:pt>
    <dgm:pt modelId="{E0D0177A-DE72-4E75-A527-F44BCC37EE57}" type="sibTrans" cxnId="{89D4BAC5-CCBF-43A3-A3BF-855BE27E2E67}">
      <dgm:prSet/>
      <dgm:spPr/>
      <dgm:t>
        <a:bodyPr/>
        <a:lstStyle/>
        <a:p>
          <a:endParaRPr lang="en-ZA"/>
        </a:p>
      </dgm:t>
    </dgm:pt>
    <dgm:pt modelId="{FF7078B9-E0C0-47FA-9900-E075B329DD98}">
      <dgm:prSet phldrT="[Text]" custT="1"/>
      <dgm:spPr>
        <a:ln>
          <a:solidFill>
            <a:srgbClr val="009900"/>
          </a:solidFill>
        </a:ln>
      </dgm:spPr>
      <dgm:t>
        <a:bodyPr/>
        <a:lstStyle/>
        <a:p>
          <a:r>
            <a:rPr lang="en-ZA" sz="1700" b="0" dirty="0"/>
            <a:t>Cost structure  decisions (debt </a:t>
          </a:r>
          <a:r>
            <a:rPr lang="en-ZA" sz="1700" b="0" dirty="0" err="1"/>
            <a:t>vs</a:t>
          </a:r>
          <a:r>
            <a:rPr lang="en-ZA" sz="1700" b="0" dirty="0"/>
            <a:t> equity)</a:t>
          </a:r>
        </a:p>
      </dgm:t>
    </dgm:pt>
    <dgm:pt modelId="{F6F7E6FF-E62F-40AB-9CE7-54D6D20C65FD}" type="parTrans" cxnId="{DEBEBF14-EE00-4C78-A827-422469D17CCF}">
      <dgm:prSet/>
      <dgm:spPr/>
      <dgm:t>
        <a:bodyPr/>
        <a:lstStyle/>
        <a:p>
          <a:endParaRPr lang="en-ZA"/>
        </a:p>
      </dgm:t>
    </dgm:pt>
    <dgm:pt modelId="{46404101-D87F-4F8D-9E6D-7E9DFD63F497}" type="sibTrans" cxnId="{DEBEBF14-EE00-4C78-A827-422469D17CCF}">
      <dgm:prSet/>
      <dgm:spPr/>
      <dgm:t>
        <a:bodyPr/>
        <a:lstStyle/>
        <a:p>
          <a:endParaRPr lang="en-ZA"/>
        </a:p>
      </dgm:t>
    </dgm:pt>
    <dgm:pt modelId="{60FDA3BC-8620-482E-89D3-D481EDE60DCC}">
      <dgm:prSet phldrT="[Text]" custT="1"/>
      <dgm:spPr/>
      <dgm:t>
        <a:bodyPr/>
        <a:lstStyle/>
        <a:p>
          <a:r>
            <a:rPr lang="en-ZA" sz="1700" dirty="0">
              <a:latin typeface="+mn-lt"/>
            </a:rPr>
            <a:t>Investment decisions</a:t>
          </a:r>
        </a:p>
      </dgm:t>
    </dgm:pt>
    <dgm:pt modelId="{C057F0BC-C1FB-43F3-8817-D480568FBE0B}" type="parTrans" cxnId="{0AA9FE7C-DC85-4FCE-BF2C-7B7B6A1A566C}">
      <dgm:prSet/>
      <dgm:spPr/>
      <dgm:t>
        <a:bodyPr/>
        <a:lstStyle/>
        <a:p>
          <a:endParaRPr lang="en-ZA"/>
        </a:p>
      </dgm:t>
    </dgm:pt>
    <dgm:pt modelId="{0409FFDD-45AB-444F-8AF1-FFFC2FC5C499}" type="sibTrans" cxnId="{0AA9FE7C-DC85-4FCE-BF2C-7B7B6A1A566C}">
      <dgm:prSet/>
      <dgm:spPr/>
      <dgm:t>
        <a:bodyPr/>
        <a:lstStyle/>
        <a:p>
          <a:endParaRPr lang="en-ZA"/>
        </a:p>
      </dgm:t>
    </dgm:pt>
    <dgm:pt modelId="{79891717-BD57-4233-BFD2-632D78CE2D85}">
      <dgm:prSet phldrT="[Text]" custT="1"/>
      <dgm:spPr/>
      <dgm:t>
        <a:bodyPr/>
        <a:lstStyle/>
        <a:p>
          <a:r>
            <a:rPr lang="en-ZA" sz="1700" dirty="0">
              <a:latin typeface="+mn-lt"/>
            </a:rPr>
            <a:t>LT investment decisions (capital budgeting)</a:t>
          </a:r>
        </a:p>
      </dgm:t>
    </dgm:pt>
    <dgm:pt modelId="{DB07C0D5-C519-413E-AC95-C7FCEC5FCA79}" type="parTrans" cxnId="{467E98E1-5C49-4C1B-9BB0-0A5086AF5BF1}">
      <dgm:prSet/>
      <dgm:spPr/>
      <dgm:t>
        <a:bodyPr/>
        <a:lstStyle/>
        <a:p>
          <a:endParaRPr lang="en-ZA"/>
        </a:p>
      </dgm:t>
    </dgm:pt>
    <dgm:pt modelId="{97D8B88B-134E-42F9-93A3-FD02D85B324A}" type="sibTrans" cxnId="{467E98E1-5C49-4C1B-9BB0-0A5086AF5BF1}">
      <dgm:prSet/>
      <dgm:spPr/>
      <dgm:t>
        <a:bodyPr/>
        <a:lstStyle/>
        <a:p>
          <a:endParaRPr lang="en-ZA"/>
        </a:p>
      </dgm:t>
    </dgm:pt>
    <dgm:pt modelId="{FE5B2923-D0BE-4C78-8E75-AC49BAB5A3D1}">
      <dgm:prSet custT="1"/>
      <dgm:spPr/>
      <dgm:t>
        <a:bodyPr/>
        <a:lstStyle/>
        <a:p>
          <a:r>
            <a:rPr lang="en-ZA" sz="1700" dirty="0">
              <a:latin typeface="+mn-lt"/>
            </a:rPr>
            <a:t>Dividend decisions</a:t>
          </a:r>
        </a:p>
      </dgm:t>
    </dgm:pt>
    <dgm:pt modelId="{E71FA32B-9179-4E28-9C4B-0FEB44C3F469}" type="parTrans" cxnId="{255AFB89-D4BC-4B84-B00B-528B5FE84EF0}">
      <dgm:prSet/>
      <dgm:spPr/>
      <dgm:t>
        <a:bodyPr/>
        <a:lstStyle/>
        <a:p>
          <a:endParaRPr lang="en-ZA"/>
        </a:p>
      </dgm:t>
    </dgm:pt>
    <dgm:pt modelId="{C039C0B1-18F2-4D37-AFF5-CAB05B0089D4}" type="sibTrans" cxnId="{255AFB89-D4BC-4B84-B00B-528B5FE84EF0}">
      <dgm:prSet/>
      <dgm:spPr/>
      <dgm:t>
        <a:bodyPr/>
        <a:lstStyle/>
        <a:p>
          <a:endParaRPr lang="en-ZA"/>
        </a:p>
      </dgm:t>
    </dgm:pt>
    <dgm:pt modelId="{5E545094-2FB9-4442-A457-6D6721C77BBA}">
      <dgm:prSet custT="1"/>
      <dgm:spPr/>
      <dgm:t>
        <a:bodyPr/>
        <a:lstStyle/>
        <a:p>
          <a:r>
            <a:rPr lang="en-ZA" sz="1700" dirty="0">
              <a:latin typeface="+mn-lt"/>
            </a:rPr>
            <a:t>ST investment decisions (working capital)</a:t>
          </a:r>
        </a:p>
      </dgm:t>
    </dgm:pt>
    <dgm:pt modelId="{157FA66E-8CB6-4A55-A8A0-C456E89E4F02}" type="parTrans" cxnId="{D02F0FA2-B8E3-41DB-8CF8-43B72E76B9A5}">
      <dgm:prSet/>
      <dgm:spPr/>
      <dgm:t>
        <a:bodyPr/>
        <a:lstStyle/>
        <a:p>
          <a:endParaRPr lang="en-ZA"/>
        </a:p>
      </dgm:t>
    </dgm:pt>
    <dgm:pt modelId="{1ACE9F24-6DFF-40A1-B192-50426659851A}" type="sibTrans" cxnId="{D02F0FA2-B8E3-41DB-8CF8-43B72E76B9A5}">
      <dgm:prSet/>
      <dgm:spPr/>
      <dgm:t>
        <a:bodyPr/>
        <a:lstStyle/>
        <a:p>
          <a:endParaRPr lang="en-ZA"/>
        </a:p>
      </dgm:t>
    </dgm:pt>
    <dgm:pt modelId="{3519EE62-A9C8-4FC0-8FF4-5CFA6F9166A3}" type="pres">
      <dgm:prSet presAssocID="{FF69FCCD-A5A9-405F-A37F-E0817D96BE5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9818386-76DA-433B-B2E6-1445C250760A}" type="pres">
      <dgm:prSet presAssocID="{9343939D-B314-4586-97A0-A25D4965DEE1}" presName="hierRoot1" presStyleCnt="0"/>
      <dgm:spPr/>
    </dgm:pt>
    <dgm:pt modelId="{CF86D520-EB2D-4063-BC9E-F9ED46493B32}" type="pres">
      <dgm:prSet presAssocID="{9343939D-B314-4586-97A0-A25D4965DEE1}" presName="composite" presStyleCnt="0"/>
      <dgm:spPr/>
    </dgm:pt>
    <dgm:pt modelId="{D6623886-1B90-466E-A9DC-DD34C0A3070A}" type="pres">
      <dgm:prSet presAssocID="{9343939D-B314-4586-97A0-A25D4965DEE1}" presName="background" presStyleLbl="node0" presStyleIdx="0" presStyleCnt="1"/>
      <dgm:spPr/>
    </dgm:pt>
    <dgm:pt modelId="{BC87B6CC-C3D4-4772-8E21-00106F3856C9}" type="pres">
      <dgm:prSet presAssocID="{9343939D-B314-4586-97A0-A25D4965DEE1}" presName="text" presStyleLbl="fgAcc0" presStyleIdx="0" presStyleCnt="1" custLinFactNeighborX="-6165" custLinFactNeighborY="-44106">
        <dgm:presLayoutVars>
          <dgm:chPref val="3"/>
        </dgm:presLayoutVars>
      </dgm:prSet>
      <dgm:spPr/>
    </dgm:pt>
    <dgm:pt modelId="{09E1F1AB-E724-44F5-980C-B478564D0DD4}" type="pres">
      <dgm:prSet presAssocID="{9343939D-B314-4586-97A0-A25D4965DEE1}" presName="hierChild2" presStyleCnt="0"/>
      <dgm:spPr/>
    </dgm:pt>
    <dgm:pt modelId="{C8C900D7-1F16-4BE5-B4F2-AEAF1AB72274}" type="pres">
      <dgm:prSet presAssocID="{70546C4B-EBEF-4E34-85BB-A72FA077EB90}" presName="Name10" presStyleLbl="parChTrans1D2" presStyleIdx="0" presStyleCnt="3"/>
      <dgm:spPr/>
    </dgm:pt>
    <dgm:pt modelId="{C8DAB8D5-9645-4152-835F-1FB1B346AEE9}" type="pres">
      <dgm:prSet presAssocID="{21129AC8-B95D-4BFF-9702-6BD9592C8CF9}" presName="hierRoot2" presStyleCnt="0"/>
      <dgm:spPr/>
    </dgm:pt>
    <dgm:pt modelId="{149C86D2-94BE-4DF5-9D49-19D5E17CFEED}" type="pres">
      <dgm:prSet presAssocID="{21129AC8-B95D-4BFF-9702-6BD9592C8CF9}" presName="composite2" presStyleCnt="0"/>
      <dgm:spPr/>
    </dgm:pt>
    <dgm:pt modelId="{1191923E-512B-4B58-B3B8-6D2606E769AE}" type="pres">
      <dgm:prSet presAssocID="{21129AC8-B95D-4BFF-9702-6BD9592C8CF9}" presName="background2" presStyleLbl="node2" presStyleIdx="0" presStyleCnt="3"/>
      <dgm:spPr>
        <a:solidFill>
          <a:srgbClr val="C00000"/>
        </a:solidFill>
        <a:ln>
          <a:solidFill>
            <a:srgbClr val="C00000"/>
          </a:solidFill>
        </a:ln>
      </dgm:spPr>
    </dgm:pt>
    <dgm:pt modelId="{09A72813-0117-445D-81D2-733E9B7E09DB}" type="pres">
      <dgm:prSet presAssocID="{21129AC8-B95D-4BFF-9702-6BD9592C8CF9}" presName="text2" presStyleLbl="fgAcc2" presStyleIdx="0" presStyleCnt="3" custLinFactNeighborX="-5546" custLinFactNeighborY="-21474">
        <dgm:presLayoutVars>
          <dgm:chPref val="3"/>
        </dgm:presLayoutVars>
      </dgm:prSet>
      <dgm:spPr/>
    </dgm:pt>
    <dgm:pt modelId="{3A07373E-818A-4897-904C-13E47204A3E8}" type="pres">
      <dgm:prSet presAssocID="{21129AC8-B95D-4BFF-9702-6BD9592C8CF9}" presName="hierChild3" presStyleCnt="0"/>
      <dgm:spPr/>
    </dgm:pt>
    <dgm:pt modelId="{C3DB1031-AC36-434A-A176-9C2F7D82E7D8}" type="pres">
      <dgm:prSet presAssocID="{68170E72-9AF0-405B-BC0C-DCC1B48A4204}" presName="Name17" presStyleLbl="parChTrans1D3" presStyleIdx="0" presStyleCnt="4"/>
      <dgm:spPr/>
    </dgm:pt>
    <dgm:pt modelId="{8263BF5E-8D3B-45F5-B6B7-C15C06B321BA}" type="pres">
      <dgm:prSet presAssocID="{E45E8000-FD03-498D-B215-89227AB0D8AF}" presName="hierRoot3" presStyleCnt="0"/>
      <dgm:spPr/>
    </dgm:pt>
    <dgm:pt modelId="{C5A8988E-DA8A-4E05-8655-BDB1BAECF145}" type="pres">
      <dgm:prSet presAssocID="{E45E8000-FD03-498D-B215-89227AB0D8AF}" presName="composite3" presStyleCnt="0"/>
      <dgm:spPr/>
    </dgm:pt>
    <dgm:pt modelId="{F06D0796-597C-4E81-B9A6-63355AA0A572}" type="pres">
      <dgm:prSet presAssocID="{E45E8000-FD03-498D-B215-89227AB0D8AF}" presName="background3" presStyleLbl="node3" presStyleIdx="0" presStyleCnt="4"/>
      <dgm:spPr/>
    </dgm:pt>
    <dgm:pt modelId="{593559F7-0977-4CF0-9F7A-1AF4BE20A2EB}" type="pres">
      <dgm:prSet presAssocID="{E45E8000-FD03-498D-B215-89227AB0D8AF}" presName="text3" presStyleLbl="fgAcc3" presStyleIdx="0" presStyleCnt="4">
        <dgm:presLayoutVars>
          <dgm:chPref val="3"/>
        </dgm:presLayoutVars>
      </dgm:prSet>
      <dgm:spPr/>
    </dgm:pt>
    <dgm:pt modelId="{BFF1E6A1-EB59-4928-8AE3-1FEC08F5D228}" type="pres">
      <dgm:prSet presAssocID="{E45E8000-FD03-498D-B215-89227AB0D8AF}" presName="hierChild4" presStyleCnt="0"/>
      <dgm:spPr/>
    </dgm:pt>
    <dgm:pt modelId="{65361E56-ACFC-4200-9BFC-7601F7E937D4}" type="pres">
      <dgm:prSet presAssocID="{F6F7E6FF-E62F-40AB-9CE7-54D6D20C65FD}" presName="Name17" presStyleLbl="parChTrans1D3" presStyleIdx="1" presStyleCnt="4"/>
      <dgm:spPr/>
    </dgm:pt>
    <dgm:pt modelId="{1F98938E-F6A0-485C-B959-41CCA5626E9B}" type="pres">
      <dgm:prSet presAssocID="{FF7078B9-E0C0-47FA-9900-E075B329DD98}" presName="hierRoot3" presStyleCnt="0"/>
      <dgm:spPr/>
    </dgm:pt>
    <dgm:pt modelId="{134A3D7B-834F-468D-9C1F-75CA1EDEBAB8}" type="pres">
      <dgm:prSet presAssocID="{FF7078B9-E0C0-47FA-9900-E075B329DD98}" presName="composite3" presStyleCnt="0"/>
      <dgm:spPr/>
    </dgm:pt>
    <dgm:pt modelId="{BE622E9D-449F-483C-B11E-692ECCC28277}" type="pres">
      <dgm:prSet presAssocID="{FF7078B9-E0C0-47FA-9900-E075B329DD98}" presName="background3" presStyleLbl="node3" presStyleIdx="1" presStyleCnt="4"/>
      <dgm:spPr>
        <a:solidFill>
          <a:srgbClr val="00B050"/>
        </a:solidFill>
        <a:ln>
          <a:solidFill>
            <a:srgbClr val="009900"/>
          </a:solidFill>
        </a:ln>
      </dgm:spPr>
    </dgm:pt>
    <dgm:pt modelId="{DB6542B2-EADD-4B10-84CC-916715875150}" type="pres">
      <dgm:prSet presAssocID="{FF7078B9-E0C0-47FA-9900-E075B329DD98}" presName="text3" presStyleLbl="fgAcc3" presStyleIdx="1" presStyleCnt="4">
        <dgm:presLayoutVars>
          <dgm:chPref val="3"/>
        </dgm:presLayoutVars>
      </dgm:prSet>
      <dgm:spPr/>
    </dgm:pt>
    <dgm:pt modelId="{6E41F6D2-C6FB-4198-BDEC-14427E2DA5FE}" type="pres">
      <dgm:prSet presAssocID="{FF7078B9-E0C0-47FA-9900-E075B329DD98}" presName="hierChild4" presStyleCnt="0"/>
      <dgm:spPr/>
    </dgm:pt>
    <dgm:pt modelId="{9F1415A8-0121-4E1E-B8F6-197C7FB77821}" type="pres">
      <dgm:prSet presAssocID="{C057F0BC-C1FB-43F3-8817-D480568FBE0B}" presName="Name10" presStyleLbl="parChTrans1D2" presStyleIdx="1" presStyleCnt="3"/>
      <dgm:spPr/>
    </dgm:pt>
    <dgm:pt modelId="{D2CC44FB-5E9C-42B4-810E-B13C64ACF149}" type="pres">
      <dgm:prSet presAssocID="{60FDA3BC-8620-482E-89D3-D481EDE60DCC}" presName="hierRoot2" presStyleCnt="0"/>
      <dgm:spPr/>
    </dgm:pt>
    <dgm:pt modelId="{E845763B-79FA-46F6-AF6A-1E2743D6BAA4}" type="pres">
      <dgm:prSet presAssocID="{60FDA3BC-8620-482E-89D3-D481EDE60DCC}" presName="composite2" presStyleCnt="0"/>
      <dgm:spPr/>
    </dgm:pt>
    <dgm:pt modelId="{2DAF5715-1B32-4486-AF09-628706F55F61}" type="pres">
      <dgm:prSet presAssocID="{60FDA3BC-8620-482E-89D3-D481EDE60DCC}" presName="background2" presStyleLbl="node2" presStyleIdx="1" presStyleCnt="3"/>
      <dgm:spPr/>
    </dgm:pt>
    <dgm:pt modelId="{D59B26EE-ECA2-40B0-91D8-68F5DED67A08}" type="pres">
      <dgm:prSet presAssocID="{60FDA3BC-8620-482E-89D3-D481EDE60DCC}" presName="text2" presStyleLbl="fgAcc2" presStyleIdx="1" presStyleCnt="3" custLinFactNeighborX="-5546" custLinFactNeighborY="-21474">
        <dgm:presLayoutVars>
          <dgm:chPref val="3"/>
        </dgm:presLayoutVars>
      </dgm:prSet>
      <dgm:spPr/>
    </dgm:pt>
    <dgm:pt modelId="{89A248D6-9C30-4C16-A9DE-9E78314A32BF}" type="pres">
      <dgm:prSet presAssocID="{60FDA3BC-8620-482E-89D3-D481EDE60DCC}" presName="hierChild3" presStyleCnt="0"/>
      <dgm:spPr/>
    </dgm:pt>
    <dgm:pt modelId="{8972CD5E-D5B9-4D1C-B2B2-F84004AB3011}" type="pres">
      <dgm:prSet presAssocID="{DB07C0D5-C519-413E-AC95-C7FCEC5FCA79}" presName="Name17" presStyleLbl="parChTrans1D3" presStyleIdx="2" presStyleCnt="4"/>
      <dgm:spPr/>
    </dgm:pt>
    <dgm:pt modelId="{C2EC88F9-350D-4578-890C-94A86C3719AC}" type="pres">
      <dgm:prSet presAssocID="{79891717-BD57-4233-BFD2-632D78CE2D85}" presName="hierRoot3" presStyleCnt="0"/>
      <dgm:spPr/>
    </dgm:pt>
    <dgm:pt modelId="{46D92E79-7173-4E8A-AFCD-9DBE1C9D1CB7}" type="pres">
      <dgm:prSet presAssocID="{79891717-BD57-4233-BFD2-632D78CE2D85}" presName="composite3" presStyleCnt="0"/>
      <dgm:spPr/>
    </dgm:pt>
    <dgm:pt modelId="{AD2CC240-28C9-45C9-8300-1C48C040F59F}" type="pres">
      <dgm:prSet presAssocID="{79891717-BD57-4233-BFD2-632D78CE2D85}" presName="background3" presStyleLbl="node3" presStyleIdx="2" presStyleCnt="4"/>
      <dgm:spPr/>
    </dgm:pt>
    <dgm:pt modelId="{E06267DA-2B81-462F-B962-2E61142E8DB8}" type="pres">
      <dgm:prSet presAssocID="{79891717-BD57-4233-BFD2-632D78CE2D85}" presName="text3" presStyleLbl="fgAcc3" presStyleIdx="2" presStyleCnt="4">
        <dgm:presLayoutVars>
          <dgm:chPref val="3"/>
        </dgm:presLayoutVars>
      </dgm:prSet>
      <dgm:spPr/>
    </dgm:pt>
    <dgm:pt modelId="{B573AED6-859E-42C7-A252-273515D83BB7}" type="pres">
      <dgm:prSet presAssocID="{79891717-BD57-4233-BFD2-632D78CE2D85}" presName="hierChild4" presStyleCnt="0"/>
      <dgm:spPr/>
    </dgm:pt>
    <dgm:pt modelId="{AFD31169-1796-4352-A570-DC0F3B028924}" type="pres">
      <dgm:prSet presAssocID="{157FA66E-8CB6-4A55-A8A0-C456E89E4F02}" presName="Name17" presStyleLbl="parChTrans1D3" presStyleIdx="3" presStyleCnt="4"/>
      <dgm:spPr/>
    </dgm:pt>
    <dgm:pt modelId="{2CEF40DD-F159-4809-A16C-8EA78341F74D}" type="pres">
      <dgm:prSet presAssocID="{5E545094-2FB9-4442-A457-6D6721C77BBA}" presName="hierRoot3" presStyleCnt="0"/>
      <dgm:spPr/>
    </dgm:pt>
    <dgm:pt modelId="{C3BD4239-BC8B-4E1E-9D84-AE6D578F3D24}" type="pres">
      <dgm:prSet presAssocID="{5E545094-2FB9-4442-A457-6D6721C77BBA}" presName="composite3" presStyleCnt="0"/>
      <dgm:spPr/>
    </dgm:pt>
    <dgm:pt modelId="{2889BED8-6870-4FEF-9433-657AAB51EE7F}" type="pres">
      <dgm:prSet presAssocID="{5E545094-2FB9-4442-A457-6D6721C77BBA}" presName="background3" presStyleLbl="node3" presStyleIdx="3" presStyleCnt="4"/>
      <dgm:spPr/>
    </dgm:pt>
    <dgm:pt modelId="{CD233B41-B8CC-47BB-8D17-F6AA35E9E822}" type="pres">
      <dgm:prSet presAssocID="{5E545094-2FB9-4442-A457-6D6721C77BBA}" presName="text3" presStyleLbl="fgAcc3" presStyleIdx="3" presStyleCnt="4">
        <dgm:presLayoutVars>
          <dgm:chPref val="3"/>
        </dgm:presLayoutVars>
      </dgm:prSet>
      <dgm:spPr/>
    </dgm:pt>
    <dgm:pt modelId="{C5C3D7AE-3C17-4A9B-B1BC-135F4D05D530}" type="pres">
      <dgm:prSet presAssocID="{5E545094-2FB9-4442-A457-6D6721C77BBA}" presName="hierChild4" presStyleCnt="0"/>
      <dgm:spPr/>
    </dgm:pt>
    <dgm:pt modelId="{49865C1D-E36A-403B-B4DC-AB0CE8CCBB32}" type="pres">
      <dgm:prSet presAssocID="{E71FA32B-9179-4E28-9C4B-0FEB44C3F469}" presName="Name10" presStyleLbl="parChTrans1D2" presStyleIdx="2" presStyleCnt="3"/>
      <dgm:spPr/>
    </dgm:pt>
    <dgm:pt modelId="{758091B0-A5E9-4A4D-B1D0-BB7495FBFF82}" type="pres">
      <dgm:prSet presAssocID="{FE5B2923-D0BE-4C78-8E75-AC49BAB5A3D1}" presName="hierRoot2" presStyleCnt="0"/>
      <dgm:spPr/>
    </dgm:pt>
    <dgm:pt modelId="{C2E925F4-FF04-405E-B33F-8B1BCED7B054}" type="pres">
      <dgm:prSet presAssocID="{FE5B2923-D0BE-4C78-8E75-AC49BAB5A3D1}" presName="composite2" presStyleCnt="0"/>
      <dgm:spPr/>
    </dgm:pt>
    <dgm:pt modelId="{D71DD845-23C6-4372-8F88-5509CBF66445}" type="pres">
      <dgm:prSet presAssocID="{FE5B2923-D0BE-4C78-8E75-AC49BAB5A3D1}" presName="background2" presStyleLbl="node2" presStyleIdx="2" presStyleCnt="3"/>
      <dgm:spPr/>
    </dgm:pt>
    <dgm:pt modelId="{9FFFE58F-1E36-4C63-996A-1358373E16D3}" type="pres">
      <dgm:prSet presAssocID="{FE5B2923-D0BE-4C78-8E75-AC49BAB5A3D1}" presName="text2" presStyleLbl="fgAcc2" presStyleIdx="2" presStyleCnt="3" custLinFactNeighborX="-5546" custLinFactNeighborY="-21474">
        <dgm:presLayoutVars>
          <dgm:chPref val="3"/>
        </dgm:presLayoutVars>
      </dgm:prSet>
      <dgm:spPr/>
    </dgm:pt>
    <dgm:pt modelId="{60D88486-A47D-4CB8-8BBB-C3E86B84170D}" type="pres">
      <dgm:prSet presAssocID="{FE5B2923-D0BE-4C78-8E75-AC49BAB5A3D1}" presName="hierChild3" presStyleCnt="0"/>
      <dgm:spPr/>
    </dgm:pt>
  </dgm:ptLst>
  <dgm:cxnLst>
    <dgm:cxn modelId="{60F6E205-F695-4812-9A58-276AE624CD8B}" type="presOf" srcId="{F6F7E6FF-E62F-40AB-9CE7-54D6D20C65FD}" destId="{65361E56-ACFC-4200-9BFC-7601F7E937D4}" srcOrd="0" destOrd="0" presId="urn:microsoft.com/office/officeart/2005/8/layout/hierarchy1"/>
    <dgm:cxn modelId="{ABB6010D-2EBF-44F3-8023-C836ADDC4831}" srcId="{FF69FCCD-A5A9-405F-A37F-E0817D96BE54}" destId="{9343939D-B314-4586-97A0-A25D4965DEE1}" srcOrd="0" destOrd="0" parTransId="{A09FA15D-74AE-4AEF-AF70-CA8E5646156B}" sibTransId="{A291BF83-16A6-4C72-92D3-342EBD62A194}"/>
    <dgm:cxn modelId="{DEBEBF14-EE00-4C78-A827-422469D17CCF}" srcId="{21129AC8-B95D-4BFF-9702-6BD9592C8CF9}" destId="{FF7078B9-E0C0-47FA-9900-E075B329DD98}" srcOrd="1" destOrd="0" parTransId="{F6F7E6FF-E62F-40AB-9CE7-54D6D20C65FD}" sibTransId="{46404101-D87F-4F8D-9E6D-7E9DFD63F497}"/>
    <dgm:cxn modelId="{D017B017-1106-4F06-9E3E-41F107A1951A}" type="presOf" srcId="{FF7078B9-E0C0-47FA-9900-E075B329DD98}" destId="{DB6542B2-EADD-4B10-84CC-916715875150}" srcOrd="0" destOrd="0" presId="urn:microsoft.com/office/officeart/2005/8/layout/hierarchy1"/>
    <dgm:cxn modelId="{58E10F62-11CA-41CB-A6C0-F29896ECDFAD}" type="presOf" srcId="{70546C4B-EBEF-4E34-85BB-A72FA077EB90}" destId="{C8C900D7-1F16-4BE5-B4F2-AEAF1AB72274}" srcOrd="0" destOrd="0" presId="urn:microsoft.com/office/officeart/2005/8/layout/hierarchy1"/>
    <dgm:cxn modelId="{061E0078-2F21-4102-8655-F8F8B57C7967}" type="presOf" srcId="{9343939D-B314-4586-97A0-A25D4965DEE1}" destId="{BC87B6CC-C3D4-4772-8E21-00106F3856C9}" srcOrd="0" destOrd="0" presId="urn:microsoft.com/office/officeart/2005/8/layout/hierarchy1"/>
    <dgm:cxn modelId="{D761F278-4C38-48ED-BDBE-EBDFA9389C3E}" srcId="{9343939D-B314-4586-97A0-A25D4965DEE1}" destId="{21129AC8-B95D-4BFF-9702-6BD9592C8CF9}" srcOrd="0" destOrd="0" parTransId="{70546C4B-EBEF-4E34-85BB-A72FA077EB90}" sibTransId="{83887F0A-C6FE-4A65-80A4-84A12F14AD0A}"/>
    <dgm:cxn modelId="{4A808C5A-3BAC-4BB9-882E-B46F26BDA89E}" type="presOf" srcId="{5E545094-2FB9-4442-A457-6D6721C77BBA}" destId="{CD233B41-B8CC-47BB-8D17-F6AA35E9E822}" srcOrd="0" destOrd="0" presId="urn:microsoft.com/office/officeart/2005/8/layout/hierarchy1"/>
    <dgm:cxn modelId="{0AA9FE7C-DC85-4FCE-BF2C-7B7B6A1A566C}" srcId="{9343939D-B314-4586-97A0-A25D4965DEE1}" destId="{60FDA3BC-8620-482E-89D3-D481EDE60DCC}" srcOrd="1" destOrd="0" parTransId="{C057F0BC-C1FB-43F3-8817-D480568FBE0B}" sibTransId="{0409FFDD-45AB-444F-8AF1-FFFC2FC5C499}"/>
    <dgm:cxn modelId="{39FDCA7E-345A-468E-A178-D1CF9B7223E4}" type="presOf" srcId="{157FA66E-8CB6-4A55-A8A0-C456E89E4F02}" destId="{AFD31169-1796-4352-A570-DC0F3B028924}" srcOrd="0" destOrd="0" presId="urn:microsoft.com/office/officeart/2005/8/layout/hierarchy1"/>
    <dgm:cxn modelId="{8EEE9F7F-35A2-4B56-9159-9CA80AE08268}" type="presOf" srcId="{FF69FCCD-A5A9-405F-A37F-E0817D96BE54}" destId="{3519EE62-A9C8-4FC0-8FF4-5CFA6F9166A3}" srcOrd="0" destOrd="0" presId="urn:microsoft.com/office/officeart/2005/8/layout/hierarchy1"/>
    <dgm:cxn modelId="{E636DD7F-AB3E-41D9-8912-CDF3808CB9CF}" type="presOf" srcId="{68170E72-9AF0-405B-BC0C-DCC1B48A4204}" destId="{C3DB1031-AC36-434A-A176-9C2F7D82E7D8}" srcOrd="0" destOrd="0" presId="urn:microsoft.com/office/officeart/2005/8/layout/hierarchy1"/>
    <dgm:cxn modelId="{5AEAB086-E38B-4BD2-9B07-18213DE64120}" type="presOf" srcId="{C057F0BC-C1FB-43F3-8817-D480568FBE0B}" destId="{9F1415A8-0121-4E1E-B8F6-197C7FB77821}" srcOrd="0" destOrd="0" presId="urn:microsoft.com/office/officeart/2005/8/layout/hierarchy1"/>
    <dgm:cxn modelId="{255AFB89-D4BC-4B84-B00B-528B5FE84EF0}" srcId="{9343939D-B314-4586-97A0-A25D4965DEE1}" destId="{FE5B2923-D0BE-4C78-8E75-AC49BAB5A3D1}" srcOrd="2" destOrd="0" parTransId="{E71FA32B-9179-4E28-9C4B-0FEB44C3F469}" sibTransId="{C039C0B1-18F2-4D37-AFF5-CAB05B0089D4}"/>
    <dgm:cxn modelId="{5A37F98A-9F36-4D8E-B843-16CF60EBC224}" type="presOf" srcId="{FE5B2923-D0BE-4C78-8E75-AC49BAB5A3D1}" destId="{9FFFE58F-1E36-4C63-996A-1358373E16D3}" srcOrd="0" destOrd="0" presId="urn:microsoft.com/office/officeart/2005/8/layout/hierarchy1"/>
    <dgm:cxn modelId="{AF283692-219B-4BED-8ED9-45D74898B546}" type="presOf" srcId="{60FDA3BC-8620-482E-89D3-D481EDE60DCC}" destId="{D59B26EE-ECA2-40B0-91D8-68F5DED67A08}" srcOrd="0" destOrd="0" presId="urn:microsoft.com/office/officeart/2005/8/layout/hierarchy1"/>
    <dgm:cxn modelId="{D02F0FA2-B8E3-41DB-8CF8-43B72E76B9A5}" srcId="{60FDA3BC-8620-482E-89D3-D481EDE60DCC}" destId="{5E545094-2FB9-4442-A457-6D6721C77BBA}" srcOrd="1" destOrd="0" parTransId="{157FA66E-8CB6-4A55-A8A0-C456E89E4F02}" sibTransId="{1ACE9F24-6DFF-40A1-B192-50426659851A}"/>
    <dgm:cxn modelId="{47D1B4A7-02BD-4FA9-A937-1666E37C414A}" type="presOf" srcId="{E45E8000-FD03-498D-B215-89227AB0D8AF}" destId="{593559F7-0977-4CF0-9F7A-1AF4BE20A2EB}" srcOrd="0" destOrd="0" presId="urn:microsoft.com/office/officeart/2005/8/layout/hierarchy1"/>
    <dgm:cxn modelId="{0396FFB6-9761-4022-A0F2-47BCB2A41750}" type="presOf" srcId="{79891717-BD57-4233-BFD2-632D78CE2D85}" destId="{E06267DA-2B81-462F-B962-2E61142E8DB8}" srcOrd="0" destOrd="0" presId="urn:microsoft.com/office/officeart/2005/8/layout/hierarchy1"/>
    <dgm:cxn modelId="{4541D0C4-CDBC-4582-9B77-E654B1C1B4A6}" type="presOf" srcId="{E71FA32B-9179-4E28-9C4B-0FEB44C3F469}" destId="{49865C1D-E36A-403B-B4DC-AB0CE8CCBB32}" srcOrd="0" destOrd="0" presId="urn:microsoft.com/office/officeart/2005/8/layout/hierarchy1"/>
    <dgm:cxn modelId="{89D4BAC5-CCBF-43A3-A3BF-855BE27E2E67}" srcId="{21129AC8-B95D-4BFF-9702-6BD9592C8CF9}" destId="{E45E8000-FD03-498D-B215-89227AB0D8AF}" srcOrd="0" destOrd="0" parTransId="{68170E72-9AF0-405B-BC0C-DCC1B48A4204}" sibTransId="{E0D0177A-DE72-4E75-A527-F44BCC37EE57}"/>
    <dgm:cxn modelId="{52D00DCF-C461-4C34-9991-7CC9638E2FBF}" type="presOf" srcId="{DB07C0D5-C519-413E-AC95-C7FCEC5FCA79}" destId="{8972CD5E-D5B9-4D1C-B2B2-F84004AB3011}" srcOrd="0" destOrd="0" presId="urn:microsoft.com/office/officeart/2005/8/layout/hierarchy1"/>
    <dgm:cxn modelId="{467E98E1-5C49-4C1B-9BB0-0A5086AF5BF1}" srcId="{60FDA3BC-8620-482E-89D3-D481EDE60DCC}" destId="{79891717-BD57-4233-BFD2-632D78CE2D85}" srcOrd="0" destOrd="0" parTransId="{DB07C0D5-C519-413E-AC95-C7FCEC5FCA79}" sibTransId="{97D8B88B-134E-42F9-93A3-FD02D85B324A}"/>
    <dgm:cxn modelId="{86A81AEF-0BE8-4E36-9162-7AA503657E4F}" type="presOf" srcId="{21129AC8-B95D-4BFF-9702-6BD9592C8CF9}" destId="{09A72813-0117-445D-81D2-733E9B7E09DB}" srcOrd="0" destOrd="0" presId="urn:microsoft.com/office/officeart/2005/8/layout/hierarchy1"/>
    <dgm:cxn modelId="{2D96E291-7DEC-47C5-9A37-BF4F0DE92508}" type="presParOf" srcId="{3519EE62-A9C8-4FC0-8FF4-5CFA6F9166A3}" destId="{59818386-76DA-433B-B2E6-1445C250760A}" srcOrd="0" destOrd="0" presId="urn:microsoft.com/office/officeart/2005/8/layout/hierarchy1"/>
    <dgm:cxn modelId="{8CF0F2BF-C855-40E2-9DC2-0E82DA85B4E4}" type="presParOf" srcId="{59818386-76DA-433B-B2E6-1445C250760A}" destId="{CF86D520-EB2D-4063-BC9E-F9ED46493B32}" srcOrd="0" destOrd="0" presId="urn:microsoft.com/office/officeart/2005/8/layout/hierarchy1"/>
    <dgm:cxn modelId="{6B0255CA-644A-4A00-A632-36C34EF122B8}" type="presParOf" srcId="{CF86D520-EB2D-4063-BC9E-F9ED46493B32}" destId="{D6623886-1B90-466E-A9DC-DD34C0A3070A}" srcOrd="0" destOrd="0" presId="urn:microsoft.com/office/officeart/2005/8/layout/hierarchy1"/>
    <dgm:cxn modelId="{40A1BFC6-917C-4439-BB7E-A95803F19B9A}" type="presParOf" srcId="{CF86D520-EB2D-4063-BC9E-F9ED46493B32}" destId="{BC87B6CC-C3D4-4772-8E21-00106F3856C9}" srcOrd="1" destOrd="0" presId="urn:microsoft.com/office/officeart/2005/8/layout/hierarchy1"/>
    <dgm:cxn modelId="{DE7B9E7A-3199-4D22-B52D-EA67B180CBC9}" type="presParOf" srcId="{59818386-76DA-433B-B2E6-1445C250760A}" destId="{09E1F1AB-E724-44F5-980C-B478564D0DD4}" srcOrd="1" destOrd="0" presId="urn:microsoft.com/office/officeart/2005/8/layout/hierarchy1"/>
    <dgm:cxn modelId="{D454F573-B16C-4554-ACB7-166ACFB47967}" type="presParOf" srcId="{09E1F1AB-E724-44F5-980C-B478564D0DD4}" destId="{C8C900D7-1F16-4BE5-B4F2-AEAF1AB72274}" srcOrd="0" destOrd="0" presId="urn:microsoft.com/office/officeart/2005/8/layout/hierarchy1"/>
    <dgm:cxn modelId="{92027B18-03E0-44AF-8240-FABBFA68DC23}" type="presParOf" srcId="{09E1F1AB-E724-44F5-980C-B478564D0DD4}" destId="{C8DAB8D5-9645-4152-835F-1FB1B346AEE9}" srcOrd="1" destOrd="0" presId="urn:microsoft.com/office/officeart/2005/8/layout/hierarchy1"/>
    <dgm:cxn modelId="{AEE35316-7E33-4268-925A-66F046876DAD}" type="presParOf" srcId="{C8DAB8D5-9645-4152-835F-1FB1B346AEE9}" destId="{149C86D2-94BE-4DF5-9D49-19D5E17CFEED}" srcOrd="0" destOrd="0" presId="urn:microsoft.com/office/officeart/2005/8/layout/hierarchy1"/>
    <dgm:cxn modelId="{20B98D2A-FFE7-4589-8641-54012B5A4926}" type="presParOf" srcId="{149C86D2-94BE-4DF5-9D49-19D5E17CFEED}" destId="{1191923E-512B-4B58-B3B8-6D2606E769AE}" srcOrd="0" destOrd="0" presId="urn:microsoft.com/office/officeart/2005/8/layout/hierarchy1"/>
    <dgm:cxn modelId="{43FA181F-9C41-4CF1-AA57-74AADEF56A23}" type="presParOf" srcId="{149C86D2-94BE-4DF5-9D49-19D5E17CFEED}" destId="{09A72813-0117-445D-81D2-733E9B7E09DB}" srcOrd="1" destOrd="0" presId="urn:microsoft.com/office/officeart/2005/8/layout/hierarchy1"/>
    <dgm:cxn modelId="{21B7A2F0-E64E-48E9-9792-A4893F400730}" type="presParOf" srcId="{C8DAB8D5-9645-4152-835F-1FB1B346AEE9}" destId="{3A07373E-818A-4897-904C-13E47204A3E8}" srcOrd="1" destOrd="0" presId="urn:microsoft.com/office/officeart/2005/8/layout/hierarchy1"/>
    <dgm:cxn modelId="{E5860701-D7E3-4C39-8BD1-718D07D11608}" type="presParOf" srcId="{3A07373E-818A-4897-904C-13E47204A3E8}" destId="{C3DB1031-AC36-434A-A176-9C2F7D82E7D8}" srcOrd="0" destOrd="0" presId="urn:microsoft.com/office/officeart/2005/8/layout/hierarchy1"/>
    <dgm:cxn modelId="{BCB6BCB0-7317-45E2-954D-DA64BD0E23A6}" type="presParOf" srcId="{3A07373E-818A-4897-904C-13E47204A3E8}" destId="{8263BF5E-8D3B-45F5-B6B7-C15C06B321BA}" srcOrd="1" destOrd="0" presId="urn:microsoft.com/office/officeart/2005/8/layout/hierarchy1"/>
    <dgm:cxn modelId="{DAE46FD6-B114-45DB-B9D5-91FFB83FB1C2}" type="presParOf" srcId="{8263BF5E-8D3B-45F5-B6B7-C15C06B321BA}" destId="{C5A8988E-DA8A-4E05-8655-BDB1BAECF145}" srcOrd="0" destOrd="0" presId="urn:microsoft.com/office/officeart/2005/8/layout/hierarchy1"/>
    <dgm:cxn modelId="{5F2BEF00-8A43-4C88-9D1A-7542AA7580B7}" type="presParOf" srcId="{C5A8988E-DA8A-4E05-8655-BDB1BAECF145}" destId="{F06D0796-597C-4E81-B9A6-63355AA0A572}" srcOrd="0" destOrd="0" presId="urn:microsoft.com/office/officeart/2005/8/layout/hierarchy1"/>
    <dgm:cxn modelId="{E48A09DD-16DE-4B83-945E-E77C60C507B4}" type="presParOf" srcId="{C5A8988E-DA8A-4E05-8655-BDB1BAECF145}" destId="{593559F7-0977-4CF0-9F7A-1AF4BE20A2EB}" srcOrd="1" destOrd="0" presId="urn:microsoft.com/office/officeart/2005/8/layout/hierarchy1"/>
    <dgm:cxn modelId="{4AB43568-07EE-49CE-8427-6B21CE8B8343}" type="presParOf" srcId="{8263BF5E-8D3B-45F5-B6B7-C15C06B321BA}" destId="{BFF1E6A1-EB59-4928-8AE3-1FEC08F5D228}" srcOrd="1" destOrd="0" presId="urn:microsoft.com/office/officeart/2005/8/layout/hierarchy1"/>
    <dgm:cxn modelId="{02E91753-2374-4DD8-B220-0F8FB7E4D195}" type="presParOf" srcId="{3A07373E-818A-4897-904C-13E47204A3E8}" destId="{65361E56-ACFC-4200-9BFC-7601F7E937D4}" srcOrd="2" destOrd="0" presId="urn:microsoft.com/office/officeart/2005/8/layout/hierarchy1"/>
    <dgm:cxn modelId="{149E5984-1396-40FA-BC3E-77A9393931F6}" type="presParOf" srcId="{3A07373E-818A-4897-904C-13E47204A3E8}" destId="{1F98938E-F6A0-485C-B959-41CCA5626E9B}" srcOrd="3" destOrd="0" presId="urn:microsoft.com/office/officeart/2005/8/layout/hierarchy1"/>
    <dgm:cxn modelId="{BE595A2F-51AC-429E-8A7A-7D853D320C65}" type="presParOf" srcId="{1F98938E-F6A0-485C-B959-41CCA5626E9B}" destId="{134A3D7B-834F-468D-9C1F-75CA1EDEBAB8}" srcOrd="0" destOrd="0" presId="urn:microsoft.com/office/officeart/2005/8/layout/hierarchy1"/>
    <dgm:cxn modelId="{8718B326-B7E4-4EA7-950B-F4EEA1066787}" type="presParOf" srcId="{134A3D7B-834F-468D-9C1F-75CA1EDEBAB8}" destId="{BE622E9D-449F-483C-B11E-692ECCC28277}" srcOrd="0" destOrd="0" presId="urn:microsoft.com/office/officeart/2005/8/layout/hierarchy1"/>
    <dgm:cxn modelId="{04875AE9-2D75-4B3C-8A90-41819643A90B}" type="presParOf" srcId="{134A3D7B-834F-468D-9C1F-75CA1EDEBAB8}" destId="{DB6542B2-EADD-4B10-84CC-916715875150}" srcOrd="1" destOrd="0" presId="urn:microsoft.com/office/officeart/2005/8/layout/hierarchy1"/>
    <dgm:cxn modelId="{4C3F064F-DEC9-4FC5-AE07-C7BAD2BD2F95}" type="presParOf" srcId="{1F98938E-F6A0-485C-B959-41CCA5626E9B}" destId="{6E41F6D2-C6FB-4198-BDEC-14427E2DA5FE}" srcOrd="1" destOrd="0" presId="urn:microsoft.com/office/officeart/2005/8/layout/hierarchy1"/>
    <dgm:cxn modelId="{7430CE40-44B3-453F-9ABF-27FAF01D63AC}" type="presParOf" srcId="{09E1F1AB-E724-44F5-980C-B478564D0DD4}" destId="{9F1415A8-0121-4E1E-B8F6-197C7FB77821}" srcOrd="2" destOrd="0" presId="urn:microsoft.com/office/officeart/2005/8/layout/hierarchy1"/>
    <dgm:cxn modelId="{03029F3B-328D-4F85-83F0-1A819DF95590}" type="presParOf" srcId="{09E1F1AB-E724-44F5-980C-B478564D0DD4}" destId="{D2CC44FB-5E9C-42B4-810E-B13C64ACF149}" srcOrd="3" destOrd="0" presId="urn:microsoft.com/office/officeart/2005/8/layout/hierarchy1"/>
    <dgm:cxn modelId="{C2E7D85A-A09D-46DA-A0D8-EE762E8C3BAD}" type="presParOf" srcId="{D2CC44FB-5E9C-42B4-810E-B13C64ACF149}" destId="{E845763B-79FA-46F6-AF6A-1E2743D6BAA4}" srcOrd="0" destOrd="0" presId="urn:microsoft.com/office/officeart/2005/8/layout/hierarchy1"/>
    <dgm:cxn modelId="{A2E6C49F-D765-49AA-98A2-50D8E11426BD}" type="presParOf" srcId="{E845763B-79FA-46F6-AF6A-1E2743D6BAA4}" destId="{2DAF5715-1B32-4486-AF09-628706F55F61}" srcOrd="0" destOrd="0" presId="urn:microsoft.com/office/officeart/2005/8/layout/hierarchy1"/>
    <dgm:cxn modelId="{48674BB4-7E60-49EC-B871-CFE65476EF09}" type="presParOf" srcId="{E845763B-79FA-46F6-AF6A-1E2743D6BAA4}" destId="{D59B26EE-ECA2-40B0-91D8-68F5DED67A08}" srcOrd="1" destOrd="0" presId="urn:microsoft.com/office/officeart/2005/8/layout/hierarchy1"/>
    <dgm:cxn modelId="{168226C5-B4A1-4CB6-898E-B194512B03E4}" type="presParOf" srcId="{D2CC44FB-5E9C-42B4-810E-B13C64ACF149}" destId="{89A248D6-9C30-4C16-A9DE-9E78314A32BF}" srcOrd="1" destOrd="0" presId="urn:microsoft.com/office/officeart/2005/8/layout/hierarchy1"/>
    <dgm:cxn modelId="{AA330722-F5B7-4826-8D32-4EC97A082C1D}" type="presParOf" srcId="{89A248D6-9C30-4C16-A9DE-9E78314A32BF}" destId="{8972CD5E-D5B9-4D1C-B2B2-F84004AB3011}" srcOrd="0" destOrd="0" presId="urn:microsoft.com/office/officeart/2005/8/layout/hierarchy1"/>
    <dgm:cxn modelId="{64211B1C-7AA5-497E-8B94-35540A98256A}" type="presParOf" srcId="{89A248D6-9C30-4C16-A9DE-9E78314A32BF}" destId="{C2EC88F9-350D-4578-890C-94A86C3719AC}" srcOrd="1" destOrd="0" presId="urn:microsoft.com/office/officeart/2005/8/layout/hierarchy1"/>
    <dgm:cxn modelId="{5921E0DC-4BF1-482D-A421-9A7FFD01346C}" type="presParOf" srcId="{C2EC88F9-350D-4578-890C-94A86C3719AC}" destId="{46D92E79-7173-4E8A-AFCD-9DBE1C9D1CB7}" srcOrd="0" destOrd="0" presId="urn:microsoft.com/office/officeart/2005/8/layout/hierarchy1"/>
    <dgm:cxn modelId="{EA027773-DDC0-4C89-A009-EB5ED8BF67AC}" type="presParOf" srcId="{46D92E79-7173-4E8A-AFCD-9DBE1C9D1CB7}" destId="{AD2CC240-28C9-45C9-8300-1C48C040F59F}" srcOrd="0" destOrd="0" presId="urn:microsoft.com/office/officeart/2005/8/layout/hierarchy1"/>
    <dgm:cxn modelId="{5D26196A-A382-4A48-A1C9-A3AAA5A9A457}" type="presParOf" srcId="{46D92E79-7173-4E8A-AFCD-9DBE1C9D1CB7}" destId="{E06267DA-2B81-462F-B962-2E61142E8DB8}" srcOrd="1" destOrd="0" presId="urn:microsoft.com/office/officeart/2005/8/layout/hierarchy1"/>
    <dgm:cxn modelId="{01CE0EE0-729F-46A9-B8C4-0E901F283824}" type="presParOf" srcId="{C2EC88F9-350D-4578-890C-94A86C3719AC}" destId="{B573AED6-859E-42C7-A252-273515D83BB7}" srcOrd="1" destOrd="0" presId="urn:microsoft.com/office/officeart/2005/8/layout/hierarchy1"/>
    <dgm:cxn modelId="{6CD72A46-6C99-4ADE-8083-4A65244C7210}" type="presParOf" srcId="{89A248D6-9C30-4C16-A9DE-9E78314A32BF}" destId="{AFD31169-1796-4352-A570-DC0F3B028924}" srcOrd="2" destOrd="0" presId="urn:microsoft.com/office/officeart/2005/8/layout/hierarchy1"/>
    <dgm:cxn modelId="{437E37EB-DD8A-4CBD-B0E2-A94BB8A5F493}" type="presParOf" srcId="{89A248D6-9C30-4C16-A9DE-9E78314A32BF}" destId="{2CEF40DD-F159-4809-A16C-8EA78341F74D}" srcOrd="3" destOrd="0" presId="urn:microsoft.com/office/officeart/2005/8/layout/hierarchy1"/>
    <dgm:cxn modelId="{2D34CBB3-312E-4985-B27D-9C20E0E589CE}" type="presParOf" srcId="{2CEF40DD-F159-4809-A16C-8EA78341F74D}" destId="{C3BD4239-BC8B-4E1E-9D84-AE6D578F3D24}" srcOrd="0" destOrd="0" presId="urn:microsoft.com/office/officeart/2005/8/layout/hierarchy1"/>
    <dgm:cxn modelId="{6F925F2E-6F92-421D-9CAB-8B19AB02B772}" type="presParOf" srcId="{C3BD4239-BC8B-4E1E-9D84-AE6D578F3D24}" destId="{2889BED8-6870-4FEF-9433-657AAB51EE7F}" srcOrd="0" destOrd="0" presId="urn:microsoft.com/office/officeart/2005/8/layout/hierarchy1"/>
    <dgm:cxn modelId="{FA8250A7-7895-457D-BF35-B22211188E81}" type="presParOf" srcId="{C3BD4239-BC8B-4E1E-9D84-AE6D578F3D24}" destId="{CD233B41-B8CC-47BB-8D17-F6AA35E9E822}" srcOrd="1" destOrd="0" presId="urn:microsoft.com/office/officeart/2005/8/layout/hierarchy1"/>
    <dgm:cxn modelId="{CBFFACF1-63F3-4A6E-A16D-DEB6CE27E7F4}" type="presParOf" srcId="{2CEF40DD-F159-4809-A16C-8EA78341F74D}" destId="{C5C3D7AE-3C17-4A9B-B1BC-135F4D05D530}" srcOrd="1" destOrd="0" presId="urn:microsoft.com/office/officeart/2005/8/layout/hierarchy1"/>
    <dgm:cxn modelId="{4308C000-4A34-4E3E-9FF2-EFE91EF53E1B}" type="presParOf" srcId="{09E1F1AB-E724-44F5-980C-B478564D0DD4}" destId="{49865C1D-E36A-403B-B4DC-AB0CE8CCBB32}" srcOrd="4" destOrd="0" presId="urn:microsoft.com/office/officeart/2005/8/layout/hierarchy1"/>
    <dgm:cxn modelId="{6D6B9359-F1D6-4AEA-9560-F345BA0260B6}" type="presParOf" srcId="{09E1F1AB-E724-44F5-980C-B478564D0DD4}" destId="{758091B0-A5E9-4A4D-B1D0-BB7495FBFF82}" srcOrd="5" destOrd="0" presId="urn:microsoft.com/office/officeart/2005/8/layout/hierarchy1"/>
    <dgm:cxn modelId="{34A96A16-F8EC-490E-8552-A5C0821BCA16}" type="presParOf" srcId="{758091B0-A5E9-4A4D-B1D0-BB7495FBFF82}" destId="{C2E925F4-FF04-405E-B33F-8B1BCED7B054}" srcOrd="0" destOrd="0" presId="urn:microsoft.com/office/officeart/2005/8/layout/hierarchy1"/>
    <dgm:cxn modelId="{EE29A94B-39F8-48C6-92EE-EE072572968C}" type="presParOf" srcId="{C2E925F4-FF04-405E-B33F-8B1BCED7B054}" destId="{D71DD845-23C6-4372-8F88-5509CBF66445}" srcOrd="0" destOrd="0" presId="urn:microsoft.com/office/officeart/2005/8/layout/hierarchy1"/>
    <dgm:cxn modelId="{49FD7CD4-13A1-4314-90FD-DA65E871FF7B}" type="presParOf" srcId="{C2E925F4-FF04-405E-B33F-8B1BCED7B054}" destId="{9FFFE58F-1E36-4C63-996A-1358373E16D3}" srcOrd="1" destOrd="0" presId="urn:microsoft.com/office/officeart/2005/8/layout/hierarchy1"/>
    <dgm:cxn modelId="{76D7B106-F1A6-40EF-ADB8-880D6439EC26}" type="presParOf" srcId="{758091B0-A5E9-4A4D-B1D0-BB7495FBFF82}" destId="{60D88486-A47D-4CB8-8BBB-C3E86B84170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B8DC8C-4814-4133-8B6A-1A3A9857F85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E739E350-FB2E-41C4-B7DD-E96D5AC818EB}">
      <dgm:prSet phldrT="[Text]" custT="1"/>
      <dgm:spPr/>
      <dgm:t>
        <a:bodyPr/>
        <a:lstStyle/>
        <a:p>
          <a:r>
            <a:rPr lang="en-US" sz="1200" dirty="0"/>
            <a:t>Cost classifications</a:t>
          </a:r>
          <a:endParaRPr lang="en-ZA" sz="1200" dirty="0"/>
        </a:p>
      </dgm:t>
    </dgm:pt>
    <dgm:pt modelId="{1488CE50-2E87-4041-985E-F47087BA26BA}" type="parTrans" cxnId="{3ADE525F-F7A0-4271-BC7C-0F9F045D7E63}">
      <dgm:prSet/>
      <dgm:spPr/>
      <dgm:t>
        <a:bodyPr/>
        <a:lstStyle/>
        <a:p>
          <a:endParaRPr lang="en-ZA" sz="1200"/>
        </a:p>
      </dgm:t>
    </dgm:pt>
    <dgm:pt modelId="{7DC1B634-7404-481D-BB12-E5D866DB4AE6}" type="sibTrans" cxnId="{3ADE525F-F7A0-4271-BC7C-0F9F045D7E63}">
      <dgm:prSet/>
      <dgm:spPr/>
      <dgm:t>
        <a:bodyPr/>
        <a:lstStyle/>
        <a:p>
          <a:endParaRPr lang="en-ZA" sz="1200"/>
        </a:p>
      </dgm:t>
    </dgm:pt>
    <dgm:pt modelId="{37A51620-B557-469D-BB19-F57871439EA7}">
      <dgm:prSet phldrT="[Text]" custT="1"/>
      <dgm:spPr/>
      <dgm:t>
        <a:bodyPr/>
        <a:lstStyle/>
        <a:p>
          <a:r>
            <a:rPr lang="en-US" sz="1200" dirty="0"/>
            <a:t>Fixed cost</a:t>
          </a:r>
          <a:endParaRPr lang="en-ZA" sz="1200" dirty="0"/>
        </a:p>
      </dgm:t>
    </dgm:pt>
    <dgm:pt modelId="{0A6C5577-A4A9-4B87-B1DB-9FD5586DEBCA}" type="parTrans" cxnId="{F8C3D263-50F7-4C99-A11B-15DCB919F71E}">
      <dgm:prSet/>
      <dgm:spPr/>
      <dgm:t>
        <a:bodyPr/>
        <a:lstStyle/>
        <a:p>
          <a:endParaRPr lang="en-ZA" sz="1200"/>
        </a:p>
      </dgm:t>
    </dgm:pt>
    <dgm:pt modelId="{480A522B-BA6F-43C5-B043-A3DB780EB7C9}" type="sibTrans" cxnId="{F8C3D263-50F7-4C99-A11B-15DCB919F71E}">
      <dgm:prSet/>
      <dgm:spPr/>
      <dgm:t>
        <a:bodyPr/>
        <a:lstStyle/>
        <a:p>
          <a:endParaRPr lang="en-ZA" sz="1200"/>
        </a:p>
      </dgm:t>
    </dgm:pt>
    <dgm:pt modelId="{99DDD32D-CD2A-45AF-BB0F-69484AEBCECF}">
      <dgm:prSet phldrT="[Text]" custT="1"/>
      <dgm:spPr/>
      <dgm:t>
        <a:bodyPr/>
        <a:lstStyle/>
        <a:p>
          <a:r>
            <a:rPr lang="en-US" sz="1200" dirty="0"/>
            <a:t>Variable cost</a:t>
          </a:r>
          <a:endParaRPr lang="en-ZA" sz="1200" dirty="0"/>
        </a:p>
      </dgm:t>
    </dgm:pt>
    <dgm:pt modelId="{6B0115FE-6B99-4E00-9668-A3D5309968A9}" type="parTrans" cxnId="{D85DBC00-F542-4A7F-84F3-EA5C017ED448}">
      <dgm:prSet/>
      <dgm:spPr/>
      <dgm:t>
        <a:bodyPr/>
        <a:lstStyle/>
        <a:p>
          <a:endParaRPr lang="en-ZA" sz="1200"/>
        </a:p>
      </dgm:t>
    </dgm:pt>
    <dgm:pt modelId="{D211C23F-D361-4234-BFC4-E60DFCE38FA8}" type="sibTrans" cxnId="{D85DBC00-F542-4A7F-84F3-EA5C017ED448}">
      <dgm:prSet/>
      <dgm:spPr/>
      <dgm:t>
        <a:bodyPr/>
        <a:lstStyle/>
        <a:p>
          <a:endParaRPr lang="en-ZA" sz="1200"/>
        </a:p>
      </dgm:t>
    </dgm:pt>
    <dgm:pt modelId="{24D3BC66-8AA7-4DF7-9BB9-4294BB5D5B86}">
      <dgm:prSet phldrT="[Text]" custT="1"/>
      <dgm:spPr/>
      <dgm:t>
        <a:bodyPr/>
        <a:lstStyle/>
        <a:p>
          <a:r>
            <a:rPr lang="en-US" sz="1200" dirty="0"/>
            <a:t>Semi-variable cost</a:t>
          </a:r>
          <a:endParaRPr lang="en-ZA" sz="1200" dirty="0"/>
        </a:p>
      </dgm:t>
    </dgm:pt>
    <dgm:pt modelId="{4608AC9D-E886-4B36-B791-FDA24DE7406E}" type="parTrans" cxnId="{89035047-1B7F-42C3-962D-76EA1BAEE2A2}">
      <dgm:prSet/>
      <dgm:spPr/>
      <dgm:t>
        <a:bodyPr/>
        <a:lstStyle/>
        <a:p>
          <a:endParaRPr lang="en-ZA" sz="1200"/>
        </a:p>
      </dgm:t>
    </dgm:pt>
    <dgm:pt modelId="{07627972-2198-4D5A-96F8-AFC7796A64CB}" type="sibTrans" cxnId="{89035047-1B7F-42C3-962D-76EA1BAEE2A2}">
      <dgm:prSet/>
      <dgm:spPr/>
      <dgm:t>
        <a:bodyPr/>
        <a:lstStyle/>
        <a:p>
          <a:endParaRPr lang="en-ZA" sz="1200"/>
        </a:p>
      </dgm:t>
    </dgm:pt>
    <dgm:pt modelId="{167B1B65-43F8-4699-8E9B-A6AD36DE361F}" type="pres">
      <dgm:prSet presAssocID="{22B8DC8C-4814-4133-8B6A-1A3A9857F85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19A1F90-19A2-4C7B-B86D-5E0C46FA54D2}" type="pres">
      <dgm:prSet presAssocID="{E739E350-FB2E-41C4-B7DD-E96D5AC818EB}" presName="hierRoot1" presStyleCnt="0">
        <dgm:presLayoutVars>
          <dgm:hierBranch val="init"/>
        </dgm:presLayoutVars>
      </dgm:prSet>
      <dgm:spPr/>
    </dgm:pt>
    <dgm:pt modelId="{A15AE3E6-48B8-4BEB-B3A2-0F18B3380604}" type="pres">
      <dgm:prSet presAssocID="{E739E350-FB2E-41C4-B7DD-E96D5AC818EB}" presName="rootComposite1" presStyleCnt="0"/>
      <dgm:spPr/>
    </dgm:pt>
    <dgm:pt modelId="{68416478-C6B3-4943-A0E3-BE0194278774}" type="pres">
      <dgm:prSet presAssocID="{E739E350-FB2E-41C4-B7DD-E96D5AC818EB}" presName="rootText1" presStyleLbl="node0" presStyleIdx="0" presStyleCnt="1">
        <dgm:presLayoutVars>
          <dgm:chPref val="3"/>
        </dgm:presLayoutVars>
      </dgm:prSet>
      <dgm:spPr/>
    </dgm:pt>
    <dgm:pt modelId="{C26136ED-B5C5-487A-BE14-24BC5536684F}" type="pres">
      <dgm:prSet presAssocID="{E739E350-FB2E-41C4-B7DD-E96D5AC818EB}" presName="rootConnector1" presStyleLbl="node1" presStyleIdx="0" presStyleCnt="0"/>
      <dgm:spPr/>
    </dgm:pt>
    <dgm:pt modelId="{763C6322-7E53-4DEC-817D-F80DA9855D3D}" type="pres">
      <dgm:prSet presAssocID="{E739E350-FB2E-41C4-B7DD-E96D5AC818EB}" presName="hierChild2" presStyleCnt="0"/>
      <dgm:spPr/>
    </dgm:pt>
    <dgm:pt modelId="{CE6B8507-81DB-4054-8134-FB411CDAD493}" type="pres">
      <dgm:prSet presAssocID="{0A6C5577-A4A9-4B87-B1DB-9FD5586DEBCA}" presName="Name37" presStyleLbl="parChTrans1D2" presStyleIdx="0" presStyleCnt="3"/>
      <dgm:spPr/>
    </dgm:pt>
    <dgm:pt modelId="{BBD264F2-CED3-4FD0-8E27-BD2387A7944D}" type="pres">
      <dgm:prSet presAssocID="{37A51620-B557-469D-BB19-F57871439EA7}" presName="hierRoot2" presStyleCnt="0">
        <dgm:presLayoutVars>
          <dgm:hierBranch val="init"/>
        </dgm:presLayoutVars>
      </dgm:prSet>
      <dgm:spPr/>
    </dgm:pt>
    <dgm:pt modelId="{46874C38-081E-4A28-9DF0-CB41A5EE3F36}" type="pres">
      <dgm:prSet presAssocID="{37A51620-B557-469D-BB19-F57871439EA7}" presName="rootComposite" presStyleCnt="0"/>
      <dgm:spPr/>
    </dgm:pt>
    <dgm:pt modelId="{7612F275-911B-4F39-A977-374D0AA3950F}" type="pres">
      <dgm:prSet presAssocID="{37A51620-B557-469D-BB19-F57871439EA7}" presName="rootText" presStyleLbl="node2" presStyleIdx="0" presStyleCnt="3">
        <dgm:presLayoutVars>
          <dgm:chPref val="3"/>
        </dgm:presLayoutVars>
      </dgm:prSet>
      <dgm:spPr/>
    </dgm:pt>
    <dgm:pt modelId="{9F8E5F38-EE64-44B6-93BD-B3F7A3C651BB}" type="pres">
      <dgm:prSet presAssocID="{37A51620-B557-469D-BB19-F57871439EA7}" presName="rootConnector" presStyleLbl="node2" presStyleIdx="0" presStyleCnt="3"/>
      <dgm:spPr/>
    </dgm:pt>
    <dgm:pt modelId="{B82A605D-3046-498F-A4EF-CB5CA96583F1}" type="pres">
      <dgm:prSet presAssocID="{37A51620-B557-469D-BB19-F57871439EA7}" presName="hierChild4" presStyleCnt="0"/>
      <dgm:spPr/>
    </dgm:pt>
    <dgm:pt modelId="{305DA797-D9E2-41FC-83B2-ED8710B75736}" type="pres">
      <dgm:prSet presAssocID="{37A51620-B557-469D-BB19-F57871439EA7}" presName="hierChild5" presStyleCnt="0"/>
      <dgm:spPr/>
    </dgm:pt>
    <dgm:pt modelId="{7D7EEC5D-69C5-4AB5-AAC3-38185C678A6A}" type="pres">
      <dgm:prSet presAssocID="{6B0115FE-6B99-4E00-9668-A3D5309968A9}" presName="Name37" presStyleLbl="parChTrans1D2" presStyleIdx="1" presStyleCnt="3"/>
      <dgm:spPr/>
    </dgm:pt>
    <dgm:pt modelId="{7309B101-B6AD-49BA-AE06-6EE659C86AB7}" type="pres">
      <dgm:prSet presAssocID="{99DDD32D-CD2A-45AF-BB0F-69484AEBCECF}" presName="hierRoot2" presStyleCnt="0">
        <dgm:presLayoutVars>
          <dgm:hierBranch val="init"/>
        </dgm:presLayoutVars>
      </dgm:prSet>
      <dgm:spPr/>
    </dgm:pt>
    <dgm:pt modelId="{67BF927B-71A2-4CD5-AB65-5DE38CE11209}" type="pres">
      <dgm:prSet presAssocID="{99DDD32D-CD2A-45AF-BB0F-69484AEBCECF}" presName="rootComposite" presStyleCnt="0"/>
      <dgm:spPr/>
    </dgm:pt>
    <dgm:pt modelId="{347C2FEC-12A4-4EA3-BA14-ECF990224D4B}" type="pres">
      <dgm:prSet presAssocID="{99DDD32D-CD2A-45AF-BB0F-69484AEBCECF}" presName="rootText" presStyleLbl="node2" presStyleIdx="1" presStyleCnt="3">
        <dgm:presLayoutVars>
          <dgm:chPref val="3"/>
        </dgm:presLayoutVars>
      </dgm:prSet>
      <dgm:spPr/>
    </dgm:pt>
    <dgm:pt modelId="{CF71B07F-15E0-44EB-9CA4-F34BE9F9605E}" type="pres">
      <dgm:prSet presAssocID="{99DDD32D-CD2A-45AF-BB0F-69484AEBCECF}" presName="rootConnector" presStyleLbl="node2" presStyleIdx="1" presStyleCnt="3"/>
      <dgm:spPr/>
    </dgm:pt>
    <dgm:pt modelId="{980170D6-CA1F-47AB-ABCD-362064046ADE}" type="pres">
      <dgm:prSet presAssocID="{99DDD32D-CD2A-45AF-BB0F-69484AEBCECF}" presName="hierChild4" presStyleCnt="0"/>
      <dgm:spPr/>
    </dgm:pt>
    <dgm:pt modelId="{F529C923-2F42-49F4-9B78-36634555E1AD}" type="pres">
      <dgm:prSet presAssocID="{99DDD32D-CD2A-45AF-BB0F-69484AEBCECF}" presName="hierChild5" presStyleCnt="0"/>
      <dgm:spPr/>
    </dgm:pt>
    <dgm:pt modelId="{CD350591-1016-47B0-B568-0EF3F65356D1}" type="pres">
      <dgm:prSet presAssocID="{4608AC9D-E886-4B36-B791-FDA24DE7406E}" presName="Name37" presStyleLbl="parChTrans1D2" presStyleIdx="2" presStyleCnt="3"/>
      <dgm:spPr/>
    </dgm:pt>
    <dgm:pt modelId="{5F237888-217C-4E3E-9A2C-0F0784873AC0}" type="pres">
      <dgm:prSet presAssocID="{24D3BC66-8AA7-4DF7-9BB9-4294BB5D5B86}" presName="hierRoot2" presStyleCnt="0">
        <dgm:presLayoutVars>
          <dgm:hierBranch val="init"/>
        </dgm:presLayoutVars>
      </dgm:prSet>
      <dgm:spPr/>
    </dgm:pt>
    <dgm:pt modelId="{AD5AC79D-AC6C-4B44-8998-15F27F715DC0}" type="pres">
      <dgm:prSet presAssocID="{24D3BC66-8AA7-4DF7-9BB9-4294BB5D5B86}" presName="rootComposite" presStyleCnt="0"/>
      <dgm:spPr/>
    </dgm:pt>
    <dgm:pt modelId="{5EEC7452-F4CF-4AB0-B4B7-66DA96D02CB9}" type="pres">
      <dgm:prSet presAssocID="{24D3BC66-8AA7-4DF7-9BB9-4294BB5D5B86}" presName="rootText" presStyleLbl="node2" presStyleIdx="2" presStyleCnt="3">
        <dgm:presLayoutVars>
          <dgm:chPref val="3"/>
        </dgm:presLayoutVars>
      </dgm:prSet>
      <dgm:spPr/>
    </dgm:pt>
    <dgm:pt modelId="{11213A8E-DF23-4E41-985E-05395C36CE17}" type="pres">
      <dgm:prSet presAssocID="{24D3BC66-8AA7-4DF7-9BB9-4294BB5D5B86}" presName="rootConnector" presStyleLbl="node2" presStyleIdx="2" presStyleCnt="3"/>
      <dgm:spPr/>
    </dgm:pt>
    <dgm:pt modelId="{333938B3-8448-4B57-ABBE-6850695F26C4}" type="pres">
      <dgm:prSet presAssocID="{24D3BC66-8AA7-4DF7-9BB9-4294BB5D5B86}" presName="hierChild4" presStyleCnt="0"/>
      <dgm:spPr/>
    </dgm:pt>
    <dgm:pt modelId="{A781A9A3-CF8F-48B1-8E8D-402D52EE8527}" type="pres">
      <dgm:prSet presAssocID="{24D3BC66-8AA7-4DF7-9BB9-4294BB5D5B86}" presName="hierChild5" presStyleCnt="0"/>
      <dgm:spPr/>
    </dgm:pt>
    <dgm:pt modelId="{D2182293-EC94-4347-B28A-4CD464F73951}" type="pres">
      <dgm:prSet presAssocID="{E739E350-FB2E-41C4-B7DD-E96D5AC818EB}" presName="hierChild3" presStyleCnt="0"/>
      <dgm:spPr/>
    </dgm:pt>
  </dgm:ptLst>
  <dgm:cxnLst>
    <dgm:cxn modelId="{D85DBC00-F542-4A7F-84F3-EA5C017ED448}" srcId="{E739E350-FB2E-41C4-B7DD-E96D5AC818EB}" destId="{99DDD32D-CD2A-45AF-BB0F-69484AEBCECF}" srcOrd="1" destOrd="0" parTransId="{6B0115FE-6B99-4E00-9668-A3D5309968A9}" sibTransId="{D211C23F-D361-4234-BFC4-E60DFCE38FA8}"/>
    <dgm:cxn modelId="{41FECC03-EEEF-4E4A-B1F7-FFC34676B82A}" type="presOf" srcId="{4608AC9D-E886-4B36-B791-FDA24DE7406E}" destId="{CD350591-1016-47B0-B568-0EF3F65356D1}" srcOrd="0" destOrd="0" presId="urn:microsoft.com/office/officeart/2005/8/layout/orgChart1"/>
    <dgm:cxn modelId="{45C91B08-0378-4B04-9BAC-A7EE21391304}" type="presOf" srcId="{E739E350-FB2E-41C4-B7DD-E96D5AC818EB}" destId="{C26136ED-B5C5-487A-BE14-24BC5536684F}" srcOrd="1" destOrd="0" presId="urn:microsoft.com/office/officeart/2005/8/layout/orgChart1"/>
    <dgm:cxn modelId="{1F4AB440-623E-46E0-9C8A-55EA0A2B6B59}" type="presOf" srcId="{99DDD32D-CD2A-45AF-BB0F-69484AEBCECF}" destId="{CF71B07F-15E0-44EB-9CA4-F34BE9F9605E}" srcOrd="1" destOrd="0" presId="urn:microsoft.com/office/officeart/2005/8/layout/orgChart1"/>
    <dgm:cxn modelId="{3ADE525F-F7A0-4271-BC7C-0F9F045D7E63}" srcId="{22B8DC8C-4814-4133-8B6A-1A3A9857F852}" destId="{E739E350-FB2E-41C4-B7DD-E96D5AC818EB}" srcOrd="0" destOrd="0" parTransId="{1488CE50-2E87-4041-985E-F47087BA26BA}" sibTransId="{7DC1B634-7404-481D-BB12-E5D866DB4AE6}"/>
    <dgm:cxn modelId="{F8C3D263-50F7-4C99-A11B-15DCB919F71E}" srcId="{E739E350-FB2E-41C4-B7DD-E96D5AC818EB}" destId="{37A51620-B557-469D-BB19-F57871439EA7}" srcOrd="0" destOrd="0" parTransId="{0A6C5577-A4A9-4B87-B1DB-9FD5586DEBCA}" sibTransId="{480A522B-BA6F-43C5-B043-A3DB780EB7C9}"/>
    <dgm:cxn modelId="{A0619466-2235-468D-846F-E0B7ECD4999B}" type="presOf" srcId="{24D3BC66-8AA7-4DF7-9BB9-4294BB5D5B86}" destId="{11213A8E-DF23-4E41-985E-05395C36CE17}" srcOrd="1" destOrd="0" presId="urn:microsoft.com/office/officeart/2005/8/layout/orgChart1"/>
    <dgm:cxn modelId="{89035047-1B7F-42C3-962D-76EA1BAEE2A2}" srcId="{E739E350-FB2E-41C4-B7DD-E96D5AC818EB}" destId="{24D3BC66-8AA7-4DF7-9BB9-4294BB5D5B86}" srcOrd="2" destOrd="0" parTransId="{4608AC9D-E886-4B36-B791-FDA24DE7406E}" sibTransId="{07627972-2198-4D5A-96F8-AFC7796A64CB}"/>
    <dgm:cxn modelId="{654AA6A2-24A9-41ED-A644-4E627A69FA27}" type="presOf" srcId="{37A51620-B557-469D-BB19-F57871439EA7}" destId="{7612F275-911B-4F39-A977-374D0AA3950F}" srcOrd="0" destOrd="0" presId="urn:microsoft.com/office/officeart/2005/8/layout/orgChart1"/>
    <dgm:cxn modelId="{F107B7AA-5644-40F7-91F0-4ADA03618D64}" type="presOf" srcId="{6B0115FE-6B99-4E00-9668-A3D5309968A9}" destId="{7D7EEC5D-69C5-4AB5-AAC3-38185C678A6A}" srcOrd="0" destOrd="0" presId="urn:microsoft.com/office/officeart/2005/8/layout/orgChart1"/>
    <dgm:cxn modelId="{B28561CC-1173-453F-AC3B-C2CF31AF2D7B}" type="presOf" srcId="{37A51620-B557-469D-BB19-F57871439EA7}" destId="{9F8E5F38-EE64-44B6-93BD-B3F7A3C651BB}" srcOrd="1" destOrd="0" presId="urn:microsoft.com/office/officeart/2005/8/layout/orgChart1"/>
    <dgm:cxn modelId="{293B53D3-1B84-447A-ABD9-1E918D93B01A}" type="presOf" srcId="{22B8DC8C-4814-4133-8B6A-1A3A9857F852}" destId="{167B1B65-43F8-4699-8E9B-A6AD36DE361F}" srcOrd="0" destOrd="0" presId="urn:microsoft.com/office/officeart/2005/8/layout/orgChart1"/>
    <dgm:cxn modelId="{C90108D6-8C69-46B7-BB53-D94D35B0AB81}" type="presOf" srcId="{24D3BC66-8AA7-4DF7-9BB9-4294BB5D5B86}" destId="{5EEC7452-F4CF-4AB0-B4B7-66DA96D02CB9}" srcOrd="0" destOrd="0" presId="urn:microsoft.com/office/officeart/2005/8/layout/orgChart1"/>
    <dgm:cxn modelId="{B0CAA2E5-3945-4761-914B-64249DFDB510}" type="presOf" srcId="{99DDD32D-CD2A-45AF-BB0F-69484AEBCECF}" destId="{347C2FEC-12A4-4EA3-BA14-ECF990224D4B}" srcOrd="0" destOrd="0" presId="urn:microsoft.com/office/officeart/2005/8/layout/orgChart1"/>
    <dgm:cxn modelId="{A33E0FE6-B3EA-4BB4-BCB6-1789CA8B942E}" type="presOf" srcId="{E739E350-FB2E-41C4-B7DD-E96D5AC818EB}" destId="{68416478-C6B3-4943-A0E3-BE0194278774}" srcOrd="0" destOrd="0" presId="urn:microsoft.com/office/officeart/2005/8/layout/orgChart1"/>
    <dgm:cxn modelId="{0B850EFF-3A99-4003-B933-39C940F9783E}" type="presOf" srcId="{0A6C5577-A4A9-4B87-B1DB-9FD5586DEBCA}" destId="{CE6B8507-81DB-4054-8134-FB411CDAD493}" srcOrd="0" destOrd="0" presId="urn:microsoft.com/office/officeart/2005/8/layout/orgChart1"/>
    <dgm:cxn modelId="{2912051D-F7C5-424F-A76D-B7323F30CAE9}" type="presParOf" srcId="{167B1B65-43F8-4699-8E9B-A6AD36DE361F}" destId="{A19A1F90-19A2-4C7B-B86D-5E0C46FA54D2}" srcOrd="0" destOrd="0" presId="urn:microsoft.com/office/officeart/2005/8/layout/orgChart1"/>
    <dgm:cxn modelId="{7A6AC20D-3E9A-4174-BA1E-251921BBCA86}" type="presParOf" srcId="{A19A1F90-19A2-4C7B-B86D-5E0C46FA54D2}" destId="{A15AE3E6-48B8-4BEB-B3A2-0F18B3380604}" srcOrd="0" destOrd="0" presId="urn:microsoft.com/office/officeart/2005/8/layout/orgChart1"/>
    <dgm:cxn modelId="{FE3617FC-FAD3-4AD3-BBC9-F0FECF22AAA4}" type="presParOf" srcId="{A15AE3E6-48B8-4BEB-B3A2-0F18B3380604}" destId="{68416478-C6B3-4943-A0E3-BE0194278774}" srcOrd="0" destOrd="0" presId="urn:microsoft.com/office/officeart/2005/8/layout/orgChart1"/>
    <dgm:cxn modelId="{EB461DBC-2552-457C-9A7B-8508A475CCBF}" type="presParOf" srcId="{A15AE3E6-48B8-4BEB-B3A2-0F18B3380604}" destId="{C26136ED-B5C5-487A-BE14-24BC5536684F}" srcOrd="1" destOrd="0" presId="urn:microsoft.com/office/officeart/2005/8/layout/orgChart1"/>
    <dgm:cxn modelId="{2F922F99-0041-4894-A617-32C301C16F88}" type="presParOf" srcId="{A19A1F90-19A2-4C7B-B86D-5E0C46FA54D2}" destId="{763C6322-7E53-4DEC-817D-F80DA9855D3D}" srcOrd="1" destOrd="0" presId="urn:microsoft.com/office/officeart/2005/8/layout/orgChart1"/>
    <dgm:cxn modelId="{3169FC6F-3EBF-4F22-90EF-8F4E1BDB8A1D}" type="presParOf" srcId="{763C6322-7E53-4DEC-817D-F80DA9855D3D}" destId="{CE6B8507-81DB-4054-8134-FB411CDAD493}" srcOrd="0" destOrd="0" presId="urn:microsoft.com/office/officeart/2005/8/layout/orgChart1"/>
    <dgm:cxn modelId="{2E6A5A1E-658B-4489-965F-AE09CECCF766}" type="presParOf" srcId="{763C6322-7E53-4DEC-817D-F80DA9855D3D}" destId="{BBD264F2-CED3-4FD0-8E27-BD2387A7944D}" srcOrd="1" destOrd="0" presId="urn:microsoft.com/office/officeart/2005/8/layout/orgChart1"/>
    <dgm:cxn modelId="{07DC1B9E-A902-4068-9174-63AEABC28F62}" type="presParOf" srcId="{BBD264F2-CED3-4FD0-8E27-BD2387A7944D}" destId="{46874C38-081E-4A28-9DF0-CB41A5EE3F36}" srcOrd="0" destOrd="0" presId="urn:microsoft.com/office/officeart/2005/8/layout/orgChart1"/>
    <dgm:cxn modelId="{52BB9ACE-6087-41D4-8760-06656FF78E5D}" type="presParOf" srcId="{46874C38-081E-4A28-9DF0-CB41A5EE3F36}" destId="{7612F275-911B-4F39-A977-374D0AA3950F}" srcOrd="0" destOrd="0" presId="urn:microsoft.com/office/officeart/2005/8/layout/orgChart1"/>
    <dgm:cxn modelId="{A4A1188E-5653-42E5-9CB0-24FBB0639207}" type="presParOf" srcId="{46874C38-081E-4A28-9DF0-CB41A5EE3F36}" destId="{9F8E5F38-EE64-44B6-93BD-B3F7A3C651BB}" srcOrd="1" destOrd="0" presId="urn:microsoft.com/office/officeart/2005/8/layout/orgChart1"/>
    <dgm:cxn modelId="{87202D5D-5873-4176-B4B7-B380E2F87575}" type="presParOf" srcId="{BBD264F2-CED3-4FD0-8E27-BD2387A7944D}" destId="{B82A605D-3046-498F-A4EF-CB5CA96583F1}" srcOrd="1" destOrd="0" presId="urn:microsoft.com/office/officeart/2005/8/layout/orgChart1"/>
    <dgm:cxn modelId="{94CF182A-FEC3-4461-86B9-29D71186F772}" type="presParOf" srcId="{BBD264F2-CED3-4FD0-8E27-BD2387A7944D}" destId="{305DA797-D9E2-41FC-83B2-ED8710B75736}" srcOrd="2" destOrd="0" presId="urn:microsoft.com/office/officeart/2005/8/layout/orgChart1"/>
    <dgm:cxn modelId="{D5ABDA6F-FA94-411B-A4BA-0C98FBF83F4F}" type="presParOf" srcId="{763C6322-7E53-4DEC-817D-F80DA9855D3D}" destId="{7D7EEC5D-69C5-4AB5-AAC3-38185C678A6A}" srcOrd="2" destOrd="0" presId="urn:microsoft.com/office/officeart/2005/8/layout/orgChart1"/>
    <dgm:cxn modelId="{9136D85A-24AE-4B64-AE04-65E7FABD4FB2}" type="presParOf" srcId="{763C6322-7E53-4DEC-817D-F80DA9855D3D}" destId="{7309B101-B6AD-49BA-AE06-6EE659C86AB7}" srcOrd="3" destOrd="0" presId="urn:microsoft.com/office/officeart/2005/8/layout/orgChart1"/>
    <dgm:cxn modelId="{8680F9E1-353C-4783-BCFF-60B37DE9CE7F}" type="presParOf" srcId="{7309B101-B6AD-49BA-AE06-6EE659C86AB7}" destId="{67BF927B-71A2-4CD5-AB65-5DE38CE11209}" srcOrd="0" destOrd="0" presId="urn:microsoft.com/office/officeart/2005/8/layout/orgChart1"/>
    <dgm:cxn modelId="{B77CCC62-20EA-47E0-804A-60D10E561899}" type="presParOf" srcId="{67BF927B-71A2-4CD5-AB65-5DE38CE11209}" destId="{347C2FEC-12A4-4EA3-BA14-ECF990224D4B}" srcOrd="0" destOrd="0" presId="urn:microsoft.com/office/officeart/2005/8/layout/orgChart1"/>
    <dgm:cxn modelId="{F0E7BCEA-7D33-4A71-A363-60726D84E2ED}" type="presParOf" srcId="{67BF927B-71A2-4CD5-AB65-5DE38CE11209}" destId="{CF71B07F-15E0-44EB-9CA4-F34BE9F9605E}" srcOrd="1" destOrd="0" presId="urn:microsoft.com/office/officeart/2005/8/layout/orgChart1"/>
    <dgm:cxn modelId="{45E5E90C-CDF8-4D6D-8536-D3D24A8D6AF9}" type="presParOf" srcId="{7309B101-B6AD-49BA-AE06-6EE659C86AB7}" destId="{980170D6-CA1F-47AB-ABCD-362064046ADE}" srcOrd="1" destOrd="0" presId="urn:microsoft.com/office/officeart/2005/8/layout/orgChart1"/>
    <dgm:cxn modelId="{D0C3A093-6B7B-4A93-8DD6-47B37A8F36A4}" type="presParOf" srcId="{7309B101-B6AD-49BA-AE06-6EE659C86AB7}" destId="{F529C923-2F42-49F4-9B78-36634555E1AD}" srcOrd="2" destOrd="0" presId="urn:microsoft.com/office/officeart/2005/8/layout/orgChart1"/>
    <dgm:cxn modelId="{BC90D44B-C1F9-400F-A461-5B1F9D5C8E84}" type="presParOf" srcId="{763C6322-7E53-4DEC-817D-F80DA9855D3D}" destId="{CD350591-1016-47B0-B568-0EF3F65356D1}" srcOrd="4" destOrd="0" presId="urn:microsoft.com/office/officeart/2005/8/layout/orgChart1"/>
    <dgm:cxn modelId="{AED761C3-2D15-49B0-8951-C4D82AAA630C}" type="presParOf" srcId="{763C6322-7E53-4DEC-817D-F80DA9855D3D}" destId="{5F237888-217C-4E3E-9A2C-0F0784873AC0}" srcOrd="5" destOrd="0" presId="urn:microsoft.com/office/officeart/2005/8/layout/orgChart1"/>
    <dgm:cxn modelId="{0BDAD552-59FD-4227-811C-8C9D165114CE}" type="presParOf" srcId="{5F237888-217C-4E3E-9A2C-0F0784873AC0}" destId="{AD5AC79D-AC6C-4B44-8998-15F27F715DC0}" srcOrd="0" destOrd="0" presId="urn:microsoft.com/office/officeart/2005/8/layout/orgChart1"/>
    <dgm:cxn modelId="{E718047E-DC9E-458A-A94D-8F0A90037EA6}" type="presParOf" srcId="{AD5AC79D-AC6C-4B44-8998-15F27F715DC0}" destId="{5EEC7452-F4CF-4AB0-B4B7-66DA96D02CB9}" srcOrd="0" destOrd="0" presId="urn:microsoft.com/office/officeart/2005/8/layout/orgChart1"/>
    <dgm:cxn modelId="{A0C6E69F-5627-4473-B845-D1803749A875}" type="presParOf" srcId="{AD5AC79D-AC6C-4B44-8998-15F27F715DC0}" destId="{11213A8E-DF23-4E41-985E-05395C36CE17}" srcOrd="1" destOrd="0" presId="urn:microsoft.com/office/officeart/2005/8/layout/orgChart1"/>
    <dgm:cxn modelId="{D6B3EEF4-1400-4C30-9CCF-3989847F5EAF}" type="presParOf" srcId="{5F237888-217C-4E3E-9A2C-0F0784873AC0}" destId="{333938B3-8448-4B57-ABBE-6850695F26C4}" srcOrd="1" destOrd="0" presId="urn:microsoft.com/office/officeart/2005/8/layout/orgChart1"/>
    <dgm:cxn modelId="{9B1F830B-AE2D-4D34-8C6D-6F2128756F39}" type="presParOf" srcId="{5F237888-217C-4E3E-9A2C-0F0784873AC0}" destId="{A781A9A3-CF8F-48B1-8E8D-402D52EE8527}" srcOrd="2" destOrd="0" presId="urn:microsoft.com/office/officeart/2005/8/layout/orgChart1"/>
    <dgm:cxn modelId="{C18D846B-2549-4A60-8734-44AFDE723127}" type="presParOf" srcId="{A19A1F90-19A2-4C7B-B86D-5E0C46FA54D2}" destId="{D2182293-EC94-4347-B28A-4CD464F7395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865C1D-E36A-403B-B4DC-AB0CE8CCBB32}">
      <dsp:nvSpPr>
        <dsp:cNvPr id="0" name=""/>
        <dsp:cNvSpPr/>
      </dsp:nvSpPr>
      <dsp:spPr>
        <a:xfrm>
          <a:off x="4660822" y="1143518"/>
          <a:ext cx="2972325" cy="702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2458"/>
              </a:lnTo>
              <a:lnTo>
                <a:pt x="2972325" y="552458"/>
              </a:lnTo>
              <a:lnTo>
                <a:pt x="2972325" y="702145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D31169-1796-4352-A570-DC0F3B028924}">
      <dsp:nvSpPr>
        <dsp:cNvPr id="0" name=""/>
        <dsp:cNvSpPr/>
      </dsp:nvSpPr>
      <dsp:spPr>
        <a:xfrm>
          <a:off x="5658265" y="2871705"/>
          <a:ext cx="1077054" cy="6902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0577"/>
              </a:lnTo>
              <a:lnTo>
                <a:pt x="1077054" y="540577"/>
              </a:lnTo>
              <a:lnTo>
                <a:pt x="1077054" y="690264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72CD5E-D5B9-4D1C-B2B2-F84004AB3011}">
      <dsp:nvSpPr>
        <dsp:cNvPr id="0" name=""/>
        <dsp:cNvSpPr/>
      </dsp:nvSpPr>
      <dsp:spPr>
        <a:xfrm>
          <a:off x="4760437" y="2871705"/>
          <a:ext cx="897828" cy="690264"/>
        </a:xfrm>
        <a:custGeom>
          <a:avLst/>
          <a:gdLst/>
          <a:ahLst/>
          <a:cxnLst/>
          <a:rect l="0" t="0" r="0" b="0"/>
          <a:pathLst>
            <a:path>
              <a:moveTo>
                <a:pt x="897828" y="0"/>
              </a:moveTo>
              <a:lnTo>
                <a:pt x="897828" y="540577"/>
              </a:lnTo>
              <a:lnTo>
                <a:pt x="0" y="540577"/>
              </a:lnTo>
              <a:lnTo>
                <a:pt x="0" y="690264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1415A8-0121-4E1E-B8F6-197C7FB77821}">
      <dsp:nvSpPr>
        <dsp:cNvPr id="0" name=""/>
        <dsp:cNvSpPr/>
      </dsp:nvSpPr>
      <dsp:spPr>
        <a:xfrm>
          <a:off x="4660822" y="1143518"/>
          <a:ext cx="997443" cy="702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2458"/>
              </a:lnTo>
              <a:lnTo>
                <a:pt x="997443" y="552458"/>
              </a:lnTo>
              <a:lnTo>
                <a:pt x="997443" y="702145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361E56-ACFC-4200-9BFC-7601F7E937D4}">
      <dsp:nvSpPr>
        <dsp:cNvPr id="0" name=""/>
        <dsp:cNvSpPr/>
      </dsp:nvSpPr>
      <dsp:spPr>
        <a:xfrm>
          <a:off x="1708500" y="2871705"/>
          <a:ext cx="1077054" cy="6902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0577"/>
              </a:lnTo>
              <a:lnTo>
                <a:pt x="1077054" y="540577"/>
              </a:lnTo>
              <a:lnTo>
                <a:pt x="1077054" y="690264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DB1031-AC36-434A-A176-9C2F7D82E7D8}">
      <dsp:nvSpPr>
        <dsp:cNvPr id="0" name=""/>
        <dsp:cNvSpPr/>
      </dsp:nvSpPr>
      <dsp:spPr>
        <a:xfrm>
          <a:off x="810671" y="2871705"/>
          <a:ext cx="897828" cy="690264"/>
        </a:xfrm>
        <a:custGeom>
          <a:avLst/>
          <a:gdLst/>
          <a:ahLst/>
          <a:cxnLst/>
          <a:rect l="0" t="0" r="0" b="0"/>
          <a:pathLst>
            <a:path>
              <a:moveTo>
                <a:pt x="897828" y="0"/>
              </a:moveTo>
              <a:lnTo>
                <a:pt x="897828" y="540577"/>
              </a:lnTo>
              <a:lnTo>
                <a:pt x="0" y="540577"/>
              </a:lnTo>
              <a:lnTo>
                <a:pt x="0" y="690264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C900D7-1F16-4BE5-B4F2-AEAF1AB72274}">
      <dsp:nvSpPr>
        <dsp:cNvPr id="0" name=""/>
        <dsp:cNvSpPr/>
      </dsp:nvSpPr>
      <dsp:spPr>
        <a:xfrm>
          <a:off x="1708500" y="1143518"/>
          <a:ext cx="2952322" cy="702145"/>
        </a:xfrm>
        <a:custGeom>
          <a:avLst/>
          <a:gdLst/>
          <a:ahLst/>
          <a:cxnLst/>
          <a:rect l="0" t="0" r="0" b="0"/>
          <a:pathLst>
            <a:path>
              <a:moveTo>
                <a:pt x="2952322" y="0"/>
              </a:moveTo>
              <a:lnTo>
                <a:pt x="2952322" y="552458"/>
              </a:lnTo>
              <a:lnTo>
                <a:pt x="0" y="552458"/>
              </a:lnTo>
              <a:lnTo>
                <a:pt x="0" y="702145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623886-1B90-466E-A9DC-DD34C0A3070A}">
      <dsp:nvSpPr>
        <dsp:cNvPr id="0" name=""/>
        <dsp:cNvSpPr/>
      </dsp:nvSpPr>
      <dsp:spPr>
        <a:xfrm>
          <a:off x="3852915" y="117476"/>
          <a:ext cx="1615813" cy="10260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7B6CC-C3D4-4772-8E21-00106F3856C9}">
      <dsp:nvSpPr>
        <dsp:cNvPr id="0" name=""/>
        <dsp:cNvSpPr/>
      </dsp:nvSpPr>
      <dsp:spPr>
        <a:xfrm>
          <a:off x="4032450" y="288034"/>
          <a:ext cx="1615813" cy="10260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>
              <a:latin typeface="+mn-lt"/>
            </a:rPr>
            <a:t>The essence of Financial Management</a:t>
          </a:r>
        </a:p>
      </dsp:txBody>
      <dsp:txXfrm>
        <a:off x="4062502" y="318086"/>
        <a:ext cx="1555709" cy="965937"/>
      </dsp:txXfrm>
    </dsp:sp>
    <dsp:sp modelId="{1191923E-512B-4B58-B3B8-6D2606E769AE}">
      <dsp:nvSpPr>
        <dsp:cNvPr id="0" name=""/>
        <dsp:cNvSpPr/>
      </dsp:nvSpPr>
      <dsp:spPr>
        <a:xfrm>
          <a:off x="900593" y="1845664"/>
          <a:ext cx="1615813" cy="1026041"/>
        </a:xfrm>
        <a:prstGeom prst="roundRect">
          <a:avLst>
            <a:gd name="adj" fmla="val 10000"/>
          </a:avLst>
        </a:prstGeom>
        <a:solidFill>
          <a:srgbClr val="C00000"/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72813-0117-445D-81D2-733E9B7E09DB}">
      <dsp:nvSpPr>
        <dsp:cNvPr id="0" name=""/>
        <dsp:cNvSpPr/>
      </dsp:nvSpPr>
      <dsp:spPr>
        <a:xfrm>
          <a:off x="1080128" y="2016222"/>
          <a:ext cx="1615813" cy="10260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/>
            <a:t>Financing</a:t>
          </a:r>
          <a:r>
            <a:rPr lang="en-ZA" sz="1600" kern="1200" dirty="0"/>
            <a:t> </a:t>
          </a:r>
          <a:r>
            <a:rPr lang="en-ZA" sz="1700" kern="1200" dirty="0"/>
            <a:t>decisions</a:t>
          </a:r>
        </a:p>
      </dsp:txBody>
      <dsp:txXfrm>
        <a:off x="1110180" y="2046274"/>
        <a:ext cx="1555709" cy="965937"/>
      </dsp:txXfrm>
    </dsp:sp>
    <dsp:sp modelId="{F06D0796-597C-4E81-B9A6-63355AA0A572}">
      <dsp:nvSpPr>
        <dsp:cNvPr id="0" name=""/>
        <dsp:cNvSpPr/>
      </dsp:nvSpPr>
      <dsp:spPr>
        <a:xfrm>
          <a:off x="2765" y="3561969"/>
          <a:ext cx="1615813" cy="10260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3559F7-0977-4CF0-9F7A-1AF4BE20A2EB}">
      <dsp:nvSpPr>
        <dsp:cNvPr id="0" name=""/>
        <dsp:cNvSpPr/>
      </dsp:nvSpPr>
      <dsp:spPr>
        <a:xfrm>
          <a:off x="182300" y="3732527"/>
          <a:ext cx="1615813" cy="10260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/>
            <a:t>Cost of capital decisions (</a:t>
          </a:r>
          <a:r>
            <a:rPr lang="en-ZA" sz="1700" kern="1200" dirty="0" err="1"/>
            <a:t>WACC</a:t>
          </a:r>
          <a:r>
            <a:rPr lang="en-ZA" sz="1700" kern="1200" dirty="0"/>
            <a:t>)</a:t>
          </a:r>
        </a:p>
      </dsp:txBody>
      <dsp:txXfrm>
        <a:off x="212352" y="3762579"/>
        <a:ext cx="1555709" cy="965937"/>
      </dsp:txXfrm>
    </dsp:sp>
    <dsp:sp modelId="{BE622E9D-449F-483C-B11E-692ECCC28277}">
      <dsp:nvSpPr>
        <dsp:cNvPr id="0" name=""/>
        <dsp:cNvSpPr/>
      </dsp:nvSpPr>
      <dsp:spPr>
        <a:xfrm>
          <a:off x="1977648" y="3561969"/>
          <a:ext cx="1615813" cy="1026041"/>
        </a:xfrm>
        <a:prstGeom prst="roundRect">
          <a:avLst>
            <a:gd name="adj" fmla="val 10000"/>
          </a:avLst>
        </a:prstGeom>
        <a:solidFill>
          <a:srgbClr val="00B050"/>
        </a:solidFill>
        <a:ln w="25400" cap="flat" cmpd="sng" algn="ctr">
          <a:solidFill>
            <a:srgbClr val="0099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6542B2-EADD-4B10-84CC-916715875150}">
      <dsp:nvSpPr>
        <dsp:cNvPr id="0" name=""/>
        <dsp:cNvSpPr/>
      </dsp:nvSpPr>
      <dsp:spPr>
        <a:xfrm>
          <a:off x="2157182" y="3732527"/>
          <a:ext cx="1615813" cy="10260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99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b="0" kern="1200" dirty="0"/>
            <a:t>Cost structure  decisions (debt </a:t>
          </a:r>
          <a:r>
            <a:rPr lang="en-ZA" sz="1700" b="0" kern="1200" dirty="0" err="1"/>
            <a:t>vs</a:t>
          </a:r>
          <a:r>
            <a:rPr lang="en-ZA" sz="1700" b="0" kern="1200" dirty="0"/>
            <a:t> equity)</a:t>
          </a:r>
        </a:p>
      </dsp:txBody>
      <dsp:txXfrm>
        <a:off x="2187234" y="3762579"/>
        <a:ext cx="1555709" cy="965937"/>
      </dsp:txXfrm>
    </dsp:sp>
    <dsp:sp modelId="{2DAF5715-1B32-4486-AF09-628706F55F61}">
      <dsp:nvSpPr>
        <dsp:cNvPr id="0" name=""/>
        <dsp:cNvSpPr/>
      </dsp:nvSpPr>
      <dsp:spPr>
        <a:xfrm>
          <a:off x="4850359" y="1845664"/>
          <a:ext cx="1615813" cy="10260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B26EE-ECA2-40B0-91D8-68F5DED67A08}">
      <dsp:nvSpPr>
        <dsp:cNvPr id="0" name=""/>
        <dsp:cNvSpPr/>
      </dsp:nvSpPr>
      <dsp:spPr>
        <a:xfrm>
          <a:off x="5029893" y="2016222"/>
          <a:ext cx="1615813" cy="10260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>
              <a:latin typeface="+mn-lt"/>
            </a:rPr>
            <a:t>Investment decisions</a:t>
          </a:r>
        </a:p>
      </dsp:txBody>
      <dsp:txXfrm>
        <a:off x="5059945" y="2046274"/>
        <a:ext cx="1555709" cy="965937"/>
      </dsp:txXfrm>
    </dsp:sp>
    <dsp:sp modelId="{AD2CC240-28C9-45C9-8300-1C48C040F59F}">
      <dsp:nvSpPr>
        <dsp:cNvPr id="0" name=""/>
        <dsp:cNvSpPr/>
      </dsp:nvSpPr>
      <dsp:spPr>
        <a:xfrm>
          <a:off x="3952530" y="3561969"/>
          <a:ext cx="1615813" cy="10260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6267DA-2B81-462F-B962-2E61142E8DB8}">
      <dsp:nvSpPr>
        <dsp:cNvPr id="0" name=""/>
        <dsp:cNvSpPr/>
      </dsp:nvSpPr>
      <dsp:spPr>
        <a:xfrm>
          <a:off x="4132065" y="3732527"/>
          <a:ext cx="1615813" cy="10260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>
              <a:latin typeface="+mn-lt"/>
            </a:rPr>
            <a:t>LT investment decisions (capital budgeting)</a:t>
          </a:r>
        </a:p>
      </dsp:txBody>
      <dsp:txXfrm>
        <a:off x="4162117" y="3762579"/>
        <a:ext cx="1555709" cy="965937"/>
      </dsp:txXfrm>
    </dsp:sp>
    <dsp:sp modelId="{2889BED8-6870-4FEF-9433-657AAB51EE7F}">
      <dsp:nvSpPr>
        <dsp:cNvPr id="0" name=""/>
        <dsp:cNvSpPr/>
      </dsp:nvSpPr>
      <dsp:spPr>
        <a:xfrm>
          <a:off x="5927413" y="3561969"/>
          <a:ext cx="1615813" cy="10260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33B41-B8CC-47BB-8D17-F6AA35E9E822}">
      <dsp:nvSpPr>
        <dsp:cNvPr id="0" name=""/>
        <dsp:cNvSpPr/>
      </dsp:nvSpPr>
      <dsp:spPr>
        <a:xfrm>
          <a:off x="6106948" y="3732527"/>
          <a:ext cx="1615813" cy="10260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>
              <a:latin typeface="+mn-lt"/>
            </a:rPr>
            <a:t>ST investment decisions (working capital)</a:t>
          </a:r>
        </a:p>
      </dsp:txBody>
      <dsp:txXfrm>
        <a:off x="6137000" y="3762579"/>
        <a:ext cx="1555709" cy="965937"/>
      </dsp:txXfrm>
    </dsp:sp>
    <dsp:sp modelId="{D71DD845-23C6-4372-8F88-5509CBF66445}">
      <dsp:nvSpPr>
        <dsp:cNvPr id="0" name=""/>
        <dsp:cNvSpPr/>
      </dsp:nvSpPr>
      <dsp:spPr>
        <a:xfrm>
          <a:off x="6825241" y="1845664"/>
          <a:ext cx="1615813" cy="10260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FE58F-1E36-4C63-996A-1358373E16D3}">
      <dsp:nvSpPr>
        <dsp:cNvPr id="0" name=""/>
        <dsp:cNvSpPr/>
      </dsp:nvSpPr>
      <dsp:spPr>
        <a:xfrm>
          <a:off x="7004776" y="2016222"/>
          <a:ext cx="1615813" cy="10260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>
              <a:latin typeface="+mn-lt"/>
            </a:rPr>
            <a:t>Dividend decisions</a:t>
          </a:r>
        </a:p>
      </dsp:txBody>
      <dsp:txXfrm>
        <a:off x="7034828" y="2046274"/>
        <a:ext cx="1555709" cy="965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350591-1016-47B0-B568-0EF3F65356D1}">
      <dsp:nvSpPr>
        <dsp:cNvPr id="0" name=""/>
        <dsp:cNvSpPr/>
      </dsp:nvSpPr>
      <dsp:spPr>
        <a:xfrm>
          <a:off x="1638300" y="915416"/>
          <a:ext cx="1159109" cy="2011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583"/>
              </a:lnTo>
              <a:lnTo>
                <a:pt x="1159109" y="100583"/>
              </a:lnTo>
              <a:lnTo>
                <a:pt x="1159109" y="2011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7EEC5D-69C5-4AB5-AAC3-38185C678A6A}">
      <dsp:nvSpPr>
        <dsp:cNvPr id="0" name=""/>
        <dsp:cNvSpPr/>
      </dsp:nvSpPr>
      <dsp:spPr>
        <a:xfrm>
          <a:off x="1592580" y="915416"/>
          <a:ext cx="91440" cy="2011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11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6B8507-81DB-4054-8134-FB411CDAD493}">
      <dsp:nvSpPr>
        <dsp:cNvPr id="0" name=""/>
        <dsp:cNvSpPr/>
      </dsp:nvSpPr>
      <dsp:spPr>
        <a:xfrm>
          <a:off x="479190" y="915416"/>
          <a:ext cx="1159109" cy="201167"/>
        </a:xfrm>
        <a:custGeom>
          <a:avLst/>
          <a:gdLst/>
          <a:ahLst/>
          <a:cxnLst/>
          <a:rect l="0" t="0" r="0" b="0"/>
          <a:pathLst>
            <a:path>
              <a:moveTo>
                <a:pt x="1159109" y="0"/>
              </a:moveTo>
              <a:lnTo>
                <a:pt x="1159109" y="100583"/>
              </a:lnTo>
              <a:lnTo>
                <a:pt x="0" y="100583"/>
              </a:lnTo>
              <a:lnTo>
                <a:pt x="0" y="2011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16478-C6B3-4943-A0E3-BE0194278774}">
      <dsp:nvSpPr>
        <dsp:cNvPr id="0" name=""/>
        <dsp:cNvSpPr/>
      </dsp:nvSpPr>
      <dsp:spPr>
        <a:xfrm>
          <a:off x="1159329" y="436445"/>
          <a:ext cx="957941" cy="478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Cost classifications</a:t>
          </a:r>
          <a:endParaRPr lang="en-ZA" sz="1200" kern="1200" dirty="0"/>
        </a:p>
      </dsp:txBody>
      <dsp:txXfrm>
        <a:off x="1159329" y="436445"/>
        <a:ext cx="957941" cy="478970"/>
      </dsp:txXfrm>
    </dsp:sp>
    <dsp:sp modelId="{7612F275-911B-4F39-A977-374D0AA3950F}">
      <dsp:nvSpPr>
        <dsp:cNvPr id="0" name=""/>
        <dsp:cNvSpPr/>
      </dsp:nvSpPr>
      <dsp:spPr>
        <a:xfrm>
          <a:off x="219" y="1116583"/>
          <a:ext cx="957941" cy="478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Fixed cost</a:t>
          </a:r>
          <a:endParaRPr lang="en-ZA" sz="1200" kern="1200" dirty="0"/>
        </a:p>
      </dsp:txBody>
      <dsp:txXfrm>
        <a:off x="219" y="1116583"/>
        <a:ext cx="957941" cy="478970"/>
      </dsp:txXfrm>
    </dsp:sp>
    <dsp:sp modelId="{347C2FEC-12A4-4EA3-BA14-ECF990224D4B}">
      <dsp:nvSpPr>
        <dsp:cNvPr id="0" name=""/>
        <dsp:cNvSpPr/>
      </dsp:nvSpPr>
      <dsp:spPr>
        <a:xfrm>
          <a:off x="1159329" y="1116583"/>
          <a:ext cx="957941" cy="478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Variable cost</a:t>
          </a:r>
          <a:endParaRPr lang="en-ZA" sz="1200" kern="1200" dirty="0"/>
        </a:p>
      </dsp:txBody>
      <dsp:txXfrm>
        <a:off x="1159329" y="1116583"/>
        <a:ext cx="957941" cy="478970"/>
      </dsp:txXfrm>
    </dsp:sp>
    <dsp:sp modelId="{5EEC7452-F4CF-4AB0-B4B7-66DA96D02CB9}">
      <dsp:nvSpPr>
        <dsp:cNvPr id="0" name=""/>
        <dsp:cNvSpPr/>
      </dsp:nvSpPr>
      <dsp:spPr>
        <a:xfrm>
          <a:off x="2318438" y="1116583"/>
          <a:ext cx="957941" cy="478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Semi-variable cost</a:t>
          </a:r>
          <a:endParaRPr lang="en-ZA" sz="1200" kern="1200" dirty="0"/>
        </a:p>
      </dsp:txBody>
      <dsp:txXfrm>
        <a:off x="2318438" y="1116583"/>
        <a:ext cx="957941" cy="4789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903A18-4839-8D4F-8ABB-4D063655F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86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6125"/>
            <a:ext cx="49720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00996E8-5341-8848-B47C-0F512A8E3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335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4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D42CA4-DEEE-E441-AA12-D8E8EA3C549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38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782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9DBDF-133D-4804-67E4-6C049DAF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552E1B5-4DD0-2751-8A15-09E0F390B2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2A109E1-D9A1-66C6-DB96-A18CA328DB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434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110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13BE-C787-BF77-2014-F06055F12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6C642DD-69BC-FA3D-6276-19F750030D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93B59DE-7EF8-9B44-AE25-C2A9CBA3F8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517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50FE-9E86-BB28-4C81-976166B0C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0CE2496-E292-B48F-EFC9-F612A542F4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01ABEFB-8506-F990-35BD-A47235FEA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614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7D5A2-E4CB-C904-9EB9-1092E5E44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8025224-91EF-C990-172E-8ED6E09053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CD8B1AD-A3F9-0C15-21E7-E21DB8224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695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E5E05-FF0A-AFF2-692E-B9018F360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AF727E8-56E0-3E54-C5FB-9BC900EDE9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158EE4E-3A01-8E1C-A2E7-A4D4409C6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216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70919-F969-CE19-38EC-E6ED7C0E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BB06B9F-E188-7B41-1132-4FD8001181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D010E94-FD98-C886-7975-2366C4627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274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02B0-BDB7-BC8F-115C-502AED093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89383E8-90F5-50F2-BFF2-4BB3B6D9F8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BE6CA48-B39E-4A2A-64C6-2479A1710A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905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6120-FEC2-21A2-8D26-9C118F2AA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288688E-6C1B-523A-A9C1-FB771EE608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2B0B1F1-48E4-5DBF-B2C0-F84A3CAB86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1308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1983D-4851-3ABE-989A-248A5D95B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089972C-4144-7C0D-CB87-A8545832E7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59AC7E9-B5CB-DFED-9CD1-A33ACBAE47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4362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62AEF-D60C-E979-7534-E642FEA5E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9C6663D-EAA8-9BCD-0898-C27AD6F796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7FEE0F6-F5CB-8710-238F-369D737CCA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3574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06E12-EA47-C07B-53D2-A8AFE3562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5AF0ACF-7860-38A3-2936-7C48D2F1BC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32317FD-4870-E281-D437-7CFB4DB752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3738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9E8D0-ED77-7ABA-A7E8-7EE59C6DB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B4CA895-F7B6-A290-1F7A-F451707FF9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6366CC9-551B-DB5E-98F5-666B96342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5187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0FD10-1031-EC19-768B-928079135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5E12268-CE0D-AA2E-7F7B-D1283A5F04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C11B7EF-C8DF-BC03-F629-CB4C031813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02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22EB5-3CE3-AF9F-9A22-2600603E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9B47456-B659-5488-5DEA-F584150174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68EFBB3-32FD-8CD6-EDF8-E0895B10B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3060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AD59-CBA9-ADCC-10C6-B985E3788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BFFAC00-0876-B627-7C6F-05183BE11E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E5AA015-D3ED-623C-4958-98EACAA033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0254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5D8CA-ABAB-B347-9FDF-691192C8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86FDBF5-88E7-581A-5DCD-199500E21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ABA7D22-ADEF-DAB9-7854-D0EC03B386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1327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732D7-6E4E-D4BA-10D9-0378C8BFF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2E9791E-C554-CD54-BBCF-2E3062B73A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725D610-C480-3126-AC3D-C2CE70A07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9800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0365C-B99B-D143-FBD1-3DFC0FE71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AB09A55-A634-797F-19B7-557BC743B9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DACEE3C-CEFE-6D2E-8C76-DFF6C8D735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6454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092F4-F9A2-4F2E-0198-B29C4D34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B7306BD-0C10-281F-37E8-9DB3DBEACA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9DEB37A-5582-7A8E-F4D7-7CBD5F8E8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9579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B974A-5AC9-221E-17F8-53FA38AC5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E5D1DE8-81C6-AC32-C4D0-3BAE90D009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7A9A5B9-4DF2-FC7F-501C-6134336129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3854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D71FF-24E6-250D-9EAA-7DBA17EBC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F706A1D-895D-BD77-8C2A-62658BDEF1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0FF17A9-6E67-D7B1-50CC-9973123AD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7494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D289C-3F4E-2177-F6E7-81667C2D8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F7882D4-A72B-5DED-9095-754EB90ECD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37B2B6D-D7BF-5D0F-A10A-0A4C25D1A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3129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76409-BAE3-CE41-CC23-8D7CCAD0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FD697A6-93CA-4B01-195C-5C21B72DEC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D1E31AC-27E9-3B36-04DB-930A4C8A18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60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3FC11-0B01-7B22-7FA9-24BC3F21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BE4E47A-86FC-E9E0-6842-593FD0E968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CCFEAF2-AA96-C7F6-0E50-AD06A7055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7375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defTabSz="918698"/>
            <a:fld id="{73303AEE-F764-0E46-AFB6-085D8FECA2EE}" type="slidenum">
              <a:rPr lang="en-US">
                <a:solidFill>
                  <a:srgbClr val="000000"/>
                </a:solidFill>
              </a:rPr>
              <a:pPr defTabSz="918698"/>
              <a:t>29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9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7772400" cy="14700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E0EE7-581C-F445-BDC6-E24C5F5F0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6C6F65-9470-3143-AA4D-A7FCF6DFB4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26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7772400" cy="1470025"/>
          </a:xfrm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5801-AA14-4D1A-A09C-9A7B708D243D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30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E7E0EE7-581C-F445-BDC6-E24C5F5F02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94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5C6B5-DD21-4288-8561-AE356B15015C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63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59354-B95F-440D-8860-EF55DC073CE5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9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4B58B-DB37-4B77-A33E-10DE74417EED}" type="datetime1">
              <a:rPr lang="en-US" smtClean="0"/>
              <a:t>5/12/2026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01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2792B-6D6E-426B-AC0C-C6FEF743363F}" type="datetime1">
              <a:rPr lang="en-US" smtClean="0"/>
              <a:t>5/12/2026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2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DE5F5-1C57-47D5-852C-555C0AFFE31C}" type="datetime1">
              <a:rPr lang="en-US" smtClean="0"/>
              <a:t>5/12/2026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68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A1D04-25F2-4213-979E-6BF08363A9FC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55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F2C86-7BFE-466F-80DB-F7397FFB5C35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23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52624-D27F-4068-A9A7-8BF922128060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44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93FD7-5D95-4EB5-9D95-C3616D7FED50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60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32DAC-1C69-402C-AC50-7D9759DFBF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8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CA1720AD-FDE0-49DA-9374-2B2FC9527FE1}" type="datetime1">
              <a:rPr lang="en-US" smtClean="0"/>
              <a:t>5/12/2026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1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notesSlide" Target="../notesSlides/notesSlide10.xml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4339457" y="101304"/>
            <a:ext cx="5113283" cy="1132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 anchor="ctr"/>
          <a:lstStyle/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rPr>
              <a:t>Chapter 16</a:t>
            </a:r>
          </a:p>
        </p:txBody>
      </p:sp>
      <p:sp>
        <p:nvSpPr>
          <p:cNvPr id="4101" name="Rectangle 6"/>
          <p:cNvSpPr>
            <a:spLocks noChangeArrowheads="1"/>
          </p:cNvSpPr>
          <p:nvPr/>
        </p:nvSpPr>
        <p:spPr bwMode="auto">
          <a:xfrm>
            <a:off x="4742050" y="5387788"/>
            <a:ext cx="4424362" cy="101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Slides by Prof C 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Rootman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, Dr S Watson, Ms E Kobese </a:t>
            </a:r>
          </a:p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&amp; Ms N </a:t>
            </a: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Tahoma"/>
                <a:ea typeface="ＭＳ Ｐゴシック"/>
                <a:cs typeface="Arial" charset="0"/>
              </a:rPr>
              <a:t>Maliwa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28287A"/>
              </a:solidFill>
              <a:effectLst/>
              <a:uLnTx/>
              <a:uFillTx/>
              <a:latin typeface="Tahoma"/>
              <a:ea typeface="ＭＳ Ｐゴシック"/>
              <a:cs typeface="Arial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E093C72-D9DA-992E-4971-317339C7E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362200"/>
            <a:ext cx="3238583" cy="2059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lvl="0" algn="ctr" defTabSz="912813" eaLnBrk="1" hangingPunct="1">
              <a:spcBef>
                <a:spcPct val="50000"/>
              </a:spcBef>
              <a:defRPr/>
            </a:pPr>
            <a:r>
              <a:rPr lang="en-ZA" sz="3200" b="1" dirty="0">
                <a:solidFill>
                  <a:srgbClr val="2828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Leverage and capital structure – Part 1</a:t>
            </a:r>
            <a:endParaRPr lang="en-GB" sz="3200" b="1" dirty="0">
              <a:solidFill>
                <a:srgbClr val="28287A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13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8535" y="-6178"/>
            <a:ext cx="9144000" cy="1143000"/>
          </a:xfrm>
        </p:spPr>
        <p:txBody>
          <a:bodyPr/>
          <a:lstStyle/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does capital structure (CS) fit into the bigger scheme of things?</a:t>
            </a: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357938"/>
            <a:ext cx="2286000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061C269-32CE-4A26-9DD7-2C000D0EC247}" type="slidenum">
              <a:rPr lang="en-GB" smtClean="0"/>
              <a:pPr eaLnBrk="1" hangingPunct="1"/>
              <a:t>2</a:t>
            </a:fld>
            <a:endParaRPr lang="en-GB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154932183"/>
              </p:ext>
            </p:extLst>
          </p:nvPr>
        </p:nvGraphicFramePr>
        <p:xfrm>
          <a:off x="251520" y="1340768"/>
          <a:ext cx="8712968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66172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9" name="Rectangle 1031"/>
          <p:cNvSpPr>
            <a:spLocks noGrp="1" noChangeArrowheads="1"/>
          </p:cNvSpPr>
          <p:nvPr>
            <p:ph type="title"/>
          </p:nvPr>
        </p:nvSpPr>
        <p:spPr>
          <a:xfrm>
            <a:off x="261097" y="168965"/>
            <a:ext cx="8763000" cy="685800"/>
          </a:xfrm>
        </p:spPr>
        <p:txBody>
          <a:bodyPr/>
          <a:lstStyle/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outcomes: Chapter 16</a:t>
            </a:r>
            <a:endParaRPr lang="en-US" sz="2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9400" name="Rectangle 1032"/>
          <p:cNvSpPr>
            <a:spLocks noGrp="1" noChangeArrowheads="1"/>
          </p:cNvSpPr>
          <p:nvPr>
            <p:ph idx="1"/>
          </p:nvPr>
        </p:nvSpPr>
        <p:spPr>
          <a:xfrm>
            <a:off x="217394" y="914400"/>
            <a:ext cx="8762999" cy="5791200"/>
          </a:xfrm>
        </p:spPr>
        <p:txBody>
          <a:bodyPr/>
          <a:lstStyle/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solidFill>
                  <a:srgbClr val="C00000"/>
                </a:solidFill>
              </a:rPr>
              <a:t>classify cost as fixed, variable or semi-variable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solidFill>
                  <a:srgbClr val="C00000"/>
                </a:solidFill>
              </a:rPr>
              <a:t>accurately calculate the breakeven point of a firm by means of breakeven analysis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solidFill>
                  <a:srgbClr val="C00000"/>
                </a:solidFill>
              </a:rPr>
              <a:t>evaluate the influence of operating and financial leverage on a firm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/>
              <a:t>determine the influence of financial leverage on the earnings, optimal capital structure and value of a firm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/>
              <a:t>evaluate the appropriateness of financial leverage in view of practical considerations.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endParaRPr lang="en-ZA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36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786910-8019-28CE-C775-B01A147D2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06D830EA-66EF-FB47-A764-102BD1E495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290C9C06-E0AE-F4B7-6CE0-1C0DAD132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Forms of financing – equity (selling shares) and debt (LT and ST debt)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+mj-lt"/>
                <a:ea typeface="ＭＳ Ｐゴシック"/>
              </a:rPr>
              <a:t>Each form of financing – own cost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latin typeface="+mj-lt"/>
                <a:ea typeface="ＭＳ Ｐゴシック"/>
              </a:rPr>
              <a:t>BUT need to consider WACC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+mj-lt"/>
                <a:ea typeface="ＭＳ Ｐゴシック"/>
              </a:rPr>
              <a:t>Why important?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latin typeface="+mj-lt"/>
                <a:ea typeface="ＭＳ Ｐゴシック"/>
              </a:rPr>
              <a:t>Effect of leverage … interest paid is tax-deductible</a:t>
            </a:r>
          </a:p>
          <a:p>
            <a:pPr marL="358775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Financial planning focusing on future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How to finance projects, expansions </a:t>
            </a:r>
            <a:r>
              <a:rPr lang="en-US" sz="2400" dirty="0" err="1">
                <a:solidFill>
                  <a:prstClr val="black"/>
                </a:solidFill>
                <a:ea typeface="ＭＳ Ｐゴシック"/>
              </a:rPr>
              <a:t>etc</a:t>
            </a:r>
            <a:endParaRPr lang="en-US" sz="2400" dirty="0">
              <a:solidFill>
                <a:prstClr val="black"/>
              </a:solidFill>
              <a:ea typeface="ＭＳ Ｐゴシック"/>
            </a:endParaRP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Risk involved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96EC94-2A51-33AD-8170-05CCE7E45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4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2752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Systematic risk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Non-diversifiable risk, attributable to factors affecting all firms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Unsystematic risk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Diversifiable risk, attributable to business-specific factors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Business risk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Probability of firm not covering </a:t>
            </a:r>
            <a:r>
              <a:rPr lang="en-US" sz="2400" dirty="0">
                <a:solidFill>
                  <a:srgbClr val="C00000"/>
                </a:solidFill>
              </a:rPr>
              <a:t>operating costs </a:t>
            </a:r>
            <a:r>
              <a:rPr lang="en-US" sz="2400" dirty="0"/>
              <a:t>and is associated with firm’s operations, ignoring any fixed financing effects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Risk inherent in firm’s operations if CS consists of only equity capital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  <a:ea typeface="ＭＳ Ｐゴシック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5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B38F1A-15AD-216E-3C6D-656F24036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A99275FB-96ED-0F8F-AA5A-8E929D62E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1D3828A3-84B6-61C9-28F7-A60DA788A9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Financial risk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Probability of firm not covering </a:t>
            </a:r>
            <a:r>
              <a:rPr lang="en-US" sz="2400" dirty="0">
                <a:solidFill>
                  <a:srgbClr val="C00000"/>
                </a:solidFill>
              </a:rPr>
              <a:t>financial obligations </a:t>
            </a:r>
            <a:r>
              <a:rPr lang="en-US" sz="2400" dirty="0"/>
              <a:t>and is associated with types of funds firm uses to finance assets 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Portion of shareholders’ risk, over and above business risk, that results from manner in which firm is financed</a:t>
            </a:r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6937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  <a:ea typeface="ＭＳ Ｐゴシック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7354D7-0234-3F7B-D6C0-52D41E8D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6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73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C85C583-E7A8-21C4-EBF0-0BC79068F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045A5E19-0326-4656-FA89-8709E9B600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AD1503CB-B480-8717-A5DB-7047B9DDBE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Factors influencing business risk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Sales variability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more stable the sales, all else unchanged, the lower business risk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Cyclical vs Defensive industries</a:t>
            </a:r>
          </a:p>
          <a:p>
            <a:pPr marL="14335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Cyclical industries – Sales sensitive to changes in economy (</a:t>
            </a:r>
            <a:r>
              <a:rPr lang="el-GR" sz="2400" dirty="0"/>
              <a:t>β</a:t>
            </a:r>
            <a:r>
              <a:rPr lang="en-US" sz="2400" dirty="0"/>
              <a:t> &gt; 1)</a:t>
            </a:r>
          </a:p>
          <a:p>
            <a:pPr marL="14335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Defensive industries – Sales not sensitive to changes in economy (</a:t>
            </a:r>
            <a:r>
              <a:rPr lang="el-GR" sz="2400" dirty="0"/>
              <a:t>β</a:t>
            </a:r>
            <a:r>
              <a:rPr lang="en-US" sz="2400" dirty="0"/>
              <a:t> &lt; 1)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Degree of competition and size of firm</a:t>
            </a:r>
          </a:p>
          <a:p>
            <a:pPr marL="10779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greater the competition, or </a:t>
            </a:r>
          </a:p>
          <a:p>
            <a:pPr marL="1077913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the smaller the firm, the greater </a:t>
            </a:r>
          </a:p>
          <a:p>
            <a:pPr marL="1077913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the business risk</a:t>
            </a:r>
            <a:endParaRPr lang="en-US" sz="2400" dirty="0">
              <a:solidFill>
                <a:prstClr val="black"/>
              </a:solidFill>
              <a:ea typeface="ＭＳ Ｐゴシック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C7B3A7-2502-FEE9-0884-F8836E0D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7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112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E2B8BE-6B7B-41BE-584B-56EFCAB50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E50AAFD8-DBE1-8E23-0E31-4D5E94F697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B544236D-50CB-DD21-DAC6-9BF1279762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Factors influencing business risk (cont.)</a:t>
            </a:r>
          </a:p>
          <a:p>
            <a:pPr marL="715963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Input price variability</a:t>
            </a:r>
          </a:p>
          <a:p>
            <a:pPr marL="107473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more stable input prices (raw materials, </a:t>
            </a:r>
            <a:r>
              <a:rPr lang="en-US" sz="2400" dirty="0" err="1"/>
              <a:t>labour</a:t>
            </a:r>
            <a:r>
              <a:rPr lang="en-US" sz="2400" dirty="0"/>
              <a:t> </a:t>
            </a:r>
            <a:r>
              <a:rPr lang="en-US" sz="2400" dirty="0" err="1"/>
              <a:t>etc</a:t>
            </a:r>
            <a:r>
              <a:rPr lang="en-US" sz="2400" dirty="0"/>
              <a:t>), the lower the firm’s level of business risk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ZA" sz="2400" dirty="0"/>
              <a:t>Consider the impact of </a:t>
            </a:r>
            <a:r>
              <a:rPr lang="en-ZA" sz="2400" b="1" dirty="0">
                <a:solidFill>
                  <a:srgbClr val="C00000"/>
                </a:solidFill>
              </a:rPr>
              <a:t>inflation </a:t>
            </a:r>
            <a:r>
              <a:rPr lang="en-ZA" sz="2400" dirty="0">
                <a:solidFill>
                  <a:srgbClr val="C00000"/>
                </a:solidFill>
              </a:rPr>
              <a:t>…</a:t>
            </a:r>
          </a:p>
          <a:p>
            <a:pPr marL="137160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ZA" sz="2400" b="1" dirty="0"/>
              <a:t>CPI</a:t>
            </a:r>
            <a:r>
              <a:rPr lang="en-ZA" sz="2400" dirty="0"/>
              <a:t> = 	3.2% (Feb 2025)	5.6% (Feb 2024)			7.0% (Feb 2023)	5.7% (Feb 2022)			2.9% (Feb 2021)	</a:t>
            </a:r>
          </a:p>
          <a:p>
            <a:pPr marL="1371600" lvl="3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ZA" sz="2400" b="1" dirty="0"/>
              <a:t>PPI</a:t>
            </a:r>
            <a:r>
              <a:rPr lang="en-ZA" sz="2400" dirty="0"/>
              <a:t> =	1.0% (Feb 2025) 	4.5% (Feb 2024)			12.2% (Feb 2023)	10.5% (Feb 2022)			4.0% (Feb 2021)</a:t>
            </a:r>
          </a:p>
          <a:p>
            <a:pPr marL="0" lvl="3" indent="0" defTabSz="6731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ZA" sz="2400" dirty="0"/>
              <a:t>		</a:t>
            </a:r>
            <a:r>
              <a:rPr lang="en-ZA" sz="1200" dirty="0"/>
              <a:t>Source: 	https://www.statssa.gov.za/publications/P0141/P0141February2025.pdf					https://www.statssa.gov.za/publications/P01421/P01421February2025.pdf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79DB3F-5CB6-9DC8-B694-6E8405315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8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8217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EC9360-E388-6FCC-E959-BA61575DB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F1BE7DDF-8337-8555-AF13-D8368CA70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528BE8F4-E6A8-ABAE-E913-922E4971F4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ea typeface="ＭＳ Ｐゴシック"/>
              </a:rPr>
              <a:t>Factors influencing business risk (cont.)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Firm’s ability to adjust output prices for changes in input prices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ZA" sz="2400" dirty="0"/>
              <a:t>Monopolistic vs oligopoly – influence level of business risk 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ZA" sz="2400" dirty="0"/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ZA" sz="2400" dirty="0"/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ZA" sz="2400" dirty="0"/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ZA" sz="2400" dirty="0"/>
              <a:t>Business risk varies among firms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ZA" sz="2400" dirty="0"/>
              <a:t>Dependent on line of business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Extent to which costs are fixed: operating leverage</a:t>
            </a:r>
          </a:p>
          <a:p>
            <a:pPr marL="1074738" indent="-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ZA" sz="2400" dirty="0"/>
              <a:t>Business risk increases when high % of operating costs fixed</a:t>
            </a:r>
          </a:p>
          <a:p>
            <a:pPr marL="1074738" indent="-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ZA" sz="2400" dirty="0"/>
              <a:t>High level of operating leverage (DOL)</a:t>
            </a:r>
            <a:endParaRPr lang="en-US" sz="2400" dirty="0">
              <a:solidFill>
                <a:prstClr val="black"/>
              </a:solidFill>
              <a:ea typeface="ＭＳ Ｐゴシック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0BE1C5-4F12-F911-A78F-00C6E38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9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034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E40687-BFE8-54E7-DDDC-ACCA77E91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A9DA4652-4A70-C93B-A2FA-4EEBF6FE5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Understanding cost </a:t>
            </a:r>
            <a:r>
              <a:rPr lang="en-US" dirty="0" err="1">
                <a:solidFill>
                  <a:schemeClr val="tx2"/>
                </a:solidFill>
              </a:rPr>
              <a:t>behaviour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259366-BAA3-1640-6A19-C6498098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10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0255557-EFE5-5ADF-882C-341C487842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Total fixed cost – remains constant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358775" algn="l"/>
              </a:tabLst>
            </a:pPr>
            <a:r>
              <a:rPr lang="en-US" sz="2400" dirty="0">
                <a:latin typeface="+mj-lt"/>
              </a:rPr>
              <a:t>	regardless of level of production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  <a:tabLst>
                <a:tab pos="358775" algn="l"/>
              </a:tabLst>
            </a:pPr>
            <a:r>
              <a:rPr lang="en-US" sz="2400" dirty="0">
                <a:latin typeface="+mj-lt"/>
              </a:rPr>
              <a:t>	and sales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en-US" sz="2400" dirty="0">
                <a:latin typeface="+mj-lt"/>
              </a:rPr>
              <a:t>Total variable cost – fluctuates directly in relation to level of production and sales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  <a:tabLst>
                <a:tab pos="358775" algn="l"/>
              </a:tabLst>
            </a:pPr>
            <a:r>
              <a:rPr lang="en-US" sz="2400" dirty="0">
                <a:latin typeface="+mj-lt"/>
              </a:rPr>
              <a:t>Total semi-variable cost – aspects of both fixed and variable cost (</a:t>
            </a:r>
            <a:r>
              <a:rPr lang="en-US" sz="2400" dirty="0" err="1">
                <a:latin typeface="+mj-lt"/>
              </a:rPr>
              <a:t>eg</a:t>
            </a:r>
            <a:r>
              <a:rPr lang="en-US" sz="2400" dirty="0">
                <a:latin typeface="+mj-lt"/>
              </a:rPr>
              <a:t> fix landline fee + cost of calls made)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4A4EDB9-2456-75CB-0684-8BCA807E35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8337850"/>
              </p:ext>
            </p:extLst>
          </p:nvPr>
        </p:nvGraphicFramePr>
        <p:xfrm>
          <a:off x="5638800" y="137510"/>
          <a:ext cx="3276600" cy="203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D571AFA-939B-ADEB-B7C2-3562939099A5}"/>
              </a:ext>
            </a:extLst>
          </p:cNvPr>
          <p:cNvSpPr txBox="1"/>
          <p:nvPr/>
        </p:nvSpPr>
        <p:spPr>
          <a:xfrm>
            <a:off x="228600" y="3668524"/>
            <a:ext cx="38497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+mj-lt"/>
              </a:rPr>
              <a:t>Figure 16.1: Total fixed cost	</a:t>
            </a:r>
            <a:endParaRPr lang="en-ZA" sz="23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8E77D8-63BA-211A-BFD5-450DFC1D3CFF}"/>
              </a:ext>
            </a:extLst>
          </p:cNvPr>
          <p:cNvSpPr txBox="1"/>
          <p:nvPr/>
        </p:nvSpPr>
        <p:spPr>
          <a:xfrm>
            <a:off x="4878486" y="3653841"/>
            <a:ext cx="422741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+mj-lt"/>
              </a:rPr>
              <a:t>Figure 16.2: Total variable cost</a:t>
            </a:r>
            <a:endParaRPr lang="en-ZA" sz="23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334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66768C-6FE1-342E-DC2D-C5200ECC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3154A7F-C864-9142-7BFC-014D68660A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Understanding cost </a:t>
            </a:r>
            <a:r>
              <a:rPr lang="en-US" dirty="0" err="1">
                <a:solidFill>
                  <a:schemeClr val="tx2"/>
                </a:solidFill>
              </a:rPr>
              <a:t>behaviour</a:t>
            </a:r>
            <a:r>
              <a:rPr lang="en-US" dirty="0">
                <a:solidFill>
                  <a:schemeClr val="tx2"/>
                </a:solidFill>
              </a:rPr>
              <a:t>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6C4B70-13D7-9AA0-0F44-90CA81B4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BB04225-E3E0-3D70-2788-B9D65B2315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Example: A firm’s total fixed cost amounts to R1 000 000. Regardless of whether 100 or 1 000 units are manufactured, the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TFC remains constant </a:t>
            </a:r>
            <a:r>
              <a:rPr lang="en-US" sz="2400" dirty="0">
                <a:latin typeface="+mj-lt"/>
              </a:rPr>
              <a:t>(up to a point when additional </a:t>
            </a:r>
            <a:r>
              <a:rPr lang="en-US" sz="2400" dirty="0" err="1">
                <a:latin typeface="+mj-lt"/>
              </a:rPr>
              <a:t>eg</a:t>
            </a:r>
            <a:r>
              <a:rPr lang="en-US" sz="2400" dirty="0">
                <a:latin typeface="+mj-lt"/>
              </a:rPr>
              <a:t> equipment are required) and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FC per unit will decrease with increase in production</a:t>
            </a:r>
            <a:r>
              <a:rPr lang="en-US" sz="2400" dirty="0">
                <a:latin typeface="+mj-lt"/>
              </a:rPr>
              <a:t>.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FC</a:t>
            </a:r>
            <a:r>
              <a:rPr lang="en-US" sz="2400" baseline="-25000" dirty="0">
                <a:latin typeface="+mj-lt"/>
              </a:rPr>
              <a:t>U</a:t>
            </a:r>
            <a:r>
              <a:rPr lang="en-US" sz="2400" dirty="0">
                <a:latin typeface="+mj-lt"/>
              </a:rPr>
              <a:t>	= TFC / # of units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FC</a:t>
            </a:r>
            <a:r>
              <a:rPr lang="en-US" sz="2400" baseline="-25000" dirty="0">
                <a:latin typeface="+mj-lt"/>
              </a:rPr>
              <a:t>100</a:t>
            </a:r>
            <a:r>
              <a:rPr lang="en-US" sz="2400" dirty="0">
                <a:latin typeface="+mj-lt"/>
              </a:rPr>
              <a:t>	= R1 000 000 / 100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 R10 000 per unit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FC</a:t>
            </a:r>
            <a:r>
              <a:rPr lang="en-US" sz="2400" baseline="-25000" dirty="0">
                <a:latin typeface="+mj-lt"/>
              </a:rPr>
              <a:t>1000</a:t>
            </a:r>
            <a:r>
              <a:rPr lang="en-US" sz="2400" dirty="0">
                <a:latin typeface="+mj-lt"/>
              </a:rPr>
              <a:t>	= R1 000 000 / 1 000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 R1 000 per unit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371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5C9C66-F061-0274-78EA-BC76F0C72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08AD629F-BBD6-87BB-0088-F46758226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Understanding cost </a:t>
            </a:r>
            <a:r>
              <a:rPr lang="en-US" dirty="0" err="1">
                <a:solidFill>
                  <a:schemeClr val="tx2"/>
                </a:solidFill>
              </a:rPr>
              <a:t>behaviour</a:t>
            </a:r>
            <a:r>
              <a:rPr lang="en-US" dirty="0">
                <a:solidFill>
                  <a:schemeClr val="tx2"/>
                </a:solidFill>
              </a:rPr>
              <a:t>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DFA1D3-68AD-C01D-7751-90C85E7F3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722D5BA-59AC-AF0D-C584-869482D277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Example: A firm’s variable cost per unit is R1 500. The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TVC will increase in direct proportion with an increase in production</a:t>
            </a:r>
            <a:r>
              <a:rPr lang="en-US" sz="2400" dirty="0">
                <a:latin typeface="+mj-lt"/>
              </a:rPr>
              <a:t>, while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variable cost per unit will constant</a:t>
            </a:r>
            <a:r>
              <a:rPr lang="en-US" sz="2400" dirty="0">
                <a:latin typeface="+mj-lt"/>
              </a:rPr>
              <a:t>.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TVC		= VC</a:t>
            </a:r>
            <a:r>
              <a:rPr lang="en-US" sz="2400" baseline="-25000" dirty="0">
                <a:latin typeface="+mj-lt"/>
              </a:rPr>
              <a:t>U</a:t>
            </a:r>
            <a:r>
              <a:rPr lang="en-US" sz="2400" dirty="0">
                <a:latin typeface="+mj-lt"/>
              </a:rPr>
              <a:t>	x # of units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TVC</a:t>
            </a:r>
            <a:r>
              <a:rPr lang="en-US" sz="2400" baseline="-25000" dirty="0">
                <a:latin typeface="+mj-lt"/>
              </a:rPr>
              <a:t>100</a:t>
            </a:r>
            <a:r>
              <a:rPr lang="en-US" sz="2400" dirty="0">
                <a:latin typeface="+mj-lt"/>
              </a:rPr>
              <a:t>		= R1 500 x 100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	= R150 000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TVC</a:t>
            </a:r>
            <a:r>
              <a:rPr lang="en-US" sz="2400" baseline="-25000" dirty="0">
                <a:latin typeface="+mj-lt"/>
              </a:rPr>
              <a:t>1000	</a:t>
            </a:r>
            <a:r>
              <a:rPr lang="en-US" sz="2400" dirty="0">
                <a:latin typeface="+mj-lt"/>
              </a:rPr>
              <a:t>= R1 500 x 1 000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	= R1 500 000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846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3247F0-18FD-4883-F1E7-8C528C0F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5DEB5020-3BE6-000C-EE4E-3AF07E4A9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Breakeven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8B4B42-E2AC-5F7A-B2D3-5111D80FF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1AA8E74-38A9-9E08-1E15-134A2ED01B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BE point – where income from sales (SP</a:t>
            </a:r>
            <a:r>
              <a:rPr lang="en-US" sz="2400" baseline="-25000" dirty="0">
                <a:latin typeface="+mj-lt"/>
              </a:rPr>
              <a:t>U</a:t>
            </a:r>
            <a:r>
              <a:rPr lang="en-US" sz="2400" dirty="0">
                <a:latin typeface="+mj-lt"/>
              </a:rPr>
              <a:t> x Q) is equal to total cost (TFC + TVC)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        Figure 16.3: The breakeven point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5164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EDF649-A8E1-7D25-EC88-9B85F031D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9D931C06-CD0F-E2DA-CD23-7E0323BF1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Breakeven analysis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A54B94-E25C-E4B2-A1A8-D1C66F0D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9D0EAF-9FA1-E966-42DD-5FD3E653EA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Why is it important to know BE point?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Shows level of operations required to cover all operating costs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Evaluate profitability of various level of sales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Assumptions?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All constant</a:t>
            </a:r>
          </a:p>
          <a:p>
            <a:pPr marL="1074738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VC</a:t>
            </a:r>
            <a:r>
              <a:rPr lang="en-US" sz="2400" baseline="-25000" dirty="0">
                <a:latin typeface="+mj-lt"/>
              </a:rPr>
              <a:t>U</a:t>
            </a:r>
          </a:p>
          <a:p>
            <a:pPr marL="1074738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SP</a:t>
            </a:r>
            <a:r>
              <a:rPr lang="en-US" sz="2400" baseline="-25000" dirty="0">
                <a:latin typeface="+mj-lt"/>
              </a:rPr>
              <a:t>U</a:t>
            </a:r>
          </a:p>
          <a:p>
            <a:pPr marL="1074738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TFC</a:t>
            </a:r>
          </a:p>
          <a:p>
            <a:pPr marL="1074738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Sales mix</a:t>
            </a:r>
          </a:p>
          <a:p>
            <a:pPr marL="1074738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Inventory levels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971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390DFC-AFC0-C154-1200-1A9A9F19B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2F0723DB-3654-791B-8EC2-4D25D6619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Breakeven analysis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0F65B4-46FC-14B9-1B31-82D2C7BA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15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22CB4D3-B140-2104-7D05-29154D3AE1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3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Important equations</a:t>
            </a:r>
          </a:p>
          <a:p>
            <a:pPr marL="0" indent="0" algn="just" defTabSz="358775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i="1" dirty="0">
                <a:latin typeface="+mj-lt"/>
              </a:rPr>
              <a:t>Marginal income </a:t>
            </a:r>
          </a:p>
          <a:p>
            <a:pPr marL="0" indent="0" algn="just" defTabSz="358775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sz="2400" dirty="0">
                <a:latin typeface="+mj-lt"/>
              </a:rPr>
              <a:t>		= Sales – TVC</a:t>
            </a:r>
          </a:p>
          <a:p>
            <a:pPr marL="0" indent="0" algn="just" defTabSz="358775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i="1" dirty="0">
                <a:latin typeface="+mj-lt"/>
              </a:rPr>
              <a:t>Marginal income per unit =</a:t>
            </a:r>
            <a:r>
              <a:rPr lang="en-US" sz="2400" i="1" baseline="-25000" dirty="0">
                <a:latin typeface="+mj-lt"/>
              </a:rPr>
              <a:t> </a:t>
            </a:r>
            <a:r>
              <a:rPr lang="en-US" sz="2400" i="1" dirty="0">
                <a:latin typeface="+mj-lt"/>
              </a:rPr>
              <a:t>Contribution per unit (C</a:t>
            </a:r>
            <a:r>
              <a:rPr lang="en-US" sz="2400" i="1" baseline="-25000" dirty="0">
                <a:latin typeface="+mj-lt"/>
              </a:rPr>
              <a:t>U</a:t>
            </a:r>
            <a:r>
              <a:rPr lang="en-US" sz="2400" i="1" dirty="0">
                <a:latin typeface="+mj-lt"/>
              </a:rPr>
              <a:t>)</a:t>
            </a:r>
          </a:p>
          <a:p>
            <a:pPr marL="0" indent="0" algn="just" defTabSz="358775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sz="2400" dirty="0">
                <a:latin typeface="+mj-lt"/>
              </a:rPr>
              <a:t>		= SP</a:t>
            </a:r>
            <a:r>
              <a:rPr lang="en-US" sz="2400" baseline="-25000" dirty="0">
                <a:latin typeface="+mj-lt"/>
              </a:rPr>
              <a:t>U</a:t>
            </a:r>
            <a:r>
              <a:rPr lang="en-US" sz="2400" dirty="0">
                <a:latin typeface="+mj-lt"/>
              </a:rPr>
              <a:t> – VC</a:t>
            </a:r>
            <a:r>
              <a:rPr lang="en-US" sz="2400" baseline="-25000" dirty="0">
                <a:latin typeface="+mj-lt"/>
              </a:rPr>
              <a:t>U</a:t>
            </a:r>
            <a:endParaRPr lang="en-US" sz="2400" dirty="0">
              <a:latin typeface="+mj-lt"/>
            </a:endParaRPr>
          </a:p>
          <a:p>
            <a:pPr marL="0" indent="0" algn="just" defTabSz="358775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i="1" dirty="0">
                <a:latin typeface="+mj-lt"/>
              </a:rPr>
              <a:t>Profit </a:t>
            </a:r>
          </a:p>
          <a:p>
            <a:pPr marL="0" indent="0" algn="just" defTabSz="358775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sz="2400" dirty="0">
                <a:latin typeface="+mj-lt"/>
              </a:rPr>
              <a:t>		= Sales – TVC – TFC </a:t>
            </a:r>
          </a:p>
          <a:p>
            <a:pPr marL="0" indent="0" algn="just" defTabSz="358775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sz="2400" dirty="0">
                <a:latin typeface="+mj-lt"/>
              </a:rPr>
              <a:t>		= Q x C</a:t>
            </a:r>
            <a:r>
              <a:rPr lang="en-US" sz="2400" baseline="-25000" dirty="0">
                <a:latin typeface="+mj-lt"/>
              </a:rPr>
              <a:t>U</a:t>
            </a:r>
            <a:r>
              <a:rPr lang="en-US" sz="2400" dirty="0">
                <a:latin typeface="+mj-lt"/>
              </a:rPr>
              <a:t> – TFC</a:t>
            </a:r>
          </a:p>
          <a:p>
            <a:pPr marL="0" indent="0" algn="just" defTabSz="358775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i="1" dirty="0">
                <a:latin typeface="+mj-lt"/>
              </a:rPr>
              <a:t>BE point in units (BE</a:t>
            </a:r>
            <a:r>
              <a:rPr lang="en-US" sz="2400" i="1" baseline="-25000" dirty="0">
                <a:latin typeface="+mj-lt"/>
              </a:rPr>
              <a:t>U</a:t>
            </a:r>
            <a:r>
              <a:rPr lang="en-US" sz="2400" i="1" dirty="0">
                <a:latin typeface="+mj-lt"/>
              </a:rPr>
              <a:t>)</a:t>
            </a:r>
          </a:p>
          <a:p>
            <a:pPr marL="0" indent="0" algn="just" defTabSz="358775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sz="2400" dirty="0">
                <a:latin typeface="+mj-lt"/>
              </a:rPr>
              <a:t>		= TFC / C</a:t>
            </a:r>
            <a:r>
              <a:rPr lang="en-US" sz="2400" baseline="-25000" dirty="0">
                <a:latin typeface="+mj-lt"/>
              </a:rPr>
              <a:t>u</a:t>
            </a:r>
            <a:endParaRPr lang="en-US" sz="2400" dirty="0">
              <a:latin typeface="+mj-lt"/>
            </a:endParaRPr>
          </a:p>
          <a:p>
            <a:pPr marL="0" indent="0" algn="just" defTabSz="358775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sz="2400" dirty="0">
                <a:latin typeface="+mj-lt"/>
              </a:rPr>
              <a:t>		= TFC / SP</a:t>
            </a:r>
            <a:r>
              <a:rPr lang="en-US" sz="2400" baseline="-25000" dirty="0">
                <a:latin typeface="+mj-lt"/>
              </a:rPr>
              <a:t>U</a:t>
            </a:r>
            <a:r>
              <a:rPr lang="en-US" sz="2400" dirty="0">
                <a:latin typeface="+mj-lt"/>
              </a:rPr>
              <a:t> – VC</a:t>
            </a:r>
            <a:r>
              <a:rPr lang="en-US" sz="2400" baseline="-25000" dirty="0">
                <a:latin typeface="+mj-lt"/>
              </a:rPr>
              <a:t>U</a:t>
            </a:r>
            <a:endParaRPr lang="en-US" sz="2400" dirty="0">
              <a:latin typeface="+mj-lt"/>
            </a:endParaRPr>
          </a:p>
          <a:p>
            <a:pPr marL="0" indent="0" algn="just" defTabSz="358775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i="1" dirty="0">
                <a:latin typeface="+mj-lt"/>
              </a:rPr>
              <a:t>BE point in Rand (BE</a:t>
            </a:r>
            <a:r>
              <a:rPr lang="en-US" sz="2400" i="1" baseline="-25000" dirty="0">
                <a:latin typeface="+mj-lt"/>
              </a:rPr>
              <a:t>R</a:t>
            </a:r>
            <a:r>
              <a:rPr lang="en-US" sz="2400" i="1" dirty="0">
                <a:latin typeface="+mj-lt"/>
              </a:rPr>
              <a:t>)</a:t>
            </a:r>
          </a:p>
          <a:p>
            <a:pPr marL="0" indent="0" algn="just" defTabSz="358775"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sz="2400" dirty="0">
                <a:latin typeface="+mj-lt"/>
              </a:rPr>
              <a:t>		= BE</a:t>
            </a:r>
            <a:r>
              <a:rPr lang="en-US" sz="2400" baseline="-25000" dirty="0">
                <a:latin typeface="+mj-lt"/>
              </a:rPr>
              <a:t>U</a:t>
            </a:r>
            <a:r>
              <a:rPr lang="en-US" sz="2400" dirty="0">
                <a:latin typeface="+mj-lt"/>
              </a:rPr>
              <a:t> x SP</a:t>
            </a:r>
            <a:r>
              <a:rPr lang="en-US" sz="2400" baseline="-25000" dirty="0">
                <a:latin typeface="+mj-lt"/>
              </a:rPr>
              <a:t>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6824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C7CA95-0C9B-C84E-C63A-D533D9C3A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FE8180EB-931D-E3E6-435C-EC4AE009EF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Breakeven analysis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BEE3A6-9B1F-32AD-CE9A-D595A4DE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CB3A7D5-B6A7-E1B3-B6E8-EDF6755DFC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Important equations</a:t>
            </a:r>
          </a:p>
          <a:p>
            <a:pPr marL="0" indent="0" algn="just" defTabSz="358775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i="1" dirty="0">
                <a:latin typeface="+mj-lt"/>
              </a:rPr>
              <a:t>Marginal income ratio</a:t>
            </a:r>
          </a:p>
          <a:p>
            <a:pPr marL="0" indent="0" algn="just" defTabSz="358775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 	 C</a:t>
            </a:r>
            <a:r>
              <a:rPr lang="en-US" sz="2400" baseline="-25000" dirty="0">
                <a:latin typeface="+mj-lt"/>
              </a:rPr>
              <a:t>U</a:t>
            </a:r>
            <a:r>
              <a:rPr lang="en-US" sz="2400" dirty="0">
                <a:latin typeface="+mj-lt"/>
              </a:rPr>
              <a:t> / SP</a:t>
            </a:r>
            <a:r>
              <a:rPr lang="en-US" sz="2400" baseline="-25000" dirty="0">
                <a:latin typeface="+mj-lt"/>
              </a:rPr>
              <a:t>U</a:t>
            </a:r>
            <a:endParaRPr lang="en-US" sz="2400" dirty="0">
              <a:latin typeface="+mj-lt"/>
            </a:endParaRPr>
          </a:p>
          <a:p>
            <a:pPr marL="0" indent="0" algn="just" defTabSz="358775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i="1" dirty="0">
                <a:latin typeface="+mj-lt"/>
              </a:rPr>
              <a:t>Minimum subsistence in value</a:t>
            </a:r>
          </a:p>
          <a:p>
            <a:pPr marL="0" indent="0" algn="just" defTabSz="358775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 FC + Planned profit + VC</a:t>
            </a:r>
          </a:p>
          <a:p>
            <a:pPr marL="0" indent="0" algn="just" defTabSz="358775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i="1" dirty="0">
                <a:latin typeface="+mj-lt"/>
              </a:rPr>
              <a:t>Minimum subsistence turnover in </a:t>
            </a:r>
            <a:r>
              <a:rPr lang="en-US" sz="2400" i="1" dirty="0">
                <a:solidFill>
                  <a:srgbClr val="C00000"/>
                </a:solidFill>
                <a:latin typeface="+mj-lt"/>
              </a:rPr>
              <a:t>quantity*</a:t>
            </a:r>
          </a:p>
          <a:p>
            <a:pPr marL="0" indent="0" algn="just" defTabSz="358775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 </a:t>
            </a:r>
            <a:r>
              <a:rPr lang="en-US" sz="2400">
                <a:latin typeface="+mj-lt"/>
              </a:rPr>
              <a:t>(FC </a:t>
            </a:r>
            <a:r>
              <a:rPr lang="en-US" sz="2400" dirty="0">
                <a:latin typeface="+mj-lt"/>
              </a:rPr>
              <a:t>+ Planned profit) / Marginal income ratio</a:t>
            </a:r>
          </a:p>
          <a:p>
            <a:pPr marL="0" indent="0" algn="just" defTabSz="358775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i="1" dirty="0">
                <a:latin typeface="+mj-lt"/>
              </a:rPr>
              <a:t>Margin of safety</a:t>
            </a:r>
          </a:p>
          <a:p>
            <a:pPr marL="0" indent="0" algn="just" defTabSz="358775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 Expected sales – BE</a:t>
            </a:r>
            <a:r>
              <a:rPr lang="en-US" sz="2400" baseline="-25000" dirty="0">
                <a:latin typeface="+mj-lt"/>
              </a:rPr>
              <a:t>R</a:t>
            </a:r>
          </a:p>
          <a:p>
            <a:pPr marL="0" indent="0" algn="just" defTabSz="358775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i="1" dirty="0">
                <a:latin typeface="+mj-lt"/>
              </a:rPr>
              <a:t>Margin of safety ratio</a:t>
            </a:r>
          </a:p>
          <a:p>
            <a:pPr marL="0" indent="0" algn="just" defTabSz="358775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 (Expected sales – BE</a:t>
            </a:r>
            <a:r>
              <a:rPr lang="en-US" sz="2400" baseline="-25000" dirty="0">
                <a:latin typeface="+mj-lt"/>
              </a:rPr>
              <a:t>R</a:t>
            </a:r>
            <a:r>
              <a:rPr lang="en-US" sz="2400" dirty="0">
                <a:latin typeface="+mj-lt"/>
              </a:rPr>
              <a:t>) / Expected sales x 100</a:t>
            </a:r>
          </a:p>
          <a:p>
            <a:pPr marL="0" indent="0" algn="just" defTabSz="358775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 (Expected sales Q – BE</a:t>
            </a:r>
            <a:r>
              <a:rPr lang="en-US" sz="2400" baseline="-25000" dirty="0">
                <a:latin typeface="+mj-lt"/>
              </a:rPr>
              <a:t>U</a:t>
            </a:r>
            <a:r>
              <a:rPr lang="en-US" sz="2400" dirty="0">
                <a:latin typeface="+mj-lt"/>
              </a:rPr>
              <a:t>) / Expected sales Q x 100</a:t>
            </a:r>
          </a:p>
          <a:p>
            <a:pPr marL="0" indent="0" algn="just" defTabSz="358775">
              <a:lnSpc>
                <a:spcPct val="105000"/>
              </a:lnSpc>
              <a:buSzPct val="100000"/>
              <a:buNone/>
            </a:pPr>
            <a:r>
              <a:rPr lang="en-US" sz="2000" dirty="0">
                <a:solidFill>
                  <a:srgbClr val="C00000"/>
                </a:solidFill>
                <a:latin typeface="+mj-lt"/>
              </a:rPr>
              <a:t>*Mistake in book on p 354 – quantity NOT quality (in equation)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0052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132C14D-10F7-8479-4135-FBAA6B59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A2AF7E47-99D8-06D9-4FB9-3EDA62457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Breakeven analysis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D14FD3-7FAF-4B04-4804-BC7ABC47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1AB69C7-0534-A6F3-E5D6-8520097EC6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Is BE analysis a perfect method?</a:t>
            </a:r>
          </a:p>
          <a:p>
            <a:pPr marL="715963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NO! There are limitations …</a:t>
            </a:r>
          </a:p>
          <a:p>
            <a:pPr marL="1074738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Linear revenue function and linear cost function</a:t>
            </a:r>
          </a:p>
          <a:p>
            <a:pPr marL="1074738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All products manufactured sold</a:t>
            </a:r>
          </a:p>
          <a:p>
            <a:pPr marL="1074738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FC and VC accurately identified</a:t>
            </a:r>
          </a:p>
          <a:p>
            <a:pPr marL="1074738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Multiple-product analysis – sales mix known</a:t>
            </a:r>
          </a:p>
          <a:p>
            <a:pPr marL="1074738" algn="just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SP and costs known with certainty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046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D9AB01-310A-1DB5-40EF-9ED895A0A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3EF274F7-2060-F502-9294-CC31AE410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Breakeven analysis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B46EB9-6E46-A923-D214-4D5ABC35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454021F-79F7-D54F-B207-2C2252C650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Example: Calculate:</a:t>
            </a:r>
          </a:p>
          <a:p>
            <a:pPr marL="358775" indent="-358775" algn="just">
              <a:lnSpc>
                <a:spcPct val="105000"/>
              </a:lnSpc>
              <a:buClr>
                <a:schemeClr val="tx1"/>
              </a:buClr>
              <a:buSzPct val="100000"/>
              <a:buAutoNum type="alphaLcParenR"/>
            </a:pPr>
            <a:r>
              <a:rPr lang="en-US" sz="2400" dirty="0">
                <a:latin typeface="+mj-lt"/>
              </a:rPr>
              <a:t>Marginal income</a:t>
            </a:r>
          </a:p>
          <a:p>
            <a:pPr marL="358775" indent="-358775" algn="just">
              <a:lnSpc>
                <a:spcPct val="105000"/>
              </a:lnSpc>
              <a:buClr>
                <a:schemeClr val="tx1"/>
              </a:buClr>
              <a:buSzPct val="100000"/>
              <a:buAutoNum type="alphaLcParenR"/>
            </a:pPr>
            <a:r>
              <a:rPr lang="en-US" sz="2400" dirty="0">
                <a:latin typeface="+mj-lt"/>
              </a:rPr>
              <a:t>Marginal income per unit</a:t>
            </a:r>
          </a:p>
          <a:p>
            <a:pPr marL="358775" indent="-358775" algn="just">
              <a:lnSpc>
                <a:spcPct val="105000"/>
              </a:lnSpc>
              <a:buClr>
                <a:schemeClr val="tx1"/>
              </a:buClr>
              <a:buSzPct val="100000"/>
              <a:buAutoNum type="alphaLcParenR"/>
            </a:pPr>
            <a:r>
              <a:rPr lang="en-US" sz="2400" dirty="0">
                <a:latin typeface="+mj-lt"/>
              </a:rPr>
              <a:t>Profit</a:t>
            </a:r>
          </a:p>
          <a:p>
            <a:pPr marL="358775" indent="-358775" algn="just">
              <a:lnSpc>
                <a:spcPct val="105000"/>
              </a:lnSpc>
              <a:buClr>
                <a:schemeClr val="tx1"/>
              </a:buClr>
              <a:buSzPct val="100000"/>
              <a:buAutoNum type="alphaLcParenR"/>
            </a:pPr>
            <a:r>
              <a:rPr lang="en-US" sz="2400" dirty="0">
                <a:latin typeface="+mj-lt"/>
              </a:rPr>
              <a:t>Breakeven point in units and Rand</a:t>
            </a:r>
          </a:p>
          <a:p>
            <a:pPr marL="358775" indent="-358775" algn="just">
              <a:lnSpc>
                <a:spcPct val="105000"/>
              </a:lnSpc>
              <a:buClr>
                <a:schemeClr val="tx1"/>
              </a:buClr>
              <a:buSzPct val="100000"/>
              <a:buAutoNum type="alphaLcParenR"/>
            </a:pPr>
            <a:r>
              <a:rPr lang="en-US" sz="2400" dirty="0">
                <a:latin typeface="+mj-lt"/>
              </a:rPr>
              <a:t>Marginal income ratio</a:t>
            </a:r>
          </a:p>
          <a:p>
            <a:pPr marL="358775" indent="-358775" algn="just">
              <a:lnSpc>
                <a:spcPct val="105000"/>
              </a:lnSpc>
              <a:buClr>
                <a:schemeClr val="tx1"/>
              </a:buClr>
              <a:buSzPct val="100000"/>
              <a:buAutoNum type="alphaLcParenR"/>
            </a:pPr>
            <a:r>
              <a:rPr lang="en-US" sz="2400" dirty="0">
                <a:latin typeface="+mj-lt"/>
              </a:rPr>
              <a:t>Minimum subsistence in value</a:t>
            </a:r>
          </a:p>
          <a:p>
            <a:pPr marL="358775" indent="-358775" algn="just">
              <a:lnSpc>
                <a:spcPct val="105000"/>
              </a:lnSpc>
              <a:buClr>
                <a:schemeClr val="tx1"/>
              </a:buClr>
              <a:buSzPct val="100000"/>
              <a:buAutoNum type="alphaLcParenR"/>
            </a:pPr>
            <a:r>
              <a:rPr lang="en-US" sz="2400" dirty="0">
                <a:latin typeface="+mj-lt"/>
              </a:rPr>
              <a:t>Minimum subsistence turnover in quantity</a:t>
            </a:r>
          </a:p>
          <a:p>
            <a:pPr marL="358775" indent="-358775" algn="just">
              <a:lnSpc>
                <a:spcPct val="105000"/>
              </a:lnSpc>
              <a:buClr>
                <a:schemeClr val="tx1"/>
              </a:buClr>
              <a:buSzPct val="100000"/>
              <a:buAutoNum type="alphaLcParenR"/>
            </a:pPr>
            <a:r>
              <a:rPr lang="en-US" sz="2400" dirty="0">
                <a:latin typeface="+mj-lt"/>
              </a:rPr>
              <a:t>Margin of safety</a:t>
            </a:r>
          </a:p>
          <a:p>
            <a:pPr marL="358775" indent="-358775" algn="just">
              <a:lnSpc>
                <a:spcPct val="105000"/>
              </a:lnSpc>
              <a:buClr>
                <a:schemeClr val="tx1"/>
              </a:buClr>
              <a:buSzPct val="100000"/>
              <a:buAutoNum type="alphaLcParenR"/>
            </a:pPr>
            <a:r>
              <a:rPr lang="en-US" sz="2400" dirty="0">
                <a:latin typeface="+mj-lt"/>
              </a:rPr>
              <a:t>Margin of safety ratio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177ED5-8BF4-C249-F7BF-6883B23B6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336066"/>
              </p:ext>
            </p:extLst>
          </p:nvPr>
        </p:nvGraphicFramePr>
        <p:xfrm>
          <a:off x="4038600" y="4876800"/>
          <a:ext cx="4648200" cy="1828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2308438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86739143"/>
                    </a:ext>
                  </a:extLst>
                </a:gridCol>
              </a:tblGrid>
              <a:tr h="125141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Selling price per unit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R20 000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270334"/>
                  </a:ext>
                </a:extLst>
              </a:tr>
              <a:tr h="24276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Variable cost per unit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R5 000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454637"/>
                  </a:ext>
                </a:extLst>
              </a:tr>
              <a:tr h="24276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Total fixed cost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R15 000 000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31282"/>
                  </a:ext>
                </a:extLst>
              </a:tr>
              <a:tr h="24276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Expected sales (units)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2 000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188997"/>
                  </a:ext>
                </a:extLst>
              </a:tr>
              <a:tr h="24276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Planned profit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R3 500 000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4491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066686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61889C-E0DF-43F8-28B0-9A6401F2F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B2420A77-ACA9-FAFF-AFA1-785314F8E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Breakeven analysis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8AECF4-9A40-7001-5408-E5D5D87F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19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FF6642E-C6F4-79E8-5541-EEC6E2E382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marL="358775" indent="-358775" algn="just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100000"/>
              <a:buAutoNum type="alphaLcParenR"/>
            </a:pPr>
            <a:r>
              <a:rPr lang="en-US" sz="2400" dirty="0">
                <a:latin typeface="+mj-lt"/>
              </a:rPr>
              <a:t>Marginal income</a:t>
            </a:r>
          </a:p>
          <a:p>
            <a:pPr marL="0" indent="0" algn="just" defTabSz="715963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400" dirty="0">
                <a:latin typeface="+mj-lt"/>
              </a:rPr>
              <a:t>	= R20 000 x 2 000 – R5 000 x 2 000</a:t>
            </a:r>
          </a:p>
          <a:p>
            <a:pPr marL="0" indent="0" algn="just" defTabSz="715963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400" dirty="0">
                <a:latin typeface="+mj-lt"/>
              </a:rPr>
              <a:t>	= R30 000 000</a:t>
            </a:r>
          </a:p>
          <a:p>
            <a:pPr marL="0" indent="0" algn="just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100000"/>
              <a:buNone/>
              <a:tabLst>
                <a:tab pos="358775" algn="l"/>
              </a:tabLst>
            </a:pPr>
            <a:r>
              <a:rPr lang="en-US" sz="2400" dirty="0">
                <a:latin typeface="+mj-lt"/>
              </a:rPr>
              <a:t>b)	Marginal income per unit</a:t>
            </a:r>
          </a:p>
          <a:p>
            <a:pPr marL="358775" indent="-358775" algn="just" defTabSz="715963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400" dirty="0">
                <a:latin typeface="+mj-lt"/>
              </a:rPr>
              <a:t>		= R20 000 – R5 000</a:t>
            </a:r>
          </a:p>
          <a:p>
            <a:pPr marL="358775" indent="-358775" algn="just" defTabSz="715963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400" dirty="0">
                <a:latin typeface="+mj-lt"/>
              </a:rPr>
              <a:t>		= R15 000</a:t>
            </a:r>
          </a:p>
          <a:p>
            <a:pPr marL="0" indent="0" algn="just" defTabSz="715963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100000"/>
              <a:buNone/>
              <a:tabLst>
                <a:tab pos="358775" algn="l"/>
              </a:tabLst>
            </a:pPr>
            <a:r>
              <a:rPr lang="en-US" sz="2400" dirty="0">
                <a:latin typeface="+mj-lt"/>
              </a:rPr>
              <a:t>c)	Profit</a:t>
            </a:r>
          </a:p>
          <a:p>
            <a:pPr marL="0" indent="0" algn="just" defTabSz="715963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400" dirty="0">
                <a:latin typeface="+mj-lt"/>
              </a:rPr>
              <a:t>	= (R20 000 x 2 000) – (R5 000 x 2 000) – R15 000 000</a:t>
            </a:r>
          </a:p>
          <a:p>
            <a:pPr marL="0" indent="0" algn="just" defTabSz="715963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400" dirty="0">
                <a:latin typeface="+mj-lt"/>
              </a:rPr>
              <a:t>	= R15 000 000</a:t>
            </a:r>
          </a:p>
          <a:p>
            <a:pPr marL="457200" indent="-457200" algn="just" defTabSz="715963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100000"/>
              <a:buAutoNum type="alphaLcParenR" startAt="4"/>
              <a:tabLst>
                <a:tab pos="358775" algn="l"/>
                <a:tab pos="715963" algn="l"/>
              </a:tabLst>
            </a:pPr>
            <a:r>
              <a:rPr lang="en-US" sz="2400" dirty="0">
                <a:latin typeface="+mj-lt"/>
              </a:rPr>
              <a:t>Breakeven point in units and Rand</a:t>
            </a:r>
          </a:p>
          <a:p>
            <a:pPr marL="0" indent="0" algn="just" defTabSz="715963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100000"/>
              <a:buNone/>
              <a:tabLst>
                <a:tab pos="358775" algn="l"/>
                <a:tab pos="715963" algn="l"/>
              </a:tabLst>
            </a:pPr>
            <a:r>
              <a:rPr lang="en-US" sz="2400" dirty="0">
                <a:latin typeface="+mj-lt"/>
              </a:rPr>
              <a:t>		BE</a:t>
            </a:r>
            <a:r>
              <a:rPr lang="en-US" sz="2400" baseline="-25000" dirty="0">
                <a:latin typeface="+mj-lt"/>
              </a:rPr>
              <a:t>U</a:t>
            </a:r>
            <a:r>
              <a:rPr lang="en-US" sz="2400" dirty="0">
                <a:latin typeface="+mj-lt"/>
              </a:rPr>
              <a:t>	= (R15 000 000) / (R20 000 – R5 000)</a:t>
            </a:r>
          </a:p>
          <a:p>
            <a:pPr marL="0" indent="0" algn="just" defTabSz="715963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100000"/>
              <a:buNone/>
              <a:tabLst>
                <a:tab pos="358775" algn="l"/>
                <a:tab pos="715963" algn="l"/>
              </a:tabLst>
            </a:pPr>
            <a:r>
              <a:rPr lang="en-US" sz="2400" dirty="0">
                <a:latin typeface="+mj-lt"/>
              </a:rPr>
              <a:t>			= 1 000 units</a:t>
            </a:r>
          </a:p>
          <a:p>
            <a:pPr marL="0" indent="0" algn="just" defTabSz="715963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100000"/>
              <a:buNone/>
              <a:tabLst>
                <a:tab pos="358775" algn="l"/>
                <a:tab pos="715963" algn="l"/>
              </a:tabLst>
            </a:pPr>
            <a:r>
              <a:rPr lang="en-US" sz="2400" dirty="0">
                <a:latin typeface="+mj-lt"/>
              </a:rPr>
              <a:t>		BE</a:t>
            </a:r>
            <a:r>
              <a:rPr lang="en-US" sz="2400" baseline="-25000" dirty="0">
                <a:latin typeface="+mj-lt"/>
              </a:rPr>
              <a:t>R</a:t>
            </a:r>
            <a:r>
              <a:rPr lang="en-US" sz="2400" dirty="0">
                <a:latin typeface="+mj-lt"/>
              </a:rPr>
              <a:t>	= 1 000 units x R20 000</a:t>
            </a:r>
          </a:p>
          <a:p>
            <a:pPr marL="0" indent="0" algn="just" defTabSz="715963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100000"/>
              <a:buNone/>
              <a:tabLst>
                <a:tab pos="358775" algn="l"/>
                <a:tab pos="715963" algn="l"/>
              </a:tabLst>
            </a:pPr>
            <a:r>
              <a:rPr lang="en-US" sz="2400" dirty="0">
                <a:latin typeface="+mj-lt"/>
              </a:rPr>
              <a:t>			= R20 000 000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066587-D65D-10A0-E7B1-78CBC3F6C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433715"/>
              </p:ext>
            </p:extLst>
          </p:nvPr>
        </p:nvGraphicFramePr>
        <p:xfrm>
          <a:off x="4382530" y="1866900"/>
          <a:ext cx="4648200" cy="1828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2308438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86739143"/>
                    </a:ext>
                  </a:extLst>
                </a:gridCol>
              </a:tblGrid>
              <a:tr h="125141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Selling price per unit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R20 000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270334"/>
                  </a:ext>
                </a:extLst>
              </a:tr>
              <a:tr h="24276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Variable cost per unit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R5 000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454637"/>
                  </a:ext>
                </a:extLst>
              </a:tr>
              <a:tr h="24276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Total fixed cost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R15 000 000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31282"/>
                  </a:ext>
                </a:extLst>
              </a:tr>
              <a:tr h="24276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Expected sales (units)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2 000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188997"/>
                  </a:ext>
                </a:extLst>
              </a:tr>
              <a:tr h="24276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Planned profit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R3 500 000</a:t>
                      </a:r>
                      <a:endParaRPr lang="en-ZA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4491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24428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B503FD-47A8-10FF-5B23-E57FCCAF6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E9ACCB83-7EA4-FBB5-ADC0-5ADD9E3F67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Breakeven analysis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69A194-4F5A-27E9-36E6-5FEAD729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20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1F4A93C-AC02-F1A1-DADB-A6EAC056A8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marL="457200" indent="-457200" algn="just" defTabSz="358775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AutoNum type="alphaLcParenR" startAt="5"/>
              <a:tabLst>
                <a:tab pos="358775" algn="l"/>
              </a:tabLst>
            </a:pPr>
            <a:r>
              <a:rPr lang="en-US" sz="2100" dirty="0">
                <a:latin typeface="+mj-lt"/>
              </a:rPr>
              <a:t>Marginal income ratio</a:t>
            </a:r>
          </a:p>
          <a:p>
            <a:pPr marL="0" indent="0" algn="just" defTabSz="358775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358775" algn="l"/>
              </a:tabLst>
            </a:pPr>
            <a:r>
              <a:rPr lang="en-US" sz="2100" dirty="0">
                <a:latin typeface="+mj-lt"/>
              </a:rPr>
              <a:t>		= (R20 000 – R5 000) / R20 000 x 100</a:t>
            </a:r>
          </a:p>
          <a:p>
            <a:pPr marL="0" indent="0" algn="just" defTabSz="358775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358775" algn="l"/>
              </a:tabLst>
            </a:pPr>
            <a:r>
              <a:rPr lang="en-US" sz="2100" dirty="0">
                <a:latin typeface="+mj-lt"/>
              </a:rPr>
              <a:t>		= 75%</a:t>
            </a:r>
          </a:p>
          <a:p>
            <a:pPr marL="0" indent="0" algn="just" defTabSz="715963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358775" algn="l"/>
              </a:tabLst>
            </a:pPr>
            <a:r>
              <a:rPr lang="en-US" sz="2100" dirty="0">
                <a:latin typeface="+mj-lt"/>
              </a:rPr>
              <a:t>f)	Minimum subsistence in value</a:t>
            </a:r>
          </a:p>
          <a:p>
            <a:pPr marL="0" indent="0" algn="just" defTabSz="715963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100" dirty="0">
                <a:latin typeface="+mj-lt"/>
              </a:rPr>
              <a:t>	= R15 000 000 + R3 500 000 + (R5 000 x 2 000)</a:t>
            </a:r>
          </a:p>
          <a:p>
            <a:pPr marL="0" indent="0" algn="just" defTabSz="715963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100" dirty="0">
                <a:latin typeface="+mj-lt"/>
              </a:rPr>
              <a:t>	= R28 500 000</a:t>
            </a:r>
          </a:p>
          <a:p>
            <a:pPr marL="0" indent="0" algn="just" defTabSz="715963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358775" algn="l"/>
              </a:tabLst>
            </a:pPr>
            <a:r>
              <a:rPr lang="en-US" sz="2100" dirty="0">
                <a:latin typeface="+mj-lt"/>
              </a:rPr>
              <a:t>g)	Minimum subsistence turnover in quantity</a:t>
            </a:r>
          </a:p>
          <a:p>
            <a:pPr marL="0" indent="0" algn="just" defTabSz="715963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100" dirty="0">
                <a:latin typeface="+mj-lt"/>
              </a:rPr>
              <a:t>	= (R15 000 000 + R3 500 000) / 75 </a:t>
            </a:r>
          </a:p>
          <a:p>
            <a:pPr marL="0" indent="0" algn="just" defTabSz="715963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100" dirty="0">
                <a:latin typeface="+mj-lt"/>
              </a:rPr>
              <a:t>	= 246 667 units</a:t>
            </a:r>
          </a:p>
          <a:p>
            <a:pPr marL="0" indent="0" algn="just" defTabSz="715963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100" dirty="0">
                <a:latin typeface="+mj-lt"/>
              </a:rPr>
              <a:t>h)	Margin of safety</a:t>
            </a:r>
          </a:p>
          <a:p>
            <a:pPr marL="0" indent="0" algn="just" defTabSz="715963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100" dirty="0">
                <a:latin typeface="+mj-lt"/>
              </a:rPr>
              <a:t>	= (R20 000 x 2 000) – 20 000 000</a:t>
            </a:r>
          </a:p>
          <a:p>
            <a:pPr marL="0" indent="0" algn="just" defTabSz="715963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100" dirty="0">
                <a:latin typeface="+mj-lt"/>
              </a:rPr>
              <a:t>	= R20 000 000</a:t>
            </a:r>
          </a:p>
          <a:p>
            <a:pPr marL="0" indent="0" algn="just" defTabSz="715963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358775" algn="l"/>
              </a:tabLst>
            </a:pPr>
            <a:r>
              <a:rPr lang="en-US" sz="2100" dirty="0">
                <a:latin typeface="+mj-lt"/>
              </a:rPr>
              <a:t>i)	Margin of safety ratio</a:t>
            </a:r>
          </a:p>
          <a:p>
            <a:pPr marL="0" indent="0" algn="just" defTabSz="715963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100" dirty="0">
                <a:latin typeface="+mj-lt"/>
              </a:rPr>
              <a:t>	= (2 000 – 1 000) / 2 000 x 100</a:t>
            </a:r>
          </a:p>
          <a:p>
            <a:pPr marL="0" indent="0" algn="just" defTabSz="715963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100" dirty="0">
                <a:latin typeface="+mj-lt"/>
              </a:rPr>
              <a:t>	= 50%</a:t>
            </a:r>
          </a:p>
          <a:p>
            <a:pPr marL="0" indent="0" algn="just" defTabSz="715963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715963" algn="l"/>
              </a:tabLst>
            </a:pPr>
            <a:r>
              <a:rPr lang="en-US" sz="2100" dirty="0">
                <a:latin typeface="+mj-lt"/>
              </a:rPr>
              <a:t>OR	= [(R20 000 x 2 000) – R20 000 000] / (R20 000 x 2 000) x 100</a:t>
            </a:r>
          </a:p>
          <a:p>
            <a:pPr marL="0" indent="0" algn="just" defTabSz="715963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358775" algn="l"/>
                <a:tab pos="715963" algn="l"/>
              </a:tabLst>
            </a:pPr>
            <a:r>
              <a:rPr lang="en-US" sz="2100" dirty="0">
                <a:latin typeface="+mj-lt"/>
              </a:rPr>
              <a:t>		= 50%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90A087-091D-9D38-6B99-914F45031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726309"/>
              </p:ext>
            </p:extLst>
          </p:nvPr>
        </p:nvGraphicFramePr>
        <p:xfrm>
          <a:off x="5867400" y="109044"/>
          <a:ext cx="3200400" cy="1524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41227">
                  <a:extLst>
                    <a:ext uri="{9D8B030D-6E8A-4147-A177-3AD203B41FA5}">
                      <a16:colId xmlns:a16="http://schemas.microsoft.com/office/drawing/2014/main" val="2023084385"/>
                    </a:ext>
                  </a:extLst>
                </a:gridCol>
                <a:gridCol w="1259173">
                  <a:extLst>
                    <a:ext uri="{9D8B030D-6E8A-4147-A177-3AD203B41FA5}">
                      <a16:colId xmlns:a16="http://schemas.microsoft.com/office/drawing/2014/main" val="2086739143"/>
                    </a:ext>
                  </a:extLst>
                </a:gridCol>
              </a:tblGrid>
              <a:tr h="265649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Selling price per unit</a:t>
                      </a:r>
                      <a:endParaRPr lang="en-Z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R20 000</a:t>
                      </a:r>
                      <a:endParaRPr lang="en-ZA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270334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Variable cost per unit</a:t>
                      </a:r>
                      <a:endParaRPr lang="en-Z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R5 000</a:t>
                      </a:r>
                      <a:endParaRPr lang="en-ZA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454637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Total fixed cost</a:t>
                      </a:r>
                      <a:endParaRPr lang="en-Z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R15 000 000</a:t>
                      </a:r>
                      <a:endParaRPr lang="en-ZA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31282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Expected sales (units)</a:t>
                      </a:r>
                      <a:endParaRPr lang="en-Z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2 000</a:t>
                      </a:r>
                      <a:endParaRPr lang="en-ZA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188997"/>
                  </a:ext>
                </a:extLst>
              </a:tr>
              <a:tr h="265649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Planned profit</a:t>
                      </a:r>
                      <a:endParaRPr lang="en-ZA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R3 500 000</a:t>
                      </a:r>
                      <a:endParaRPr lang="en-ZA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4491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3357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7F7D56-0208-1B79-8721-55D79D49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D43C2FFC-6322-07D6-5A8A-94CCE7147B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Leverage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EA3281-0A79-2913-E96C-3CB406912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C865E61-1D4B-0F2A-3AF3-D8FAB50810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Result of use of fixed-cost assets and/or fixed-cost financing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(Degree of) Operating vs financial vs total leverage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Operating leverage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Use of fixed operating costs to magnify effects of changes in sales on EBIT</a:t>
            </a:r>
          </a:p>
          <a:p>
            <a:pPr marL="0" indent="0" algn="just" defTabSz="6731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  <a:tabLst>
                <a:tab pos="715963" algn="l"/>
              </a:tabLst>
            </a:pPr>
            <a:r>
              <a:rPr lang="en-US" sz="2000" dirty="0">
                <a:latin typeface="+mj-lt"/>
              </a:rPr>
              <a:t>	DOL	= %∆EBIT / %∆Sales</a:t>
            </a:r>
          </a:p>
          <a:p>
            <a:pPr marL="0" indent="0" algn="just" defTabSz="13462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000" dirty="0">
                <a:latin typeface="+mj-lt"/>
              </a:rPr>
              <a:t>	= [(R400 000m – R200 000m) / R200 000m] / 0.4</a:t>
            </a:r>
          </a:p>
          <a:p>
            <a:pPr marL="0" indent="0" algn="just" defTabSz="13462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000" dirty="0">
                <a:latin typeface="+mj-lt"/>
              </a:rPr>
              <a:t>	= 2.5</a:t>
            </a:r>
          </a:p>
          <a:p>
            <a:pPr marL="0" indent="0" algn="just" defTabSz="6286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000" dirty="0">
                <a:latin typeface="+mj-lt"/>
              </a:rPr>
              <a:t>	40%∆Sales leads to 100%∆EBIT, thus ∆EBIT is 2.5 &gt; ∆Sales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4467CC-2752-6CF3-5B2E-4D746F233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417050"/>
              </p:ext>
            </p:extLst>
          </p:nvPr>
        </p:nvGraphicFramePr>
        <p:xfrm>
          <a:off x="76200" y="4191000"/>
          <a:ext cx="9000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654189214"/>
                    </a:ext>
                  </a:extLst>
                </a:gridCol>
                <a:gridCol w="2290200">
                  <a:extLst>
                    <a:ext uri="{9D8B030D-6E8A-4147-A177-3AD203B41FA5}">
                      <a16:colId xmlns:a16="http://schemas.microsoft.com/office/drawing/2014/main" val="774692608"/>
                    </a:ext>
                  </a:extLst>
                </a:gridCol>
                <a:gridCol w="2290200">
                  <a:extLst>
                    <a:ext uri="{9D8B030D-6E8A-4147-A177-3AD203B41FA5}">
                      <a16:colId xmlns:a16="http://schemas.microsoft.com/office/drawing/2014/main" val="1157189623"/>
                    </a:ext>
                  </a:extLst>
                </a:gridCol>
              </a:tblGrid>
              <a:tr h="291543"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JHS Ltd (all amounts in R)</a:t>
                      </a:r>
                      <a:endParaRPr lang="en-ZA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48824"/>
                  </a:ext>
                </a:extLst>
              </a:tr>
              <a:tr h="503575">
                <a:tc>
                  <a:txBody>
                    <a:bodyPr/>
                    <a:lstStyle/>
                    <a:p>
                      <a:r>
                        <a:rPr lang="en-US" sz="1600" dirty="0"/>
                        <a:t>Expected statement of financial performance (before interest and taxes)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Present sales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40% increase in sales</a:t>
                      </a:r>
                      <a:endParaRPr lang="en-Z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074131"/>
                  </a:ext>
                </a:extLst>
              </a:tr>
              <a:tr h="291543">
                <a:tc>
                  <a:txBody>
                    <a:bodyPr/>
                    <a:lstStyle/>
                    <a:p>
                      <a:r>
                        <a:rPr lang="en-US" sz="1600" dirty="0"/>
                        <a:t>Sales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1 000 000 000 000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1 400 000 000 00</a:t>
                      </a:r>
                      <a:endParaRPr lang="en-Z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756209"/>
                  </a:ext>
                </a:extLst>
              </a:tr>
              <a:tr h="291543">
                <a:tc>
                  <a:txBody>
                    <a:bodyPr/>
                    <a:lstStyle/>
                    <a:p>
                      <a:r>
                        <a:rPr lang="en-US" sz="1600" dirty="0"/>
                        <a:t>Less: Cost of sales (50% of Sales)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500 000 000 000</a:t>
                      </a:r>
                      <a:endParaRPr lang="en-ZA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700 000 000 00</a:t>
                      </a:r>
                      <a:endParaRPr lang="en-ZA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3628"/>
                  </a:ext>
                </a:extLst>
              </a:tr>
              <a:tr h="291543">
                <a:tc>
                  <a:txBody>
                    <a:bodyPr/>
                    <a:lstStyle/>
                    <a:p>
                      <a:r>
                        <a:rPr lang="en-US" sz="1600" dirty="0"/>
                        <a:t>Gross income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500 000 000 000</a:t>
                      </a:r>
                      <a:endParaRPr lang="en-ZA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700 000 000 000</a:t>
                      </a:r>
                      <a:endParaRPr lang="en-ZA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48876247"/>
                  </a:ext>
                </a:extLst>
              </a:tr>
              <a:tr h="291543">
                <a:tc>
                  <a:txBody>
                    <a:bodyPr/>
                    <a:lstStyle/>
                    <a:p>
                      <a:r>
                        <a:rPr lang="en-US" sz="1600" dirty="0"/>
                        <a:t>Less: Operating expenses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300 000 000 000</a:t>
                      </a:r>
                      <a:endParaRPr lang="en-ZA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300 000 000 000</a:t>
                      </a:r>
                      <a:endParaRPr lang="en-ZA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340212"/>
                  </a:ext>
                </a:extLst>
              </a:tr>
              <a:tr h="291543">
                <a:tc>
                  <a:txBody>
                    <a:bodyPr/>
                    <a:lstStyle/>
                    <a:p>
                      <a:r>
                        <a:rPr lang="en-US" sz="1600" dirty="0"/>
                        <a:t>EBIT</a:t>
                      </a:r>
                      <a:endParaRPr lang="en-Z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200 000 000 000</a:t>
                      </a:r>
                      <a:endParaRPr lang="en-ZA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400 000 000 000</a:t>
                      </a:r>
                      <a:endParaRPr lang="en-ZA" sz="16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01784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9045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B6A761-11F8-5BF3-D337-42534EA29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F6310B0D-003D-67DD-6C43-E67EEF2AE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Financial leverage and return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6D0B17-A686-73B7-77B3-5475AFC8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62800" y="6477000"/>
            <a:ext cx="1905000" cy="457200"/>
          </a:xfrm>
        </p:spPr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FD7735-C6CA-0B18-E5E6-9B7EC52205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Financial C/S directly affects financial risk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00000"/>
                </a:solidFill>
                <a:latin typeface="+mj-lt"/>
              </a:rPr>
              <a:t>Financial leverage </a:t>
            </a:r>
            <a:r>
              <a:rPr lang="en-US" sz="2400" dirty="0">
                <a:latin typeface="+mj-lt"/>
              </a:rPr>
              <a:t>– use of fixed-cost financing due to interest payments (debt) and dividends (preference shares)</a:t>
            </a:r>
          </a:p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Example: JHS </a:t>
            </a:r>
            <a:r>
              <a:rPr lang="en-US" sz="2400" dirty="0" err="1">
                <a:latin typeface="+mj-lt"/>
              </a:rPr>
              <a:t>Ltd’s</a:t>
            </a:r>
            <a:r>
              <a:rPr lang="en-US" sz="2400" dirty="0">
                <a:latin typeface="+mj-lt"/>
              </a:rPr>
              <a:t> initial investment amounts to R1bn (9 zeros).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Scenario 1: Finance with own savings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Scenario 2: Finance 20% with debt and rest with equity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</a:p>
          <a:p>
            <a:pPr marL="0" indent="0" algn="just">
              <a:lnSpc>
                <a:spcPct val="105000"/>
              </a:lnSpc>
              <a:buSzPct val="100000"/>
              <a:buNone/>
              <a:tabLst>
                <a:tab pos="358775" algn="l"/>
              </a:tabLst>
            </a:pPr>
            <a:r>
              <a:rPr lang="en-US" sz="2400" dirty="0">
                <a:latin typeface="+mj-lt"/>
              </a:rPr>
              <a:t>	Interest rate is 15% pa. </a:t>
            </a:r>
          </a:p>
          <a:p>
            <a:pPr marL="0" indent="0" algn="just">
              <a:lnSpc>
                <a:spcPct val="105000"/>
              </a:lnSpc>
              <a:buSzPct val="100000"/>
              <a:buNone/>
              <a:tabLst>
                <a:tab pos="358775" algn="l"/>
              </a:tabLst>
            </a:pPr>
            <a:endParaRPr lang="en-US" sz="2400" dirty="0">
              <a:latin typeface="+mj-lt"/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  <a:tabLst>
                <a:tab pos="358775" algn="l"/>
              </a:tabLst>
            </a:pPr>
            <a:r>
              <a:rPr lang="en-US" sz="2400" dirty="0">
                <a:latin typeface="+mj-lt"/>
              </a:rPr>
              <a:t>	Assume that EBIT increase by 100%.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4045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B0711D-A9C2-ED74-D359-6F9963CE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500B9FAA-9682-9509-EEEA-BC85D5B08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Financial leverage and return (cont.)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32C55C-4E40-09C1-3E0B-843ABDBC70DB}"/>
              </a:ext>
            </a:extLst>
          </p:cNvPr>
          <p:cNvGraphicFramePr>
            <a:graphicFrameLocks noGrp="1"/>
          </p:cNvGraphicFramePr>
          <p:nvPr/>
        </p:nvGraphicFramePr>
        <p:xfrm>
          <a:off x="135599" y="914400"/>
          <a:ext cx="8856001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8207">
                  <a:extLst>
                    <a:ext uri="{9D8B030D-6E8A-4147-A177-3AD203B41FA5}">
                      <a16:colId xmlns:a16="http://schemas.microsoft.com/office/drawing/2014/main" val="2094799449"/>
                    </a:ext>
                  </a:extLst>
                </a:gridCol>
                <a:gridCol w="2633897">
                  <a:extLst>
                    <a:ext uri="{9D8B030D-6E8A-4147-A177-3AD203B41FA5}">
                      <a16:colId xmlns:a16="http://schemas.microsoft.com/office/drawing/2014/main" val="229568527"/>
                    </a:ext>
                  </a:extLst>
                </a:gridCol>
                <a:gridCol w="2633897">
                  <a:extLst>
                    <a:ext uri="{9D8B030D-6E8A-4147-A177-3AD203B41FA5}">
                      <a16:colId xmlns:a16="http://schemas.microsoft.com/office/drawing/2014/main" val="1443225844"/>
                    </a:ext>
                  </a:extLst>
                </a:gridCol>
              </a:tblGrid>
              <a:tr h="348387">
                <a:tc gridSpan="3"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Scenario 1                                   JHS Ltd (R’000)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76180"/>
                  </a:ext>
                </a:extLst>
              </a:tr>
              <a:tr h="609677">
                <a:tc>
                  <a:txBody>
                    <a:bodyPr/>
                    <a:lstStyle/>
                    <a:p>
                      <a:r>
                        <a:rPr lang="en-US" sz="1800" dirty="0"/>
                        <a:t>Expected statement of financial performance</a:t>
                      </a:r>
                      <a:endParaRPr lang="en-ZA" sz="1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Debt ratio 0%</a:t>
                      </a:r>
                      <a:endParaRPr lang="en-ZA" sz="1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100% increase in EBIT</a:t>
                      </a:r>
                      <a:endParaRPr lang="en-ZA" sz="1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925188"/>
                  </a:ext>
                </a:extLst>
              </a:tr>
              <a:tr h="348387">
                <a:tc>
                  <a:txBody>
                    <a:bodyPr/>
                    <a:lstStyle/>
                    <a:p>
                      <a:r>
                        <a:rPr lang="en-US" sz="1800" dirty="0"/>
                        <a:t>EBIT</a:t>
                      </a:r>
                      <a:endParaRPr lang="en-ZA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200 000</a:t>
                      </a:r>
                      <a:endParaRPr lang="en-ZA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400 000</a:t>
                      </a:r>
                      <a:endParaRPr lang="en-ZA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167102"/>
                  </a:ext>
                </a:extLst>
              </a:tr>
              <a:tr h="348387">
                <a:tc>
                  <a:txBody>
                    <a:bodyPr/>
                    <a:lstStyle/>
                    <a:p>
                      <a:r>
                        <a:rPr lang="en-US" sz="1800" dirty="0"/>
                        <a:t>Less: Interest</a:t>
                      </a:r>
                      <a:endParaRPr lang="en-ZA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  <a:endParaRPr lang="en-ZA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  <a:endParaRPr lang="en-ZA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912740"/>
                  </a:ext>
                </a:extLst>
              </a:tr>
              <a:tr h="348387">
                <a:tc>
                  <a:txBody>
                    <a:bodyPr/>
                    <a:lstStyle/>
                    <a:p>
                      <a:r>
                        <a:rPr lang="en-US" sz="1800" dirty="0"/>
                        <a:t>EBT</a:t>
                      </a:r>
                      <a:endParaRPr lang="en-ZA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200 000</a:t>
                      </a:r>
                      <a:endParaRPr lang="en-ZA" sz="1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400 000</a:t>
                      </a:r>
                      <a:endParaRPr lang="en-ZA" sz="1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23026"/>
                  </a:ext>
                </a:extLst>
              </a:tr>
              <a:tr h="348387">
                <a:tc>
                  <a:txBody>
                    <a:bodyPr/>
                    <a:lstStyle/>
                    <a:p>
                      <a:r>
                        <a:rPr lang="en-US" sz="1800" dirty="0"/>
                        <a:t>Less: Taxes (27%)</a:t>
                      </a:r>
                      <a:endParaRPr lang="en-ZA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54 000</a:t>
                      </a:r>
                      <a:endParaRPr lang="en-ZA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108 000</a:t>
                      </a:r>
                      <a:endParaRPr lang="en-ZA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705331"/>
                  </a:ext>
                </a:extLst>
              </a:tr>
              <a:tr h="348387">
                <a:tc>
                  <a:txBody>
                    <a:bodyPr/>
                    <a:lstStyle/>
                    <a:p>
                      <a:r>
                        <a:rPr lang="en-US" sz="1800" dirty="0"/>
                        <a:t>EAT</a:t>
                      </a:r>
                      <a:endParaRPr lang="en-ZA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146 000</a:t>
                      </a:r>
                      <a:endParaRPr lang="en-ZA" sz="1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292 000</a:t>
                      </a:r>
                      <a:endParaRPr lang="en-ZA" sz="1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29511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61DD7CB-6579-4CAE-46D7-0E1A4F7A9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489079"/>
              </p:ext>
            </p:extLst>
          </p:nvPr>
        </p:nvGraphicFramePr>
        <p:xfrm>
          <a:off x="135598" y="3881470"/>
          <a:ext cx="8856001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8207">
                  <a:extLst>
                    <a:ext uri="{9D8B030D-6E8A-4147-A177-3AD203B41FA5}">
                      <a16:colId xmlns:a16="http://schemas.microsoft.com/office/drawing/2014/main" val="2094799449"/>
                    </a:ext>
                  </a:extLst>
                </a:gridCol>
                <a:gridCol w="2633897">
                  <a:extLst>
                    <a:ext uri="{9D8B030D-6E8A-4147-A177-3AD203B41FA5}">
                      <a16:colId xmlns:a16="http://schemas.microsoft.com/office/drawing/2014/main" val="229568527"/>
                    </a:ext>
                  </a:extLst>
                </a:gridCol>
                <a:gridCol w="2633897">
                  <a:extLst>
                    <a:ext uri="{9D8B030D-6E8A-4147-A177-3AD203B41FA5}">
                      <a16:colId xmlns:a16="http://schemas.microsoft.com/office/drawing/2014/main" val="1443225844"/>
                    </a:ext>
                  </a:extLst>
                </a:gridCol>
              </a:tblGrid>
              <a:tr h="370693">
                <a:tc gridSpan="3"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Scenario 2                                   JHS Ltd (R’000)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76180"/>
                  </a:ext>
                </a:extLst>
              </a:tr>
              <a:tr h="655842">
                <a:tc>
                  <a:txBody>
                    <a:bodyPr/>
                    <a:lstStyle/>
                    <a:p>
                      <a:r>
                        <a:rPr lang="en-US" sz="1800" dirty="0"/>
                        <a:t>Expected statement of financial performance</a:t>
                      </a:r>
                      <a:endParaRPr lang="en-ZA" sz="1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Debt ratio 20%</a:t>
                      </a:r>
                      <a:endParaRPr lang="en-ZA" sz="1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100% increase in EBIT</a:t>
                      </a:r>
                      <a:endParaRPr lang="en-ZA" sz="1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925188"/>
                  </a:ext>
                </a:extLst>
              </a:tr>
              <a:tr h="370693">
                <a:tc>
                  <a:txBody>
                    <a:bodyPr/>
                    <a:lstStyle/>
                    <a:p>
                      <a:r>
                        <a:rPr lang="en-US" sz="1800" dirty="0"/>
                        <a:t>EBIT</a:t>
                      </a:r>
                      <a:endParaRPr lang="en-ZA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200 000</a:t>
                      </a:r>
                      <a:endParaRPr lang="en-ZA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400 000</a:t>
                      </a:r>
                      <a:endParaRPr lang="en-ZA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167102"/>
                  </a:ext>
                </a:extLst>
              </a:tr>
              <a:tr h="370693">
                <a:tc>
                  <a:txBody>
                    <a:bodyPr/>
                    <a:lstStyle/>
                    <a:p>
                      <a:r>
                        <a:rPr lang="en-US" sz="1800" dirty="0"/>
                        <a:t>Less: Interest</a:t>
                      </a:r>
                      <a:endParaRPr lang="en-ZA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30 000</a:t>
                      </a:r>
                      <a:endParaRPr lang="en-ZA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30 000</a:t>
                      </a:r>
                      <a:endParaRPr lang="en-ZA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912740"/>
                  </a:ext>
                </a:extLst>
              </a:tr>
              <a:tr h="370693">
                <a:tc>
                  <a:txBody>
                    <a:bodyPr/>
                    <a:lstStyle/>
                    <a:p>
                      <a:r>
                        <a:rPr lang="en-US" sz="1800" dirty="0"/>
                        <a:t>EBT</a:t>
                      </a:r>
                      <a:endParaRPr lang="en-ZA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170 000</a:t>
                      </a:r>
                      <a:endParaRPr lang="en-ZA" sz="1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370 000</a:t>
                      </a:r>
                      <a:endParaRPr lang="en-ZA" sz="1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23026"/>
                  </a:ext>
                </a:extLst>
              </a:tr>
              <a:tr h="370693">
                <a:tc>
                  <a:txBody>
                    <a:bodyPr/>
                    <a:lstStyle/>
                    <a:p>
                      <a:r>
                        <a:rPr lang="en-US" sz="1800" dirty="0"/>
                        <a:t>Less: Taxes (27%)</a:t>
                      </a:r>
                      <a:endParaRPr lang="en-ZA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45 900</a:t>
                      </a:r>
                      <a:endParaRPr lang="en-ZA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99 900</a:t>
                      </a:r>
                      <a:endParaRPr lang="en-ZA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705331"/>
                  </a:ext>
                </a:extLst>
              </a:tr>
              <a:tr h="370693">
                <a:tc>
                  <a:txBody>
                    <a:bodyPr/>
                    <a:lstStyle/>
                    <a:p>
                      <a:r>
                        <a:rPr lang="en-US" sz="1800" dirty="0"/>
                        <a:t>EAT</a:t>
                      </a:r>
                      <a:endParaRPr lang="en-ZA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124 100</a:t>
                      </a:r>
                      <a:endParaRPr lang="en-ZA" sz="1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270 100</a:t>
                      </a:r>
                      <a:endParaRPr lang="en-ZA" sz="1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29511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1400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CEDF8AD-43C3-8679-7674-A7C08A2C1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A62C8A42-D6C2-B20D-D735-3F146C85E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Financial leverage and return (cont.)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C1C6C3BE-59DF-9617-6446-6368ED9602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Scenario 1 </a:t>
            </a:r>
          </a:p>
          <a:p>
            <a:pPr marL="0" indent="0" algn="just">
              <a:lnSpc>
                <a:spcPct val="100000"/>
              </a:lnSpc>
              <a:buSzPct val="100000"/>
              <a:buNone/>
              <a:tabLst>
                <a:tab pos="358775" algn="l"/>
              </a:tabLst>
            </a:pPr>
            <a:r>
              <a:rPr lang="en-US" sz="2400" dirty="0">
                <a:latin typeface="+mj-lt"/>
              </a:rPr>
              <a:t>	∆% = (R292 000 – 146 000) / R146 000 x 100</a:t>
            </a:r>
          </a:p>
          <a:p>
            <a:pPr marL="0" indent="0" algn="just" defTabSz="1257300">
              <a:lnSpc>
                <a:spcPct val="100000"/>
              </a:lnSpc>
              <a:buSzPct val="100000"/>
              <a:buNone/>
              <a:tabLst>
                <a:tab pos="898525" algn="l"/>
              </a:tabLst>
            </a:pPr>
            <a:r>
              <a:rPr lang="en-US" sz="2400" dirty="0">
                <a:latin typeface="+mj-lt"/>
              </a:rPr>
              <a:t>	= 100% increase in EBIT </a:t>
            </a:r>
          </a:p>
          <a:p>
            <a:pPr marL="0" indent="0" algn="just" defTabSz="1257300">
              <a:lnSpc>
                <a:spcPct val="100000"/>
              </a:lnSpc>
              <a:buSzPct val="100000"/>
              <a:buNone/>
              <a:tabLst>
                <a:tab pos="898525" algn="l"/>
              </a:tabLst>
            </a:pPr>
            <a:r>
              <a:rPr lang="en-US" sz="2400" dirty="0">
                <a:latin typeface="+mj-lt"/>
              </a:rPr>
              <a:t>		(due to 100% change in Earnings)</a:t>
            </a:r>
          </a:p>
          <a:p>
            <a:pPr algn="just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Scenario 2</a:t>
            </a:r>
          </a:p>
          <a:p>
            <a:pPr marL="0" indent="0" algn="just">
              <a:lnSpc>
                <a:spcPct val="100000"/>
              </a:lnSpc>
              <a:buSzPct val="100000"/>
              <a:buNone/>
              <a:tabLst>
                <a:tab pos="358775" algn="l"/>
              </a:tabLst>
            </a:pPr>
            <a:r>
              <a:rPr lang="en-US" sz="2400" dirty="0">
                <a:latin typeface="+mj-lt"/>
              </a:rPr>
              <a:t>	∆% = (R270 100 – R124 100) / R124 100 x 100</a:t>
            </a:r>
          </a:p>
          <a:p>
            <a:pPr marL="0" indent="0" algn="just">
              <a:lnSpc>
                <a:spcPct val="100000"/>
              </a:lnSpc>
              <a:buSzPct val="100000"/>
              <a:buNone/>
              <a:tabLst>
                <a:tab pos="358775" algn="l"/>
              </a:tabLst>
            </a:pPr>
            <a:r>
              <a:rPr lang="en-US" sz="2400" dirty="0">
                <a:latin typeface="+mj-lt"/>
              </a:rPr>
              <a:t>		= 117.65% increase in EBIT</a:t>
            </a:r>
          </a:p>
          <a:p>
            <a:pPr marL="0" indent="0" algn="just" defTabSz="1257300">
              <a:lnSpc>
                <a:spcPct val="100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(due to 100% change in Earnings)</a:t>
            </a:r>
          </a:p>
          <a:p>
            <a:pPr marL="0" indent="0" algn="just">
              <a:lnSpc>
                <a:spcPct val="100000"/>
              </a:lnSpc>
              <a:buSzPct val="100000"/>
              <a:buNone/>
              <a:tabLst>
                <a:tab pos="358775" algn="l"/>
              </a:tabLst>
            </a:pPr>
            <a:r>
              <a:rPr lang="en-US" sz="2400" dirty="0">
                <a:latin typeface="+mj-lt"/>
              </a:rPr>
              <a:t>	DFL	= %∆Earnings / %∆EBIT</a:t>
            </a:r>
          </a:p>
          <a:p>
            <a:pPr marL="0" indent="0" algn="just">
              <a:lnSpc>
                <a:spcPct val="100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= 117.65% / 100%</a:t>
            </a:r>
          </a:p>
          <a:p>
            <a:pPr marL="0" indent="0" algn="just">
              <a:lnSpc>
                <a:spcPct val="100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= 1.18</a:t>
            </a:r>
          </a:p>
          <a:p>
            <a:pPr marL="0" indent="0" algn="just">
              <a:lnSpc>
                <a:spcPct val="100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For a given % change in EBIT, the change in earnings 	is 1.18 larger </a:t>
            </a:r>
          </a:p>
          <a:p>
            <a:pPr marL="0" indent="0" algn="just">
              <a:lnSpc>
                <a:spcPct val="100000"/>
              </a:lnSpc>
              <a:buSzPct val="100000"/>
              <a:buNone/>
              <a:tabLst>
                <a:tab pos="358775" algn="l"/>
              </a:tabLst>
            </a:pPr>
            <a:r>
              <a:rPr lang="en-US" sz="2400" dirty="0">
                <a:latin typeface="+mj-lt"/>
              </a:rPr>
              <a:t>	 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A149D4DB-90DE-76F2-CB57-CC8E4A3C6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62800" y="6477000"/>
            <a:ext cx="1905000" cy="457200"/>
          </a:xfrm>
        </p:spPr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24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397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BBEEB0-B6B2-1AD7-BEA2-9C9BB69BA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9306CCD9-89A6-FBA2-91C5-47B1FE8405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Financial leverage and return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83A4DC-18FE-9257-C6BD-DCC7BBB0C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25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74AAB9F-2C3C-8348-7976-2C13FAC731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Combining DOL and DFL = DTL (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degree of total leverage</a:t>
            </a:r>
            <a:r>
              <a:rPr lang="en-US" sz="2400" dirty="0">
                <a:latin typeface="+mj-lt"/>
              </a:rPr>
              <a:t>)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DOL	=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%∆EBIT </a:t>
            </a:r>
            <a:r>
              <a:rPr lang="en-US" sz="2400" dirty="0">
                <a:latin typeface="+mj-lt"/>
              </a:rPr>
              <a:t>/ </a:t>
            </a:r>
            <a:r>
              <a:rPr lang="en-US" sz="2400" dirty="0">
                <a:solidFill>
                  <a:srgbClr val="7030A0"/>
                </a:solidFill>
                <a:latin typeface="+mj-lt"/>
              </a:rPr>
              <a:t>%∆Sales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DFL	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%∆Earnings </a:t>
            </a:r>
            <a:r>
              <a:rPr lang="en-US" sz="2400" dirty="0">
                <a:latin typeface="+mj-lt"/>
              </a:rPr>
              <a:t>/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%∆EBIT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DTL	= DOL x DFL</a:t>
            </a:r>
          </a:p>
          <a:p>
            <a:pPr marL="0" indent="0" algn="just">
              <a:lnSpc>
                <a:spcPct val="105000"/>
              </a:lnSpc>
              <a:buSzPct val="100000"/>
              <a:buNone/>
              <a:tabLst>
                <a:tab pos="987425" algn="l"/>
              </a:tabLst>
            </a:pPr>
            <a:r>
              <a:rPr lang="en-US" sz="2400" dirty="0">
                <a:latin typeface="+mj-lt"/>
              </a:rPr>
              <a:t>		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%∆Earnings </a:t>
            </a:r>
            <a:r>
              <a:rPr lang="en-US" sz="2400" dirty="0">
                <a:latin typeface="+mj-lt"/>
              </a:rPr>
              <a:t>/ </a:t>
            </a:r>
            <a:r>
              <a:rPr lang="en-US" sz="2400" dirty="0">
                <a:solidFill>
                  <a:srgbClr val="7030A0"/>
                </a:solidFill>
                <a:latin typeface="+mj-lt"/>
              </a:rPr>
              <a:t>%∆Sales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6257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E9CFEA-2E73-D106-9C99-512B06F40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B04091A3-0ADF-C1B4-A911-7241590655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Financial leverage and return (cont.)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2DAF267-A872-AFA7-4014-25618AC2A3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Example: Assume JHS Ltd expects the sales volume to decrease by 30% and the debt ratio amounts to 20% of C/S.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D678EE-1F9A-228B-E638-2D716D51A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231545"/>
              </p:ext>
            </p:extLst>
          </p:nvPr>
        </p:nvGraphicFramePr>
        <p:xfrm>
          <a:off x="156057" y="2209800"/>
          <a:ext cx="8831886" cy="454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6488">
                  <a:extLst>
                    <a:ext uri="{9D8B030D-6E8A-4147-A177-3AD203B41FA5}">
                      <a16:colId xmlns:a16="http://schemas.microsoft.com/office/drawing/2014/main" val="3905001238"/>
                    </a:ext>
                  </a:extLst>
                </a:gridCol>
                <a:gridCol w="2552699">
                  <a:extLst>
                    <a:ext uri="{9D8B030D-6E8A-4147-A177-3AD203B41FA5}">
                      <a16:colId xmlns:a16="http://schemas.microsoft.com/office/drawing/2014/main" val="899438710"/>
                    </a:ext>
                  </a:extLst>
                </a:gridCol>
                <a:gridCol w="2552699">
                  <a:extLst>
                    <a:ext uri="{9D8B030D-6E8A-4147-A177-3AD203B41FA5}">
                      <a16:colId xmlns:a16="http://schemas.microsoft.com/office/drawing/2014/main" val="1861665811"/>
                    </a:ext>
                  </a:extLst>
                </a:gridCol>
              </a:tblGrid>
              <a:tr h="390167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JHS Ltd (R’000)</a:t>
                      </a:r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290404"/>
                  </a:ext>
                </a:extLst>
              </a:tr>
              <a:tr h="634331">
                <a:tc>
                  <a:txBody>
                    <a:bodyPr/>
                    <a:lstStyle/>
                    <a:p>
                      <a:r>
                        <a:rPr lang="en-US" b="1" dirty="0"/>
                        <a:t>Expected statement of financial performance</a:t>
                      </a:r>
                      <a:endParaRPr lang="en-ZA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Debt ratio 20%</a:t>
                      </a:r>
                      <a:endParaRPr lang="en-ZA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30% decrease in sales</a:t>
                      </a:r>
                      <a:endParaRPr lang="en-ZA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253873"/>
                  </a:ext>
                </a:extLst>
              </a:tr>
              <a:tr h="390167"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en-ZA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1 000 000</a:t>
                      </a:r>
                      <a:endParaRPr lang="en-ZA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700 000</a:t>
                      </a:r>
                      <a:endParaRPr lang="en-ZA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944161"/>
                  </a:ext>
                </a:extLst>
              </a:tr>
              <a:tr h="390167">
                <a:tc>
                  <a:txBody>
                    <a:bodyPr/>
                    <a:lstStyle/>
                    <a:p>
                      <a:r>
                        <a:rPr lang="en-US" dirty="0"/>
                        <a:t>Less: Cost of sales (50% of sales)</a:t>
                      </a:r>
                      <a:endParaRPr lang="en-ZA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500 000</a:t>
                      </a:r>
                      <a:endParaRPr lang="en-ZA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350 000</a:t>
                      </a:r>
                      <a:endParaRPr lang="en-ZA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75721"/>
                  </a:ext>
                </a:extLst>
              </a:tr>
              <a:tr h="390167">
                <a:tc>
                  <a:txBody>
                    <a:bodyPr/>
                    <a:lstStyle/>
                    <a:p>
                      <a:r>
                        <a:rPr lang="en-US" dirty="0"/>
                        <a:t>Gross profit</a:t>
                      </a:r>
                      <a:endParaRPr lang="en-ZA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500 000</a:t>
                      </a:r>
                      <a:endParaRPr lang="en-ZA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350 000</a:t>
                      </a:r>
                      <a:endParaRPr lang="en-ZA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083032"/>
                  </a:ext>
                </a:extLst>
              </a:tr>
              <a:tr h="390167">
                <a:tc>
                  <a:txBody>
                    <a:bodyPr/>
                    <a:lstStyle/>
                    <a:p>
                      <a:r>
                        <a:rPr lang="en-US" dirty="0"/>
                        <a:t>Less: Operating expenses</a:t>
                      </a:r>
                      <a:endParaRPr lang="en-ZA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300 000</a:t>
                      </a:r>
                      <a:endParaRPr lang="en-ZA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300 000</a:t>
                      </a:r>
                      <a:endParaRPr lang="en-ZA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562790"/>
                  </a:ext>
                </a:extLst>
              </a:tr>
              <a:tr h="390167">
                <a:tc>
                  <a:txBody>
                    <a:bodyPr/>
                    <a:lstStyle/>
                    <a:p>
                      <a:r>
                        <a:rPr lang="en-US" dirty="0"/>
                        <a:t>EBIT</a:t>
                      </a:r>
                      <a:endParaRPr lang="en-ZA" dirty="0"/>
                    </a:p>
                  </a:txBody>
                  <a:tcPr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200 000</a:t>
                      </a:r>
                      <a:endParaRPr lang="en-ZA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50 000</a:t>
                      </a:r>
                      <a:endParaRPr lang="en-ZA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103624"/>
                  </a:ext>
                </a:extLst>
              </a:tr>
              <a:tr h="390167">
                <a:tc>
                  <a:txBody>
                    <a:bodyPr/>
                    <a:lstStyle/>
                    <a:p>
                      <a:r>
                        <a:rPr lang="en-US" dirty="0"/>
                        <a:t>Less: Interest (15% pa)</a:t>
                      </a:r>
                      <a:endParaRPr lang="en-ZA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30 000</a:t>
                      </a:r>
                      <a:endParaRPr lang="en-ZA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30 000</a:t>
                      </a:r>
                      <a:endParaRPr lang="en-ZA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193712"/>
                  </a:ext>
                </a:extLst>
              </a:tr>
              <a:tr h="390167">
                <a:tc>
                  <a:txBody>
                    <a:bodyPr/>
                    <a:lstStyle/>
                    <a:p>
                      <a:r>
                        <a:rPr lang="en-US" dirty="0"/>
                        <a:t>EBT</a:t>
                      </a:r>
                      <a:endParaRPr lang="en-ZA" dirty="0"/>
                    </a:p>
                  </a:txBody>
                  <a:tcPr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170 000</a:t>
                      </a:r>
                      <a:endParaRPr lang="en-ZA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20 000</a:t>
                      </a:r>
                      <a:endParaRPr lang="en-ZA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483804"/>
                  </a:ext>
                </a:extLst>
              </a:tr>
              <a:tr h="390167">
                <a:tc>
                  <a:txBody>
                    <a:bodyPr/>
                    <a:lstStyle/>
                    <a:p>
                      <a:r>
                        <a:rPr lang="en-US" dirty="0"/>
                        <a:t>Less: Taxes (27%)</a:t>
                      </a:r>
                      <a:endParaRPr lang="en-ZA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45 900</a:t>
                      </a:r>
                      <a:endParaRPr lang="en-ZA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5 400</a:t>
                      </a:r>
                      <a:endParaRPr lang="en-ZA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630765"/>
                  </a:ext>
                </a:extLst>
              </a:tr>
              <a:tr h="390167">
                <a:tc>
                  <a:txBody>
                    <a:bodyPr/>
                    <a:lstStyle/>
                    <a:p>
                      <a:r>
                        <a:rPr lang="en-US" dirty="0"/>
                        <a:t>EAT</a:t>
                      </a:r>
                      <a:endParaRPr lang="en-ZA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124 100</a:t>
                      </a:r>
                      <a:endParaRPr lang="en-ZA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14 600</a:t>
                      </a:r>
                      <a:endParaRPr lang="en-ZA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40568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5148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AAECF8-0842-A72B-E41E-80DA8205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426FA830-CD94-C2BA-760B-2B381BDB3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Financial leverage and return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C3345B-E15A-2CF0-9421-29E2695F9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FFDDDB3-76B5-E920-7C34-9B8B3415D7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%∆EBIT 	= (50 000 – 200 000) / 200 000 x 100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		= -75%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%∆Earnings	= (14 600 – 124 100) / 124 100 x 100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		= -88.24%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%∆Sales	= -30% (given)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5212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6B9BD6-BBD3-83E9-D4EA-B4EDF46F1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4F17A7CA-AFCC-8C81-5F3C-18A032208B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Financial leverage and return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6ACFF-4EAB-8FA6-6380-D0C56E5D5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61E2C1D-2E29-1DAB-5A35-61443D7722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8140" y="990600"/>
            <a:ext cx="8655424" cy="5247290"/>
          </a:xfrm>
        </p:spPr>
        <p:txBody>
          <a:bodyPr/>
          <a:lstStyle/>
          <a:p>
            <a:pPr algn="just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Combining DOL and DFL = DTL (degree of total leverage)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% changes calculated on previous slide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DOL	=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%∆EBIT </a:t>
            </a:r>
            <a:r>
              <a:rPr lang="en-US" sz="2400" dirty="0">
                <a:latin typeface="+mj-lt"/>
              </a:rPr>
              <a:t>/ </a:t>
            </a:r>
            <a:r>
              <a:rPr lang="en-US" sz="2400" dirty="0">
                <a:solidFill>
                  <a:srgbClr val="7030A0"/>
                </a:solidFill>
                <a:latin typeface="+mj-lt"/>
              </a:rPr>
              <a:t>%∆Sales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-75% </a:t>
            </a:r>
            <a:r>
              <a:rPr lang="en-US" sz="2400" dirty="0">
                <a:latin typeface="+mj-lt"/>
              </a:rPr>
              <a:t>/ </a:t>
            </a:r>
            <a:r>
              <a:rPr lang="en-US" sz="2400" dirty="0">
                <a:solidFill>
                  <a:srgbClr val="7030A0"/>
                </a:solidFill>
                <a:latin typeface="+mj-lt"/>
              </a:rPr>
              <a:t>-30%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 2.5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1000" dirty="0">
              <a:latin typeface="+mj-lt"/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DFL	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%∆Earnings </a:t>
            </a:r>
            <a:r>
              <a:rPr lang="en-US" sz="2400" dirty="0">
                <a:latin typeface="+mj-lt"/>
              </a:rPr>
              <a:t>/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%∆EBIT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-88.24% </a:t>
            </a:r>
            <a:r>
              <a:rPr lang="en-US" sz="2400" dirty="0">
                <a:latin typeface="+mj-lt"/>
              </a:rPr>
              <a:t>/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-75%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 1.18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1000" dirty="0">
              <a:latin typeface="+mj-lt"/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DTL	= DOL x DFL		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%∆Earnings </a:t>
            </a:r>
            <a:r>
              <a:rPr lang="en-US" sz="2400" dirty="0">
                <a:latin typeface="+mj-lt"/>
              </a:rPr>
              <a:t>/ </a:t>
            </a:r>
            <a:r>
              <a:rPr lang="en-US" sz="2400" dirty="0">
                <a:solidFill>
                  <a:srgbClr val="7030A0"/>
                </a:solidFill>
                <a:latin typeface="+mj-lt"/>
              </a:rPr>
              <a:t>%∆Sales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 2.5 x 1.18		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-88.24% </a:t>
            </a:r>
            <a:r>
              <a:rPr lang="en-US" sz="2400" dirty="0">
                <a:latin typeface="+mj-lt"/>
              </a:rPr>
              <a:t>/ </a:t>
            </a:r>
            <a:r>
              <a:rPr lang="en-US" sz="2400" dirty="0">
                <a:solidFill>
                  <a:srgbClr val="7030A0"/>
                </a:solidFill>
                <a:latin typeface="+mj-lt"/>
              </a:rPr>
              <a:t>-30%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2400" dirty="0">
                <a:latin typeface="+mj-lt"/>
              </a:rPr>
              <a:t>		= 2.95			= 2.94</a:t>
            </a:r>
          </a:p>
          <a:p>
            <a:pPr marL="0" indent="0" algn="just">
              <a:lnSpc>
                <a:spcPct val="105000"/>
              </a:lnSpc>
              <a:buSzPct val="100000"/>
              <a:buNone/>
              <a:tabLst>
                <a:tab pos="987425" algn="l"/>
              </a:tabLst>
            </a:pPr>
            <a:r>
              <a:rPr lang="en-US" sz="2400" dirty="0">
                <a:latin typeface="+mj-lt"/>
              </a:rPr>
              <a:t>	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141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F821DC-48D2-104C-8B58-C959D857C48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228600" y="0"/>
            <a:ext cx="867770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2"/>
                </a:solidFill>
              </a:rPr>
              <a:t>Preparation for next session</a:t>
            </a:r>
          </a:p>
        </p:txBody>
      </p:sp>
      <p:sp>
        <p:nvSpPr>
          <p:cNvPr id="19" name="Rectangle 7"/>
          <p:cNvSpPr txBox="1">
            <a:spLocks noChangeArrowheads="1"/>
          </p:cNvSpPr>
          <p:nvPr/>
        </p:nvSpPr>
        <p:spPr>
          <a:xfrm>
            <a:off x="304799" y="1066800"/>
            <a:ext cx="8601501" cy="55626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-128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 2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Work through Chapter 1</a:t>
            </a:r>
            <a:r>
              <a:rPr lang="en-US" sz="2800" dirty="0">
                <a:solidFill>
                  <a:prstClr val="black"/>
                </a:solidFill>
                <a:latin typeface="Tahoma"/>
                <a:ea typeface="ＭＳ Ｐゴシック"/>
              </a:rPr>
              <a:t>6 part 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796925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Questions in study guide</a:t>
            </a:r>
          </a:p>
          <a:p>
            <a:pPr marL="796925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Problems at the end of the chapter relating to the content already covered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Read through Chapter 16 part 2</a:t>
            </a:r>
            <a:r>
              <a:rPr lang="en-US" sz="2800" kern="0" dirty="0">
                <a:solidFill>
                  <a:prstClr val="black"/>
                </a:solidFill>
                <a:latin typeface="Tahoma"/>
                <a:ea typeface="ＭＳ Ｐゴシック"/>
              </a:rPr>
              <a:t> and download/print the slides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9646244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heme/theme1.xml><?xml version="1.0" encoding="utf-8"?>
<a:theme xmlns:a="http://schemas.openxmlformats.org/drawingml/2006/main" name="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7826</TotalTime>
  <Words>2537</Words>
  <Application>Microsoft Office PowerPoint</Application>
  <PresentationFormat>On-screen Show (4:3)</PresentationFormat>
  <Paragraphs>422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ＭＳ Ｐゴシック</vt:lpstr>
      <vt:lpstr>Arial</vt:lpstr>
      <vt:lpstr>Symbol</vt:lpstr>
      <vt:lpstr>Tahoma</vt:lpstr>
      <vt:lpstr>Times</vt:lpstr>
      <vt:lpstr>Wingdings</vt:lpstr>
      <vt:lpstr>Wingdings 2</vt:lpstr>
      <vt:lpstr>Blank Presentation</vt:lpstr>
      <vt:lpstr>1_Blank Presentation</vt:lpstr>
      <vt:lpstr>PowerPoint Presentation</vt:lpstr>
      <vt:lpstr>Where does capital structure (CS) fit into the bigger scheme of things?</vt:lpstr>
      <vt:lpstr>Learning outcomes: Chapter 16</vt:lpstr>
      <vt:lpstr>Introduction</vt:lpstr>
      <vt:lpstr>Introduction (cont.)</vt:lpstr>
      <vt:lpstr>Introduction (cont.)</vt:lpstr>
      <vt:lpstr>Introduction (cont.)</vt:lpstr>
      <vt:lpstr>Introduction (cont.)</vt:lpstr>
      <vt:lpstr>Introduction (cont.)</vt:lpstr>
      <vt:lpstr>Understanding cost behaviour</vt:lpstr>
      <vt:lpstr>Understanding cost behaviour (cont.)</vt:lpstr>
      <vt:lpstr>Understanding cost behaviour (cont.)</vt:lpstr>
      <vt:lpstr>Breakeven analysis</vt:lpstr>
      <vt:lpstr>Breakeven analysis (cont.)</vt:lpstr>
      <vt:lpstr>Breakeven analysis (cont.)</vt:lpstr>
      <vt:lpstr>Breakeven analysis (cont.)</vt:lpstr>
      <vt:lpstr>Breakeven analysis (cont.)</vt:lpstr>
      <vt:lpstr>Breakeven analysis (cont.)</vt:lpstr>
      <vt:lpstr>Breakeven analysis (cont.)</vt:lpstr>
      <vt:lpstr>Breakeven analysis (cont.)</vt:lpstr>
      <vt:lpstr>Leverage</vt:lpstr>
      <vt:lpstr>Financial leverage and return</vt:lpstr>
      <vt:lpstr>Financial leverage and return (cont.)</vt:lpstr>
      <vt:lpstr>Financial leverage and return (cont.)</vt:lpstr>
      <vt:lpstr>Financial leverage and return (cont.)</vt:lpstr>
      <vt:lpstr>Financial leverage and return (cont.)</vt:lpstr>
      <vt:lpstr>Financial leverage and return (cont.)</vt:lpstr>
      <vt:lpstr>Financial leverage and return (cont.)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Finance</dc:title>
  <dc:creator>Susan Cook</dc:creator>
  <cp:lastModifiedBy>Reviewer</cp:lastModifiedBy>
  <cp:revision>982</cp:revision>
  <cp:lastPrinted>2024-02-16T14:16:15Z</cp:lastPrinted>
  <dcterms:created xsi:type="dcterms:W3CDTF">2010-03-21T13:43:06Z</dcterms:created>
  <dcterms:modified xsi:type="dcterms:W3CDTF">2026-05-12T06:49:25Z</dcterms:modified>
</cp:coreProperties>
</file>